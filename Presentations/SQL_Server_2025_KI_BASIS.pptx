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6aaa27bcd93248c2" /><Relationship Type="http://schemas.openxmlformats.org/officeDocument/2006/relationships/extended-properties" Target="/docProps/app.xml" Id="R4cd6b13941254be6" /><Relationship Type="http://schemas.openxmlformats.org/officeDocument/2006/relationships/officeDocument" Target="/ppt/presentation.xml" Id="R0d83c509779348c9" /></Relationships>
</file>

<file path=ppt/presentation.xml><?xml version="1.0" encoding="utf-8"?>
<p:presentation xmlns:p="http://schemas.openxmlformats.org/presentationml/2006/main">
  <p:sldMasterIdLst>
    <p:sldMasterId xmlns:r="http://schemas.openxmlformats.org/officeDocument/2006/relationships" id="2147483648" r:id="R9f7b400a2c8c49fc"/>
  </p:sldMasterIdLst>
  <p:notesMasterIdLst>
    <p:notesMasterId xmlns:r="http://schemas.openxmlformats.org/officeDocument/2006/relationships" r:id="R98c8605b00df4946"/>
  </p:notesMasterIdLst>
  <p:sldIdLst>
    <p:sldId xmlns:r="http://schemas.openxmlformats.org/officeDocument/2006/relationships" id="256" r:id="Rd0dda4bf00414082"/>
    <p:sldId xmlns:r="http://schemas.openxmlformats.org/officeDocument/2006/relationships" id="257" r:id="R42e36e4921c64f98"/>
    <p:sldId xmlns:r="http://schemas.openxmlformats.org/officeDocument/2006/relationships" id="258" r:id="Ra6349c7604724e47"/>
    <p:sldId xmlns:r="http://schemas.openxmlformats.org/officeDocument/2006/relationships" id="259" r:id="Rd86804b718484ce3"/>
    <p:sldId xmlns:r="http://schemas.openxmlformats.org/officeDocument/2006/relationships" id="260" r:id="R6c93b0a9eba543ec"/>
    <p:sldId xmlns:r="http://schemas.openxmlformats.org/officeDocument/2006/relationships" id="261" r:id="Rb680644849514803"/>
    <p:sldId xmlns:r="http://schemas.openxmlformats.org/officeDocument/2006/relationships" id="262" r:id="R854e10c8c5694ea2"/>
    <p:sldId xmlns:r="http://schemas.openxmlformats.org/officeDocument/2006/relationships" id="263" r:id="Rfcfe4ee55ada4e7f"/>
    <p:sldId xmlns:r="http://schemas.openxmlformats.org/officeDocument/2006/relationships" id="264" r:id="R63c05bce67e54403"/>
    <p:sldId xmlns:r="http://schemas.openxmlformats.org/officeDocument/2006/relationships" id="265" r:id="R2965166c81f24f22"/>
    <p:sldId xmlns:r="http://schemas.openxmlformats.org/officeDocument/2006/relationships" id="266" r:id="R57578f9bd23e4e5b"/>
    <p:sldId xmlns:r="http://schemas.openxmlformats.org/officeDocument/2006/relationships" id="267" r:id="Rdbef000fbe6c4f8a"/>
    <p:sldId xmlns:r="http://schemas.openxmlformats.org/officeDocument/2006/relationships" id="268" r:id="Rca177d8499014b28"/>
    <p:sldId xmlns:r="http://schemas.openxmlformats.org/officeDocument/2006/relationships" id="269" r:id="R035129b9edb94553"/>
    <p:sldId xmlns:r="http://schemas.openxmlformats.org/officeDocument/2006/relationships" id="270" r:id="Rc09e7ac0f513454b"/>
    <p:sldId xmlns:r="http://schemas.openxmlformats.org/officeDocument/2006/relationships" id="271" r:id="R367cf36018a7431a"/>
    <p:sldId xmlns:r="http://schemas.openxmlformats.org/officeDocument/2006/relationships" id="272" r:id="R32efb61a01b14319"/>
    <p:sldId xmlns:r="http://schemas.openxmlformats.org/officeDocument/2006/relationships" id="273" r:id="R4c9e2e58c6b64eb4"/>
    <p:sldId xmlns:r="http://schemas.openxmlformats.org/officeDocument/2006/relationships" id="274" r:id="Rbb30518c715e4159"/>
    <p:sldId xmlns:r="http://schemas.openxmlformats.org/officeDocument/2006/relationships" id="275" r:id="Rbb951931fc82459e"/>
    <p:sldId xmlns:r="http://schemas.openxmlformats.org/officeDocument/2006/relationships" id="276" r:id="R66144b887d62491b"/>
    <p:sldId xmlns:r="http://schemas.openxmlformats.org/officeDocument/2006/relationships" id="277" r:id="Rcfbfc544546747fa"/>
    <p:sldId xmlns:r="http://schemas.openxmlformats.org/officeDocument/2006/relationships" id="278" r:id="Rc73c9c1c772047a9"/>
    <p:sldId xmlns:r="http://schemas.openxmlformats.org/officeDocument/2006/relationships" id="279" r:id="R410368ccec914083"/>
    <p:sldId xmlns:r="http://schemas.openxmlformats.org/officeDocument/2006/relationships" id="280" r:id="R4a3f7fe746eb464a"/>
    <p:sldId xmlns:r="http://schemas.openxmlformats.org/officeDocument/2006/relationships" id="281" r:id="R04a9e2abfd9f4d94"/>
    <p:sldId xmlns:r="http://schemas.openxmlformats.org/officeDocument/2006/relationships" id="282" r:id="Rbd777eaf79d84ac0"/>
    <p:sldId xmlns:r="http://schemas.openxmlformats.org/officeDocument/2006/relationships" id="283" r:id="R8f30322d4e244574"/>
    <p:sldId xmlns:r="http://schemas.openxmlformats.org/officeDocument/2006/relationships" id="284" r:id="R5a5735bf014d4d3f"/>
    <p:sldId xmlns:r="http://schemas.openxmlformats.org/officeDocument/2006/relationships" id="285" r:id="R56f5585e110d4504"/>
    <p:sldId xmlns:r="http://schemas.openxmlformats.org/officeDocument/2006/relationships" id="286" r:id="R6d0444db5466428e"/>
    <p:sldId xmlns:r="http://schemas.openxmlformats.org/officeDocument/2006/relationships" id="287" r:id="R75e799be7cc34da9"/>
    <p:sldId xmlns:r="http://schemas.openxmlformats.org/officeDocument/2006/relationships" id="288" r:id="R47ea0b16d87e4e1a"/>
    <p:sldId xmlns:r="http://schemas.openxmlformats.org/officeDocument/2006/relationships" id="289" r:id="R67e6cfffd813498f"/>
    <p:sldId xmlns:r="http://schemas.openxmlformats.org/officeDocument/2006/relationships" id="290" r:id="Re6c767e7bf614bbc"/>
    <p:sldId xmlns:r="http://schemas.openxmlformats.org/officeDocument/2006/relationships" id="291" r:id="Re5dcf957970e41a2"/>
    <p:sldId xmlns:r="http://schemas.openxmlformats.org/officeDocument/2006/relationships" id="292" r:id="Ra582410f5df649f1"/>
    <p:sldId xmlns:r="http://schemas.openxmlformats.org/officeDocument/2006/relationships" id="293" r:id="R960ca09af0e54072"/>
    <p:sldId xmlns:r="http://schemas.openxmlformats.org/officeDocument/2006/relationships" id="294" r:id="R3aeb79872f5b40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4e08e889b04473" /><Relationship Type="http://schemas.openxmlformats.org/officeDocument/2006/relationships/slideMaster" Target="/ppt/slideMasters/slideMaster1.xml" Id="R9f7b400a2c8c49fc" /><Relationship Type="http://schemas.openxmlformats.org/officeDocument/2006/relationships/notesMaster" Target="/ppt/notesMasters/notesMaster1.xml" Id="R98c8605b00df4946" /><Relationship Type="http://schemas.openxmlformats.org/officeDocument/2006/relationships/presProps" Target="/ppt/presProps.xml" Id="R6c2afc069718453b" /><Relationship Type="http://schemas.openxmlformats.org/officeDocument/2006/relationships/tableStyles" Target="/ppt/tableStyles.xml" Id="R00e2b28c8f6e4aa6" /><Relationship Type="http://schemas.openxmlformats.org/officeDocument/2006/relationships/slide" Target="/ppt/slides/slide1.xml" Id="Rd0dda4bf00414082" /><Relationship Type="http://schemas.openxmlformats.org/officeDocument/2006/relationships/slide" Target="/ppt/slides/slide2.xml" Id="R42e36e4921c64f98" /><Relationship Type="http://schemas.openxmlformats.org/officeDocument/2006/relationships/slide" Target="/ppt/slides/slide3.xml" Id="Ra6349c7604724e47" /><Relationship Type="http://schemas.openxmlformats.org/officeDocument/2006/relationships/slide" Target="/ppt/slides/slide4.xml" Id="Rd86804b718484ce3" /><Relationship Type="http://schemas.openxmlformats.org/officeDocument/2006/relationships/slide" Target="/ppt/slides/slide5.xml" Id="R6c93b0a9eba543ec" /><Relationship Type="http://schemas.openxmlformats.org/officeDocument/2006/relationships/slide" Target="/ppt/slides/slide6.xml" Id="Rb680644849514803" /><Relationship Type="http://schemas.openxmlformats.org/officeDocument/2006/relationships/slide" Target="/ppt/slides/slide7.xml" Id="R854e10c8c5694ea2" /><Relationship Type="http://schemas.openxmlformats.org/officeDocument/2006/relationships/slide" Target="/ppt/slides/slide8.xml" Id="Rfcfe4ee55ada4e7f" /><Relationship Type="http://schemas.openxmlformats.org/officeDocument/2006/relationships/slide" Target="/ppt/slides/slide9.xml" Id="R63c05bce67e54403" /><Relationship Type="http://schemas.openxmlformats.org/officeDocument/2006/relationships/slide" Target="/ppt/slides/slide10.xml" Id="R2965166c81f24f22" /><Relationship Type="http://schemas.openxmlformats.org/officeDocument/2006/relationships/slide" Target="/ppt/slides/slide11.xml" Id="R57578f9bd23e4e5b" /><Relationship Type="http://schemas.openxmlformats.org/officeDocument/2006/relationships/slide" Target="/ppt/slides/slide12.xml" Id="Rdbef000fbe6c4f8a" /><Relationship Type="http://schemas.openxmlformats.org/officeDocument/2006/relationships/slide" Target="/ppt/slides/slide13.xml" Id="Rca177d8499014b28" /><Relationship Type="http://schemas.openxmlformats.org/officeDocument/2006/relationships/slide" Target="/ppt/slides/slide14.xml" Id="R035129b9edb94553" /><Relationship Type="http://schemas.openxmlformats.org/officeDocument/2006/relationships/slide" Target="/ppt/slides/slide15.xml" Id="Rc09e7ac0f513454b" /><Relationship Type="http://schemas.openxmlformats.org/officeDocument/2006/relationships/slide" Target="/ppt/slides/slide16.xml" Id="R367cf36018a7431a" /><Relationship Type="http://schemas.openxmlformats.org/officeDocument/2006/relationships/slide" Target="/ppt/slides/slide17.xml" Id="R32efb61a01b14319" /><Relationship Type="http://schemas.openxmlformats.org/officeDocument/2006/relationships/slide" Target="/ppt/slides/slide18.xml" Id="R4c9e2e58c6b64eb4" /><Relationship Type="http://schemas.openxmlformats.org/officeDocument/2006/relationships/slide" Target="/ppt/slides/slide19.xml" Id="Rbb30518c715e4159" /><Relationship Type="http://schemas.openxmlformats.org/officeDocument/2006/relationships/slide" Target="/ppt/slides/slide20.xml" Id="Rbb951931fc82459e" /><Relationship Type="http://schemas.openxmlformats.org/officeDocument/2006/relationships/slide" Target="/ppt/slides/slide21.xml" Id="R66144b887d62491b" /><Relationship Type="http://schemas.openxmlformats.org/officeDocument/2006/relationships/slide" Target="/ppt/slides/slide22.xml" Id="Rcfbfc544546747fa" /><Relationship Type="http://schemas.openxmlformats.org/officeDocument/2006/relationships/slide" Target="/ppt/slides/slide23.xml" Id="Rc73c9c1c772047a9" /><Relationship Type="http://schemas.openxmlformats.org/officeDocument/2006/relationships/slide" Target="/ppt/slides/slide24.xml" Id="R410368ccec914083" /><Relationship Type="http://schemas.openxmlformats.org/officeDocument/2006/relationships/slide" Target="/ppt/slides/slide25.xml" Id="R4a3f7fe746eb464a" /><Relationship Type="http://schemas.openxmlformats.org/officeDocument/2006/relationships/slide" Target="/ppt/slides/slide26.xml" Id="R04a9e2abfd9f4d94" /><Relationship Type="http://schemas.openxmlformats.org/officeDocument/2006/relationships/slide" Target="/ppt/slides/slide27.xml" Id="Rbd777eaf79d84ac0" /><Relationship Type="http://schemas.openxmlformats.org/officeDocument/2006/relationships/slide" Target="/ppt/slides/slide28.xml" Id="R8f30322d4e244574" /><Relationship Type="http://schemas.openxmlformats.org/officeDocument/2006/relationships/slide" Target="/ppt/slides/slide29.xml" Id="R5a5735bf014d4d3f" /><Relationship Type="http://schemas.openxmlformats.org/officeDocument/2006/relationships/slide" Target="/ppt/slides/slide30.xml" Id="R56f5585e110d4504" /><Relationship Type="http://schemas.openxmlformats.org/officeDocument/2006/relationships/slide" Target="/ppt/slides/slide31.xml" Id="R6d0444db5466428e" /><Relationship Type="http://schemas.openxmlformats.org/officeDocument/2006/relationships/slide" Target="/ppt/slides/slide32.xml" Id="R75e799be7cc34da9" /><Relationship Type="http://schemas.openxmlformats.org/officeDocument/2006/relationships/slide" Target="/ppt/slides/slide33.xml" Id="R47ea0b16d87e4e1a" /><Relationship Type="http://schemas.openxmlformats.org/officeDocument/2006/relationships/slide" Target="/ppt/slides/slide34.xml" Id="R67e6cfffd813498f" /><Relationship Type="http://schemas.openxmlformats.org/officeDocument/2006/relationships/slide" Target="/ppt/slides/slide35.xml" Id="Re6c767e7bf614bbc" /><Relationship Type="http://schemas.openxmlformats.org/officeDocument/2006/relationships/slide" Target="/ppt/slides/slide36.xml" Id="Re5dcf957970e41a2" /><Relationship Type="http://schemas.openxmlformats.org/officeDocument/2006/relationships/slide" Target="/ppt/slides/slide37.xml" Id="Ra582410f5df649f1" /><Relationship Type="http://schemas.openxmlformats.org/officeDocument/2006/relationships/slide" Target="/ppt/slides/slide38.xml" Id="R960ca09af0e54072" /><Relationship Type="http://schemas.openxmlformats.org/officeDocument/2006/relationships/slide" Target="/ppt/slides/slide39.xml" Id="R3aeb79872f5b40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51f067dfa0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a1faba5ace435e" /><Relationship Type="http://schemas.openxmlformats.org/officeDocument/2006/relationships/notesMaster" Target="/ppt/notesMasters/notesMaster1.xml" Id="Rc0bf9250245d40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9f364fda114630" /><Relationship Type="http://schemas.openxmlformats.org/officeDocument/2006/relationships/notesMaster" Target="/ppt/notesMasters/notesMaster1.xml" Id="R3e04b4f735874c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0d1457d6f84357" /><Relationship Type="http://schemas.openxmlformats.org/officeDocument/2006/relationships/notesMaster" Target="/ppt/notesMasters/notesMaster1.xml" Id="Rd0f7e445ff6a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8269c5ba644de0" /><Relationship Type="http://schemas.openxmlformats.org/officeDocument/2006/relationships/notesMaster" Target="/ppt/notesMasters/notesMaster1.xml" Id="Rbe2ae67717fc48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6a3408274b4525" /><Relationship Type="http://schemas.openxmlformats.org/officeDocument/2006/relationships/notesMaster" Target="/ppt/notesMasters/notesMaster1.xml" Id="R1528b40d5ef74e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1e23a84c33437e" /><Relationship Type="http://schemas.openxmlformats.org/officeDocument/2006/relationships/notesMaster" Target="/ppt/notesMasters/notesMaster1.xml" Id="R1b325376597944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7ddafe13d4b91" /><Relationship Type="http://schemas.openxmlformats.org/officeDocument/2006/relationships/notesMaster" Target="/ppt/notesMasters/notesMaster1.xml" Id="R9cee066795334b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478b32f3454112" /><Relationship Type="http://schemas.openxmlformats.org/officeDocument/2006/relationships/notesMaster" Target="/ppt/notesMasters/notesMaster1.xml" Id="R77efd4dcc36f4b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92c03ee03e4a29" /><Relationship Type="http://schemas.openxmlformats.org/officeDocument/2006/relationships/notesMaster" Target="/ppt/notesMasters/notesMaster1.xml" Id="R84f74fbec5e246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48ec30d7014e30" /><Relationship Type="http://schemas.openxmlformats.org/officeDocument/2006/relationships/notesMaster" Target="/ppt/notesMasters/notesMaster1.xml" Id="Rf94a8bd8ba8c4f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901a23b4b240ed" /><Relationship Type="http://schemas.openxmlformats.org/officeDocument/2006/relationships/notesMaster" Target="/ppt/notesMasters/notesMaster1.xml" Id="R7b20e7669f6344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cfcba16deb4f63" /><Relationship Type="http://schemas.openxmlformats.org/officeDocument/2006/relationships/notesMaster" Target="/ppt/notesMasters/notesMaster1.xml" Id="Rf435ca5c5b1e4b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986d56e11046fe" /><Relationship Type="http://schemas.openxmlformats.org/officeDocument/2006/relationships/notesMaster" Target="/ppt/notesMasters/notesMaster1.xml" Id="Rbe0b9a3111af40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2b76ac3e5848f8" /><Relationship Type="http://schemas.openxmlformats.org/officeDocument/2006/relationships/notesMaster" Target="/ppt/notesMasters/notesMaster1.xml" Id="Rcc89778221434d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8e67357c0143ce" /><Relationship Type="http://schemas.openxmlformats.org/officeDocument/2006/relationships/notesMaster" Target="/ppt/notesMasters/notesMaster1.xml" Id="R26b5ab3a39984e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7ab868a7ba4924" /><Relationship Type="http://schemas.openxmlformats.org/officeDocument/2006/relationships/notesMaster" Target="/ppt/notesMasters/notesMaster1.xml" Id="R264c216627ac4a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550a3e90ec4e8e" /><Relationship Type="http://schemas.openxmlformats.org/officeDocument/2006/relationships/notesMaster" Target="/ppt/notesMasters/notesMaster1.xml" Id="Rd7734df6969d4a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e323f8401a4642" /><Relationship Type="http://schemas.openxmlformats.org/officeDocument/2006/relationships/notesMaster" Target="/ppt/notesMasters/notesMaster1.xml" Id="Raf499fb1e67b46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f76d5f6b4b41c2" /><Relationship Type="http://schemas.openxmlformats.org/officeDocument/2006/relationships/notesMaster" Target="/ppt/notesMasters/notesMaster1.xml" Id="R0b4e1799a4c849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7aebc444da4023" /><Relationship Type="http://schemas.openxmlformats.org/officeDocument/2006/relationships/notesMaster" Target="/ppt/notesMasters/notesMaster1.xml" Id="Rdae210a97094485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752200f08944872" /><Relationship Type="http://schemas.openxmlformats.org/officeDocument/2006/relationships/notesMaster" Target="/ppt/notesMasters/notesMaster1.xml" Id="R0e116140a4124e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dd3354386c4bd5" /><Relationship Type="http://schemas.openxmlformats.org/officeDocument/2006/relationships/notesMaster" Target="/ppt/notesMasters/notesMaster1.xml" Id="R98a7ce7043164ea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d86adb064a34354" /><Relationship Type="http://schemas.openxmlformats.org/officeDocument/2006/relationships/notesMaster" Target="/ppt/notesMasters/notesMaster1.xml" Id="Rb187bc1de21749e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389619e5604049" /><Relationship Type="http://schemas.openxmlformats.org/officeDocument/2006/relationships/notesMaster" Target="/ppt/notesMasters/notesMaster1.xml" Id="R7f6a6766f12d48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869e1779ca4b8f" /><Relationship Type="http://schemas.openxmlformats.org/officeDocument/2006/relationships/notesMaster" Target="/ppt/notesMasters/notesMaster1.xml" Id="R39ab88a3a45e4a7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4942f8df9984a16" /><Relationship Type="http://schemas.openxmlformats.org/officeDocument/2006/relationships/notesMaster" Target="/ppt/notesMasters/notesMaster1.xml" Id="Rc149bf9bef334d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9b46b92ea414f34" /><Relationship Type="http://schemas.openxmlformats.org/officeDocument/2006/relationships/notesMaster" Target="/ppt/notesMasters/notesMaster1.xml" Id="R377cc39e8b6642c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b4a7e1440544fe3" /><Relationship Type="http://schemas.openxmlformats.org/officeDocument/2006/relationships/notesMaster" Target="/ppt/notesMasters/notesMaster1.xml" Id="R97d45f3a90124c6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94aae9ed6da4da6" /><Relationship Type="http://schemas.openxmlformats.org/officeDocument/2006/relationships/notesMaster" Target="/ppt/notesMasters/notesMaster1.xml" Id="R5f23fcff8b8e4bc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7436250a38423e" /><Relationship Type="http://schemas.openxmlformats.org/officeDocument/2006/relationships/notesMaster" Target="/ppt/notesMasters/notesMaster1.xml" Id="Rb3d2b2531e944fd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5f7384d58343a9" /><Relationship Type="http://schemas.openxmlformats.org/officeDocument/2006/relationships/notesMaster" Target="/ppt/notesMasters/notesMaster1.xml" Id="R0e7fecce17e142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1681564dbe4e44" /><Relationship Type="http://schemas.openxmlformats.org/officeDocument/2006/relationships/notesMaster" Target="/ppt/notesMasters/notesMaster1.xml" Id="Rd24c80f9af7f49f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d6ebe7a8aa14d7d" /><Relationship Type="http://schemas.openxmlformats.org/officeDocument/2006/relationships/notesMaster" Target="/ppt/notesMasters/notesMaster1.xml" Id="R9463fd08dc7d44e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478cf060e2b420d" /><Relationship Type="http://schemas.openxmlformats.org/officeDocument/2006/relationships/notesMaster" Target="/ppt/notesMasters/notesMaster1.xml" Id="R3a1d12d1efb1482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5573ebbc74a4a40" /><Relationship Type="http://schemas.openxmlformats.org/officeDocument/2006/relationships/notesMaster" Target="/ppt/notesMasters/notesMaster1.xml" Id="R814e4c371d3d4e6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fc1b2c62744908" /><Relationship Type="http://schemas.openxmlformats.org/officeDocument/2006/relationships/notesMaster" Target="/ppt/notesMasters/notesMaster1.xml" Id="R35f736728cda455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a6cf0aa1dcd4a64" /><Relationship Type="http://schemas.openxmlformats.org/officeDocument/2006/relationships/notesMaster" Target="/ppt/notesMasters/notesMaster1.xml" Id="R3305bb9dc0ac472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8b65b16a35a448e" /><Relationship Type="http://schemas.openxmlformats.org/officeDocument/2006/relationships/notesMaster" Target="/ppt/notesMasters/notesMaster1.xml" Id="R8c92e3ab367c43c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d5324ef08cc40c0" /><Relationship Type="http://schemas.openxmlformats.org/officeDocument/2006/relationships/notesMaster" Target="/ppt/notesMasters/notesMaster1.xml" Id="R0ca5f3749e2242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Einheit richtet sich an Anwender:innen mit einfachen SQL-Grundkenntnissen und ohne vorausgesetzte Erfahrung mit künstlicher Intelligenz (KI), also Verfahren für Aufgaben wie Textverarbeitung oder Vorhersagen. Die Einführung entwickelt Begriffe am gleichen synthetischen Wissensbasisfall und führt eine kleine Read-only-SQL-Übung Schritt für Schritt vor. SELECT und ORDER BY sind hilfreich und werden am Beispiel eingeordnet. Modellzugänge und Previewkonfiguration sind für diesen Einstieg nicht erforderlich. Danach folgen die bestehenden Fachmodule und manifestbasierten Offline-Demos auf einer eigens vorbereiteten Labinstanz. Die neun implementierten Offline-Demos besitzen begrenzte lokale Nachweise. Die weiteren neun Entwürfe besitzen eigene offene Gates. Live-Provider, vollständige Performancequalifikation, Teilnehmererprobung und Generalprobe sind damit nicht freigegeben. Begriffe und Übungen ergänzt das Offline-Arbeitsheft.</a:t>
            </a:r>
          </a:p>
          <a:p xmlns:a="http://schemas.openxmlformats.org/drawingml/2006/main">
            <a:r>
              <a:t/>
            </a:r>
          </a:p>
          <a:p xmlns:a="http://schemas.openxmlformats.org/drawingml/2006/main">
            <a:r>
              <a:t>BASIS-Folie 1, Quellfolie 1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Didaktische Einführung. Frage an die Gruppe: Welche Informationen brauchen Sie, um eine technische Frage zuverlässig zu beantworten? Erwartete Antworten: die passende Quelle, ihre aktuelle Fassung und die Berechtigung zum Lesen. An diese bekannten Anforderungen knüpft die Einheit an. Die kleine Vektorübung zeigt später eine zusätzliche Suchmöglichkeit mit ausschließlich festen Zahlen. Vorwissen in Statistik, Modelltraining oder Cloudbereitstellung ist dafür nicht erforderlich. Erklären Sie neue Begriffe beim ersten Auftreten und lassen Sie die Gruppe den Unterschied zwischen einer Tabellenzeile und einem formulierten Antwortsatz wiedergeben. Übergang: Zunächst betrachten wir die Frage, bevor wir ein Werkzeug auswählen.</a:t>
            </a:r>
          </a:p>
          <a:p xmlns:a="http://schemas.openxmlformats.org/drawingml/2006/main">
            <a:r>
              <a:t/>
            </a:r>
          </a:p>
          <a:p xmlns:a="http://schemas.openxmlformats.org/drawingml/2006/main">
            <a:r>
              <a:t>BASIS-Folie 2, Quellfolie 2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.ai/PROJECT_CONTEXT.md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 eigenständiger synthetischer Einstiegskorpus, keine neue Demoimplementierung und keine behauptete Ausgabe einer bestehenden Demo. MOD_A ist ein imaginärer technischer Baustein. Die Texte und ihre festen Zuordnungen dienen der gemeinsamen Diskussion. Frage: Was könnte schiefgehen, wenn eine Suche beide Fassungen gleich behandelt? Erwartete Antwort: Eine veraltete Fassung kann die Antwort beeinflussen oder einen scheinbaren Widerspruch erzeugen. Eine flüssige Formulierung löst dieses Versionsproblem nicht. Übergang: Wir halten die kleinen Dokumente mit Kennung und Fassung sichtbar fest.</a:t>
            </a:r>
          </a:p>
          <a:p xmlns:a="http://schemas.openxmlformats.org/drawingml/2006/main">
            <a:r>
              <a:t/>
            </a:r>
          </a:p>
          <a:p xmlns:a="http://schemas.openxmlformats.org/drawingml/2006/main">
            <a:r>
              <a:t>BASIS-Folie 3, Quellfolie 3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Dokument 2 für die konkrete MOD_A-Frage auswählen. Antwort: Es betrifft das richtige Modul und seine aktuelle Fassung. Dokument 1 ist veraltet. Dokument 3 ist aktuell, betrifft aber ein anderes Modul. Frage: Reicht die Zahl sieben als gespeichertes Ergebnis? Erwartete Antwort: Für eine überprüfbare Antwort benötigen wir zusätzlich Dokumentkennung, Fassung und den stützenden Textbereich. Alle drei vollständigen Sätze sind synthetisch. Es gibt hier keine Aussage über reale Aufbewahrungsfristen. Übergang: Eine SELECT-Abfrage liefert solche Daten als Rows.</a:t>
            </a:r>
          </a:p>
          <a:p xmlns:a="http://schemas.openxmlformats.org/drawingml/2006/main">
            <a:r>
              <a:t/>
            </a:r>
          </a:p>
          <a:p xmlns:a="http://schemas.openxmlformats.org/drawingml/2006/main">
            <a:r>
              <a:t>BASIS-Folie 4, Quellfolie 4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gezeigte Abfrage ist vollständig und benötigt keine eigene Tabelle. Sie ist eine Illustration des bekannten tabellarischen Ergebnisformats. Der feste VALUES-Ausdruck enthält bereits die ausgewählte Fassung. Er sucht oder prüft nicht selbstständig, ob ein Dokument aktuell ist. Frage: Woher kennt SQL hier die sieben Tage? Antwort: Aus dem ausdrücklich angegebenen Literalwert. Es gibt weder Training noch Modellaufruf. Die Statements schreiben keine persistenten Daten. Ein späterer praktischer Versuch erfolgt nur auf dem vorbereiteten Schulungsziel. Übergang: Aus einer Row kann eine Anwendung einen Satz formulieren, doch die Herkunft des Werts muss erhalten bleiben.</a:t>
            </a:r>
          </a:p>
          <a:p xmlns:a="http://schemas.openxmlformats.org/drawingml/2006/main">
            <a:r>
              <a:t/>
            </a:r>
          </a:p>
          <a:p xmlns:a="http://schemas.openxmlformats.org/drawingml/2006/main">
            <a:r>
              <a:t>BASIS-Folie 5, Quellfolie 5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Logeinträge und Protokolle gelten für diesen didaktischen Fall als alternative Wortwahl. Das ist eine festgelegte Lehrannahme, kein gemessener Sprachmodellbefund. Die erste Frage lässt sich bei bekanntem Datenmodell relational bearbeiten. Die zweite motiviert eine Suche nach Bedeutung. Die dritte zeigt eine Grenze: Unser Quelltext nennt eine Frist, aber keinen Grund. Frage: Darf die Anwendung daraus eine Erklärung für die Frist erfinden? Antwort: Nein, der Grund ist mit diesen Quellen nicht belegt. Ein begründetes Offenlassen ist angemessen. Übergang: Wir benennen nun, was KI-Verfahren in diesem Ablauf leisten sollen.</a:t>
            </a:r>
          </a:p>
          <a:p xmlns:a="http://schemas.openxmlformats.org/drawingml/2006/main">
            <a:r>
              <a:t/>
            </a:r>
          </a:p>
          <a:p xmlns:a="http://schemas.openxmlformats.org/drawingml/2006/main">
            <a:r>
              <a:t>BASIS-Folie 6, Quellfolie 6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zeigt die Breite als didaktische Anwendungsideen, keine Liste bereits freigegebener Implementierungen. Bei Klassifikation ordnet ein passendes Modell eine Eingabe einer Kategorie zu. Bei Vorhersage liefert es einen Wert für die zuvor definierte Aufgabe. Dafür sind jeweils geeignete Daten, Modellwahl und eigene Bewertung nötig. Die SQL-2025-External-Modeldefinition im behandelten Pfad hat MODEL_TYPE=EMBEDDINGS. AI_GENERATE_EMBEDDINGS ist ein Embeddingzugang. Daraus folgt keine allgemeine native Chat-, Zusammenfassungs-, Vorhersage- oder Klassifikationsfunktion. Antworttext und Zusammenfassung sind im geplanten generativen Pfad Aufgaben der Anwendung und ihres Sprachmodells. SQL-Assistenz gehört ebenfalls zu einem ausdrücklich gewählten Client-/Anwendungspfad. Frage: Würde ein einziger Vektordatentyp alle vier Anwendungen lösen? Antwort: Nein, er ist ein Baustein. Übergang: Für die passende Auswahl erklären wir nun die grundlegenden Begriffe.</a:t>
            </a:r>
          </a:p>
          <a:p xmlns:a="http://schemas.openxmlformats.org/drawingml/2006/main">
            <a:r>
              <a:t/>
            </a:r>
          </a:p>
          <a:p xmlns:a="http://schemas.openxmlformats.org/drawingml/2006/main">
            <a:r>
              <a:t>BASIS-Folie 7, Quellfolie 7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CUR-013 / CUR-016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Folie bietet eine einfache Einordnung des breiteren KI-Feldes. Regelbasierte Wissensverarbeitung, Mustererkennung, Vorhersage und Sprachverarbeitung können KI-Anwendungen dienen. Machine Learning bezeichnet darin Verfahren, die Modellverhalten aus Trainingsdaten lernen. Ein regelbasiertes Wissenssystem kann mit ausdrücklich formulierten Regeln arbeiten. Eine generative Textanwendung ist deshalb nur ein möglicher Fall. Frage: Lernt schon ein SELECT aus einer festen VALUES-Row? Antwort: Nein, es verarbeitet die angegebenen Werte nach SQL-Regeln. Nicht jede regelgeleitete Berechnung wird dadurch automatisch zur KI-Anwendung. Das Erstellen einer Tabelle oder fester Geometrievektoren ist ebenfalls kein Modelltraining. Wir beginnen mit dieser Unterscheidung, um später keinen mathematischen Lehrfall als echte Sprachsemantik auszugeben. Übergang: Für unsere späteren Modellpfade betrachten wir nun Modellaufgabe und Eingabe genauer.</a:t>
            </a:r>
          </a:p>
          <a:p xmlns:a="http://schemas.openxmlformats.org/drawingml/2006/main">
            <a:r>
              <a:t/>
            </a:r>
          </a:p>
          <a:p xmlns:a="http://schemas.openxmlformats.org/drawingml/2006/main">
            <a:r>
              <a:t>BASIS-Folie 8, Quellfolie 8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Rechenvorschrift umfasst bei einem ML-Modell gelernte Parameter. Für den Einstieg reicht die Eingabe-/Ausgabevorstellung. Vermeiden Sie eine Erklärung, in der ein Modell als Person dargestellt wird, die automatisch unsere Datenbank kennt. Frage: Sind Textsuche und Antwortformulierung dieselbe Aufgabe? Antwort: Nein. Eine numerische Repräsentation kann der Suche dienen. Die Formulierung eines Antworttexts ist ein weiterer Verarbeitungsschritt. Einige Modelle und Anwendungen verbinden mehrere Fähigkeiten, doch die Aufgaben und ihre Ergebnisse werden hier getrennt bewertet. Übergang: Ein vorbereitetes Modell kann verwendet werden, ohne es in der Schulung neu zu trainieren.</a:t>
            </a:r>
          </a:p>
          <a:p xmlns:a="http://schemas.openxmlformats.org/drawingml/2006/main">
            <a:r>
              <a:t/>
            </a:r>
          </a:p>
          <a:p xmlns:a="http://schemas.openxmlformats.org/drawingml/2006/main">
            <a:r>
              <a:t>BASIS-Folie 9, Quellfolie 9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Wenn wir MOD_A als neue Tabellenrow speichern, haben wir damit ein Sprachmodell trainiert? Antwort: Nein. Speichern, Suchen, Inferenz und Training sind verschiedene Vorgänge. Eine Anwendung kann aktuelle Dokumente zur Antwort hinzufügen, ohne das vorbereitete Sprachmodell neu zu trainieren. Ein Cloudservice kann Daten je nach Dienst und Funktion unterschiedlich verarbeiten. Aus unserer Erklärung des Anwendungspfads folgt deshalb keine allgemeine Datenschutz- oder Retentiongarantie. Die festen Werte des Einstiegs sind bewusst ohne Modell erzeugt. Übergang: Bei der Textausgabe betrachten wir ein Sprachmodell genauer.</a:t>
            </a:r>
          </a:p>
          <a:p xmlns:a="http://schemas.openxmlformats.org/drawingml/2006/main">
            <a:r>
              <a:t/>
            </a:r>
          </a:p>
          <a:p xmlns:a="http://schemas.openxmlformats.org/drawingml/2006/main">
            <a:r>
              <a:t>BASIS-Folie 10, Quellfolie 10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Beispielsatz auf der Folie ist von der Lehrperson fest vorgegeben. Er ist kein Ergebnis eines hier ausgeführten Modellaufrufs. Frage: Woran würden Sie die Antwort prüfen? Erwartete Antwort: Am aktuellen Dokument 2, Fassung v2, und an der Aussage zur Aufbewahrung. Ein Sprachmodell kann plausiblen Text erzeugen, obwohl nötiger Kontext fehlt. Die Qualität der Formulierung und die Qualität des Belegs werden deshalb getrennt bewertet. Vermeiden Sie den Eindruck, ein Modell hätte automatisch Zugriff auf unsere SQL-Tabellen. Diesen Zugriff vermittelt die Anwendung mit den tatsächlichen Rechten. Übergang: Text wird dabei in Verarbeitungseinheiten aufgeteilt.</a:t>
            </a:r>
          </a:p>
          <a:p xmlns:a="http://schemas.openxmlformats.org/drawingml/2006/main">
            <a:r>
              <a:t/>
            </a:r>
          </a:p>
          <a:p xmlns:a="http://schemas.openxmlformats.org/drawingml/2006/main">
            <a:r>
              <a:t>BASIS-Folie 11, Quellfolie 11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Nennen Sie den kurzen Satz MOD_A bewahrt Protokolle sieben Tage auf. Lassen Sie die Gruppe Wörter und Zeichen zählen. Frage: Kennen wir damit bereits seine genaue Tokenzahl? Antwort: Nein, dafür benötigen wir den tatsächlich verwendeten Tokenizer. Geben Sie keine erfundene Tokenzerlegung als Produktresultat aus. Tokens können Modelllimits und Requestkosten beeinflussen. Das später erläuterte SQL-FIXED-Chunking arbeitet dagegen mit Zeichenbereichen. Eine Chunkgröße ist daher kein bewiesenes Modelltokenlimit. Übergang: Die beteiligten Komponenten benötigen unterschiedliche Eingaben und liefern unterschiedliche Ergebnisse.</a:t>
            </a:r>
          </a:p>
          <a:p xmlns:a="http://schemas.openxmlformats.org/drawingml/2006/main">
            <a:r>
              <a:t/>
            </a:r>
          </a:p>
          <a:p xmlns:a="http://schemas.openxmlformats.org/drawingml/2006/main">
            <a:r>
              <a:t>BASIS-Folie 12, Quellfolie 12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Wer entscheidet, welche SQL-Rows ein Benutzer lesen darf? Antwort: Die tatsächliche Datenbankautorisierung zusammen mit dem festgelegten Anwendungspfad. Das Modell erhält nur den Kontext, den die Anwendung ihm übergibt. Die aktuelle SQL-External-Modeldefinition beschreibt im behandelten Pfad einen Embeddingzugang. Sie hostet nicht automatisch ein allgemeines generatives Chatmodell in der Database Engine. Diese technische Unterscheidung wird in der Vertiefung genauer behandelt. Ein Modell verändert keine Datenbankrechte allein durch seine Ausgabe. Übergang: Für das erste Verständnis können wir diese Komponenten auf einen noch kleineren Offlineversuch reduzieren.</a:t>
            </a:r>
          </a:p>
          <a:p xmlns:a="http://schemas.openxmlformats.org/drawingml/2006/main">
            <a:r>
              <a:t/>
            </a:r>
          </a:p>
          <a:p xmlns:a="http://schemas.openxmlformats.org/drawingml/2006/main">
            <a:r>
              <a:t>BASIS-Folie 13, Quellfolie 13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Brauche ich für diese ersten Beispiele schon ChatGPT, Copilot oder ein Cloudkonto? Antwort: Nein. Die festen T-SQL-Werte und die Distanzberechnung rufen keinen Modellservice auf. Frage: Welchen Teil können wir schon ohne Modellzugang verstehen? Antwort: Datentyp, Distanzberechnung, tabellarische Resultate und die Prüfung eines festen Antwortbelegs. Das ist der bewusst kleine Einstiegspfad. Er belegt keine Sprachmodellqualität und führt keinen Provideraufruf aus. Für Personen ohne laufenden SQL Server können die festen Eingaben und erwarteten Werte zunächst gemeinsam auf den Folien besprochen werden. Die praktische Vorführung benötigt anschließend eine passend vorbereitete Testinstanz mit einem Queryclient. Der vorhandene Demo-Ausführungsleitfaden übernimmt spätere vollständige Demos mit ihren eigenen Verträgen. Übergang: Die häufigste erste Hürde ist die Trennung von Server und Client.</a:t>
            </a:r>
          </a:p>
          <a:p xmlns:a="http://schemas.openxmlformats.org/drawingml/2006/main">
            <a:r>
              <a:t/>
            </a:r>
          </a:p>
          <a:p xmlns:a="http://schemas.openxmlformats.org/drawingml/2006/main">
            <a:r>
              <a:t>BASIS-Folie 14, Quellfolie 14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Documentation/HowTo/LOCAL_TEST_ENVIRONMENT.md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Engine als das SQL-Server-Programm, das die Query ausführt. Ein Client ist zum Beispiel ein Queryeditor oder sqlcmd. Compatibility Level steuert bestimmte Datenbankverhaltensweisen und ist nicht identisch mit der installierten Engineversion. VECTOR ist laut Microsoft unter allen Compatibility Levels der geeigneten Engine verfügbar. Das vollständige Schulungsprofil verwendet dennoch CL170, unter anderem wegen AI_GENERATE_CHUNKS. Frage: Beweist ein neuer Queryeditor die Verfügbarkeit von VECTOR auf einem älteren Server? Antwort: Nein. Wenn die Engine ungeeignet ist, wird die vorbereitete SQL-2025-Testumgebung benötigt. Es wird hier keine Installation oder Änderung ausgeführt. Übergang: Zwei read-only Abfragen zeigen die getrennten Werte.</a:t>
            </a:r>
          </a:p>
          <a:p xmlns:a="http://schemas.openxmlformats.org/drawingml/2006/main">
            <a:r>
              <a:t/>
            </a:r>
          </a:p>
          <a:p xmlns:a="http://schemas.openxmlformats.org/drawingml/2006/main">
            <a:r>
              <a:t>BASIS-Folie 15, Quellfolie 15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Code ist read-only. Die angezeigten Werte sind tatsächliche Umgebungswerte eines späteren praktischen Versuchs und werden nicht für diesen Entwurf als gemessen behauptet. Erwartung im vorbereiteten Schulungsprofil: Major17 und CL170. Eine Ausgabe Major16 ist kein SQL Server2025. Eine17.x-Engine kann eine Datenbank mit niedrigerem CL betreiben. Die Abfrage beweist noch nicht Edition, Rechte, verfügbare Komponente, Clienttransport oder die vollständigen Demovoraussetzungen. Frage: Was tun bei einer Abweichung? Antwort: Erst das Ziel und den vorgesehenen Preflight mit der Lehrperson klären. Keine automatische ALTER-Anweisung ergänzen. Den Compatibility-Level-Bezug entnehmen wir SRC079 und dem gewählten Projektprofil. Reale Namen oder Verbindungsdetails werden nicht in Unterlagen übernommen.</a:t>
            </a:r>
          </a:p>
          <a:p xmlns:a="http://schemas.openxmlformats.org/drawingml/2006/main">
            <a:r>
              <a:t/>
            </a:r>
          </a:p>
          <a:p xmlns:a="http://schemas.openxmlformats.org/drawingml/2006/main">
            <a:r>
              <a:t>BASIS-Folie 16, Quellfolie 16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Benötigt die Person, die eine Query versteht, automatisch dieselben Rechte wie die Person, die das Lab einrichtet? Antwort: Nein. Eigene Demo-Setups können Datenbanken oder Rollen anlegen, während unsere DECLARE-/VALUES-/SELECT-Übung keine solchen Rechte benötigt. Die Lehrperson nutzt den vorhandenen Ausführungsleitfaden und bei fehlender Testinstanz die passende Umgebungsanleitung. Der Container-Quickstart ist für sein dort beschriebenes Szenario qualifiziert und wird nicht pauschal zur Freigabe sämtlicher KI-Pfade erklärt. Ein Berechtigungsfehler wird als Voraussetzung untersucht. Er wird nicht mit einer ungeprüften Rechteerweiterung gelöst. Die praktische Übung erfolgt auf dem vorbereiteten Schulungsziel. Übergang: Nun können wir die festen Zahlen kennenlernen.</a:t>
            </a:r>
          </a:p>
          <a:p xmlns:a="http://schemas.openxmlformats.org/drawingml/2006/main">
            <a:r>
              <a:t/>
            </a:r>
          </a:p>
          <a:p xmlns:a="http://schemas.openxmlformats.org/drawingml/2006/main">
            <a:r>
              <a:t>BASIS-Folie 17, Quellfolie 17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Documentation/HowTo/LOCAL_TEST_ENVIRONMENT.md</a:t>
            </a:r>
          </a:p>
          <a:p xmlns:a="http://schemas.openxmlformats.org/drawingml/2006/main">
            <a:r>
              <a:t/>
            </a:r>
          </a:p>
          <a:p xmlns:a="http://schemas.openxmlformats.org/drawingml/2006/main">
            <a:r>
              <a:t>Projektquelle: Documentation/HowTo/CONTAINER_QUICKSTART.md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Didaktische Zuordnung: CUR-014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Zeigen Sie die drei Positionen in [1,0,0], ohne ihnen Wörter oder eine gemessene Sprachbedeutung zuzuweisen. In dieser geometrischen Übung stellen sie Koordinaten dar. Dimension3 bedeutet drei Komponenten. Die Richtung [1,0,0] zeigt entlang einer Achse, [0,1,0] entlang einer anderen und [-1,0,0] in die Gegenrichtung. Alle drei Vektoren sind Nichtnullvektoren mit Länge1. Die Cosine-Distanz wird deshalb an einem besonders einfachen Fall erklärt. Frage: Hat SQL hier Textverständnis erzeugt? Antwort: Nein, wir haben Zahlen vorgegeben und werden Mathematik anwenden. Echte Textembeddings erläutern wir erst nach der Übung.</a:t>
            </a:r>
          </a:p>
          <a:p xmlns:a="http://schemas.openxmlformats.org/drawingml/2006/main">
            <a:r>
              <a:t/>
            </a:r>
          </a:p>
          <a:p xmlns:a="http://schemas.openxmlformats.org/drawingml/2006/main">
            <a:r>
              <a:t>BASIS-Folie 18, Quellfolie 18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zunächst nur die Rangfolge vorhersagen. Erwartete Reihenfolge: Id1, Id2, Id3. Begründen lassen: Gleiche Richtung ist näher als senkrechte und entgegengesetzte Richtung. Die verwendete Distanz ist eins minus Cosine-Ähnlichkeit. Für unsere Nichtnull-Einheitsvektoren sind die Ähnlichkeiten1,0,−1 und die Distanzen deshalb0,1,2. Diese Werte sind mathematische Sollwerte des ausdrücklich konstruierten Falls, kein protokollierter SQL-Lauf. Erklären Sie bei Bedarf die Begriffe senkrecht und Gegenrichtung verbal. Erst die folgende Query zeigt die Zuordnung zum SQL-Ausdruck. Es gibt hier keine realen Dokumentembeddings oder Relevanzurteile.</a:t>
            </a:r>
          </a:p>
          <a:p xmlns:a="http://schemas.openxmlformats.org/drawingml/2006/main">
            <a:r>
              <a:t/>
            </a:r>
          </a:p>
          <a:p xmlns:a="http://schemas.openxmlformats.org/drawingml/2006/main">
            <a:r>
              <a:t>BASIS-Folie 19, Quellfolie 19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Vollständiges kopierbares Lehrbeispiel:</a:t>
            </a:r>
          </a:p>
          <a:p xmlns:a="http://schemas.openxmlformats.org/drawingml/2006/main">
            <a:r>
              <a:t>DECLARE @q VECTOR(3) = '[1,0,0]';</a:t>
            </a:r>
          </a:p>
          <a:p xmlns:a="http://schemas.openxmlformats.org/drawingml/2006/main">
            <a:r>
              <a:t>SELECT Id, VECTOR_DISTANCE('cosine', @q, CAST(V AS VECTOR(3))) AS D</a:t>
            </a:r>
          </a:p>
          <a:p xmlns:a="http://schemas.openxmlformats.org/drawingml/2006/main">
            <a:r>
              <a:t>FROM (VALUES (1,'[1,0,0]'),(2,'[0,1,0]'),(3,'[-1,0,0]')) d(Id,V)</a:t>
            </a:r>
          </a:p>
          <a:p xmlns:a="http://schemas.openxmlformats.org/drawingml/2006/main">
            <a:r>
              <a:t>ORDER BY D, Id;</a:t>
            </a:r>
          </a:p>
          <a:p xmlns:a="http://schemas.openxmlformats.org/drawingml/2006/main">
            <a:r>
              <a:t/>
            </a:r>
          </a:p>
          <a:p xmlns:a="http://schemas.openxmlformats.org/drawingml/2006/main">
            <a:r>
              <a:t>Diese Query legt keine Tabelle an, schreibt keine Daten und ruft kein Modell auf. Die angeleitete Vorführung setzt die vorbereitete Engine 17.x voraus. Frage: Welche Zahl ist der Fragevektor? Antwort: @q. Welche Werte werden verglichen? Antwort: Die drei ausdrücklich angegebenen V-Zeichenfolgen nach der Konvertierung zu VECTOR(3). Die Funktion berechnet für jede Row eine exakte Distanz. ORDER BY D,Id legt die Reihenfolge fest und löst gleiche Distanzwerte nach Id auf. VECTOR_DISTANCE nutzt dafür keinen Vector Index. Die resultierenden Sollwerte stehen auf der nächsten Folie. Diese angeleitete Vorführung ist ein didaktischer read-only Ausdruck, keine neue katalogisierte Demo, keine bewertete Arbeitsheftaufgabe und keine zusätzliche Runtimefreigabe. Es gibt hierfür keine neue Rubrik. Die bestehenden bewerteten Aufgaben, Trainerlösungen und Bewertungsrubrik bleiben ausschließlich im Arbeitsheft.</a:t>
            </a:r>
          </a:p>
          <a:p xmlns:a="http://schemas.openxmlformats.org/drawingml/2006/main">
            <a:r>
              <a:t/>
            </a:r>
          </a:p>
          <a:p xmlns:a="http://schemas.openxmlformats.org/drawingml/2006/main">
            <a:r>
              <a:t>BASIS-Folie 20, Quellfolie 20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Was bedeutet der erste Treffer? Antwort: Id1 ist unter der gewählten Metric und den vorgegebenen Zahlen am nächsten. Frage: Bedeutet Distanz0, dass ein Antworttext mit100Prozent Wahrscheinlichkeit wahr ist? Antwort: Nein. Die Distanz bezieht sich auf Zahlen im gewählten Raum und ist keine Antwortwahrscheinlichkeit. Die mathematischen Sollwerte0,1,2 sind direkt aus den drei Einheitsvektoren hergeleitet, keine erhobene Runtimeevidenz. Bei einem praktischen Lauf erst tatsächliche Rows und die sichtbare numerische Darstellung lesen. Sehr kleine Rundungsabweichungen werden begründet eingeordnet und dürfen keine geänderten Kandidaten oder andere Metric verbergen. Übergang: Für Textsuche muss noch erklärt werden, wo geeignete Zahlen überhaupt herkommen.</a:t>
            </a:r>
          </a:p>
          <a:p xmlns:a="http://schemas.openxmlformats.org/drawingml/2006/main">
            <a:r>
              <a:t/>
            </a:r>
          </a:p>
          <a:p xmlns:a="http://schemas.openxmlformats.org/drawingml/2006/main">
            <a:r>
              <a:t>BASIS-Folie 21, Quellfolie 21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bedeutet hier eine modellabhängige numerische Repräsentation von Text. Rückbezug zur Frage Wann verschwinden die Logeinträge: Ein geeignetes Textmodell könnte unterschiedliche Formulierungen nahe abbilden. Das ist eine zu bewertende Anwendungsidee, kein in dieser Einführung gemessenes Ergebnis. Die Frage und die Quellen müssen zum selben geeigneten Modellraum gehören. Gleiche Dimensionszahl allein genügt nicht. Modellversion, Dimension und Normalisierung werden bei gespeicherten Embeddings nachvollziehbar gehalten. Jede Koordinate ist nicht einfach einem verständlichen Wort zuzuordnen. Das Suchmodell und ein Modell zur Antwortformulierung können unterschiedliche Komponenten sein. Übergang: Der echte Modellpfad bringt zusätzliche praktische Hürden mit sich.</a:t>
            </a:r>
          </a:p>
          <a:p xmlns:a="http://schemas.openxmlformats.org/drawingml/2006/main">
            <a:r>
              <a:t/>
            </a:r>
          </a:p>
          <a:p xmlns:a="http://schemas.openxmlformats.org/drawingml/2006/main">
            <a:r>
              <a:t>BASIS-Folie 22, Quellfolie 22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Provider ist der Dienst, der das vorbereitete Modell ausführt. Im direkten SQL-External-Modelpfad verlangt Microsoft einen HTTPS-Endpunkt mit TLS, einem Verfahren für verschlüsselten Transport. Diese Prüfung ist mehr als die Frage, ob ein Dienst im Browser antwortet. Bei Containern bezeichnet localhost den jeweiligen Ausführungskontext. Rechte für Modellnutzung bleiben von Einrichtungs- und Credentialrechten getrennt. Ein lokal laufendes Modell benötigt ebenfalls Prüfung von Modelllizenz, Ressourcen und Eingaben. Das bedeutet nicht, dass sämtliche Daten automatisch das Gerät verlassen. Der jeweilige Datenfluss entscheidet. Kostenangaben, Retention und Verarbeitung unterscheiden sich nach Modell und Dienst. Es gibt keine allgemeine Nullkosten- oder Datenschutzgarantie. Diese Folie erklärt einen späteren Pfad und startet keinen Modellcall, keine Cloudbereitstellung und keine Instanzaktivierung. Bei fehlenden Voraussetzungen bleiben wir beim Offlineeinstieg. Frage: Welche dieser Hürden entfällt in unserer festen Zahlenübung? Antwort: Ein Modellrequest und dessen Providerkonfiguration sind dort nicht beteiligt.</a:t>
            </a:r>
          </a:p>
          <a:p xmlns:a="http://schemas.openxmlformats.org/drawingml/2006/main">
            <a:r>
              <a:t/>
            </a:r>
          </a:p>
          <a:p xmlns:a="http://schemas.openxmlformats.org/drawingml/2006/main">
            <a:r>
              <a:t>BASIS-Folie 23, Quellfolie 23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den kurzen Einstiegssatz kann der gesamte Satz ein Textbereich sein. Bei längeren Dokumenten entstehen mehrere Chunks. Provenienz bedeutet nachvollziehbare Herkunft und Verarbeitung. Dazu gehören Dokumentkennung, Fassung, Reihenfolge, Anfang und Länge des Bereichs. Diese Felder werden in den anschließenden Demos konkret untersucht. Die SQL-Funktion AI_GENERATE_CHUNKS benötigt mindestens Compatibility Level170. Ihr FIXED-Verfahren verwendet Zeichenbereiche und ist kein Modelltokenizer. Frage: Was verlieren wir, wenn wir nur den Satz und seine Zahlenliste speichern? Antwort: Die Verbindung zur überprüfbaren Quelle und ihrer aktuellen Fassung. Übergang: Ein solcher erlaubter Quellenausschnitt kann Kontext für einen Antwortentwurf bilden.</a:t>
            </a:r>
          </a:p>
          <a:p xmlns:a="http://schemas.openxmlformats.org/drawingml/2006/main">
            <a:r>
              <a:t/>
            </a:r>
          </a:p>
          <a:p xmlns:a="http://schemas.openxmlformats.org/drawingml/2006/main">
            <a:r>
              <a:t>BASIS-Folie 24, Quellfolie 24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CUR-015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bezeichnet die Verbindung von abgerufenem Kontext und generativer Antwort. Retrieval heißt hier das Suchen und Bereitstellen von Quellen. Die Architektur wurde bereits mit den getrennten Rollen vorbereitet. Frage: Trainieren wir das Modell mit jeder neuen Frage automatisch neu? Antwort: Nein, die Anwendung kann dem vorbereiteten Modell neuen Kontext bereitstellen. Sie muss dabei sowohl Zugriffsrechte als auch Quellenstand beachten. Ein erlaubter Text allein stützt noch nicht jeden erzeugten Satz. Der kurze folgende Fall arbeitet mit ausdrücklich vorgegebenen Antworten, damit die Gruppe die Belegentscheidung gemeinsam prüfen kann. Das ist ein Offline-Kontrollfall und keine Livegeneration. Übergang: Wir lesen Frage, Quelle und Antwort nebeneinander.</a:t>
            </a:r>
          </a:p>
          <a:p xmlns:a="http://schemas.openxmlformats.org/drawingml/2006/main">
            <a:r>
              <a:t/>
            </a:r>
          </a:p>
          <a:p xmlns:a="http://schemas.openxmlformats.org/drawingml/2006/main">
            <a:r>
              <a:t>BASIS-Folie 25, Quellfolie 25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Antwort freigeben oder zurückweisen und die Entscheidung an einem sichtbaren Beleg festmachen. Erwartete Entscheidung für diesen festen Lehrfall: Die Fristaussage ist durch die aktuelle erlaubte Quelle gestützt. Frage: Welche zusätzliche Behauptung wäre noch nicht belegt? Antwort: Eine Begründung, warum die Frist sieben Tage beträgt. Unser Dokument nennt keinen Grund. Die Existenz einer Dokumentkennung genügt nicht, wenn der zitierte Satz außerhalb des tatsächlich gelieferten Kontexts liegt. Der Antwortentwurf ist hier vorgegeben und nicht mit einem Modell erzeugt. Übergang: Jetzt prüfen wir dieselbe Regel an einer falschen und an einer unbeantwortbaren Frage.</a:t>
            </a:r>
          </a:p>
          <a:p xmlns:a="http://schemas.openxmlformats.org/drawingml/2006/main">
            <a:r>
              <a:t/>
            </a:r>
          </a:p>
          <a:p xmlns:a="http://schemas.openxmlformats.org/drawingml/2006/main">
            <a:r>
              <a:t>BASIS-Folie 26, Quellfolie 26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Geben Sie dieselbe aktuelle Quelle aus Dokument2 vor. Erst die falsche14-Tage-Antwort besprechen. Frage: Reicht eine korrekte Quellenkennung für diese Antwort? Antwort: Nein, ihr Inhalt widerspricht dem Quelleninhalt. Danach die Warum-Frage behandeln. Der passende feste Nichtantworttext lautet: Die aktuelle Anleitung nennt sieben Tage, erklärt den Grund aber nicht. Die Gruppe soll zwischen falscher Antwort und fehlender Information unterscheiden. Eine leere Ausgabe allein erklärt keine dieser Situationen. Eine begründete Nichtantwort macht die fehlende Evidenz sichtbar. Diese Lehrfälle greifen die späteren Offline-RAG-Kontrollen auf, ersetzen aber deren vollständigen Ergebnisvertrag nicht. Übergang: Mit diesen Kriterien können wir nun die konkreten SQL-Demos verstehen.</a:t>
            </a:r>
          </a:p>
          <a:p xmlns:a="http://schemas.openxmlformats.org/drawingml/2006/main">
            <a:r>
              <a:t/>
            </a:r>
          </a:p>
          <a:p xmlns:a="http://schemas.openxmlformats.org/drawingml/2006/main">
            <a:r>
              <a:t>BASIS-Folie 27, Quellfolie 27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Kurzer Verständnischeck vor dem Übergang: Woher stammen unsere ersten drei Vektoren? Antwort: Aus ausdrücklich gesetzten Geometriewerten. Was liefert ein echtes Embedding-Modell? Antwort: Eine modellabhängige numerische Repräsentation der Eingabe. Was prüft unsere sieben-Tage-Antwort? Antwort: Eine konkrete aktuelle Quellenstelle im erlaubten Kontext. Was tun wir bei fehlendem Modellzugang? Antwort: Den lokalen Offlinepfad und seine begrenzten Lernziele nutzen. Die folgenden vorhandenen Folien führen die konkreten Demo-IDs, Voraussetzungen, Ergebnisverträge und offenen Vertiefungspfade ein. Keine zusätzlichen Modell-, Cloud- oder Hosteffekte aus den Einführungscodebeispielen ableiten. Lehrperson fragt vor dem Demostart nach tatsächlichem Ziel, Preflight und dokumentiertem Cleanup. Lehrzeiten und Lernwirksamkeit dieser neuen Einsteigerfolge sind noch nicht erprobt.</a:t>
            </a:r>
          </a:p>
          <a:p xmlns:a="http://schemas.openxmlformats.org/drawingml/2006/main">
            <a:r>
              <a:t/>
            </a:r>
          </a:p>
          <a:p xmlns:a="http://schemas.openxmlformats.org/drawingml/2006/main">
            <a:r>
              <a:t>BASIS-Folie 28, Quellfolie 28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Didaktische Zuordnung: CUR-013 / CUR-014 / CUR-017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synthetische Beispiel verwendet geometrische Vektoren mit drei Komponenten. Es benötigt kein Modell und erklärt keine reale Sprachsemantik. Die Payloadabschätzung 4d beziehungsweise 2d ist kein gemessener Tabellen- oder Indexspeicher. Tatsächliche Allocations und weitere Spalten sind gesondert zu messen. VECTORPROPERTY liefert Dimensions- und Basistypinformation. Diese Metadaten ersetzen keine Modellkennung, keinen Digest und keine Versionsbindung. Bei Modellwechsel sind getrennte Spalten oder Tabellen vorgesehen.</a:t>
            </a:r>
          </a:p>
          <a:p xmlns:a="http://schemas.openxmlformats.org/drawingml/2006/main">
            <a:r>
              <a:t/>
            </a:r>
          </a:p>
          <a:p xmlns:a="http://schemas.openxmlformats.org/drawingml/2006/main">
            <a:r>
              <a:t>BASIS-Folie 29, Quellfolie 34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Demos/09_AI_SQL_Server_2025/QRY-014_Vector_Type/README.md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Lehrperson zeigt zuerst die Vorhersagefrage und startet anschließend QRY-014 über den Ausführungsleitfaden. Lesen Sie die fünf synthetischen Rows und die festen Assertions. Vergleichen Sie einen syntaktisch ungültigen Wert mit einem gültigen Vektor aus einem anderen Modellraum. Lassen Sie zwei zusätzliche Provenienzfelder nennen, etwa Modellversion und Normalisierung. Die Gegenmaßnahme ist eine vorgelagerte Modell-/Dimensionsprüfung. Cleanup und eigene DB-Abwesenheit abschließen. float16 ist ein separat begrenzter Previewpfad und gehört nicht zur hier behaupteten Sprachmodellqualität.</a:t>
            </a:r>
          </a:p>
          <a:p xmlns:a="http://schemas.openxmlformats.org/drawingml/2006/main">
            <a:r>
              <a:t/>
            </a:r>
          </a:p>
          <a:p xmlns:a="http://schemas.openxmlformats.org/drawingml/2006/main">
            <a:r>
              <a:t>BASIS-Folie 30, Quellfolie 35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QRY-014 -Server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Demos/09_AI_SQL_Server_2025/QRY-014_Vector_Type/README.md</a:t>
            </a:r>
          </a:p>
          <a:p xmlns:a="http://schemas.openxmlformats.org/drawingml/2006/main">
            <a:r>
              <a:t>Ergebnisvertrag: Demos/09_AI_SQL_Server_2025/QRY-014_Vector_Type/Expected/result-contract.json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Autorisierung wird vor Übergabe an das LLM (Large Language Model; großes Sprachmodell) umgesetzt. Modelltext und abgerufene Dokumente erhalten keine zusätzliche Ausführungsbefugnis. Ein Promptfilter oder ein Klick zur Bestätigung ersetzt keine SQL-Rechte. Der authentifizierte Kontext muss gegen manipulierbare Tenantwerte und später gegen Pooling geprüft werden. Credentials und Rawdiagnose gehören außerhalb der Schulungsartefakte. Providerabhängige Retention ist separat zu bewerten. Dieses Material demonstriert synthetische Kontrollfälle und beansprucht keine allgemeine Sicherheits- oder Compliancegarantie.</a:t>
            </a:r>
          </a:p>
          <a:p xmlns:a="http://schemas.openxmlformats.org/drawingml/2006/main">
            <a:r>
              <a:t/>
            </a:r>
          </a:p>
          <a:p xmlns:a="http://schemas.openxmlformats.org/drawingml/2006/main">
            <a:r>
              <a:t>BASIS-Folie 31, Quellfolie 47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SRC-093: Row-Level Security</a:t>
            </a:r>
          </a:p>
          <a:p xmlns:a="http://schemas.openxmlformats.org/drawingml/2006/main">
            <a:r>
              <a:t>https://learn.microsoft.com/en-us/sql/relational-databases/security/row-level-security?view=sql-server-ver17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QRY-019 manifestbasiert. Die Wertparameter werden tatsächlich gebunden, anstatt einen Angriffstext in ein privilegiertes Statement einzufügen. Ein zulässiger Literalwert kann Sonderzeichen enthalten. Die Strukturpolicy lehnt eine zusätzliche Query ab. Tabellen- oder Spaltennamen lassen sich nicht als gewöhnliche Wertparameter substituieren und benötigen eine feste Struktur beziehungsweise geprüfte Allowlist. Zeigen Sie die getrennten SQL-Rechtefehler. Der dbo-Kontrollharness ist kein Teilnehmerrecht. Diese Parametertechnik ist älter als SQL Server 2025, während der Demo-Versions-SKIP die Grenze des Workstreams bezeichnet. Cleanup und eigene DB-Abwesenheit prüfen.</a:t>
            </a:r>
          </a:p>
          <a:p xmlns:a="http://schemas.openxmlformats.org/drawingml/2006/main">
            <a:r>
              <a:t/>
            </a:r>
          </a:p>
          <a:p xmlns:a="http://schemas.openxmlformats.org/drawingml/2006/main">
            <a:r>
              <a:t>BASIS-Folie 32, Quellfolie 48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Demos/09_AI_SQL_Server_2025/QRY-019_SQL_Input_Policy/README.md</a:t>
            </a:r>
          </a:p>
          <a:p xmlns:a="http://schemas.openxmlformats.org/drawingml/2006/main">
            <a:r>
              <a:t>Ergebnisvertrag: Demos/09_AI_SQL_Server_2025/QRY-019_SQL_Input_Policy/Expected/result-contract.json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Didaktische Zuordnung: CUR-018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(Retrieval-Augmented Generation; Antworterzeugung mit zuvor ausgewählten Quellen) ergänzt eine generative Antwort um abgerufenen Kontext. Weder die Architektur noch eine plausible Antwort garantiert fachliche Richtigkeit. Die Quellenstelle muss den konkreten Claim stützen, in der erlaubten Version vorliegen und Bestandteil des tatsächlich gelieferten Kontexts sein. Ein fern liegender oder widersprüchlicher Treffer kann zur begründeten Nichtantwort führen. Die Anwendung begrenzt Kontextmenge und Claimformat. Offlinefixtures erlauben reproduzierbare Kontrollfälle, ersetzen aber keine unbekannte Livegeneration. Besprechen Sie die Fachbewertung getrennt von Distanz und Retrievalranking.</a:t>
            </a:r>
          </a:p>
          <a:p xmlns:a="http://schemas.openxmlformats.org/drawingml/2006/main">
            <a:r>
              <a:t/>
            </a:r>
          </a:p>
          <a:p xmlns:a="http://schemas.openxmlformats.org/drawingml/2006/main">
            <a:r>
              <a:t>BASIS-Folie 33, Quellfolie 45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Demos/09_AI_SQL_Server_2025/QRY-018_Offline_RAG/README.md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vier Entscheidungen zunächst ohne Lösung vorhersagen. Starten Sie dann QRY-018 manifestbasiert. Lesen Sie Claim, tatsächlich abgerufene Quellenstelle, Version und Ergebnisstatus zusammen. Die vier Fälle ergeben eine akzeptierte, eine abgelehnte und zwei nicht beantwortete Situationen. Die feste Claimprüfung und die Fixture-Distanzschwelle sind keine universelle Antwortkorrektheitsregel. Fragen Sie nach einem zusätzlichen widersprüchlichen Dokument und dem Verhalten bei Revoke. Die einzige Trainerlösung wird im Offline-Arbeitsheft gepflegt. Cleanup und eigene DB-Abwesenheit abschließen.</a:t>
            </a:r>
          </a:p>
          <a:p xmlns:a="http://schemas.openxmlformats.org/drawingml/2006/main">
            <a:r>
              <a:t/>
            </a:r>
          </a:p>
          <a:p xmlns:a="http://schemas.openxmlformats.org/drawingml/2006/main">
            <a:r>
              <a:t>BASIS-Folie 34, Quellfolie 46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Demos/09_AI_SQL_Server_2025/QRY-018_Offline_RAG/README.md</a:t>
            </a:r>
          </a:p>
          <a:p xmlns:a="http://schemas.openxmlformats.org/drawingml/2006/main">
            <a:r>
              <a:t>Ergebnisvertrag: Demos/09_AI_SQL_Server_2025/QRY-018_Offline_RAG/Expected/result-contract.json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verpflichtende Offlinepfad braucht keinen Provider. Der lokale Modellpfad braucht zusätzlich einen ausdrücklich vorbereiteten Modellservice mit Lizenz, Digest und endlichen Request-/Tokenlimits. Eine lokale Programmierschnittstelle (Application Programming Interface, API) über HTTP (Hypertext Transfer Protocol; Übertragung von Webanfragen und Antworten) erfüllt den direkten SQL-HTTPS-Vertrag noch nicht. Erreichbarkeit wird aus dem Enginekontext geprüft. localhost im SQL-Container bezeichnet den Container selbst. Cloud und ONNX (Open Neural Network Exchange; Austauschformat für Modelle) werden in dieser Einheit als Architekturvarianten besprochen und nicht aktiviert. Die Linux-Editionstabelle und das konkrete Windows-ONNX-Verfahren sind nicht deckungsgleich, daher bleibt Linux-ONNX ohne Runtimeclaim. Der öffentliche Provider-Livepfad bleibt an DEC-033/SQLcmd-P blockiert.</a:t>
            </a:r>
          </a:p>
          <a:p xmlns:a="http://schemas.openxmlformats.org/drawingml/2006/main">
            <a:r>
              <a:t/>
            </a:r>
          </a:p>
          <a:p xmlns:a="http://schemas.openxmlformats.org/drawingml/2006/main">
            <a:r>
              <a:t>BASIS-Folie 35, Quellfolie 40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SRC-085: Generate embeddings</a:t>
            </a:r>
          </a:p>
          <a:p xmlns:a="http://schemas.openxmlformats.org/drawingml/2006/main">
            <a:r>
              <a:t>https://docs.ollama.com/api/embed</a:t>
            </a:r>
          </a:p>
          <a:p xmlns:a="http://schemas.openxmlformats.org/drawingml/2006/main">
            <a:r>
              <a:t>Abrufdatum laut Quellenregister: 2026-10-11</a:t>
            </a:r>
          </a:p>
          <a:p xmlns:a="http://schemas.openxmlformats.org/drawingml/2006/main">
            <a:r>
              <a:t/>
            </a:r>
          </a:p>
          <a:p xmlns:a="http://schemas.openxmlformats.org/drawingml/2006/main">
            <a:r>
              <a:t>SRC-086: Authentication</a:t>
            </a:r>
          </a:p>
          <a:p xmlns:a="http://schemas.openxmlformats.org/drawingml/2006/main">
            <a:r>
              <a:t>https://docs.ollama.com/api/authentication</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Documentation/Project_Planning/SQL_SERVER_2025_AI_PROVIDER_REVIEW.md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DiskANN beschreibt eine approximative Suche. Das Forschungspaper erklärt das Konzept, verspricht aber keine SQL-Internals oder Performance. Ein kompatibler Vector Index und die passende Metric sind notwendige Prüfobjekte. Ein kNN-Fallback kann bei fehlendem kompatiblem Index für näherungsweise Vektorsuche (Approximate Nearest Neighbor, ANN) auftreten. Daher ist der Name VECTOR_SEARCH allein kein ANN-Beweis. SQL Server 2025 und neue Azure-Indexformen besitzen unterschiedliche Syntax- und Filtergrenzen. In der lokalen Quelle ist ein begrenztes Legacy-TOP_N-Profil auf 17.0.5005.3 erlaubt, bei numerischer Generation UNKNOWN/WARN. Ein Treffer nach Postfilter kann zu weniger als k Rows führen.</a:t>
            </a:r>
          </a:p>
          <a:p xmlns:a="http://schemas.openxmlformats.org/drawingml/2006/main">
            <a:r>
              <a:t/>
            </a:r>
          </a:p>
          <a:p xmlns:a="http://schemas.openxmlformats.org/drawingml/2006/main">
            <a:r>
              <a:t>BASIS-Folie 36, Quellfolie 51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SRC-094: DiskANN: Fast Accurate Billion-point Nearest Neighbor Search on a Single Node</a:t>
            </a:r>
          </a:p>
          <a:p xmlns:a="http://schemas.openxmlformats.org/drawingml/2006/main">
            <a:r>
              <a:t>https://www.microsoft.com/en-us/research/publication/diskann-fast-accurate-billion-point-nearest-neighbor-search-on-a-single-node/</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Documentation/Project_Planning/SQL_SERVER_2025_AI_ANN_PROFILE_DECISION.md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bezeichnet die Baseline und B die gezielte Gegenmaßnahme. AB/BA verteilt Reihenfolgeeffekte, AA zeigt Variation ohne Änderung. Das ersetzt keine ausreichende Stichprobe oder vollständige Ursacheanalyse. Ergebnisse und Quellen müssen vor und nach dem Fenster gleich bleiben. Der Requestschlüssel bindet Counterpunkte an dieselbe eigene Ausführung. Ein Actual Plan ist eine repräsentative Laufzeitbeobachtung und kein Beweis vollständiger Systemkosten. Batchdauer und individuelle Querylatenz sind unterschiedliche Größen. Query Store liefert keinen direkten p99-Beleg der Anwendung. Auf Nullbaseline wird N/A statt einer erfundenen Ratio berichtet.</a:t>
            </a:r>
          </a:p>
          <a:p xmlns:a="http://schemas.openxmlformats.org/drawingml/2006/main">
            <a:r>
              <a:t/>
            </a:r>
          </a:p>
          <a:p xmlns:a="http://schemas.openxmlformats.org/drawingml/2006/main">
            <a:r>
              <a:t>BASIS-Folie 37, Quellfolie 54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SRC-032: Tune nonclustered indexes with missing index suggestions</a:t>
            </a:r>
          </a:p>
          <a:p xmlns:a="http://schemas.openxmlformats.org/drawingml/2006/main">
            <a:r>
              <a:t>https://learn.microsoft.com/en-us/sql/relational-databases/indexes/tune-nonclustered-missing-index-suggestions?view=sql-server-ver17</a:t>
            </a:r>
          </a:p>
          <a:p xmlns:a="http://schemas.openxmlformats.org/drawingml/2006/main">
            <a:r>
              <a:t>Abrufdatum laut Quellenregister: 2026-07-24</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CUR-020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geeigneter synthetischer Prompt lautet: Erkläre diese feste Query und nenne eine widerlegbare Performancehypothese für Engine17.x und CL170. Welche Belege zu Resultaten, Plänen, Lesezugriffen und Datenänderungen (Data Manipulation Language, DML) fehlen vor einer Änderung? Ergänzen Sie keine echten Querytexte oder Diagnosepläne. Die Lehrperson lässt die Gruppe unklare Annahmen benennen. Ein LLM (Large Language Model; großes Sprachmodell) kann falsche Syntax, Versionsgrenzen oder Rechte voraussetzen. Konfigurationsänderungen brauchen einen eigenen Wirkungs- und Rückfallvertrag. Eine erfolgreiche Ausführung beweist weder fachliche Gleichheit noch Performancegewinn. Die kontrollierte Offlinefixture erlaubt den gleichen Vorschlag in wiederholbaren Versuchen.</a:t>
            </a:r>
          </a:p>
          <a:p xmlns:a="http://schemas.openxmlformats.org/drawingml/2006/main">
            <a:r>
              <a:t/>
            </a:r>
          </a:p>
          <a:p xmlns:a="http://schemas.openxmlformats.org/drawingml/2006/main">
            <a:r>
              <a:t>BASIS-Folie 38, Quellfolie 57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Verwenden Sie die vorhandene Rubrik und die einzige gepflegte Trainerlösung im Offline-Arbeitsheft. Lassen Sie die Gruppe einen nachvollziehbaren Datenfluss und mindestens eine Gegenprobe beschreiben. Erwartete Elemente sind authentifizierter Tenantkontext, aktuelle Quellenbereiche, passende Modellprovenienz, feste Wertbindung und begrenzter Kontext. Ein Quellenwiderspruch erlaubt eine begründete Nichtantwort. Der Indexvorschlag benötigt gleiche Resultate, geeignete Messfenster und Kosten für Datenänderungen (Data Manipulation Language, DML), Speicherung und Indexaufbau. Die Rubrik hat keine festgelegte Bestehensgrenze und beweist keine gemessene Lernwirksamkeit. CON010 und Vertiefungsaufträge werden getrennt besprochen. Sammeln Sie keine Namen, Rawpläne oder Daten realer Systeme. Tatsächliche Lehrzeiten und Teilnehmerabnahme folgen erst in der Generalprobe.</a:t>
            </a:r>
          </a:p>
          <a:p xmlns:a="http://schemas.openxmlformats.org/drawingml/2006/main">
            <a:r>
              <a:t/>
            </a:r>
          </a:p>
          <a:p xmlns:a="http://schemas.openxmlformats.org/drawingml/2006/main">
            <a:r>
              <a:t>BASIS-Folie 39, Quellfolie 61 des 61-Folien-Masterdecks. Ablauf und Beobachtungsbogen: Documentation/HowTo/SQL_SERVER_2025_AI_BASIS_COURSE.md.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0739b1a1c441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aa630129d54d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eed834f3af44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dc8785097b4d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8c3bc4131e4a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aabd69ff634e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0C05F0-3593-43A8-A755-E1A3029ACF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36AB90-A3CB-47BB-8253-93307AD590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B7DA2B-6EE7-40C0-A184-8E7E855CC9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9C3245-0563-4F0A-9C9A-573BC26194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386365-E899-407E-9515-8519C5B9AF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F90391-4421-46D0-A3E6-98F32E1003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305FBC-68AA-459E-9460-303F845D55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C213B00-8DAE-4E8E-9E18-EB7EDDAA74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B6F66D-D964-4D26-B167-9939F19053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6F5D3A-C513-48DE-B6B4-8F4296AF37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99acb7ff774f98" /><Relationship Type="http://schemas.openxmlformats.org/officeDocument/2006/relationships/slideLayout" Target="/ppt/slideLayouts/slideLayout1.xml" Id="R1e6a0a8de9f940ef" /><Relationship Type="http://schemas.openxmlformats.org/officeDocument/2006/relationships/slideLayout" Target="/ppt/slideLayouts/slideLayout2.xml" Id="R29eb7921df0f42c3" /><Relationship Type="http://schemas.openxmlformats.org/officeDocument/2006/relationships/slideLayout" Target="/ppt/slideLayouts/slideLayout3.xml" Id="Rf3efe9d4d3044a9f" /><Relationship Type="http://schemas.openxmlformats.org/officeDocument/2006/relationships/slideLayout" Target="/ppt/slideLayouts/slideLayout4.xml" Id="Re16a8f20fc1c454b" /><Relationship Type="http://schemas.openxmlformats.org/officeDocument/2006/relationships/slideLayout" Target="/ppt/slideLayouts/slideLayout5.xml" Id="R2ff68f1d3e744a1c" /><Relationship Type="http://schemas.openxmlformats.org/officeDocument/2006/relationships/slideLayout" Target="/ppt/slideLayouts/slideLayout6.xml" Id="R9d70989983f84f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6a0a8de9f940ef"/>
    <p:sldLayoutId xmlns:r="http://schemas.openxmlformats.org/officeDocument/2006/relationships" id="2147483650" r:id="R29eb7921df0f42c3"/>
    <p:sldLayoutId xmlns:r="http://schemas.openxmlformats.org/officeDocument/2006/relationships" id="2147483651" r:id="Rf3efe9d4d3044a9f"/>
    <p:sldLayoutId xmlns:r="http://schemas.openxmlformats.org/officeDocument/2006/relationships" id="2147483652" r:id="Re16a8f20fc1c454b"/>
    <p:sldLayoutId xmlns:r="http://schemas.openxmlformats.org/officeDocument/2006/relationships" id="2147483653" r:id="R2ff68f1d3e744a1c"/>
    <p:sldLayoutId xmlns:r="http://schemas.openxmlformats.org/officeDocument/2006/relationships" id="2147483654" r:id="R9d70989983f84f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3c7d9a19f34bb9" /><Relationship Type="http://schemas.openxmlformats.org/officeDocument/2006/relationships/notesSlide" Target="/ppt/notesSlides/notesSlide1.xml" Id="Rd00e957ff0c848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cc56f238b44210" /><Relationship Type="http://schemas.openxmlformats.org/officeDocument/2006/relationships/notesSlide" Target="/ppt/notesSlides/notesSlide2.xml" Id="R70b11f580f904d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859bd824a849b9" /><Relationship Type="http://schemas.openxmlformats.org/officeDocument/2006/relationships/notesSlide" Target="/ppt/notesSlides/notesSlide3.xml" Id="R3c1ec160e2474e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2324a8621d40d9" /><Relationship Type="http://schemas.openxmlformats.org/officeDocument/2006/relationships/notesSlide" Target="/ppt/notesSlides/notesSlide4.xml" Id="R600b1615c2a146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8869334c5b4ca9" /><Relationship Type="http://schemas.openxmlformats.org/officeDocument/2006/relationships/notesSlide" Target="/ppt/notesSlides/notesSlide5.xml" Id="R7ec1b7b58fa646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fe0bffcf85482a" /><Relationship Type="http://schemas.openxmlformats.org/officeDocument/2006/relationships/notesSlide" Target="/ppt/notesSlides/notesSlide6.xml" Id="R5e5aca6603b54c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b88238ed9c4059" /><Relationship Type="http://schemas.openxmlformats.org/officeDocument/2006/relationships/notesSlide" Target="/ppt/notesSlides/notesSlide7.xml" Id="Rad784941f2064c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99d61911dd4bea" /><Relationship Type="http://schemas.openxmlformats.org/officeDocument/2006/relationships/notesSlide" Target="/ppt/notesSlides/notesSlide8.xml" Id="Rb8c203fbda4a47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7302e9d71546b3" /><Relationship Type="http://schemas.openxmlformats.org/officeDocument/2006/relationships/notesSlide" Target="/ppt/notesSlides/notesSlide9.xml" Id="R93d17ef134d946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4d9ea8cc014dfa" /><Relationship Type="http://schemas.openxmlformats.org/officeDocument/2006/relationships/notesSlide" Target="/ppt/notesSlides/notesSlide10.xml" Id="R9197625ea82a40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833671c57845fb" /><Relationship Type="http://schemas.openxmlformats.org/officeDocument/2006/relationships/notesSlide" Target="/ppt/notesSlides/notesSlide11.xml" Id="R7f765edc8c6d40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d905a03a6544ebf" /><Relationship Type="http://schemas.openxmlformats.org/officeDocument/2006/relationships/notesSlide" Target="/ppt/notesSlides/notesSlide12.xml" Id="R0d88f3a96ea941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fa04b30847f4983" /><Relationship Type="http://schemas.openxmlformats.org/officeDocument/2006/relationships/notesSlide" Target="/ppt/notesSlides/notesSlide13.xml" Id="R07493ab77db447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2ca408cad4471c" /><Relationship Type="http://schemas.openxmlformats.org/officeDocument/2006/relationships/notesSlide" Target="/ppt/notesSlides/notesSlide14.xml" Id="R64e3850d42ce4b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3039f3671064689" /><Relationship Type="http://schemas.openxmlformats.org/officeDocument/2006/relationships/notesSlide" Target="/ppt/notesSlides/notesSlide15.xml" Id="R3471568572f743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422d2bf8a534b66" /><Relationship Type="http://schemas.openxmlformats.org/officeDocument/2006/relationships/notesSlide" Target="/ppt/notesSlides/notesSlide16.xml" Id="Rd90f9e5b4ce740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5ea193e66f44dc7" /><Relationship Type="http://schemas.openxmlformats.org/officeDocument/2006/relationships/notesSlide" Target="/ppt/notesSlides/notesSlide17.xml" Id="R6269b745e35949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ecb9e39a71640bb" /><Relationship Type="http://schemas.openxmlformats.org/officeDocument/2006/relationships/notesSlide" Target="/ppt/notesSlides/notesSlide18.xml" Id="R0c630a396f2c46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9f59ac0c94d4148" /><Relationship Type="http://schemas.openxmlformats.org/officeDocument/2006/relationships/notesSlide" Target="/ppt/notesSlides/notesSlide19.xml" Id="Rdc01a22d40af4c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5366bf384a94cfc" /><Relationship Type="http://schemas.openxmlformats.org/officeDocument/2006/relationships/notesSlide" Target="/ppt/notesSlides/notesSlide20.xml" Id="Rda2b264260534f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7c7004e9c1e477d" /><Relationship Type="http://schemas.openxmlformats.org/officeDocument/2006/relationships/notesSlide" Target="/ppt/notesSlides/notesSlide21.xml" Id="Rda19f0b409574d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ac71439b2d54c0f" /><Relationship Type="http://schemas.openxmlformats.org/officeDocument/2006/relationships/notesSlide" Target="/ppt/notesSlides/notesSlide22.xml" Id="Rd73c2b9f848d42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e04731c13394248" /><Relationship Type="http://schemas.openxmlformats.org/officeDocument/2006/relationships/notesSlide" Target="/ppt/notesSlides/notesSlide23.xml" Id="R9d93eede52d3430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0f37277591f4d80" /><Relationship Type="http://schemas.openxmlformats.org/officeDocument/2006/relationships/notesSlide" Target="/ppt/notesSlides/notesSlide24.xml" Id="Rf481e6afa5c1401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9e93102909c4e70" /><Relationship Type="http://schemas.openxmlformats.org/officeDocument/2006/relationships/notesSlide" Target="/ppt/notesSlides/notesSlide25.xml" Id="Rde1a3c82ee4c427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bab6b9816084732" /><Relationship Type="http://schemas.openxmlformats.org/officeDocument/2006/relationships/notesSlide" Target="/ppt/notesSlides/notesSlide26.xml" Id="R987618aa482348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670cc6e9c9943f2" /><Relationship Type="http://schemas.openxmlformats.org/officeDocument/2006/relationships/notesSlide" Target="/ppt/notesSlides/notesSlide27.xml" Id="Re29b35a6176040b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e8c0fc61ae147ad" /><Relationship Type="http://schemas.openxmlformats.org/officeDocument/2006/relationships/notesSlide" Target="/ppt/notesSlides/notesSlide28.xml" Id="R7b55037ea831481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e57f436879640cc" /><Relationship Type="http://schemas.openxmlformats.org/officeDocument/2006/relationships/notesSlide" Target="/ppt/notesSlides/notesSlide29.xml" Id="R4555e7714a3c49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f36fbe33ada40b9" /><Relationship Type="http://schemas.openxmlformats.org/officeDocument/2006/relationships/notesSlide" Target="/ppt/notesSlides/notesSlide30.xml" Id="R59bdb8df243442a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cac504d07f74e1e" /><Relationship Type="http://schemas.openxmlformats.org/officeDocument/2006/relationships/notesSlide" Target="/ppt/notesSlides/notesSlide31.xml" Id="R3b4ee3e57b6d4ec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0ed24e7c8514bb6" /><Relationship Type="http://schemas.openxmlformats.org/officeDocument/2006/relationships/notesSlide" Target="/ppt/notesSlides/notesSlide32.xml" Id="R7fa93eeb4f6242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6ef7272ae624307" /><Relationship Type="http://schemas.openxmlformats.org/officeDocument/2006/relationships/notesSlide" Target="/ppt/notesSlides/notesSlide33.xml" Id="R200deb1f1ba9413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1dd7555aa304baf" /><Relationship Type="http://schemas.openxmlformats.org/officeDocument/2006/relationships/notesSlide" Target="/ppt/notesSlides/notesSlide34.xml" Id="R3ce17082789a4a5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e7e19bf921d42a4" /><Relationship Type="http://schemas.openxmlformats.org/officeDocument/2006/relationships/notesSlide" Target="/ppt/notesSlides/notesSlide35.xml" Id="R102e7bcec824467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f761b65d18a47c3" /><Relationship Type="http://schemas.openxmlformats.org/officeDocument/2006/relationships/notesSlide" Target="/ppt/notesSlides/notesSlide36.xml" Id="Rbc2cc8bdcace4bb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6f639726d2c40b7" /><Relationship Type="http://schemas.openxmlformats.org/officeDocument/2006/relationships/notesSlide" Target="/ppt/notesSlides/notesSlide37.xml" Id="Rb2738cb670b44d3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bf13d56b60d43e2" /><Relationship Type="http://schemas.openxmlformats.org/officeDocument/2006/relationships/notesSlide" Target="/ppt/notesSlides/notesSlide38.xml" Id="Rf4bce20463e545c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8feba7483074688" /><Relationship Type="http://schemas.openxmlformats.org/officeDocument/2006/relationships/notesSlide" Target="/ppt/notesSlides/notesSlide39.xml" Id="R326f2d06b3674be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A55040A1-9CEC-4826-B679-86772E1F7596}"/>
              </a:ext>
            </a:extLst>
          </p:cNvPr>
          <p:cNvSpPr>
            <a:spLocks xmlns:a="http://schemas.openxmlformats.org/drawingml/2006/main" noGrp="1"/>
          </p:cNvSpPr>
          <p:nvPr/>
        </p:nvSpPr>
        <p:spPr>
          <a:xfrm xmlns:a="http://schemas.openxmlformats.org/drawingml/2006/main">
            <a:off x="762000" y="1476375"/>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15283D"/>
                </a:solidFill>
                <a:latin typeface="Arial"/>
                <a:ea typeface="Arial"/>
                <a:cs typeface="Arial"/>
              </a:defRPr>
            </a:defPPr>
            <a:lvl1pPr>
              <a:defRPr sz="4800" b="1">
                <a:solidFill>
                  <a:srgbClr val="15283D"/>
                </a:solidFill>
                <a:latin typeface="Arial"/>
                <a:ea typeface="Arial"/>
                <a:cs typeface="Arial"/>
              </a:defRPr>
            </a:lvl1pPr>
            <a:lvl2pPr>
              <a:defRPr sz="4800" b="1">
                <a:solidFill>
                  <a:srgbClr val="15283D"/>
                </a:solidFill>
                <a:latin typeface="Arial"/>
                <a:ea typeface="Arial"/>
                <a:cs typeface="Arial"/>
              </a:defRPr>
            </a:lvl2pPr>
            <a:lvl3pPr>
              <a:defRPr sz="4800" b="1">
                <a:solidFill>
                  <a:srgbClr val="15283D"/>
                </a:solidFill>
                <a:latin typeface="Arial"/>
                <a:ea typeface="Arial"/>
                <a:cs typeface="Arial"/>
              </a:defRPr>
            </a:lvl3pPr>
            <a:lvl4pPr>
              <a:defRPr sz="4800" b="1">
                <a:solidFill>
                  <a:srgbClr val="15283D"/>
                </a:solidFill>
                <a:latin typeface="Arial"/>
                <a:ea typeface="Arial"/>
                <a:cs typeface="Arial"/>
              </a:defRPr>
            </a:lvl4pPr>
            <a:lvl5pPr>
              <a:defRPr sz="4800" b="1">
                <a:solidFill>
                  <a:srgbClr val="15283D"/>
                </a:solidFill>
                <a:latin typeface="Arial"/>
                <a:ea typeface="Arial"/>
                <a:cs typeface="Arial"/>
              </a:defRPr>
            </a:lvl5pPr>
            <a:lvl6pPr>
              <a:defRPr sz="4800" b="1">
                <a:solidFill>
                  <a:srgbClr val="15283D"/>
                </a:solidFill>
                <a:latin typeface="Arial"/>
                <a:ea typeface="Arial"/>
                <a:cs typeface="Arial"/>
              </a:defRPr>
            </a:lvl6pPr>
            <a:lvl7pPr>
              <a:defRPr sz="4800" b="1">
                <a:solidFill>
                  <a:srgbClr val="15283D"/>
                </a:solidFill>
                <a:latin typeface="Arial"/>
                <a:ea typeface="Arial"/>
                <a:cs typeface="Arial"/>
              </a:defRPr>
            </a:lvl7pPr>
            <a:lvl8pPr>
              <a:defRPr sz="4800" b="1">
                <a:solidFill>
                  <a:srgbClr val="15283D"/>
                </a:solidFill>
                <a:latin typeface="Arial"/>
                <a:ea typeface="Arial"/>
                <a:cs typeface="Arial"/>
              </a:defRPr>
            </a:lvl8pPr>
            <a:lvl9pPr>
              <a:defRPr sz="4800" b="1">
                <a:solidFill>
                  <a:srgbClr val="15283D"/>
                </a:solidFill>
                <a:latin typeface="Arial"/>
                <a:ea typeface="Arial"/>
                <a:cs typeface="Arial"/>
              </a:defRPr>
            </a:lvl9pPr>
          </a:lstStyle>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KI mit SQL Server 2025</a:t>
            </a:r>
          </a:p>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BASIS</a:t>
            </a:r>
          </a:p>
        </p:txBody>
      </p:sp>
      <p:sp>
        <p:nvSpPr>
          <p:cNvPr id="2" name="text-1">
            <a:extLst xmlns:a="http://schemas.openxmlformats.org/drawingml/2006/main">
              <a:ext uri="{FF2B5EF4-FFF2-40B4-BE49-F238E27FC236}">
                <a16:creationId xmlns:a16="http://schemas.microsoft.com/office/drawing/2014/main" id="{C5ECBF40-27BA-4030-BB26-4F61D6BCB112}"/>
              </a:ext>
            </a:extLst>
          </p:cNvPr>
          <p:cNvSpPr>
            <a:spLocks xmlns:a="http://schemas.openxmlformats.org/drawingml/2006/main" noGrp="1"/>
          </p:cNvSpPr>
          <p:nvPr/>
        </p:nvSpPr>
        <p:spPr>
          <a:xfrm xmlns:a="http://schemas.openxmlformats.org/drawingml/2006/main">
            <a:off x="762000" y="4143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52647A"/>
                </a:solidFill>
                <a:latin typeface="Arial"/>
                <a:ea typeface="Arial"/>
                <a:cs typeface="Arial"/>
              </a:defRPr>
            </a:defPPr>
            <a:lvl1pPr>
              <a:defRPr sz="2400" b="0">
                <a:solidFill>
                  <a:srgbClr val="52647A"/>
                </a:solidFill>
                <a:latin typeface="Arial"/>
                <a:ea typeface="Arial"/>
                <a:cs typeface="Arial"/>
              </a:defRPr>
            </a:lvl1pPr>
            <a:lvl2pPr>
              <a:defRPr sz="2400" b="0">
                <a:solidFill>
                  <a:srgbClr val="52647A"/>
                </a:solidFill>
                <a:latin typeface="Arial"/>
                <a:ea typeface="Arial"/>
                <a:cs typeface="Arial"/>
              </a:defRPr>
            </a:lvl2pPr>
            <a:lvl3pPr>
              <a:defRPr sz="2400" b="0">
                <a:solidFill>
                  <a:srgbClr val="52647A"/>
                </a:solidFill>
                <a:latin typeface="Arial"/>
                <a:ea typeface="Arial"/>
                <a:cs typeface="Arial"/>
              </a:defRPr>
            </a:lvl3pPr>
            <a:lvl4pPr>
              <a:defRPr sz="2400" b="0">
                <a:solidFill>
                  <a:srgbClr val="52647A"/>
                </a:solidFill>
                <a:latin typeface="Arial"/>
                <a:ea typeface="Arial"/>
                <a:cs typeface="Arial"/>
              </a:defRPr>
            </a:lvl4pPr>
            <a:lvl5pPr>
              <a:defRPr sz="2400" b="0">
                <a:solidFill>
                  <a:srgbClr val="52647A"/>
                </a:solidFill>
                <a:latin typeface="Arial"/>
                <a:ea typeface="Arial"/>
                <a:cs typeface="Arial"/>
              </a:defRPr>
            </a:lvl5pPr>
            <a:lvl6pPr>
              <a:defRPr sz="2400" b="0">
                <a:solidFill>
                  <a:srgbClr val="52647A"/>
                </a:solidFill>
                <a:latin typeface="Arial"/>
                <a:ea typeface="Arial"/>
                <a:cs typeface="Arial"/>
              </a:defRPr>
            </a:lvl6pPr>
            <a:lvl7pPr>
              <a:defRPr sz="2400" b="0">
                <a:solidFill>
                  <a:srgbClr val="52647A"/>
                </a:solidFill>
                <a:latin typeface="Arial"/>
                <a:ea typeface="Arial"/>
                <a:cs typeface="Arial"/>
              </a:defRPr>
            </a:lvl7pPr>
            <a:lvl8pPr>
              <a:defRPr sz="2400" b="0">
                <a:solidFill>
                  <a:srgbClr val="52647A"/>
                </a:solidFill>
                <a:latin typeface="Arial"/>
                <a:ea typeface="Arial"/>
                <a:cs typeface="Arial"/>
              </a:defRPr>
            </a:lvl8pPr>
            <a:lvl9pPr>
              <a:defRPr sz="2400" b="0">
                <a:solidFill>
                  <a:srgbClr val="52647A"/>
                </a:solidFill>
                <a:latin typeface="Arial"/>
                <a:ea typeface="Arial"/>
                <a:cs typeface="Arial"/>
              </a:defRPr>
            </a:lvl9pPr>
          </a:lstStyle>
          <a:p xmlns:a="http://schemas.openxmlformats.org/drawingml/2006/main">
            <a:pPr>
              <a:defRPr sz="2400" b="0">
                <a:solidFill>
                  <a:srgbClr val="52647A"/>
                </a:solidFill>
                <a:latin typeface="Arial"/>
                <a:ea typeface="Arial"/>
                <a:cs typeface="Arial"/>
              </a:defRPr>
            </a:pPr>
            <a:r>
              <a:rPr sz="2400" b="0">
                <a:solidFill>
                  <a:srgbClr val="52647A"/>
                </a:solidFill>
                <a:latin typeface="Arial"/>
                <a:ea typeface="Arial"/>
                <a:cs typeface="Arial"/>
              </a:rPr>
              <a:t>Vier Stunden · Grundlagen, sichere SQL-Werte und belegbare Antworten</a:t>
            </a:r>
          </a:p>
        </p:txBody>
      </p:sp>
      <p:sp>
        <p:nvSpPr>
          <p:cNvPr id="3" name="text-2">
            <a:extLst xmlns:a="http://schemas.openxmlformats.org/drawingml/2006/main">
              <a:ext uri="{FF2B5EF4-FFF2-40B4-BE49-F238E27FC236}">
                <a16:creationId xmlns:a16="http://schemas.microsoft.com/office/drawing/2014/main" id="{BCC0C380-662C-4E96-A5C8-595C8DD6869C}"/>
              </a:ext>
            </a:extLst>
          </p:cNvPr>
          <p:cNvSpPr>
            <a:spLocks xmlns:a="http://schemas.openxmlformats.org/drawingml/2006/main" noGrp="1"/>
          </p:cNvSpPr>
          <p:nvPr/>
        </p:nvSpPr>
        <p:spPr>
          <a:xfrm xmlns:a="http://schemas.openxmlformats.org/drawingml/2006/main">
            <a:off x="762000" y="5810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007A83"/>
                </a:solidFill>
                <a:latin typeface="Arial"/>
                <a:ea typeface="Arial"/>
                <a:cs typeface="Arial"/>
              </a:defRPr>
            </a:defPPr>
            <a:lvl1pPr>
              <a:defRPr sz="1800" b="0">
                <a:solidFill>
                  <a:srgbClr val="007A83"/>
                </a:solidFill>
                <a:latin typeface="Arial"/>
                <a:ea typeface="Arial"/>
                <a:cs typeface="Arial"/>
              </a:defRPr>
            </a:lvl1pPr>
            <a:lvl2pPr>
              <a:defRPr sz="1800" b="0">
                <a:solidFill>
                  <a:srgbClr val="007A83"/>
                </a:solidFill>
                <a:latin typeface="Arial"/>
                <a:ea typeface="Arial"/>
                <a:cs typeface="Arial"/>
              </a:defRPr>
            </a:lvl2pPr>
            <a:lvl3pPr>
              <a:defRPr sz="1800" b="0">
                <a:solidFill>
                  <a:srgbClr val="007A83"/>
                </a:solidFill>
                <a:latin typeface="Arial"/>
                <a:ea typeface="Arial"/>
                <a:cs typeface="Arial"/>
              </a:defRPr>
            </a:lvl3pPr>
            <a:lvl4pPr>
              <a:defRPr sz="1800" b="0">
                <a:solidFill>
                  <a:srgbClr val="007A83"/>
                </a:solidFill>
                <a:latin typeface="Arial"/>
                <a:ea typeface="Arial"/>
                <a:cs typeface="Arial"/>
              </a:defRPr>
            </a:lvl4pPr>
            <a:lvl5pPr>
              <a:defRPr sz="1800" b="0">
                <a:solidFill>
                  <a:srgbClr val="007A83"/>
                </a:solidFill>
                <a:latin typeface="Arial"/>
                <a:ea typeface="Arial"/>
                <a:cs typeface="Arial"/>
              </a:defRPr>
            </a:lvl5pPr>
            <a:lvl6pPr>
              <a:defRPr sz="1800" b="0">
                <a:solidFill>
                  <a:srgbClr val="007A83"/>
                </a:solidFill>
                <a:latin typeface="Arial"/>
                <a:ea typeface="Arial"/>
                <a:cs typeface="Arial"/>
              </a:defRPr>
            </a:lvl6pPr>
            <a:lvl7pPr>
              <a:defRPr sz="1800" b="0">
                <a:solidFill>
                  <a:srgbClr val="007A83"/>
                </a:solidFill>
                <a:latin typeface="Arial"/>
                <a:ea typeface="Arial"/>
                <a:cs typeface="Arial"/>
              </a:defRPr>
            </a:lvl7pPr>
            <a:lvl8pPr>
              <a:defRPr sz="1800" b="0">
                <a:solidFill>
                  <a:srgbClr val="007A83"/>
                </a:solidFill>
                <a:latin typeface="Arial"/>
                <a:ea typeface="Arial"/>
                <a:cs typeface="Arial"/>
              </a:defRPr>
            </a:lvl8pPr>
            <a:lvl9pPr>
              <a:defRPr sz="1800" b="0">
                <a:solidFill>
                  <a:srgbClr val="007A83"/>
                </a:solidFill>
                <a:latin typeface="Arial"/>
                <a:ea typeface="Arial"/>
                <a:cs typeface="Arial"/>
              </a:defRPr>
            </a:lvl9pPr>
          </a:lstStyle>
          <a:p xmlns:a="http://schemas.openxmlformats.org/drawingml/2006/main">
            <a:pPr>
              <a:defRPr sz="1800" b="0">
                <a:solidFill>
                  <a:srgbClr val="007A83"/>
                </a:solidFill>
                <a:latin typeface="Arial"/>
                <a:ea typeface="Arial"/>
                <a:cs typeface="Arial"/>
              </a:defRPr>
            </a:pPr>
            <a:r>
              <a:rPr sz="1800" b="0">
                <a:solidFill>
                  <a:srgbClr val="007A83"/>
                </a:solidFill>
                <a:latin typeface="Arial"/>
                <a:ea typeface="Arial"/>
                <a:cs typeface="Arial"/>
              </a:rPr>
              <a:t>Schulungsunterlagen · Stand 2026-10-12</a:t>
            </a:r>
          </a:p>
        </p:txBody>
      </p:sp>
    </p:spTree>
    <p:extLst>
      <p:ext uri="{BB962C8B-B14F-4D97-AF65-F5344CB8AC3E}">
        <p14:creationId xmlns:p14="http://schemas.microsoft.com/office/powerpoint/2010/main" val="2140089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FB642FD-54AA-42BD-AC54-7BFD584905E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Einstieg mit bekannten SQL-Grundlagen</a:t>
            </a:r>
          </a:p>
        </p:txBody>
      </p:sp>
      <p:sp>
        <p:nvSpPr>
          <p:cNvPr id="2" name="text-1">
            <a:extLst xmlns:a="http://schemas.openxmlformats.org/drawingml/2006/main">
              <a:ext uri="{FF2B5EF4-FFF2-40B4-BE49-F238E27FC236}">
                <a16:creationId xmlns:a16="http://schemas.microsoft.com/office/drawing/2014/main" id="{5693D8D0-1F9B-4F65-BB34-EA5B36C8708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Ausgangspunkt</a:t>
            </a:r>
          </a:p>
        </p:txBody>
      </p:sp>
      <p:sp>
        <p:nvSpPr>
          <p:cNvPr id="3" name="text-2">
            <a:extLst xmlns:a="http://schemas.openxmlformats.org/drawingml/2006/main">
              <a:ext uri="{FF2B5EF4-FFF2-40B4-BE49-F238E27FC236}">
                <a16:creationId xmlns:a16="http://schemas.microsoft.com/office/drawing/2014/main" id="{06AA620A-6C18-47CA-8BF7-FCB1F24051FF}"/>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Sie kennen SELECT und Tabellen. Erfahrung mit KI brauchen Sie für diesen Einstieg nicht.</a:t>
            </a:r>
          </a:p>
        </p:txBody>
      </p:sp>
      <p:sp>
        <p:nvSpPr>
          <p:cNvPr id="4" name="text-3">
            <a:extLst xmlns:a="http://schemas.openxmlformats.org/drawingml/2006/main">
              <a:ext uri="{FF2B5EF4-FFF2-40B4-BE49-F238E27FC236}">
                <a16:creationId xmlns:a16="http://schemas.microsoft.com/office/drawing/2014/main" id="{5CB39055-7739-474E-B7D2-5321CCC5932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 Fall</a:t>
            </a:r>
          </a:p>
        </p:txBody>
      </p:sp>
      <p:sp>
        <p:nvSpPr>
          <p:cNvPr id="5" name="text-4">
            <a:extLst xmlns:a="http://schemas.openxmlformats.org/drawingml/2006/main">
              <a:ext uri="{FF2B5EF4-FFF2-40B4-BE49-F238E27FC236}">
                <a16:creationId xmlns:a16="http://schemas.microsoft.com/office/drawing/2014/main" id="{F04AAC4C-935D-4539-B94C-51A0F1AAC72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kleine technische Wissensbasis soll eine nachvollziehbare Antwort liefern.</a:t>
            </a:r>
          </a:p>
        </p:txBody>
      </p:sp>
      <p:sp>
        <p:nvSpPr>
          <p:cNvPr id="6" name="text-5">
            <a:extLst xmlns:a="http://schemas.openxmlformats.org/drawingml/2006/main">
              <a:ext uri="{FF2B5EF4-FFF2-40B4-BE49-F238E27FC236}">
                <a16:creationId xmlns:a16="http://schemas.microsoft.com/office/drawing/2014/main" id="{432DEA2C-9180-4CC4-92EF-76A0053CA2DD}"/>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Erstes Ergebnis</a:t>
            </a:r>
          </a:p>
        </p:txBody>
      </p:sp>
      <p:sp>
        <p:nvSpPr>
          <p:cNvPr id="7" name="text-6">
            <a:extLst xmlns:a="http://schemas.openxmlformats.org/drawingml/2006/main">
              <a:ext uri="{FF2B5EF4-FFF2-40B4-BE49-F238E27FC236}">
                <a16:creationId xmlns:a16="http://schemas.microsoft.com/office/drawing/2014/main" id="{6ADA0A8C-C2D1-41D7-B232-740258D14C95}"/>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lesen Quellen und vergleichen feste Zahlen. Ein Modellzugang ist dafür noch nicht nötig.</a:t>
            </a:r>
          </a:p>
        </p:txBody>
      </p:sp>
      <p:sp>
        <p:nvSpPr>
          <p:cNvPr id="8" name="text-7">
            <a:extLst xmlns:a="http://schemas.openxmlformats.org/drawingml/2006/main">
              <a:ext uri="{FF2B5EF4-FFF2-40B4-BE49-F238E27FC236}">
                <a16:creationId xmlns:a16="http://schemas.microsoft.com/office/drawing/2014/main" id="{486BA74B-709E-4FCB-AF18-C0ADA016D15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 · Quellfolie 2 · CUR-013</a:t>
            </a:r>
          </a:p>
        </p:txBody>
      </p:sp>
    </p:spTree>
    <p:extLst>
      <p:ext uri="{BB962C8B-B14F-4D97-AF65-F5344CB8AC3E}">
        <p14:creationId xmlns:p14="http://schemas.microsoft.com/office/powerpoint/2010/main" val="12624596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4C4E8B3-F681-407D-8E5A-51BB376C4CE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Frage aus der technischen Wissensbasis</a:t>
            </a:r>
          </a:p>
        </p:txBody>
      </p:sp>
      <p:sp>
        <p:nvSpPr>
          <p:cNvPr id="2" name="text-1">
            <a:extLst xmlns:a="http://schemas.openxmlformats.org/drawingml/2006/main">
              <a:ext uri="{FF2B5EF4-FFF2-40B4-BE49-F238E27FC236}">
                <a16:creationId xmlns:a16="http://schemas.microsoft.com/office/drawing/2014/main" id="{6E28915D-BE03-4716-A279-3DE9C897B155}"/>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Frage</a:t>
            </a:r>
          </a:p>
        </p:txBody>
      </p:sp>
      <p:sp>
        <p:nvSpPr>
          <p:cNvPr id="3" name="text-2">
            <a:extLst xmlns:a="http://schemas.openxmlformats.org/drawingml/2006/main">
              <a:ext uri="{FF2B5EF4-FFF2-40B4-BE49-F238E27FC236}">
                <a16:creationId xmlns:a16="http://schemas.microsoft.com/office/drawing/2014/main" id="{9EDA87B0-0E6B-45D5-8FAE-D96B102BFD0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Wie lange bleiben die Protokolle des Moduls MOD_A erhalten?</a:t>
            </a:r>
          </a:p>
        </p:txBody>
      </p:sp>
      <p:sp>
        <p:nvSpPr>
          <p:cNvPr id="4" name="text-3">
            <a:extLst xmlns:a="http://schemas.openxmlformats.org/drawingml/2006/main">
              <a:ext uri="{FF2B5EF4-FFF2-40B4-BE49-F238E27FC236}">
                <a16:creationId xmlns:a16="http://schemas.microsoft.com/office/drawing/2014/main" id="{18E95692-1222-4B5E-826F-87A798F5F8D3}"/>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a:t>
            </a:r>
          </a:p>
        </p:txBody>
      </p:sp>
      <p:sp>
        <p:nvSpPr>
          <p:cNvPr id="5" name="text-4">
            <a:extLst xmlns:a="http://schemas.openxmlformats.org/drawingml/2006/main">
              <a:ext uri="{FF2B5EF4-FFF2-40B4-BE49-F238E27FC236}">
                <a16:creationId xmlns:a16="http://schemas.microsoft.com/office/drawing/2014/main" id="{B74531DC-9E56-4D54-9378-E38401940F8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alte Anleitung nennt fünf Tage. Die aktuelle Anleitung nennt sieben Tage.</a:t>
            </a:r>
          </a:p>
        </p:txBody>
      </p:sp>
      <p:sp>
        <p:nvSpPr>
          <p:cNvPr id="6" name="text-5">
            <a:extLst xmlns:a="http://schemas.openxmlformats.org/drawingml/2006/main">
              <a:ext uri="{FF2B5EF4-FFF2-40B4-BE49-F238E27FC236}">
                <a16:creationId xmlns:a16="http://schemas.microsoft.com/office/drawing/2014/main" id="{79DF7D49-B7DC-4EA8-9C95-82423A5AC0B7}"/>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Erwartung</a:t>
            </a:r>
          </a:p>
        </p:txBody>
      </p:sp>
      <p:sp>
        <p:nvSpPr>
          <p:cNvPr id="7" name="text-6">
            <a:extLst xmlns:a="http://schemas.openxmlformats.org/drawingml/2006/main">
              <a:ext uri="{FF2B5EF4-FFF2-40B4-BE49-F238E27FC236}">
                <a16:creationId xmlns:a16="http://schemas.microsoft.com/office/drawing/2014/main" id="{176448FC-88E2-485D-8F45-C37D0A85DEF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Antwort muss zur aktuellen Anleitung passen und ihre Quelle nennen.</a:t>
            </a:r>
          </a:p>
        </p:txBody>
      </p:sp>
      <p:sp>
        <p:nvSpPr>
          <p:cNvPr id="8" name="text-7">
            <a:extLst xmlns:a="http://schemas.openxmlformats.org/drawingml/2006/main">
              <a:ext uri="{FF2B5EF4-FFF2-40B4-BE49-F238E27FC236}">
                <a16:creationId xmlns:a16="http://schemas.microsoft.com/office/drawing/2014/main" id="{41ADD04A-DBE6-4AAF-A6EB-49C443D8806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MOD_A und alle Dokumente sind frei erfundene Schulungsdaten.</a:t>
            </a:r>
          </a:p>
        </p:txBody>
      </p:sp>
      <p:sp>
        <p:nvSpPr>
          <p:cNvPr id="9" name="text-8">
            <a:extLst xmlns:a="http://schemas.openxmlformats.org/drawingml/2006/main">
              <a:ext uri="{FF2B5EF4-FFF2-40B4-BE49-F238E27FC236}">
                <a16:creationId xmlns:a16="http://schemas.microsoft.com/office/drawing/2014/main" id="{3AB669B4-29A2-45ED-B55D-D5A21F6FA63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 · Quellfolie 3 · CUR-013 / CUR-017</a:t>
            </a:r>
          </a:p>
        </p:txBody>
      </p:sp>
    </p:spTree>
    <p:extLst>
      <p:ext uri="{BB962C8B-B14F-4D97-AF65-F5344CB8AC3E}">
        <p14:creationId xmlns:p14="http://schemas.microsoft.com/office/powerpoint/2010/main" val="12161152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40DF2936-55F7-4ACB-B330-E79A48FF028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Drei überschaubare Quelldokumente</a:t>
            </a:r>
          </a:p>
        </p:txBody>
      </p:sp>
      <p:graphicFrame>
        <p:nvGraphicFramePr>
          <p:cNvPr id="2" name="">
            <a:extLst xmlns:a="http://schemas.openxmlformats.org/drawingml/2006/main">
              <a:ext uri="{FF2B5EF4-FFF2-40B4-BE49-F238E27FC236}">
                <a16:creationId xmlns:a16="http://schemas.microsoft.com/office/drawing/2014/main" id="{C67EA999-925E-4D7F-8E25-0FF3E85EA921}"/>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190750"/>
                <a:gridCol w="2190750"/>
                <a:gridCol w="6286500"/>
              </a:tblGrid>
              <a:tr h="785813">
                <a:tc>
                  <a:txBody>
                    <a:bodyPr/>
                    <a:lstStyle/>
                    <a:p>
                      <a:r>
                        <a:rPr sz="1800" b="1">
                          <a:solidFill>
                            <a:srgbClr val="15283D"/>
                          </a:solidFill>
                          <a:latin typeface="Arial"/>
                          <a:ea typeface="Arial"/>
                          <a:cs typeface="Arial"/>
                        </a:rPr>
                        <a:t>Dokument</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Fassung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Quelltext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v1, veraltet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MOD_A bewahrt Protokolle fünf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v2, aktuell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MOD_A bewahrt Protokolle sieben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 MOD_B</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v1, aktuell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MOD_B bewahrt Protokolle neun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1B32D198-0348-4CFB-905F-3BE3D7BF34B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4 · Quellfolie 4 · CUR-013 / CUR-015</a:t>
            </a:r>
          </a:p>
        </p:txBody>
      </p:sp>
    </p:spTree>
    <p:extLst>
      <p:ext uri="{BB962C8B-B14F-4D97-AF65-F5344CB8AC3E}">
        <p14:creationId xmlns:p14="http://schemas.microsoft.com/office/powerpoint/2010/main" val="2448742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B7FFF05-FBB9-4981-96CD-C93AF4BA2C9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vertraute SELECT-Abfrage</a:t>
            </a:r>
          </a:p>
        </p:txBody>
      </p:sp>
      <p:sp>
        <p:nvSpPr>
          <p:cNvPr id="2" name="text-1">
            <a:extLst xmlns:a="http://schemas.openxmlformats.org/drawingml/2006/main">
              <a:ext uri="{FF2B5EF4-FFF2-40B4-BE49-F238E27FC236}">
                <a16:creationId xmlns:a16="http://schemas.microsoft.com/office/drawing/2014/main" id="{1C1A4D6C-DAF4-4C18-9919-3DD6BFC07CBA}"/>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DocId, Fassung, Text</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(VALUES</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  (2, N'v2', N'MOD_A: sieben Tage')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 AS d(DocId, Fassung, Text);</a:t>
            </a:r>
          </a:p>
        </p:txBody>
      </p:sp>
      <p:sp>
        <p:nvSpPr>
          <p:cNvPr id="3" name="text-2">
            <a:extLst xmlns:a="http://schemas.openxmlformats.org/drawingml/2006/main">
              <a:ext uri="{FF2B5EF4-FFF2-40B4-BE49-F238E27FC236}">
                <a16:creationId xmlns:a16="http://schemas.microsoft.com/office/drawing/2014/main" id="{A216737D-698D-4481-B693-DC86CBBD33AA}"/>
              </a:ext>
            </a:extLst>
          </p:cNvPr>
          <p:cNvSpPr>
            <a:spLocks xmlns:a="http://schemas.openxmlformats.org/drawingml/2006/main" noGrp="1"/>
          </p:cNvSpPr>
          <p:nvPr/>
        </p:nvSpPr>
        <p:spPr>
          <a:xfrm xmlns:a="http://schemas.openxmlformats.org/drawingml/2006/main">
            <a:off x="685800" y="3724275"/>
            <a:ext cx="2333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Ergebnis</a:t>
            </a:r>
          </a:p>
        </p:txBody>
      </p:sp>
      <p:sp>
        <p:nvSpPr>
          <p:cNvPr id="4" name="text-3">
            <a:extLst xmlns:a="http://schemas.openxmlformats.org/drawingml/2006/main">
              <a:ext uri="{FF2B5EF4-FFF2-40B4-BE49-F238E27FC236}">
                <a16:creationId xmlns:a16="http://schemas.microsoft.com/office/drawing/2014/main" id="{31B2FC66-EDD6-4F39-9F3D-2FD8B165293F}"/>
              </a:ext>
            </a:extLst>
          </p:cNvPr>
          <p:cNvSpPr>
            <a:spLocks xmlns:a="http://schemas.openxmlformats.org/drawingml/2006/main" noGrp="1"/>
          </p:cNvSpPr>
          <p:nvPr/>
        </p:nvSpPr>
        <p:spPr>
          <a:xfrm xmlns:a="http://schemas.openxmlformats.org/drawingml/2006/main">
            <a:off x="3190875" y="3724275"/>
            <a:ext cx="8239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Row mit DocId 2, Fassung v2 und dem festen Text MOD_A: sieben Tage.</a:t>
            </a:r>
          </a:p>
        </p:txBody>
      </p:sp>
      <p:sp>
        <p:nvSpPr>
          <p:cNvPr id="5" name="text-4">
            <a:extLst xmlns:a="http://schemas.openxmlformats.org/drawingml/2006/main">
              <a:ext uri="{FF2B5EF4-FFF2-40B4-BE49-F238E27FC236}">
                <a16:creationId xmlns:a16="http://schemas.microsoft.com/office/drawing/2014/main" id="{810D64BB-2592-4A97-AFE3-B2B0FA485CA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Read-only-Beispiel. VALUES stellt eine feste Row bereit, ohne eine Tabelle anzulegen.</a:t>
            </a:r>
          </a:p>
        </p:txBody>
      </p:sp>
      <p:sp>
        <p:nvSpPr>
          <p:cNvPr id="6" name="text-5">
            <a:extLst xmlns:a="http://schemas.openxmlformats.org/drawingml/2006/main">
              <a:ext uri="{FF2B5EF4-FFF2-40B4-BE49-F238E27FC236}">
                <a16:creationId xmlns:a16="http://schemas.microsoft.com/office/drawing/2014/main" id="{98E81794-6AA9-4D31-9F28-44707FD3BBE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5 · Quellfolie 5 · CUR-013</a:t>
            </a:r>
          </a:p>
        </p:txBody>
      </p:sp>
    </p:spTree>
    <p:extLst>
      <p:ext uri="{BB962C8B-B14F-4D97-AF65-F5344CB8AC3E}">
        <p14:creationId xmlns:p14="http://schemas.microsoft.com/office/powerpoint/2010/main" val="4024662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CB08B2A3-AF77-48C7-8456-9871B77464C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Unterschiedliche Fragen an dieselben Daten</a:t>
            </a:r>
          </a:p>
        </p:txBody>
      </p:sp>
      <p:graphicFrame>
        <p:nvGraphicFramePr>
          <p:cNvPr id="2" name="">
            <a:extLst xmlns:a="http://schemas.openxmlformats.org/drawingml/2006/main">
              <a:ext uri="{FF2B5EF4-FFF2-40B4-BE49-F238E27FC236}">
                <a16:creationId xmlns:a16="http://schemas.microsoft.com/office/drawing/2014/main" id="{01777E84-9D58-4CB3-91F0-3E4F72888745}"/>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4762500"/>
                <a:gridCol w="5905500"/>
              </a:tblGrid>
              <a:tr h="785813">
                <a:tc>
                  <a:txBody>
                    <a:bodyPr/>
                    <a:lstStyle/>
                    <a:p>
                      <a:r>
                        <a:rPr sz="1800" b="1">
                          <a:solidFill>
                            <a:srgbClr val="15283D"/>
                          </a:solidFill>
                          <a:latin typeface="Arial"/>
                          <a:ea typeface="Arial"/>
                          <a:cs typeface="Arial"/>
                        </a:rPr>
                        <a:t>Frage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wir benötigen</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Was steht aktuell zu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Richtiges Modul und aktuelle Fassung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Wann verschwinden die Logeinträge?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Passende Bedeutung trotz anderer Wortwahl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Warum sind es genau sieben Tage?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Quelle, die den Grund tatsächlich erklärt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6D4F778D-1CB8-45DA-8E77-CCC16ED633E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6 · Quellfolie 6 · CUR-013 / CUR-017</a:t>
            </a:r>
          </a:p>
        </p:txBody>
      </p:sp>
    </p:spTree>
    <p:extLst>
      <p:ext uri="{BB962C8B-B14F-4D97-AF65-F5344CB8AC3E}">
        <p14:creationId xmlns:p14="http://schemas.microsoft.com/office/powerpoint/2010/main" val="15460965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0BBFCCD-84D6-4C83-A89D-450ADFD393C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KI-Anwendungen rund um SQL Server</a:t>
            </a:r>
          </a:p>
        </p:txBody>
      </p:sp>
      <p:graphicFrame>
        <p:nvGraphicFramePr>
          <p:cNvPr id="2" name="">
            <a:extLst xmlns:a="http://schemas.openxmlformats.org/drawingml/2006/main">
              <a:ext uri="{FF2B5EF4-FFF2-40B4-BE49-F238E27FC236}">
                <a16:creationId xmlns:a16="http://schemas.microsoft.com/office/drawing/2014/main" id="{670DAB64-7B2C-4785-9D80-971627D5FE46}"/>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333750"/>
                <a:gridCol w="7334250"/>
              </a:tblGrid>
              <a:tr h="800100">
                <a:tc>
                  <a:txBody>
                    <a:bodyPr/>
                    <a:lstStyle/>
                    <a:p>
                      <a:r>
                        <a:rPr sz="1800" b="1">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Beispiel</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Wissenssuche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Passende Anleitung zu einer anders formulierten Frage finden.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Textaufbereitung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Aus gelieferten Quellen einen kurzen Antwortentwurf oder eine Zusammenfassung bilden.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SQL-Assistenz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Query erklären oder einen Änderungsvorschlag diskutieren.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Vorhersage und Klassifikation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Mit einem passenden zusätzlichen Modell einen Wert vorhersagen oder eine Kategorie zuordnen.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C10ABFF-0A61-43F5-A468-0406E5E4F22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 Aufgabe bestimmt das Modell und den Anwendungspfad. Eine Funktion deckt nicht jede Aufgabe ab.</a:t>
            </a:r>
          </a:p>
        </p:txBody>
      </p:sp>
      <p:sp>
        <p:nvSpPr>
          <p:cNvPr id="4" name="text-2">
            <a:extLst xmlns:a="http://schemas.openxmlformats.org/drawingml/2006/main">
              <a:ext uri="{FF2B5EF4-FFF2-40B4-BE49-F238E27FC236}">
                <a16:creationId xmlns:a16="http://schemas.microsoft.com/office/drawing/2014/main" id="{7366FB17-7C47-4C0A-A986-97981C625B7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7 · Quellfolie 7 · CUR-013 / CUR-016 / CUR-021</a:t>
            </a:r>
          </a:p>
        </p:txBody>
      </p:sp>
    </p:spTree>
    <p:extLst>
      <p:ext uri="{BB962C8B-B14F-4D97-AF65-F5344CB8AC3E}">
        <p14:creationId xmlns:p14="http://schemas.microsoft.com/office/powerpoint/2010/main" val="7472396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2834537-7DBB-4263-9F56-6EDC0C37DD1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 und Machine Learning in einfachen Worten</a:t>
            </a:r>
          </a:p>
        </p:txBody>
      </p:sp>
      <p:sp>
        <p:nvSpPr>
          <p:cNvPr id="2" name="text-1">
            <a:extLst xmlns:a="http://schemas.openxmlformats.org/drawingml/2006/main">
              <a:ext uri="{FF2B5EF4-FFF2-40B4-BE49-F238E27FC236}">
                <a16:creationId xmlns:a16="http://schemas.microsoft.com/office/drawing/2014/main" id="{AF21438D-5D65-4810-8C74-F8D0B94D1D3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KI</a:t>
            </a:r>
          </a:p>
        </p:txBody>
      </p:sp>
      <p:sp>
        <p:nvSpPr>
          <p:cNvPr id="3" name="text-2">
            <a:extLst xmlns:a="http://schemas.openxmlformats.org/drawingml/2006/main">
              <a:ext uri="{FF2B5EF4-FFF2-40B4-BE49-F238E27FC236}">
                <a16:creationId xmlns:a16="http://schemas.microsoft.com/office/drawing/2014/main" id="{D2DEBC98-1E72-4786-923E-9A0BE689B951}"/>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Künstliche Intelligenz umfasst etwa Systeme mit Wissensregeln oder gelernten Mustern. Suche und Texterzeugung sind mögliche Anwendungen.</a:t>
            </a:r>
          </a:p>
        </p:txBody>
      </p:sp>
      <p:sp>
        <p:nvSpPr>
          <p:cNvPr id="4" name="text-3">
            <a:extLst xmlns:a="http://schemas.openxmlformats.org/drawingml/2006/main">
              <a:ext uri="{FF2B5EF4-FFF2-40B4-BE49-F238E27FC236}">
                <a16:creationId xmlns:a16="http://schemas.microsoft.com/office/drawing/2014/main" id="{721B8296-7CD1-4047-BFEB-AA5AB5484F2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Machine Learning</a:t>
            </a:r>
          </a:p>
        </p:txBody>
      </p:sp>
      <p:sp>
        <p:nvSpPr>
          <p:cNvPr id="5" name="text-4">
            <a:extLst xmlns:a="http://schemas.openxmlformats.org/drawingml/2006/main">
              <a:ext uri="{FF2B5EF4-FFF2-40B4-BE49-F238E27FC236}">
                <a16:creationId xmlns:a16="http://schemas.microsoft.com/office/drawing/2014/main" id="{9E3BFA8B-DE82-4744-A5D7-3282A375DADD}"/>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Modell lernt Muster aus Beispielen. Die Abkürzung dafür lautet ML.</a:t>
            </a:r>
          </a:p>
        </p:txBody>
      </p:sp>
      <p:sp>
        <p:nvSpPr>
          <p:cNvPr id="6" name="text-5">
            <a:extLst xmlns:a="http://schemas.openxmlformats.org/drawingml/2006/main">
              <a:ext uri="{FF2B5EF4-FFF2-40B4-BE49-F238E27FC236}">
                <a16:creationId xmlns:a16="http://schemas.microsoft.com/office/drawing/2014/main" id="{1E47F2F5-7B20-452D-BACF-0641AC61501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 Ziel</a:t>
            </a:r>
          </a:p>
        </p:txBody>
      </p:sp>
      <p:sp>
        <p:nvSpPr>
          <p:cNvPr id="7" name="text-6">
            <a:extLst xmlns:a="http://schemas.openxmlformats.org/drawingml/2006/main">
              <a:ext uri="{FF2B5EF4-FFF2-40B4-BE49-F238E27FC236}">
                <a16:creationId xmlns:a16="http://schemas.microsoft.com/office/drawing/2014/main" id="{F07FC382-2ED3-4CDC-A328-B9C81FF914A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verwenden geeignete Funktionen und prüfen ihr Ergebnis an konkreten Quellen.</a:t>
            </a:r>
          </a:p>
        </p:txBody>
      </p:sp>
      <p:sp>
        <p:nvSpPr>
          <p:cNvPr id="8" name="text-7">
            <a:extLst xmlns:a="http://schemas.openxmlformats.org/drawingml/2006/main">
              <a:ext uri="{FF2B5EF4-FFF2-40B4-BE49-F238E27FC236}">
                <a16:creationId xmlns:a16="http://schemas.microsoft.com/office/drawing/2014/main" id="{2E23081C-F061-41EC-A9D4-C68C2F16239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8 · Quellfolie 8 · CUR-013</a:t>
            </a:r>
          </a:p>
        </p:txBody>
      </p:sp>
    </p:spTree>
    <p:extLst>
      <p:ext uri="{BB962C8B-B14F-4D97-AF65-F5344CB8AC3E}">
        <p14:creationId xmlns:p14="http://schemas.microsoft.com/office/powerpoint/2010/main" val="948394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C2BDA8A-BD6F-4B5C-A33C-E553772BDB6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Modell und seine Aufgabe</a:t>
            </a:r>
          </a:p>
        </p:txBody>
      </p:sp>
      <p:sp>
        <p:nvSpPr>
          <p:cNvPr id="2" name="text-1">
            <a:extLst xmlns:a="http://schemas.openxmlformats.org/drawingml/2006/main">
              <a:ext uri="{FF2B5EF4-FFF2-40B4-BE49-F238E27FC236}">
                <a16:creationId xmlns:a16="http://schemas.microsoft.com/office/drawing/2014/main" id="{DF7D481E-FDE7-4E1E-83F5-111B743C20C4}"/>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a:t>
            </a:r>
          </a:p>
        </p:txBody>
      </p:sp>
      <p:sp>
        <p:nvSpPr>
          <p:cNvPr id="3" name="text-2">
            <a:extLst xmlns:a="http://schemas.openxmlformats.org/drawingml/2006/main">
              <a:ext uri="{FF2B5EF4-FFF2-40B4-BE49-F238E27FC236}">
                <a16:creationId xmlns:a16="http://schemas.microsoft.com/office/drawing/2014/main" id="{508851CA-FB08-4C86-BE55-24B0566DACA1}"/>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vorbereitete Rechenvorschrift verarbeitet eine Eingabe und liefert eine Ausgabe.</a:t>
            </a:r>
          </a:p>
        </p:txBody>
      </p:sp>
      <p:sp>
        <p:nvSpPr>
          <p:cNvPr id="4" name="text-3">
            <a:extLst xmlns:a="http://schemas.openxmlformats.org/drawingml/2006/main">
              <a:ext uri="{FF2B5EF4-FFF2-40B4-BE49-F238E27FC236}">
                <a16:creationId xmlns:a16="http://schemas.microsoft.com/office/drawing/2014/main" id="{F3108D3E-A4AA-453C-93FB-76D8AEDFA44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Aufgabe</a:t>
            </a:r>
          </a:p>
        </p:txBody>
      </p:sp>
      <p:sp>
        <p:nvSpPr>
          <p:cNvPr id="5" name="text-4">
            <a:extLst xmlns:a="http://schemas.openxmlformats.org/drawingml/2006/main">
              <a:ext uri="{FF2B5EF4-FFF2-40B4-BE49-F238E27FC236}">
                <a16:creationId xmlns:a16="http://schemas.microsoft.com/office/drawing/2014/main" id="{33CE4AAE-C8D8-4F84-841E-2001FFE81A5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Modell kann zum Beispiel Text in Zahlen abbilden oder einen Antworttext erzeugen.</a:t>
            </a:r>
          </a:p>
        </p:txBody>
      </p:sp>
      <p:sp>
        <p:nvSpPr>
          <p:cNvPr id="6" name="text-5">
            <a:extLst xmlns:a="http://schemas.openxmlformats.org/drawingml/2006/main">
              <a:ext uri="{FF2B5EF4-FFF2-40B4-BE49-F238E27FC236}">
                <a16:creationId xmlns:a16="http://schemas.microsoft.com/office/drawing/2014/main" id="{AA191E2B-9C6A-448B-A594-4A6A6AA8B3B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Prüfung</a:t>
            </a:r>
          </a:p>
        </p:txBody>
      </p:sp>
      <p:sp>
        <p:nvSpPr>
          <p:cNvPr id="7" name="text-6">
            <a:extLst xmlns:a="http://schemas.openxmlformats.org/drawingml/2006/main">
              <a:ext uri="{FF2B5EF4-FFF2-40B4-BE49-F238E27FC236}">
                <a16:creationId xmlns:a16="http://schemas.microsoft.com/office/drawing/2014/main" id="{E8563639-B64E-41F5-B286-1552589B506D}"/>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müssen wissen, welches Modell welche Aufgabe übernimmt und wo seine Ausgabe geprüft wird.</a:t>
            </a:r>
          </a:p>
        </p:txBody>
      </p:sp>
      <p:sp>
        <p:nvSpPr>
          <p:cNvPr id="8" name="text-7">
            <a:extLst xmlns:a="http://schemas.openxmlformats.org/drawingml/2006/main">
              <a:ext uri="{FF2B5EF4-FFF2-40B4-BE49-F238E27FC236}">
                <a16:creationId xmlns:a16="http://schemas.microsoft.com/office/drawing/2014/main" id="{4332492D-61D1-4A7C-85EE-B90AAE1F0B6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9 · Quellfolie 9 · CUR-013</a:t>
            </a:r>
          </a:p>
        </p:txBody>
      </p:sp>
    </p:spTree>
    <p:extLst>
      <p:ext uri="{BB962C8B-B14F-4D97-AF65-F5344CB8AC3E}">
        <p14:creationId xmlns:p14="http://schemas.microsoft.com/office/powerpoint/2010/main" val="10219653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9A51E821-2D46-4140-9DEE-10DD224E384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Training und Inferenz</a:t>
            </a:r>
          </a:p>
        </p:txBody>
      </p:sp>
      <p:graphicFrame>
        <p:nvGraphicFramePr>
          <p:cNvPr id="2" name="">
            <a:extLst xmlns:a="http://schemas.openxmlformats.org/drawingml/2006/main">
              <a:ext uri="{FF2B5EF4-FFF2-40B4-BE49-F238E27FC236}">
                <a16:creationId xmlns:a16="http://schemas.microsoft.com/office/drawing/2014/main" id="{C767E31B-118D-4159-9002-776F15ED620B}"/>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000250"/>
                <a:gridCol w="4572000"/>
                <a:gridCol w="4095750"/>
              </a:tblGrid>
              <a:tr h="785813">
                <a:tc>
                  <a:txBody>
                    <a:bodyPr/>
                    <a:lstStyle/>
                    <a:p>
                      <a:r>
                        <a:rPr sz="1800" b="1">
                          <a:solidFill>
                            <a:srgbClr val="15283D"/>
                          </a:solidFill>
                          <a:latin typeface="Arial"/>
                          <a:ea typeface="Arial"/>
                          <a:cs typeface="Arial"/>
                        </a:rPr>
                        <a:t>Begriff</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geschieht?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In diesem Einstieg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Training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 Modell lernt aus Trainingsbeispielen.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Wir trainieren kein Modell.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Inferenz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 vorbereitetes Modell verarbeitet neue Eingaben.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Späterer Modellpfad mit eigenen Voraussetzungen.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Feste Lehrwerte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Wir geben Zahlen oder Antworten ausdrücklich vor.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Das ist unser erster Offlinepfad.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67C8AF79-A604-4065-A736-00ABE7B9964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10 · Quellfolie 10 · CUR-013 / CUR-016</a:t>
            </a:r>
          </a:p>
        </p:txBody>
      </p:sp>
    </p:spTree>
    <p:extLst>
      <p:ext uri="{BB962C8B-B14F-4D97-AF65-F5344CB8AC3E}">
        <p14:creationId xmlns:p14="http://schemas.microsoft.com/office/powerpoint/2010/main" val="11506658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E0938ED-FB76-434F-A456-8ED7ABD901E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Sprachmodell erzeugt Antworttext</a:t>
            </a:r>
          </a:p>
        </p:txBody>
      </p:sp>
      <p:sp>
        <p:nvSpPr>
          <p:cNvPr id="2" name="text-1">
            <a:extLst xmlns:a="http://schemas.openxmlformats.org/drawingml/2006/main">
              <a:ext uri="{FF2B5EF4-FFF2-40B4-BE49-F238E27FC236}">
                <a16:creationId xmlns:a16="http://schemas.microsoft.com/office/drawing/2014/main" id="{ED497055-5E3F-45E8-9136-F4FF3981F8C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Sprachmodell</a:t>
            </a:r>
          </a:p>
        </p:txBody>
      </p:sp>
      <p:sp>
        <p:nvSpPr>
          <p:cNvPr id="3" name="text-2">
            <a:extLst xmlns:a="http://schemas.openxmlformats.org/drawingml/2006/main">
              <a:ext uri="{FF2B5EF4-FFF2-40B4-BE49-F238E27FC236}">
                <a16:creationId xmlns:a16="http://schemas.microsoft.com/office/drawing/2014/main" id="{9B4D4D36-AF43-4FD1-A7F4-398DD67E8488}"/>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Large Language Model, kurz LLM, verarbeitet Textkontext und kann neue Textfolgen erzeugen.</a:t>
            </a:r>
          </a:p>
        </p:txBody>
      </p:sp>
      <p:sp>
        <p:nvSpPr>
          <p:cNvPr id="4" name="text-3">
            <a:extLst xmlns:a="http://schemas.openxmlformats.org/drawingml/2006/main">
              <a:ext uri="{FF2B5EF4-FFF2-40B4-BE49-F238E27FC236}">
                <a16:creationId xmlns:a16="http://schemas.microsoft.com/office/drawing/2014/main" id="{37BD2644-7A44-4A03-895B-A8D93F1A4BB3}"/>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Beispiel</a:t>
            </a:r>
          </a:p>
        </p:txBody>
      </p:sp>
      <p:sp>
        <p:nvSpPr>
          <p:cNvPr id="5" name="text-4">
            <a:extLst xmlns:a="http://schemas.openxmlformats.org/drawingml/2006/main">
              <a:ext uri="{FF2B5EF4-FFF2-40B4-BE49-F238E27FC236}">
                <a16:creationId xmlns:a16="http://schemas.microsoft.com/office/drawing/2014/main" id="{A6ECA9BC-FA2B-48F8-BB02-42330D19F5A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Aus einer gegebenen Quelle könnte die Anwendung den Satz bilden: MOD_A bewahrt Protokolle sieben Tage auf.</a:t>
            </a:r>
          </a:p>
        </p:txBody>
      </p:sp>
      <p:sp>
        <p:nvSpPr>
          <p:cNvPr id="6" name="text-5">
            <a:extLst xmlns:a="http://schemas.openxmlformats.org/drawingml/2006/main">
              <a:ext uri="{FF2B5EF4-FFF2-40B4-BE49-F238E27FC236}">
                <a16:creationId xmlns:a16="http://schemas.microsoft.com/office/drawing/2014/main" id="{3E85EF27-AD48-448F-8C01-84125B14D406}"/>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a:t>
            </a:r>
          </a:p>
        </p:txBody>
      </p:sp>
      <p:sp>
        <p:nvSpPr>
          <p:cNvPr id="7" name="text-6">
            <a:extLst xmlns:a="http://schemas.openxmlformats.org/drawingml/2006/main">
              <a:ext uri="{FF2B5EF4-FFF2-40B4-BE49-F238E27FC236}">
                <a16:creationId xmlns:a16="http://schemas.microsoft.com/office/drawing/2014/main" id="{76D861EF-B0FF-47DC-ACD0-992254F5E095}"/>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gut formulierter Satz kann sachlich falsch oder durch die Quelle nicht gestützt sein.</a:t>
            </a:r>
          </a:p>
        </p:txBody>
      </p:sp>
      <p:sp>
        <p:nvSpPr>
          <p:cNvPr id="8" name="text-7">
            <a:extLst xmlns:a="http://schemas.openxmlformats.org/drawingml/2006/main">
              <a:ext uri="{FF2B5EF4-FFF2-40B4-BE49-F238E27FC236}">
                <a16:creationId xmlns:a16="http://schemas.microsoft.com/office/drawing/2014/main" id="{DF78636B-B8CB-45F3-8060-9F26BE445F8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11 · Quellfolie 11 · CUR-013</a:t>
            </a:r>
          </a:p>
        </p:txBody>
      </p:sp>
    </p:spTree>
    <p:extLst>
      <p:ext uri="{BB962C8B-B14F-4D97-AF65-F5344CB8AC3E}">
        <p14:creationId xmlns:p14="http://schemas.microsoft.com/office/powerpoint/2010/main" val="3297115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300B8F6-0458-4B35-806A-D91CB0F8C97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Tokens und Textlänge</a:t>
            </a:r>
          </a:p>
        </p:txBody>
      </p:sp>
      <p:sp>
        <p:nvSpPr>
          <p:cNvPr id="2" name="text-1">
            <a:extLst xmlns:a="http://schemas.openxmlformats.org/drawingml/2006/main">
              <a:ext uri="{FF2B5EF4-FFF2-40B4-BE49-F238E27FC236}">
                <a16:creationId xmlns:a16="http://schemas.microsoft.com/office/drawing/2014/main" id="{6DF94D65-A775-47D2-AC16-6B0A9BAF3A4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Token</a:t>
            </a:r>
          </a:p>
        </p:txBody>
      </p:sp>
      <p:sp>
        <p:nvSpPr>
          <p:cNvPr id="3" name="text-2">
            <a:extLst xmlns:a="http://schemas.openxmlformats.org/drawingml/2006/main">
              <a:ext uri="{FF2B5EF4-FFF2-40B4-BE49-F238E27FC236}">
                <a16:creationId xmlns:a16="http://schemas.microsoft.com/office/drawing/2014/main" id="{2A16708A-1792-4107-B67A-84DCCAFA406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Verarbeitungseinheit des konkreten Sprachmodells. Ein Token kann einen Wortteil darstellen.</a:t>
            </a:r>
          </a:p>
        </p:txBody>
      </p:sp>
      <p:sp>
        <p:nvSpPr>
          <p:cNvPr id="4" name="text-3">
            <a:extLst xmlns:a="http://schemas.openxmlformats.org/drawingml/2006/main">
              <a:ext uri="{FF2B5EF4-FFF2-40B4-BE49-F238E27FC236}">
                <a16:creationId xmlns:a16="http://schemas.microsoft.com/office/drawing/2014/main" id="{73B8EBDB-6472-46B6-9D78-5E681C94AB5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Tokenizer</a:t>
            </a:r>
          </a:p>
        </p:txBody>
      </p:sp>
      <p:sp>
        <p:nvSpPr>
          <p:cNvPr id="5" name="text-4">
            <a:extLst xmlns:a="http://schemas.openxmlformats.org/drawingml/2006/main">
              <a:ext uri="{FF2B5EF4-FFF2-40B4-BE49-F238E27FC236}">
                <a16:creationId xmlns:a16="http://schemas.microsoft.com/office/drawing/2014/main" id="{1F94EF94-6D88-46BC-ABBD-34E272346CE0}"/>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Er zerlegt den Text nach den Regeln des verwendeten Modells.</a:t>
            </a:r>
          </a:p>
        </p:txBody>
      </p:sp>
      <p:sp>
        <p:nvSpPr>
          <p:cNvPr id="6" name="text-5">
            <a:extLst xmlns:a="http://schemas.openxmlformats.org/drawingml/2006/main">
              <a:ext uri="{FF2B5EF4-FFF2-40B4-BE49-F238E27FC236}">
                <a16:creationId xmlns:a16="http://schemas.microsoft.com/office/drawing/2014/main" id="{3418E1A2-6250-40D7-8C38-0BE5D93747C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Folge</a:t>
            </a:r>
          </a:p>
        </p:txBody>
      </p:sp>
      <p:sp>
        <p:nvSpPr>
          <p:cNvPr id="7" name="text-6">
            <a:extLst xmlns:a="http://schemas.openxmlformats.org/drawingml/2006/main">
              <a:ext uri="{FF2B5EF4-FFF2-40B4-BE49-F238E27FC236}">
                <a16:creationId xmlns:a16="http://schemas.microsoft.com/office/drawing/2014/main" id="{EE95D06B-BBBC-4D27-8240-D8704DC0EF9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Zeichenanzahl und Tokenanzahl sind verschieden. Beide Grenzen müssen zum jeweiligen Schritt passen.</a:t>
            </a:r>
          </a:p>
        </p:txBody>
      </p:sp>
      <p:sp>
        <p:nvSpPr>
          <p:cNvPr id="8" name="text-7">
            <a:extLst xmlns:a="http://schemas.openxmlformats.org/drawingml/2006/main">
              <a:ext uri="{FF2B5EF4-FFF2-40B4-BE49-F238E27FC236}">
                <a16:creationId xmlns:a16="http://schemas.microsoft.com/office/drawing/2014/main" id="{F8E4D9D3-8563-4362-B38E-858636F3DE5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12 · Quellfolie 12 · CUR-013 / CUR-015</a:t>
            </a:r>
          </a:p>
        </p:txBody>
      </p:sp>
    </p:spTree>
    <p:extLst>
      <p:ext uri="{BB962C8B-B14F-4D97-AF65-F5344CB8AC3E}">
        <p14:creationId xmlns:p14="http://schemas.microsoft.com/office/powerpoint/2010/main" val="640142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250C1E4-7EAF-4022-9FEB-9DD54644C53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SQL Server, Modell und Anwendung</a:t>
            </a:r>
          </a:p>
        </p:txBody>
      </p:sp>
      <p:graphicFrame>
        <p:nvGraphicFramePr>
          <p:cNvPr id="2" name="">
            <a:extLst xmlns:a="http://schemas.openxmlformats.org/drawingml/2006/main">
              <a:ext uri="{FF2B5EF4-FFF2-40B4-BE49-F238E27FC236}">
                <a16:creationId xmlns:a16="http://schemas.microsoft.com/office/drawing/2014/main" id="{8DEF116D-EC28-45FF-9402-DD6D82654A5A}"/>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3143250"/>
                <a:gridCol w="7524750"/>
              </a:tblGrid>
              <a:tr h="785813">
                <a:tc>
                  <a:txBody>
                    <a:bodyPr/>
                    <a:lstStyle/>
                    <a:p>
                      <a:r>
                        <a:rPr sz="1800" b="1">
                          <a:solidFill>
                            <a:srgbClr val="15283D"/>
                          </a:solidFill>
                          <a:latin typeface="Arial"/>
                          <a:ea typeface="Arial"/>
                          <a:cs typeface="Arial"/>
                        </a:rPr>
                        <a:t>Komponente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Aufgabe im Wissensbasisfall</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SQL Server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Speichert Dokumente und liefert erlaubte Daten.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Modell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Verarbeitet bereitgestellte Eingaben für seine Aufgabe.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Vermittelt die Frage, sucht Quellen und prüft die Antwort.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A8AACAD8-41C8-4A1B-B163-18944CCC0D7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13 · Quellfolie 13 · CUR-013 / CUR-016</a:t>
            </a:r>
          </a:p>
        </p:txBody>
      </p:sp>
    </p:spTree>
    <p:extLst>
      <p:ext uri="{BB962C8B-B14F-4D97-AF65-F5344CB8AC3E}">
        <p14:creationId xmlns:p14="http://schemas.microsoft.com/office/powerpoint/2010/main" val="15904270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09FB0F2-94E4-4DA5-BF93-BA56246D199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Der erste Offlineeinstieg</a:t>
            </a:r>
          </a:p>
        </p:txBody>
      </p:sp>
      <p:sp>
        <p:nvSpPr>
          <p:cNvPr id="2" name="text-1">
            <a:extLst xmlns:a="http://schemas.openxmlformats.org/drawingml/2006/main">
              <a:ext uri="{FF2B5EF4-FFF2-40B4-BE49-F238E27FC236}">
                <a16:creationId xmlns:a16="http://schemas.microsoft.com/office/drawing/2014/main" id="{CDBB093B-9260-4293-B189-2012DD7E57F9}"/>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Eingaben</a:t>
            </a:r>
          </a:p>
        </p:txBody>
      </p:sp>
      <p:sp>
        <p:nvSpPr>
          <p:cNvPr id="3" name="text-2">
            <a:extLst xmlns:a="http://schemas.openxmlformats.org/drawingml/2006/main">
              <a:ext uri="{FF2B5EF4-FFF2-40B4-BE49-F238E27FC236}">
                <a16:creationId xmlns:a16="http://schemas.microsoft.com/office/drawing/2014/main" id="{4ABC8BCE-90FD-4401-B643-65A4D27D0EE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Kleine feste Vektoren und synthetische Texte statt eines Live-Modells.</a:t>
            </a:r>
          </a:p>
        </p:txBody>
      </p:sp>
      <p:sp>
        <p:nvSpPr>
          <p:cNvPr id="4" name="text-3">
            <a:extLst xmlns:a="http://schemas.openxmlformats.org/drawingml/2006/main">
              <a:ext uri="{FF2B5EF4-FFF2-40B4-BE49-F238E27FC236}">
                <a16:creationId xmlns:a16="http://schemas.microsoft.com/office/drawing/2014/main" id="{8D1501E4-E04D-4E21-820E-C8D54C7181F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Zugang</a:t>
            </a:r>
          </a:p>
        </p:txBody>
      </p:sp>
      <p:sp>
        <p:nvSpPr>
          <p:cNvPr id="5" name="text-4">
            <a:extLst xmlns:a="http://schemas.openxmlformats.org/drawingml/2006/main">
              <a:ext uri="{FF2B5EF4-FFF2-40B4-BE49-F238E27FC236}">
                <a16:creationId xmlns:a16="http://schemas.microsoft.com/office/drawing/2014/main" id="{9A1FC713-EDDD-456F-90C8-6402D21A6D0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Diese ersten Beispiele benötigen weder ChatGPT noch Copilot oder ein Cloudkonto.</a:t>
            </a:r>
          </a:p>
        </p:txBody>
      </p:sp>
      <p:sp>
        <p:nvSpPr>
          <p:cNvPr id="6" name="text-5">
            <a:extLst xmlns:a="http://schemas.openxmlformats.org/drawingml/2006/main">
              <a:ext uri="{FF2B5EF4-FFF2-40B4-BE49-F238E27FC236}">
                <a16:creationId xmlns:a16="http://schemas.microsoft.com/office/drawing/2014/main" id="{4019847C-5EB0-4CC1-BE20-52EA95AA2056}"/>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7" name="text-6">
            <a:extLst xmlns:a="http://schemas.openxmlformats.org/drawingml/2006/main">
              <a:ext uri="{FF2B5EF4-FFF2-40B4-BE49-F238E27FC236}">
                <a16:creationId xmlns:a16="http://schemas.microsoft.com/office/drawing/2014/main" id="{417FFA53-EDCF-45D9-A430-FFB36FA93A9D}"/>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Werte, Rangfolge und Quellen lassen sich gemeinsam erklären. Es gibt keinen Modellrequest.</a:t>
            </a:r>
          </a:p>
        </p:txBody>
      </p:sp>
      <p:sp>
        <p:nvSpPr>
          <p:cNvPr id="8" name="text-7">
            <a:extLst xmlns:a="http://schemas.openxmlformats.org/drawingml/2006/main">
              <a:ext uri="{FF2B5EF4-FFF2-40B4-BE49-F238E27FC236}">
                <a16:creationId xmlns:a16="http://schemas.microsoft.com/office/drawing/2014/main" id="{CD153B8F-574A-4762-837C-F63E7F88A09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Für die praktische Vorführung genügt die vorbereitete SQL-Testinstanz mit einem Queryclient.</a:t>
            </a:r>
          </a:p>
        </p:txBody>
      </p:sp>
      <p:sp>
        <p:nvSpPr>
          <p:cNvPr id="9" name="text-8">
            <a:extLst xmlns:a="http://schemas.openxmlformats.org/drawingml/2006/main">
              <a:ext uri="{FF2B5EF4-FFF2-40B4-BE49-F238E27FC236}">
                <a16:creationId xmlns:a16="http://schemas.microsoft.com/office/drawing/2014/main" id="{C1225032-79BD-4CF5-A26E-BE28DB34C87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14 · Quellfolie 14 · CUR-013 / CUR-014</a:t>
            </a:r>
          </a:p>
        </p:txBody>
      </p:sp>
    </p:spTree>
    <p:extLst>
      <p:ext uri="{BB962C8B-B14F-4D97-AF65-F5344CB8AC3E}">
        <p14:creationId xmlns:p14="http://schemas.microsoft.com/office/powerpoint/2010/main" val="15789655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6B99871-24FF-4A4E-97FA-C5BAEFA321E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Serverversion und Client sind verschieden</a:t>
            </a:r>
          </a:p>
        </p:txBody>
      </p:sp>
      <p:sp>
        <p:nvSpPr>
          <p:cNvPr id="2" name="text-1">
            <a:extLst xmlns:a="http://schemas.openxmlformats.org/drawingml/2006/main">
              <a:ext uri="{FF2B5EF4-FFF2-40B4-BE49-F238E27FC236}">
                <a16:creationId xmlns:a16="http://schemas.microsoft.com/office/drawing/2014/main" id="{1243CFD5-B99C-475C-B5BB-04142705BCD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SQL Server</a:t>
            </a:r>
          </a:p>
        </p:txBody>
      </p:sp>
      <p:sp>
        <p:nvSpPr>
          <p:cNvPr id="3" name="text-2">
            <a:extLst xmlns:a="http://schemas.openxmlformats.org/drawingml/2006/main">
              <a:ext uri="{FF2B5EF4-FFF2-40B4-BE49-F238E27FC236}">
                <a16:creationId xmlns:a16="http://schemas.microsoft.com/office/drawing/2014/main" id="{0EFD9669-3751-4E91-8B97-75E1D29077D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Unsere VECTOR-Beispiele benötigen SQL Server 2025, Engine 17.x.</a:t>
            </a:r>
          </a:p>
        </p:txBody>
      </p:sp>
      <p:sp>
        <p:nvSpPr>
          <p:cNvPr id="4" name="text-3">
            <a:extLst xmlns:a="http://schemas.openxmlformats.org/drawingml/2006/main">
              <a:ext uri="{FF2B5EF4-FFF2-40B4-BE49-F238E27FC236}">
                <a16:creationId xmlns:a16="http://schemas.microsoft.com/office/drawing/2014/main" id="{5DA2E443-C628-40C2-967A-60A650E9FDA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Client</a:t>
            </a:r>
          </a:p>
        </p:txBody>
      </p:sp>
      <p:sp>
        <p:nvSpPr>
          <p:cNvPr id="5" name="text-4">
            <a:extLst xmlns:a="http://schemas.openxmlformats.org/drawingml/2006/main">
              <a:ext uri="{FF2B5EF4-FFF2-40B4-BE49-F238E27FC236}">
                <a16:creationId xmlns:a16="http://schemas.microsoft.com/office/drawing/2014/main" id="{F2E2C093-68AC-4887-98D3-11F7E7C99C7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Das Programm zum Senden der Query macht aus einer älteren Engine keine SQL-Server-2025-Engine.</a:t>
            </a:r>
          </a:p>
        </p:txBody>
      </p:sp>
      <p:sp>
        <p:nvSpPr>
          <p:cNvPr id="6" name="text-5">
            <a:extLst xmlns:a="http://schemas.openxmlformats.org/drawingml/2006/main">
              <a:ext uri="{FF2B5EF4-FFF2-40B4-BE49-F238E27FC236}">
                <a16:creationId xmlns:a16="http://schemas.microsoft.com/office/drawing/2014/main" id="{670436D1-9A94-4AEE-BA30-9B8DB6DA726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Datenbank</a:t>
            </a:r>
          </a:p>
        </p:txBody>
      </p:sp>
      <p:sp>
        <p:nvSpPr>
          <p:cNvPr id="7" name="text-6">
            <a:extLst xmlns:a="http://schemas.openxmlformats.org/drawingml/2006/main">
              <a:ext uri="{FF2B5EF4-FFF2-40B4-BE49-F238E27FC236}">
                <a16:creationId xmlns:a16="http://schemas.microsoft.com/office/drawing/2014/main" id="{497C4467-CB78-424F-89C1-361AF781DD92}"/>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Das Schulungsprofil verwendet Compatibility Level 170. Das ist eine eigene Datenbankeinstellung.</a:t>
            </a:r>
          </a:p>
        </p:txBody>
      </p:sp>
      <p:sp>
        <p:nvSpPr>
          <p:cNvPr id="8" name="text-7">
            <a:extLst xmlns:a="http://schemas.openxmlformats.org/drawingml/2006/main">
              <a:ext uri="{FF2B5EF4-FFF2-40B4-BE49-F238E27FC236}">
                <a16:creationId xmlns:a16="http://schemas.microsoft.com/office/drawing/2014/main" id="{564A6FE2-35ED-4E81-812B-4D89326F21F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15 · Quellfolie 15 · CUR-014 / CUR-016</a:t>
            </a:r>
          </a:p>
        </p:txBody>
      </p:sp>
    </p:spTree>
    <p:extLst>
      <p:ext uri="{BB962C8B-B14F-4D97-AF65-F5344CB8AC3E}">
        <p14:creationId xmlns:p14="http://schemas.microsoft.com/office/powerpoint/2010/main" val="4555730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0F7CB8D-0581-41C6-B5E3-7B78BF1E8FC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Version und Datenbankeinstellung lesen</a:t>
            </a:r>
          </a:p>
        </p:txBody>
      </p:sp>
      <p:sp>
        <p:nvSpPr>
          <p:cNvPr id="2" name="text-1">
            <a:extLst xmlns:a="http://schemas.openxmlformats.org/drawingml/2006/main">
              <a:ext uri="{FF2B5EF4-FFF2-40B4-BE49-F238E27FC236}">
                <a16:creationId xmlns:a16="http://schemas.microsoft.com/office/drawing/2014/main" id="{78BF224E-3A85-4461-838F-5D7878E8D0D0}"/>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CAST(SERVERPROPERTY('ProductMajorVersion') AS int) AS Major;</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compatibility_level AS CL</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sys.databases WHERE name = DB_NAME();</a:t>
            </a:r>
          </a:p>
        </p:txBody>
      </p:sp>
      <p:sp>
        <p:nvSpPr>
          <p:cNvPr id="3" name="text-2">
            <a:extLst xmlns:a="http://schemas.openxmlformats.org/drawingml/2006/main">
              <a:ext uri="{FF2B5EF4-FFF2-40B4-BE49-F238E27FC236}">
                <a16:creationId xmlns:a16="http://schemas.microsoft.com/office/drawing/2014/main" id="{9A8977B6-9388-4350-89B0-BD772B7B9C07}"/>
              </a:ext>
            </a:extLst>
          </p:cNvPr>
          <p:cNvSpPr>
            <a:spLocks xmlns:a="http://schemas.openxmlformats.org/drawingml/2006/main" noGrp="1"/>
          </p:cNvSpPr>
          <p:nvPr/>
        </p:nvSpPr>
        <p:spPr>
          <a:xfrm xmlns:a="http://schemas.openxmlformats.org/drawingml/2006/main">
            <a:off x="685800" y="3724275"/>
            <a:ext cx="2333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Einordnung</a:t>
            </a:r>
          </a:p>
        </p:txBody>
      </p:sp>
      <p:sp>
        <p:nvSpPr>
          <p:cNvPr id="4" name="text-3">
            <a:extLst xmlns:a="http://schemas.openxmlformats.org/drawingml/2006/main">
              <a:ext uri="{FF2B5EF4-FFF2-40B4-BE49-F238E27FC236}">
                <a16:creationId xmlns:a16="http://schemas.microsoft.com/office/drawing/2014/main" id="{331E302E-A224-4CF3-A100-43D0D2C548EA}"/>
              </a:ext>
            </a:extLst>
          </p:cNvPr>
          <p:cNvSpPr>
            <a:spLocks xmlns:a="http://schemas.openxmlformats.org/drawingml/2006/main" noGrp="1"/>
          </p:cNvSpPr>
          <p:nvPr/>
        </p:nvSpPr>
        <p:spPr>
          <a:xfrm xmlns:a="http://schemas.openxmlformats.org/drawingml/2006/main">
            <a:off x="3190875" y="3724275"/>
            <a:ext cx="8239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Major 17 bezeichnet die Enginefamilie. CL 170 bezeichnet das gewählte Datenbankprofil.</a:t>
            </a:r>
          </a:p>
        </p:txBody>
      </p:sp>
      <p:sp>
        <p:nvSpPr>
          <p:cNvPr id="5" name="text-4">
            <a:extLst xmlns:a="http://schemas.openxmlformats.org/drawingml/2006/main">
              <a:ext uri="{FF2B5EF4-FFF2-40B4-BE49-F238E27FC236}">
                <a16:creationId xmlns:a16="http://schemas.microsoft.com/office/drawing/2014/main" id="{91EE1396-BA5A-417E-8761-EF7A3ED3C36F}"/>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 Query liest Eigenschaften. Sie ändert weder Server noch Datenbank.</a:t>
            </a:r>
          </a:p>
        </p:txBody>
      </p:sp>
      <p:sp>
        <p:nvSpPr>
          <p:cNvPr id="6" name="text-5">
            <a:extLst xmlns:a="http://schemas.openxmlformats.org/drawingml/2006/main">
              <a:ext uri="{FF2B5EF4-FFF2-40B4-BE49-F238E27FC236}">
                <a16:creationId xmlns:a16="http://schemas.microsoft.com/office/drawing/2014/main" id="{4E989E9B-9A84-4557-A5AF-6521D8F0926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16 · Quellfolie 16 · CUR-014</a:t>
            </a:r>
          </a:p>
        </p:txBody>
      </p:sp>
    </p:spTree>
    <p:extLst>
      <p:ext uri="{BB962C8B-B14F-4D97-AF65-F5344CB8AC3E}">
        <p14:creationId xmlns:p14="http://schemas.microsoft.com/office/powerpoint/2010/main" val="8361024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13D5158-83B5-4455-99E5-5E6083CF05B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vorbereitete Testumgebung und passende Rechte</a:t>
            </a:r>
          </a:p>
        </p:txBody>
      </p:sp>
      <p:sp>
        <p:nvSpPr>
          <p:cNvPr id="2" name="text-1">
            <a:extLst xmlns:a="http://schemas.openxmlformats.org/drawingml/2006/main">
              <a:ext uri="{FF2B5EF4-FFF2-40B4-BE49-F238E27FC236}">
                <a16:creationId xmlns:a16="http://schemas.microsoft.com/office/drawing/2014/main" id="{E14D0A1A-671B-4079-BE84-03D6610CC866}"/>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Umgebung</a:t>
            </a:r>
          </a:p>
        </p:txBody>
      </p:sp>
      <p:sp>
        <p:nvSpPr>
          <p:cNvPr id="3" name="text-2">
            <a:extLst xmlns:a="http://schemas.openxmlformats.org/drawingml/2006/main">
              <a:ext uri="{FF2B5EF4-FFF2-40B4-BE49-F238E27FC236}">
                <a16:creationId xmlns:a16="http://schemas.microsoft.com/office/drawing/2014/main" id="{56F13B20-50DE-4B30-833E-752E164EAB2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Lehrperson bereitet eine dedizierte SQL-Server-2025-Testinstanz vor.</a:t>
            </a:r>
          </a:p>
        </p:txBody>
      </p:sp>
      <p:sp>
        <p:nvSpPr>
          <p:cNvPr id="4" name="text-3">
            <a:extLst xmlns:a="http://schemas.openxmlformats.org/drawingml/2006/main">
              <a:ext uri="{FF2B5EF4-FFF2-40B4-BE49-F238E27FC236}">
                <a16:creationId xmlns:a16="http://schemas.microsoft.com/office/drawing/2014/main" id="{20ECF847-C6BC-4841-899A-6A443073FCD3}"/>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Teilnehmende</a:t>
            </a:r>
          </a:p>
        </p:txBody>
      </p:sp>
      <p:sp>
        <p:nvSpPr>
          <p:cNvPr id="5" name="text-4">
            <a:extLst xmlns:a="http://schemas.openxmlformats.org/drawingml/2006/main">
              <a:ext uri="{FF2B5EF4-FFF2-40B4-BE49-F238E27FC236}">
                <a16:creationId xmlns:a16="http://schemas.microsoft.com/office/drawing/2014/main" id="{20AB4E16-8BCB-4364-A67A-7B9FC09B326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unsere kleinen Beispiele lesen wir feste Werte. Einrichtung und Verwaltung bleiben getrennt.</a:t>
            </a:r>
          </a:p>
        </p:txBody>
      </p:sp>
      <p:sp>
        <p:nvSpPr>
          <p:cNvPr id="6" name="text-5">
            <a:extLst xmlns:a="http://schemas.openxmlformats.org/drawingml/2006/main">
              <a:ext uri="{FF2B5EF4-FFF2-40B4-BE49-F238E27FC236}">
                <a16:creationId xmlns:a16="http://schemas.microsoft.com/office/drawing/2014/main" id="{8D40C177-A280-4EF0-B26F-76D2CC74E9B4}"/>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Falls etwas fehlt</a:t>
            </a:r>
          </a:p>
        </p:txBody>
      </p:sp>
      <p:sp>
        <p:nvSpPr>
          <p:cNvPr id="7" name="text-6">
            <a:extLst xmlns:a="http://schemas.openxmlformats.org/drawingml/2006/main">
              <a:ext uri="{FF2B5EF4-FFF2-40B4-BE49-F238E27FC236}">
                <a16:creationId xmlns:a16="http://schemas.microsoft.com/office/drawing/2014/main" id="{EA1A0307-8776-45A8-835A-07F5FFB8253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Verbindung, Ziel und Rechte gemeinsam prüfen. Für die Diskussion können wir zuerst die Sollwerte lesen.</a:t>
            </a:r>
          </a:p>
        </p:txBody>
      </p:sp>
      <p:sp>
        <p:nvSpPr>
          <p:cNvPr id="8" name="text-7">
            <a:extLst xmlns:a="http://schemas.openxmlformats.org/drawingml/2006/main">
              <a:ext uri="{FF2B5EF4-FFF2-40B4-BE49-F238E27FC236}">
                <a16:creationId xmlns:a16="http://schemas.microsoft.com/office/drawing/2014/main" id="{7948F265-71BB-4994-9CA8-9BD813D08D52}"/>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Spätere vollständige Demos nutzen ihre dokumentierten Setup- und Cleanup-Verträge.</a:t>
            </a:r>
          </a:p>
        </p:txBody>
      </p:sp>
      <p:sp>
        <p:nvSpPr>
          <p:cNvPr id="9" name="text-8">
            <a:extLst xmlns:a="http://schemas.openxmlformats.org/drawingml/2006/main">
              <a:ext uri="{FF2B5EF4-FFF2-40B4-BE49-F238E27FC236}">
                <a16:creationId xmlns:a16="http://schemas.microsoft.com/office/drawing/2014/main" id="{C8ADEA0B-FA2B-4005-AC29-E7795E2BA05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17 · Quellfolie 17 · CUR-014 / CUR-018</a:t>
            </a:r>
          </a:p>
        </p:txBody>
      </p:sp>
    </p:spTree>
    <p:extLst>
      <p:ext uri="{BB962C8B-B14F-4D97-AF65-F5344CB8AC3E}">
        <p14:creationId xmlns:p14="http://schemas.microsoft.com/office/powerpoint/2010/main" val="12962224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E10966E-EEF3-4474-A9D1-6DBC248101F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Vektor als kleine Zahlenliste</a:t>
            </a:r>
          </a:p>
        </p:txBody>
      </p:sp>
      <p:sp>
        <p:nvSpPr>
          <p:cNvPr id="2" name="text-1">
            <a:extLst xmlns:a="http://schemas.openxmlformats.org/drawingml/2006/main">
              <a:ext uri="{FF2B5EF4-FFF2-40B4-BE49-F238E27FC236}">
                <a16:creationId xmlns:a16="http://schemas.microsoft.com/office/drawing/2014/main" id="{A38C4BDF-27DB-473F-83A2-EBC2D4FE4748}"/>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Drei Komponenten</a:t>
            </a:r>
          </a:p>
        </p:txBody>
      </p:sp>
      <p:sp>
        <p:nvSpPr>
          <p:cNvPr id="3" name="text-2">
            <a:extLst xmlns:a="http://schemas.openxmlformats.org/drawingml/2006/main">
              <a:ext uri="{FF2B5EF4-FFF2-40B4-BE49-F238E27FC236}">
                <a16:creationId xmlns:a16="http://schemas.microsoft.com/office/drawing/2014/main" id="{C5CD6ED4-9889-4808-BA22-46B7687EF6D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VECTOR(3) enthält drei numerische Werte, zum Beispiel [1,0,0].</a:t>
            </a:r>
          </a:p>
        </p:txBody>
      </p:sp>
      <p:sp>
        <p:nvSpPr>
          <p:cNvPr id="4" name="text-3">
            <a:extLst xmlns:a="http://schemas.openxmlformats.org/drawingml/2006/main">
              <a:ext uri="{FF2B5EF4-FFF2-40B4-BE49-F238E27FC236}">
                <a16:creationId xmlns:a16="http://schemas.microsoft.com/office/drawing/2014/main" id="{AB42794E-DF3E-45F4-905A-2FE48C831216}"/>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Unsere Lehrwerte</a:t>
            </a:r>
          </a:p>
        </p:txBody>
      </p:sp>
      <p:sp>
        <p:nvSpPr>
          <p:cNvPr id="5" name="text-4">
            <a:extLst xmlns:a="http://schemas.openxmlformats.org/drawingml/2006/main">
              <a:ext uri="{FF2B5EF4-FFF2-40B4-BE49-F238E27FC236}">
                <a16:creationId xmlns:a16="http://schemas.microsoft.com/office/drawing/2014/main" id="{1EAB656F-A57A-45E8-9CBA-70F2FD1EDF6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geben alle Zahlen ausdrücklich vor. Sie stammen aus keinem Textmodell.</a:t>
            </a:r>
          </a:p>
        </p:txBody>
      </p:sp>
      <p:sp>
        <p:nvSpPr>
          <p:cNvPr id="6" name="text-5">
            <a:extLst xmlns:a="http://schemas.openxmlformats.org/drawingml/2006/main">
              <a:ext uri="{FF2B5EF4-FFF2-40B4-BE49-F238E27FC236}">
                <a16:creationId xmlns:a16="http://schemas.microsoft.com/office/drawing/2014/main" id="{DFC9D1F3-0539-4524-8C2A-CA7C8F8E155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Vergleich</a:t>
            </a:r>
          </a:p>
        </p:txBody>
      </p:sp>
      <p:sp>
        <p:nvSpPr>
          <p:cNvPr id="7" name="text-6">
            <a:extLst xmlns:a="http://schemas.openxmlformats.org/drawingml/2006/main">
              <a:ext uri="{FF2B5EF4-FFF2-40B4-BE49-F238E27FC236}">
                <a16:creationId xmlns:a16="http://schemas.microsoft.com/office/drawing/2014/main" id="{A2282AD1-2352-455E-92AB-816F515AC96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Cosine-Distanz vergleicht die Richtung der beiden Zahlenlisten.</a:t>
            </a:r>
          </a:p>
        </p:txBody>
      </p:sp>
      <p:sp>
        <p:nvSpPr>
          <p:cNvPr id="8" name="text-7">
            <a:extLst xmlns:a="http://schemas.openxmlformats.org/drawingml/2006/main">
              <a:ext uri="{FF2B5EF4-FFF2-40B4-BE49-F238E27FC236}">
                <a16:creationId xmlns:a16="http://schemas.microsoft.com/office/drawing/2014/main" id="{BF26C26D-7243-4FC9-BFCD-34D173925B9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18 · Quellfolie 18 · CUR-013 / CUR-014</a:t>
            </a:r>
          </a:p>
        </p:txBody>
      </p:sp>
    </p:spTree>
    <p:extLst>
      <p:ext uri="{BB962C8B-B14F-4D97-AF65-F5344CB8AC3E}">
        <p14:creationId xmlns:p14="http://schemas.microsoft.com/office/powerpoint/2010/main" val="812377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41858E4-7B89-46DE-82EE-B4292C7570F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Vorhersage für drei Richtungen</a:t>
            </a:r>
          </a:p>
        </p:txBody>
      </p:sp>
      <p:graphicFrame>
        <p:nvGraphicFramePr>
          <p:cNvPr id="2" name="">
            <a:extLst xmlns:a="http://schemas.openxmlformats.org/drawingml/2006/main">
              <a:ext uri="{FF2B5EF4-FFF2-40B4-BE49-F238E27FC236}">
                <a16:creationId xmlns:a16="http://schemas.microsoft.com/office/drawing/2014/main" id="{AA8B1421-2ACD-4846-B35D-FBCD34FC7373}"/>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1428750"/>
                <a:gridCol w="2952750"/>
                <a:gridCol w="6286500"/>
              </a:tblGrid>
              <a:tr h="785813">
                <a:tc>
                  <a:txBody>
                    <a:bodyPr/>
                    <a:lstStyle/>
                    <a:p>
                      <a:r>
                        <a:rPr sz="1800" b="1">
                          <a:solidFill>
                            <a:srgbClr val="15283D"/>
                          </a:solidFill>
                          <a:latin typeface="Arial"/>
                          <a:ea typeface="Arial"/>
                          <a:cs typeface="Arial"/>
                        </a:rPr>
                        <a:t>Id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Vektor</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Richtung zur Frage [1,0,0]</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[1,0,0]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[0,1,0]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Senkrechte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[-1,0,0]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Entgegengesetzte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7CE39F71-91D8-458E-89B4-C3BDD82CCB0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Vorhersage: Welcher Vektor soll bei aufsteigender Cosine-Distanz zuerst erscheinen?</a:t>
            </a:r>
          </a:p>
        </p:txBody>
      </p:sp>
      <p:sp>
        <p:nvSpPr>
          <p:cNvPr id="4" name="text-2">
            <a:extLst xmlns:a="http://schemas.openxmlformats.org/drawingml/2006/main">
              <a:ext uri="{FF2B5EF4-FFF2-40B4-BE49-F238E27FC236}">
                <a16:creationId xmlns:a16="http://schemas.microsoft.com/office/drawing/2014/main" id="{0ACA40BB-78FE-4A28-AB34-6BE45354D95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19 · Quellfolie 19 · CUR-014</a:t>
            </a:r>
          </a:p>
        </p:txBody>
      </p:sp>
    </p:spTree>
    <p:extLst>
      <p:ext uri="{BB962C8B-B14F-4D97-AF65-F5344CB8AC3E}">
        <p14:creationId xmlns:p14="http://schemas.microsoft.com/office/powerpoint/2010/main" val="13360245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0EC5CEA1-CCE8-4A67-BB46-68F18D61953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vollständige read-only Vektorquery</a:t>
            </a:r>
          </a:p>
        </p:txBody>
      </p:sp>
      <p:sp>
        <p:nvSpPr>
          <p:cNvPr id="2" name="text-1">
            <a:extLst xmlns:a="http://schemas.openxmlformats.org/drawingml/2006/main">
              <a:ext uri="{FF2B5EF4-FFF2-40B4-BE49-F238E27FC236}">
                <a16:creationId xmlns:a16="http://schemas.microsoft.com/office/drawing/2014/main" id="{6F1E8B28-55FC-4371-8050-5D8BDE7C9F1B}"/>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DECLARE @q VECTOR(3) = '[1,0,0]';</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Id, VECTOR_DISTANCE('cosine', @q, CAST(V AS VECTOR(3))) AS D</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(VALUES (1,'[1,0,0]'),(2,'[0,1,0]'),(3,'[-1,0,0]')) d(Id,V)</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ORDER BY D, Id;</a:t>
            </a:r>
          </a:p>
        </p:txBody>
      </p:sp>
      <p:sp>
        <p:nvSpPr>
          <p:cNvPr id="3" name="text-2">
            <a:extLst xmlns:a="http://schemas.openxmlformats.org/drawingml/2006/main">
              <a:ext uri="{FF2B5EF4-FFF2-40B4-BE49-F238E27FC236}">
                <a16:creationId xmlns:a16="http://schemas.microsoft.com/office/drawing/2014/main" id="{FCF688DC-0EC9-45AE-BCD7-AD49BD6599D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DECLARE definiert den Fragevektor. VALUES liefert Kandidaten. SELECT berechnet und sortiert.</a:t>
            </a:r>
          </a:p>
        </p:txBody>
      </p:sp>
      <p:sp>
        <p:nvSpPr>
          <p:cNvPr id="4" name="text-3">
            <a:extLst xmlns:a="http://schemas.openxmlformats.org/drawingml/2006/main">
              <a:ext uri="{FF2B5EF4-FFF2-40B4-BE49-F238E27FC236}">
                <a16:creationId xmlns:a16="http://schemas.microsoft.com/office/drawing/2014/main" id="{E7137A14-64FD-4088-B5BD-8CB21C85AF5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20 · Quellfolie 20 · CUR-014</a:t>
            </a:r>
          </a:p>
        </p:txBody>
      </p:sp>
    </p:spTree>
    <p:extLst>
      <p:ext uri="{BB962C8B-B14F-4D97-AF65-F5344CB8AC3E}">
        <p14:creationId xmlns:p14="http://schemas.microsoft.com/office/powerpoint/2010/main" val="19184164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6F1BF4F-E996-40E5-9225-C2EB8860447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Ergebnisbesprechung der Vektorquery</a:t>
            </a:r>
          </a:p>
        </p:txBody>
      </p:sp>
      <p:graphicFrame>
        <p:nvGraphicFramePr>
          <p:cNvPr id="2" name="">
            <a:extLst xmlns:a="http://schemas.openxmlformats.org/drawingml/2006/main">
              <a:ext uri="{FF2B5EF4-FFF2-40B4-BE49-F238E27FC236}">
                <a16:creationId xmlns:a16="http://schemas.microsoft.com/office/drawing/2014/main" id="{15D0318E-B826-4AF5-8090-F89A0EF56AEE}"/>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190750"/>
                <a:gridCol w="2762250"/>
                <a:gridCol w="5715000"/>
              </a:tblGrid>
              <a:tr h="785813">
                <a:tc>
                  <a:txBody>
                    <a:bodyPr/>
                    <a:lstStyle/>
                    <a:p>
                      <a:r>
                        <a:rPr sz="1800" b="1">
                          <a:solidFill>
                            <a:srgbClr val="15283D"/>
                          </a:solidFill>
                          <a:latin typeface="Arial"/>
                          <a:ea typeface="Arial"/>
                          <a:cs typeface="Arial"/>
                        </a:rPr>
                        <a:t>Ausgabe Id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Cosine-Distanz D</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Erklärung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Richtung wie die Frage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Senkrecht zur Frage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2</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Entgegengesetzte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A9B21DAB-BE39-4A47-8EF2-AA0544A262E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Mathematische Sollwerte des festen Lehrfalls. Kleine Floating-Point-Abweichungen fachlich einordnen.</a:t>
            </a:r>
          </a:p>
        </p:txBody>
      </p:sp>
      <p:sp>
        <p:nvSpPr>
          <p:cNvPr id="4" name="text-2">
            <a:extLst xmlns:a="http://schemas.openxmlformats.org/drawingml/2006/main">
              <a:ext uri="{FF2B5EF4-FFF2-40B4-BE49-F238E27FC236}">
                <a16:creationId xmlns:a16="http://schemas.microsoft.com/office/drawing/2014/main" id="{753D3391-2841-407F-8A08-DA2BBA89709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21 · Quellfolie 21 · CUR-014</a:t>
            </a:r>
          </a:p>
        </p:txBody>
      </p:sp>
    </p:spTree>
    <p:extLst>
      <p:ext uri="{BB962C8B-B14F-4D97-AF65-F5344CB8AC3E}">
        <p14:creationId xmlns:p14="http://schemas.microsoft.com/office/powerpoint/2010/main" val="4103598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9C92415-1311-4B28-967A-D63410727EE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Text als Zahlen: ein Embedding</a:t>
            </a:r>
          </a:p>
        </p:txBody>
      </p:sp>
      <p:sp>
        <p:nvSpPr>
          <p:cNvPr id="2" name="text-1">
            <a:extLst xmlns:a="http://schemas.openxmlformats.org/drawingml/2006/main">
              <a:ext uri="{FF2B5EF4-FFF2-40B4-BE49-F238E27FC236}">
                <a16:creationId xmlns:a16="http://schemas.microsoft.com/office/drawing/2014/main" id="{C565AA0C-C769-46C2-9C63-F19593411604}"/>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Embedding</a:t>
            </a:r>
          </a:p>
        </p:txBody>
      </p:sp>
      <p:sp>
        <p:nvSpPr>
          <p:cNvPr id="3" name="text-2">
            <a:extLst xmlns:a="http://schemas.openxmlformats.org/drawingml/2006/main">
              <a:ext uri="{FF2B5EF4-FFF2-40B4-BE49-F238E27FC236}">
                <a16:creationId xmlns:a16="http://schemas.microsoft.com/office/drawing/2014/main" id="{FCBB2FEA-0122-4713-819B-FF08BBF4B56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bestimmtes Modell bildet einen Text auf einen numerischen Vektor ab.</a:t>
            </a:r>
          </a:p>
        </p:txBody>
      </p:sp>
      <p:sp>
        <p:nvSpPr>
          <p:cNvPr id="4" name="text-3">
            <a:extLst xmlns:a="http://schemas.openxmlformats.org/drawingml/2006/main">
              <a:ext uri="{FF2B5EF4-FFF2-40B4-BE49-F238E27FC236}">
                <a16:creationId xmlns:a16="http://schemas.microsoft.com/office/drawing/2014/main" id="{174904E9-7404-4D18-A064-DE4564FB6D09}"/>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Suche</a:t>
            </a:r>
          </a:p>
        </p:txBody>
      </p:sp>
      <p:sp>
        <p:nvSpPr>
          <p:cNvPr id="5" name="text-4">
            <a:extLst xmlns:a="http://schemas.openxmlformats.org/drawingml/2006/main">
              <a:ext uri="{FF2B5EF4-FFF2-40B4-BE49-F238E27FC236}">
                <a16:creationId xmlns:a16="http://schemas.microsoft.com/office/drawing/2014/main" id="{81C63692-0A1B-4996-A27E-B85E9ED2D4B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Frage und Quellen erhalten vergleichbare Vektoren aus demselben Modellraum.</a:t>
            </a:r>
          </a:p>
        </p:txBody>
      </p:sp>
      <p:sp>
        <p:nvSpPr>
          <p:cNvPr id="6" name="text-5">
            <a:extLst xmlns:a="http://schemas.openxmlformats.org/drawingml/2006/main">
              <a:ext uri="{FF2B5EF4-FFF2-40B4-BE49-F238E27FC236}">
                <a16:creationId xmlns:a16="http://schemas.microsoft.com/office/drawing/2014/main" id="{62DC36DB-F223-455C-A2EA-217298DBD4D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Bewertung</a:t>
            </a:r>
          </a:p>
        </p:txBody>
      </p:sp>
      <p:sp>
        <p:nvSpPr>
          <p:cNvPr id="7" name="text-6">
            <a:extLst xmlns:a="http://schemas.openxmlformats.org/drawingml/2006/main">
              <a:ext uri="{FF2B5EF4-FFF2-40B4-BE49-F238E27FC236}">
                <a16:creationId xmlns:a16="http://schemas.microsoft.com/office/drawing/2014/main" id="{B6050E6F-802E-4A00-BF6D-077C68903C52}"/>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Ähnliche Vektoren können passende Texte liefern. Die fachliche Relevanz müssen wir prüfen.</a:t>
            </a:r>
          </a:p>
        </p:txBody>
      </p:sp>
      <p:sp>
        <p:nvSpPr>
          <p:cNvPr id="8" name="text-7">
            <a:extLst xmlns:a="http://schemas.openxmlformats.org/drawingml/2006/main">
              <a:ext uri="{FF2B5EF4-FFF2-40B4-BE49-F238E27FC236}">
                <a16:creationId xmlns:a16="http://schemas.microsoft.com/office/drawing/2014/main" id="{79CC3551-19D0-472F-8510-C7C521EF2F0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Unsere VECTOR(3)-Lehrwerte waren handgesetzt. Sie sind keine echten Textembeddings.</a:t>
            </a:r>
          </a:p>
        </p:txBody>
      </p:sp>
      <p:sp>
        <p:nvSpPr>
          <p:cNvPr id="9" name="text-8">
            <a:extLst xmlns:a="http://schemas.openxmlformats.org/drawingml/2006/main">
              <a:ext uri="{FF2B5EF4-FFF2-40B4-BE49-F238E27FC236}">
                <a16:creationId xmlns:a16="http://schemas.microsoft.com/office/drawing/2014/main" id="{1B6FEF13-E799-45E7-A60F-FAD0424C37B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22 · Quellfolie 22 · CUR-013 / CUR-016</a:t>
            </a:r>
          </a:p>
        </p:txBody>
      </p:sp>
    </p:spTree>
    <p:extLst>
      <p:ext uri="{BB962C8B-B14F-4D97-AF65-F5344CB8AC3E}">
        <p14:creationId xmlns:p14="http://schemas.microsoft.com/office/powerpoint/2010/main" val="9617796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F497167E-CB3D-474E-BB61-EB6783DB5BC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Zusätzliche Hürden eines echten Modellpfads</a:t>
            </a:r>
          </a:p>
        </p:txBody>
      </p:sp>
      <p:graphicFrame>
        <p:nvGraphicFramePr>
          <p:cNvPr id="2" name="">
            <a:extLst xmlns:a="http://schemas.openxmlformats.org/drawingml/2006/main">
              <a:ext uri="{FF2B5EF4-FFF2-40B4-BE49-F238E27FC236}">
                <a16:creationId xmlns:a16="http://schemas.microsoft.com/office/drawing/2014/main" id="{E7BACC48-B103-4D4D-AA9A-03ADADEDCEBE}"/>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1809750"/>
                <a:gridCol w="4429125"/>
                <a:gridCol w="4429125"/>
              </a:tblGrid>
              <a:tr h="800100">
                <a:tc>
                  <a:txBody>
                    <a:bodyPr/>
                    <a:lstStyle/>
                    <a:p>
                      <a:r>
                        <a:rPr sz="1800" b="1">
                          <a:solidFill>
                            <a:srgbClr val="15283D"/>
                          </a:solidFill>
                          <a:latin typeface="Arial"/>
                          <a:ea typeface="Arial"/>
                          <a:cs typeface="Arial"/>
                        </a:rPr>
                        <a:t>Hürde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Vorbereitete Lösung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Sichtbare Prüfung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Modell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Geeignete Version und Dimension festlegen.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Vektor passt zum erwarteten Modellraum.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Verbindung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Verschlüsselten Transport und Zertifikat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erlaubte Dienst ist aus dem Aufrufer erreichbar.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Kosten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Menge der Requests und Wiederholungen begrenzen.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Verbrauch und Abbruchgrenze bleiben nachvollziehbar.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Datenschutz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Erlaubte Daten und Dienstverarbeitung klären.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Nur freigegebener Kontext verlässt seine Grenze.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BBB67FBD-0B8F-48CA-BCCD-A2B5132B846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23 · Quellfolie 23 · CUR-016 / CUR-018</a:t>
            </a:r>
          </a:p>
        </p:txBody>
      </p:sp>
    </p:spTree>
    <p:extLst>
      <p:ext uri="{BB962C8B-B14F-4D97-AF65-F5344CB8AC3E}">
        <p14:creationId xmlns:p14="http://schemas.microsoft.com/office/powerpoint/2010/main" val="15090206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6C64756-FD81-42FF-A172-725EEEF73DA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Textausschnitt braucht seine Herkunft</a:t>
            </a:r>
          </a:p>
        </p:txBody>
      </p:sp>
      <p:sp>
        <p:nvSpPr>
          <p:cNvPr id="2" name="text-1">
            <a:extLst xmlns:a="http://schemas.openxmlformats.org/drawingml/2006/main">
              <a:ext uri="{FF2B5EF4-FFF2-40B4-BE49-F238E27FC236}">
                <a16:creationId xmlns:a16="http://schemas.microsoft.com/office/drawing/2014/main" id="{D4FF2EA7-C75C-416B-90EF-3457A029A07C}"/>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Quelltext</a:t>
            </a:r>
          </a:p>
        </p:txBody>
      </p:sp>
      <p:sp>
        <p:nvSpPr>
          <p:cNvPr id="3" name="text-2">
            <a:extLst xmlns:a="http://schemas.openxmlformats.org/drawingml/2006/main">
              <a:ext uri="{FF2B5EF4-FFF2-40B4-BE49-F238E27FC236}">
                <a16:creationId xmlns:a16="http://schemas.microsoft.com/office/drawing/2014/main" id="{868A9EE5-4056-47C7-B20E-08C69595317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Dokument 2, v2: MOD_A bewahrt Protokolle sieben Tage auf.</a:t>
            </a:r>
          </a:p>
        </p:txBody>
      </p:sp>
      <p:sp>
        <p:nvSpPr>
          <p:cNvPr id="4" name="text-3">
            <a:extLst xmlns:a="http://schemas.openxmlformats.org/drawingml/2006/main">
              <a:ext uri="{FF2B5EF4-FFF2-40B4-BE49-F238E27FC236}">
                <a16:creationId xmlns:a16="http://schemas.microsoft.com/office/drawing/2014/main" id="{324A2FE3-2762-4FD0-BCB2-BC92F68FA30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Ausschnitt</a:t>
            </a:r>
          </a:p>
        </p:txBody>
      </p:sp>
      <p:sp>
        <p:nvSpPr>
          <p:cNvPr id="5" name="text-4">
            <a:extLst xmlns:a="http://schemas.openxmlformats.org/drawingml/2006/main">
              <a:ext uri="{FF2B5EF4-FFF2-40B4-BE49-F238E27FC236}">
                <a16:creationId xmlns:a16="http://schemas.microsoft.com/office/drawing/2014/main" id="{3C2196F1-B66C-40FE-ACA0-C0FE8F46E38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Chunk ist ein abgegrenzter Textbereich. Er bleibt mit Dokument und Fassung verbunden.</a:t>
            </a:r>
          </a:p>
        </p:txBody>
      </p:sp>
      <p:sp>
        <p:nvSpPr>
          <p:cNvPr id="6" name="text-5">
            <a:extLst xmlns:a="http://schemas.openxmlformats.org/drawingml/2006/main">
              <a:ext uri="{FF2B5EF4-FFF2-40B4-BE49-F238E27FC236}">
                <a16:creationId xmlns:a16="http://schemas.microsoft.com/office/drawing/2014/main" id="{E8076C70-21F8-480A-9C66-9DAEEC8A703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Prüfung</a:t>
            </a:r>
          </a:p>
        </p:txBody>
      </p:sp>
      <p:sp>
        <p:nvSpPr>
          <p:cNvPr id="7" name="text-6">
            <a:extLst xmlns:a="http://schemas.openxmlformats.org/drawingml/2006/main">
              <a:ext uri="{FF2B5EF4-FFF2-40B4-BE49-F238E27FC236}">
                <a16:creationId xmlns:a16="http://schemas.microsoft.com/office/drawing/2014/main" id="{9CBAB041-83B9-4812-A19E-45FF17EB25C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können zeigen, wo die gefundene Information steht und ob diese Fassung aktuell ist.</a:t>
            </a:r>
          </a:p>
        </p:txBody>
      </p:sp>
      <p:sp>
        <p:nvSpPr>
          <p:cNvPr id="8" name="text-7">
            <a:extLst xmlns:a="http://schemas.openxmlformats.org/drawingml/2006/main">
              <a:ext uri="{FF2B5EF4-FFF2-40B4-BE49-F238E27FC236}">
                <a16:creationId xmlns:a16="http://schemas.microsoft.com/office/drawing/2014/main" id="{B0B5C60B-4F42-4F0A-BB96-4DE383CE172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24 · Quellfolie 24 · CUR-015 / CUR-017</a:t>
            </a:r>
          </a:p>
        </p:txBody>
      </p:sp>
    </p:spTree>
    <p:extLst>
      <p:ext uri="{BB962C8B-B14F-4D97-AF65-F5344CB8AC3E}">
        <p14:creationId xmlns:p14="http://schemas.microsoft.com/office/powerpoint/2010/main" val="13790357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2CB9B63-ECA5-41CC-8B48-02EA4BBD5F6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Antwort mit abgerufenem Quellenkontext</a:t>
            </a:r>
          </a:p>
        </p:txBody>
      </p:sp>
      <p:sp>
        <p:nvSpPr>
          <p:cNvPr id="2" name="text-1">
            <a:extLst xmlns:a="http://schemas.openxmlformats.org/drawingml/2006/main">
              <a:ext uri="{FF2B5EF4-FFF2-40B4-BE49-F238E27FC236}">
                <a16:creationId xmlns:a16="http://schemas.microsoft.com/office/drawing/2014/main" id="{9ADA047C-DEC8-4AD5-B6D7-2B42E297051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Suche</a:t>
            </a:r>
          </a:p>
        </p:txBody>
      </p:sp>
      <p:sp>
        <p:nvSpPr>
          <p:cNvPr id="3" name="text-2">
            <a:extLst xmlns:a="http://schemas.openxmlformats.org/drawingml/2006/main">
              <a:ext uri="{FF2B5EF4-FFF2-40B4-BE49-F238E27FC236}">
                <a16:creationId xmlns:a16="http://schemas.microsoft.com/office/drawing/2014/main" id="{C3E829F7-9F26-426D-AE5D-6883DB8EB74B}"/>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Anwendung findet zur Frage erlaubte, aktuelle Quellen.</a:t>
            </a:r>
          </a:p>
        </p:txBody>
      </p:sp>
      <p:sp>
        <p:nvSpPr>
          <p:cNvPr id="4" name="text-3">
            <a:extLst xmlns:a="http://schemas.openxmlformats.org/drawingml/2006/main">
              <a:ext uri="{FF2B5EF4-FFF2-40B4-BE49-F238E27FC236}">
                <a16:creationId xmlns:a16="http://schemas.microsoft.com/office/drawing/2014/main" id="{F1F2A2F1-3BBD-4085-92DB-AFF2900C942A}"/>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Kontext</a:t>
            </a:r>
          </a:p>
        </p:txBody>
      </p:sp>
      <p:sp>
        <p:nvSpPr>
          <p:cNvPr id="5" name="text-4">
            <a:extLst xmlns:a="http://schemas.openxmlformats.org/drawingml/2006/main">
              <a:ext uri="{FF2B5EF4-FFF2-40B4-BE49-F238E27FC236}">
                <a16:creationId xmlns:a16="http://schemas.microsoft.com/office/drawing/2014/main" id="{CDA74C52-714D-4401-AAAC-3724864D5018}"/>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Sie gibt passende Ausschnitte zusammen mit der Frage an die Antwortstufe.</a:t>
            </a:r>
          </a:p>
        </p:txBody>
      </p:sp>
      <p:sp>
        <p:nvSpPr>
          <p:cNvPr id="6" name="text-5">
            <a:extLst xmlns:a="http://schemas.openxmlformats.org/drawingml/2006/main">
              <a:ext uri="{FF2B5EF4-FFF2-40B4-BE49-F238E27FC236}">
                <a16:creationId xmlns:a16="http://schemas.microsoft.com/office/drawing/2014/main" id="{65517075-3B4B-422F-8153-54E4BA01A42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Antwort</a:t>
            </a:r>
          </a:p>
        </p:txBody>
      </p:sp>
      <p:sp>
        <p:nvSpPr>
          <p:cNvPr id="7" name="text-6">
            <a:extLst xmlns:a="http://schemas.openxmlformats.org/drawingml/2006/main">
              <a:ext uri="{FF2B5EF4-FFF2-40B4-BE49-F238E27FC236}">
                <a16:creationId xmlns:a16="http://schemas.microsoft.com/office/drawing/2014/main" id="{D4AFC84C-185F-4E09-9B13-D5B0C8C5FC0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Antwortentwurf nennt seine Belege. Die Anwendung prüft die stützende Quelle.</a:t>
            </a:r>
          </a:p>
        </p:txBody>
      </p:sp>
      <p:sp>
        <p:nvSpPr>
          <p:cNvPr id="8" name="text-7">
            <a:extLst xmlns:a="http://schemas.openxmlformats.org/drawingml/2006/main">
              <a:ext uri="{FF2B5EF4-FFF2-40B4-BE49-F238E27FC236}">
                <a16:creationId xmlns:a16="http://schemas.microsoft.com/office/drawing/2014/main" id="{DF7ADB55-B463-4B90-AF2E-5176C9D7DA1F}"/>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Dieser Ablauf heißt Retrieval-Augmented Generation, kurz RAG.</a:t>
            </a:r>
          </a:p>
        </p:txBody>
      </p:sp>
      <p:sp>
        <p:nvSpPr>
          <p:cNvPr id="9" name="text-8">
            <a:extLst xmlns:a="http://schemas.openxmlformats.org/drawingml/2006/main">
              <a:ext uri="{FF2B5EF4-FFF2-40B4-BE49-F238E27FC236}">
                <a16:creationId xmlns:a16="http://schemas.microsoft.com/office/drawing/2014/main" id="{BEB2B9D8-4DAA-498B-9178-08D6DDF36FE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25 · Quellfolie 25 · CUR-017</a:t>
            </a:r>
          </a:p>
        </p:txBody>
      </p:sp>
    </p:spTree>
    <p:extLst>
      <p:ext uri="{BB962C8B-B14F-4D97-AF65-F5344CB8AC3E}">
        <p14:creationId xmlns:p14="http://schemas.microsoft.com/office/powerpoint/2010/main" val="15571014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FE09E50F-632A-462F-9E3D-6842D1D14BD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belegbare Antwort im Wissensbasisfall</a:t>
            </a:r>
          </a:p>
        </p:txBody>
      </p:sp>
      <p:graphicFrame>
        <p:nvGraphicFramePr>
          <p:cNvPr id="2" name="">
            <a:extLst xmlns:a="http://schemas.openxmlformats.org/drawingml/2006/main">
              <a:ext uri="{FF2B5EF4-FFF2-40B4-BE49-F238E27FC236}">
                <a16:creationId xmlns:a16="http://schemas.microsoft.com/office/drawing/2014/main" id="{3702729B-9C78-4F36-9AEB-9494DCF78AC1}"/>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3048000"/>
                <a:gridCol w="7620000"/>
              </a:tblGrid>
              <a:tr h="785813">
                <a:tc>
                  <a:txBody>
                    <a:bodyPr/>
                    <a:lstStyle/>
                    <a:p>
                      <a:r>
                        <a:rPr sz="1800" b="1">
                          <a:solidFill>
                            <a:srgbClr val="15283D"/>
                          </a:solidFill>
                          <a:latin typeface="Arial"/>
                          <a:ea typeface="Arial"/>
                          <a:cs typeface="Arial"/>
                        </a:rPr>
                        <a:t>Bestandteil</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Sichtbarer Inhalt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Frage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Wie lange bleiben die Protokolle von MOD_A erhalten?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Gelieferte Quelle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Dokument 2, v2: MOD_A bewahrt Protokolle sieben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Fester Antwortentwurf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Sieben Tage. Beleg: Dokument 2, Fassung v2.</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262B235-D985-4143-8204-6C550B450A7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26 · Quellfolie 26 · CUR-017</a:t>
            </a:r>
          </a:p>
        </p:txBody>
      </p:sp>
    </p:spTree>
    <p:extLst>
      <p:ext uri="{BB962C8B-B14F-4D97-AF65-F5344CB8AC3E}">
        <p14:creationId xmlns:p14="http://schemas.microsoft.com/office/powerpoint/2010/main" val="174507028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E58BE40-97AB-43DC-8FAB-037E33B47FE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Falsche und fehlende Antworten erkennen</a:t>
            </a:r>
          </a:p>
        </p:txBody>
      </p:sp>
      <p:graphicFrame>
        <p:nvGraphicFramePr>
          <p:cNvPr id="2" name="">
            <a:extLst xmlns:a="http://schemas.openxmlformats.org/drawingml/2006/main">
              <a:ext uri="{FF2B5EF4-FFF2-40B4-BE49-F238E27FC236}">
                <a16:creationId xmlns:a16="http://schemas.microsoft.com/office/drawing/2014/main" id="{4528D252-83E2-4F02-8C15-106978D40E71}"/>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5334000"/>
                <a:gridCol w="5334000"/>
              </a:tblGrid>
              <a:tr h="785813">
                <a:tc>
                  <a:txBody>
                    <a:bodyPr/>
                    <a:lstStyle/>
                    <a:p>
                      <a:r>
                        <a:rPr sz="1800" b="1">
                          <a:solidFill>
                            <a:srgbClr val="15283D"/>
                          </a:solidFill>
                          <a:latin typeface="Arial"/>
                          <a:ea typeface="Arial"/>
                          <a:cs typeface="Arial"/>
                        </a:rPr>
                        <a:t>Frage oder Antwortentwurf</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Gemeinsame Entscheidung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MOD_A bewahrt Protokolle 14 Tage auf.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Falsch zum gelieferten Beleg von sieben Tagen.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Warum sind es genau sieben Tage?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Grund fehlt in der Quelle. Keine Erklärung erfinden.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Ohne passende Quelle bleibt die Antwort leer.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begründete Nichtantwort ist nachvollziehbarer.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E2D4D674-9AB4-4257-BE31-4D9192D7C83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27 · Quellfolie 27 · CUR-017 / CUR-022</a:t>
            </a:r>
          </a:p>
        </p:txBody>
      </p:sp>
    </p:spTree>
    <p:extLst>
      <p:ext uri="{BB962C8B-B14F-4D97-AF65-F5344CB8AC3E}">
        <p14:creationId xmlns:p14="http://schemas.microsoft.com/office/powerpoint/2010/main" val="39622304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0B0A64B-FCF1-4040-8ADC-6DCE4083475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Vorbereitung auf die konkreten Demos</a:t>
            </a:r>
          </a:p>
        </p:txBody>
      </p:sp>
      <p:sp>
        <p:nvSpPr>
          <p:cNvPr id="2" name="text-1">
            <a:extLst xmlns:a="http://schemas.openxmlformats.org/drawingml/2006/main">
              <a:ext uri="{FF2B5EF4-FFF2-40B4-BE49-F238E27FC236}">
                <a16:creationId xmlns:a16="http://schemas.microsoft.com/office/drawing/2014/main" id="{F78A1A68-3C6E-417E-838B-04358271A1C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Zahlen verstehen</a:t>
            </a:r>
          </a:p>
        </p:txBody>
      </p:sp>
      <p:sp>
        <p:nvSpPr>
          <p:cNvPr id="3" name="text-2">
            <a:extLst xmlns:a="http://schemas.openxmlformats.org/drawingml/2006/main">
              <a:ext uri="{FF2B5EF4-FFF2-40B4-BE49-F238E27FC236}">
                <a16:creationId xmlns:a16="http://schemas.microsoft.com/office/drawing/2014/main" id="{898FE083-9A63-40D3-A6BD-811524DF717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Vektorquery vergleicht Werte. Ihre Distanz beweist noch keine richtige Antwort.</a:t>
            </a:r>
          </a:p>
        </p:txBody>
      </p:sp>
      <p:sp>
        <p:nvSpPr>
          <p:cNvPr id="4" name="text-3">
            <a:extLst xmlns:a="http://schemas.openxmlformats.org/drawingml/2006/main">
              <a:ext uri="{FF2B5EF4-FFF2-40B4-BE49-F238E27FC236}">
                <a16:creationId xmlns:a16="http://schemas.microsoft.com/office/drawing/2014/main" id="{9FAC834A-7712-4B33-86B8-189F046AB8DA}"/>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 prüfen</a:t>
            </a:r>
          </a:p>
        </p:txBody>
      </p:sp>
      <p:sp>
        <p:nvSpPr>
          <p:cNvPr id="5" name="text-4">
            <a:extLst xmlns:a="http://schemas.openxmlformats.org/drawingml/2006/main">
              <a:ext uri="{FF2B5EF4-FFF2-40B4-BE49-F238E27FC236}">
                <a16:creationId xmlns:a16="http://schemas.microsoft.com/office/drawing/2014/main" id="{2AECB996-1ED2-4608-B794-0E03C0A6A06A}"/>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Dokument, Fassung und erlaubter Kontext gehören zum Ergebnis.</a:t>
            </a:r>
          </a:p>
        </p:txBody>
      </p:sp>
      <p:sp>
        <p:nvSpPr>
          <p:cNvPr id="6" name="text-5">
            <a:extLst xmlns:a="http://schemas.openxmlformats.org/drawingml/2006/main">
              <a:ext uri="{FF2B5EF4-FFF2-40B4-BE49-F238E27FC236}">
                <a16:creationId xmlns:a16="http://schemas.microsoft.com/office/drawing/2014/main" id="{FB6F7370-27B7-4A0F-803F-CB60F3EE83BF}"/>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Nächster Schritt</a:t>
            </a:r>
          </a:p>
        </p:txBody>
      </p:sp>
      <p:sp>
        <p:nvSpPr>
          <p:cNvPr id="7" name="text-6">
            <a:extLst xmlns:a="http://schemas.openxmlformats.org/drawingml/2006/main">
              <a:ext uri="{FF2B5EF4-FFF2-40B4-BE49-F238E27FC236}">
                <a16:creationId xmlns:a16="http://schemas.microsoft.com/office/drawing/2014/main" id="{FBACEE49-C998-4C97-AA4B-34E67C0AC73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untersuchen nun Datentypen, Suche, Quellen und Rechte an den vorbereiteten Offline-Demos.</a:t>
            </a:r>
          </a:p>
        </p:txBody>
      </p:sp>
      <p:sp>
        <p:nvSpPr>
          <p:cNvPr id="8" name="text-7">
            <a:extLst xmlns:a="http://schemas.openxmlformats.org/drawingml/2006/main">
              <a:ext uri="{FF2B5EF4-FFF2-40B4-BE49-F238E27FC236}">
                <a16:creationId xmlns:a16="http://schemas.microsoft.com/office/drawing/2014/main" id="{2F60249E-FAE1-4922-9B87-DB2E6F4151D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28 · Quellfolie 28 · CUR-013 / CUR-014 / CUR-017 / CUR-018</a:t>
            </a:r>
          </a:p>
        </p:txBody>
      </p:sp>
    </p:spTree>
    <p:extLst>
      <p:ext uri="{BB962C8B-B14F-4D97-AF65-F5344CB8AC3E}">
        <p14:creationId xmlns:p14="http://schemas.microsoft.com/office/powerpoint/2010/main" val="134664508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4A0D09C-2036-4D04-A101-89FAC65BDA3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Vektoren und Embeddingräume</a:t>
            </a:r>
          </a:p>
        </p:txBody>
      </p:sp>
      <p:sp>
        <p:nvSpPr>
          <p:cNvPr id="2" name="text-1">
            <a:extLst xmlns:a="http://schemas.openxmlformats.org/drawingml/2006/main">
              <a:ext uri="{FF2B5EF4-FFF2-40B4-BE49-F238E27FC236}">
                <a16:creationId xmlns:a16="http://schemas.microsoft.com/office/drawing/2014/main" id="{6503634F-F203-4E81-AD9D-C1ECFC5486C4}"/>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VECTOR(3)</a:t>
            </a:r>
          </a:p>
        </p:txBody>
      </p:sp>
      <p:sp>
        <p:nvSpPr>
          <p:cNvPr id="3" name="text-2">
            <a:extLst xmlns:a="http://schemas.openxmlformats.org/drawingml/2006/main">
              <a:ext uri="{FF2B5EF4-FFF2-40B4-BE49-F238E27FC236}">
                <a16:creationId xmlns:a16="http://schemas.microsoft.com/office/drawing/2014/main" id="{04A06943-99F9-47EF-A987-2F2ABCAE2898}"/>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Wert enthält drei numerische Komponenten. float32 benötigt ungefähr 4 × d Bytes Nutzdaten.</a:t>
            </a:r>
          </a:p>
        </p:txBody>
      </p:sp>
      <p:sp>
        <p:nvSpPr>
          <p:cNvPr id="4" name="text-3">
            <a:extLst xmlns:a="http://schemas.openxmlformats.org/drawingml/2006/main">
              <a:ext uri="{FF2B5EF4-FFF2-40B4-BE49-F238E27FC236}">
                <a16:creationId xmlns:a16="http://schemas.microsoft.com/office/drawing/2014/main" id="{329503A7-F0F4-45D8-8D9F-2FDE6057263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Modellraum</a:t>
            </a:r>
          </a:p>
        </p:txBody>
      </p:sp>
      <p:sp>
        <p:nvSpPr>
          <p:cNvPr id="5" name="text-4">
            <a:extLst xmlns:a="http://schemas.openxmlformats.org/drawingml/2006/main">
              <a:ext uri="{FF2B5EF4-FFF2-40B4-BE49-F238E27FC236}">
                <a16:creationId xmlns:a16="http://schemas.microsoft.com/office/drawing/2014/main" id="{65043795-F6AD-4850-AF73-34A3CA15AD2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 Dimension allein erlaubt keine gemeinsame Suche. Modellversion und Normalisierung gehören zur Provenienz.</a:t>
            </a:r>
          </a:p>
        </p:txBody>
      </p:sp>
      <p:sp>
        <p:nvSpPr>
          <p:cNvPr id="6" name="text-5">
            <a:extLst xmlns:a="http://schemas.openxmlformats.org/drawingml/2006/main">
              <a:ext uri="{FF2B5EF4-FFF2-40B4-BE49-F238E27FC236}">
                <a16:creationId xmlns:a16="http://schemas.microsoft.com/office/drawing/2014/main" id="{62B41E0C-BFEB-4A55-9738-00EC2EC2420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Grenzen</a:t>
            </a:r>
          </a:p>
        </p:txBody>
      </p:sp>
      <p:sp>
        <p:nvSpPr>
          <p:cNvPr id="7" name="text-6">
            <a:extLst xmlns:a="http://schemas.openxmlformats.org/drawingml/2006/main">
              <a:ext uri="{FF2B5EF4-FFF2-40B4-BE49-F238E27FC236}">
                <a16:creationId xmlns:a16="http://schemas.microsoft.com/office/drawing/2014/main" id="{CF0A2405-781F-4EEF-89EF-69453826CDF5}"/>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float32: 1 bis 1998 Dimensionen. float16: 1 bis 3996 Dimensionen, Preview im SQL-Server-Pfad.</a:t>
            </a:r>
          </a:p>
        </p:txBody>
      </p:sp>
      <p:sp>
        <p:nvSpPr>
          <p:cNvPr id="8" name="text-7">
            <a:extLst xmlns:a="http://schemas.openxmlformats.org/drawingml/2006/main">
              <a:ext uri="{FF2B5EF4-FFF2-40B4-BE49-F238E27FC236}">
                <a16:creationId xmlns:a16="http://schemas.microsoft.com/office/drawing/2014/main" id="{72163DC9-0E9D-4C57-B3FC-F6B172E731D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29 · Quellfolie 34 · CUR-013 / CUR-014</a:t>
            </a:r>
          </a:p>
        </p:txBody>
      </p:sp>
    </p:spTree>
    <p:extLst>
      <p:ext uri="{BB962C8B-B14F-4D97-AF65-F5344CB8AC3E}">
        <p14:creationId xmlns:p14="http://schemas.microsoft.com/office/powerpoint/2010/main" val="186984097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06CE5AE-C6A1-42BE-86EF-89ACB092D7D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QRY-014: Typ und Modellraum</a:t>
            </a:r>
          </a:p>
        </p:txBody>
      </p:sp>
      <p:sp>
        <p:nvSpPr>
          <p:cNvPr id="2" name="text-1">
            <a:extLst xmlns:a="http://schemas.openxmlformats.org/drawingml/2006/main">
              <a:ext uri="{FF2B5EF4-FFF2-40B4-BE49-F238E27FC236}">
                <a16:creationId xmlns:a16="http://schemas.microsoft.com/office/drawing/2014/main" id="{21FE04EA-8ECE-4263-BD0B-BC61341B136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A8D7AAA8-09BD-46B6-BAF4-36978B31EEE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Dürfen GEOMETRY_V1 und GEOMETRY_V2 allein wegen VECTOR(3) gemeinsam gesucht werden?</a:t>
            </a:r>
          </a:p>
        </p:txBody>
      </p:sp>
      <p:sp>
        <p:nvSpPr>
          <p:cNvPr id="4" name="text-3">
            <a:extLst xmlns:a="http://schemas.openxmlformats.org/drawingml/2006/main">
              <a:ext uri="{FF2B5EF4-FFF2-40B4-BE49-F238E27FC236}">
                <a16:creationId xmlns:a16="http://schemas.microsoft.com/office/drawing/2014/main" id="{7A5DFEEB-9AF7-4E86-9A67-89CA102E1806}"/>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4EB9498E-FFA1-4088-9F6B-504C2275530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Fünf Rows, Dimensionszahl und BaseType lesen. Falsche Dimension und ungültiges JSON unterscheiden.</a:t>
            </a:r>
          </a:p>
        </p:txBody>
      </p:sp>
      <p:sp>
        <p:nvSpPr>
          <p:cNvPr id="6" name="text-5">
            <a:extLst xmlns:a="http://schemas.openxmlformats.org/drawingml/2006/main">
              <a:ext uri="{FF2B5EF4-FFF2-40B4-BE49-F238E27FC236}">
                <a16:creationId xmlns:a16="http://schemas.microsoft.com/office/drawing/2014/main" id="{B1FB16E7-CAE1-4045-A93A-77B4B56B57F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722CFC00-1ACF-4F4A-979E-EAFD5AA34A4F}"/>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SQL-Typ prüft die technische Form. Die Anwendung muss den passenden Modellraum sicherstellen.</a:t>
            </a:r>
          </a:p>
        </p:txBody>
      </p:sp>
      <p:sp>
        <p:nvSpPr>
          <p:cNvPr id="8" name="text-7">
            <a:extLst xmlns:a="http://schemas.openxmlformats.org/drawingml/2006/main">
              <a:ext uri="{FF2B5EF4-FFF2-40B4-BE49-F238E27FC236}">
                <a16:creationId xmlns:a16="http://schemas.microsoft.com/office/drawing/2014/main" id="{2AEE2DFD-616B-4E49-BC79-50247F449171}"/>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 GREEN, eine Session, Engine 17.x und CL 170.</a:t>
            </a:r>
          </a:p>
        </p:txBody>
      </p:sp>
      <p:sp>
        <p:nvSpPr>
          <p:cNvPr id="9" name="text-8">
            <a:extLst xmlns:a="http://schemas.openxmlformats.org/drawingml/2006/main">
              <a:ext uri="{FF2B5EF4-FFF2-40B4-BE49-F238E27FC236}">
                <a16:creationId xmlns:a16="http://schemas.microsoft.com/office/drawing/2014/main" id="{88C2926D-59DA-48B7-BA00-E1FE4845876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30 · Quellfolie 35 · CUR-014</a:t>
            </a:r>
          </a:p>
        </p:txBody>
      </p:sp>
    </p:spTree>
    <p:extLst>
      <p:ext uri="{BB962C8B-B14F-4D97-AF65-F5344CB8AC3E}">
        <p14:creationId xmlns:p14="http://schemas.microsoft.com/office/powerpoint/2010/main" val="145229947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CBA47CA-B3B6-4BA9-B456-279090FAC6A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Securitygrenzen im Datenfluss</a:t>
            </a:r>
          </a:p>
        </p:txBody>
      </p:sp>
      <p:graphicFrame>
        <p:nvGraphicFramePr>
          <p:cNvPr id="2" name="">
            <a:extLst xmlns:a="http://schemas.openxmlformats.org/drawingml/2006/main">
              <a:ext uri="{FF2B5EF4-FFF2-40B4-BE49-F238E27FC236}">
                <a16:creationId xmlns:a16="http://schemas.microsoft.com/office/drawing/2014/main" id="{611F3B70-BED4-4FD2-82DB-683AE404BA7F}"/>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762500"/>
                <a:gridCol w="5905500"/>
              </a:tblGrid>
              <a:tr h="800100">
                <a:tc>
                  <a:txBody>
                    <a:bodyPr/>
                    <a:lstStyle/>
                    <a:p>
                      <a:r>
                        <a:rPr sz="1800" b="1">
                          <a:solidFill>
                            <a:srgbClr val="15283D"/>
                          </a:solidFill>
                          <a:latin typeface="Arial"/>
                          <a:ea typeface="Arial"/>
                          <a:cs typeface="Arial"/>
                        </a:rPr>
                        <a:t>Unvertrauenswürdige Eingabe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Erzwungene 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Prompt und LLM-SQL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Feste SQL-Struktur, Wertbindung und minimale DB-Rechte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Retrievalquelle und Toolwunsch</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Quelleninhalt getrennt von Toolpolicy verarbeiten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Tenantangabe aus dem Prompt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Authentifizierter Kontext und DB-seitige Zugriffskontrolle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Modellendpoint und Dateien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TLS, Egress, Credentials, Lizenz und endliche Budgets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A9B56EFD-433B-4897-9341-A9951C1D8602}"/>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Embeddings, Prompts und Antworten können schutzwürdige Information enthalten.</a:t>
            </a:r>
          </a:p>
        </p:txBody>
      </p:sp>
      <p:sp>
        <p:nvSpPr>
          <p:cNvPr id="4" name="text-2">
            <a:extLst xmlns:a="http://schemas.openxmlformats.org/drawingml/2006/main">
              <a:ext uri="{FF2B5EF4-FFF2-40B4-BE49-F238E27FC236}">
                <a16:creationId xmlns:a16="http://schemas.microsoft.com/office/drawing/2014/main" id="{AEA781DE-8CE4-4F3B-9C14-BA57C0CD724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31 · Quellfolie 47 · CUR-018</a:t>
            </a:r>
          </a:p>
        </p:txBody>
      </p:sp>
    </p:spTree>
    <p:extLst>
      <p:ext uri="{BB962C8B-B14F-4D97-AF65-F5344CB8AC3E}">
        <p14:creationId xmlns:p14="http://schemas.microsoft.com/office/powerpoint/2010/main" val="205071655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5F803C9-0A04-4560-AAF2-FB47A5A88B1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QRY-019: Wertbindung und SQL-Struktur</a:t>
            </a:r>
          </a:p>
        </p:txBody>
      </p:sp>
      <p:sp>
        <p:nvSpPr>
          <p:cNvPr id="2" name="text-1">
            <a:extLst xmlns:a="http://schemas.openxmlformats.org/drawingml/2006/main">
              <a:ext uri="{FF2B5EF4-FFF2-40B4-BE49-F238E27FC236}">
                <a16:creationId xmlns:a16="http://schemas.microsoft.com/office/drawing/2014/main" id="{1A64A888-20FD-4BF1-AA5C-E635A30B3688}"/>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6ACCDE05-483E-48BE-8606-019BB9920A4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Kann Quote-, Semikolon- und DROP-Text als Wert einen Literal-Treffer liefern?</a:t>
            </a:r>
          </a:p>
        </p:txBody>
      </p:sp>
      <p:sp>
        <p:nvSpPr>
          <p:cNvPr id="4" name="text-3">
            <a:extLst xmlns:a="http://schemas.openxmlformats.org/drawingml/2006/main">
              <a:ext uri="{FF2B5EF4-FFF2-40B4-BE49-F238E27FC236}">
                <a16:creationId xmlns:a16="http://schemas.microsoft.com/office/drawing/2014/main" id="{BD48D617-499B-4C75-933A-FC604BCF030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E0920330-5194-44D3-9B2D-5982823CDD48}"/>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Statementstruktur, getrennte Wertparameter und tatsächliche Readerrechte im Code zeigen.</a:t>
            </a:r>
          </a:p>
        </p:txBody>
      </p:sp>
      <p:sp>
        <p:nvSpPr>
          <p:cNvPr id="6" name="text-5">
            <a:extLst xmlns:a="http://schemas.openxmlformats.org/drawingml/2006/main">
              <a:ext uri="{FF2B5EF4-FFF2-40B4-BE49-F238E27FC236}">
                <a16:creationId xmlns:a16="http://schemas.microsoft.com/office/drawing/2014/main" id="{FB8B5489-A12E-4F9E-9945-DE65B7B51E8F}"/>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7E6C6675-0CFE-4BF2-95CF-25D4006F08FB}"/>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Zusatzstatement und unerlaubte Aktion ablehnen. Identifier benötigen eine eigene Allowlist.</a:t>
            </a:r>
          </a:p>
        </p:txBody>
      </p:sp>
      <p:sp>
        <p:nvSpPr>
          <p:cNvPr id="8" name="text-7">
            <a:extLst xmlns:a="http://schemas.openxmlformats.org/drawingml/2006/main">
              <a:ext uri="{FF2B5EF4-FFF2-40B4-BE49-F238E27FC236}">
                <a16:creationId xmlns:a16="http://schemas.microsoft.com/office/drawing/2014/main" id="{23334D72-CC37-45FB-847E-1C54B7875A0F}"/>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SQL-/Promptfixtures, kein privilegierter Angriffslauf.</a:t>
            </a:r>
          </a:p>
        </p:txBody>
      </p:sp>
      <p:sp>
        <p:nvSpPr>
          <p:cNvPr id="9" name="text-8">
            <a:extLst xmlns:a="http://schemas.openxmlformats.org/drawingml/2006/main">
              <a:ext uri="{FF2B5EF4-FFF2-40B4-BE49-F238E27FC236}">
                <a16:creationId xmlns:a16="http://schemas.microsoft.com/office/drawing/2014/main" id="{EDD0AE0B-93E2-456A-8793-8652D99F141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32 · Quellfolie 48 · CUR-018 / CUR-021</a:t>
            </a:r>
          </a:p>
        </p:txBody>
      </p:sp>
    </p:spTree>
    <p:extLst>
      <p:ext uri="{BB962C8B-B14F-4D97-AF65-F5344CB8AC3E}">
        <p14:creationId xmlns:p14="http://schemas.microsoft.com/office/powerpoint/2010/main" val="94118813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138597D-DB3B-4503-B7C1-4519FE52551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RAG und die Bindung einer Antwort</a:t>
            </a:r>
          </a:p>
        </p:txBody>
      </p:sp>
      <p:sp>
        <p:nvSpPr>
          <p:cNvPr id="2" name="text-1">
            <a:extLst xmlns:a="http://schemas.openxmlformats.org/drawingml/2006/main">
              <a:ext uri="{FF2B5EF4-FFF2-40B4-BE49-F238E27FC236}">
                <a16:creationId xmlns:a16="http://schemas.microsoft.com/office/drawing/2014/main" id="{7CAFABE7-FE90-4F40-B12B-75D5E1BAC6D3}"/>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Retrieval</a:t>
            </a:r>
          </a:p>
        </p:txBody>
      </p:sp>
      <p:sp>
        <p:nvSpPr>
          <p:cNvPr id="3" name="text-2">
            <a:extLst xmlns:a="http://schemas.openxmlformats.org/drawingml/2006/main">
              <a:ext uri="{FF2B5EF4-FFF2-40B4-BE49-F238E27FC236}">
                <a16:creationId xmlns:a16="http://schemas.microsoft.com/office/drawing/2014/main" id="{026EDBAE-9DC9-4C6F-949D-86BFCDAE44E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Nur autorisierte, aktuelle Quellen in den begrenzten Kontext aufnehmen.</a:t>
            </a:r>
          </a:p>
        </p:txBody>
      </p:sp>
      <p:sp>
        <p:nvSpPr>
          <p:cNvPr id="4" name="text-3">
            <a:extLst xmlns:a="http://schemas.openxmlformats.org/drawingml/2006/main">
              <a:ext uri="{FF2B5EF4-FFF2-40B4-BE49-F238E27FC236}">
                <a16:creationId xmlns:a16="http://schemas.microsoft.com/office/drawing/2014/main" id="{34508ACD-9715-4B14-A75C-731AC1751B8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Claimprüfung</a:t>
            </a:r>
          </a:p>
        </p:txBody>
      </p:sp>
      <p:sp>
        <p:nvSpPr>
          <p:cNvPr id="5" name="text-4">
            <a:extLst xmlns:a="http://schemas.openxmlformats.org/drawingml/2006/main">
              <a:ext uri="{FF2B5EF4-FFF2-40B4-BE49-F238E27FC236}">
                <a16:creationId xmlns:a16="http://schemas.microsoft.com/office/drawing/2014/main" id="{418E2711-3E6A-473E-A31A-4FFBE892658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jeden akzeptierten Satz eine stützende Quellenstelle im tatsächlich gelieferten Kontext prüfen.</a:t>
            </a:r>
          </a:p>
        </p:txBody>
      </p:sp>
      <p:sp>
        <p:nvSpPr>
          <p:cNvPr id="6" name="text-5">
            <a:extLst xmlns:a="http://schemas.openxmlformats.org/drawingml/2006/main">
              <a:ext uri="{FF2B5EF4-FFF2-40B4-BE49-F238E27FC236}">
                <a16:creationId xmlns:a16="http://schemas.microsoft.com/office/drawing/2014/main" id="{E7C4FE25-D9DB-4708-9B68-DFDAF33EB687}"/>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Nichtantwort</a:t>
            </a:r>
          </a:p>
        </p:txBody>
      </p:sp>
      <p:sp>
        <p:nvSpPr>
          <p:cNvPr id="7" name="text-6">
            <a:extLst xmlns:a="http://schemas.openxmlformats.org/drawingml/2006/main">
              <a:ext uri="{FF2B5EF4-FFF2-40B4-BE49-F238E27FC236}">
                <a16:creationId xmlns:a16="http://schemas.microsoft.com/office/drawing/2014/main" id="{EC54A99E-E149-4818-B27E-887D1238F10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Fehlende Evidenz und widersprüchliche aktuelle Quellen ausdrücklich benennen.</a:t>
            </a:r>
          </a:p>
        </p:txBody>
      </p:sp>
      <p:sp>
        <p:nvSpPr>
          <p:cNvPr id="8" name="text-7">
            <a:extLst xmlns:a="http://schemas.openxmlformats.org/drawingml/2006/main">
              <a:ext uri="{FF2B5EF4-FFF2-40B4-BE49-F238E27FC236}">
                <a16:creationId xmlns:a16="http://schemas.microsoft.com/office/drawing/2014/main" id="{D8C9C3AD-451F-4693-817C-53B77F9D240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Ein vorhandener Quellenlink allein beweist den zugehörigen Satz nicht.</a:t>
            </a:r>
          </a:p>
        </p:txBody>
      </p:sp>
      <p:sp>
        <p:nvSpPr>
          <p:cNvPr id="9" name="text-8">
            <a:extLst xmlns:a="http://schemas.openxmlformats.org/drawingml/2006/main">
              <a:ext uri="{FF2B5EF4-FFF2-40B4-BE49-F238E27FC236}">
                <a16:creationId xmlns:a16="http://schemas.microsoft.com/office/drawing/2014/main" id="{89BB4203-83FB-4CCA-95CA-E2CCAE790C9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33 · Quellfolie 45 · CUR-017</a:t>
            </a:r>
          </a:p>
        </p:txBody>
      </p:sp>
    </p:spTree>
    <p:extLst>
      <p:ext uri="{BB962C8B-B14F-4D97-AF65-F5344CB8AC3E}">
        <p14:creationId xmlns:p14="http://schemas.microsoft.com/office/powerpoint/2010/main" val="18406465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1133447-A81B-4675-AA75-82F0F3C695A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QRY-018: Vier Quellenentscheidungen</a:t>
            </a:r>
          </a:p>
        </p:txBody>
      </p:sp>
      <p:graphicFrame>
        <p:nvGraphicFramePr>
          <p:cNvPr id="2" name="">
            <a:extLst xmlns:a="http://schemas.openxmlformats.org/drawingml/2006/main">
              <a:ext uri="{FF2B5EF4-FFF2-40B4-BE49-F238E27FC236}">
                <a16:creationId xmlns:a16="http://schemas.microsoft.com/office/drawing/2014/main" id="{E6049AE5-ACCC-4053-BB53-E04986BB16EF}"/>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095750"/>
                <a:gridCol w="2190750"/>
                <a:gridCol w="4381500"/>
              </a:tblGrid>
              <a:tr h="800100">
                <a:tc>
                  <a:txBody>
                    <a:bodyPr/>
                    <a:lstStyle/>
                    <a:p>
                      <a:r>
                        <a:rPr sz="1800" b="1">
                          <a:solidFill>
                            <a:srgbClr val="15283D"/>
                          </a:solidFill>
                          <a:latin typeface="Arial"/>
                          <a:ea typeface="Arial"/>
                          <a:cs typeface="Arial"/>
                        </a:rPr>
                        <a:t>Fixture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Entscheidung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Begründung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Aktuelle Sieben-Tage-Quelle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ACCEPTED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Stützende Quelle im erlaubten Kontext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Zitat außerhalb des Kontexts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REJECTED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Existenz des Zitats genügt nicht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Kein ausreichender Kontext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Begründete Nichtantwort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Sieben und neun Tage aktuell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Widerspruch zwischen erlaubten Quellen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2E629F96-DE22-42B0-BB1D-BFF6256EE44E}"/>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Antwortfixtures und Claimprüfung, keine Livegeneration.</a:t>
            </a:r>
          </a:p>
        </p:txBody>
      </p:sp>
      <p:sp>
        <p:nvSpPr>
          <p:cNvPr id="4" name="text-2">
            <a:extLst xmlns:a="http://schemas.openxmlformats.org/drawingml/2006/main">
              <a:ext uri="{FF2B5EF4-FFF2-40B4-BE49-F238E27FC236}">
                <a16:creationId xmlns:a16="http://schemas.microsoft.com/office/drawing/2014/main" id="{F13C6ED7-81BA-4331-AA88-A808AF761B0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34 · Quellfolie 46 · CUR-017 / CUR-022</a:t>
            </a:r>
          </a:p>
        </p:txBody>
      </p:sp>
    </p:spTree>
    <p:extLst>
      <p:ext uri="{BB962C8B-B14F-4D97-AF65-F5344CB8AC3E}">
        <p14:creationId xmlns:p14="http://schemas.microsoft.com/office/powerpoint/2010/main" val="64241642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A1E354DA-23AC-4A0F-BB91-E8BD7069DB3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Modellpfade und ihre Freigaben</a:t>
            </a:r>
          </a:p>
        </p:txBody>
      </p:sp>
      <p:graphicFrame>
        <p:nvGraphicFramePr>
          <p:cNvPr id="2" name="">
            <a:extLst xmlns:a="http://schemas.openxmlformats.org/drawingml/2006/main">
              <a:ext uri="{FF2B5EF4-FFF2-40B4-BE49-F238E27FC236}">
                <a16:creationId xmlns:a16="http://schemas.microsoft.com/office/drawing/2014/main" id="{84C0F92C-185B-4AF5-9236-D453B6353D36}"/>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048000"/>
                <a:gridCol w="3905250"/>
                <a:gridCol w="3714750"/>
              </a:tblGrid>
              <a:tr h="800100">
                <a:tc>
                  <a:txBody>
                    <a:bodyPr/>
                    <a:lstStyle/>
                    <a:p>
                      <a:r>
                        <a:rPr sz="1800" b="1">
                          <a:solidFill>
                            <a:srgbClr val="15283D"/>
                          </a:solidFill>
                          <a:latin typeface="Arial"/>
                          <a:ea typeface="Arial"/>
                          <a:cs typeface="Arial"/>
                        </a:rPr>
                        <a:t>Pfad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er zeigt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Geometrie und Offlinefixtures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SQL-Mechanik und feste Kontrollfälle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Keine echte Sprachsemantik oder 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QRY-020: lokaler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echte Embeddings über Ollama</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Verschlüsselung (TLS), Schnittstelle und Laufzeit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QRY-021: externer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externe Embeddings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Egress, Secrets und Geldbudget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QRY-022: Modellformat ONNX</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Open Neural Network Exchange für lokale 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Windows und ML Services, Rot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9035181-C180-4406-9316-54FF947E563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35 · Quellfolie 40 · CUR-016</a:t>
            </a:r>
          </a:p>
        </p:txBody>
      </p:sp>
    </p:spTree>
    <p:extLst>
      <p:ext uri="{BB962C8B-B14F-4D97-AF65-F5344CB8AC3E}">
        <p14:creationId xmlns:p14="http://schemas.microsoft.com/office/powerpoint/2010/main" val="125567457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99DB53C-F4D3-4585-9FDB-195059C3F7A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Exakte und näherungsweise Vektorsuche</a:t>
            </a:r>
          </a:p>
        </p:txBody>
      </p:sp>
      <p:graphicFrame>
        <p:nvGraphicFramePr>
          <p:cNvPr id="2" name="">
            <a:extLst xmlns:a="http://schemas.openxmlformats.org/drawingml/2006/main">
              <a:ext uri="{FF2B5EF4-FFF2-40B4-BE49-F238E27FC236}">
                <a16:creationId xmlns:a16="http://schemas.microsoft.com/office/drawing/2014/main" id="{7F9E2338-CE31-4E96-BF53-68A5B45F14A4}"/>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571750"/>
                <a:gridCol w="4000500"/>
                <a:gridCol w="4095750"/>
              </a:tblGrid>
              <a:tr h="800100">
                <a:tc>
                  <a:txBody>
                    <a:bodyPr/>
                    <a:lstStyle/>
                    <a:p>
                      <a:r>
                        <a:rPr sz="1800" b="1">
                          <a:solidFill>
                            <a:srgbClr val="15283D"/>
                          </a:solidFill>
                          <a:latin typeface="Arial"/>
                          <a:ea typeface="Arial"/>
                          <a:cs typeface="Arial"/>
                        </a:rPr>
                        <a:t>Eigenschaft</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Exact Distance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ANN (Approximate Nearest Neighbor)</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Suchvertrag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Distanzen der erlaubten Kandidaten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Näherungsweise Nachbarsuche; Index/Fallback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Qualität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Deterministisches Top-k mit Tie-Regel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Recall@k gegen dasselbe Exact-Oracle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Planbeleg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Tatsächlichen Zugriff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Indexnutzung und Filterwirkung belegen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SQL-2025-Grenze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VECTOR_DISTANCE nutzt keinen Vector Index</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Preview. Generation und Build binden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1A3F6213-25B4-4FCA-9793-6EE60C23FAC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Recall@k = gemeinsame Exact-/ANN-Treffer ÷ k. Fachliche Relevanz benötigt eigene Urteile.</a:t>
            </a:r>
          </a:p>
        </p:txBody>
      </p:sp>
      <p:sp>
        <p:nvSpPr>
          <p:cNvPr id="4" name="text-2">
            <a:extLst xmlns:a="http://schemas.openxmlformats.org/drawingml/2006/main">
              <a:ext uri="{FF2B5EF4-FFF2-40B4-BE49-F238E27FC236}">
                <a16:creationId xmlns:a16="http://schemas.microsoft.com/office/drawing/2014/main" id="{076A0668-40BE-4750-8AC2-823071CE648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36 · Quellfolie 51 · CUR-019</a:t>
            </a:r>
          </a:p>
        </p:txBody>
      </p:sp>
    </p:spTree>
    <p:extLst>
      <p:ext uri="{BB962C8B-B14F-4D97-AF65-F5344CB8AC3E}">
        <p14:creationId xmlns:p14="http://schemas.microsoft.com/office/powerpoint/2010/main" val="107357379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9533ADF-1C77-461E-880C-A157B1454F0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Messbereiche und Gegenproben</a:t>
            </a:r>
          </a:p>
        </p:txBody>
      </p:sp>
      <p:graphicFrame>
        <p:nvGraphicFramePr>
          <p:cNvPr id="2" name="">
            <a:extLst xmlns:a="http://schemas.openxmlformats.org/drawingml/2006/main">
              <a:ext uri="{FF2B5EF4-FFF2-40B4-BE49-F238E27FC236}">
                <a16:creationId xmlns:a16="http://schemas.microsoft.com/office/drawing/2014/main" id="{E98E7407-3802-4C45-9A1F-0BA6B50614D4}"/>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381250"/>
                <a:gridCol w="4476750"/>
                <a:gridCol w="3810000"/>
              </a:tblGrid>
              <a:tr h="800100">
                <a:tc>
                  <a:txBody>
                    <a:bodyPr/>
                    <a:lstStyle/>
                    <a:p>
                      <a:r>
                        <a:rPr sz="1800" b="1">
                          <a:solidFill>
                            <a:srgbClr val="15283D"/>
                          </a:solidFill>
                          <a:latin typeface="Arial"/>
                          <a:ea typeface="Arial"/>
                          <a:cs typeface="Arial"/>
                        </a:rPr>
                        <a:t>Messbereich</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Evidenz</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Aussagegrenze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SQL-Arbeit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Prozessorzeit (CPU), Lesezugriffe, Resultate und Actual Plan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Queryscope und Counterauflösung nennen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Requestdauer, Fehler und Throughput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p50/p95/p99 brauchen Einzelrequests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Netz-, Modellzeit, Token und Retry</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SQL-Duration isoliert diese Anteile nicht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Vergleich</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AB/BA, AA, gleiche Quelle und Konfiguration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Warmups, Nullen und Ausreißer erhalten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72A27D9-F082-45DC-B9A7-0A13BC3FEBA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Fehlender Wert, gemessene Null und nicht erfasste Evidenz bleiben verschieden.</a:t>
            </a:r>
          </a:p>
        </p:txBody>
      </p:sp>
      <p:sp>
        <p:nvSpPr>
          <p:cNvPr id="4" name="text-2">
            <a:extLst xmlns:a="http://schemas.openxmlformats.org/drawingml/2006/main">
              <a:ext uri="{FF2B5EF4-FFF2-40B4-BE49-F238E27FC236}">
                <a16:creationId xmlns:a16="http://schemas.microsoft.com/office/drawing/2014/main" id="{447F4F8E-DBFE-4593-B70F-C1BF6285218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37 · Quellfolie 54 · CUR-020 / CUR-021</a:t>
            </a:r>
          </a:p>
        </p:txBody>
      </p:sp>
    </p:spTree>
    <p:extLst>
      <p:ext uri="{BB962C8B-B14F-4D97-AF65-F5344CB8AC3E}">
        <p14:creationId xmlns:p14="http://schemas.microsoft.com/office/powerpoint/2010/main" val="102474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8D7DD9E-CBCB-4631-B0EB-D6F4793B250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KI-Assistenz für SQL-Entwicklung und Analyse</a:t>
            </a:r>
          </a:p>
        </p:txBody>
      </p:sp>
      <p:sp>
        <p:nvSpPr>
          <p:cNvPr id="2" name="text-1">
            <a:extLst xmlns:a="http://schemas.openxmlformats.org/drawingml/2006/main">
              <a:ext uri="{FF2B5EF4-FFF2-40B4-BE49-F238E27FC236}">
                <a16:creationId xmlns:a16="http://schemas.microsoft.com/office/drawing/2014/main" id="{8EACA59D-00F3-4ED4-B811-67E0BC4C8F3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Entwurf</a:t>
            </a:r>
          </a:p>
        </p:txBody>
      </p:sp>
      <p:sp>
        <p:nvSpPr>
          <p:cNvPr id="3" name="text-2">
            <a:extLst xmlns:a="http://schemas.openxmlformats.org/drawingml/2006/main">
              <a:ext uri="{FF2B5EF4-FFF2-40B4-BE49-F238E27FC236}">
                <a16:creationId xmlns:a16="http://schemas.microsoft.com/office/drawing/2014/main" id="{DA40CA81-DCA0-4EB3-A5E7-55FB694871DF}"/>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 erklären, eine Fehlerhypothese formulieren oder einen begrenzten Änderungsvorschlag erzeugen.</a:t>
            </a:r>
          </a:p>
        </p:txBody>
      </p:sp>
      <p:sp>
        <p:nvSpPr>
          <p:cNvPr id="4" name="text-3">
            <a:extLst xmlns:a="http://schemas.openxmlformats.org/drawingml/2006/main">
              <a:ext uri="{FF2B5EF4-FFF2-40B4-BE49-F238E27FC236}">
                <a16:creationId xmlns:a16="http://schemas.microsoft.com/office/drawing/2014/main" id="{F22CA86E-6639-4A29-8E7E-EEADDC8C319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Evidenz</a:t>
            </a:r>
          </a:p>
        </p:txBody>
      </p:sp>
      <p:sp>
        <p:nvSpPr>
          <p:cNvPr id="5" name="text-4">
            <a:extLst xmlns:a="http://schemas.openxmlformats.org/drawingml/2006/main">
              <a:ext uri="{FF2B5EF4-FFF2-40B4-BE49-F238E27FC236}">
                <a16:creationId xmlns:a16="http://schemas.microsoft.com/office/drawing/2014/main" id="{B27FEBDB-A075-40E1-847C-64F0ADAF808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Version, Resultate, Actual Plan, Query Store, Waits und konkrete Rechte passend zum Fall prüfen.</a:t>
            </a:r>
          </a:p>
        </p:txBody>
      </p:sp>
      <p:sp>
        <p:nvSpPr>
          <p:cNvPr id="6" name="text-5">
            <a:extLst xmlns:a="http://schemas.openxmlformats.org/drawingml/2006/main">
              <a:ext uri="{FF2B5EF4-FFF2-40B4-BE49-F238E27FC236}">
                <a16:creationId xmlns:a16="http://schemas.microsoft.com/office/drawing/2014/main" id="{11DF32E5-027D-4384-B392-55D29D3720D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Entscheidung</a:t>
            </a:r>
          </a:p>
        </p:txBody>
      </p:sp>
      <p:sp>
        <p:nvSpPr>
          <p:cNvPr id="7" name="text-6">
            <a:extLst xmlns:a="http://schemas.openxmlformats.org/drawingml/2006/main">
              <a:ext uri="{FF2B5EF4-FFF2-40B4-BE49-F238E27FC236}">
                <a16:creationId xmlns:a16="http://schemas.microsoft.com/office/drawing/2014/main" id="{41B0789D-9075-4438-8434-3BD122345B51}"/>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Hypothese mit Gegenprobe widerlegen können. Lesegewinn gegen DML-, Build- und Storagekosten abwägen.</a:t>
            </a:r>
          </a:p>
        </p:txBody>
      </p:sp>
      <p:sp>
        <p:nvSpPr>
          <p:cNvPr id="8" name="text-7">
            <a:extLst xmlns:a="http://schemas.openxmlformats.org/drawingml/2006/main">
              <a:ext uri="{FF2B5EF4-FFF2-40B4-BE49-F238E27FC236}">
                <a16:creationId xmlns:a16="http://schemas.microsoft.com/office/drawing/2014/main" id="{ED0CD531-F3DE-45E0-BEDD-E7CDE2C0B034}"/>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LLM-Ausgabe und Missing-Index-Hinweis sind Eingaben für eine Untersuchung.</a:t>
            </a:r>
          </a:p>
        </p:txBody>
      </p:sp>
      <p:sp>
        <p:nvSpPr>
          <p:cNvPr id="9" name="text-8">
            <a:extLst xmlns:a="http://schemas.openxmlformats.org/drawingml/2006/main">
              <a:ext uri="{FF2B5EF4-FFF2-40B4-BE49-F238E27FC236}">
                <a16:creationId xmlns:a16="http://schemas.microsoft.com/office/drawing/2014/main" id="{33E6BD9A-8596-4E4C-B91F-088D9F6CDE0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38 · Quellfolie 57 · CUR-021</a:t>
            </a:r>
          </a:p>
        </p:txBody>
      </p:sp>
    </p:spTree>
    <p:extLst>
      <p:ext uri="{BB962C8B-B14F-4D97-AF65-F5344CB8AC3E}">
        <p14:creationId xmlns:p14="http://schemas.microsoft.com/office/powerpoint/2010/main" val="196974043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FD10425-C761-464B-9DF8-F06D78FD5B3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Entscheidung und Transferaufgabe</a:t>
            </a:r>
          </a:p>
        </p:txBody>
      </p:sp>
      <p:sp>
        <p:nvSpPr>
          <p:cNvPr id="2" name="text-1">
            <a:extLst xmlns:a="http://schemas.openxmlformats.org/drawingml/2006/main">
              <a:ext uri="{FF2B5EF4-FFF2-40B4-BE49-F238E27FC236}">
                <a16:creationId xmlns:a16="http://schemas.microsoft.com/office/drawing/2014/main" id="{45B9309C-BE0B-4CDC-B4D4-61A99892D26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Fall</a:t>
            </a:r>
          </a:p>
        </p:txBody>
      </p:sp>
      <p:sp>
        <p:nvSpPr>
          <p:cNvPr id="3" name="text-2">
            <a:extLst xmlns:a="http://schemas.openxmlformats.org/drawingml/2006/main">
              <a:ext uri="{FF2B5EF4-FFF2-40B4-BE49-F238E27FC236}">
                <a16:creationId xmlns:a16="http://schemas.microsoft.com/office/drawing/2014/main" id="{62F957DA-4885-454D-9850-B851A97F299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Zwei aktuelle zugelassene Quellen nennen verschiedene Aufbewahrungsdauern.</a:t>
            </a:r>
          </a:p>
        </p:txBody>
      </p:sp>
      <p:sp>
        <p:nvSpPr>
          <p:cNvPr id="4" name="text-3">
            <a:extLst xmlns:a="http://schemas.openxmlformats.org/drawingml/2006/main">
              <a:ext uri="{FF2B5EF4-FFF2-40B4-BE49-F238E27FC236}">
                <a16:creationId xmlns:a16="http://schemas.microsoft.com/office/drawing/2014/main" id="{AD03C69C-D5EE-4B16-A248-49BBEB204F33}"/>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Auftrag</a:t>
            </a:r>
          </a:p>
        </p:txBody>
      </p:sp>
      <p:sp>
        <p:nvSpPr>
          <p:cNvPr id="5" name="text-4">
            <a:extLst xmlns:a="http://schemas.openxmlformats.org/drawingml/2006/main">
              <a:ext uri="{FF2B5EF4-FFF2-40B4-BE49-F238E27FC236}">
                <a16:creationId xmlns:a16="http://schemas.microsoft.com/office/drawing/2014/main" id="{E96C0B58-ACE7-462B-A910-74AF77655B0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Herkunft, Fassung und erlaubten Kontext prüfen. Den Widerspruch ausdrücklich benennen.</a:t>
            </a:r>
          </a:p>
        </p:txBody>
      </p:sp>
      <p:sp>
        <p:nvSpPr>
          <p:cNvPr id="6" name="text-5">
            <a:extLst xmlns:a="http://schemas.openxmlformats.org/drawingml/2006/main">
              <a:ext uri="{FF2B5EF4-FFF2-40B4-BE49-F238E27FC236}">
                <a16:creationId xmlns:a16="http://schemas.microsoft.com/office/drawing/2014/main" id="{E180A0D6-E570-431D-A163-AEF468D9141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Abgabe</a:t>
            </a:r>
          </a:p>
        </p:txBody>
      </p:sp>
      <p:sp>
        <p:nvSpPr>
          <p:cNvPr id="7" name="text-6">
            <a:extLst xmlns:a="http://schemas.openxmlformats.org/drawingml/2006/main">
              <a:ext uri="{FF2B5EF4-FFF2-40B4-BE49-F238E27FC236}">
                <a16:creationId xmlns:a16="http://schemas.microsoft.com/office/drawing/2014/main" id="{F52D4B07-B3F4-49E9-A6D2-B1C42B75F6B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begründete Nichtantwort und den nächsten fachlichen Klärungsschritt formulieren.</a:t>
            </a:r>
          </a:p>
        </p:txBody>
      </p:sp>
      <p:sp>
        <p:nvSpPr>
          <p:cNvPr id="8" name="text-7">
            <a:extLst xmlns:a="http://schemas.openxmlformats.org/drawingml/2006/main">
              <a:ext uri="{FF2B5EF4-FFF2-40B4-BE49-F238E27FC236}">
                <a16:creationId xmlns:a16="http://schemas.microsoft.com/office/drawing/2014/main" id="{EE920261-01E8-48A8-AE86-296D48D65EB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BASIS: zwei Arbeitsheftaufgaben mit höchstens vier Punkten. Die Transferbesprechung ist unbewertet.</a:t>
            </a:r>
          </a:p>
        </p:txBody>
      </p:sp>
      <p:sp>
        <p:nvSpPr>
          <p:cNvPr id="9" name="text-8">
            <a:extLst xmlns:a="http://schemas.openxmlformats.org/drawingml/2006/main">
              <a:ext uri="{FF2B5EF4-FFF2-40B4-BE49-F238E27FC236}">
                <a16:creationId xmlns:a16="http://schemas.microsoft.com/office/drawing/2014/main" id="{6916F814-DF9C-4517-B2D0-A8647C56BCB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BASIS 39 · Quellfolie 61 · CUR-022</a:t>
            </a:r>
          </a:p>
        </p:txBody>
      </p:sp>
    </p:spTree>
    <p:extLst>
      <p:ext uri="{BB962C8B-B14F-4D97-AF65-F5344CB8AC3E}">
        <p14:creationId xmlns:p14="http://schemas.microsoft.com/office/powerpoint/2010/main" val="17650977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ep:Properties xmlns:ep="http://schemas.openxmlformats.org/officeDocument/2006/extended-properties">
  <ep:Application>Walnut Exporter</ep:Application>
  <ep:PresentationFormat>Converted Presentation</ep:PresentationFormat>
  <ep:Slides>0</ep:Slides>
  <ep:Notes>0</ep:Notes>
  <ep:HiddenSlides>0</ep:HiddenSlides>
  <ep:SharedDoc>false</ep:SharedDoc>
  <ep:DocSecurity>0</ep:DocSecurity>
</ep:Properties>
</file>

<file path=docProps/core.xml><?xml version="1.0" encoding="utf-8"?>
<cp:coreProperties xmlns:cp="http://schemas.openxmlformats.org/package/2006/metadata/core-properties" xmlns:dc="http://purl.org/dc/elements/1.1/" xmlns:dcterms="http://purl.org/dc/terms/" xmlns:xsi="http://www.w3.org/2001/XMLSchema-instance">
  <dc:creator/>
  <cp:lastModifiedBy/>
  <dc:title>Presentation</dc:title>
  <dcterms:created xsi:type="dcterms:W3CDTF">2026-10-21T08:05:29.0290000Z</dcterms:created>
  <dcterms:modified xsi:type="dcterms:W3CDTF">2026-10-21T08:05:29.0290000Z</dcterms:modified>
</cp:coreProperties>
</file>