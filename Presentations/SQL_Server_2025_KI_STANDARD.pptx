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Types>
</file>

<file path=_rels/.rels><?xml version='1.0' encoding='utf-8'?>
<Relationships xmlns="http://schemas.openxmlformats.org/package/2006/relationships"><Relationship Type="http://schemas.openxmlformats.org/package/2006/relationships/metadata/core-properties" Target="/docProps/core.xml" Id="R2c1ea4c367634c3e" /><Relationship Type="http://schemas.openxmlformats.org/officeDocument/2006/relationships/extended-properties" Target="/docProps/app.xml" Id="Rbb4161dd410949b4" /><Relationship Type="http://schemas.openxmlformats.org/officeDocument/2006/relationships/officeDocument" Target="/ppt/presentation.xml" Id="R0c2acc1b29084dbf" /></Relationships>
</file>

<file path=ppt/presentation.xml><?xml version="1.0" encoding="utf-8"?>
<p:presentation xmlns:p="http://schemas.openxmlformats.org/presentationml/2006/main">
  <p:sldMasterIdLst>
    <p:sldMasterId xmlns:r="http://schemas.openxmlformats.org/officeDocument/2006/relationships" id="2147483648" r:id="Re858bfa644444c6e"/>
  </p:sldMasterIdLst>
  <p:notesMasterIdLst>
    <p:notesMasterId xmlns:r="http://schemas.openxmlformats.org/officeDocument/2006/relationships" r:id="Rd5cbb5a390a54e08"/>
  </p:notesMasterIdLst>
  <p:sldIdLst>
    <p:sldId xmlns:r="http://schemas.openxmlformats.org/officeDocument/2006/relationships" id="256" r:id="Rfcf69bb11f6e42ef"/>
    <p:sldId xmlns:r="http://schemas.openxmlformats.org/officeDocument/2006/relationships" id="257" r:id="Rbd611222682345fc"/>
    <p:sldId xmlns:r="http://schemas.openxmlformats.org/officeDocument/2006/relationships" id="258" r:id="R00554b9d12594d85"/>
    <p:sldId xmlns:r="http://schemas.openxmlformats.org/officeDocument/2006/relationships" id="259" r:id="R1ad95faccc204ab7"/>
    <p:sldId xmlns:r="http://schemas.openxmlformats.org/officeDocument/2006/relationships" id="260" r:id="R9d24112423aa4eb2"/>
    <p:sldId xmlns:r="http://schemas.openxmlformats.org/officeDocument/2006/relationships" id="261" r:id="R583762dca5284cee"/>
    <p:sldId xmlns:r="http://schemas.openxmlformats.org/officeDocument/2006/relationships" id="262" r:id="R03d5e2ea1b664cba"/>
    <p:sldId xmlns:r="http://schemas.openxmlformats.org/officeDocument/2006/relationships" id="263" r:id="R455f120c340b4162"/>
    <p:sldId xmlns:r="http://schemas.openxmlformats.org/officeDocument/2006/relationships" id="264" r:id="R12e5a38a57ac4929"/>
    <p:sldId xmlns:r="http://schemas.openxmlformats.org/officeDocument/2006/relationships" id="265" r:id="R2bd38663e98b47b2"/>
    <p:sldId xmlns:r="http://schemas.openxmlformats.org/officeDocument/2006/relationships" id="266" r:id="R51437be54d514cb0"/>
    <p:sldId xmlns:r="http://schemas.openxmlformats.org/officeDocument/2006/relationships" id="267" r:id="R5c660a0820064a11"/>
    <p:sldId xmlns:r="http://schemas.openxmlformats.org/officeDocument/2006/relationships" id="268" r:id="Re41d32d4c47a45b6"/>
    <p:sldId xmlns:r="http://schemas.openxmlformats.org/officeDocument/2006/relationships" id="269" r:id="R7c12d4f7dc0941d0"/>
    <p:sldId xmlns:r="http://schemas.openxmlformats.org/officeDocument/2006/relationships" id="270" r:id="R724691d2796d4c8a"/>
    <p:sldId xmlns:r="http://schemas.openxmlformats.org/officeDocument/2006/relationships" id="271" r:id="R26de0cebe7634553"/>
    <p:sldId xmlns:r="http://schemas.openxmlformats.org/officeDocument/2006/relationships" id="272" r:id="Ra97558eb31ce44fc"/>
    <p:sldId xmlns:r="http://schemas.openxmlformats.org/officeDocument/2006/relationships" id="273" r:id="R3d501c09295e44a5"/>
    <p:sldId xmlns:r="http://schemas.openxmlformats.org/officeDocument/2006/relationships" id="274" r:id="R5e32c0e7e5784d24"/>
    <p:sldId xmlns:r="http://schemas.openxmlformats.org/officeDocument/2006/relationships" id="275" r:id="R3fcd7a0fa4df42ce"/>
    <p:sldId xmlns:r="http://schemas.openxmlformats.org/officeDocument/2006/relationships" id="276" r:id="R4cf857ab436949bc"/>
    <p:sldId xmlns:r="http://schemas.openxmlformats.org/officeDocument/2006/relationships" id="277" r:id="R58988071ce0649d2"/>
    <p:sldId xmlns:r="http://schemas.openxmlformats.org/officeDocument/2006/relationships" id="278" r:id="Rbad554e00c9b4469"/>
    <p:sldId xmlns:r="http://schemas.openxmlformats.org/officeDocument/2006/relationships" id="279" r:id="R283d481635de43be"/>
    <p:sldId xmlns:r="http://schemas.openxmlformats.org/officeDocument/2006/relationships" id="280" r:id="R4d67191e6d3c458e"/>
    <p:sldId xmlns:r="http://schemas.openxmlformats.org/officeDocument/2006/relationships" id="281" r:id="R8a64579c921f4ffe"/>
    <p:sldId xmlns:r="http://schemas.openxmlformats.org/officeDocument/2006/relationships" id="282" r:id="R5d893d37f7b8456d"/>
    <p:sldId xmlns:r="http://schemas.openxmlformats.org/officeDocument/2006/relationships" id="283" r:id="R21e3c2d75f6d438c"/>
    <p:sldId xmlns:r="http://schemas.openxmlformats.org/officeDocument/2006/relationships" id="284" r:id="Rd46eaf51d1334994"/>
    <p:sldId xmlns:r="http://schemas.openxmlformats.org/officeDocument/2006/relationships" id="285" r:id="R12338ca9e5b346d0"/>
    <p:sldId xmlns:r="http://schemas.openxmlformats.org/officeDocument/2006/relationships" id="286" r:id="R9c14e5d51d244daa"/>
    <p:sldId xmlns:r="http://schemas.openxmlformats.org/officeDocument/2006/relationships" id="287" r:id="Rad2f14ba56b84708"/>
    <p:sldId xmlns:r="http://schemas.openxmlformats.org/officeDocument/2006/relationships" id="288" r:id="R8b4f470eebd44c9f"/>
    <p:sldId xmlns:r="http://schemas.openxmlformats.org/officeDocument/2006/relationships" id="289" r:id="Rfd282b27957940e0"/>
    <p:sldId xmlns:r="http://schemas.openxmlformats.org/officeDocument/2006/relationships" id="290" r:id="R49fcc217de9543c3"/>
    <p:sldId xmlns:r="http://schemas.openxmlformats.org/officeDocument/2006/relationships" id="291" r:id="Rd85c45964f3a4333"/>
    <p:sldId xmlns:r="http://schemas.openxmlformats.org/officeDocument/2006/relationships" id="292" r:id="Rb262a24982034b9e"/>
    <p:sldId xmlns:r="http://schemas.openxmlformats.org/officeDocument/2006/relationships" id="293" r:id="Ra4cc1cff289547b5"/>
    <p:sldId xmlns:r="http://schemas.openxmlformats.org/officeDocument/2006/relationships" id="294" r:id="R464f78dfcad04e3b"/>
    <p:sldId xmlns:r="http://schemas.openxmlformats.org/officeDocument/2006/relationships" id="295" r:id="Rebe390b1381d4ac9"/>
    <p:sldId xmlns:r="http://schemas.openxmlformats.org/officeDocument/2006/relationships" id="296" r:id="Rc0b32bf62ab840db"/>
    <p:sldId xmlns:r="http://schemas.openxmlformats.org/officeDocument/2006/relationships" id="297" r:id="R9e9a9c4b479546dd"/>
    <p:sldId xmlns:r="http://schemas.openxmlformats.org/officeDocument/2006/relationships" id="298" r:id="Rce4468d685b348fd"/>
    <p:sldId xmlns:r="http://schemas.openxmlformats.org/officeDocument/2006/relationships" id="299" r:id="R299476bde012484b"/>
    <p:sldId xmlns:r="http://schemas.openxmlformats.org/officeDocument/2006/relationships" id="300" r:id="R306a6682f74843f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43d3ff534724881" /><Relationship Type="http://schemas.openxmlformats.org/officeDocument/2006/relationships/slideMaster" Target="/ppt/slideMasters/slideMaster1.xml" Id="Re858bfa644444c6e" /><Relationship Type="http://schemas.openxmlformats.org/officeDocument/2006/relationships/notesMaster" Target="/ppt/notesMasters/notesMaster1.xml" Id="Rd5cbb5a390a54e08" /><Relationship Type="http://schemas.openxmlformats.org/officeDocument/2006/relationships/presProps" Target="/ppt/presProps.xml" Id="Rd3f358f055b243df" /><Relationship Type="http://schemas.openxmlformats.org/officeDocument/2006/relationships/tableStyles" Target="/ppt/tableStyles.xml" Id="Ra69447f2af39442e" /><Relationship Type="http://schemas.openxmlformats.org/officeDocument/2006/relationships/slide" Target="/ppt/slides/slide1.xml" Id="Rfcf69bb11f6e42ef" /><Relationship Type="http://schemas.openxmlformats.org/officeDocument/2006/relationships/slide" Target="/ppt/slides/slide2.xml" Id="Rbd611222682345fc" /><Relationship Type="http://schemas.openxmlformats.org/officeDocument/2006/relationships/slide" Target="/ppt/slides/slide3.xml" Id="R00554b9d12594d85" /><Relationship Type="http://schemas.openxmlformats.org/officeDocument/2006/relationships/slide" Target="/ppt/slides/slide4.xml" Id="R1ad95faccc204ab7" /><Relationship Type="http://schemas.openxmlformats.org/officeDocument/2006/relationships/slide" Target="/ppt/slides/slide5.xml" Id="R9d24112423aa4eb2" /><Relationship Type="http://schemas.openxmlformats.org/officeDocument/2006/relationships/slide" Target="/ppt/slides/slide6.xml" Id="R583762dca5284cee" /><Relationship Type="http://schemas.openxmlformats.org/officeDocument/2006/relationships/slide" Target="/ppt/slides/slide7.xml" Id="R03d5e2ea1b664cba" /><Relationship Type="http://schemas.openxmlformats.org/officeDocument/2006/relationships/slide" Target="/ppt/slides/slide8.xml" Id="R455f120c340b4162" /><Relationship Type="http://schemas.openxmlformats.org/officeDocument/2006/relationships/slide" Target="/ppt/slides/slide9.xml" Id="R12e5a38a57ac4929" /><Relationship Type="http://schemas.openxmlformats.org/officeDocument/2006/relationships/slide" Target="/ppt/slides/slide10.xml" Id="R2bd38663e98b47b2" /><Relationship Type="http://schemas.openxmlformats.org/officeDocument/2006/relationships/slide" Target="/ppt/slides/slide11.xml" Id="R51437be54d514cb0" /><Relationship Type="http://schemas.openxmlformats.org/officeDocument/2006/relationships/slide" Target="/ppt/slides/slide12.xml" Id="R5c660a0820064a11" /><Relationship Type="http://schemas.openxmlformats.org/officeDocument/2006/relationships/slide" Target="/ppt/slides/slide13.xml" Id="Re41d32d4c47a45b6" /><Relationship Type="http://schemas.openxmlformats.org/officeDocument/2006/relationships/slide" Target="/ppt/slides/slide14.xml" Id="R7c12d4f7dc0941d0" /><Relationship Type="http://schemas.openxmlformats.org/officeDocument/2006/relationships/slide" Target="/ppt/slides/slide15.xml" Id="R724691d2796d4c8a" /><Relationship Type="http://schemas.openxmlformats.org/officeDocument/2006/relationships/slide" Target="/ppt/slides/slide16.xml" Id="R26de0cebe7634553" /><Relationship Type="http://schemas.openxmlformats.org/officeDocument/2006/relationships/slide" Target="/ppt/slides/slide17.xml" Id="Ra97558eb31ce44fc" /><Relationship Type="http://schemas.openxmlformats.org/officeDocument/2006/relationships/slide" Target="/ppt/slides/slide18.xml" Id="R3d501c09295e44a5" /><Relationship Type="http://schemas.openxmlformats.org/officeDocument/2006/relationships/slide" Target="/ppt/slides/slide19.xml" Id="R5e32c0e7e5784d24" /><Relationship Type="http://schemas.openxmlformats.org/officeDocument/2006/relationships/slide" Target="/ppt/slides/slide20.xml" Id="R3fcd7a0fa4df42ce" /><Relationship Type="http://schemas.openxmlformats.org/officeDocument/2006/relationships/slide" Target="/ppt/slides/slide21.xml" Id="R4cf857ab436949bc" /><Relationship Type="http://schemas.openxmlformats.org/officeDocument/2006/relationships/slide" Target="/ppt/slides/slide22.xml" Id="R58988071ce0649d2" /><Relationship Type="http://schemas.openxmlformats.org/officeDocument/2006/relationships/slide" Target="/ppt/slides/slide23.xml" Id="Rbad554e00c9b4469" /><Relationship Type="http://schemas.openxmlformats.org/officeDocument/2006/relationships/slide" Target="/ppt/slides/slide24.xml" Id="R283d481635de43be" /><Relationship Type="http://schemas.openxmlformats.org/officeDocument/2006/relationships/slide" Target="/ppt/slides/slide25.xml" Id="R4d67191e6d3c458e" /><Relationship Type="http://schemas.openxmlformats.org/officeDocument/2006/relationships/slide" Target="/ppt/slides/slide26.xml" Id="R8a64579c921f4ffe" /><Relationship Type="http://schemas.openxmlformats.org/officeDocument/2006/relationships/slide" Target="/ppt/slides/slide27.xml" Id="R5d893d37f7b8456d" /><Relationship Type="http://schemas.openxmlformats.org/officeDocument/2006/relationships/slide" Target="/ppt/slides/slide28.xml" Id="R21e3c2d75f6d438c" /><Relationship Type="http://schemas.openxmlformats.org/officeDocument/2006/relationships/slide" Target="/ppt/slides/slide29.xml" Id="Rd46eaf51d1334994" /><Relationship Type="http://schemas.openxmlformats.org/officeDocument/2006/relationships/slide" Target="/ppt/slides/slide30.xml" Id="R12338ca9e5b346d0" /><Relationship Type="http://schemas.openxmlformats.org/officeDocument/2006/relationships/slide" Target="/ppt/slides/slide31.xml" Id="R9c14e5d51d244daa" /><Relationship Type="http://schemas.openxmlformats.org/officeDocument/2006/relationships/slide" Target="/ppt/slides/slide32.xml" Id="Rad2f14ba56b84708" /><Relationship Type="http://schemas.openxmlformats.org/officeDocument/2006/relationships/slide" Target="/ppt/slides/slide33.xml" Id="R8b4f470eebd44c9f" /><Relationship Type="http://schemas.openxmlformats.org/officeDocument/2006/relationships/slide" Target="/ppt/slides/slide34.xml" Id="Rfd282b27957940e0" /><Relationship Type="http://schemas.openxmlformats.org/officeDocument/2006/relationships/slide" Target="/ppt/slides/slide35.xml" Id="R49fcc217de9543c3" /><Relationship Type="http://schemas.openxmlformats.org/officeDocument/2006/relationships/slide" Target="/ppt/slides/slide36.xml" Id="Rd85c45964f3a4333" /><Relationship Type="http://schemas.openxmlformats.org/officeDocument/2006/relationships/slide" Target="/ppt/slides/slide37.xml" Id="Rb262a24982034b9e" /><Relationship Type="http://schemas.openxmlformats.org/officeDocument/2006/relationships/slide" Target="/ppt/slides/slide38.xml" Id="Ra4cc1cff289547b5" /><Relationship Type="http://schemas.openxmlformats.org/officeDocument/2006/relationships/slide" Target="/ppt/slides/slide39.xml" Id="R464f78dfcad04e3b" /><Relationship Type="http://schemas.openxmlformats.org/officeDocument/2006/relationships/slide" Target="/ppt/slides/slide40.xml" Id="Rebe390b1381d4ac9" /><Relationship Type="http://schemas.openxmlformats.org/officeDocument/2006/relationships/slide" Target="/ppt/slides/slide41.xml" Id="Rc0b32bf62ab840db" /><Relationship Type="http://schemas.openxmlformats.org/officeDocument/2006/relationships/slide" Target="/ppt/slides/slide42.xml" Id="R9e9a9c4b479546dd" /><Relationship Type="http://schemas.openxmlformats.org/officeDocument/2006/relationships/slide" Target="/ppt/slides/slide43.xml" Id="Rce4468d685b348fd" /><Relationship Type="http://schemas.openxmlformats.org/officeDocument/2006/relationships/slide" Target="/ppt/slides/slide44.xml" Id="R299476bde012484b" /><Relationship Type="http://schemas.openxmlformats.org/officeDocument/2006/relationships/slide" Target="/ppt/slides/slide45.xml" Id="R306a6682f74843f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c6206b8cdc14cf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3d5fbde633f46d5" /><Relationship Type="http://schemas.openxmlformats.org/officeDocument/2006/relationships/notesMaster" Target="/ppt/notesMasters/notesMaster1.xml" Id="R6f9476dca2d34dc2" /></Relationships>
</file>

<file path=ppt/notesSlides/_rels/notesSlide2.xml.rels>&#65279;<?xml version="1.0" encoding="utf-8"?><Relationships xmlns="http://schemas.openxmlformats.org/package/2006/relationships"><Relationship Type="http://schemas.openxmlformats.org/officeDocument/2006/relationships/slide" Target="/ppt/slides/slide2.xml" Id="R00d99d484c16426c" /><Relationship Type="http://schemas.openxmlformats.org/officeDocument/2006/relationships/notesMaster" Target="/ppt/notesMasters/notesMaster1.xml" Id="Rc78f53921cb34a02" /></Relationships>
</file>

<file path=ppt/notesSlides/_rels/notesSlide3.xml.rels>&#65279;<?xml version="1.0" encoding="utf-8"?><Relationships xmlns="http://schemas.openxmlformats.org/package/2006/relationships"><Relationship Type="http://schemas.openxmlformats.org/officeDocument/2006/relationships/slide" Target="/ppt/slides/slide3.xml" Id="Rb25667411ea94b4c" /><Relationship Type="http://schemas.openxmlformats.org/officeDocument/2006/relationships/notesMaster" Target="/ppt/notesMasters/notesMaster1.xml" Id="Rb5a4fef49e724f41" /></Relationships>
</file>

<file path=ppt/notesSlides/_rels/notesSlide4.xml.rels>&#65279;<?xml version="1.0" encoding="utf-8"?><Relationships xmlns="http://schemas.openxmlformats.org/package/2006/relationships"><Relationship Type="http://schemas.openxmlformats.org/officeDocument/2006/relationships/slide" Target="/ppt/slides/slide4.xml" Id="R715490bda8714569" /><Relationship Type="http://schemas.openxmlformats.org/officeDocument/2006/relationships/notesMaster" Target="/ppt/notesMasters/notesMaster1.xml" Id="R54fa6bff9c4f4369" /></Relationships>
</file>

<file path=ppt/notesSlides/_rels/notesSlide5.xml.rels>&#65279;<?xml version="1.0" encoding="utf-8"?><Relationships xmlns="http://schemas.openxmlformats.org/package/2006/relationships"><Relationship Type="http://schemas.openxmlformats.org/officeDocument/2006/relationships/slide" Target="/ppt/slides/slide5.xml" Id="R284f134636b04671" /><Relationship Type="http://schemas.openxmlformats.org/officeDocument/2006/relationships/notesMaster" Target="/ppt/notesMasters/notesMaster1.xml" Id="Rcc82d4289c074485" /></Relationships>
</file>

<file path=ppt/notesSlides/_rels/notesSlide6.xml.rels>&#65279;<?xml version="1.0" encoding="utf-8"?><Relationships xmlns="http://schemas.openxmlformats.org/package/2006/relationships"><Relationship Type="http://schemas.openxmlformats.org/officeDocument/2006/relationships/slide" Target="/ppt/slides/slide6.xml" Id="R8170fca74d2e4ef5" /><Relationship Type="http://schemas.openxmlformats.org/officeDocument/2006/relationships/notesMaster" Target="/ppt/notesMasters/notesMaster1.xml" Id="R15ca17f830ff4f4d" /></Relationships>
</file>

<file path=ppt/notesSlides/_rels/notesSlide7.xml.rels>&#65279;<?xml version="1.0" encoding="utf-8"?><Relationships xmlns="http://schemas.openxmlformats.org/package/2006/relationships"><Relationship Type="http://schemas.openxmlformats.org/officeDocument/2006/relationships/slide" Target="/ppt/slides/slide7.xml" Id="Rf7468f69b1314c86" /><Relationship Type="http://schemas.openxmlformats.org/officeDocument/2006/relationships/notesMaster" Target="/ppt/notesMasters/notesMaster1.xml" Id="Rc71d9991be914670" /></Relationships>
</file>

<file path=ppt/notesSlides/_rels/notesSlide8.xml.rels>&#65279;<?xml version="1.0" encoding="utf-8"?><Relationships xmlns="http://schemas.openxmlformats.org/package/2006/relationships"><Relationship Type="http://schemas.openxmlformats.org/officeDocument/2006/relationships/slide" Target="/ppt/slides/slide8.xml" Id="R9f7b34bdf32f41ff" /><Relationship Type="http://schemas.openxmlformats.org/officeDocument/2006/relationships/notesMaster" Target="/ppt/notesMasters/notesMaster1.xml" Id="R3318d8a4a6e84be6" /></Relationships>
</file>

<file path=ppt/notesSlides/_rels/notesSlide9.xml.rels>&#65279;<?xml version="1.0" encoding="utf-8"?><Relationships xmlns="http://schemas.openxmlformats.org/package/2006/relationships"><Relationship Type="http://schemas.openxmlformats.org/officeDocument/2006/relationships/slide" Target="/ppt/slides/slide9.xml" Id="Rce3ab876af0f42e8" /><Relationship Type="http://schemas.openxmlformats.org/officeDocument/2006/relationships/notesMaster" Target="/ppt/notesMasters/notesMaster1.xml" Id="R0013a525072a4a4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49c197c6f844c9e" /><Relationship Type="http://schemas.openxmlformats.org/officeDocument/2006/relationships/notesMaster" Target="/ppt/notesMasters/notesMaster1.xml" Id="R43152bf0e6274b7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e3385e749fc4c38" /><Relationship Type="http://schemas.openxmlformats.org/officeDocument/2006/relationships/notesMaster" Target="/ppt/notesMasters/notesMaster1.xml" Id="R018d9a85c6a3454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a0adbd903c04d1f" /><Relationship Type="http://schemas.openxmlformats.org/officeDocument/2006/relationships/notesMaster" Target="/ppt/notesMasters/notesMaster1.xml" Id="R58c52b6ad303421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dd42337eb98471e" /><Relationship Type="http://schemas.openxmlformats.org/officeDocument/2006/relationships/notesMaster" Target="/ppt/notesMasters/notesMaster1.xml" Id="Rbb980bbb3f1e4e5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b1dcf59de1846a2" /><Relationship Type="http://schemas.openxmlformats.org/officeDocument/2006/relationships/notesMaster" Target="/ppt/notesMasters/notesMaster1.xml" Id="R339897a304bf43c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00b2b8412704b78" /><Relationship Type="http://schemas.openxmlformats.org/officeDocument/2006/relationships/notesMaster" Target="/ppt/notesMasters/notesMaster1.xml" Id="R4c480b6cedf844d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c458d47f4bb49a6" /><Relationship Type="http://schemas.openxmlformats.org/officeDocument/2006/relationships/notesMaster" Target="/ppt/notesMasters/notesMaster1.xml" Id="Rd429bd18d1394e7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9727f724b31401a" /><Relationship Type="http://schemas.openxmlformats.org/officeDocument/2006/relationships/notesMaster" Target="/ppt/notesMasters/notesMaster1.xml" Id="R5614310edda742b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e8772b312a94f38" /><Relationship Type="http://schemas.openxmlformats.org/officeDocument/2006/relationships/notesMaster" Target="/ppt/notesMasters/notesMaster1.xml" Id="R610b45431480414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9a51582bf1743b3" /><Relationship Type="http://schemas.openxmlformats.org/officeDocument/2006/relationships/notesMaster" Target="/ppt/notesMasters/notesMaster1.xml" Id="R60db94d57ef5443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9dc9b062748417b" /><Relationship Type="http://schemas.openxmlformats.org/officeDocument/2006/relationships/notesMaster" Target="/ppt/notesMasters/notesMaster1.xml" Id="Rf9036a283b8747c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b92041b770a464f" /><Relationship Type="http://schemas.openxmlformats.org/officeDocument/2006/relationships/notesMaster" Target="/ppt/notesMasters/notesMaster1.xml" Id="R6b56fd6032ed457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26bf165c9e94d94" /><Relationship Type="http://schemas.openxmlformats.org/officeDocument/2006/relationships/notesMaster" Target="/ppt/notesMasters/notesMaster1.xml" Id="Rd3ebe5be56a546f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d66eeea55ba47ef" /><Relationship Type="http://schemas.openxmlformats.org/officeDocument/2006/relationships/notesMaster" Target="/ppt/notesMasters/notesMaster1.xml" Id="Rbb1528a15b334f4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68d8b5185594e92" /><Relationship Type="http://schemas.openxmlformats.org/officeDocument/2006/relationships/notesMaster" Target="/ppt/notesMasters/notesMaster1.xml" Id="R4f9ddbe844dd499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52745e2bc354081" /><Relationship Type="http://schemas.openxmlformats.org/officeDocument/2006/relationships/notesMaster" Target="/ppt/notesMasters/notesMaster1.xml" Id="Rc04e460c56e44f7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ac51d9273e9c4c84" /><Relationship Type="http://schemas.openxmlformats.org/officeDocument/2006/relationships/notesMaster" Target="/ppt/notesMasters/notesMaster1.xml" Id="R5dbb47a72601493e"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bb60a0f62e2442e1" /><Relationship Type="http://schemas.openxmlformats.org/officeDocument/2006/relationships/notesMaster" Target="/ppt/notesMasters/notesMaster1.xml" Id="Rd65111e794e041ae"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3d2cdd135d74729" /><Relationship Type="http://schemas.openxmlformats.org/officeDocument/2006/relationships/notesMaster" Target="/ppt/notesMasters/notesMaster1.xml" Id="Re1c8eb2a37194d83"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dfd866d53f44103" /><Relationship Type="http://schemas.openxmlformats.org/officeDocument/2006/relationships/notesMaster" Target="/ppt/notesMasters/notesMaster1.xml" Id="R358d6bdcbf794cda"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ffabf8eec3034c88" /><Relationship Type="http://schemas.openxmlformats.org/officeDocument/2006/relationships/notesMaster" Target="/ppt/notesMasters/notesMaster1.xml" Id="Re34c8ed5253f4dc8"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f5742f3e409343db" /><Relationship Type="http://schemas.openxmlformats.org/officeDocument/2006/relationships/notesMaster" Target="/ppt/notesMasters/notesMaster1.xml" Id="R58d453f084e74c79"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01d03d9854844b59" /><Relationship Type="http://schemas.openxmlformats.org/officeDocument/2006/relationships/notesMaster" Target="/ppt/notesMasters/notesMaster1.xml" Id="R1dd12553f8ee4f60"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0ed75e1ec7994b30" /><Relationship Type="http://schemas.openxmlformats.org/officeDocument/2006/relationships/notesMaster" Target="/ppt/notesMasters/notesMaster1.xml" Id="R4469caf84d044d54"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1792b8bba52348e2" /><Relationship Type="http://schemas.openxmlformats.org/officeDocument/2006/relationships/notesMaster" Target="/ppt/notesMasters/notesMaster1.xml" Id="R402ed8bb512f4f6b"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1782cb9d97cf4fba" /><Relationship Type="http://schemas.openxmlformats.org/officeDocument/2006/relationships/notesMaster" Target="/ppt/notesMasters/notesMaster1.xml" Id="R9a6248f5225b4935"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6bfc3de979144fd3" /><Relationship Type="http://schemas.openxmlformats.org/officeDocument/2006/relationships/notesMaster" Target="/ppt/notesMasters/notesMaster1.xml" Id="Rfca05f52e36d43e9"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c384d5f427ee4cf9" /><Relationship Type="http://schemas.openxmlformats.org/officeDocument/2006/relationships/notesMaster" Target="/ppt/notesMasters/notesMaster1.xml" Id="Rc56f1d7638c44ab6"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fc60313e0d154789" /><Relationship Type="http://schemas.openxmlformats.org/officeDocument/2006/relationships/notesMaster" Target="/ppt/notesMasters/notesMaster1.xml" Id="Rc9c84663ff004352"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65af5bbe41c94004" /><Relationship Type="http://schemas.openxmlformats.org/officeDocument/2006/relationships/notesMaster" Target="/ppt/notesMasters/notesMaster1.xml" Id="R65abe114ebfd47d8"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92562a401b45403f" /><Relationship Type="http://schemas.openxmlformats.org/officeDocument/2006/relationships/notesMaster" Target="/ppt/notesMasters/notesMaster1.xml" Id="R7af96f17762943b5"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511bba456d0e409a" /><Relationship Type="http://schemas.openxmlformats.org/officeDocument/2006/relationships/notesMaster" Target="/ppt/notesMasters/notesMaster1.xml" Id="R2a814fecd9454894"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aba22a2976fd4fa0" /><Relationship Type="http://schemas.openxmlformats.org/officeDocument/2006/relationships/notesMaster" Target="/ppt/notesMasters/notesMaster1.xml" Id="R2733ec9b78364ec3"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3630a0361c494b7a" /><Relationship Type="http://schemas.openxmlformats.org/officeDocument/2006/relationships/notesMaster" Target="/ppt/notesMasters/notesMaster1.xml" Id="R3bea6bbd548e43f1"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22ea5a661603473a" /><Relationship Type="http://schemas.openxmlformats.org/officeDocument/2006/relationships/notesMaster" Target="/ppt/notesMasters/notesMaster1.xml" Id="R4b180cd371ec4b35"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a9e961fb773e423b" /><Relationship Type="http://schemas.openxmlformats.org/officeDocument/2006/relationships/notesMaster" Target="/ppt/notesMasters/notesMaster1.xml" Id="R994d568abc1f4f9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Einheit richtet sich an Anwender:innen mit einfachen SQL-Grundkenntnissen und ohne vorausgesetzte Erfahrung mit künstlicher Intelligenz (KI), also Verfahren für Aufgaben wie Textverarbeitung oder Vorhersagen. Die Einführung entwickelt Begriffe am gleichen synthetischen Wissensbasisfall und führt eine kleine Read-only-SQL-Übung Schritt für Schritt vor. SELECT und ORDER BY sind hilfreich und werden am Beispiel eingeordnet. Modellzugänge und Previewkonfiguration sind für diesen Einstieg nicht erforderlich. Danach folgen die bestehenden Fachmodule und manifestbasierten Offline-Demos auf einer eigens vorbereiteten Labinstanz. Die neun implementierten Offline-Demos besitzen begrenzte lokale Nachweise. Die weiteren neun Entwürfe besitzen eigene offene Gates. Live-Provider, vollständige Performancequalifikation, Teilnehmererprobung und Generalprobe sind damit nicht freigegeben. Begriffe und Übungen ergänzt das Offline-Arbeitsheft.</a:t>
            </a:r>
          </a:p>
          <a:p xmlns:a="http://schemas.openxmlformats.org/drawingml/2006/main">
            <a:r>
              <a:t/>
            </a:r>
          </a:p>
          <a:p xmlns:a="http://schemas.openxmlformats.org/drawingml/2006/main">
            <a:r>
              <a:t>STANDARD-Folie 1, Quellfolie 1 des 61-Folien-Masterdecks. Ablauf und Beobachtungsbogen: Documentation/HowTo/SQL_SERVER_2025_AI_STANDARD_COURSE.md.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Projektquelle: Documentation/Project_Planning/SQL_SERVER_2025_AI_WORKSTREAM_PLAN.md</a:t>
            </a:r>
          </a:p>
          <a:p xmlns:a="http://schemas.openxmlformats.org/drawingml/2006/main">
            <a:r>
              <a:t/>
            </a:r>
          </a:p>
          <a:p xmlns:a="http://schemas.openxmlformats.org/drawingml/2006/main">
            <a:r>
              <a:t>Projektquelle: Documentation/HowTo/SQL_SERVER_2025_AI_OFFLINE_GLOSSARY.md</a:t>
            </a:r>
          </a:p>
          <a:p xmlns:a="http://schemas.openxmlformats.org/drawingml/2006/main">
            <a:r>
              <a:t/>
            </a:r>
          </a:p>
          <a:p xmlns:a="http://schemas.openxmlformats.org/drawingml/2006/main">
            <a:r>
              <a:t>Didaktische Zuordnung: CUR-013–CUR-022.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Didaktische Einführung. Frage an die Gruppe: Welche Informationen brauchen Sie, um eine technische Frage zuverlässig zu beantworten? Erwartete Antworten: die passende Quelle, ihre aktuelle Fassung und die Berechtigung zum Lesen. An diese bekannten Anforderungen knüpft die Einheit an. Die kleine Vektorübung zeigt später eine zusätzliche Suchmöglichkeit mit ausschließlich festen Zahlen. Vorwissen in Statistik, Modelltraining oder Cloudbereitstellung ist dafür nicht erforderlich. Erklären Sie neue Begriffe beim ersten Auftreten und lassen Sie die Gruppe den Unterschied zwischen einer Tabellenzeile und einem formulierten Antwortsatz wiedergeben. Übergang: Zunächst betrachten wir die Frage, bevor wir ein Werkzeug auswählen.</a:t>
            </a:r>
          </a:p>
          <a:p xmlns:a="http://schemas.openxmlformats.org/drawingml/2006/main">
            <a:r>
              <a:t/>
            </a:r>
          </a:p>
          <a:p xmlns:a="http://schemas.openxmlformats.org/drawingml/2006/main">
            <a:r>
              <a:t>STANDARD-Folie 2, Quellfolie 2 des 61-Folien-Masterdecks. Ablauf und Beobachtungsbogen: Documentation/HowTo/SQL_SERVER_2025_AI_STANDARD_COURSE.md.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Projektquelle: .ai/PROJECT_CONTEXT.md</a:t>
            </a:r>
          </a:p>
          <a:p xmlns:a="http://schemas.openxmlformats.org/drawingml/2006/main">
            <a:r>
              <a:t/>
            </a:r>
          </a:p>
          <a:p xmlns:a="http://schemas.openxmlformats.org/drawingml/2006/main">
            <a:r>
              <a:t>Projektquelle: Documentation/HowTo/SQL_SERVER_2025_AI_OFFLINE_GLOSSARY.md</a:t>
            </a:r>
          </a:p>
          <a:p xmlns:a="http://schemas.openxmlformats.org/drawingml/2006/main">
            <a:r>
              <a:t/>
            </a:r>
          </a:p>
          <a:p xmlns:a="http://schemas.openxmlformats.org/drawingml/2006/main">
            <a:r>
              <a:t>Didaktische Zuordnung: CUR-013.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Dies ist ein eigenständiger synthetischer Einstiegskorpus, keine neue Demoimplementierung und keine behauptete Ausgabe einer bestehenden Demo. MOD_A ist ein imaginärer technischer Baustein. Die Texte und ihre festen Zuordnungen dienen der gemeinsamen Diskussion. Frage: Was könnte schiefgehen, wenn eine Suche beide Fassungen gleich behandelt? Erwartete Antwort: Eine veraltete Fassung kann die Antwort beeinflussen oder einen scheinbaren Widerspruch erzeugen. Eine flüssige Formulierung löst dieses Versionsproblem nicht. Übergang: Wir halten die kleinen Dokumente mit Kennung und Fassung sichtbar fest.</a:t>
            </a:r>
          </a:p>
          <a:p xmlns:a="http://schemas.openxmlformats.org/drawingml/2006/main">
            <a:r>
              <a:t/>
            </a:r>
          </a:p>
          <a:p xmlns:a="http://schemas.openxmlformats.org/drawingml/2006/main">
            <a:r>
              <a:t>STANDARD-Folie 3, Quellfolie 3 des 61-Folien-Masterdecks. Ablauf und Beobachtungsbogen: Documentation/HowTo/SQL_SERVER_2025_AI_STANDARD_COURSE.md.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Projektquelle: Documentation/Project_Planning/SQL_SERVER_2025_AI_WORKSTREAM_PLAN.md</a:t>
            </a:r>
          </a:p>
          <a:p xmlns:a="http://schemas.openxmlformats.org/drawingml/2006/main">
            <a:r>
              <a:t/>
            </a:r>
          </a:p>
          <a:p xmlns:a="http://schemas.openxmlformats.org/drawingml/2006/main">
            <a:r>
              <a:t>Projektquelle: Documentation/HowTo/SQL_SERVER_2025_AI_OFFLINE_GLOSSARY.md</a:t>
            </a:r>
          </a:p>
          <a:p xmlns:a="http://schemas.openxmlformats.org/drawingml/2006/main">
            <a:r>
              <a:t/>
            </a:r>
          </a:p>
          <a:p xmlns:a="http://schemas.openxmlformats.org/drawingml/2006/main">
            <a:r>
              <a:t>Didaktische Zuordnung: CUR-013 / CUR-017.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Lassen Sie die Gruppe Dokument 2 für die konkrete MOD_A-Frage auswählen. Antwort: Es betrifft das richtige Modul und seine aktuelle Fassung. Dokument 1 ist veraltet. Dokument 3 ist aktuell, betrifft aber ein anderes Modul. Frage: Reicht die Zahl sieben als gespeichertes Ergebnis? Erwartete Antwort: Für eine überprüfbare Antwort benötigen wir zusätzlich Dokumentkennung, Fassung und den stützenden Textbereich. Alle drei vollständigen Sätze sind synthetisch. Es gibt hier keine Aussage über reale Aufbewahrungsfristen. Übergang: Eine SELECT-Abfrage liefert solche Daten als Rows.</a:t>
            </a:r>
          </a:p>
          <a:p xmlns:a="http://schemas.openxmlformats.org/drawingml/2006/main">
            <a:r>
              <a:t/>
            </a:r>
          </a:p>
          <a:p xmlns:a="http://schemas.openxmlformats.org/drawingml/2006/main">
            <a:r>
              <a:t>STANDARD-Folie 4, Quellfolie 4 des 61-Folien-Masterdecks. Ablauf und Beobachtungsbogen: Documentation/HowTo/SQL_SERVER_2025_AI_STANDARD_COURSE.md.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Projektquelle: Documentation/Project_Planning/SQL_SERVER_2025_AI_WORKSTREAM_PLAN.md</a:t>
            </a:r>
          </a:p>
          <a:p xmlns:a="http://schemas.openxmlformats.org/drawingml/2006/main">
            <a:r>
              <a:t/>
            </a:r>
          </a:p>
          <a:p xmlns:a="http://schemas.openxmlformats.org/drawingml/2006/main">
            <a:r>
              <a:t>Didaktische Zuordnung: CUR-013 / CUR-015.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gezeigte Abfrage ist vollständig und benötigt keine eigene Tabelle. Sie ist eine Illustration des bekannten tabellarischen Ergebnisformats. Der feste VALUES-Ausdruck enthält bereits die ausgewählte Fassung. Er sucht oder prüft nicht selbstständig, ob ein Dokument aktuell ist. Frage: Woher kennt SQL hier die sieben Tage? Antwort: Aus dem ausdrücklich angegebenen Literalwert. Es gibt weder Training noch Modellaufruf. Die Statements schreiben keine persistenten Daten. Ein späterer praktischer Versuch erfolgt nur auf dem vorbereiteten Schulungsziel. Übergang: Aus einer Row kann eine Anwendung einen Satz formulieren, doch die Herkunft des Werts muss erhalten bleiben.</a:t>
            </a:r>
          </a:p>
          <a:p xmlns:a="http://schemas.openxmlformats.org/drawingml/2006/main">
            <a:r>
              <a:t/>
            </a:r>
          </a:p>
          <a:p xmlns:a="http://schemas.openxmlformats.org/drawingml/2006/main">
            <a:r>
              <a:t>STANDARD-Folie 5, Quellfolie 5 des 61-Folien-Masterdecks. Ablauf und Beobachtungsbogen: Documentation/HowTo/SQL_SERVER_2025_AI_STANDARD_COURSE.md.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Projektquelle: Documentation/HowTo/SQL_SERVER_2025_AI_OFFLINE_GLOSSARY.md</a:t>
            </a:r>
          </a:p>
          <a:p xmlns:a="http://schemas.openxmlformats.org/drawingml/2006/main">
            <a:r>
              <a:t/>
            </a:r>
          </a:p>
          <a:p xmlns:a="http://schemas.openxmlformats.org/drawingml/2006/main">
            <a:r>
              <a:t>Didaktische Zuordnung: CUR-013.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Logeinträge und Protokolle gelten für diesen didaktischen Fall als alternative Wortwahl. Das ist eine festgelegte Lehrannahme, kein gemessener Sprachmodellbefund. Die erste Frage lässt sich bei bekanntem Datenmodell relational bearbeiten. Die zweite motiviert eine Suche nach Bedeutung. Die dritte zeigt eine Grenze: Unser Quelltext nennt eine Frist, aber keinen Grund. Frage: Darf die Anwendung daraus eine Erklärung für die Frist erfinden? Antwort: Nein, der Grund ist mit diesen Quellen nicht belegt. Ein begründetes Offenlassen ist angemessen. Übergang: Wir benennen nun, was KI-Verfahren in diesem Ablauf leisten sollen.</a:t>
            </a:r>
          </a:p>
          <a:p xmlns:a="http://schemas.openxmlformats.org/drawingml/2006/main">
            <a:r>
              <a:t/>
            </a:r>
          </a:p>
          <a:p xmlns:a="http://schemas.openxmlformats.org/drawingml/2006/main">
            <a:r>
              <a:t>STANDARD-Folie 6, Quellfolie 6 des 61-Folien-Masterdecks. Ablauf und Beobachtungsbogen: Documentation/HowTo/SQL_SERVER_2025_AI_STANDARD_COURSE.md.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Projektquelle: Documentation/HowTo/SQL_SERVER_2025_AI_OFFLINE_GLOSSARY.md</a:t>
            </a:r>
          </a:p>
          <a:p xmlns:a="http://schemas.openxmlformats.org/drawingml/2006/main">
            <a:r>
              <a:t/>
            </a:r>
          </a:p>
          <a:p xmlns:a="http://schemas.openxmlformats.org/drawingml/2006/main">
            <a:r>
              <a:t>Projektquelle: Documentation/Project_Planning/SQL_SERVER_2025_AI_WORKSTREAM_PLAN.md</a:t>
            </a:r>
          </a:p>
          <a:p xmlns:a="http://schemas.openxmlformats.org/drawingml/2006/main">
            <a:r>
              <a:t/>
            </a:r>
          </a:p>
          <a:p xmlns:a="http://schemas.openxmlformats.org/drawingml/2006/main">
            <a:r>
              <a:t>Didaktische Zuordnung: CUR-013 / CUR-017.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Tabelle zeigt die Breite als didaktische Anwendungsideen, keine Liste bereits freigegebener Implementierungen. Bei Klassifikation ordnet ein passendes Modell eine Eingabe einer Kategorie zu. Bei Vorhersage liefert es einen Wert für die zuvor definierte Aufgabe. Dafür sind jeweils geeignete Daten, Modellwahl und eigene Bewertung nötig. Die SQL-2025-External-Modeldefinition im behandelten Pfad hat MODEL_TYPE=EMBEDDINGS. AI_GENERATE_EMBEDDINGS ist ein Embeddingzugang. Daraus folgt keine allgemeine native Chat-, Zusammenfassungs-, Vorhersage- oder Klassifikationsfunktion. Antworttext und Zusammenfassung sind im geplanten generativen Pfad Aufgaben der Anwendung und ihres Sprachmodells. SQL-Assistenz gehört ebenfalls zu einem ausdrücklich gewählten Client-/Anwendungspfad. Frage: Würde ein einziger Vektordatentyp alle vier Anwendungen lösen? Antwort: Nein, er ist ein Baustein. Übergang: Für die passende Auswahl erklären wir nun die grundlegenden Begriffe.</a:t>
            </a:r>
          </a:p>
          <a:p xmlns:a="http://schemas.openxmlformats.org/drawingml/2006/main">
            <a:r>
              <a:t/>
            </a:r>
          </a:p>
          <a:p xmlns:a="http://schemas.openxmlformats.org/drawingml/2006/main">
            <a:r>
              <a:t>STANDARD-Folie 7, Quellfolie 7 des 61-Folien-Masterdecks. Ablauf und Beobachtungsbogen: Documentation/HowTo/SQL_SERVER_2025_AI_STANDARD_COURSE.md.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SRC-080: CREATE EXTERNAL MODEL</a:t>
            </a:r>
          </a:p>
          <a:p xmlns:a="http://schemas.openxmlformats.org/drawingml/2006/main">
            <a:r>
              <a:t>https://learn.microsoft.com/en-us/sql/t-sql/statements/create-external-model-transact-sql?view=sql-server-ver17</a:t>
            </a:r>
          </a:p>
          <a:p xmlns:a="http://schemas.openxmlformats.org/drawingml/2006/main">
            <a:r>
              <a:t>Abrufdatum laut Quellenregister: 2026-10-11</a:t>
            </a:r>
          </a:p>
          <a:p xmlns:a="http://schemas.openxmlformats.org/drawingml/2006/main">
            <a:r>
              <a:t/>
            </a:r>
          </a:p>
          <a:p xmlns:a="http://schemas.openxmlformats.org/drawingml/2006/main">
            <a:r>
              <a:t>SRC-081: AI_GENERATE_EMBEDDINGS</a:t>
            </a:r>
          </a:p>
          <a:p xmlns:a="http://schemas.openxmlformats.org/drawingml/2006/main">
            <a:r>
              <a:t>https://learn.microsoft.com/en-us/sql/t-sql/functions/ai-generate-embeddings-transact-sql?view=sql-server-ver17</a:t>
            </a:r>
          </a:p>
          <a:p xmlns:a="http://schemas.openxmlformats.org/drawingml/2006/main">
            <a:r>
              <a:t>Abrufdatum laut Quellenregister: 2026-10-11</a:t>
            </a:r>
          </a:p>
          <a:p xmlns:a="http://schemas.openxmlformats.org/drawingml/2006/main">
            <a:r>
              <a:t/>
            </a:r>
          </a:p>
          <a:p xmlns:a="http://schemas.openxmlformats.org/drawingml/2006/main">
            <a:r>
              <a:t>SRC-089: GitHub Copilot in SSMS overview</a:t>
            </a:r>
          </a:p>
          <a:p xmlns:a="http://schemas.openxmlformats.org/drawingml/2006/main">
            <a:r>
              <a:t>https://learn.microsoft.com/en-us/ssms/github-copilot/overview</a:t>
            </a:r>
          </a:p>
          <a:p xmlns:a="http://schemas.openxmlformats.org/drawingml/2006/main">
            <a:r>
              <a:t>Abrufdatum laut Quellenregister: 2026-10-11</a:t>
            </a:r>
          </a:p>
          <a:p xmlns:a="http://schemas.openxmlformats.org/drawingml/2006/main">
            <a:r>
              <a:t/>
            </a:r>
          </a:p>
          <a:p xmlns:a="http://schemas.openxmlformats.org/drawingml/2006/main">
            <a:r>
              <a:t>Projektquelle: Documentation/Project_Planning/SQL_SERVER_2025_AI_WORKSTREAM_PLAN.md</a:t>
            </a:r>
          </a:p>
          <a:p xmlns:a="http://schemas.openxmlformats.org/drawingml/2006/main">
            <a:r>
              <a:t/>
            </a:r>
          </a:p>
          <a:p xmlns:a="http://schemas.openxmlformats.org/drawingml/2006/main">
            <a:r>
              <a:t>Projektquelle: Documentation/Research/SQL_SERVER_2025_AI_FEATURE_MATRIX.md</a:t>
            </a:r>
          </a:p>
          <a:p xmlns:a="http://schemas.openxmlformats.org/drawingml/2006/main">
            <a:r>
              <a:t/>
            </a:r>
          </a:p>
          <a:p xmlns:a="http://schemas.openxmlformats.org/drawingml/2006/main">
            <a:r>
              <a:t>Didaktische Zuordnung: CUR-013 / CUR-016 / CUR-021.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Folie bietet eine einfache Einordnung des breiteren KI-Feldes. Regelbasierte Wissensverarbeitung, Mustererkennung, Vorhersage und Sprachverarbeitung können KI-Anwendungen dienen. Machine Learning bezeichnet darin Verfahren, die Modellverhalten aus Trainingsdaten lernen. Ein regelbasiertes Wissenssystem kann mit ausdrücklich formulierten Regeln arbeiten. Eine generative Textanwendung ist deshalb nur ein möglicher Fall. Frage: Lernt schon ein SELECT aus einer festen VALUES-Row? Antwort: Nein, es verarbeitet die angegebenen Werte nach SQL-Regeln. Nicht jede regelgeleitete Berechnung wird dadurch automatisch zur KI-Anwendung. Das Erstellen einer Tabelle oder fester Geometrievektoren ist ebenfalls kein Modelltraining. Wir beginnen mit dieser Unterscheidung, um später keinen mathematischen Lehrfall als echte Sprachsemantik auszugeben. Übergang: Für unsere späteren Modellpfade betrachten wir nun Modellaufgabe und Eingabe genauer.</a:t>
            </a:r>
          </a:p>
          <a:p xmlns:a="http://schemas.openxmlformats.org/drawingml/2006/main">
            <a:r>
              <a:t/>
            </a:r>
          </a:p>
          <a:p xmlns:a="http://schemas.openxmlformats.org/drawingml/2006/main">
            <a:r>
              <a:t>STANDARD-Folie 8, Quellfolie 8 des 61-Folien-Masterdecks. Ablauf und Beobachtungsbogen: Documentation/HowTo/SQL_SERVER_2025_AI_STANDARD_COURSE.md.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Projektquelle: Documentation/HowTo/SQL_SERVER_2025_AI_OFFLINE_GLOSSARY.md</a:t>
            </a:r>
          </a:p>
          <a:p xmlns:a="http://schemas.openxmlformats.org/drawingml/2006/main">
            <a:r>
              <a:t/>
            </a:r>
          </a:p>
          <a:p xmlns:a="http://schemas.openxmlformats.org/drawingml/2006/main">
            <a:r>
              <a:t>Didaktische Zuordnung: CUR-013.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Rechenvorschrift umfasst bei einem ML-Modell gelernte Parameter. Für den Einstieg reicht die Eingabe-/Ausgabevorstellung. Vermeiden Sie eine Erklärung, in der ein Modell als Person dargestellt wird, die automatisch unsere Datenbank kennt. Frage: Sind Textsuche und Antwortformulierung dieselbe Aufgabe? Antwort: Nein. Eine numerische Repräsentation kann der Suche dienen. Die Formulierung eines Antworttexts ist ein weiterer Verarbeitungsschritt. Einige Modelle und Anwendungen verbinden mehrere Fähigkeiten, doch die Aufgaben und ihre Ergebnisse werden hier getrennt bewertet. Übergang: Ein vorbereitetes Modell kann verwendet werden, ohne es in der Schulung neu zu trainieren.</a:t>
            </a:r>
          </a:p>
          <a:p xmlns:a="http://schemas.openxmlformats.org/drawingml/2006/main">
            <a:r>
              <a:t/>
            </a:r>
          </a:p>
          <a:p xmlns:a="http://schemas.openxmlformats.org/drawingml/2006/main">
            <a:r>
              <a:t>STANDARD-Folie 9, Quellfolie 9 des 61-Folien-Masterdecks. Ablauf und Beobachtungsbogen: Documentation/HowTo/SQL_SERVER_2025_AI_STANDARD_COURSE.md.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SRC-087: Generate embeddings with Azure OpenAI</a:t>
            </a:r>
          </a:p>
          <a:p xmlns:a="http://schemas.openxmlformats.org/drawingml/2006/main">
            <a:r>
              <a:t>https://learn.microsoft.com/en-us/azure/foundry/openai/how-to/embeddings</a:t>
            </a:r>
          </a:p>
          <a:p xmlns:a="http://schemas.openxmlformats.org/drawingml/2006/main">
            <a:r>
              <a:t>Abrufdatum laut Quellenregister: 2026-10-11</a:t>
            </a:r>
          </a:p>
          <a:p xmlns:a="http://schemas.openxmlformats.org/drawingml/2006/main">
            <a:r>
              <a:t/>
            </a:r>
          </a:p>
          <a:p xmlns:a="http://schemas.openxmlformats.org/drawingml/2006/main">
            <a:r>
              <a:t>Projektquelle: Documentation/HowTo/SQL_SERVER_2025_AI_OFFLINE_GLOSSARY.md</a:t>
            </a:r>
          </a:p>
          <a:p xmlns:a="http://schemas.openxmlformats.org/drawingml/2006/main">
            <a:r>
              <a:t/>
            </a:r>
          </a:p>
          <a:p xmlns:a="http://schemas.openxmlformats.org/drawingml/2006/main">
            <a:r>
              <a:t>Didaktische Zuordnung: CUR-013.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Frage: Wenn wir MOD_A als neue Tabellenrow speichern, haben wir damit ein Sprachmodell trainiert? Antwort: Nein. Speichern, Suchen, Inferenz und Training sind verschiedene Vorgänge. Eine Anwendung kann aktuelle Dokumente zur Antwort hinzufügen, ohne das vorbereitete Sprachmodell neu zu trainieren. Ein Cloudservice kann Daten je nach Dienst und Funktion unterschiedlich verarbeiten. Aus unserer Erklärung des Anwendungspfads folgt deshalb keine allgemeine Datenschutz- oder Retentiongarantie. Die festen Werte des Einstiegs sind bewusst ohne Modell erzeugt. Übergang: Bei der Textausgabe betrachten wir ein Sprachmodell genauer.</a:t>
            </a:r>
          </a:p>
          <a:p xmlns:a="http://schemas.openxmlformats.org/drawingml/2006/main">
            <a:r>
              <a:t/>
            </a:r>
          </a:p>
          <a:p xmlns:a="http://schemas.openxmlformats.org/drawingml/2006/main">
            <a:r>
              <a:t>STANDARD-Folie 10, Quellfolie 10 des 61-Folien-Masterdecks. Ablauf und Beobachtungsbogen: Documentation/HowTo/SQL_SERVER_2025_AI_STANDARD_COURSE.md.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SRC-087: Generate embeddings with Azure OpenAI</a:t>
            </a:r>
          </a:p>
          <a:p xmlns:a="http://schemas.openxmlformats.org/drawingml/2006/main">
            <a:r>
              <a:t>https://learn.microsoft.com/en-us/azure/foundry/openai/how-to/embeddings</a:t>
            </a:r>
          </a:p>
          <a:p xmlns:a="http://schemas.openxmlformats.org/drawingml/2006/main">
            <a:r>
              <a:t>Abrufdatum laut Quellenregister: 2026-10-11</a:t>
            </a:r>
          </a:p>
          <a:p xmlns:a="http://schemas.openxmlformats.org/drawingml/2006/main">
            <a:r>
              <a:t/>
            </a:r>
          </a:p>
          <a:p xmlns:a="http://schemas.openxmlformats.org/drawingml/2006/main">
            <a:r>
              <a:t>SRC-088: Foundry Models data privacy</a:t>
            </a:r>
          </a:p>
          <a:p xmlns:a="http://schemas.openxmlformats.org/drawingml/2006/main">
            <a:r>
              <a:t>https://learn.microsoft.com/en-us/azure/foundry/responsible-ai/openai/data-privacy</a:t>
            </a:r>
          </a:p>
          <a:p xmlns:a="http://schemas.openxmlformats.org/drawingml/2006/main">
            <a:r>
              <a:t>Abrufdatum laut Quellenregister: 2026-10-11</a:t>
            </a:r>
          </a:p>
          <a:p xmlns:a="http://schemas.openxmlformats.org/drawingml/2006/main">
            <a:r>
              <a:t/>
            </a:r>
          </a:p>
          <a:p xmlns:a="http://schemas.openxmlformats.org/drawingml/2006/main">
            <a:r>
              <a:t>Projektquelle: Documentation/HowTo/SQL_SERVER_2025_AI_OFFLINE_GLOSSARY.md</a:t>
            </a:r>
          </a:p>
          <a:p xmlns:a="http://schemas.openxmlformats.org/drawingml/2006/main">
            <a:r>
              <a:t/>
            </a:r>
          </a:p>
          <a:p xmlns:a="http://schemas.openxmlformats.org/drawingml/2006/main">
            <a:r>
              <a:t>Didaktische Zuordnung: CUR-013 / CUR-016.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Der Beispielsatz auf der Folie ist von der Lehrperson fest vorgegeben. Er ist kein Ergebnis eines hier ausgeführten Modellaufrufs. Frage: Woran würden Sie die Antwort prüfen? Erwartete Antwort: Am aktuellen Dokument 2, Fassung v2, und an der Aussage zur Aufbewahrung. Ein Sprachmodell kann plausiblen Text erzeugen, obwohl nötiger Kontext fehlt. Die Qualität der Formulierung und die Qualität des Belegs werden deshalb getrennt bewertet. Vermeiden Sie den Eindruck, ein Modell hätte automatisch Zugriff auf unsere SQL-Tabellen. Diesen Zugriff vermittelt die Anwendung mit den tatsächlichen Rechten. Übergang: Text wird dabei in Verarbeitungseinheiten aufgeteilt.</a:t>
            </a:r>
          </a:p>
          <a:p xmlns:a="http://schemas.openxmlformats.org/drawingml/2006/main">
            <a:r>
              <a:t/>
            </a:r>
          </a:p>
          <a:p xmlns:a="http://schemas.openxmlformats.org/drawingml/2006/main">
            <a:r>
              <a:t>STANDARD-Folie 11, Quellfolie 11 des 61-Folien-Masterdecks. Ablauf und Beobachtungsbogen: Documentation/HowTo/SQL_SERVER_2025_AI_STANDARD_COURSE.md.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Projektquelle: Documentation/HowTo/SQL_SERVER_2025_AI_OFFLINE_GLOSSARY.md</a:t>
            </a:r>
          </a:p>
          <a:p xmlns:a="http://schemas.openxmlformats.org/drawingml/2006/main">
            <a:r>
              <a:t/>
            </a:r>
          </a:p>
          <a:p xmlns:a="http://schemas.openxmlformats.org/drawingml/2006/main">
            <a:r>
              <a:t>Projektquelle: Documentation/Project_Planning/SQL_SERVER_2025_AI_WORKSTREAM_PLAN.md</a:t>
            </a:r>
          </a:p>
          <a:p xmlns:a="http://schemas.openxmlformats.org/drawingml/2006/main">
            <a:r>
              <a:t/>
            </a:r>
          </a:p>
          <a:p xmlns:a="http://schemas.openxmlformats.org/drawingml/2006/main">
            <a:r>
              <a:t>Didaktische Zuordnung: CUR-013.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Nennen Sie den kurzen Satz MOD_A bewahrt Protokolle sieben Tage auf. Lassen Sie die Gruppe Wörter und Zeichen zählen. Frage: Kennen wir damit bereits seine genaue Tokenzahl? Antwort: Nein, dafür benötigen wir den tatsächlich verwendeten Tokenizer. Geben Sie keine erfundene Tokenzerlegung als Produktresultat aus. Tokens können Modelllimits und Requestkosten beeinflussen. Das später erläuterte SQL-FIXED-Chunking arbeitet dagegen mit Zeichenbereichen. Eine Chunkgröße ist daher kein bewiesenes Modelltokenlimit. Übergang: Die beteiligten Komponenten benötigen unterschiedliche Eingaben und liefern unterschiedliche Ergebnisse.</a:t>
            </a:r>
          </a:p>
          <a:p xmlns:a="http://schemas.openxmlformats.org/drawingml/2006/main">
            <a:r>
              <a:t/>
            </a:r>
          </a:p>
          <a:p xmlns:a="http://schemas.openxmlformats.org/drawingml/2006/main">
            <a:r>
              <a:t>STANDARD-Folie 12, Quellfolie 12 des 61-Folien-Masterdecks. Ablauf und Beobachtungsbogen: Documentation/HowTo/SQL_SERVER_2025_AI_STANDARD_COURSE.md.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SRC-079: AI_GENERATE_CHUNKS</a:t>
            </a:r>
          </a:p>
          <a:p xmlns:a="http://schemas.openxmlformats.org/drawingml/2006/main">
            <a:r>
              <a:t>https://learn.microsoft.com/en-us/sql/t-sql/functions/ai-generate-chunks-transact-sql?view=sql-server-ver17</a:t>
            </a:r>
          </a:p>
          <a:p xmlns:a="http://schemas.openxmlformats.org/drawingml/2006/main">
            <a:r>
              <a:t>Abrufdatum laut Quellenregister: 2026-10-11</a:t>
            </a:r>
          </a:p>
          <a:p xmlns:a="http://schemas.openxmlformats.org/drawingml/2006/main">
            <a:r>
              <a:t/>
            </a:r>
          </a:p>
          <a:p xmlns:a="http://schemas.openxmlformats.org/drawingml/2006/main">
            <a:r>
              <a:t>SRC-087: Generate embeddings with Azure OpenAI</a:t>
            </a:r>
          </a:p>
          <a:p xmlns:a="http://schemas.openxmlformats.org/drawingml/2006/main">
            <a:r>
              <a:t>https://learn.microsoft.com/en-us/azure/foundry/openai/how-to/embeddings</a:t>
            </a:r>
          </a:p>
          <a:p xmlns:a="http://schemas.openxmlformats.org/drawingml/2006/main">
            <a:r>
              <a:t>Abrufdatum laut Quellenregister: 2026-10-11</a:t>
            </a:r>
          </a:p>
          <a:p xmlns:a="http://schemas.openxmlformats.org/drawingml/2006/main">
            <a:r>
              <a:t/>
            </a:r>
          </a:p>
          <a:p xmlns:a="http://schemas.openxmlformats.org/drawingml/2006/main">
            <a:r>
              <a:t>Projektquelle: Documentation/HowTo/SQL_SERVER_2025_AI_OFFLINE_GLOSSARY.md</a:t>
            </a:r>
          </a:p>
          <a:p xmlns:a="http://schemas.openxmlformats.org/drawingml/2006/main">
            <a:r>
              <a:t/>
            </a:r>
          </a:p>
          <a:p xmlns:a="http://schemas.openxmlformats.org/drawingml/2006/main">
            <a:r>
              <a:t>Didaktische Zuordnung: CUR-013 / CUR-015.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Frage: Wer entscheidet, welche SQL-Rows ein Benutzer lesen darf? Antwort: Die tatsächliche Datenbankautorisierung zusammen mit dem festgelegten Anwendungspfad. Das Modell erhält nur den Kontext, den die Anwendung ihm übergibt. Die aktuelle SQL-External-Modeldefinition beschreibt im behandelten Pfad einen Embeddingzugang. Sie hostet nicht automatisch ein allgemeines generatives Chatmodell in der Database Engine. Diese technische Unterscheidung wird in der Vertiefung genauer behandelt. Ein Modell verändert keine Datenbankrechte allein durch seine Ausgabe. Übergang: Für das erste Verständnis können wir diese Komponenten auf einen noch kleineren Offlineversuch reduzieren.</a:t>
            </a:r>
          </a:p>
          <a:p xmlns:a="http://schemas.openxmlformats.org/drawingml/2006/main">
            <a:r>
              <a:t/>
            </a:r>
          </a:p>
          <a:p xmlns:a="http://schemas.openxmlformats.org/drawingml/2006/main">
            <a:r>
              <a:t>STANDARD-Folie 13, Quellfolie 13 des 61-Folien-Masterdecks. Ablauf und Beobachtungsbogen: Documentation/HowTo/SQL_SERVER_2025_AI_STANDARD_COURSE.md.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SRC-080: CREATE EXTERNAL MODEL</a:t>
            </a:r>
          </a:p>
          <a:p xmlns:a="http://schemas.openxmlformats.org/drawingml/2006/main">
            <a:r>
              <a:t>https://learn.microsoft.com/en-us/sql/t-sql/statements/create-external-model-transact-sql?view=sql-server-ver17</a:t>
            </a:r>
          </a:p>
          <a:p xmlns:a="http://schemas.openxmlformats.org/drawingml/2006/main">
            <a:r>
              <a:t>Abrufdatum laut Quellenregister: 2026-10-11</a:t>
            </a:r>
          </a:p>
          <a:p xmlns:a="http://schemas.openxmlformats.org/drawingml/2006/main">
            <a:r>
              <a:t/>
            </a:r>
          </a:p>
          <a:p xmlns:a="http://schemas.openxmlformats.org/drawingml/2006/main">
            <a:r>
              <a:t>SRC-099: SQL Injection</a:t>
            </a:r>
          </a:p>
          <a:p xmlns:a="http://schemas.openxmlformats.org/drawingml/2006/main">
            <a:r>
              <a:t>https://learn.microsoft.com/en-us/sql/relational-databases/security/sql-injection?view=sql-server-ver17</a:t>
            </a:r>
          </a:p>
          <a:p xmlns:a="http://schemas.openxmlformats.org/drawingml/2006/main">
            <a:r>
              <a:t>Abrufdatum laut Quellenregister: 2026-10-11</a:t>
            </a:r>
          </a:p>
          <a:p xmlns:a="http://schemas.openxmlformats.org/drawingml/2006/main">
            <a:r>
              <a:t/>
            </a:r>
          </a:p>
          <a:p xmlns:a="http://schemas.openxmlformats.org/drawingml/2006/main">
            <a:r>
              <a:t>Projektquelle: Documentation/Project_Planning/SQL_SERVER_2025_AI_WORKSTREAM_PLAN.md</a:t>
            </a:r>
          </a:p>
          <a:p xmlns:a="http://schemas.openxmlformats.org/drawingml/2006/main">
            <a:r>
              <a:t/>
            </a:r>
          </a:p>
          <a:p xmlns:a="http://schemas.openxmlformats.org/drawingml/2006/main">
            <a:r>
              <a:t>Didaktische Zuordnung: CUR-013 / CUR-016.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Frage: Brauche ich für diese ersten Beispiele schon ChatGPT, Copilot oder ein Cloudkonto? Antwort: Nein. Die festen T-SQL-Werte und die Distanzberechnung rufen keinen Modellservice auf. Frage: Welchen Teil können wir schon ohne Modellzugang verstehen? Antwort: Datentyp, Distanzberechnung, tabellarische Resultate und die Prüfung eines festen Antwortbelegs. Das ist der bewusst kleine Einstiegspfad. Er belegt keine Sprachmodellqualität und führt keinen Provideraufruf aus. Für Personen ohne laufenden SQL Server können die festen Eingaben und erwarteten Werte zunächst gemeinsam auf den Folien besprochen werden. Die praktische Vorführung benötigt anschließend eine passend vorbereitete Testinstanz mit einem Queryclient. Der vorhandene Demo-Ausführungsleitfaden übernimmt spätere vollständige Demos mit ihren eigenen Verträgen. Übergang: Die häufigste erste Hürde ist die Trennung von Server und Client.</a:t>
            </a:r>
          </a:p>
          <a:p xmlns:a="http://schemas.openxmlformats.org/drawingml/2006/main">
            <a:r>
              <a:t/>
            </a:r>
          </a:p>
          <a:p xmlns:a="http://schemas.openxmlformats.org/drawingml/2006/main">
            <a:r>
              <a:t>STANDARD-Folie 14, Quellfolie 14 des 61-Folien-Masterdecks. Ablauf und Beobachtungsbogen: Documentation/HowTo/SQL_SERVER_2025_AI_STANDARD_COURSE.md.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SRC-072: Vector data type</a:t>
            </a:r>
          </a:p>
          <a:p xmlns:a="http://schemas.openxmlformats.org/drawingml/2006/main">
            <a:r>
              <a:t>https://learn.microsoft.com/en-us/sql/t-sql/data-types/vector-data-type?view=sql-server-ver17</a:t>
            </a:r>
          </a:p>
          <a:p xmlns:a="http://schemas.openxmlformats.org/drawingml/2006/main">
            <a:r>
              <a:t>Abrufdatum laut Quellenregister: 2026-10-11</a:t>
            </a:r>
          </a:p>
          <a:p xmlns:a="http://schemas.openxmlformats.org/drawingml/2006/main">
            <a:r>
              <a:t/>
            </a:r>
          </a:p>
          <a:p xmlns:a="http://schemas.openxmlformats.org/drawingml/2006/main">
            <a:r>
              <a:t>SRC-073: VECTOR_DISTANCE</a:t>
            </a:r>
          </a:p>
          <a:p xmlns:a="http://schemas.openxmlformats.org/drawingml/2006/main">
            <a:r>
              <a:t>https://learn.microsoft.com/en-us/sql/t-sql/functions/vector-distance-transact-sql?view=sql-server-ver17</a:t>
            </a:r>
          </a:p>
          <a:p xmlns:a="http://schemas.openxmlformats.org/drawingml/2006/main">
            <a:r>
              <a:t>Abrufdatum laut Quellenregister: 2026-10-11</a:t>
            </a:r>
          </a:p>
          <a:p xmlns:a="http://schemas.openxmlformats.org/drawingml/2006/main">
            <a:r>
              <a:t/>
            </a:r>
          </a:p>
          <a:p xmlns:a="http://schemas.openxmlformats.org/drawingml/2006/main">
            <a:r>
              <a:t>Projektquelle: Documentation/HowTo/SQL_SERVER_2025_AI_OFFLINE_TRAINER_GUIDE.md</a:t>
            </a:r>
          </a:p>
          <a:p xmlns:a="http://schemas.openxmlformats.org/drawingml/2006/main">
            <a:r>
              <a:t/>
            </a:r>
          </a:p>
          <a:p xmlns:a="http://schemas.openxmlformats.org/drawingml/2006/main">
            <a:r>
              <a:t>Projektquelle: Documentation/HowTo/LOCAL_TEST_ENVIRONMENT.md</a:t>
            </a:r>
          </a:p>
          <a:p xmlns:a="http://schemas.openxmlformats.org/drawingml/2006/main">
            <a:r>
              <a:t/>
            </a:r>
          </a:p>
          <a:p xmlns:a="http://schemas.openxmlformats.org/drawingml/2006/main">
            <a:r>
              <a:t>Didaktische Zuordnung: CUR-013 / CUR-014.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Erklären Sie Engine als das SQL-Server-Programm, das die Query ausführt. Ein Client ist zum Beispiel ein Queryeditor oder sqlcmd. Compatibility Level steuert bestimmte Datenbankverhaltensweisen und ist nicht identisch mit der installierten Engineversion. VECTOR ist laut Microsoft unter allen Compatibility Levels der geeigneten Engine verfügbar. Das vollständige Schulungsprofil verwendet dennoch CL170, unter anderem wegen AI_GENERATE_CHUNKS. Frage: Beweist ein neuer Queryeditor die Verfügbarkeit von VECTOR auf einem älteren Server? Antwort: Nein. Wenn die Engine ungeeignet ist, wird die vorbereitete SQL-2025-Testumgebung benötigt. Es wird hier keine Installation oder Änderung ausgeführt. Übergang: Zwei read-only Abfragen zeigen die getrennten Werte.</a:t>
            </a:r>
          </a:p>
          <a:p xmlns:a="http://schemas.openxmlformats.org/drawingml/2006/main">
            <a:r>
              <a:t/>
            </a:r>
          </a:p>
          <a:p xmlns:a="http://schemas.openxmlformats.org/drawingml/2006/main">
            <a:r>
              <a:t>STANDARD-Folie 15, Quellfolie 15 des 61-Folien-Masterdecks. Ablauf und Beobachtungsbogen: Documentation/HowTo/SQL_SERVER_2025_AI_STANDARD_COURSE.md.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SRC-072: Vector data type</a:t>
            </a:r>
          </a:p>
          <a:p xmlns:a="http://schemas.openxmlformats.org/drawingml/2006/main">
            <a:r>
              <a:t>https://learn.microsoft.com/en-us/sql/t-sql/data-types/vector-data-type?view=sql-server-ver17</a:t>
            </a:r>
          </a:p>
          <a:p xmlns:a="http://schemas.openxmlformats.org/drawingml/2006/main">
            <a:r>
              <a:t>Abrufdatum laut Quellenregister: 2026-10-11</a:t>
            </a:r>
          </a:p>
          <a:p xmlns:a="http://schemas.openxmlformats.org/drawingml/2006/main">
            <a:r>
              <a:t/>
            </a:r>
          </a:p>
          <a:p xmlns:a="http://schemas.openxmlformats.org/drawingml/2006/main">
            <a:r>
              <a:t>SRC-079: AI_GENERATE_CHUNKS</a:t>
            </a:r>
          </a:p>
          <a:p xmlns:a="http://schemas.openxmlformats.org/drawingml/2006/main">
            <a:r>
              <a:t>https://learn.microsoft.com/en-us/sql/t-sql/functions/ai-generate-chunks-transact-sql?view=sql-server-ver17</a:t>
            </a:r>
          </a:p>
          <a:p xmlns:a="http://schemas.openxmlformats.org/drawingml/2006/main">
            <a:r>
              <a:t>Abrufdatum laut Quellenregister: 2026-10-11</a:t>
            </a:r>
          </a:p>
          <a:p xmlns:a="http://schemas.openxmlformats.org/drawingml/2006/main">
            <a:r>
              <a:t/>
            </a:r>
          </a:p>
          <a:p xmlns:a="http://schemas.openxmlformats.org/drawingml/2006/main">
            <a:r>
              <a:t>SRC-089: GitHub Copilot in SSMS overview</a:t>
            </a:r>
          </a:p>
          <a:p xmlns:a="http://schemas.openxmlformats.org/drawingml/2006/main">
            <a:r>
              <a:t>https://learn.microsoft.com/en-us/ssms/github-copilot/overview</a:t>
            </a:r>
          </a:p>
          <a:p xmlns:a="http://schemas.openxmlformats.org/drawingml/2006/main">
            <a:r>
              <a:t>Abrufdatum laut Quellenregister: 2026-10-11</a:t>
            </a:r>
          </a:p>
          <a:p xmlns:a="http://schemas.openxmlformats.org/drawingml/2006/main">
            <a:r>
              <a:t/>
            </a:r>
          </a:p>
          <a:p xmlns:a="http://schemas.openxmlformats.org/drawingml/2006/main">
            <a:r>
              <a:t>Projektquelle: Documentation/Research/SQL_SERVER_2025_AI_FEATURE_MATRIX.md</a:t>
            </a:r>
          </a:p>
          <a:p xmlns:a="http://schemas.openxmlformats.org/drawingml/2006/main">
            <a:r>
              <a:t/>
            </a:r>
          </a:p>
          <a:p xmlns:a="http://schemas.openxmlformats.org/drawingml/2006/main">
            <a:r>
              <a:t>Didaktische Zuordnung: CUR-014 / CUR-016.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Der Code ist read-only. Die angezeigten Werte sind tatsächliche Umgebungswerte eines späteren praktischen Versuchs und werden nicht für diesen Entwurf als gemessen behauptet. Erwartung im vorbereiteten Schulungsprofil: Major17 und CL170. Eine Ausgabe Major16 ist kein SQL Server2025. Eine17.x-Engine kann eine Datenbank mit niedrigerem CL betreiben. Die Abfrage beweist noch nicht Edition, Rechte, verfügbare Komponente, Clienttransport oder die vollständigen Demovoraussetzungen. Frage: Was tun bei einer Abweichung? Antwort: Erst das Ziel und den vorgesehenen Preflight mit der Lehrperson klären. Keine automatische ALTER-Anweisung ergänzen. Den Compatibility-Level-Bezug entnehmen wir SRC079 und dem gewählten Projektprofil. Reale Namen oder Verbindungsdetails werden nicht in Unterlagen übernommen.</a:t>
            </a:r>
          </a:p>
          <a:p xmlns:a="http://schemas.openxmlformats.org/drawingml/2006/main">
            <a:r>
              <a:t/>
            </a:r>
          </a:p>
          <a:p xmlns:a="http://schemas.openxmlformats.org/drawingml/2006/main">
            <a:r>
              <a:t>STANDARD-Folie 16, Quellfolie 16 des 61-Folien-Masterdecks. Ablauf und Beobachtungsbogen: Documentation/HowTo/SQL_SERVER_2025_AI_STANDARD_COURSE.md.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SRC-072: Vector data type</a:t>
            </a:r>
          </a:p>
          <a:p xmlns:a="http://schemas.openxmlformats.org/drawingml/2006/main">
            <a:r>
              <a:t>https://learn.microsoft.com/en-us/sql/t-sql/data-types/vector-data-type?view=sql-server-ver17</a:t>
            </a:r>
          </a:p>
          <a:p xmlns:a="http://schemas.openxmlformats.org/drawingml/2006/main">
            <a:r>
              <a:t>Abrufdatum laut Quellenregister: 2026-10-11</a:t>
            </a:r>
          </a:p>
          <a:p xmlns:a="http://schemas.openxmlformats.org/drawingml/2006/main">
            <a:r>
              <a:t/>
            </a:r>
          </a:p>
          <a:p xmlns:a="http://schemas.openxmlformats.org/drawingml/2006/main">
            <a:r>
              <a:t>SRC-079: AI_GENERATE_CHUNKS</a:t>
            </a:r>
          </a:p>
          <a:p xmlns:a="http://schemas.openxmlformats.org/drawingml/2006/main">
            <a:r>
              <a:t>https://learn.microsoft.com/en-us/sql/t-sql/functions/ai-generate-chunks-transact-sql?view=sql-server-ver17</a:t>
            </a:r>
          </a:p>
          <a:p xmlns:a="http://schemas.openxmlformats.org/drawingml/2006/main">
            <a:r>
              <a:t>Abrufdatum laut Quellenregister: 2026-10-11</a:t>
            </a:r>
          </a:p>
          <a:p xmlns:a="http://schemas.openxmlformats.org/drawingml/2006/main">
            <a:r>
              <a:t/>
            </a:r>
          </a:p>
          <a:p xmlns:a="http://schemas.openxmlformats.org/drawingml/2006/main">
            <a:r>
              <a:t>Projektquelle: Documentation/HowTo/DEMO_EXECUTION_GUIDE.md</a:t>
            </a:r>
          </a:p>
          <a:p xmlns:a="http://schemas.openxmlformats.org/drawingml/2006/main">
            <a:r>
              <a:t/>
            </a:r>
          </a:p>
          <a:p xmlns:a="http://schemas.openxmlformats.org/drawingml/2006/main">
            <a:r>
              <a:t>Projektquelle: Documentation/Research/SQL_SERVER_2025_AI_FEATURE_MATRIX.md</a:t>
            </a:r>
          </a:p>
          <a:p xmlns:a="http://schemas.openxmlformats.org/drawingml/2006/main">
            <a:r>
              <a:t/>
            </a:r>
          </a:p>
          <a:p xmlns:a="http://schemas.openxmlformats.org/drawingml/2006/main">
            <a:r>
              <a:t>Didaktische Zuordnung: CUR-014.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Frage: Benötigt die Person, die eine Query versteht, automatisch dieselben Rechte wie die Person, die das Lab einrichtet? Antwort: Nein. Eigene Demo-Setups können Datenbanken oder Rollen anlegen, während unsere DECLARE-/VALUES-/SELECT-Übung keine solchen Rechte benötigt. Die Lehrperson nutzt den vorhandenen Ausführungsleitfaden und bei fehlender Testinstanz die passende Umgebungsanleitung. Der Container-Quickstart ist für sein dort beschriebenes Szenario qualifiziert und wird nicht pauschal zur Freigabe sämtlicher KI-Pfade erklärt. Ein Berechtigungsfehler wird als Voraussetzung untersucht. Er wird nicht mit einer ungeprüften Rechteerweiterung gelöst. Die praktische Übung erfolgt auf dem vorbereiteten Schulungsziel. Übergang: Nun können wir die festen Zahlen kennenlernen.</a:t>
            </a:r>
          </a:p>
          <a:p xmlns:a="http://schemas.openxmlformats.org/drawingml/2006/main">
            <a:r>
              <a:t/>
            </a:r>
          </a:p>
          <a:p xmlns:a="http://schemas.openxmlformats.org/drawingml/2006/main">
            <a:r>
              <a:t>STANDARD-Folie 17, Quellfolie 17 des 61-Folien-Masterdecks. Ablauf und Beobachtungsbogen: Documentation/HowTo/SQL_SERVER_2025_AI_STANDARD_COURSE.md.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Projektquelle: Documentation/HowTo/LOCAL_TEST_ENVIRONMENT.md</a:t>
            </a:r>
          </a:p>
          <a:p xmlns:a="http://schemas.openxmlformats.org/drawingml/2006/main">
            <a:r>
              <a:t/>
            </a:r>
          </a:p>
          <a:p xmlns:a="http://schemas.openxmlformats.org/drawingml/2006/main">
            <a:r>
              <a:t>Projektquelle: Documentation/HowTo/CONTAINER_QUICKSTART.md</a:t>
            </a:r>
          </a:p>
          <a:p xmlns:a="http://schemas.openxmlformats.org/drawingml/2006/main">
            <a:r>
              <a:t/>
            </a:r>
          </a:p>
          <a:p xmlns:a="http://schemas.openxmlformats.org/drawingml/2006/main">
            <a:r>
              <a:t>Projektquelle: Documentation/HowTo/DEMO_EXECUTION_GUIDE.md</a:t>
            </a:r>
          </a:p>
          <a:p xmlns:a="http://schemas.openxmlformats.org/drawingml/2006/main">
            <a:r>
              <a:t/>
            </a:r>
          </a:p>
          <a:p xmlns:a="http://schemas.openxmlformats.org/drawingml/2006/main">
            <a:r>
              <a:t>Didaktische Zuordnung: CUR-014 / CUR-018.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Zeigen Sie die drei Positionen in [1,0,0], ohne ihnen Wörter oder eine gemessene Sprachbedeutung zuzuweisen. In dieser geometrischen Übung stellen sie Koordinaten dar. Dimension3 bedeutet drei Komponenten. Die Richtung [1,0,0] zeigt entlang einer Achse, [0,1,0] entlang einer anderen und [-1,0,0] in die Gegenrichtung. Alle drei Vektoren sind Nichtnullvektoren mit Länge1. Die Cosine-Distanz wird deshalb an einem besonders einfachen Fall erklärt. Frage: Hat SQL hier Textverständnis erzeugt? Antwort: Nein, wir haben Zahlen vorgegeben und werden Mathematik anwenden. Echte Textembeddings erläutern wir erst nach der Übung.</a:t>
            </a:r>
          </a:p>
          <a:p xmlns:a="http://schemas.openxmlformats.org/drawingml/2006/main">
            <a:r>
              <a:t/>
            </a:r>
          </a:p>
          <a:p xmlns:a="http://schemas.openxmlformats.org/drawingml/2006/main">
            <a:r>
              <a:t>STANDARD-Folie 18, Quellfolie 18 des 61-Folien-Masterdecks. Ablauf und Beobachtungsbogen: Documentation/HowTo/SQL_SERVER_2025_AI_STANDARD_COURSE.md.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SRC-072: Vector data type</a:t>
            </a:r>
          </a:p>
          <a:p xmlns:a="http://schemas.openxmlformats.org/drawingml/2006/main">
            <a:r>
              <a:t>https://learn.microsoft.com/en-us/sql/t-sql/data-types/vector-data-type?view=sql-server-ver17</a:t>
            </a:r>
          </a:p>
          <a:p xmlns:a="http://schemas.openxmlformats.org/drawingml/2006/main">
            <a:r>
              <a:t>Abrufdatum laut Quellenregister: 2026-10-11</a:t>
            </a:r>
          </a:p>
          <a:p xmlns:a="http://schemas.openxmlformats.org/drawingml/2006/main">
            <a:r>
              <a:t/>
            </a:r>
          </a:p>
          <a:p xmlns:a="http://schemas.openxmlformats.org/drawingml/2006/main">
            <a:r>
              <a:t>SRC-073: VECTOR_DISTANCE</a:t>
            </a:r>
          </a:p>
          <a:p xmlns:a="http://schemas.openxmlformats.org/drawingml/2006/main">
            <a:r>
              <a:t>https://learn.microsoft.com/en-us/sql/t-sql/functions/vector-distance-transact-sql?view=sql-server-ver17</a:t>
            </a:r>
          </a:p>
          <a:p xmlns:a="http://schemas.openxmlformats.org/drawingml/2006/main">
            <a:r>
              <a:t>Abrufdatum laut Quellenregister: 2026-10-11</a:t>
            </a:r>
          </a:p>
          <a:p xmlns:a="http://schemas.openxmlformats.org/drawingml/2006/main">
            <a:r>
              <a:t/>
            </a:r>
          </a:p>
          <a:p xmlns:a="http://schemas.openxmlformats.org/drawingml/2006/main">
            <a:r>
              <a:t>Projektquelle: Documentation/HowTo/SQL_SERVER_2025_AI_OFFLINE_GLOSSARY.md</a:t>
            </a:r>
          </a:p>
          <a:p xmlns:a="http://schemas.openxmlformats.org/drawingml/2006/main">
            <a:r>
              <a:t/>
            </a:r>
          </a:p>
          <a:p xmlns:a="http://schemas.openxmlformats.org/drawingml/2006/main">
            <a:r>
              <a:t>Didaktische Zuordnung: CUR-013 / CUR-014.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Lassen Sie zunächst nur die Rangfolge vorhersagen. Erwartete Reihenfolge: Id1, Id2, Id3. Begründen lassen: Gleiche Richtung ist näher als senkrechte und entgegengesetzte Richtung. Die verwendete Distanz ist eins minus Cosine-Ähnlichkeit. Für unsere Nichtnull-Einheitsvektoren sind die Ähnlichkeiten1,0,−1 und die Distanzen deshalb0,1,2. Diese Werte sind mathematische Sollwerte des ausdrücklich konstruierten Falls, kein protokollierter SQL-Lauf. Erklären Sie bei Bedarf die Begriffe senkrecht und Gegenrichtung verbal. Erst die folgende Query zeigt die Zuordnung zum SQL-Ausdruck. Es gibt hier keine realen Dokumentembeddings oder Relevanzurteile.</a:t>
            </a:r>
          </a:p>
          <a:p xmlns:a="http://schemas.openxmlformats.org/drawingml/2006/main">
            <a:r>
              <a:t/>
            </a:r>
          </a:p>
          <a:p xmlns:a="http://schemas.openxmlformats.org/drawingml/2006/main">
            <a:r>
              <a:t>STANDARD-Folie 19, Quellfolie 19 des 61-Folien-Masterdecks. Ablauf und Beobachtungsbogen: Documentation/HowTo/SQL_SERVER_2025_AI_STANDARD_COURSE.md.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SRC-073: VECTOR_DISTANCE</a:t>
            </a:r>
          </a:p>
          <a:p xmlns:a="http://schemas.openxmlformats.org/drawingml/2006/main">
            <a:r>
              <a:t>https://learn.microsoft.com/en-us/sql/t-sql/functions/vector-distance-transact-sql?view=sql-server-ver17</a:t>
            </a:r>
          </a:p>
          <a:p xmlns:a="http://schemas.openxmlformats.org/drawingml/2006/main">
            <a:r>
              <a:t>Abrufdatum laut Quellenregister: 2026-10-11</a:t>
            </a:r>
          </a:p>
          <a:p xmlns:a="http://schemas.openxmlformats.org/drawingml/2006/main">
            <a:r>
              <a:t/>
            </a:r>
          </a:p>
          <a:p xmlns:a="http://schemas.openxmlformats.org/drawingml/2006/main">
            <a:r>
              <a:t>Projektquelle: Documentation/HowTo/SQL_SERVER_2025_AI_OFFLINE_GLOSSARY.md</a:t>
            </a:r>
          </a:p>
          <a:p xmlns:a="http://schemas.openxmlformats.org/drawingml/2006/main">
            <a:r>
              <a:t/>
            </a:r>
          </a:p>
          <a:p xmlns:a="http://schemas.openxmlformats.org/drawingml/2006/main">
            <a:r>
              <a:t>Didaktische Zuordnung: CUR-014.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Vollständiges kopierbares Lehrbeispiel:</a:t>
            </a:r>
          </a:p>
          <a:p xmlns:a="http://schemas.openxmlformats.org/drawingml/2006/main">
            <a:r>
              <a:t>DECLARE @q VECTOR(3) = '[1,0,0]';</a:t>
            </a:r>
          </a:p>
          <a:p xmlns:a="http://schemas.openxmlformats.org/drawingml/2006/main">
            <a:r>
              <a:t>SELECT Id, VECTOR_DISTANCE('cosine', @q, CAST(V AS VECTOR(3))) AS D</a:t>
            </a:r>
          </a:p>
          <a:p xmlns:a="http://schemas.openxmlformats.org/drawingml/2006/main">
            <a:r>
              <a:t>FROM (VALUES (1,'[1,0,0]'),(2,'[0,1,0]'),(3,'[-1,0,0]')) d(Id,V)</a:t>
            </a:r>
          </a:p>
          <a:p xmlns:a="http://schemas.openxmlformats.org/drawingml/2006/main">
            <a:r>
              <a:t>ORDER BY D, Id;</a:t>
            </a:r>
          </a:p>
          <a:p xmlns:a="http://schemas.openxmlformats.org/drawingml/2006/main">
            <a:r>
              <a:t/>
            </a:r>
          </a:p>
          <a:p xmlns:a="http://schemas.openxmlformats.org/drawingml/2006/main">
            <a:r>
              <a:t>Diese Query legt keine Tabelle an, schreibt keine Daten und ruft kein Modell auf. Die angeleitete Vorführung setzt die vorbereitete Engine 17.x voraus. Frage: Welche Zahl ist der Fragevektor? Antwort: @q. Welche Werte werden verglichen? Antwort: Die drei ausdrücklich angegebenen V-Zeichenfolgen nach der Konvertierung zu VECTOR(3). Die Funktion berechnet für jede Row eine exakte Distanz. ORDER BY D,Id legt die Reihenfolge fest und löst gleiche Distanzwerte nach Id auf. VECTOR_DISTANCE nutzt dafür keinen Vector Index. Die resultierenden Sollwerte stehen auf der nächsten Folie. Diese angeleitete Vorführung ist ein didaktischer read-only Ausdruck, keine neue katalogisierte Demo, keine bewertete Arbeitsheftaufgabe und keine zusätzliche Runtimefreigabe. Es gibt hierfür keine neue Rubrik. Die bestehenden bewerteten Aufgaben, Trainerlösungen und Bewertungsrubrik bleiben ausschließlich im Arbeitsheft.</a:t>
            </a:r>
          </a:p>
          <a:p xmlns:a="http://schemas.openxmlformats.org/drawingml/2006/main">
            <a:r>
              <a:t/>
            </a:r>
          </a:p>
          <a:p xmlns:a="http://schemas.openxmlformats.org/drawingml/2006/main">
            <a:r>
              <a:t>STANDARD-Folie 20, Quellfolie 20 des 61-Folien-Masterdecks. Ablauf und Beobachtungsbogen: Documentation/HowTo/SQL_SERVER_2025_AI_STANDARD_COURSE.md.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SRC-072: Vector data type</a:t>
            </a:r>
          </a:p>
          <a:p xmlns:a="http://schemas.openxmlformats.org/drawingml/2006/main">
            <a:r>
              <a:t>https://learn.microsoft.com/en-us/sql/t-sql/data-types/vector-data-type?view=sql-server-ver17</a:t>
            </a:r>
          </a:p>
          <a:p xmlns:a="http://schemas.openxmlformats.org/drawingml/2006/main">
            <a:r>
              <a:t>Abrufdatum laut Quellenregister: 2026-10-11</a:t>
            </a:r>
          </a:p>
          <a:p xmlns:a="http://schemas.openxmlformats.org/drawingml/2006/main">
            <a:r>
              <a:t/>
            </a:r>
          </a:p>
          <a:p xmlns:a="http://schemas.openxmlformats.org/drawingml/2006/main">
            <a:r>
              <a:t>SRC-073: VECTOR_DISTANCE</a:t>
            </a:r>
          </a:p>
          <a:p xmlns:a="http://schemas.openxmlformats.org/drawingml/2006/main">
            <a:r>
              <a:t>https://learn.microsoft.com/en-us/sql/t-sql/functions/vector-distance-transact-sql?view=sql-server-ver17</a:t>
            </a:r>
          </a:p>
          <a:p xmlns:a="http://schemas.openxmlformats.org/drawingml/2006/main">
            <a:r>
              <a:t>Abrufdatum laut Quellenregister: 2026-10-11</a:t>
            </a:r>
          </a:p>
          <a:p xmlns:a="http://schemas.openxmlformats.org/drawingml/2006/main">
            <a:r>
              <a:t/>
            </a:r>
          </a:p>
          <a:p xmlns:a="http://schemas.openxmlformats.org/drawingml/2006/main">
            <a:r>
              <a:t>Projektquelle: Documentation/HowTo/SQL_SERVER_2025_AI_OFFLINE_GLOSSARY.md</a:t>
            </a:r>
          </a:p>
          <a:p xmlns:a="http://schemas.openxmlformats.org/drawingml/2006/main">
            <a:r>
              <a:t/>
            </a:r>
          </a:p>
          <a:p xmlns:a="http://schemas.openxmlformats.org/drawingml/2006/main">
            <a:r>
              <a:t>Didaktische Zuordnung: CUR-014.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Frage: Was bedeutet der erste Treffer? Antwort: Id1 ist unter der gewählten Metric und den vorgegebenen Zahlen am nächsten. Frage: Bedeutet Distanz0, dass ein Antworttext mit100Prozent Wahrscheinlichkeit wahr ist? Antwort: Nein. Die Distanz bezieht sich auf Zahlen im gewählten Raum und ist keine Antwortwahrscheinlichkeit. Die mathematischen Sollwerte0,1,2 sind direkt aus den drei Einheitsvektoren hergeleitet, keine erhobene Runtimeevidenz. Bei einem praktischen Lauf erst tatsächliche Rows und die sichtbare numerische Darstellung lesen. Sehr kleine Rundungsabweichungen werden begründet eingeordnet und dürfen keine geänderten Kandidaten oder andere Metric verbergen. Übergang: Für Textsuche muss noch erklärt werden, wo geeignete Zahlen überhaupt herkommen.</a:t>
            </a:r>
          </a:p>
          <a:p xmlns:a="http://schemas.openxmlformats.org/drawingml/2006/main">
            <a:r>
              <a:t/>
            </a:r>
          </a:p>
          <a:p xmlns:a="http://schemas.openxmlformats.org/drawingml/2006/main">
            <a:r>
              <a:t>STANDARD-Folie 21, Quellfolie 21 des 61-Folien-Masterdecks. Ablauf und Beobachtungsbogen: Documentation/HowTo/SQL_SERVER_2025_AI_STANDARD_COURSE.md.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SRC-073: VECTOR_DISTANCE</a:t>
            </a:r>
          </a:p>
          <a:p xmlns:a="http://schemas.openxmlformats.org/drawingml/2006/main">
            <a:r>
              <a:t>https://learn.microsoft.com/en-us/sql/t-sql/functions/vector-distance-transact-sql?view=sql-server-ver17</a:t>
            </a:r>
          </a:p>
          <a:p xmlns:a="http://schemas.openxmlformats.org/drawingml/2006/main">
            <a:r>
              <a:t>Abrufdatum laut Quellenregister: 2026-10-11</a:t>
            </a:r>
          </a:p>
          <a:p xmlns:a="http://schemas.openxmlformats.org/drawingml/2006/main">
            <a:r>
              <a:t/>
            </a:r>
          </a:p>
          <a:p xmlns:a="http://schemas.openxmlformats.org/drawingml/2006/main">
            <a:r>
              <a:t>Projektquelle: Documentation/HowTo/SQL_SERVER_2025_AI_OFFLINE_GLOSSARY.md</a:t>
            </a:r>
          </a:p>
          <a:p xmlns:a="http://schemas.openxmlformats.org/drawingml/2006/main">
            <a:r>
              <a:t/>
            </a:r>
          </a:p>
          <a:p xmlns:a="http://schemas.openxmlformats.org/drawingml/2006/main">
            <a:r>
              <a:t>Didaktische Zuordnung: CUR-014.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Embedding bedeutet hier eine modellabhängige numerische Repräsentation von Text. Rückbezug zur Frage Wann verschwinden die Logeinträge: Ein geeignetes Textmodell könnte unterschiedliche Formulierungen nahe abbilden. Das ist eine zu bewertende Anwendungsidee, kein in dieser Einführung gemessenes Ergebnis. Die Frage und die Quellen müssen zum selben geeigneten Modellraum gehören. Gleiche Dimensionszahl allein genügt nicht. Modellversion, Dimension und Normalisierung werden bei gespeicherten Embeddings nachvollziehbar gehalten. Jede Koordinate ist nicht einfach einem verständlichen Wort zuzuordnen. Das Suchmodell und ein Modell zur Antwortformulierung können unterschiedliche Komponenten sein. Übergang: Der echte Modellpfad bringt zusätzliche praktische Hürden mit sich.</a:t>
            </a:r>
          </a:p>
          <a:p xmlns:a="http://schemas.openxmlformats.org/drawingml/2006/main">
            <a:r>
              <a:t/>
            </a:r>
          </a:p>
          <a:p xmlns:a="http://schemas.openxmlformats.org/drawingml/2006/main">
            <a:r>
              <a:t>STANDARD-Folie 22, Quellfolie 22 des 61-Folien-Masterdecks. Ablauf und Beobachtungsbogen: Documentation/HowTo/SQL_SERVER_2025_AI_STANDARD_COURSE.md.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SRC-087: Generate embeddings with Azure OpenAI</a:t>
            </a:r>
          </a:p>
          <a:p xmlns:a="http://schemas.openxmlformats.org/drawingml/2006/main">
            <a:r>
              <a:t>https://learn.microsoft.com/en-us/azure/foundry/openai/how-to/embeddings</a:t>
            </a:r>
          </a:p>
          <a:p xmlns:a="http://schemas.openxmlformats.org/drawingml/2006/main">
            <a:r>
              <a:t>Abrufdatum laut Quellenregister: 2026-10-11</a:t>
            </a:r>
          </a:p>
          <a:p xmlns:a="http://schemas.openxmlformats.org/drawingml/2006/main">
            <a:r>
              <a:t/>
            </a:r>
          </a:p>
          <a:p xmlns:a="http://schemas.openxmlformats.org/drawingml/2006/main">
            <a:r>
              <a:t>Projektquelle: Documentation/HowTo/SQL_SERVER_2025_AI_OFFLINE_GLOSSARY.md</a:t>
            </a:r>
          </a:p>
          <a:p xmlns:a="http://schemas.openxmlformats.org/drawingml/2006/main">
            <a:r>
              <a:t/>
            </a:r>
          </a:p>
          <a:p xmlns:a="http://schemas.openxmlformats.org/drawingml/2006/main">
            <a:r>
              <a:t>Projektquelle: Documentation/Project_Planning/SQL_SERVER_2025_AI_WORKSTREAM_PLAN.md</a:t>
            </a:r>
          </a:p>
          <a:p xmlns:a="http://schemas.openxmlformats.org/drawingml/2006/main">
            <a:r>
              <a:t/>
            </a:r>
          </a:p>
          <a:p xmlns:a="http://schemas.openxmlformats.org/drawingml/2006/main">
            <a:r>
              <a:t>Didaktische Zuordnung: CUR-013 / CUR-016.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Ein Provider ist der Dienst, der das vorbereitete Modell ausführt. Im direkten SQL-External-Modelpfad verlangt Microsoft einen HTTPS-Endpunkt mit TLS, einem Verfahren für verschlüsselten Transport. Diese Prüfung ist mehr als die Frage, ob ein Dienst im Browser antwortet. Bei Containern bezeichnet localhost den jeweiligen Ausführungskontext. Rechte für Modellnutzung bleiben von Einrichtungs- und Credentialrechten getrennt. Ein lokal laufendes Modell benötigt ebenfalls Prüfung von Modelllizenz, Ressourcen und Eingaben. Das bedeutet nicht, dass sämtliche Daten automatisch das Gerät verlassen. Der jeweilige Datenfluss entscheidet. Kostenangaben, Retention und Verarbeitung unterscheiden sich nach Modell und Dienst. Es gibt keine allgemeine Nullkosten- oder Datenschutzgarantie. Diese Folie erklärt einen späteren Pfad und startet keinen Modellcall, keine Cloudbereitstellung und keine Instanzaktivierung. Bei fehlenden Voraussetzungen bleiben wir beim Offlineeinstieg. Frage: Welche dieser Hürden entfällt in unserer festen Zahlenübung? Antwort: Ein Modellrequest und dessen Providerkonfiguration sind dort nicht beteiligt.</a:t>
            </a:r>
          </a:p>
          <a:p xmlns:a="http://schemas.openxmlformats.org/drawingml/2006/main">
            <a:r>
              <a:t/>
            </a:r>
          </a:p>
          <a:p xmlns:a="http://schemas.openxmlformats.org/drawingml/2006/main">
            <a:r>
              <a:t>STANDARD-Folie 23, Quellfolie 23 des 61-Folien-Masterdecks. Ablauf und Beobachtungsbogen: Documentation/HowTo/SQL_SERVER_2025_AI_STANDARD_COURSE.md.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SRC-080: CREATE EXTERNAL MODEL</a:t>
            </a:r>
          </a:p>
          <a:p xmlns:a="http://schemas.openxmlformats.org/drawingml/2006/main">
            <a:r>
              <a:t>https://learn.microsoft.com/en-us/sql/t-sql/statements/create-external-model-transact-sql?view=sql-server-ver17</a:t>
            </a:r>
          </a:p>
          <a:p xmlns:a="http://schemas.openxmlformats.org/drawingml/2006/main">
            <a:r>
              <a:t>Abrufdatum laut Quellenregister: 2026-10-11</a:t>
            </a:r>
          </a:p>
          <a:p xmlns:a="http://schemas.openxmlformats.org/drawingml/2006/main">
            <a:r>
              <a:t/>
            </a:r>
          </a:p>
          <a:p xmlns:a="http://schemas.openxmlformats.org/drawingml/2006/main">
            <a:r>
              <a:t>SRC-082: sp_invoke_external_rest_endpoint</a:t>
            </a:r>
          </a:p>
          <a:p xmlns:a="http://schemas.openxmlformats.org/drawingml/2006/main">
            <a:r>
              <a:t>https://learn.microsoft.com/en-us/sql/relational-databases/system-stored-procedures/sp-invoke-external-rest-endpoint-transact-sql?view=sql-server-ver17</a:t>
            </a:r>
          </a:p>
          <a:p xmlns:a="http://schemas.openxmlformats.org/drawingml/2006/main">
            <a:r>
              <a:t>Abrufdatum laut Quellenregister: 2026-10-11</a:t>
            </a:r>
          </a:p>
          <a:p xmlns:a="http://schemas.openxmlformats.org/drawingml/2006/main">
            <a:r>
              <a:t/>
            </a:r>
          </a:p>
          <a:p xmlns:a="http://schemas.openxmlformats.org/drawingml/2006/main">
            <a:r>
              <a:t>SRC-088: Foundry Models data privacy</a:t>
            </a:r>
          </a:p>
          <a:p xmlns:a="http://schemas.openxmlformats.org/drawingml/2006/main">
            <a:r>
              <a:t>https://learn.microsoft.com/en-us/azure/foundry/responsible-ai/openai/data-privacy</a:t>
            </a:r>
          </a:p>
          <a:p xmlns:a="http://schemas.openxmlformats.org/drawingml/2006/main">
            <a:r>
              <a:t>Abrufdatum laut Quellenregister: 2026-10-11</a:t>
            </a:r>
          </a:p>
          <a:p xmlns:a="http://schemas.openxmlformats.org/drawingml/2006/main">
            <a:r>
              <a:t/>
            </a:r>
          </a:p>
          <a:p xmlns:a="http://schemas.openxmlformats.org/drawingml/2006/main">
            <a:r>
              <a:t>Projektquelle: Documentation/HowTo/SQL_SERVER_2025_AI_MODEL_PATHS.md</a:t>
            </a:r>
          </a:p>
          <a:p xmlns:a="http://schemas.openxmlformats.org/drawingml/2006/main">
            <a:r>
              <a:t/>
            </a:r>
          </a:p>
          <a:p xmlns:a="http://schemas.openxmlformats.org/drawingml/2006/main">
            <a:r>
              <a:t>Projektquelle: Documentation/Research/SQL_SERVER_2025_AI_FEATURE_MATRIX.md</a:t>
            </a:r>
          </a:p>
          <a:p xmlns:a="http://schemas.openxmlformats.org/drawingml/2006/main">
            <a:r>
              <a:t/>
            </a:r>
          </a:p>
          <a:p xmlns:a="http://schemas.openxmlformats.org/drawingml/2006/main">
            <a:r>
              <a:t>Didaktische Zuordnung: CUR-016 / CUR-018.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Für den kurzen Einstiegssatz kann der gesamte Satz ein Textbereich sein. Bei längeren Dokumenten entstehen mehrere Chunks. Provenienz bedeutet nachvollziehbare Herkunft und Verarbeitung. Dazu gehören Dokumentkennung, Fassung, Reihenfolge, Anfang und Länge des Bereichs. Diese Felder werden in den anschließenden Demos konkret untersucht. Die SQL-Funktion AI_GENERATE_CHUNKS benötigt mindestens Compatibility Level170. Ihr FIXED-Verfahren verwendet Zeichenbereiche und ist kein Modelltokenizer. Frage: Was verlieren wir, wenn wir nur den Satz und seine Zahlenliste speichern? Antwort: Die Verbindung zur überprüfbaren Quelle und ihrer aktuellen Fassung. Übergang: Ein solcher erlaubter Quellenausschnitt kann Kontext für einen Antwortentwurf bilden.</a:t>
            </a:r>
          </a:p>
          <a:p xmlns:a="http://schemas.openxmlformats.org/drawingml/2006/main">
            <a:r>
              <a:t/>
            </a:r>
          </a:p>
          <a:p xmlns:a="http://schemas.openxmlformats.org/drawingml/2006/main">
            <a:r>
              <a:t>STANDARD-Folie 24, Quellfolie 24 des 61-Folien-Masterdecks. Ablauf und Beobachtungsbogen: Documentation/HowTo/SQL_SERVER_2025_AI_STANDARD_COURSE.md.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SRC-079: AI_GENERATE_CHUNKS</a:t>
            </a:r>
          </a:p>
          <a:p xmlns:a="http://schemas.openxmlformats.org/drawingml/2006/main">
            <a:r>
              <a:t>https://learn.microsoft.com/en-us/sql/t-sql/functions/ai-generate-chunks-transact-sql?view=sql-server-ver17</a:t>
            </a:r>
          </a:p>
          <a:p xmlns:a="http://schemas.openxmlformats.org/drawingml/2006/main">
            <a:r>
              <a:t>Abrufdatum laut Quellenregister: 2026-10-11</a:t>
            </a:r>
          </a:p>
          <a:p xmlns:a="http://schemas.openxmlformats.org/drawingml/2006/main">
            <a:r>
              <a:t/>
            </a:r>
          </a:p>
          <a:p xmlns:a="http://schemas.openxmlformats.org/drawingml/2006/main">
            <a:r>
              <a:t>Projektquelle: Documentation/Project_Planning/SQL_SERVER_2025_AI_WORKSTREAM_PLAN.md</a:t>
            </a:r>
          </a:p>
          <a:p xmlns:a="http://schemas.openxmlformats.org/drawingml/2006/main">
            <a:r>
              <a:t/>
            </a:r>
          </a:p>
          <a:p xmlns:a="http://schemas.openxmlformats.org/drawingml/2006/main">
            <a:r>
              <a:t>Didaktische Zuordnung: CUR-015 / CUR-017.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RAG bezeichnet die Verbindung von abgerufenem Kontext und generativer Antwort. Retrieval heißt hier das Suchen und Bereitstellen von Quellen. Die Architektur wurde bereits mit den getrennten Rollen vorbereitet. Frage: Trainieren wir das Modell mit jeder neuen Frage automatisch neu? Antwort: Nein, die Anwendung kann dem vorbereiteten Modell neuen Kontext bereitstellen. Sie muss dabei sowohl Zugriffsrechte als auch Quellenstand beachten. Ein erlaubter Text allein stützt noch nicht jeden erzeugten Satz. Der kurze folgende Fall arbeitet mit ausdrücklich vorgegebenen Antworten, damit die Gruppe die Belegentscheidung gemeinsam prüfen kann. Das ist ein Offline-Kontrollfall und keine Livegeneration. Übergang: Wir lesen Frage, Quelle und Antwort nebeneinander.</a:t>
            </a:r>
          </a:p>
          <a:p xmlns:a="http://schemas.openxmlformats.org/drawingml/2006/main">
            <a:r>
              <a:t/>
            </a:r>
          </a:p>
          <a:p xmlns:a="http://schemas.openxmlformats.org/drawingml/2006/main">
            <a:r>
              <a:t>STANDARD-Folie 25, Quellfolie 25 des 61-Folien-Masterdecks. Ablauf und Beobachtungsbogen: Documentation/HowTo/SQL_SERVER_2025_AI_STANDARD_COURSE.md.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Projektquelle: Documentation/HowTo/SQL_SERVER_2025_AI_OFFLINE_GLOSSARY.md</a:t>
            </a:r>
          </a:p>
          <a:p xmlns:a="http://schemas.openxmlformats.org/drawingml/2006/main">
            <a:r>
              <a:t/>
            </a:r>
          </a:p>
          <a:p xmlns:a="http://schemas.openxmlformats.org/drawingml/2006/main">
            <a:r>
              <a:t>Projektquelle: Documentation/Project_Planning/SQL_SERVER_2025_AI_WORKSTREAM_PLAN.md</a:t>
            </a:r>
          </a:p>
          <a:p xmlns:a="http://schemas.openxmlformats.org/drawingml/2006/main">
            <a:r>
              <a:t/>
            </a:r>
          </a:p>
          <a:p xmlns:a="http://schemas.openxmlformats.org/drawingml/2006/main">
            <a:r>
              <a:t>Didaktische Zuordnung: CUR-017.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Lassen Sie die Gruppe die Antwort freigeben oder zurückweisen und die Entscheidung an einem sichtbaren Beleg festmachen. Erwartete Entscheidung für diesen festen Lehrfall: Die Fristaussage ist durch die aktuelle erlaubte Quelle gestützt. Frage: Welche zusätzliche Behauptung wäre noch nicht belegt? Antwort: Eine Begründung, warum die Frist sieben Tage beträgt. Unser Dokument nennt keinen Grund. Die Existenz einer Dokumentkennung genügt nicht, wenn der zitierte Satz außerhalb des tatsächlich gelieferten Kontexts liegt. Der Antwortentwurf ist hier vorgegeben und nicht mit einem Modell erzeugt. Übergang: Jetzt prüfen wir dieselbe Regel an einer falschen und an einer unbeantwortbaren Frage.</a:t>
            </a:r>
          </a:p>
          <a:p xmlns:a="http://schemas.openxmlformats.org/drawingml/2006/main">
            <a:r>
              <a:t/>
            </a:r>
          </a:p>
          <a:p xmlns:a="http://schemas.openxmlformats.org/drawingml/2006/main">
            <a:r>
              <a:t>STANDARD-Folie 26, Quellfolie 26 des 61-Folien-Masterdecks. Ablauf und Beobachtungsbogen: Documentation/HowTo/SQL_SERVER_2025_AI_STANDARD_COURSE.md.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Projektquelle: Documentation/HowTo/SQL_SERVER_2025_AI_OFFLINE_WORKBOOK.md</a:t>
            </a:r>
          </a:p>
          <a:p xmlns:a="http://schemas.openxmlformats.org/drawingml/2006/main">
            <a:r>
              <a:t/>
            </a:r>
          </a:p>
          <a:p xmlns:a="http://schemas.openxmlformats.org/drawingml/2006/main">
            <a:r>
              <a:t>Projektquelle: Documentation/Project_Planning/SQL_SERVER_2025_AI_WORKSTREAM_PLAN.md</a:t>
            </a:r>
          </a:p>
          <a:p xmlns:a="http://schemas.openxmlformats.org/drawingml/2006/main">
            <a:r>
              <a:t/>
            </a:r>
          </a:p>
          <a:p xmlns:a="http://schemas.openxmlformats.org/drawingml/2006/main">
            <a:r>
              <a:t>Didaktische Zuordnung: CUR-017.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Geben Sie dieselbe aktuelle Quelle aus Dokument2 vor. Erst die falsche14-Tage-Antwort besprechen. Frage: Reicht eine korrekte Quellenkennung für diese Antwort? Antwort: Nein, ihr Inhalt widerspricht dem Quelleninhalt. Danach die Warum-Frage behandeln. Der passende feste Nichtantworttext lautet: Die aktuelle Anleitung nennt sieben Tage, erklärt den Grund aber nicht. Die Gruppe soll zwischen falscher Antwort und fehlender Information unterscheiden. Eine leere Ausgabe allein erklärt keine dieser Situationen. Eine begründete Nichtantwort macht die fehlende Evidenz sichtbar. Diese Lehrfälle greifen die späteren Offline-RAG-Kontrollen auf, ersetzen aber deren vollständigen Ergebnisvertrag nicht. Übergang: Mit diesen Kriterien können wir nun die konkreten SQL-Demos verstehen.</a:t>
            </a:r>
          </a:p>
          <a:p xmlns:a="http://schemas.openxmlformats.org/drawingml/2006/main">
            <a:r>
              <a:t/>
            </a:r>
          </a:p>
          <a:p xmlns:a="http://schemas.openxmlformats.org/drawingml/2006/main">
            <a:r>
              <a:t>STANDARD-Folie 27, Quellfolie 27 des 61-Folien-Masterdecks. Ablauf und Beobachtungsbogen: Documentation/HowTo/SQL_SERVER_2025_AI_STANDARD_COURSE.md.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Projektquelle: Documentation/HowTo/SQL_SERVER_2025_AI_OFFLINE_WORKBOOK.md</a:t>
            </a:r>
          </a:p>
          <a:p xmlns:a="http://schemas.openxmlformats.org/drawingml/2006/main">
            <a:r>
              <a:t/>
            </a:r>
          </a:p>
          <a:p xmlns:a="http://schemas.openxmlformats.org/drawingml/2006/main">
            <a:r>
              <a:t>Projektquelle: Documentation/HowTo/SQL_SERVER_2025_AI_OFFLINE_TRAINER_GUIDE.md</a:t>
            </a:r>
          </a:p>
          <a:p xmlns:a="http://schemas.openxmlformats.org/drawingml/2006/main">
            <a:r>
              <a:t/>
            </a:r>
          </a:p>
          <a:p xmlns:a="http://schemas.openxmlformats.org/drawingml/2006/main">
            <a:r>
              <a:t>Didaktische Zuordnung: CUR-017 / CUR-022.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Kurzer Verständnischeck vor dem Übergang: Woher stammen unsere ersten drei Vektoren? Antwort: Aus ausdrücklich gesetzten Geometriewerten. Was liefert ein echtes Embedding-Modell? Antwort: Eine modellabhängige numerische Repräsentation der Eingabe. Was prüft unsere sieben-Tage-Antwort? Antwort: Eine konkrete aktuelle Quellenstelle im erlaubten Kontext. Was tun wir bei fehlendem Modellzugang? Antwort: Den lokalen Offlinepfad und seine begrenzten Lernziele nutzen. Die folgenden vorhandenen Folien führen die konkreten Demo-IDs, Voraussetzungen, Ergebnisverträge und offenen Vertiefungspfade ein. Keine zusätzlichen Modell-, Cloud- oder Hosteffekte aus den Einführungscodebeispielen ableiten. Lehrperson fragt vor dem Demostart nach tatsächlichem Ziel, Preflight und dokumentiertem Cleanup. Lehrzeiten und Lernwirksamkeit dieser neuen Einsteigerfolge sind noch nicht erprobt.</a:t>
            </a:r>
          </a:p>
          <a:p xmlns:a="http://schemas.openxmlformats.org/drawingml/2006/main">
            <a:r>
              <a:t/>
            </a:r>
          </a:p>
          <a:p xmlns:a="http://schemas.openxmlformats.org/drawingml/2006/main">
            <a:r>
              <a:t>STANDARD-Folie 28, Quellfolie 28 des 61-Folien-Masterdecks. Ablauf und Beobachtungsbogen: Documentation/HowTo/SQL_SERVER_2025_AI_STANDARD_COURSE.md.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Projektquelle: Documentation/HowTo/SQL_SERVER_2025_AI_OFFLINE_TRAINER_GUIDE.md</a:t>
            </a:r>
          </a:p>
          <a:p xmlns:a="http://schemas.openxmlformats.org/drawingml/2006/main">
            <a:r>
              <a:t/>
            </a:r>
          </a:p>
          <a:p xmlns:a="http://schemas.openxmlformats.org/drawingml/2006/main">
            <a:r>
              <a:t>Projektquelle: Documentation/HowTo/DEMO_EXECUTION_GUIDE.md</a:t>
            </a:r>
          </a:p>
          <a:p xmlns:a="http://schemas.openxmlformats.org/drawingml/2006/main">
            <a:r>
              <a:t/>
            </a:r>
          </a:p>
          <a:p xmlns:a="http://schemas.openxmlformats.org/drawingml/2006/main">
            <a:r>
              <a:t>Didaktische Zuordnung: CUR-013 / CUR-014 / CUR-017 / CUR-018.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Das synthetische Beispiel verwendet geometrische Vektoren mit drei Komponenten. Es benötigt kein Modell und erklärt keine reale Sprachsemantik. Die Payloadabschätzung 4d beziehungsweise 2d ist kein gemessener Tabellen- oder Indexspeicher. Tatsächliche Allocations und weitere Spalten sind gesondert zu messen. VECTORPROPERTY liefert Dimensions- und Basistypinformation. Diese Metadaten ersetzen keine Modellkennung, keinen Digest und keine Versionsbindung. Bei Modellwechsel sind getrennte Spalten oder Tabellen vorgesehen.</a:t>
            </a:r>
          </a:p>
          <a:p xmlns:a="http://schemas.openxmlformats.org/drawingml/2006/main">
            <a:r>
              <a:t/>
            </a:r>
          </a:p>
          <a:p xmlns:a="http://schemas.openxmlformats.org/drawingml/2006/main">
            <a:r>
              <a:t>STANDARD-Folie 29, Quellfolie 34 des 61-Folien-Masterdecks. Ablauf und Beobachtungsbogen: Documentation/HowTo/SQL_SERVER_2025_AI_STANDARD_COURSE.md.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SRC-072: Vector data type</a:t>
            </a:r>
          </a:p>
          <a:p xmlns:a="http://schemas.openxmlformats.org/drawingml/2006/main">
            <a:r>
              <a:t>https://learn.microsoft.com/en-us/sql/t-sql/data-types/vector-data-type?view=sql-server-ver17</a:t>
            </a:r>
          </a:p>
          <a:p xmlns:a="http://schemas.openxmlformats.org/drawingml/2006/main">
            <a:r>
              <a:t>Abrufdatum laut Quellenregister: 2026-10-11</a:t>
            </a:r>
          </a:p>
          <a:p xmlns:a="http://schemas.openxmlformats.org/drawingml/2006/main">
            <a:r>
              <a:t/>
            </a:r>
          </a:p>
          <a:p xmlns:a="http://schemas.openxmlformats.org/drawingml/2006/main">
            <a:r>
              <a:t>SRC-076: VECTORPROPERTY</a:t>
            </a:r>
          </a:p>
          <a:p xmlns:a="http://schemas.openxmlformats.org/drawingml/2006/main">
            <a:r>
              <a:t>https://learn.microsoft.com/en-us/sql/t-sql/functions/vectorproperty-transact-sql?view=sql-server-ver17</a:t>
            </a:r>
          </a:p>
          <a:p xmlns:a="http://schemas.openxmlformats.org/drawingml/2006/main">
            <a:r>
              <a:t>Abrufdatum laut Quellenregister: 2026-10-11</a:t>
            </a:r>
          </a:p>
          <a:p xmlns:a="http://schemas.openxmlformats.org/drawingml/2006/main">
            <a:r>
              <a:t/>
            </a:r>
          </a:p>
          <a:p xmlns:a="http://schemas.openxmlformats.org/drawingml/2006/main">
            <a:r>
              <a:t>Projektquelle: Demos/09_AI_SQL_Server_2025/QRY-014_Vector_Type/README.md</a:t>
            </a:r>
          </a:p>
          <a:p xmlns:a="http://schemas.openxmlformats.org/drawingml/2006/main">
            <a:r>
              <a:t/>
            </a:r>
          </a:p>
          <a:p xmlns:a="http://schemas.openxmlformats.org/drawingml/2006/main">
            <a:r>
              <a:t>Didaktische Zuordnung: CUR-013 / CUR-014.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Lehrperson zeigt zuerst die Vorhersagefrage und startet anschließend QRY-014 über den Ausführungsleitfaden. Lesen Sie die fünf synthetischen Rows und die festen Assertions. Vergleichen Sie einen syntaktisch ungültigen Wert mit einem gültigen Vektor aus einem anderen Modellraum. Lassen Sie zwei zusätzliche Provenienzfelder nennen, etwa Modellversion und Normalisierung. Die Gegenmaßnahme ist eine vorgelagerte Modell-/Dimensionsprüfung. Cleanup und eigene DB-Abwesenheit abschließen. float16 ist ein separat begrenzter Previewpfad und gehört nicht zur hier behaupteten Sprachmodellqualität.</a:t>
            </a:r>
          </a:p>
          <a:p xmlns:a="http://schemas.openxmlformats.org/drawingml/2006/main">
            <a:r>
              <a:t/>
            </a:r>
          </a:p>
          <a:p xmlns:a="http://schemas.openxmlformats.org/drawingml/2006/main">
            <a:r>
              <a:t>STANDARD-Folie 30, Quellfolie 35 des 61-Folien-Masterdecks. Ablauf und Beobachtungsbogen: Documentation/HowTo/SQL_SERVER_2025_AI_STANDARD_COURSE.md.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Konkreter Aufruf nach Einrichtung gemäß DEMO_EXECUTION_GUIDE.md:</a:t>
            </a:r>
          </a:p>
          <a:p xmlns:a="http://schemas.openxmlformats.org/drawingml/2006/main">
            <a:r>
              <a:t>Invoke-SqlPerfDemo -DemoId QRY-014 -Server $server -Authentication $authentication -Username $username</a:t>
            </a:r>
          </a:p>
          <a:p xmlns:a="http://schemas.openxmlformats.org/drawingml/2006/main">
            <a:r>
              <a:t>Phasen und Abbruch: manifest.json sowie 90_Cleanup.sql. Vier vollständige Eigentumsmarker und denselben RunToken prüfen. Anschließend unabhängige Abwesenheit der eigenen DB bestätigen.</a:t>
            </a:r>
          </a:p>
          <a:p xmlns:a="http://schemas.openxmlformats.org/drawingml/2006/main">
            <a:r>
              <a:t>Demoquelle: Demos/09_AI_SQL_Server_2025/QRY-014_Vector_Type/README.md</a:t>
            </a:r>
          </a:p>
          <a:p xmlns:a="http://schemas.openxmlformats.org/drawingml/2006/main">
            <a:r>
              <a:t>Ergebnisvertrag: Demos/09_AI_SQL_Server_2025/QRY-014_Vector_Type/Expected/result-contract.json</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SRC-072: Vector data type</a:t>
            </a:r>
          </a:p>
          <a:p xmlns:a="http://schemas.openxmlformats.org/drawingml/2006/main">
            <a:r>
              <a:t>https://learn.microsoft.com/en-us/sql/t-sql/data-types/vector-data-type?view=sql-server-ver17</a:t>
            </a:r>
          </a:p>
          <a:p xmlns:a="http://schemas.openxmlformats.org/drawingml/2006/main">
            <a:r>
              <a:t>Abrufdatum laut Quellenregister: 2026-10-11</a:t>
            </a:r>
          </a:p>
          <a:p xmlns:a="http://schemas.openxmlformats.org/drawingml/2006/main">
            <a:r>
              <a:t/>
            </a:r>
          </a:p>
          <a:p xmlns:a="http://schemas.openxmlformats.org/drawingml/2006/main">
            <a:r>
              <a:t>SRC-076: VECTORPROPERTY</a:t>
            </a:r>
          </a:p>
          <a:p xmlns:a="http://schemas.openxmlformats.org/drawingml/2006/main">
            <a:r>
              <a:t>https://learn.microsoft.com/en-us/sql/t-sql/functions/vectorproperty-transact-sql?view=sql-server-ver17</a:t>
            </a:r>
          </a:p>
          <a:p xmlns:a="http://schemas.openxmlformats.org/drawingml/2006/main">
            <a:r>
              <a:t>Abrufdatum laut Quellenregister: 2026-10-11</a:t>
            </a:r>
          </a:p>
          <a:p xmlns:a="http://schemas.openxmlformats.org/drawingml/2006/main">
            <a:r>
              <a:t/>
            </a:r>
          </a:p>
          <a:p xmlns:a="http://schemas.openxmlformats.org/drawingml/2006/main">
            <a:r>
              <a:t>Didaktische Zuordnung: CUR-014.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Leiten Sie norm2 als Wurzel aus 3²+4² her. VECTOR_NORMALIZE mit norm2 skaliert diesen Vektor auf [0.6,0.8,0]. Die Metric entscheidet, ob Magnitude die Rangfolge beeinflusst. VECTOR_DISTANCE berechnet exakte Distanz und nutzt dafür keinen Vector Index. Das negatives Dot Product kann negative Werte liefern. Self-Dot ist deshalb nicht generell null. Null- und Zero-Vektoren werden als eigene Eingabefälle geprüft. Floating-Point-Toleranzen und deterministische Ties gehören zum jeweiligen Ergebnisvertrag.</a:t>
            </a:r>
          </a:p>
          <a:p xmlns:a="http://schemas.openxmlformats.org/drawingml/2006/main">
            <a:r>
              <a:t/>
            </a:r>
          </a:p>
          <a:p xmlns:a="http://schemas.openxmlformats.org/drawingml/2006/main">
            <a:r>
              <a:t>STANDARD-Folie 31, Quellfolie 36 des 61-Folien-Masterdecks. Ablauf und Beobachtungsbogen: Documentation/HowTo/SQL_SERVER_2025_AI_STANDARD_COURSE.md.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SRC-073: VECTOR_DISTANCE</a:t>
            </a:r>
          </a:p>
          <a:p xmlns:a="http://schemas.openxmlformats.org/drawingml/2006/main">
            <a:r>
              <a:t>https://learn.microsoft.com/en-us/sql/t-sql/functions/vector-distance-transact-sql?view=sql-server-ver17</a:t>
            </a:r>
          </a:p>
          <a:p xmlns:a="http://schemas.openxmlformats.org/drawingml/2006/main">
            <a:r>
              <a:t>Abrufdatum laut Quellenregister: 2026-10-11</a:t>
            </a:r>
          </a:p>
          <a:p xmlns:a="http://schemas.openxmlformats.org/drawingml/2006/main">
            <a:r>
              <a:t/>
            </a:r>
          </a:p>
          <a:p xmlns:a="http://schemas.openxmlformats.org/drawingml/2006/main">
            <a:r>
              <a:t>SRC-074: VECTOR_NORM</a:t>
            </a:r>
          </a:p>
          <a:p xmlns:a="http://schemas.openxmlformats.org/drawingml/2006/main">
            <a:r>
              <a:t>https://learn.microsoft.com/en-us/sql/t-sql/functions/vector-norm-transact-sql?view=sql-server-ver17</a:t>
            </a:r>
          </a:p>
          <a:p xmlns:a="http://schemas.openxmlformats.org/drawingml/2006/main">
            <a:r>
              <a:t>Abrufdatum laut Quellenregister: 2026-10-11</a:t>
            </a:r>
          </a:p>
          <a:p xmlns:a="http://schemas.openxmlformats.org/drawingml/2006/main">
            <a:r>
              <a:t/>
            </a:r>
          </a:p>
          <a:p xmlns:a="http://schemas.openxmlformats.org/drawingml/2006/main">
            <a:r>
              <a:t>SRC-075: VECTOR_NORMALIZE</a:t>
            </a:r>
          </a:p>
          <a:p xmlns:a="http://schemas.openxmlformats.org/drawingml/2006/main">
            <a:r>
              <a:t>https://learn.microsoft.com/en-us/sql/t-sql/functions/vector-normalize-transact-sql?view=sql-server-ver17</a:t>
            </a:r>
          </a:p>
          <a:p xmlns:a="http://schemas.openxmlformats.org/drawingml/2006/main">
            <a:r>
              <a:t>Abrufdatum laut Quellenregister: 2026-10-11</a:t>
            </a:r>
          </a:p>
          <a:p xmlns:a="http://schemas.openxmlformats.org/drawingml/2006/main">
            <a:r>
              <a:t/>
            </a:r>
          </a:p>
          <a:p xmlns:a="http://schemas.openxmlformats.org/drawingml/2006/main">
            <a:r>
              <a:t>Didaktische Zuordnung: CUR-014.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Diese Query ist ein tatsächlicher Auszug aus der Implementierung, kein separater freier Demolauf. Der vollständige native Code enthält Kontext- und Eigentumsmarkerprüfungen. Starten Sie QRY-015 über den manifestbasierten Aufrufer. Der rohe Dot-Ersttreffer hat Id2 aufgrund seiner Magnitude. Baseline und Comparison erklären den Unterschied zur Euclidean-Suche sowie zur Normalisierung. ORDER BY Distance,Id löst Ties deterministisch. Lassen Sie die Werte 7,5,4 und −25 aus der vorherigen Folie berechnen. Eine deterministische Rangfolge belegt hier keine Sprachrelevanz.</a:t>
            </a:r>
          </a:p>
          <a:p xmlns:a="http://schemas.openxmlformats.org/drawingml/2006/main">
            <a:r>
              <a:t/>
            </a:r>
          </a:p>
          <a:p xmlns:a="http://schemas.openxmlformats.org/drawingml/2006/main">
            <a:r>
              <a:t>STANDARD-Folie 32, Quellfolie 37 des 61-Folien-Masterdecks. Ablauf und Beobachtungsbogen: Documentation/HowTo/SQL_SERVER_2025_AI_STANDARD_COURSE.md.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Konkreter Aufruf nach Einrichtung gemäß DEMO_EXECUTION_GUIDE.md:</a:t>
            </a:r>
          </a:p>
          <a:p xmlns:a="http://schemas.openxmlformats.org/drawingml/2006/main">
            <a:r>
              <a:t>Invoke-SqlPerfDemo -DemoId QRY-015 -Server $server -Authentication $authentication -Username $username</a:t>
            </a:r>
          </a:p>
          <a:p xmlns:a="http://schemas.openxmlformats.org/drawingml/2006/main">
            <a:r>
              <a:t>Phasen und Abbruch: manifest.json sowie 90_Cleanup.sql. Vier vollständige Eigentumsmarker und denselben RunToken prüfen. Anschließend unabhängige Abwesenheit der eigenen DB bestätigen.</a:t>
            </a:r>
          </a:p>
          <a:p xmlns:a="http://schemas.openxmlformats.org/drawingml/2006/main">
            <a:r>
              <a:t>Demoquelle: Demos/09_AI_SQL_Server_2025/QRY-015_Vector_Metrics/README.md</a:t>
            </a:r>
          </a:p>
          <a:p xmlns:a="http://schemas.openxmlformats.org/drawingml/2006/main">
            <a:r>
              <a:t>Ergebnisvertrag: Demos/09_AI_SQL_Server_2025/QRY-015_Vector_Metrics/Expected/result-contract.json</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SRC-073: VECTOR_DISTANCE</a:t>
            </a:r>
          </a:p>
          <a:p xmlns:a="http://schemas.openxmlformats.org/drawingml/2006/main">
            <a:r>
              <a:t>https://learn.microsoft.com/en-us/sql/t-sql/functions/vector-distance-transact-sql?view=sql-server-ver17</a:t>
            </a:r>
          </a:p>
          <a:p xmlns:a="http://schemas.openxmlformats.org/drawingml/2006/main">
            <a:r>
              <a:t>Abrufdatum laut Quellenregister: 2026-10-11</a:t>
            </a:r>
          </a:p>
          <a:p xmlns:a="http://schemas.openxmlformats.org/drawingml/2006/main">
            <a:r>
              <a:t/>
            </a:r>
          </a:p>
          <a:p xmlns:a="http://schemas.openxmlformats.org/drawingml/2006/main">
            <a:r>
              <a:t>SRC-074: VECTOR_NORM</a:t>
            </a:r>
          </a:p>
          <a:p xmlns:a="http://schemas.openxmlformats.org/drawingml/2006/main">
            <a:r>
              <a:t>https://learn.microsoft.com/en-us/sql/t-sql/functions/vector-norm-transact-sql?view=sql-server-ver17</a:t>
            </a:r>
          </a:p>
          <a:p xmlns:a="http://schemas.openxmlformats.org/drawingml/2006/main">
            <a:r>
              <a:t>Abrufdatum laut Quellenregister: 2026-10-11</a:t>
            </a:r>
          </a:p>
          <a:p xmlns:a="http://schemas.openxmlformats.org/drawingml/2006/main">
            <a:r>
              <a:t/>
            </a:r>
          </a:p>
          <a:p xmlns:a="http://schemas.openxmlformats.org/drawingml/2006/main">
            <a:r>
              <a:t>SRC-075: VECTOR_NORMALIZE</a:t>
            </a:r>
          </a:p>
          <a:p xmlns:a="http://schemas.openxmlformats.org/drawingml/2006/main">
            <a:r>
              <a:t>https://learn.microsoft.com/en-us/sql/t-sql/functions/vector-normalize-transact-sql?view=sql-server-ver17</a:t>
            </a:r>
          </a:p>
          <a:p xmlns:a="http://schemas.openxmlformats.org/drawingml/2006/main">
            <a:r>
              <a:t>Abrufdatum laut Quellenregister: 2026-10-11</a:t>
            </a:r>
          </a:p>
          <a:p xmlns:a="http://schemas.openxmlformats.org/drawingml/2006/main">
            <a:r>
              <a:t/>
            </a:r>
          </a:p>
          <a:p xmlns:a="http://schemas.openxmlformats.org/drawingml/2006/main">
            <a:r>
              <a:t>Didaktische Zuordnung: CUR-014.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Erklären Sie Chunking zunächst ohne Modell. AI_GENERATE_CHUNKS ist eine lokale Tabellenfunktion und benötigt CL170. Ein Modelltokenizer kann denselben Text anders aufteilen. Die Summe überlappender Bereichslängen ist größer als die eindeutige Quelltextmenge. ENABLE_CHUNK_SET_ID kann Gruppen markieren, ersetzt aber keine dauerhafte Dokumentversionsbindung. Bei Dokumentupdate werden alte und neue Version nicht still vermischt. Chunkparameter und Embeddingprovenienz ermöglichen eine spätere Rekonstruktion.</a:t>
            </a:r>
          </a:p>
          <a:p xmlns:a="http://schemas.openxmlformats.org/drawingml/2006/main">
            <a:r>
              <a:t/>
            </a:r>
          </a:p>
          <a:p xmlns:a="http://schemas.openxmlformats.org/drawingml/2006/main">
            <a:r>
              <a:t>STANDARD-Folie 33, Quellfolie 38 des 61-Folien-Masterdecks. Ablauf und Beobachtungsbogen: Documentation/HowTo/SQL_SERVER_2025_AI_STANDARD_COURSE.md.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SRC-079: AI_GENERATE_CHUNKS</a:t>
            </a:r>
          </a:p>
          <a:p xmlns:a="http://schemas.openxmlformats.org/drawingml/2006/main">
            <a:r>
              <a:t>https://learn.microsoft.com/en-us/sql/t-sql/functions/ai-generate-chunks-transact-sql?view=sql-server-ver17</a:t>
            </a:r>
          </a:p>
          <a:p xmlns:a="http://schemas.openxmlformats.org/drawingml/2006/main">
            <a:r>
              <a:t>Abrufdatum laut Quellenregister: 2026-10-11</a:t>
            </a:r>
          </a:p>
          <a:p xmlns:a="http://schemas.openxmlformats.org/drawingml/2006/main">
            <a:r>
              <a:t/>
            </a:r>
          </a:p>
          <a:p xmlns:a="http://schemas.openxmlformats.org/drawingml/2006/main">
            <a:r>
              <a:t>SRC-081: AI_GENERATE_EMBEDDINGS</a:t>
            </a:r>
          </a:p>
          <a:p xmlns:a="http://schemas.openxmlformats.org/drawingml/2006/main">
            <a:r>
              <a:t>https://learn.microsoft.com/en-us/sql/t-sql/functions/ai-generate-embeddings-transact-sql?view=sql-server-ver17</a:t>
            </a:r>
          </a:p>
          <a:p xmlns:a="http://schemas.openxmlformats.org/drawingml/2006/main">
            <a:r>
              <a:t>Abrufdatum laut Quellenregister: 2026-10-11</a:t>
            </a:r>
          </a:p>
          <a:p xmlns:a="http://schemas.openxmlformats.org/drawingml/2006/main">
            <a:r>
              <a:t/>
            </a:r>
          </a:p>
          <a:p xmlns:a="http://schemas.openxmlformats.org/drawingml/2006/main">
            <a:r>
              <a:t>Projektquelle: Demos/09_AI_SQL_Server_2025/QRY-016_Chunk_Provenance/README.md</a:t>
            </a:r>
          </a:p>
          <a:p xmlns:a="http://schemas.openxmlformats.org/drawingml/2006/main">
            <a:r>
              <a:t/>
            </a:r>
          </a:p>
          <a:p xmlns:a="http://schemas.openxmlformats.org/drawingml/2006/main">
            <a:r>
              <a:t>Didaktische Zuordnung: CUR-015.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Starten Sie QRY-016 manifestbasiert. Die Fixture enthält zwei synthetische Dokumentversionen. Lassen Sie die Gruppe DocId, Version, chunk_order, chunk_offset und chunk_length ablesen und einen Bereich im Quelltext wiederfinden. Besprechen Sie getrennt den fachlichen Rekonstruktionsbeleg und die doppelt gezählten Bereiche durch Overlap. Gegenmaßnahme: Chunk und Embeddingversion zusammen halten, neue Dokumentversion getrennt importieren. Die Erwartungsresultate und die Trainerlösung liegen im Offline-Arbeitsheft. Cleanup und unabhängige eigene DB-Abwesenheit abschließen.</a:t>
            </a:r>
          </a:p>
          <a:p xmlns:a="http://schemas.openxmlformats.org/drawingml/2006/main">
            <a:r>
              <a:t/>
            </a:r>
          </a:p>
          <a:p xmlns:a="http://schemas.openxmlformats.org/drawingml/2006/main">
            <a:r>
              <a:t>STANDARD-Folie 34, Quellfolie 39 des 61-Folien-Masterdecks. Ablauf und Beobachtungsbogen: Documentation/HowTo/SQL_SERVER_2025_AI_STANDARD_COURSE.md.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Konkreter Aufruf nach Einrichtung gemäß DEMO_EXECUTION_GUIDE.md:</a:t>
            </a:r>
          </a:p>
          <a:p xmlns:a="http://schemas.openxmlformats.org/drawingml/2006/main">
            <a:r>
              <a:t>Invoke-SqlPerfDemo -DemoId QRY-016 -Server $server -Authentication $authentication -Username $username</a:t>
            </a:r>
          </a:p>
          <a:p xmlns:a="http://schemas.openxmlformats.org/drawingml/2006/main">
            <a:r>
              <a:t>Phasen und Abbruch: manifest.json sowie 90_Cleanup.sql. Vier vollständige Eigentumsmarker und denselben RunToken prüfen. Anschließend unabhängige Abwesenheit der eigenen DB bestätigen.</a:t>
            </a:r>
          </a:p>
          <a:p xmlns:a="http://schemas.openxmlformats.org/drawingml/2006/main">
            <a:r>
              <a:t>Demoquelle: Demos/09_AI_SQL_Server_2025/QRY-016_Chunk_Provenance/README.md</a:t>
            </a:r>
          </a:p>
          <a:p xmlns:a="http://schemas.openxmlformats.org/drawingml/2006/main">
            <a:r>
              <a:t>Ergebnisvertrag: Demos/09_AI_SQL_Server_2025/QRY-016_Chunk_Provenance/Expected/result-contract.json</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SRC-079: AI_GENERATE_CHUNKS</a:t>
            </a:r>
          </a:p>
          <a:p xmlns:a="http://schemas.openxmlformats.org/drawingml/2006/main">
            <a:r>
              <a:t>https://learn.microsoft.com/en-us/sql/t-sql/functions/ai-generate-chunks-transact-sql?view=sql-server-ver17</a:t>
            </a:r>
          </a:p>
          <a:p xmlns:a="http://schemas.openxmlformats.org/drawingml/2006/main">
            <a:r>
              <a:t>Abrufdatum laut Quellenregister: 2026-10-11</a:t>
            </a:r>
          </a:p>
          <a:p xmlns:a="http://schemas.openxmlformats.org/drawingml/2006/main">
            <a:r>
              <a:t/>
            </a:r>
          </a:p>
          <a:p xmlns:a="http://schemas.openxmlformats.org/drawingml/2006/main">
            <a:r>
              <a:t>Didaktische Zuordnung: CUR-015.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Pfade lösen unterschiedliche Suchaufgaben. Eine Identifierfrage kann eine relationale Gleichheit benötigen. Full-Text bewertet lexikalische Suchformen. Vector Search benötigt einen passenden Modellraum und fachliche Relevanzurteile. Exact Top-k ist das Vergleichsoracle für die näherungsweise Vektorsuche (Approximate Nearest Neighbor, ANN), aber selbst kein Beleg fachlicher Relevanz. Relevanz misst man gegen eingefrorene Urteile. Recall@k misst die Überschneidung mit dem Exact Top-k unter demselben Kandidatenscope. Bei fehlendem Full-Text bleibt der Vergleich begrenzt. Keine Suchmethode wird pauschal als schneller oder besser dargestellt.</a:t>
            </a:r>
          </a:p>
          <a:p xmlns:a="http://schemas.openxmlformats.org/drawingml/2006/main">
            <a:r>
              <a:t/>
            </a:r>
          </a:p>
          <a:p xmlns:a="http://schemas.openxmlformats.org/drawingml/2006/main">
            <a:r>
              <a:t>STANDARD-Folie 35, Quellfolie 43 des 61-Folien-Masterdecks. Ablauf und Beobachtungsbogen: Documentation/HowTo/SQL_SERVER_2025_AI_STANDARD_COURSE.md.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SRC-073: VECTOR_DISTANCE</a:t>
            </a:r>
          </a:p>
          <a:p xmlns:a="http://schemas.openxmlformats.org/drawingml/2006/main">
            <a:r>
              <a:t>https://learn.microsoft.com/en-us/sql/t-sql/functions/vector-distance-transact-sql?view=sql-server-ver17</a:t>
            </a:r>
          </a:p>
          <a:p xmlns:a="http://schemas.openxmlformats.org/drawingml/2006/main">
            <a:r>
              <a:t>Abrufdatum laut Quellenregister: 2026-10-11</a:t>
            </a:r>
          </a:p>
          <a:p xmlns:a="http://schemas.openxmlformats.org/drawingml/2006/main">
            <a:r>
              <a:t/>
            </a:r>
          </a:p>
          <a:p xmlns:a="http://schemas.openxmlformats.org/drawingml/2006/main">
            <a:r>
              <a:t>SRC-078: VECTOR_SEARCH</a:t>
            </a:r>
          </a:p>
          <a:p xmlns:a="http://schemas.openxmlformats.org/drawingml/2006/main">
            <a:r>
              <a:t>https://learn.microsoft.com/en-us/sql/t-sql/functions/vector-search-transact-sql?view=sql-server-ver17</a:t>
            </a:r>
          </a:p>
          <a:p xmlns:a="http://schemas.openxmlformats.org/drawingml/2006/main">
            <a:r>
              <a:t>Abrufdatum laut Quellenregister: 2026-10-11</a:t>
            </a:r>
          </a:p>
          <a:p xmlns:a="http://schemas.openxmlformats.org/drawingml/2006/main">
            <a:r>
              <a:t/>
            </a:r>
          </a:p>
          <a:p xmlns:a="http://schemas.openxmlformats.org/drawingml/2006/main">
            <a:r>
              <a:t>SRC-087: Generate embeddings with Azure OpenAI</a:t>
            </a:r>
          </a:p>
          <a:p xmlns:a="http://schemas.openxmlformats.org/drawingml/2006/main">
            <a:r>
              <a:t>https://learn.microsoft.com/en-us/azure/foundry/openai/how-to/embeddings</a:t>
            </a:r>
          </a:p>
          <a:p xmlns:a="http://schemas.openxmlformats.org/drawingml/2006/main">
            <a:r>
              <a:t>Abrufdatum laut Quellenregister: 2026-10-11</a:t>
            </a:r>
          </a:p>
          <a:p xmlns:a="http://schemas.openxmlformats.org/drawingml/2006/main">
            <a:r>
              <a:t/>
            </a:r>
          </a:p>
          <a:p xmlns:a="http://schemas.openxmlformats.org/drawingml/2006/main">
            <a:r>
              <a:t>SRC-100: Full-Text Search</a:t>
            </a:r>
          </a:p>
          <a:p xmlns:a="http://schemas.openxmlformats.org/drawingml/2006/main">
            <a:r>
              <a:t>https://learn.microsoft.com/en-us/sql/relational-databases/search/full-text-search?view=sql-server-ver17</a:t>
            </a:r>
          </a:p>
          <a:p xmlns:a="http://schemas.openxmlformats.org/drawingml/2006/main">
            <a:r>
              <a:t>Abrufdatum laut Quellenregister: 2026-10-11</a:t>
            </a:r>
          </a:p>
          <a:p xmlns:a="http://schemas.openxmlformats.org/drawingml/2006/main">
            <a:r>
              <a:t/>
            </a:r>
          </a:p>
          <a:p xmlns:a="http://schemas.openxmlformats.org/drawingml/2006/main">
            <a:r>
              <a:t>Didaktische Zuordnung: CUR-017 / CUR-020.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Starten Sie QRY-017 über den manifestbasierten Aufrufer. Notieren Sie den tatsächlich erlaubten Identifier-Treffer und dessen Tenant. Full-Text ist ein optionaler Teil und benötigt installierte Komponente sowie einen vollständig populierten Index. Fehlt dies, wird während dieser Einheit nichts nachinstalliert. Der fehlende Teil bleibt WARN. Die kleine Fixture besitzt keinen allgemeinen Performance- oder Semantikclaim. Fragen Sie, welche eingefrorenen Relevanzurteile und welche ausreichend aufgelösten Messungen für eine spätere Pfadempfehlung fehlen. Cleanup und unabhängige eigene DB-Abwesenheit prüfen.</a:t>
            </a:r>
          </a:p>
          <a:p xmlns:a="http://schemas.openxmlformats.org/drawingml/2006/main">
            <a:r>
              <a:t/>
            </a:r>
          </a:p>
          <a:p xmlns:a="http://schemas.openxmlformats.org/drawingml/2006/main">
            <a:r>
              <a:t>STANDARD-Folie 36, Quellfolie 44 des 61-Folien-Masterdecks. Ablauf und Beobachtungsbogen: Documentation/HowTo/SQL_SERVER_2025_AI_STANDARD_COURSE.md.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Konkreter Aufruf nach Einrichtung gemäß DEMO_EXECUTION_GUIDE.md:</a:t>
            </a:r>
          </a:p>
          <a:p xmlns:a="http://schemas.openxmlformats.org/drawingml/2006/main">
            <a:r>
              <a:t>Invoke-SqlPerfDemo -DemoId QRY-017 -Server $server -Authentication $authentication -Username $username</a:t>
            </a:r>
          </a:p>
          <a:p xmlns:a="http://schemas.openxmlformats.org/drawingml/2006/main">
            <a:r>
              <a:t>Phasen und Abbruch: manifest.json sowie 90_Cleanup.sql. Vier vollständige Eigentumsmarker und denselben RunToken prüfen. Anschließend unabhängige Abwesenheit der eigenen DB bestätigen.</a:t>
            </a:r>
          </a:p>
          <a:p xmlns:a="http://schemas.openxmlformats.org/drawingml/2006/main">
            <a:r>
              <a:t>Demoquelle: Demos/09_AI_SQL_Server_2025/QRY-017_Search_Comparison/README.md</a:t>
            </a:r>
          </a:p>
          <a:p xmlns:a="http://schemas.openxmlformats.org/drawingml/2006/main">
            <a:r>
              <a:t>Ergebnisvertrag: Demos/09_AI_SQL_Server_2025/QRY-017_Search_Comparison/Expected/result-contract.json</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SRC-073: VECTOR_DISTANCE</a:t>
            </a:r>
          </a:p>
          <a:p xmlns:a="http://schemas.openxmlformats.org/drawingml/2006/main">
            <a:r>
              <a:t>https://learn.microsoft.com/en-us/sql/t-sql/functions/vector-distance-transact-sql?view=sql-server-ver17</a:t>
            </a:r>
          </a:p>
          <a:p xmlns:a="http://schemas.openxmlformats.org/drawingml/2006/main">
            <a:r>
              <a:t>Abrufdatum laut Quellenregister: 2026-10-11</a:t>
            </a:r>
          </a:p>
          <a:p xmlns:a="http://schemas.openxmlformats.org/drawingml/2006/main">
            <a:r>
              <a:t/>
            </a:r>
          </a:p>
          <a:p xmlns:a="http://schemas.openxmlformats.org/drawingml/2006/main">
            <a:r>
              <a:t>SRC-100: Full-Text Search</a:t>
            </a:r>
          </a:p>
          <a:p xmlns:a="http://schemas.openxmlformats.org/drawingml/2006/main">
            <a:r>
              <a:t>https://learn.microsoft.com/en-us/sql/relational-databases/search/full-text-search?view=sql-server-ver17</a:t>
            </a:r>
          </a:p>
          <a:p xmlns:a="http://schemas.openxmlformats.org/drawingml/2006/main">
            <a:r>
              <a:t>Abrufdatum laut Quellenregister: 2026-10-11</a:t>
            </a:r>
          </a:p>
          <a:p xmlns:a="http://schemas.openxmlformats.org/drawingml/2006/main">
            <a:r>
              <a:t/>
            </a:r>
          </a:p>
          <a:p xmlns:a="http://schemas.openxmlformats.org/drawingml/2006/main">
            <a:r>
              <a:t>Didaktische Zuordnung: CUR-017 / CUR-020.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RAG (Retrieval-Augmented Generation; Antworterzeugung mit zuvor ausgewählten Quellen) ergänzt eine generative Antwort um abgerufenen Kontext. Weder die Architektur noch eine plausible Antwort garantiert fachliche Richtigkeit. Die Quellenstelle muss den konkreten Claim stützen, in der erlaubten Version vorliegen und Bestandteil des tatsächlich gelieferten Kontexts sein. Ein fern liegender oder widersprüchlicher Treffer kann zur begründeten Nichtantwort führen. Die Anwendung begrenzt Kontextmenge und Claimformat. Offlinefixtures erlauben reproduzierbare Kontrollfälle, ersetzen aber keine unbekannte Livegeneration. Besprechen Sie die Fachbewertung getrennt von Distanz und Retrievalranking.</a:t>
            </a:r>
          </a:p>
          <a:p xmlns:a="http://schemas.openxmlformats.org/drawingml/2006/main">
            <a:r>
              <a:t/>
            </a:r>
          </a:p>
          <a:p xmlns:a="http://schemas.openxmlformats.org/drawingml/2006/main">
            <a:r>
              <a:t>STANDARD-Folie 37, Quellfolie 45 des 61-Folien-Masterdecks. Ablauf und Beobachtungsbogen: Documentation/HowTo/SQL_SERVER_2025_AI_STANDARD_COURSE.md.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SRC-095: Retrieval-Augmented Generation for Knowledge-Intensive NLP Tasks</a:t>
            </a:r>
          </a:p>
          <a:p xmlns:a="http://schemas.openxmlformats.org/drawingml/2006/main">
            <a:r>
              <a:t>https://papers.nips.cc/paper_files/paper/2020/hash/6b493230205f780e1bc26945df7481e5-Abstract.html</a:t>
            </a:r>
          </a:p>
          <a:p xmlns:a="http://schemas.openxmlformats.org/drawingml/2006/main">
            <a:r>
              <a:t>Abrufdatum laut Quellenregister: 2026-10-11</a:t>
            </a:r>
          </a:p>
          <a:p xmlns:a="http://schemas.openxmlformats.org/drawingml/2006/main">
            <a:r>
              <a:t/>
            </a:r>
          </a:p>
          <a:p xmlns:a="http://schemas.openxmlformats.org/drawingml/2006/main">
            <a:r>
              <a:t>Projektquelle: Demos/09_AI_SQL_Server_2025/QRY-018_Offline_RAG/README.md</a:t>
            </a:r>
          </a:p>
          <a:p xmlns:a="http://schemas.openxmlformats.org/drawingml/2006/main">
            <a:r>
              <a:t/>
            </a:r>
          </a:p>
          <a:p xmlns:a="http://schemas.openxmlformats.org/drawingml/2006/main">
            <a:r>
              <a:t>Didaktische Zuordnung: CUR-017.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Lassen Sie die Gruppe die vier Entscheidungen zunächst ohne Lösung vorhersagen. Starten Sie dann QRY-018 manifestbasiert. Lesen Sie Claim, tatsächlich abgerufene Quellenstelle, Version und Ergebnisstatus zusammen. Die vier Fälle ergeben eine akzeptierte, eine abgelehnte und zwei nicht beantwortete Situationen. Die feste Claimprüfung und die Fixture-Distanzschwelle sind keine universelle Antwortkorrektheitsregel. Fragen Sie nach einem zusätzlichen widersprüchlichen Dokument und dem Verhalten bei Revoke. Die einzige Trainerlösung wird im Offline-Arbeitsheft gepflegt. Cleanup und eigene DB-Abwesenheit abschließen.</a:t>
            </a:r>
          </a:p>
          <a:p xmlns:a="http://schemas.openxmlformats.org/drawingml/2006/main">
            <a:r>
              <a:t/>
            </a:r>
          </a:p>
          <a:p xmlns:a="http://schemas.openxmlformats.org/drawingml/2006/main">
            <a:r>
              <a:t>STANDARD-Folie 38, Quellfolie 46 des 61-Folien-Masterdecks. Ablauf und Beobachtungsbogen: Documentation/HowTo/SQL_SERVER_2025_AI_STANDARD_COURSE.md.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Konkreter Aufruf nach Einrichtung gemäß DEMO_EXECUTION_GUIDE.md:</a:t>
            </a:r>
          </a:p>
          <a:p xmlns:a="http://schemas.openxmlformats.org/drawingml/2006/main">
            <a:r>
              <a:t>Invoke-SqlPerfDemo -DemoId QRY-018 -Server $server -Authentication $authentication -Username $username</a:t>
            </a:r>
          </a:p>
          <a:p xmlns:a="http://schemas.openxmlformats.org/drawingml/2006/main">
            <a:r>
              <a:t>Phasen und Abbruch: manifest.json sowie 90_Cleanup.sql. Vier vollständige Eigentumsmarker und denselben RunToken prüfen. Anschließend unabhängige Abwesenheit der eigenen DB bestätigen.</a:t>
            </a:r>
          </a:p>
          <a:p xmlns:a="http://schemas.openxmlformats.org/drawingml/2006/main">
            <a:r>
              <a:t>Demoquelle: Demos/09_AI_SQL_Server_2025/QRY-018_Offline_RAG/README.md</a:t>
            </a:r>
          </a:p>
          <a:p xmlns:a="http://schemas.openxmlformats.org/drawingml/2006/main">
            <a:r>
              <a:t>Ergebnisvertrag: Demos/09_AI_SQL_Server_2025/QRY-018_Offline_RAG/Expected/result-contract.json</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SRC-095: Retrieval-Augmented Generation for Knowledge-Intensive NLP Tasks</a:t>
            </a:r>
          </a:p>
          <a:p xmlns:a="http://schemas.openxmlformats.org/drawingml/2006/main">
            <a:r>
              <a:t>https://papers.nips.cc/paper_files/paper/2020/hash/6b493230205f780e1bc26945df7481e5-Abstract.html</a:t>
            </a:r>
          </a:p>
          <a:p xmlns:a="http://schemas.openxmlformats.org/drawingml/2006/main">
            <a:r>
              <a:t>Abrufdatum laut Quellenregister: 2026-10-11</a:t>
            </a:r>
          </a:p>
          <a:p xmlns:a="http://schemas.openxmlformats.org/drawingml/2006/main">
            <a:r>
              <a:t/>
            </a:r>
          </a:p>
          <a:p xmlns:a="http://schemas.openxmlformats.org/drawingml/2006/main">
            <a:r>
              <a:t>Didaktische Zuordnung: CUR-017 / CUR-022.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Autorisierung wird vor Übergabe an das LLM (Large Language Model; großes Sprachmodell) umgesetzt. Modelltext und abgerufene Dokumente erhalten keine zusätzliche Ausführungsbefugnis. Ein Promptfilter oder ein Klick zur Bestätigung ersetzt keine SQL-Rechte. Der authentifizierte Kontext muss gegen manipulierbare Tenantwerte und später gegen Pooling geprüft werden. Credentials und Rawdiagnose gehören außerhalb der Schulungsartefakte. Providerabhängige Retention ist separat zu bewerten. Dieses Material demonstriert synthetische Kontrollfälle und beansprucht keine allgemeine Sicherheits- oder Compliancegarantie.</a:t>
            </a:r>
          </a:p>
          <a:p xmlns:a="http://schemas.openxmlformats.org/drawingml/2006/main">
            <a:r>
              <a:t/>
            </a:r>
          </a:p>
          <a:p xmlns:a="http://schemas.openxmlformats.org/drawingml/2006/main">
            <a:r>
              <a:t>STANDARD-Folie 39, Quellfolie 47 des 61-Folien-Masterdecks. Ablauf und Beobachtungsbogen: Documentation/HowTo/SQL_SERVER_2025_AI_STANDARD_COURSE.md.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SRC-088: Foundry Models data privacy</a:t>
            </a:r>
          </a:p>
          <a:p xmlns:a="http://schemas.openxmlformats.org/drawingml/2006/main">
            <a:r>
              <a:t>https://learn.microsoft.com/en-us/azure/foundry/responsible-ai/openai/data-privacy</a:t>
            </a:r>
          </a:p>
          <a:p xmlns:a="http://schemas.openxmlformats.org/drawingml/2006/main">
            <a:r>
              <a:t>Abrufdatum laut Quellenregister: 2026-10-11</a:t>
            </a:r>
          </a:p>
          <a:p xmlns:a="http://schemas.openxmlformats.org/drawingml/2006/main">
            <a:r>
              <a:t/>
            </a:r>
          </a:p>
          <a:p xmlns:a="http://schemas.openxmlformats.org/drawingml/2006/main">
            <a:r>
              <a:t>SRC-091: Execution context for GitHub Copilot</a:t>
            </a:r>
          </a:p>
          <a:p xmlns:a="http://schemas.openxmlformats.org/drawingml/2006/main">
            <a:r>
              <a:t>https://learn.microsoft.com/en-us/ssms/github-copilot/execution-context</a:t>
            </a:r>
          </a:p>
          <a:p xmlns:a="http://schemas.openxmlformats.org/drawingml/2006/main">
            <a:r>
              <a:t>Abrufdatum laut Quellenregister: 2026-10-11</a:t>
            </a:r>
          </a:p>
          <a:p xmlns:a="http://schemas.openxmlformats.org/drawingml/2006/main">
            <a:r>
              <a:t/>
            </a:r>
          </a:p>
          <a:p xmlns:a="http://schemas.openxmlformats.org/drawingml/2006/main">
            <a:r>
              <a:t>SRC-093: Row-Level Security</a:t>
            </a:r>
          </a:p>
          <a:p xmlns:a="http://schemas.openxmlformats.org/drawingml/2006/main">
            <a:r>
              <a:t>https://learn.microsoft.com/en-us/sql/relational-databases/security/row-level-security?view=sql-server-ver17</a:t>
            </a:r>
          </a:p>
          <a:p xmlns:a="http://schemas.openxmlformats.org/drawingml/2006/main">
            <a:r>
              <a:t>Abrufdatum laut Quellenregister: 2026-10-11</a:t>
            </a:r>
          </a:p>
          <a:p xmlns:a="http://schemas.openxmlformats.org/drawingml/2006/main">
            <a:r>
              <a:t/>
            </a:r>
          </a:p>
          <a:p xmlns:a="http://schemas.openxmlformats.org/drawingml/2006/main">
            <a:r>
              <a:t>SRC-096: CREATE DATABASE SCOPED CREDENTIAL</a:t>
            </a:r>
          </a:p>
          <a:p xmlns:a="http://schemas.openxmlformats.org/drawingml/2006/main">
            <a:r>
              <a:t>https://learn.microsoft.com/en-us/sql/t-sql/statements/create-database-scoped-credential-transact-sql?view=sql-server-ver17</a:t>
            </a:r>
          </a:p>
          <a:p xmlns:a="http://schemas.openxmlformats.org/drawingml/2006/main">
            <a:r>
              <a:t>Abrufdatum laut Quellenregister: 2026-10-11</a:t>
            </a:r>
          </a:p>
          <a:p xmlns:a="http://schemas.openxmlformats.org/drawingml/2006/main">
            <a:r>
              <a:t/>
            </a:r>
          </a:p>
          <a:p xmlns:a="http://schemas.openxmlformats.org/drawingml/2006/main">
            <a:r>
              <a:t>SRC-099: SQL Injection</a:t>
            </a:r>
          </a:p>
          <a:p xmlns:a="http://schemas.openxmlformats.org/drawingml/2006/main">
            <a:r>
              <a:t>https://learn.microsoft.com/en-us/sql/relational-databases/security/sql-injection?view=sql-server-ver17</a:t>
            </a:r>
          </a:p>
          <a:p xmlns:a="http://schemas.openxmlformats.org/drawingml/2006/main">
            <a:r>
              <a:t>Abrufdatum laut Quellenregister: 2026-10-11</a:t>
            </a:r>
          </a:p>
          <a:p xmlns:a="http://schemas.openxmlformats.org/drawingml/2006/main">
            <a:r>
              <a:t/>
            </a:r>
          </a:p>
          <a:p xmlns:a="http://schemas.openxmlformats.org/drawingml/2006/main">
            <a:r>
              <a:t>Didaktische Zuordnung: CUR-018.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Starten Sie QRY-019 manifestbasiert. Die Wertparameter werden tatsächlich gebunden, anstatt einen Angriffstext in ein privilegiertes Statement einzufügen. Ein zulässiger Literalwert kann Sonderzeichen enthalten. Die Strukturpolicy lehnt eine zusätzliche Query ab. Tabellen- oder Spaltennamen lassen sich nicht als gewöhnliche Wertparameter substituieren und benötigen eine feste Struktur beziehungsweise geprüfte Allowlist. Zeigen Sie die getrennten SQL-Rechtefehler. Der dbo-Kontrollharness ist kein Teilnehmerrecht. Diese Parametertechnik ist älter als SQL Server 2025, während der Demo-Versions-SKIP die Grenze des Workstreams bezeichnet. Cleanup und eigene DB-Abwesenheit prüfen.</a:t>
            </a:r>
          </a:p>
          <a:p xmlns:a="http://schemas.openxmlformats.org/drawingml/2006/main">
            <a:r>
              <a:t/>
            </a:r>
          </a:p>
          <a:p xmlns:a="http://schemas.openxmlformats.org/drawingml/2006/main">
            <a:r>
              <a:t>STANDARD-Folie 40, Quellfolie 48 des 61-Folien-Masterdecks. Ablauf und Beobachtungsbogen: Documentation/HowTo/SQL_SERVER_2025_AI_STANDARD_COURSE.md.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Konkreter Aufruf nach Einrichtung gemäß DEMO_EXECUTION_GUIDE.md:</a:t>
            </a:r>
          </a:p>
          <a:p xmlns:a="http://schemas.openxmlformats.org/drawingml/2006/main">
            <a:r>
              <a:t>Invoke-SqlPerfDemo -DemoId QRY-019 -Server $server -Authentication $authentication -Username $username</a:t>
            </a:r>
          </a:p>
          <a:p xmlns:a="http://schemas.openxmlformats.org/drawingml/2006/main">
            <a:r>
              <a:t>Phasen und Abbruch: manifest.json sowie 90_Cleanup.sql. Vier vollständige Eigentumsmarker und denselben RunToken prüfen. Anschließend unabhängige Abwesenheit der eigenen DB bestätigen.</a:t>
            </a:r>
          </a:p>
          <a:p xmlns:a="http://schemas.openxmlformats.org/drawingml/2006/main">
            <a:r>
              <a:t>Demoquelle: Demos/09_AI_SQL_Server_2025/QRY-019_SQL_Input_Policy/README.md</a:t>
            </a:r>
          </a:p>
          <a:p xmlns:a="http://schemas.openxmlformats.org/drawingml/2006/main">
            <a:r>
              <a:t>Ergebnisvertrag: Demos/09_AI_SQL_Server_2025/QRY-019_SQL_Input_Policy/Expected/result-contract.json</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SRC-099: SQL Injection</a:t>
            </a:r>
          </a:p>
          <a:p xmlns:a="http://schemas.openxmlformats.org/drawingml/2006/main">
            <a:r>
              <a:t>https://learn.microsoft.com/en-us/sql/relational-databases/security/sql-injection?view=sql-server-ver17</a:t>
            </a:r>
          </a:p>
          <a:p xmlns:a="http://schemas.openxmlformats.org/drawingml/2006/main">
            <a:r>
              <a:t>Abrufdatum laut Quellenregister: 2026-10-11</a:t>
            </a:r>
          </a:p>
          <a:p xmlns:a="http://schemas.openxmlformats.org/drawingml/2006/main">
            <a:r>
              <a:t/>
            </a:r>
          </a:p>
          <a:p xmlns:a="http://schemas.openxmlformats.org/drawingml/2006/main">
            <a:r>
              <a:t>SRC-091: Execution context for GitHub Copilot</a:t>
            </a:r>
          </a:p>
          <a:p xmlns:a="http://schemas.openxmlformats.org/drawingml/2006/main">
            <a:r>
              <a:t>https://learn.microsoft.com/en-us/ssms/github-copilot/execution-context</a:t>
            </a:r>
          </a:p>
          <a:p xmlns:a="http://schemas.openxmlformats.org/drawingml/2006/main">
            <a:r>
              <a:t>Abrufdatum laut Quellenregister: 2026-10-11</a:t>
            </a:r>
          </a:p>
          <a:p xmlns:a="http://schemas.openxmlformats.org/drawingml/2006/main">
            <a:r>
              <a:t/>
            </a:r>
          </a:p>
          <a:p xmlns:a="http://schemas.openxmlformats.org/drawingml/2006/main">
            <a:r>
              <a:t>Didaktische Zuordnung: CUR-018 / CUR-021.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Der verpflichtende Offlinepfad braucht keinen Provider. Der lokale Modellpfad braucht zusätzlich einen ausdrücklich vorbereiteten Modellservice mit Lizenz, Digest und endlichen Request-/Tokenlimits. Eine lokale Programmierschnittstelle (Application Programming Interface, API) über HTTP (Hypertext Transfer Protocol; Übertragung von Webanfragen und Antworten) erfüllt den direkten SQL-HTTPS-Vertrag noch nicht. Erreichbarkeit wird aus dem Enginekontext geprüft. localhost im SQL-Container bezeichnet den Container selbst. Cloud und ONNX (Open Neural Network Exchange; Austauschformat für Modelle) werden in dieser Einheit als Architekturvarianten besprochen und nicht aktiviert. Die Linux-Editionstabelle und das konkrete Windows-ONNX-Verfahren sind nicht deckungsgleich, daher bleibt Linux-ONNX ohne Runtimeclaim. Der öffentliche Provider-Livepfad bleibt an DEC-033/SQLcmd-P blockiert.</a:t>
            </a:r>
          </a:p>
          <a:p xmlns:a="http://schemas.openxmlformats.org/drawingml/2006/main">
            <a:r>
              <a:t/>
            </a:r>
          </a:p>
          <a:p xmlns:a="http://schemas.openxmlformats.org/drawingml/2006/main">
            <a:r>
              <a:t>STANDARD-Folie 41, Quellfolie 40 des 61-Folien-Masterdecks. Ablauf und Beobachtungsbogen: Documentation/HowTo/SQL_SERVER_2025_AI_STANDARD_COURSE.md.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SRC-080: CREATE EXTERNAL MODEL</a:t>
            </a:r>
          </a:p>
          <a:p xmlns:a="http://schemas.openxmlformats.org/drawingml/2006/main">
            <a:r>
              <a:t>https://learn.microsoft.com/en-us/sql/t-sql/statements/create-external-model-transact-sql?view=sql-server-ver17</a:t>
            </a:r>
          </a:p>
          <a:p xmlns:a="http://schemas.openxmlformats.org/drawingml/2006/main">
            <a:r>
              <a:t>Abrufdatum laut Quellenregister: 2026-10-11</a:t>
            </a:r>
          </a:p>
          <a:p xmlns:a="http://schemas.openxmlformats.org/drawingml/2006/main">
            <a:r>
              <a:t/>
            </a:r>
          </a:p>
          <a:p xmlns:a="http://schemas.openxmlformats.org/drawingml/2006/main">
            <a:r>
              <a:t>SRC-081: AI_GENERATE_EMBEDDINGS</a:t>
            </a:r>
          </a:p>
          <a:p xmlns:a="http://schemas.openxmlformats.org/drawingml/2006/main">
            <a:r>
              <a:t>https://learn.microsoft.com/en-us/sql/t-sql/functions/ai-generate-embeddings-transact-sql?view=sql-server-ver17</a:t>
            </a:r>
          </a:p>
          <a:p xmlns:a="http://schemas.openxmlformats.org/drawingml/2006/main">
            <a:r>
              <a:t>Abrufdatum laut Quellenregister: 2026-10-11</a:t>
            </a:r>
          </a:p>
          <a:p xmlns:a="http://schemas.openxmlformats.org/drawingml/2006/main">
            <a:r>
              <a:t/>
            </a:r>
          </a:p>
          <a:p xmlns:a="http://schemas.openxmlformats.org/drawingml/2006/main">
            <a:r>
              <a:t>SRC-082: sp_invoke_external_rest_endpoint</a:t>
            </a:r>
          </a:p>
          <a:p xmlns:a="http://schemas.openxmlformats.org/drawingml/2006/main">
            <a:r>
              <a:t>https://learn.microsoft.com/en-us/sql/relational-databases/system-stored-procedures/sp-invoke-external-rest-endpoint-transact-sql?view=sql-server-ver17</a:t>
            </a:r>
          </a:p>
          <a:p xmlns:a="http://schemas.openxmlformats.org/drawingml/2006/main">
            <a:r>
              <a:t>Abrufdatum laut Quellenregister: 2026-10-11</a:t>
            </a:r>
          </a:p>
          <a:p xmlns:a="http://schemas.openxmlformats.org/drawingml/2006/main">
            <a:r>
              <a:t/>
            </a:r>
          </a:p>
          <a:p xmlns:a="http://schemas.openxmlformats.org/drawingml/2006/main">
            <a:r>
              <a:t>SRC-085: Generate embeddings</a:t>
            </a:r>
          </a:p>
          <a:p xmlns:a="http://schemas.openxmlformats.org/drawingml/2006/main">
            <a:r>
              <a:t>https://docs.ollama.com/api/embed</a:t>
            </a:r>
          </a:p>
          <a:p xmlns:a="http://schemas.openxmlformats.org/drawingml/2006/main">
            <a:r>
              <a:t>Abrufdatum laut Quellenregister: 2026-10-11</a:t>
            </a:r>
          </a:p>
          <a:p xmlns:a="http://schemas.openxmlformats.org/drawingml/2006/main">
            <a:r>
              <a:t/>
            </a:r>
          </a:p>
          <a:p xmlns:a="http://schemas.openxmlformats.org/drawingml/2006/main">
            <a:r>
              <a:t>SRC-086: Authentication</a:t>
            </a:r>
          </a:p>
          <a:p xmlns:a="http://schemas.openxmlformats.org/drawingml/2006/main">
            <a:r>
              <a:t>https://docs.ollama.com/api/authentication</a:t>
            </a:r>
          </a:p>
          <a:p xmlns:a="http://schemas.openxmlformats.org/drawingml/2006/main">
            <a:r>
              <a:t>Abrufdatum laut Quellenregister: 2026-10-11</a:t>
            </a:r>
          </a:p>
          <a:p xmlns:a="http://schemas.openxmlformats.org/drawingml/2006/main">
            <a:r>
              <a:t/>
            </a:r>
          </a:p>
          <a:p xmlns:a="http://schemas.openxmlformats.org/drawingml/2006/main">
            <a:r>
              <a:t>SRC-088: Foundry Models data privacy</a:t>
            </a:r>
          </a:p>
          <a:p xmlns:a="http://schemas.openxmlformats.org/drawingml/2006/main">
            <a:r>
              <a:t>https://learn.microsoft.com/en-us/azure/foundry/responsible-ai/openai/data-privacy</a:t>
            </a:r>
          </a:p>
          <a:p xmlns:a="http://schemas.openxmlformats.org/drawingml/2006/main">
            <a:r>
              <a:t>Abrufdatum laut Quellenregister: 2026-10-11</a:t>
            </a:r>
          </a:p>
          <a:p xmlns:a="http://schemas.openxmlformats.org/drawingml/2006/main">
            <a:r>
              <a:t/>
            </a:r>
          </a:p>
          <a:p xmlns:a="http://schemas.openxmlformats.org/drawingml/2006/main">
            <a:r>
              <a:t>Projektquelle: Documentation/HowTo/SQL_SERVER_2025_AI_MODEL_PATHS.md</a:t>
            </a:r>
          </a:p>
          <a:p xmlns:a="http://schemas.openxmlformats.org/drawingml/2006/main">
            <a:r>
              <a:t/>
            </a:r>
          </a:p>
          <a:p xmlns:a="http://schemas.openxmlformats.org/drawingml/2006/main">
            <a:r>
              <a:t>Projektquelle: Documentation/Project_Planning/SQL_SERVER_2025_AI_PROVIDER_REVIEW.md</a:t>
            </a:r>
          </a:p>
          <a:p xmlns:a="http://schemas.openxmlformats.org/drawingml/2006/main">
            <a:r>
              <a:t/>
            </a:r>
          </a:p>
          <a:p xmlns:a="http://schemas.openxmlformats.org/drawingml/2006/main">
            <a:r>
              <a:t>Didaktische Zuordnung: CUR-016.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AI_GENERATE_EMBEDDINGS arbeitet mit einem vorkonfigurierten EMBEDDINGS-Modell. Modell-EXECUTE und Quelltext-SELECT sind von Model-/Credential-DDL (Data Definition Language; Anweisungen zum Definieren und Ändern von Datenbankobjekten) getrennt. Ein dokumentiertes Beispiel ist noch kein kompatibler Transportvertrag. Die aktiven Referenzen besitzen eine Resultattypinkonsistenz zwischen Text und skalaren Beispielen, deshalb bleiben Resultattyp, VECTOR-Konvertierung und Treibertransport Probe-Gates. Das Deck führt keinen Livecall aus und speichert keine Credentials. Datenabfluss, Retention, Kosten und Endpointform werden pro Provider bewertet. Timeouts und Retries verbrauchen ebenfalls das endliche Budget.</a:t>
            </a:r>
          </a:p>
          <a:p xmlns:a="http://schemas.openxmlformats.org/drawingml/2006/main">
            <a:r>
              <a:t/>
            </a:r>
          </a:p>
          <a:p xmlns:a="http://schemas.openxmlformats.org/drawingml/2006/main">
            <a:r>
              <a:t>STANDARD-Folie 42, Quellfolie 41 des 61-Folien-Masterdecks. Ablauf und Beobachtungsbogen: Documentation/HowTo/SQL_SERVER_2025_AI_STANDARD_COURSE.md.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SRC-080: CREATE EXTERNAL MODEL</a:t>
            </a:r>
          </a:p>
          <a:p xmlns:a="http://schemas.openxmlformats.org/drawingml/2006/main">
            <a:r>
              <a:t>https://learn.microsoft.com/en-us/sql/t-sql/statements/create-external-model-transact-sql?view=sql-server-ver17</a:t>
            </a:r>
          </a:p>
          <a:p xmlns:a="http://schemas.openxmlformats.org/drawingml/2006/main">
            <a:r>
              <a:t>Abrufdatum laut Quellenregister: 2026-10-11</a:t>
            </a:r>
          </a:p>
          <a:p xmlns:a="http://schemas.openxmlformats.org/drawingml/2006/main">
            <a:r>
              <a:t/>
            </a:r>
          </a:p>
          <a:p xmlns:a="http://schemas.openxmlformats.org/drawingml/2006/main">
            <a:r>
              <a:t>SRC-081: AI_GENERATE_EMBEDDINGS</a:t>
            </a:r>
          </a:p>
          <a:p xmlns:a="http://schemas.openxmlformats.org/drawingml/2006/main">
            <a:r>
              <a:t>https://learn.microsoft.com/en-us/sql/t-sql/functions/ai-generate-embeddings-transact-sql?view=sql-server-ver17</a:t>
            </a:r>
          </a:p>
          <a:p xmlns:a="http://schemas.openxmlformats.org/drawingml/2006/main">
            <a:r>
              <a:t>Abrufdatum laut Quellenregister: 2026-10-11</a:t>
            </a:r>
          </a:p>
          <a:p xmlns:a="http://schemas.openxmlformats.org/drawingml/2006/main">
            <a:r>
              <a:t/>
            </a:r>
          </a:p>
          <a:p xmlns:a="http://schemas.openxmlformats.org/drawingml/2006/main">
            <a:r>
              <a:t>SRC-082: sp_invoke_external_rest_endpoint</a:t>
            </a:r>
          </a:p>
          <a:p xmlns:a="http://schemas.openxmlformats.org/drawingml/2006/main">
            <a:r>
              <a:t>https://learn.microsoft.com/en-us/sql/relational-databases/system-stored-procedures/sp-invoke-external-rest-endpoint-transact-sql?view=sql-server-ver17</a:t>
            </a:r>
          </a:p>
          <a:p xmlns:a="http://schemas.openxmlformats.org/drawingml/2006/main">
            <a:r>
              <a:t>Abrufdatum laut Quellenregister: 2026-10-11</a:t>
            </a:r>
          </a:p>
          <a:p xmlns:a="http://schemas.openxmlformats.org/drawingml/2006/main">
            <a:r>
              <a:t/>
            </a:r>
          </a:p>
          <a:p xmlns:a="http://schemas.openxmlformats.org/drawingml/2006/main">
            <a:r>
              <a:t>SRC-096: CREATE DATABASE SCOPED CREDENTIAL</a:t>
            </a:r>
          </a:p>
          <a:p xmlns:a="http://schemas.openxmlformats.org/drawingml/2006/main">
            <a:r>
              <a:t>https://learn.microsoft.com/en-us/sql/t-sql/statements/create-database-scoped-credential-transact-sql?view=sql-server-ver17</a:t>
            </a:r>
          </a:p>
          <a:p xmlns:a="http://schemas.openxmlformats.org/drawingml/2006/main">
            <a:r>
              <a:t>Abrufdatum laut Quellenregister: 2026-10-11</a:t>
            </a:r>
          </a:p>
          <a:p xmlns:a="http://schemas.openxmlformats.org/drawingml/2006/main">
            <a:r>
              <a:t/>
            </a:r>
          </a:p>
          <a:p xmlns:a="http://schemas.openxmlformats.org/drawingml/2006/main">
            <a:r>
              <a:t>Projektquelle: Documentation/Research/SQL_SERVER_2025_AI_FEATURE_MATRIX.md</a:t>
            </a:r>
          </a:p>
          <a:p xmlns:a="http://schemas.openxmlformats.org/drawingml/2006/main">
            <a:r>
              <a:t/>
            </a:r>
          </a:p>
          <a:p xmlns:a="http://schemas.openxmlformats.org/drawingml/2006/main">
            <a:r>
              <a:t>Didaktische Zuordnung: CUR-016.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Starten Sie DGN-008 über den Ausführungsleitfaden. Ordnen Sie die SQL-Grants den Rollen zu und lesen Sie die positiven Restbetriebsbelege nach der Grantreduktion. Leere Resultate oder behauptete Rolle allein sind kein Rechtebeleg. Die Demo erstellt tatsächlich ein Offline-External-Modelobjekt, aber keine Inferenz. Lassen Sie die Gruppe die zusätzlichen Bedingungen eines Livecalls nennen: TLS (Transport Layer Security; Verschlüsselungsprotokoll für Verbindungen), Providervertrag, Modellresultat, Requestbudget und kontrollierter Credentialzugang. Ownerharness und Teilnehmerrechte bleiben getrennt. Entfernen Sie nur eigene markergebundene Ressourcen und prüfen Sie die eigene DB-Abwesenheit.</a:t>
            </a:r>
          </a:p>
          <a:p xmlns:a="http://schemas.openxmlformats.org/drawingml/2006/main">
            <a:r>
              <a:t/>
            </a:r>
          </a:p>
          <a:p xmlns:a="http://schemas.openxmlformats.org/drawingml/2006/main">
            <a:r>
              <a:t>STANDARD-Folie 43, Quellfolie 42 des 61-Folien-Masterdecks. Ablauf und Beobachtungsbogen: Documentation/HowTo/SQL_SERVER_2025_AI_STANDARD_COURSE.md.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Konkreter Aufruf nach Einrichtung gemäß DEMO_EXECUTION_GUIDE.md:</a:t>
            </a:r>
          </a:p>
          <a:p xmlns:a="http://schemas.openxmlformats.org/drawingml/2006/main">
            <a:r>
              <a:t>Invoke-SqlPerfDemo -DemoId DGN-008 -Server $server -Authentication $authentication -Username $username</a:t>
            </a:r>
          </a:p>
          <a:p xmlns:a="http://schemas.openxmlformats.org/drawingml/2006/main">
            <a:r>
              <a:t>Phasen und Abbruch: manifest.json sowie 90_Cleanup.sql. Vier vollständige Eigentumsmarker und denselben RunToken prüfen. Anschließend unabhängige Abwesenheit der eigenen DB bestätigen.</a:t>
            </a:r>
          </a:p>
          <a:p xmlns:a="http://schemas.openxmlformats.org/drawingml/2006/main">
            <a:r>
              <a:t>Demoquelle: Demos/09_AI_SQL_Server_2025/DGN-008_Offline_Model_Rights/README.md</a:t>
            </a:r>
          </a:p>
          <a:p xmlns:a="http://schemas.openxmlformats.org/drawingml/2006/main">
            <a:r>
              <a:t>Ergebnisvertrag: Demos/09_AI_SQL_Server_2025/DGN-008_Offline_Model_Rights/Expected/result-contract.json</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SRC-080: CREATE EXTERNAL MODEL</a:t>
            </a:r>
          </a:p>
          <a:p xmlns:a="http://schemas.openxmlformats.org/drawingml/2006/main">
            <a:r>
              <a:t>https://learn.microsoft.com/en-us/sql/t-sql/statements/create-external-model-transact-sql?view=sql-server-ver17</a:t>
            </a:r>
          </a:p>
          <a:p xmlns:a="http://schemas.openxmlformats.org/drawingml/2006/main">
            <a:r>
              <a:t>Abrufdatum laut Quellenregister: 2026-10-11</a:t>
            </a:r>
          </a:p>
          <a:p xmlns:a="http://schemas.openxmlformats.org/drawingml/2006/main">
            <a:r>
              <a:t/>
            </a:r>
          </a:p>
          <a:p xmlns:a="http://schemas.openxmlformats.org/drawingml/2006/main">
            <a:r>
              <a:t>SRC-082: sp_invoke_external_rest_endpoint</a:t>
            </a:r>
          </a:p>
          <a:p xmlns:a="http://schemas.openxmlformats.org/drawingml/2006/main">
            <a:r>
              <a:t>https://learn.microsoft.com/en-us/sql/relational-databases/system-stored-procedures/sp-invoke-external-rest-endpoint-transact-sql?view=sql-server-ver17</a:t>
            </a:r>
          </a:p>
          <a:p xmlns:a="http://schemas.openxmlformats.org/drawingml/2006/main">
            <a:r>
              <a:t>Abrufdatum laut Quellenregister: 2026-10-11</a:t>
            </a:r>
          </a:p>
          <a:p xmlns:a="http://schemas.openxmlformats.org/drawingml/2006/main">
            <a:r>
              <a:t/>
            </a:r>
          </a:p>
          <a:p xmlns:a="http://schemas.openxmlformats.org/drawingml/2006/main">
            <a:r>
              <a:t>SRC-096: CREATE DATABASE SCOPED CREDENTIAL</a:t>
            </a:r>
          </a:p>
          <a:p xmlns:a="http://schemas.openxmlformats.org/drawingml/2006/main">
            <a:r>
              <a:t>https://learn.microsoft.com/en-us/sql/t-sql/statements/create-database-scoped-credential-transact-sql?view=sql-server-ver17</a:t>
            </a:r>
          </a:p>
          <a:p xmlns:a="http://schemas.openxmlformats.org/drawingml/2006/main">
            <a:r>
              <a:t>Abrufdatum laut Quellenregister: 2026-10-11</a:t>
            </a:r>
          </a:p>
          <a:p xmlns:a="http://schemas.openxmlformats.org/drawingml/2006/main">
            <a:r>
              <a:t/>
            </a:r>
          </a:p>
          <a:p xmlns:a="http://schemas.openxmlformats.org/drawingml/2006/main">
            <a:r>
              <a:t>Didaktische Zuordnung: CUR-016 / CUR-018.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Starten Sie DGN-009 über den Ausführungsleitfaden. Verfolgen Sie zuerst den tatsächlichen Retrievalpfad der manipulierten Quelle. Danach zeigen Sie die feste Antwort- und Toolfixture. Die Policy entscheidet unabhängig vom Wortlaut des Quelleninhalts. Zusätzlich belegen echte SQL-Rechtefehler die Datenbankgrenze. Eine feste Fixture ermöglicht eine wiederholbare Beobachtung, beweist aber keine Resistenz jedes späteren LLMs gegen Prompt Injection. Der Transferauftrag fragt nach einem erlaubten Dokument, das eine unerlaubte Toolaktion verlangt. Keine unbekannten Tools oder Provider aktivieren. Cleanup und eigene DB-Abwesenheit prüfen.</a:t>
            </a:r>
          </a:p>
          <a:p xmlns:a="http://schemas.openxmlformats.org/drawingml/2006/main">
            <a:r>
              <a:t/>
            </a:r>
          </a:p>
          <a:p xmlns:a="http://schemas.openxmlformats.org/drawingml/2006/main">
            <a:r>
              <a:t>STANDARD-Folie 44, Quellfolie 49 des 61-Folien-Masterdecks. Ablauf und Beobachtungsbogen: Documentation/HowTo/SQL_SERVER_2025_AI_STANDARD_COURSE.md.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Konkreter Aufruf nach Einrichtung gemäß DEMO_EXECUTION_GUIDE.md:</a:t>
            </a:r>
          </a:p>
          <a:p xmlns:a="http://schemas.openxmlformats.org/drawingml/2006/main">
            <a:r>
              <a:t>Invoke-SqlPerfDemo -DemoId DGN-009 -Server $server -Authentication $authentication -Username $username</a:t>
            </a:r>
          </a:p>
          <a:p xmlns:a="http://schemas.openxmlformats.org/drawingml/2006/main">
            <a:r>
              <a:t>Phasen und Abbruch: manifest.json sowie 90_Cleanup.sql. Vier vollständige Eigentumsmarker und denselben RunToken prüfen. Anschließend unabhängige Abwesenheit der eigenen DB bestätigen.</a:t>
            </a:r>
          </a:p>
          <a:p xmlns:a="http://schemas.openxmlformats.org/drawingml/2006/main">
            <a:r>
              <a:t>Demoquelle: Demos/09_AI_SQL_Server_2025/DGN-009_Offline_Injection/README.md</a:t>
            </a:r>
          </a:p>
          <a:p xmlns:a="http://schemas.openxmlformats.org/drawingml/2006/main">
            <a:r>
              <a:t>Ergebnisvertrag: Demos/09_AI_SQL_Server_2025/DGN-009_Offline_Injection/Expected/result-contract.json</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SRC-090: SSMS Agent mode</a:t>
            </a:r>
          </a:p>
          <a:p xmlns:a="http://schemas.openxmlformats.org/drawingml/2006/main">
            <a:r>
              <a:t>https://learn.microsoft.com/en-us/ssms/github-copilot/agent-mode</a:t>
            </a:r>
          </a:p>
          <a:p xmlns:a="http://schemas.openxmlformats.org/drawingml/2006/main">
            <a:r>
              <a:t>Abrufdatum laut Quellenregister: 2026-10-11</a:t>
            </a:r>
          </a:p>
          <a:p xmlns:a="http://schemas.openxmlformats.org/drawingml/2006/main">
            <a:r>
              <a:t/>
            </a:r>
          </a:p>
          <a:p xmlns:a="http://schemas.openxmlformats.org/drawingml/2006/main">
            <a:r>
              <a:t>SRC-091: Execution context for GitHub Copilot</a:t>
            </a:r>
          </a:p>
          <a:p xmlns:a="http://schemas.openxmlformats.org/drawingml/2006/main">
            <a:r>
              <a:t>https://learn.microsoft.com/en-us/ssms/github-copilot/execution-context</a:t>
            </a:r>
          </a:p>
          <a:p xmlns:a="http://schemas.openxmlformats.org/drawingml/2006/main">
            <a:r>
              <a:t>Abrufdatum laut Quellenregister: 2026-10-11</a:t>
            </a:r>
          </a:p>
          <a:p xmlns:a="http://schemas.openxmlformats.org/drawingml/2006/main">
            <a:r>
              <a:t/>
            </a:r>
          </a:p>
          <a:p xmlns:a="http://schemas.openxmlformats.org/drawingml/2006/main">
            <a:r>
              <a:t>SRC-099: SQL Injection</a:t>
            </a:r>
          </a:p>
          <a:p xmlns:a="http://schemas.openxmlformats.org/drawingml/2006/main">
            <a:r>
              <a:t>https://learn.microsoft.com/en-us/sql/relational-databases/security/sql-injection?view=sql-server-ver17</a:t>
            </a:r>
          </a:p>
          <a:p xmlns:a="http://schemas.openxmlformats.org/drawingml/2006/main">
            <a:r>
              <a:t>Abrufdatum laut Quellenregister: 2026-10-11</a:t>
            </a:r>
          </a:p>
          <a:p xmlns:a="http://schemas.openxmlformats.org/drawingml/2006/main">
            <a:r>
              <a:t/>
            </a:r>
          </a:p>
          <a:p xmlns:a="http://schemas.openxmlformats.org/drawingml/2006/main">
            <a:r>
              <a:t>Didaktische Zuordnung: CUR-018.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Verwenden Sie die vorhandene Rubrik und die einzige gepflegte Trainerlösung im Offline-Arbeitsheft. Lassen Sie die Gruppe einen nachvollziehbaren Datenfluss und mindestens eine Gegenprobe beschreiben. Erwartete Elemente sind authentifizierter Tenantkontext, aktuelle Quellenbereiche, passende Modellprovenienz, feste Wertbindung und begrenzter Kontext. Ein Quellenwiderspruch erlaubt eine begründete Nichtantwort. Der Indexvorschlag benötigt gleiche Resultate, geeignete Messfenster und Kosten für Datenänderungen (Data Manipulation Language, DML), Speicherung und Indexaufbau. Die Rubrik hat keine festgelegte Bestehensgrenze und beweist keine gemessene Lernwirksamkeit. CON010 und Vertiefungsaufträge werden getrennt besprochen. Sammeln Sie keine Namen, Rawpläne oder Daten realer Systeme. Tatsächliche Lehrzeiten und Teilnehmerabnahme folgen erst in der Generalprobe.</a:t>
            </a:r>
          </a:p>
          <a:p xmlns:a="http://schemas.openxmlformats.org/drawingml/2006/main">
            <a:r>
              <a:t/>
            </a:r>
          </a:p>
          <a:p xmlns:a="http://schemas.openxmlformats.org/drawingml/2006/main">
            <a:r>
              <a:t>STANDARD-Folie 45, Quellfolie 61 des 61-Folien-Masterdecks. Ablauf und Beobachtungsbogen: Documentation/HowTo/SQL_SERVER_2025_AI_STANDARD_COURSE.md.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Projektquelle: Documentation/HowTo/SQL_SERVER_2025_AI_OFFLINE_WORKBOOK.md</a:t>
            </a:r>
          </a:p>
          <a:p xmlns:a="http://schemas.openxmlformats.org/drawingml/2006/main">
            <a:r>
              <a:t/>
            </a:r>
          </a:p>
          <a:p xmlns:a="http://schemas.openxmlformats.org/drawingml/2006/main">
            <a:r>
              <a:t>Projektquelle: Documentation/HowTo/SQL_SERVER_2025_AI_OFFLINE_TRAINER_GUIDE.md</a:t>
            </a:r>
          </a:p>
          <a:p xmlns:a="http://schemas.openxmlformats.org/drawingml/2006/main">
            <a:r>
              <a:t/>
            </a:r>
          </a:p>
          <a:p xmlns:a="http://schemas.openxmlformats.org/drawingml/2006/main">
            <a:r>
              <a:t>Projektquelle: Documentation/Project_Planning/SQL_SERVER_2025_AI_WORKSTREAM_PLAN.md</a:t>
            </a:r>
          </a:p>
          <a:p xmlns:a="http://schemas.openxmlformats.org/drawingml/2006/main">
            <a:r>
              <a:t/>
            </a:r>
          </a:p>
          <a:p xmlns:a="http://schemas.openxmlformats.org/drawingml/2006/main">
            <a:r>
              <a:t>Didaktische Zuordnung: CUR-022.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7aa5a86d42f47c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9e80eaed7c14a9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1014cef53194dc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2e614297b64439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cb3038c64f84f8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bc7e3dfd0cd4ed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7BE3DF4-75B5-44EE-8EFB-519596C43CF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BF8ACDC-636A-466E-941A-52AFA30B050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1109E0B-F5BB-4DE4-86E3-AC266B3D791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C04E8E0-D6C0-468F-8843-A13B4305423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77365C2-EF2A-4353-8A58-08C853FA3D6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82CC4D2-CB1F-4EBE-9F21-F1CD0B29A08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759BD72-BF43-4FB1-9CFA-AF1EAE5F571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8741C78-B74B-4797-86DD-B0B22FFCF28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3EEB89E-EF7D-419C-B385-FCC784BA592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F691C07-DD92-4EED-8E24-844BD8CAEE6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77c331fb22d4aa2" /><Relationship Type="http://schemas.openxmlformats.org/officeDocument/2006/relationships/slideLayout" Target="/ppt/slideLayouts/slideLayout1.xml" Id="Rabbd6acbcabf4e3e" /><Relationship Type="http://schemas.openxmlformats.org/officeDocument/2006/relationships/slideLayout" Target="/ppt/slideLayouts/slideLayout2.xml" Id="R93d2a58a806743f6" /><Relationship Type="http://schemas.openxmlformats.org/officeDocument/2006/relationships/slideLayout" Target="/ppt/slideLayouts/slideLayout3.xml" Id="R7ba5d226d2b342b0" /><Relationship Type="http://schemas.openxmlformats.org/officeDocument/2006/relationships/slideLayout" Target="/ppt/slideLayouts/slideLayout4.xml" Id="R58da00734a924e21" /><Relationship Type="http://schemas.openxmlformats.org/officeDocument/2006/relationships/slideLayout" Target="/ppt/slideLayouts/slideLayout5.xml" Id="Ra743fef5b5274896" /><Relationship Type="http://schemas.openxmlformats.org/officeDocument/2006/relationships/slideLayout" Target="/ppt/slideLayouts/slideLayout6.xml" Id="Reae0b31e9294462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bbd6acbcabf4e3e"/>
    <p:sldLayoutId xmlns:r="http://schemas.openxmlformats.org/officeDocument/2006/relationships" id="2147483650" r:id="R93d2a58a806743f6"/>
    <p:sldLayoutId xmlns:r="http://schemas.openxmlformats.org/officeDocument/2006/relationships" id="2147483651" r:id="R7ba5d226d2b342b0"/>
    <p:sldLayoutId xmlns:r="http://schemas.openxmlformats.org/officeDocument/2006/relationships" id="2147483652" r:id="R58da00734a924e21"/>
    <p:sldLayoutId xmlns:r="http://schemas.openxmlformats.org/officeDocument/2006/relationships" id="2147483653" r:id="Ra743fef5b5274896"/>
    <p:sldLayoutId xmlns:r="http://schemas.openxmlformats.org/officeDocument/2006/relationships" id="2147483654" r:id="Reae0b31e9294462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b7c40c7c74a4ee4" /><Relationship Type="http://schemas.openxmlformats.org/officeDocument/2006/relationships/notesSlide" Target="/ppt/notesSlides/notesSlide1.xml" Id="R08435b23d6284c6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a6359b384f641e9" /><Relationship Type="http://schemas.openxmlformats.org/officeDocument/2006/relationships/notesSlide" Target="/ppt/notesSlides/notesSlide2.xml" Id="Rc8f820cfed5c4c5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39a6ad4f5774cec" /><Relationship Type="http://schemas.openxmlformats.org/officeDocument/2006/relationships/notesSlide" Target="/ppt/notesSlides/notesSlide3.xml" Id="Raf1072da55b748a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042d5fede384713" /><Relationship Type="http://schemas.openxmlformats.org/officeDocument/2006/relationships/notesSlide" Target="/ppt/notesSlides/notesSlide4.xml" Id="Rf03324fe0b0045c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97faa5b6af24915" /><Relationship Type="http://schemas.openxmlformats.org/officeDocument/2006/relationships/notesSlide" Target="/ppt/notesSlides/notesSlide5.xml" Id="R0c82cbcc3b5b4aa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9819ff999e24676" /><Relationship Type="http://schemas.openxmlformats.org/officeDocument/2006/relationships/notesSlide" Target="/ppt/notesSlides/notesSlide6.xml" Id="R9e5ea0852d674d3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04208c98df343aa" /><Relationship Type="http://schemas.openxmlformats.org/officeDocument/2006/relationships/notesSlide" Target="/ppt/notesSlides/notesSlide7.xml" Id="R4e5f7aab95dd4b7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8317f639e0b44ca" /><Relationship Type="http://schemas.openxmlformats.org/officeDocument/2006/relationships/notesSlide" Target="/ppt/notesSlides/notesSlide8.xml" Id="R794d8561d04a470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785a701000d419b" /><Relationship Type="http://schemas.openxmlformats.org/officeDocument/2006/relationships/notesSlide" Target="/ppt/notesSlides/notesSlide9.xml" Id="R5925d707b795422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d65b4d352204165" /><Relationship Type="http://schemas.openxmlformats.org/officeDocument/2006/relationships/notesSlide" Target="/ppt/notesSlides/notesSlide10.xml" Id="Rf8564725d963440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2d76e23ecdb4290" /><Relationship Type="http://schemas.openxmlformats.org/officeDocument/2006/relationships/notesSlide" Target="/ppt/notesSlides/notesSlide11.xml" Id="R63b9a9ba8993442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5cd25650e414bce" /><Relationship Type="http://schemas.openxmlformats.org/officeDocument/2006/relationships/notesSlide" Target="/ppt/notesSlides/notesSlide12.xml" Id="Ra429c8dbfb25466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40ce920bfa7549b9" /><Relationship Type="http://schemas.openxmlformats.org/officeDocument/2006/relationships/notesSlide" Target="/ppt/notesSlides/notesSlide13.xml" Id="R9f2ad945ec8341a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eddafed0649647ec" /><Relationship Type="http://schemas.openxmlformats.org/officeDocument/2006/relationships/notesSlide" Target="/ppt/notesSlides/notesSlide14.xml" Id="R6b8865027e6d4e6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2b642e2942af4b5c" /><Relationship Type="http://schemas.openxmlformats.org/officeDocument/2006/relationships/notesSlide" Target="/ppt/notesSlides/notesSlide15.xml" Id="R6591219dd9134b2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c741c8be4c3f4876" /><Relationship Type="http://schemas.openxmlformats.org/officeDocument/2006/relationships/notesSlide" Target="/ppt/notesSlides/notesSlide16.xml" Id="R3b5003f8e2944b0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c4c41a0c04d84b06" /><Relationship Type="http://schemas.openxmlformats.org/officeDocument/2006/relationships/notesSlide" Target="/ppt/notesSlides/notesSlide17.xml" Id="Rc40058eb3cb9415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c401852b841a4924" /><Relationship Type="http://schemas.openxmlformats.org/officeDocument/2006/relationships/notesSlide" Target="/ppt/notesSlides/notesSlide18.xml" Id="R2ded3dbacabd43c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3a85cf3c196f4a43" /><Relationship Type="http://schemas.openxmlformats.org/officeDocument/2006/relationships/notesSlide" Target="/ppt/notesSlides/notesSlide19.xml" Id="R9e8f98461e7d4e7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cb904b2201bc46fa" /><Relationship Type="http://schemas.openxmlformats.org/officeDocument/2006/relationships/notesSlide" Target="/ppt/notesSlides/notesSlide20.xml" Id="R0092ba881c2d477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e705dd13f5f3402a" /><Relationship Type="http://schemas.openxmlformats.org/officeDocument/2006/relationships/notesSlide" Target="/ppt/notesSlides/notesSlide21.xml" Id="Rbbc46c062600418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153581c08bfb4cd4" /><Relationship Type="http://schemas.openxmlformats.org/officeDocument/2006/relationships/notesSlide" Target="/ppt/notesSlides/notesSlide22.xml" Id="R5584c00b6b52420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a36e9c5dcab648f6" /><Relationship Type="http://schemas.openxmlformats.org/officeDocument/2006/relationships/notesSlide" Target="/ppt/notesSlides/notesSlide23.xml" Id="Rf504db316c3c4aa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9d25eadafbc34247" /><Relationship Type="http://schemas.openxmlformats.org/officeDocument/2006/relationships/notesSlide" Target="/ppt/notesSlides/notesSlide24.xml" Id="Red759cc27f97445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42dbf8eb253c447d" /><Relationship Type="http://schemas.openxmlformats.org/officeDocument/2006/relationships/notesSlide" Target="/ppt/notesSlides/notesSlide25.xml" Id="R90bca8f8b79340a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44bb95dfa5fb4307" /><Relationship Type="http://schemas.openxmlformats.org/officeDocument/2006/relationships/notesSlide" Target="/ppt/notesSlides/notesSlide26.xml" Id="Rfeb881c7246b43c0"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693e31ec144c4217" /><Relationship Type="http://schemas.openxmlformats.org/officeDocument/2006/relationships/notesSlide" Target="/ppt/notesSlides/notesSlide27.xml" Id="Rce1d3ec060aa4486"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8addd9d65c1f406c" /><Relationship Type="http://schemas.openxmlformats.org/officeDocument/2006/relationships/notesSlide" Target="/ppt/notesSlides/notesSlide28.xml" Id="Rd9c89e65bc874f99"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c66cefcaecd24007" /><Relationship Type="http://schemas.openxmlformats.org/officeDocument/2006/relationships/notesSlide" Target="/ppt/notesSlides/notesSlide29.xml" Id="Rdddad0f5e39f4e78"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010131dd4c0d4bb9" /><Relationship Type="http://schemas.openxmlformats.org/officeDocument/2006/relationships/notesSlide" Target="/ppt/notesSlides/notesSlide30.xml" Id="R9784eb6fc6ae45ff"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77e97dece57f4acf" /><Relationship Type="http://schemas.openxmlformats.org/officeDocument/2006/relationships/notesSlide" Target="/ppt/notesSlides/notesSlide31.xml" Id="R0327edc2f0ee4658"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f48c820bb43e44c7" /><Relationship Type="http://schemas.openxmlformats.org/officeDocument/2006/relationships/notesSlide" Target="/ppt/notesSlides/notesSlide32.xml" Id="R74dff557dd7241f5"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7f74b50554544a68" /><Relationship Type="http://schemas.openxmlformats.org/officeDocument/2006/relationships/notesSlide" Target="/ppt/notesSlides/notesSlide33.xml" Id="R9f0629e3dc644908"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2d3cbc6be8d64d40" /><Relationship Type="http://schemas.openxmlformats.org/officeDocument/2006/relationships/notesSlide" Target="/ppt/notesSlides/notesSlide34.xml" Id="R840ef4c94159443b"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9b0f57f29e4c43bb" /><Relationship Type="http://schemas.openxmlformats.org/officeDocument/2006/relationships/notesSlide" Target="/ppt/notesSlides/notesSlide35.xml" Id="R9cda76743fe34b23"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006402f82edc4d00" /><Relationship Type="http://schemas.openxmlformats.org/officeDocument/2006/relationships/notesSlide" Target="/ppt/notesSlides/notesSlide36.xml" Id="R047c23a329b94cf9"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b195c4868041460d" /><Relationship Type="http://schemas.openxmlformats.org/officeDocument/2006/relationships/notesSlide" Target="/ppt/notesSlides/notesSlide37.xml" Id="R22de71b1e8d0404e"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d975e22d95f74d49" /><Relationship Type="http://schemas.openxmlformats.org/officeDocument/2006/relationships/notesSlide" Target="/ppt/notesSlides/notesSlide38.xml" Id="Rf0a0788f9b1740ce"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34229f66864c43a4" /><Relationship Type="http://schemas.openxmlformats.org/officeDocument/2006/relationships/notesSlide" Target="/ppt/notesSlides/notesSlide39.xml" Id="R6846c11e08c04a68"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6dce906f37fd4be3" /><Relationship Type="http://schemas.openxmlformats.org/officeDocument/2006/relationships/notesSlide" Target="/ppt/notesSlides/notesSlide40.xml" Id="R49a8d467a67a49a4"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d2a911b9fd0f4dac" /><Relationship Type="http://schemas.openxmlformats.org/officeDocument/2006/relationships/notesSlide" Target="/ppt/notesSlides/notesSlide41.xml" Id="Rb267e4f5b1c44c6a"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cf501ded5f494797" /><Relationship Type="http://schemas.openxmlformats.org/officeDocument/2006/relationships/notesSlide" Target="/ppt/notesSlides/notesSlide42.xml" Id="Rde184a41c06f42fc"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c80cf4e6bf004f05" /><Relationship Type="http://schemas.openxmlformats.org/officeDocument/2006/relationships/notesSlide" Target="/ppt/notesSlides/notesSlide43.xml" Id="Re42ac220739f4caf"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95371a3a60b441e0" /><Relationship Type="http://schemas.openxmlformats.org/officeDocument/2006/relationships/notesSlide" Target="/ppt/notesSlides/notesSlide44.xml" Id="Rb139bc9c7018488e"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e9221d32c0584c8f" /><Relationship Type="http://schemas.openxmlformats.org/officeDocument/2006/relationships/notesSlide" Target="/ppt/notesSlides/notesSlide45.xml" Id="Raafa141915fe4bb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0">
            <a:extLst xmlns:a="http://schemas.openxmlformats.org/drawingml/2006/main">
              <a:ext uri="{FF2B5EF4-FFF2-40B4-BE49-F238E27FC236}">
                <a16:creationId xmlns:a16="http://schemas.microsoft.com/office/drawing/2014/main" id="{58590CC7-7AF3-43EF-B6CE-1FB1693B32D1}"/>
              </a:ext>
            </a:extLst>
          </p:cNvPr>
          <p:cNvSpPr>
            <a:spLocks xmlns:a="http://schemas.openxmlformats.org/drawingml/2006/main" noGrp="1"/>
          </p:cNvSpPr>
          <p:nvPr/>
        </p:nvSpPr>
        <p:spPr>
          <a:xfrm xmlns:a="http://schemas.openxmlformats.org/drawingml/2006/main">
            <a:off x="762000" y="1476375"/>
            <a:ext cx="10668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4800" b="1">
                <a:solidFill>
                  <a:srgbClr val="15283D"/>
                </a:solidFill>
                <a:latin typeface="Arial"/>
                <a:ea typeface="Arial"/>
                <a:cs typeface="Arial"/>
              </a:defRPr>
            </a:defPPr>
            <a:lvl1pPr>
              <a:defRPr sz="4800" b="1">
                <a:solidFill>
                  <a:srgbClr val="15283D"/>
                </a:solidFill>
                <a:latin typeface="Arial"/>
                <a:ea typeface="Arial"/>
                <a:cs typeface="Arial"/>
              </a:defRPr>
            </a:lvl1pPr>
            <a:lvl2pPr>
              <a:defRPr sz="4800" b="1">
                <a:solidFill>
                  <a:srgbClr val="15283D"/>
                </a:solidFill>
                <a:latin typeface="Arial"/>
                <a:ea typeface="Arial"/>
                <a:cs typeface="Arial"/>
              </a:defRPr>
            </a:lvl2pPr>
            <a:lvl3pPr>
              <a:defRPr sz="4800" b="1">
                <a:solidFill>
                  <a:srgbClr val="15283D"/>
                </a:solidFill>
                <a:latin typeface="Arial"/>
                <a:ea typeface="Arial"/>
                <a:cs typeface="Arial"/>
              </a:defRPr>
            </a:lvl3pPr>
            <a:lvl4pPr>
              <a:defRPr sz="4800" b="1">
                <a:solidFill>
                  <a:srgbClr val="15283D"/>
                </a:solidFill>
                <a:latin typeface="Arial"/>
                <a:ea typeface="Arial"/>
                <a:cs typeface="Arial"/>
              </a:defRPr>
            </a:lvl4pPr>
            <a:lvl5pPr>
              <a:defRPr sz="4800" b="1">
                <a:solidFill>
                  <a:srgbClr val="15283D"/>
                </a:solidFill>
                <a:latin typeface="Arial"/>
                <a:ea typeface="Arial"/>
                <a:cs typeface="Arial"/>
              </a:defRPr>
            </a:lvl5pPr>
            <a:lvl6pPr>
              <a:defRPr sz="4800" b="1">
                <a:solidFill>
                  <a:srgbClr val="15283D"/>
                </a:solidFill>
                <a:latin typeface="Arial"/>
                <a:ea typeface="Arial"/>
                <a:cs typeface="Arial"/>
              </a:defRPr>
            </a:lvl6pPr>
            <a:lvl7pPr>
              <a:defRPr sz="4800" b="1">
                <a:solidFill>
                  <a:srgbClr val="15283D"/>
                </a:solidFill>
                <a:latin typeface="Arial"/>
                <a:ea typeface="Arial"/>
                <a:cs typeface="Arial"/>
              </a:defRPr>
            </a:lvl7pPr>
            <a:lvl8pPr>
              <a:defRPr sz="4800" b="1">
                <a:solidFill>
                  <a:srgbClr val="15283D"/>
                </a:solidFill>
                <a:latin typeface="Arial"/>
                <a:ea typeface="Arial"/>
                <a:cs typeface="Arial"/>
              </a:defRPr>
            </a:lvl8pPr>
            <a:lvl9pPr>
              <a:defRPr sz="4800" b="1">
                <a:solidFill>
                  <a:srgbClr val="15283D"/>
                </a:solidFill>
                <a:latin typeface="Arial"/>
                <a:ea typeface="Arial"/>
                <a:cs typeface="Arial"/>
              </a:defRPr>
            </a:lvl9pPr>
          </a:lstStyle>
          <a:p xmlns:a="http://schemas.openxmlformats.org/drawingml/2006/main">
            <a:pPr>
              <a:defRPr sz="4800" b="1">
                <a:solidFill>
                  <a:srgbClr val="15283D"/>
                </a:solidFill>
                <a:latin typeface="Arial"/>
                <a:ea typeface="Arial"/>
                <a:cs typeface="Arial"/>
              </a:defRPr>
            </a:pPr>
            <a:r>
              <a:rPr sz="4800" b="1">
                <a:solidFill>
                  <a:srgbClr val="15283D"/>
                </a:solidFill>
                <a:latin typeface="Arial"/>
                <a:ea typeface="Arial"/>
                <a:cs typeface="Arial"/>
              </a:rPr>
              <a:t>KI mit SQL Server 2025</a:t>
            </a:r>
          </a:p>
          <a:p xmlns:a="http://schemas.openxmlformats.org/drawingml/2006/main">
            <a:pPr>
              <a:defRPr sz="4800" b="1">
                <a:solidFill>
                  <a:srgbClr val="15283D"/>
                </a:solidFill>
                <a:latin typeface="Arial"/>
                <a:ea typeface="Arial"/>
                <a:cs typeface="Arial"/>
              </a:defRPr>
            </a:pPr>
            <a:r>
              <a:rPr sz="4800" b="1">
                <a:solidFill>
                  <a:srgbClr val="15283D"/>
                </a:solidFill>
                <a:latin typeface="Arial"/>
                <a:ea typeface="Arial"/>
                <a:cs typeface="Arial"/>
              </a:rPr>
              <a:t>STANDARD</a:t>
            </a:r>
          </a:p>
        </p:txBody>
      </p:sp>
      <p:sp>
        <p:nvSpPr>
          <p:cNvPr id="2" name="text-1">
            <a:extLst xmlns:a="http://schemas.openxmlformats.org/drawingml/2006/main">
              <a:ext uri="{FF2B5EF4-FFF2-40B4-BE49-F238E27FC236}">
                <a16:creationId xmlns:a16="http://schemas.microsoft.com/office/drawing/2014/main" id="{08B32FBC-9820-4364-9EBD-7325E9BB1702}"/>
              </a:ext>
            </a:extLst>
          </p:cNvPr>
          <p:cNvSpPr>
            <a:spLocks xmlns:a="http://schemas.openxmlformats.org/drawingml/2006/main" noGrp="1"/>
          </p:cNvSpPr>
          <p:nvPr/>
        </p:nvSpPr>
        <p:spPr>
          <a:xfrm xmlns:a="http://schemas.openxmlformats.org/drawingml/2006/main">
            <a:off x="762000" y="4143375"/>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400" b="0">
                <a:solidFill>
                  <a:srgbClr val="52647A"/>
                </a:solidFill>
                <a:latin typeface="Arial"/>
                <a:ea typeface="Arial"/>
                <a:cs typeface="Arial"/>
              </a:defRPr>
            </a:defPPr>
            <a:lvl1pPr>
              <a:defRPr sz="2400" b="0">
                <a:solidFill>
                  <a:srgbClr val="52647A"/>
                </a:solidFill>
                <a:latin typeface="Arial"/>
                <a:ea typeface="Arial"/>
                <a:cs typeface="Arial"/>
              </a:defRPr>
            </a:lvl1pPr>
            <a:lvl2pPr>
              <a:defRPr sz="2400" b="0">
                <a:solidFill>
                  <a:srgbClr val="52647A"/>
                </a:solidFill>
                <a:latin typeface="Arial"/>
                <a:ea typeface="Arial"/>
                <a:cs typeface="Arial"/>
              </a:defRPr>
            </a:lvl2pPr>
            <a:lvl3pPr>
              <a:defRPr sz="2400" b="0">
                <a:solidFill>
                  <a:srgbClr val="52647A"/>
                </a:solidFill>
                <a:latin typeface="Arial"/>
                <a:ea typeface="Arial"/>
                <a:cs typeface="Arial"/>
              </a:defRPr>
            </a:lvl3pPr>
            <a:lvl4pPr>
              <a:defRPr sz="2400" b="0">
                <a:solidFill>
                  <a:srgbClr val="52647A"/>
                </a:solidFill>
                <a:latin typeface="Arial"/>
                <a:ea typeface="Arial"/>
                <a:cs typeface="Arial"/>
              </a:defRPr>
            </a:lvl4pPr>
            <a:lvl5pPr>
              <a:defRPr sz="2400" b="0">
                <a:solidFill>
                  <a:srgbClr val="52647A"/>
                </a:solidFill>
                <a:latin typeface="Arial"/>
                <a:ea typeface="Arial"/>
                <a:cs typeface="Arial"/>
              </a:defRPr>
            </a:lvl5pPr>
            <a:lvl6pPr>
              <a:defRPr sz="2400" b="0">
                <a:solidFill>
                  <a:srgbClr val="52647A"/>
                </a:solidFill>
                <a:latin typeface="Arial"/>
                <a:ea typeface="Arial"/>
                <a:cs typeface="Arial"/>
              </a:defRPr>
            </a:lvl6pPr>
            <a:lvl7pPr>
              <a:defRPr sz="2400" b="0">
                <a:solidFill>
                  <a:srgbClr val="52647A"/>
                </a:solidFill>
                <a:latin typeface="Arial"/>
                <a:ea typeface="Arial"/>
                <a:cs typeface="Arial"/>
              </a:defRPr>
            </a:lvl7pPr>
            <a:lvl8pPr>
              <a:defRPr sz="2400" b="0">
                <a:solidFill>
                  <a:srgbClr val="52647A"/>
                </a:solidFill>
                <a:latin typeface="Arial"/>
                <a:ea typeface="Arial"/>
                <a:cs typeface="Arial"/>
              </a:defRPr>
            </a:lvl8pPr>
            <a:lvl9pPr>
              <a:defRPr sz="2400" b="0">
                <a:solidFill>
                  <a:srgbClr val="52647A"/>
                </a:solidFill>
                <a:latin typeface="Arial"/>
                <a:ea typeface="Arial"/>
                <a:cs typeface="Arial"/>
              </a:defRPr>
            </a:lvl9pPr>
          </a:lstStyle>
          <a:p xmlns:a="http://schemas.openxmlformats.org/drawingml/2006/main">
            <a:pPr>
              <a:defRPr sz="2400" b="0">
                <a:solidFill>
                  <a:srgbClr val="52647A"/>
                </a:solidFill>
                <a:latin typeface="Arial"/>
                <a:ea typeface="Arial"/>
                <a:cs typeface="Arial"/>
              </a:defRPr>
            </a:pPr>
            <a:r>
              <a:rPr sz="2400" b="0">
                <a:solidFill>
                  <a:srgbClr val="52647A"/>
                </a:solidFill>
                <a:latin typeface="Arial"/>
                <a:ea typeface="Arial"/>
                <a:cs typeface="Arial"/>
              </a:rPr>
              <a:t>Ein Unterrichtstag · Vektoren, Quellen und sichere Offlineabläufe</a:t>
            </a:r>
          </a:p>
        </p:txBody>
      </p:sp>
      <p:sp>
        <p:nvSpPr>
          <p:cNvPr id="3" name="text-2">
            <a:extLst xmlns:a="http://schemas.openxmlformats.org/drawingml/2006/main">
              <a:ext uri="{FF2B5EF4-FFF2-40B4-BE49-F238E27FC236}">
                <a16:creationId xmlns:a16="http://schemas.microsoft.com/office/drawing/2014/main" id="{B3CED3D4-988B-4F56-BFDA-141738F45326}"/>
              </a:ext>
            </a:extLst>
          </p:cNvPr>
          <p:cNvSpPr>
            <a:spLocks xmlns:a="http://schemas.openxmlformats.org/drawingml/2006/main" noGrp="1"/>
          </p:cNvSpPr>
          <p:nvPr/>
        </p:nvSpPr>
        <p:spPr>
          <a:xfrm xmlns:a="http://schemas.openxmlformats.org/drawingml/2006/main">
            <a:off x="762000" y="5810250"/>
            <a:ext cx="1028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007A83"/>
                </a:solidFill>
                <a:latin typeface="Arial"/>
                <a:ea typeface="Arial"/>
                <a:cs typeface="Arial"/>
              </a:defRPr>
            </a:defPPr>
            <a:lvl1pPr>
              <a:defRPr sz="1800" b="0">
                <a:solidFill>
                  <a:srgbClr val="007A83"/>
                </a:solidFill>
                <a:latin typeface="Arial"/>
                <a:ea typeface="Arial"/>
                <a:cs typeface="Arial"/>
              </a:defRPr>
            </a:lvl1pPr>
            <a:lvl2pPr>
              <a:defRPr sz="1800" b="0">
                <a:solidFill>
                  <a:srgbClr val="007A83"/>
                </a:solidFill>
                <a:latin typeface="Arial"/>
                <a:ea typeface="Arial"/>
                <a:cs typeface="Arial"/>
              </a:defRPr>
            </a:lvl2pPr>
            <a:lvl3pPr>
              <a:defRPr sz="1800" b="0">
                <a:solidFill>
                  <a:srgbClr val="007A83"/>
                </a:solidFill>
                <a:latin typeface="Arial"/>
                <a:ea typeface="Arial"/>
                <a:cs typeface="Arial"/>
              </a:defRPr>
            </a:lvl3pPr>
            <a:lvl4pPr>
              <a:defRPr sz="1800" b="0">
                <a:solidFill>
                  <a:srgbClr val="007A83"/>
                </a:solidFill>
                <a:latin typeface="Arial"/>
                <a:ea typeface="Arial"/>
                <a:cs typeface="Arial"/>
              </a:defRPr>
            </a:lvl4pPr>
            <a:lvl5pPr>
              <a:defRPr sz="1800" b="0">
                <a:solidFill>
                  <a:srgbClr val="007A83"/>
                </a:solidFill>
                <a:latin typeface="Arial"/>
                <a:ea typeface="Arial"/>
                <a:cs typeface="Arial"/>
              </a:defRPr>
            </a:lvl5pPr>
            <a:lvl6pPr>
              <a:defRPr sz="1800" b="0">
                <a:solidFill>
                  <a:srgbClr val="007A83"/>
                </a:solidFill>
                <a:latin typeface="Arial"/>
                <a:ea typeface="Arial"/>
                <a:cs typeface="Arial"/>
              </a:defRPr>
            </a:lvl6pPr>
            <a:lvl7pPr>
              <a:defRPr sz="1800" b="0">
                <a:solidFill>
                  <a:srgbClr val="007A83"/>
                </a:solidFill>
                <a:latin typeface="Arial"/>
                <a:ea typeface="Arial"/>
                <a:cs typeface="Arial"/>
              </a:defRPr>
            </a:lvl7pPr>
            <a:lvl8pPr>
              <a:defRPr sz="1800" b="0">
                <a:solidFill>
                  <a:srgbClr val="007A83"/>
                </a:solidFill>
                <a:latin typeface="Arial"/>
                <a:ea typeface="Arial"/>
                <a:cs typeface="Arial"/>
              </a:defRPr>
            </a:lvl8pPr>
            <a:lvl9pPr>
              <a:defRPr sz="1800" b="0">
                <a:solidFill>
                  <a:srgbClr val="007A83"/>
                </a:solidFill>
                <a:latin typeface="Arial"/>
                <a:ea typeface="Arial"/>
                <a:cs typeface="Arial"/>
              </a:defRPr>
            </a:lvl9pPr>
          </a:lstStyle>
          <a:p xmlns:a="http://schemas.openxmlformats.org/drawingml/2006/main">
            <a:pPr>
              <a:defRPr sz="1800" b="0">
                <a:solidFill>
                  <a:srgbClr val="007A83"/>
                </a:solidFill>
                <a:latin typeface="Arial"/>
                <a:ea typeface="Arial"/>
                <a:cs typeface="Arial"/>
              </a:defRPr>
            </a:pPr>
            <a:r>
              <a:rPr sz="1800" b="0">
                <a:solidFill>
                  <a:srgbClr val="007A83"/>
                </a:solidFill>
                <a:latin typeface="Arial"/>
                <a:ea typeface="Arial"/>
                <a:cs typeface="Arial"/>
              </a:rPr>
              <a:t>Schulungsunterlagen · Stand 2026-10-12</a:t>
            </a:r>
          </a:p>
        </p:txBody>
      </p:sp>
    </p:spTree>
    <p:extLst>
      <p:ext uri="{BB962C8B-B14F-4D97-AF65-F5344CB8AC3E}">
        <p14:creationId xmlns:p14="http://schemas.microsoft.com/office/powerpoint/2010/main" val="198825293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6CEF702B-8B29-478A-899C-A411DB7D2F79}"/>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Einstieg mit bekannten SQL-Grundlagen</a:t>
            </a:r>
          </a:p>
        </p:txBody>
      </p:sp>
      <p:sp>
        <p:nvSpPr>
          <p:cNvPr id="2" name="text-1">
            <a:extLst xmlns:a="http://schemas.openxmlformats.org/drawingml/2006/main">
              <a:ext uri="{FF2B5EF4-FFF2-40B4-BE49-F238E27FC236}">
                <a16:creationId xmlns:a16="http://schemas.microsoft.com/office/drawing/2014/main" id="{8BAD7384-D81A-4569-88A0-7B8A2FB0276F}"/>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Ausgangspunkt</a:t>
            </a:r>
          </a:p>
        </p:txBody>
      </p:sp>
      <p:sp>
        <p:nvSpPr>
          <p:cNvPr id="3" name="text-2">
            <a:extLst xmlns:a="http://schemas.openxmlformats.org/drawingml/2006/main">
              <a:ext uri="{FF2B5EF4-FFF2-40B4-BE49-F238E27FC236}">
                <a16:creationId xmlns:a16="http://schemas.microsoft.com/office/drawing/2014/main" id="{9858D005-4DAC-4580-AA89-E17873F7373F}"/>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Sie kennen SELECT und Tabellen. Erfahrung mit KI brauchen Sie für diesen Einstieg nicht.</a:t>
            </a:r>
          </a:p>
        </p:txBody>
      </p:sp>
      <p:sp>
        <p:nvSpPr>
          <p:cNvPr id="4" name="text-3">
            <a:extLst xmlns:a="http://schemas.openxmlformats.org/drawingml/2006/main">
              <a:ext uri="{FF2B5EF4-FFF2-40B4-BE49-F238E27FC236}">
                <a16:creationId xmlns:a16="http://schemas.microsoft.com/office/drawing/2014/main" id="{8C5A7750-C113-4365-AF5F-D24FE25591A0}"/>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Unser Fall</a:t>
            </a:r>
          </a:p>
        </p:txBody>
      </p:sp>
      <p:sp>
        <p:nvSpPr>
          <p:cNvPr id="5" name="text-4">
            <a:extLst xmlns:a="http://schemas.openxmlformats.org/drawingml/2006/main">
              <a:ext uri="{FF2B5EF4-FFF2-40B4-BE49-F238E27FC236}">
                <a16:creationId xmlns:a16="http://schemas.microsoft.com/office/drawing/2014/main" id="{69E02E81-ACC8-42EE-9C87-22C674C244A5}"/>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Eine kleine technische Wissensbasis soll eine nachvollziehbare Antwort liefern.</a:t>
            </a:r>
          </a:p>
        </p:txBody>
      </p:sp>
      <p:sp>
        <p:nvSpPr>
          <p:cNvPr id="6" name="text-5">
            <a:extLst xmlns:a="http://schemas.openxmlformats.org/drawingml/2006/main">
              <a:ext uri="{FF2B5EF4-FFF2-40B4-BE49-F238E27FC236}">
                <a16:creationId xmlns:a16="http://schemas.microsoft.com/office/drawing/2014/main" id="{C7754259-AC60-483A-827E-14EB8CB3E5E4}"/>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Erstes Ergebnis</a:t>
            </a:r>
          </a:p>
        </p:txBody>
      </p:sp>
      <p:sp>
        <p:nvSpPr>
          <p:cNvPr id="7" name="text-6">
            <a:extLst xmlns:a="http://schemas.openxmlformats.org/drawingml/2006/main">
              <a:ext uri="{FF2B5EF4-FFF2-40B4-BE49-F238E27FC236}">
                <a16:creationId xmlns:a16="http://schemas.microsoft.com/office/drawing/2014/main" id="{A903DC60-66A8-44B4-BB2C-60F03CA6B30A}"/>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Wir lesen Quellen und vergleichen feste Zahlen. Ein Modellzugang ist dafür noch nicht nötig.</a:t>
            </a:r>
          </a:p>
        </p:txBody>
      </p:sp>
      <p:sp>
        <p:nvSpPr>
          <p:cNvPr id="8" name="text-7">
            <a:extLst xmlns:a="http://schemas.openxmlformats.org/drawingml/2006/main">
              <a:ext uri="{FF2B5EF4-FFF2-40B4-BE49-F238E27FC236}">
                <a16:creationId xmlns:a16="http://schemas.microsoft.com/office/drawing/2014/main" id="{7E086717-59EE-4E48-9BCA-9F2D8F5863D8}"/>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STANDARD 2 · Quellfolie 2 · CUR-013</a:t>
            </a:r>
          </a:p>
        </p:txBody>
      </p:sp>
    </p:spTree>
    <p:extLst>
      <p:ext uri="{BB962C8B-B14F-4D97-AF65-F5344CB8AC3E}">
        <p14:creationId xmlns:p14="http://schemas.microsoft.com/office/powerpoint/2010/main" val="61556189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08C7DF0F-132A-44D1-8508-A15058E47238}"/>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Eine Frage aus der technischen Wissensbasis</a:t>
            </a:r>
          </a:p>
        </p:txBody>
      </p:sp>
      <p:sp>
        <p:nvSpPr>
          <p:cNvPr id="2" name="text-1">
            <a:extLst xmlns:a="http://schemas.openxmlformats.org/drawingml/2006/main">
              <a:ext uri="{FF2B5EF4-FFF2-40B4-BE49-F238E27FC236}">
                <a16:creationId xmlns:a16="http://schemas.microsoft.com/office/drawing/2014/main" id="{09AE65C0-3D4B-41C5-8D14-DCBC4CE1F0BE}"/>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Frage</a:t>
            </a:r>
          </a:p>
        </p:txBody>
      </p:sp>
      <p:sp>
        <p:nvSpPr>
          <p:cNvPr id="3" name="text-2">
            <a:extLst xmlns:a="http://schemas.openxmlformats.org/drawingml/2006/main">
              <a:ext uri="{FF2B5EF4-FFF2-40B4-BE49-F238E27FC236}">
                <a16:creationId xmlns:a16="http://schemas.microsoft.com/office/drawing/2014/main" id="{3E03B2F1-0FEA-4AC2-A5C2-5887BF5CAC07}"/>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Wie lange bleiben die Protokolle des Moduls MOD_A erhalten?</a:t>
            </a:r>
          </a:p>
        </p:txBody>
      </p:sp>
      <p:sp>
        <p:nvSpPr>
          <p:cNvPr id="4" name="text-3">
            <a:extLst xmlns:a="http://schemas.openxmlformats.org/drawingml/2006/main">
              <a:ext uri="{FF2B5EF4-FFF2-40B4-BE49-F238E27FC236}">
                <a16:creationId xmlns:a16="http://schemas.microsoft.com/office/drawing/2014/main" id="{516788B8-2396-4C46-AA4A-30E2BC5FFC65}"/>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Quellen</a:t>
            </a:r>
          </a:p>
        </p:txBody>
      </p:sp>
      <p:sp>
        <p:nvSpPr>
          <p:cNvPr id="5" name="text-4">
            <a:extLst xmlns:a="http://schemas.openxmlformats.org/drawingml/2006/main">
              <a:ext uri="{FF2B5EF4-FFF2-40B4-BE49-F238E27FC236}">
                <a16:creationId xmlns:a16="http://schemas.microsoft.com/office/drawing/2014/main" id="{09227E7D-A5FC-4C7E-9CB9-680FA00CCA32}"/>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Eine alte Anleitung nennt fünf Tage. Die aktuelle Anleitung nennt sieben Tage.</a:t>
            </a:r>
          </a:p>
        </p:txBody>
      </p:sp>
      <p:sp>
        <p:nvSpPr>
          <p:cNvPr id="6" name="text-5">
            <a:extLst xmlns:a="http://schemas.openxmlformats.org/drawingml/2006/main">
              <a:ext uri="{FF2B5EF4-FFF2-40B4-BE49-F238E27FC236}">
                <a16:creationId xmlns:a16="http://schemas.microsoft.com/office/drawing/2014/main" id="{E754CFA5-0CB2-41A0-A45E-2CF8BBA87393}"/>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Erwartung</a:t>
            </a:r>
          </a:p>
        </p:txBody>
      </p:sp>
      <p:sp>
        <p:nvSpPr>
          <p:cNvPr id="7" name="text-6">
            <a:extLst xmlns:a="http://schemas.openxmlformats.org/drawingml/2006/main">
              <a:ext uri="{FF2B5EF4-FFF2-40B4-BE49-F238E27FC236}">
                <a16:creationId xmlns:a16="http://schemas.microsoft.com/office/drawing/2014/main" id="{5E9D8BA4-6BEC-493B-9868-230F0B8BF9F8}"/>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Die Antwort muss zur aktuellen Anleitung passen und ihre Quelle nennen.</a:t>
            </a:r>
          </a:p>
        </p:txBody>
      </p:sp>
      <p:sp>
        <p:nvSpPr>
          <p:cNvPr id="8" name="text-7">
            <a:extLst xmlns:a="http://schemas.openxmlformats.org/drawingml/2006/main">
              <a:ext uri="{FF2B5EF4-FFF2-40B4-BE49-F238E27FC236}">
                <a16:creationId xmlns:a16="http://schemas.microsoft.com/office/drawing/2014/main" id="{BD4F0AA8-A353-4F4F-87DF-51D0209B4A89}"/>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vl1pPr>
              <a:defRPr sz="1800" b="0">
                <a:solidFill>
                  <a:srgbClr val="52647A"/>
                </a:solidFill>
                <a:latin typeface="Arial"/>
                <a:ea typeface="Arial"/>
                <a:cs typeface="Arial"/>
              </a:defRPr>
            </a:lvl1pPr>
            <a:lvl2pPr>
              <a:defRPr sz="1800" b="0">
                <a:solidFill>
                  <a:srgbClr val="52647A"/>
                </a:solidFill>
                <a:latin typeface="Arial"/>
                <a:ea typeface="Arial"/>
                <a:cs typeface="Arial"/>
              </a:defRPr>
            </a:lvl2pPr>
            <a:lvl3pPr>
              <a:defRPr sz="1800" b="0">
                <a:solidFill>
                  <a:srgbClr val="52647A"/>
                </a:solidFill>
                <a:latin typeface="Arial"/>
                <a:ea typeface="Arial"/>
                <a:cs typeface="Arial"/>
              </a:defRPr>
            </a:lvl3pPr>
            <a:lvl4pPr>
              <a:defRPr sz="1800" b="0">
                <a:solidFill>
                  <a:srgbClr val="52647A"/>
                </a:solidFill>
                <a:latin typeface="Arial"/>
                <a:ea typeface="Arial"/>
                <a:cs typeface="Arial"/>
              </a:defRPr>
            </a:lvl4pPr>
            <a:lvl5pPr>
              <a:defRPr sz="1800" b="0">
                <a:solidFill>
                  <a:srgbClr val="52647A"/>
                </a:solidFill>
                <a:latin typeface="Arial"/>
                <a:ea typeface="Arial"/>
                <a:cs typeface="Arial"/>
              </a:defRPr>
            </a:lvl5pPr>
            <a:lvl6pPr>
              <a:defRPr sz="1800" b="0">
                <a:solidFill>
                  <a:srgbClr val="52647A"/>
                </a:solidFill>
                <a:latin typeface="Arial"/>
                <a:ea typeface="Arial"/>
                <a:cs typeface="Arial"/>
              </a:defRPr>
            </a:lvl6pPr>
            <a:lvl7pPr>
              <a:defRPr sz="1800" b="0">
                <a:solidFill>
                  <a:srgbClr val="52647A"/>
                </a:solidFill>
                <a:latin typeface="Arial"/>
                <a:ea typeface="Arial"/>
                <a:cs typeface="Arial"/>
              </a:defRPr>
            </a:lvl7pPr>
            <a:lvl8pPr>
              <a:defRPr sz="1800" b="0">
                <a:solidFill>
                  <a:srgbClr val="52647A"/>
                </a:solidFill>
                <a:latin typeface="Arial"/>
                <a:ea typeface="Arial"/>
                <a:cs typeface="Arial"/>
              </a:defRPr>
            </a:lvl8pPr>
            <a:lvl9pPr>
              <a:defRPr sz="1800" b="0">
                <a:solidFill>
                  <a:srgbClr val="52647A"/>
                </a:solidFill>
                <a:latin typeface="Arial"/>
                <a:ea typeface="Arial"/>
                <a:cs typeface="Arial"/>
              </a:defRPr>
            </a:lvl9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MOD_A und alle Dokumente sind frei erfundene Schulungsdaten.</a:t>
            </a:r>
          </a:p>
        </p:txBody>
      </p:sp>
      <p:sp>
        <p:nvSpPr>
          <p:cNvPr id="9" name="text-8">
            <a:extLst xmlns:a="http://schemas.openxmlformats.org/drawingml/2006/main">
              <a:ext uri="{FF2B5EF4-FFF2-40B4-BE49-F238E27FC236}">
                <a16:creationId xmlns:a16="http://schemas.microsoft.com/office/drawing/2014/main" id="{1322ECE7-0B22-4D74-A848-09AB49C14091}"/>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STANDARD 3 · Quellfolie 3 · CUR-013 / CUR-017</a:t>
            </a:r>
          </a:p>
        </p:txBody>
      </p:sp>
    </p:spTree>
    <p:extLst>
      <p:ext uri="{BB962C8B-B14F-4D97-AF65-F5344CB8AC3E}">
        <p14:creationId xmlns:p14="http://schemas.microsoft.com/office/powerpoint/2010/main" val="103472815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0">
            <a:extLst xmlns:a="http://schemas.openxmlformats.org/drawingml/2006/main">
              <a:ext uri="{FF2B5EF4-FFF2-40B4-BE49-F238E27FC236}">
                <a16:creationId xmlns:a16="http://schemas.microsoft.com/office/drawing/2014/main" id="{E59D328F-E2B0-4159-8DF1-D7F18AB68104}"/>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Drei überschaubare Quelldokumente</a:t>
            </a:r>
          </a:p>
        </p:txBody>
      </p:sp>
      <p:graphicFrame>
        <p:nvGraphicFramePr>
          <p:cNvPr id="2" name="">
            <a:extLst xmlns:a="http://schemas.openxmlformats.org/drawingml/2006/main">
              <a:ext uri="{FF2B5EF4-FFF2-40B4-BE49-F238E27FC236}">
                <a16:creationId xmlns:a16="http://schemas.microsoft.com/office/drawing/2014/main" id="{E65AEE46-0379-4D4C-9C8C-382B5142E152}"/>
              </a:ext>
            </a:extLst>
          </p:cNvPr>
          <p:cNvGraphicFramePr/>
          <p:nvPr/>
        </p:nvGraphicFramePr>
        <p:xfrm>
          <a:off xmlns:a="http://schemas.openxmlformats.org/drawingml/2006/main" x="685800" y="1771650"/>
          <a:ext xmlns:a="http://schemas.openxmlformats.org/drawingml/2006/main" cx="10668000" cy="3143250"/>
        </p:xfrm>
        <a:graphic xmlns:a="http://schemas.openxmlformats.org/drawingml/2006/main">
          <a:graphicData uri="http://schemas.openxmlformats.org/drawingml/2006/table">
            <a:tbl>
              <a:tblPr/>
              <a:tblGrid>
                <a:gridCol w="2190750"/>
                <a:gridCol w="2190750"/>
                <a:gridCol w="6286500"/>
              </a:tblGrid>
              <a:tr h="785813">
                <a:tc>
                  <a:txBody>
                    <a:bodyPr/>
                    <a:lstStyle/>
                    <a:p>
                      <a:r>
                        <a:rPr sz="1800" b="1">
                          <a:solidFill>
                            <a:srgbClr val="15283D"/>
                          </a:solidFill>
                          <a:latin typeface="Arial"/>
                          <a:ea typeface="Arial"/>
                          <a:cs typeface="Arial"/>
                        </a:rPr>
                        <a:t>Dokument</a:t>
                      </a:r>
                    </a:p>
                  </a:txBody>
                  <a:tcPr marL="114300" marR="114300" marT="47625" marB="47625" anchor="ctr">
                    <a:lnL w="9525">
                      <a:solidFill>
                        <a:srgbClr val="C8D5DE"/>
                      </a:solidFill>
                      <a:prstDash val="solid"/>
                    </a:lnL>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c>
                  <a:txBody>
                    <a:bodyPr/>
                    <a:lstStyle/>
                    <a:p>
                      <a:r>
                        <a:rPr sz="1800" b="1">
                          <a:solidFill>
                            <a:srgbClr val="15283D"/>
                          </a:solidFill>
                          <a:latin typeface="Arial"/>
                          <a:ea typeface="Arial"/>
                          <a:cs typeface="Arial"/>
                        </a:rPr>
                        <a:t>Fassung</a:t>
                      </a:r>
                    </a:p>
                  </a:txBody>
                  <a:tcPr marL="114300" marR="114300" marT="47625" marB="47625" anchor="ctr">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c>
                  <a:txBody>
                    <a:bodyPr/>
                    <a:lstStyle/>
                    <a:p>
                      <a:r>
                        <a:rPr sz="1800" b="1">
                          <a:solidFill>
                            <a:srgbClr val="15283D"/>
                          </a:solidFill>
                          <a:latin typeface="Arial"/>
                          <a:ea typeface="Arial"/>
                          <a:cs typeface="Arial"/>
                        </a:rPr>
                        <a:t>Quelltext</a:t>
                      </a:r>
                    </a:p>
                  </a:txBody>
                  <a:tcPr marL="114300" marR="114300" marT="47625" marB="47625" anchor="ctr">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r>
              <a:tr h="785813">
                <a:tc>
                  <a:txBody>
                    <a:bodyPr/>
                    <a:lstStyle/>
                    <a:p>
                      <a:r>
                        <a:rPr sz="1800" b="0">
                          <a:solidFill>
                            <a:srgbClr val="15283D"/>
                          </a:solidFill>
                          <a:latin typeface="Arial"/>
                          <a:ea typeface="Arial"/>
                          <a:cs typeface="Arial"/>
                        </a:rPr>
                        <a:t>1: MOD_A</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v1, veraltet</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MOD_A bewahrt Protokolle fünf Tage auf.</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785813">
                <a:tc>
                  <a:txBody>
                    <a:bodyPr/>
                    <a:lstStyle/>
                    <a:p>
                      <a:r>
                        <a:rPr sz="1800" b="0">
                          <a:solidFill>
                            <a:srgbClr val="15283D"/>
                          </a:solidFill>
                          <a:latin typeface="Arial"/>
                          <a:ea typeface="Arial"/>
                          <a:cs typeface="Arial"/>
                        </a:rPr>
                        <a:t>2: MOD_A</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v2, aktuell</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MOD_A bewahrt Protokolle sieben Tage auf.</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785813">
                <a:tc>
                  <a:txBody>
                    <a:bodyPr/>
                    <a:lstStyle/>
                    <a:p>
                      <a:r>
                        <a:rPr sz="1800" b="0">
                          <a:solidFill>
                            <a:srgbClr val="15283D"/>
                          </a:solidFill>
                          <a:latin typeface="Arial"/>
                          <a:ea typeface="Arial"/>
                          <a:cs typeface="Arial"/>
                        </a:rPr>
                        <a:t>3: MOD_B</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v1, aktuell</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MOD_B bewahrt Protokolle neun Tage auf.</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bl>
          </a:graphicData>
        </a:graphic>
      </p:graphicFrame>
      <p:sp>
        <p:nvSpPr>
          <p:cNvPr id="3" name="text-1">
            <a:extLst xmlns:a="http://schemas.openxmlformats.org/drawingml/2006/main">
              <a:ext uri="{FF2B5EF4-FFF2-40B4-BE49-F238E27FC236}">
                <a16:creationId xmlns:a16="http://schemas.microsoft.com/office/drawing/2014/main" id="{D5FB1EFC-246D-4C92-B2DD-9D6C180FFDE8}"/>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STANDARD 4 · Quellfolie 4 · CUR-013 / CUR-015</a:t>
            </a:r>
          </a:p>
        </p:txBody>
      </p:sp>
    </p:spTree>
    <p:extLst>
      <p:ext uri="{BB962C8B-B14F-4D97-AF65-F5344CB8AC3E}">
        <p14:creationId xmlns:p14="http://schemas.microsoft.com/office/powerpoint/2010/main" val="168762828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9057A74F-F4A6-4613-92AC-BB5E50FEF877}"/>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Eine vertraute SELECT-Abfrage</a:t>
            </a:r>
          </a:p>
        </p:txBody>
      </p:sp>
      <p:sp>
        <p:nvSpPr>
          <p:cNvPr id="2" name="text-1">
            <a:extLst xmlns:a="http://schemas.openxmlformats.org/drawingml/2006/main">
              <a:ext uri="{FF2B5EF4-FFF2-40B4-BE49-F238E27FC236}">
                <a16:creationId xmlns:a16="http://schemas.microsoft.com/office/drawing/2014/main" id="{539DE220-582A-411C-85E2-2F8EB2C6BAF6}"/>
              </a:ext>
            </a:extLst>
          </p:cNvPr>
          <p:cNvSpPr>
            <a:spLocks xmlns:a="http://schemas.openxmlformats.org/drawingml/2006/main" noGrp="1"/>
          </p:cNvSpPr>
          <p:nvPr/>
        </p:nvSpPr>
        <p:spPr>
          <a:xfrm xmlns:a="http://schemas.openxmlformats.org/drawingml/2006/main">
            <a:off x="685800" y="1771650"/>
            <a:ext cx="108204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007A83"/>
                </a:solidFill>
                <a:latin typeface="Arial"/>
                <a:ea typeface="Arial"/>
                <a:cs typeface="Arial"/>
              </a:defRPr>
            </a:defPPr>
            <a:lvl1pPr>
              <a:defRPr sz="2100" b="0">
                <a:solidFill>
                  <a:srgbClr val="007A83"/>
                </a:solidFill>
                <a:latin typeface="Arial"/>
                <a:ea typeface="Arial"/>
                <a:cs typeface="Arial"/>
              </a:defRPr>
            </a:lvl1pPr>
            <a:lvl2pPr>
              <a:defRPr sz="2100" b="0">
                <a:solidFill>
                  <a:srgbClr val="007A83"/>
                </a:solidFill>
                <a:latin typeface="Arial"/>
                <a:ea typeface="Arial"/>
                <a:cs typeface="Arial"/>
              </a:defRPr>
            </a:lvl2pPr>
            <a:lvl3pPr>
              <a:defRPr sz="2100" b="0">
                <a:solidFill>
                  <a:srgbClr val="007A83"/>
                </a:solidFill>
                <a:latin typeface="Arial"/>
                <a:ea typeface="Arial"/>
                <a:cs typeface="Arial"/>
              </a:defRPr>
            </a:lvl3pPr>
            <a:lvl4pPr>
              <a:defRPr sz="2100" b="0">
                <a:solidFill>
                  <a:srgbClr val="007A83"/>
                </a:solidFill>
                <a:latin typeface="Arial"/>
                <a:ea typeface="Arial"/>
                <a:cs typeface="Arial"/>
              </a:defRPr>
            </a:lvl4pPr>
            <a:lvl5pPr>
              <a:defRPr sz="2100" b="0">
                <a:solidFill>
                  <a:srgbClr val="007A83"/>
                </a:solidFill>
                <a:latin typeface="Arial"/>
                <a:ea typeface="Arial"/>
                <a:cs typeface="Arial"/>
              </a:defRPr>
            </a:lvl5pPr>
            <a:lvl6pPr>
              <a:defRPr sz="2100" b="0">
                <a:solidFill>
                  <a:srgbClr val="007A83"/>
                </a:solidFill>
                <a:latin typeface="Arial"/>
                <a:ea typeface="Arial"/>
                <a:cs typeface="Arial"/>
              </a:defRPr>
            </a:lvl6pPr>
            <a:lvl7pPr>
              <a:defRPr sz="2100" b="0">
                <a:solidFill>
                  <a:srgbClr val="007A83"/>
                </a:solidFill>
                <a:latin typeface="Arial"/>
                <a:ea typeface="Arial"/>
                <a:cs typeface="Arial"/>
              </a:defRPr>
            </a:lvl7pPr>
            <a:lvl8pPr>
              <a:defRPr sz="2100" b="0">
                <a:solidFill>
                  <a:srgbClr val="007A83"/>
                </a:solidFill>
                <a:latin typeface="Arial"/>
                <a:ea typeface="Arial"/>
                <a:cs typeface="Arial"/>
              </a:defRPr>
            </a:lvl8pPr>
            <a:lvl9pPr>
              <a:defRPr sz="2100" b="0">
                <a:solidFill>
                  <a:srgbClr val="007A83"/>
                </a:solidFill>
                <a:latin typeface="Arial"/>
                <a:ea typeface="Arial"/>
                <a:cs typeface="Arial"/>
              </a:defRPr>
            </a:lvl9pPr>
          </a:lstStyle>
          <a:p xmlns:a="http://schemas.openxmlformats.org/drawingml/2006/main">
            <a:pPr>
              <a:defRPr sz="2100" b="0">
                <a:solidFill>
                  <a:srgbClr val="007A83"/>
                </a:solidFill>
                <a:latin typeface="Arial"/>
                <a:ea typeface="Arial"/>
                <a:cs typeface="Arial"/>
              </a:defRPr>
            </a:pPr>
            <a:r>
              <a:rPr sz="2100" b="0">
                <a:solidFill>
                  <a:srgbClr val="007A83"/>
                </a:solidFill>
                <a:latin typeface="Arial"/>
                <a:ea typeface="Arial"/>
                <a:cs typeface="Arial"/>
              </a:rPr>
              <a:t>SELECT DocId, Fassung, Text</a:t>
            </a:r>
          </a:p>
          <a:p xmlns:a="http://schemas.openxmlformats.org/drawingml/2006/main">
            <a:pPr>
              <a:defRPr sz="2100" b="0">
                <a:solidFill>
                  <a:srgbClr val="007A83"/>
                </a:solidFill>
                <a:latin typeface="Arial"/>
                <a:ea typeface="Arial"/>
                <a:cs typeface="Arial"/>
              </a:defRPr>
            </a:pPr>
            <a:r>
              <a:rPr sz="2100" b="0">
                <a:solidFill>
                  <a:srgbClr val="007A83"/>
                </a:solidFill>
                <a:latin typeface="Arial"/>
                <a:ea typeface="Arial"/>
                <a:cs typeface="Arial"/>
              </a:rPr>
              <a:t>FROM (VALUES</a:t>
            </a:r>
          </a:p>
          <a:p xmlns:a="http://schemas.openxmlformats.org/drawingml/2006/main">
            <a:pPr>
              <a:defRPr sz="2100" b="0">
                <a:solidFill>
                  <a:srgbClr val="007A83"/>
                </a:solidFill>
                <a:latin typeface="Arial"/>
                <a:ea typeface="Arial"/>
                <a:cs typeface="Arial"/>
              </a:defRPr>
            </a:pPr>
            <a:r>
              <a:rPr sz="2100" b="0">
                <a:solidFill>
                  <a:srgbClr val="007A83"/>
                </a:solidFill>
                <a:latin typeface="Arial"/>
                <a:ea typeface="Arial"/>
                <a:cs typeface="Arial"/>
              </a:rPr>
              <a:t>  (2, N'v2', N'MOD_A: sieben Tage')</a:t>
            </a:r>
          </a:p>
          <a:p xmlns:a="http://schemas.openxmlformats.org/drawingml/2006/main">
            <a:pPr>
              <a:defRPr sz="2100" b="0">
                <a:solidFill>
                  <a:srgbClr val="007A83"/>
                </a:solidFill>
                <a:latin typeface="Arial"/>
                <a:ea typeface="Arial"/>
                <a:cs typeface="Arial"/>
              </a:defRPr>
            </a:pPr>
            <a:r>
              <a:rPr sz="2100" b="0">
                <a:solidFill>
                  <a:srgbClr val="007A83"/>
                </a:solidFill>
                <a:latin typeface="Arial"/>
                <a:ea typeface="Arial"/>
                <a:cs typeface="Arial"/>
              </a:rPr>
              <a:t>) AS d(DocId, Fassung, Text);</a:t>
            </a:r>
          </a:p>
        </p:txBody>
      </p:sp>
      <p:sp>
        <p:nvSpPr>
          <p:cNvPr id="3" name="text-2">
            <a:extLst xmlns:a="http://schemas.openxmlformats.org/drawingml/2006/main">
              <a:ext uri="{FF2B5EF4-FFF2-40B4-BE49-F238E27FC236}">
                <a16:creationId xmlns:a16="http://schemas.microsoft.com/office/drawing/2014/main" id="{2A714A31-A85A-4858-85F0-0F5F98EDCB9B}"/>
              </a:ext>
            </a:extLst>
          </p:cNvPr>
          <p:cNvSpPr>
            <a:spLocks xmlns:a="http://schemas.openxmlformats.org/drawingml/2006/main" noGrp="1"/>
          </p:cNvSpPr>
          <p:nvPr/>
        </p:nvSpPr>
        <p:spPr>
          <a:xfrm xmlns:a="http://schemas.openxmlformats.org/drawingml/2006/main">
            <a:off x="685800" y="3724275"/>
            <a:ext cx="233362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Ergebnis</a:t>
            </a:r>
          </a:p>
        </p:txBody>
      </p:sp>
      <p:sp>
        <p:nvSpPr>
          <p:cNvPr id="4" name="text-3">
            <a:extLst xmlns:a="http://schemas.openxmlformats.org/drawingml/2006/main">
              <a:ext uri="{FF2B5EF4-FFF2-40B4-BE49-F238E27FC236}">
                <a16:creationId xmlns:a16="http://schemas.microsoft.com/office/drawing/2014/main" id="{99574F4E-70D2-41A9-8AA6-68D8C8F61CDE}"/>
              </a:ext>
            </a:extLst>
          </p:cNvPr>
          <p:cNvSpPr>
            <a:spLocks xmlns:a="http://schemas.openxmlformats.org/drawingml/2006/main" noGrp="1"/>
          </p:cNvSpPr>
          <p:nvPr/>
        </p:nvSpPr>
        <p:spPr>
          <a:xfrm xmlns:a="http://schemas.openxmlformats.org/drawingml/2006/main">
            <a:off x="3190875" y="3724275"/>
            <a:ext cx="823912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Eine Row mit DocId 2, Fassung v2 und dem festen Text MOD_A: sieben Tage.</a:t>
            </a:r>
          </a:p>
        </p:txBody>
      </p:sp>
      <p:sp>
        <p:nvSpPr>
          <p:cNvPr id="5" name="text-4">
            <a:extLst xmlns:a="http://schemas.openxmlformats.org/drawingml/2006/main">
              <a:ext uri="{FF2B5EF4-FFF2-40B4-BE49-F238E27FC236}">
                <a16:creationId xmlns:a16="http://schemas.microsoft.com/office/drawing/2014/main" id="{5C030F51-E047-4B29-8C83-2AA95421CF6D}"/>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vl1pPr>
              <a:defRPr sz="1800" b="0">
                <a:solidFill>
                  <a:srgbClr val="52647A"/>
                </a:solidFill>
                <a:latin typeface="Arial"/>
                <a:ea typeface="Arial"/>
                <a:cs typeface="Arial"/>
              </a:defRPr>
            </a:lvl1pPr>
            <a:lvl2pPr>
              <a:defRPr sz="1800" b="0">
                <a:solidFill>
                  <a:srgbClr val="52647A"/>
                </a:solidFill>
                <a:latin typeface="Arial"/>
                <a:ea typeface="Arial"/>
                <a:cs typeface="Arial"/>
              </a:defRPr>
            </a:lvl2pPr>
            <a:lvl3pPr>
              <a:defRPr sz="1800" b="0">
                <a:solidFill>
                  <a:srgbClr val="52647A"/>
                </a:solidFill>
                <a:latin typeface="Arial"/>
                <a:ea typeface="Arial"/>
                <a:cs typeface="Arial"/>
              </a:defRPr>
            </a:lvl3pPr>
            <a:lvl4pPr>
              <a:defRPr sz="1800" b="0">
                <a:solidFill>
                  <a:srgbClr val="52647A"/>
                </a:solidFill>
                <a:latin typeface="Arial"/>
                <a:ea typeface="Arial"/>
                <a:cs typeface="Arial"/>
              </a:defRPr>
            </a:lvl4pPr>
            <a:lvl5pPr>
              <a:defRPr sz="1800" b="0">
                <a:solidFill>
                  <a:srgbClr val="52647A"/>
                </a:solidFill>
                <a:latin typeface="Arial"/>
                <a:ea typeface="Arial"/>
                <a:cs typeface="Arial"/>
              </a:defRPr>
            </a:lvl5pPr>
            <a:lvl6pPr>
              <a:defRPr sz="1800" b="0">
                <a:solidFill>
                  <a:srgbClr val="52647A"/>
                </a:solidFill>
                <a:latin typeface="Arial"/>
                <a:ea typeface="Arial"/>
                <a:cs typeface="Arial"/>
              </a:defRPr>
            </a:lvl6pPr>
            <a:lvl7pPr>
              <a:defRPr sz="1800" b="0">
                <a:solidFill>
                  <a:srgbClr val="52647A"/>
                </a:solidFill>
                <a:latin typeface="Arial"/>
                <a:ea typeface="Arial"/>
                <a:cs typeface="Arial"/>
              </a:defRPr>
            </a:lvl7pPr>
            <a:lvl8pPr>
              <a:defRPr sz="1800" b="0">
                <a:solidFill>
                  <a:srgbClr val="52647A"/>
                </a:solidFill>
                <a:latin typeface="Arial"/>
                <a:ea typeface="Arial"/>
                <a:cs typeface="Arial"/>
              </a:defRPr>
            </a:lvl8pPr>
            <a:lvl9pPr>
              <a:defRPr sz="1800" b="0">
                <a:solidFill>
                  <a:srgbClr val="52647A"/>
                </a:solidFill>
                <a:latin typeface="Arial"/>
                <a:ea typeface="Arial"/>
                <a:cs typeface="Arial"/>
              </a:defRPr>
            </a:lvl9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Read-only-Beispiel. VALUES stellt eine feste Row bereit, ohne eine Tabelle anzulegen.</a:t>
            </a:r>
          </a:p>
        </p:txBody>
      </p:sp>
      <p:sp>
        <p:nvSpPr>
          <p:cNvPr id="6" name="text-5">
            <a:extLst xmlns:a="http://schemas.openxmlformats.org/drawingml/2006/main">
              <a:ext uri="{FF2B5EF4-FFF2-40B4-BE49-F238E27FC236}">
                <a16:creationId xmlns:a16="http://schemas.microsoft.com/office/drawing/2014/main" id="{56661812-BA2E-4004-AA2E-F989F05F73FE}"/>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STANDARD 5 · Quellfolie 5 · CUR-013</a:t>
            </a:r>
          </a:p>
        </p:txBody>
      </p:sp>
    </p:spTree>
    <p:extLst>
      <p:ext uri="{BB962C8B-B14F-4D97-AF65-F5344CB8AC3E}">
        <p14:creationId xmlns:p14="http://schemas.microsoft.com/office/powerpoint/2010/main" val="99091347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0">
            <a:extLst xmlns:a="http://schemas.openxmlformats.org/drawingml/2006/main">
              <a:ext uri="{FF2B5EF4-FFF2-40B4-BE49-F238E27FC236}">
                <a16:creationId xmlns:a16="http://schemas.microsoft.com/office/drawing/2014/main" id="{CA953025-2F81-4AE6-86F1-A2AF4C22C5D0}"/>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Unterschiedliche Fragen an dieselben Daten</a:t>
            </a:r>
          </a:p>
        </p:txBody>
      </p:sp>
      <p:graphicFrame>
        <p:nvGraphicFramePr>
          <p:cNvPr id="2" name="">
            <a:extLst xmlns:a="http://schemas.openxmlformats.org/drawingml/2006/main">
              <a:ext uri="{FF2B5EF4-FFF2-40B4-BE49-F238E27FC236}">
                <a16:creationId xmlns:a16="http://schemas.microsoft.com/office/drawing/2014/main" id="{7A1B2ED4-CC7F-4C46-ABFB-6996E7E5C323}"/>
              </a:ext>
            </a:extLst>
          </p:cNvPr>
          <p:cNvGraphicFramePr/>
          <p:nvPr/>
        </p:nvGraphicFramePr>
        <p:xfrm>
          <a:off xmlns:a="http://schemas.openxmlformats.org/drawingml/2006/main" x="685800" y="1771650"/>
          <a:ext xmlns:a="http://schemas.openxmlformats.org/drawingml/2006/main" cx="10668000" cy="3143250"/>
        </p:xfrm>
        <a:graphic xmlns:a="http://schemas.openxmlformats.org/drawingml/2006/main">
          <a:graphicData uri="http://schemas.openxmlformats.org/drawingml/2006/table">
            <a:tbl>
              <a:tblPr/>
              <a:tblGrid>
                <a:gridCol w="4762500"/>
                <a:gridCol w="5905500"/>
              </a:tblGrid>
              <a:tr h="785813">
                <a:tc>
                  <a:txBody>
                    <a:bodyPr/>
                    <a:lstStyle/>
                    <a:p>
                      <a:r>
                        <a:rPr sz="1800" b="1">
                          <a:solidFill>
                            <a:srgbClr val="15283D"/>
                          </a:solidFill>
                          <a:latin typeface="Arial"/>
                          <a:ea typeface="Arial"/>
                          <a:cs typeface="Arial"/>
                        </a:rPr>
                        <a:t>Frage</a:t>
                      </a:r>
                    </a:p>
                  </a:txBody>
                  <a:tcPr marL="114300" marR="114300" marT="47625" marB="47625" anchor="ctr">
                    <a:lnL w="9525">
                      <a:solidFill>
                        <a:srgbClr val="C8D5DE"/>
                      </a:solidFill>
                      <a:prstDash val="solid"/>
                    </a:lnL>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c>
                  <a:txBody>
                    <a:bodyPr/>
                    <a:lstStyle/>
                    <a:p>
                      <a:r>
                        <a:rPr sz="1800" b="1">
                          <a:solidFill>
                            <a:srgbClr val="15283D"/>
                          </a:solidFill>
                          <a:latin typeface="Arial"/>
                          <a:ea typeface="Arial"/>
                          <a:cs typeface="Arial"/>
                        </a:rPr>
                        <a:t>Was wir benötigen</a:t>
                      </a:r>
                    </a:p>
                  </a:txBody>
                  <a:tcPr marL="114300" marR="114300" marT="47625" marB="47625" anchor="ctr">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r>
              <a:tr h="785813">
                <a:tc>
                  <a:txBody>
                    <a:bodyPr/>
                    <a:lstStyle/>
                    <a:p>
                      <a:r>
                        <a:rPr sz="1800" b="0">
                          <a:solidFill>
                            <a:srgbClr val="15283D"/>
                          </a:solidFill>
                          <a:latin typeface="Arial"/>
                          <a:ea typeface="Arial"/>
                          <a:cs typeface="Arial"/>
                        </a:rPr>
                        <a:t>Was steht aktuell zu MOD_A?</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Richtiges Modul und aktuelle Fassung</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785813">
                <a:tc>
                  <a:txBody>
                    <a:bodyPr/>
                    <a:lstStyle/>
                    <a:p>
                      <a:r>
                        <a:rPr sz="1800" b="0">
                          <a:solidFill>
                            <a:srgbClr val="15283D"/>
                          </a:solidFill>
                          <a:latin typeface="Arial"/>
                          <a:ea typeface="Arial"/>
                          <a:cs typeface="Arial"/>
                        </a:rPr>
                        <a:t>Wann verschwinden die Logeinträge?</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Passende Bedeutung trotz anderer Wortwahl</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785813">
                <a:tc>
                  <a:txBody>
                    <a:bodyPr/>
                    <a:lstStyle/>
                    <a:p>
                      <a:r>
                        <a:rPr sz="1800" b="0">
                          <a:solidFill>
                            <a:srgbClr val="15283D"/>
                          </a:solidFill>
                          <a:latin typeface="Arial"/>
                          <a:ea typeface="Arial"/>
                          <a:cs typeface="Arial"/>
                        </a:rPr>
                        <a:t>Warum sind es genau sieben Tage?</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Eine Quelle, die den Grund tatsächlich erklärt</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bl>
          </a:graphicData>
        </a:graphic>
      </p:graphicFrame>
      <p:sp>
        <p:nvSpPr>
          <p:cNvPr id="3" name="text-1">
            <a:extLst xmlns:a="http://schemas.openxmlformats.org/drawingml/2006/main">
              <a:ext uri="{FF2B5EF4-FFF2-40B4-BE49-F238E27FC236}">
                <a16:creationId xmlns:a16="http://schemas.microsoft.com/office/drawing/2014/main" id="{2A9EEC79-B0EA-486B-8E5C-03093939138E}"/>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STANDARD 6 · Quellfolie 6 · CUR-013 / CUR-017</a:t>
            </a:r>
          </a:p>
        </p:txBody>
      </p:sp>
    </p:spTree>
    <p:extLst>
      <p:ext uri="{BB962C8B-B14F-4D97-AF65-F5344CB8AC3E}">
        <p14:creationId xmlns:p14="http://schemas.microsoft.com/office/powerpoint/2010/main" val="179660503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8BA6B32A-1FEB-4BA2-AF98-458CA1F99A1C}"/>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KI-Anwendungen rund um SQL Server</a:t>
            </a:r>
          </a:p>
        </p:txBody>
      </p:sp>
      <p:graphicFrame>
        <p:nvGraphicFramePr>
          <p:cNvPr id="2" name="">
            <a:extLst xmlns:a="http://schemas.openxmlformats.org/drawingml/2006/main">
              <a:ext uri="{FF2B5EF4-FFF2-40B4-BE49-F238E27FC236}">
                <a16:creationId xmlns:a16="http://schemas.microsoft.com/office/drawing/2014/main" id="{879C1355-CDD7-48F1-B5C1-651C754A0D36}"/>
              </a:ext>
            </a:extLst>
          </p:cNvPr>
          <p:cNvGraphicFramePr/>
          <p:nvPr/>
        </p:nvGraphicFramePr>
        <p:xfrm>
          <a:off xmlns:a="http://schemas.openxmlformats.org/drawingml/2006/main" x="685800" y="1771650"/>
          <a:ext xmlns:a="http://schemas.openxmlformats.org/drawingml/2006/main" cx="10668000" cy="4000500"/>
        </p:xfrm>
        <a:graphic xmlns:a="http://schemas.openxmlformats.org/drawingml/2006/main">
          <a:graphicData uri="http://schemas.openxmlformats.org/drawingml/2006/table">
            <a:tbl>
              <a:tblPr/>
              <a:tblGrid>
                <a:gridCol w="3333750"/>
                <a:gridCol w="7334250"/>
              </a:tblGrid>
              <a:tr h="800100">
                <a:tc>
                  <a:txBody>
                    <a:bodyPr/>
                    <a:lstStyle/>
                    <a:p>
                      <a:r>
                        <a:rPr sz="1800" b="1">
                          <a:solidFill>
                            <a:srgbClr val="15283D"/>
                          </a:solidFill>
                          <a:latin typeface="Arial"/>
                          <a:ea typeface="Arial"/>
                          <a:cs typeface="Arial"/>
                        </a:rPr>
                        <a:t>Anwendung</a:t>
                      </a:r>
                    </a:p>
                  </a:txBody>
                  <a:tcPr marL="114300" marR="114300" marT="47625" marB="47625" anchor="ctr">
                    <a:lnL w="9525">
                      <a:solidFill>
                        <a:srgbClr val="C8D5DE"/>
                      </a:solidFill>
                      <a:prstDash val="solid"/>
                    </a:lnL>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c>
                  <a:txBody>
                    <a:bodyPr/>
                    <a:lstStyle/>
                    <a:p>
                      <a:r>
                        <a:rPr sz="1800" b="1">
                          <a:solidFill>
                            <a:srgbClr val="15283D"/>
                          </a:solidFill>
                          <a:latin typeface="Arial"/>
                          <a:ea typeface="Arial"/>
                          <a:cs typeface="Arial"/>
                        </a:rPr>
                        <a:t>Beispiel</a:t>
                      </a:r>
                    </a:p>
                  </a:txBody>
                  <a:tcPr marL="114300" marR="114300" marT="47625" marB="47625" anchor="ctr">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r>
              <a:tr h="800100">
                <a:tc>
                  <a:txBody>
                    <a:bodyPr/>
                    <a:lstStyle/>
                    <a:p>
                      <a:r>
                        <a:rPr sz="1800" b="0">
                          <a:solidFill>
                            <a:srgbClr val="15283D"/>
                          </a:solidFill>
                          <a:latin typeface="Arial"/>
                          <a:ea typeface="Arial"/>
                          <a:cs typeface="Arial"/>
                        </a:rPr>
                        <a:t>Wissenssuche</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Passende Anleitung zu einer anders formulierten Frage finden.</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800100">
                <a:tc>
                  <a:txBody>
                    <a:bodyPr/>
                    <a:lstStyle/>
                    <a:p>
                      <a:r>
                        <a:rPr sz="1800" b="0">
                          <a:solidFill>
                            <a:srgbClr val="15283D"/>
                          </a:solidFill>
                          <a:latin typeface="Arial"/>
                          <a:ea typeface="Arial"/>
                          <a:cs typeface="Arial"/>
                        </a:rPr>
                        <a:t>Textaufbereitung</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Aus gelieferten Quellen einen kurzen Antwortentwurf oder eine Zusammenfassung bilden.</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800100">
                <a:tc>
                  <a:txBody>
                    <a:bodyPr/>
                    <a:lstStyle/>
                    <a:p>
                      <a:r>
                        <a:rPr sz="1800" b="0">
                          <a:solidFill>
                            <a:srgbClr val="15283D"/>
                          </a:solidFill>
                          <a:latin typeface="Arial"/>
                          <a:ea typeface="Arial"/>
                          <a:cs typeface="Arial"/>
                        </a:rPr>
                        <a:t>SQL-Assistenz</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Eine Query erklären oder einen Änderungsvorschlag diskutieren.</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800100">
                <a:tc>
                  <a:txBody>
                    <a:bodyPr/>
                    <a:lstStyle/>
                    <a:p>
                      <a:r>
                        <a:rPr sz="1800" b="0">
                          <a:solidFill>
                            <a:srgbClr val="15283D"/>
                          </a:solidFill>
                          <a:latin typeface="Arial"/>
                          <a:ea typeface="Arial"/>
                          <a:cs typeface="Arial"/>
                        </a:rPr>
                        <a:t>Vorhersage und Klassifikation</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Mit einem passenden zusätzlichen Modell einen Wert vorhersagen oder eine Kategorie zuordnen.</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bl>
          </a:graphicData>
        </a:graphic>
      </p:graphicFrame>
      <p:sp>
        <p:nvSpPr>
          <p:cNvPr id="3" name="text-1">
            <a:extLst xmlns:a="http://schemas.openxmlformats.org/drawingml/2006/main">
              <a:ext uri="{FF2B5EF4-FFF2-40B4-BE49-F238E27FC236}">
                <a16:creationId xmlns:a16="http://schemas.microsoft.com/office/drawing/2014/main" id="{2E93AD9F-A876-4B04-9694-C37314833F2B}"/>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vl1pPr>
              <a:defRPr sz="1800" b="0">
                <a:solidFill>
                  <a:srgbClr val="52647A"/>
                </a:solidFill>
                <a:latin typeface="Arial"/>
                <a:ea typeface="Arial"/>
                <a:cs typeface="Arial"/>
              </a:defRPr>
            </a:lvl1pPr>
            <a:lvl2pPr>
              <a:defRPr sz="1800" b="0">
                <a:solidFill>
                  <a:srgbClr val="52647A"/>
                </a:solidFill>
                <a:latin typeface="Arial"/>
                <a:ea typeface="Arial"/>
                <a:cs typeface="Arial"/>
              </a:defRPr>
            </a:lvl2pPr>
            <a:lvl3pPr>
              <a:defRPr sz="1800" b="0">
                <a:solidFill>
                  <a:srgbClr val="52647A"/>
                </a:solidFill>
                <a:latin typeface="Arial"/>
                <a:ea typeface="Arial"/>
                <a:cs typeface="Arial"/>
              </a:defRPr>
            </a:lvl3pPr>
            <a:lvl4pPr>
              <a:defRPr sz="1800" b="0">
                <a:solidFill>
                  <a:srgbClr val="52647A"/>
                </a:solidFill>
                <a:latin typeface="Arial"/>
                <a:ea typeface="Arial"/>
                <a:cs typeface="Arial"/>
              </a:defRPr>
            </a:lvl4pPr>
            <a:lvl5pPr>
              <a:defRPr sz="1800" b="0">
                <a:solidFill>
                  <a:srgbClr val="52647A"/>
                </a:solidFill>
                <a:latin typeface="Arial"/>
                <a:ea typeface="Arial"/>
                <a:cs typeface="Arial"/>
              </a:defRPr>
            </a:lvl5pPr>
            <a:lvl6pPr>
              <a:defRPr sz="1800" b="0">
                <a:solidFill>
                  <a:srgbClr val="52647A"/>
                </a:solidFill>
                <a:latin typeface="Arial"/>
                <a:ea typeface="Arial"/>
                <a:cs typeface="Arial"/>
              </a:defRPr>
            </a:lvl6pPr>
            <a:lvl7pPr>
              <a:defRPr sz="1800" b="0">
                <a:solidFill>
                  <a:srgbClr val="52647A"/>
                </a:solidFill>
                <a:latin typeface="Arial"/>
                <a:ea typeface="Arial"/>
                <a:cs typeface="Arial"/>
              </a:defRPr>
            </a:lvl7pPr>
            <a:lvl8pPr>
              <a:defRPr sz="1800" b="0">
                <a:solidFill>
                  <a:srgbClr val="52647A"/>
                </a:solidFill>
                <a:latin typeface="Arial"/>
                <a:ea typeface="Arial"/>
                <a:cs typeface="Arial"/>
              </a:defRPr>
            </a:lvl8pPr>
            <a:lvl9pPr>
              <a:defRPr sz="1800" b="0">
                <a:solidFill>
                  <a:srgbClr val="52647A"/>
                </a:solidFill>
                <a:latin typeface="Arial"/>
                <a:ea typeface="Arial"/>
                <a:cs typeface="Arial"/>
              </a:defRPr>
            </a:lvl9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Die Aufgabe bestimmt das Modell und den Anwendungspfad. Eine Funktion deckt nicht jede Aufgabe ab.</a:t>
            </a:r>
          </a:p>
        </p:txBody>
      </p:sp>
      <p:sp>
        <p:nvSpPr>
          <p:cNvPr id="4" name="text-2">
            <a:extLst xmlns:a="http://schemas.openxmlformats.org/drawingml/2006/main">
              <a:ext uri="{FF2B5EF4-FFF2-40B4-BE49-F238E27FC236}">
                <a16:creationId xmlns:a16="http://schemas.microsoft.com/office/drawing/2014/main" id="{2164B681-B83F-44D4-93B8-4B798987CA58}"/>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STANDARD 7 · Quellfolie 7 · CUR-013 / CUR-016 / CUR-021</a:t>
            </a:r>
          </a:p>
        </p:txBody>
      </p:sp>
    </p:spTree>
    <p:extLst>
      <p:ext uri="{BB962C8B-B14F-4D97-AF65-F5344CB8AC3E}">
        <p14:creationId xmlns:p14="http://schemas.microsoft.com/office/powerpoint/2010/main" val="63665559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195CCE5A-2FD6-411A-AFF5-30467BE3ABD1}"/>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KI und Machine Learning in einfachen Worten</a:t>
            </a:r>
          </a:p>
        </p:txBody>
      </p:sp>
      <p:sp>
        <p:nvSpPr>
          <p:cNvPr id="2" name="text-1">
            <a:extLst xmlns:a="http://schemas.openxmlformats.org/drawingml/2006/main">
              <a:ext uri="{FF2B5EF4-FFF2-40B4-BE49-F238E27FC236}">
                <a16:creationId xmlns:a16="http://schemas.microsoft.com/office/drawing/2014/main" id="{AC930138-17C7-4BB8-917B-95EF72A26C57}"/>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KI</a:t>
            </a:r>
          </a:p>
        </p:txBody>
      </p:sp>
      <p:sp>
        <p:nvSpPr>
          <p:cNvPr id="3" name="text-2">
            <a:extLst xmlns:a="http://schemas.openxmlformats.org/drawingml/2006/main">
              <a:ext uri="{FF2B5EF4-FFF2-40B4-BE49-F238E27FC236}">
                <a16:creationId xmlns:a16="http://schemas.microsoft.com/office/drawing/2014/main" id="{70DBB1B9-9802-4320-9542-5462B5212B85}"/>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Künstliche Intelligenz umfasst etwa Systeme mit Wissensregeln oder gelernten Mustern. Suche und Texterzeugung sind mögliche Anwendungen.</a:t>
            </a:r>
          </a:p>
        </p:txBody>
      </p:sp>
      <p:sp>
        <p:nvSpPr>
          <p:cNvPr id="4" name="text-3">
            <a:extLst xmlns:a="http://schemas.openxmlformats.org/drawingml/2006/main">
              <a:ext uri="{FF2B5EF4-FFF2-40B4-BE49-F238E27FC236}">
                <a16:creationId xmlns:a16="http://schemas.microsoft.com/office/drawing/2014/main" id="{9B30C916-13F9-46FD-AACE-3330F9E0DF34}"/>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Machine Learning</a:t>
            </a:r>
          </a:p>
        </p:txBody>
      </p:sp>
      <p:sp>
        <p:nvSpPr>
          <p:cNvPr id="5" name="text-4">
            <a:extLst xmlns:a="http://schemas.openxmlformats.org/drawingml/2006/main">
              <a:ext uri="{FF2B5EF4-FFF2-40B4-BE49-F238E27FC236}">
                <a16:creationId xmlns:a16="http://schemas.microsoft.com/office/drawing/2014/main" id="{8B2DB4EC-AD81-44E9-BF2A-859F21F48D69}"/>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Ein Modell lernt Muster aus Beispielen. Die Abkürzung dafür lautet ML.</a:t>
            </a:r>
          </a:p>
        </p:txBody>
      </p:sp>
      <p:sp>
        <p:nvSpPr>
          <p:cNvPr id="6" name="text-5">
            <a:extLst xmlns:a="http://schemas.openxmlformats.org/drawingml/2006/main">
              <a:ext uri="{FF2B5EF4-FFF2-40B4-BE49-F238E27FC236}">
                <a16:creationId xmlns:a16="http://schemas.microsoft.com/office/drawing/2014/main" id="{51378B5F-5849-415E-A5A6-1734A5289824}"/>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Unser Ziel</a:t>
            </a:r>
          </a:p>
        </p:txBody>
      </p:sp>
      <p:sp>
        <p:nvSpPr>
          <p:cNvPr id="7" name="text-6">
            <a:extLst xmlns:a="http://schemas.openxmlformats.org/drawingml/2006/main">
              <a:ext uri="{FF2B5EF4-FFF2-40B4-BE49-F238E27FC236}">
                <a16:creationId xmlns:a16="http://schemas.microsoft.com/office/drawing/2014/main" id="{51E71EAC-C52B-4F90-9AA8-AA6C4B797598}"/>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Wir verwenden geeignete Funktionen und prüfen ihr Ergebnis an konkreten Quellen.</a:t>
            </a:r>
          </a:p>
        </p:txBody>
      </p:sp>
      <p:sp>
        <p:nvSpPr>
          <p:cNvPr id="8" name="text-7">
            <a:extLst xmlns:a="http://schemas.openxmlformats.org/drawingml/2006/main">
              <a:ext uri="{FF2B5EF4-FFF2-40B4-BE49-F238E27FC236}">
                <a16:creationId xmlns:a16="http://schemas.microsoft.com/office/drawing/2014/main" id="{05F645EF-8A84-4411-B36F-F83A17D7AE85}"/>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STANDARD 8 · Quellfolie 8 · CUR-013</a:t>
            </a:r>
          </a:p>
        </p:txBody>
      </p:sp>
    </p:spTree>
    <p:extLst>
      <p:ext uri="{BB962C8B-B14F-4D97-AF65-F5344CB8AC3E}">
        <p14:creationId xmlns:p14="http://schemas.microsoft.com/office/powerpoint/2010/main" val="32166751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3BA9B364-19EB-4277-B0C7-BFC7C20394EE}"/>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Ein Modell und seine Aufgabe</a:t>
            </a:r>
          </a:p>
        </p:txBody>
      </p:sp>
      <p:sp>
        <p:nvSpPr>
          <p:cNvPr id="2" name="text-1">
            <a:extLst xmlns:a="http://schemas.openxmlformats.org/drawingml/2006/main">
              <a:ext uri="{FF2B5EF4-FFF2-40B4-BE49-F238E27FC236}">
                <a16:creationId xmlns:a16="http://schemas.microsoft.com/office/drawing/2014/main" id="{E8BAAED0-251E-4B45-BD9F-AF8C85B1A1DD}"/>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Modell</a:t>
            </a:r>
          </a:p>
        </p:txBody>
      </p:sp>
      <p:sp>
        <p:nvSpPr>
          <p:cNvPr id="3" name="text-2">
            <a:extLst xmlns:a="http://schemas.openxmlformats.org/drawingml/2006/main">
              <a:ext uri="{FF2B5EF4-FFF2-40B4-BE49-F238E27FC236}">
                <a16:creationId xmlns:a16="http://schemas.microsoft.com/office/drawing/2014/main" id="{3561FFAE-8CC4-46F8-BDC3-D8AE00565EED}"/>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Eine vorbereitete Rechenvorschrift verarbeitet eine Eingabe und liefert eine Ausgabe.</a:t>
            </a:r>
          </a:p>
        </p:txBody>
      </p:sp>
      <p:sp>
        <p:nvSpPr>
          <p:cNvPr id="4" name="text-3">
            <a:extLst xmlns:a="http://schemas.openxmlformats.org/drawingml/2006/main">
              <a:ext uri="{FF2B5EF4-FFF2-40B4-BE49-F238E27FC236}">
                <a16:creationId xmlns:a16="http://schemas.microsoft.com/office/drawing/2014/main" id="{E4D39D41-9AA3-420E-8568-50E6D47DFA0F}"/>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Aufgabe</a:t>
            </a:r>
          </a:p>
        </p:txBody>
      </p:sp>
      <p:sp>
        <p:nvSpPr>
          <p:cNvPr id="5" name="text-4">
            <a:extLst xmlns:a="http://schemas.openxmlformats.org/drawingml/2006/main">
              <a:ext uri="{FF2B5EF4-FFF2-40B4-BE49-F238E27FC236}">
                <a16:creationId xmlns:a16="http://schemas.microsoft.com/office/drawing/2014/main" id="{ABAEAF35-5F06-4E35-9883-11475BB243C0}"/>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Ein Modell kann zum Beispiel Text in Zahlen abbilden oder einen Antworttext erzeugen.</a:t>
            </a:r>
          </a:p>
        </p:txBody>
      </p:sp>
      <p:sp>
        <p:nvSpPr>
          <p:cNvPr id="6" name="text-5">
            <a:extLst xmlns:a="http://schemas.openxmlformats.org/drawingml/2006/main">
              <a:ext uri="{FF2B5EF4-FFF2-40B4-BE49-F238E27FC236}">
                <a16:creationId xmlns:a16="http://schemas.microsoft.com/office/drawing/2014/main" id="{F5338607-B837-4D6F-B862-91DB86E2B9C8}"/>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Prüfung</a:t>
            </a:r>
          </a:p>
        </p:txBody>
      </p:sp>
      <p:sp>
        <p:nvSpPr>
          <p:cNvPr id="7" name="text-6">
            <a:extLst xmlns:a="http://schemas.openxmlformats.org/drawingml/2006/main">
              <a:ext uri="{FF2B5EF4-FFF2-40B4-BE49-F238E27FC236}">
                <a16:creationId xmlns:a16="http://schemas.microsoft.com/office/drawing/2014/main" id="{E15D7B95-E1F5-404D-BECD-8CDC914DF2AE}"/>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Wir müssen wissen, welches Modell welche Aufgabe übernimmt und wo seine Ausgabe geprüft wird.</a:t>
            </a:r>
          </a:p>
        </p:txBody>
      </p:sp>
      <p:sp>
        <p:nvSpPr>
          <p:cNvPr id="8" name="text-7">
            <a:extLst xmlns:a="http://schemas.openxmlformats.org/drawingml/2006/main">
              <a:ext uri="{FF2B5EF4-FFF2-40B4-BE49-F238E27FC236}">
                <a16:creationId xmlns:a16="http://schemas.microsoft.com/office/drawing/2014/main" id="{802939BD-4FB7-4F61-8BB9-F0A5F2BC008D}"/>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STANDARD 9 · Quellfolie 9 · CUR-013</a:t>
            </a:r>
          </a:p>
        </p:txBody>
      </p:sp>
    </p:spTree>
    <p:extLst>
      <p:ext uri="{BB962C8B-B14F-4D97-AF65-F5344CB8AC3E}">
        <p14:creationId xmlns:p14="http://schemas.microsoft.com/office/powerpoint/2010/main" val="115282096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0">
            <a:extLst xmlns:a="http://schemas.openxmlformats.org/drawingml/2006/main">
              <a:ext uri="{FF2B5EF4-FFF2-40B4-BE49-F238E27FC236}">
                <a16:creationId xmlns:a16="http://schemas.microsoft.com/office/drawing/2014/main" id="{3F13EDFA-D981-40FC-A908-8553E0DF4AD3}"/>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Training und Inferenz</a:t>
            </a:r>
          </a:p>
        </p:txBody>
      </p:sp>
      <p:graphicFrame>
        <p:nvGraphicFramePr>
          <p:cNvPr id="2" name="">
            <a:extLst xmlns:a="http://schemas.openxmlformats.org/drawingml/2006/main">
              <a:ext uri="{FF2B5EF4-FFF2-40B4-BE49-F238E27FC236}">
                <a16:creationId xmlns:a16="http://schemas.microsoft.com/office/drawing/2014/main" id="{A6D44EFB-1407-4C24-B4F2-EDD00640A63C}"/>
              </a:ext>
            </a:extLst>
          </p:cNvPr>
          <p:cNvGraphicFramePr/>
          <p:nvPr/>
        </p:nvGraphicFramePr>
        <p:xfrm>
          <a:off xmlns:a="http://schemas.openxmlformats.org/drawingml/2006/main" x="685800" y="1771650"/>
          <a:ext xmlns:a="http://schemas.openxmlformats.org/drawingml/2006/main" cx="10668000" cy="3143250"/>
        </p:xfrm>
        <a:graphic xmlns:a="http://schemas.openxmlformats.org/drawingml/2006/main">
          <a:graphicData uri="http://schemas.openxmlformats.org/drawingml/2006/table">
            <a:tbl>
              <a:tblPr/>
              <a:tblGrid>
                <a:gridCol w="2000250"/>
                <a:gridCol w="4572000"/>
                <a:gridCol w="4095750"/>
              </a:tblGrid>
              <a:tr h="785813">
                <a:tc>
                  <a:txBody>
                    <a:bodyPr/>
                    <a:lstStyle/>
                    <a:p>
                      <a:r>
                        <a:rPr sz="1800" b="1">
                          <a:solidFill>
                            <a:srgbClr val="15283D"/>
                          </a:solidFill>
                          <a:latin typeface="Arial"/>
                          <a:ea typeface="Arial"/>
                          <a:cs typeface="Arial"/>
                        </a:rPr>
                        <a:t>Begriff</a:t>
                      </a:r>
                    </a:p>
                  </a:txBody>
                  <a:tcPr marL="114300" marR="114300" marT="47625" marB="47625" anchor="ctr">
                    <a:lnL w="9525">
                      <a:solidFill>
                        <a:srgbClr val="C8D5DE"/>
                      </a:solidFill>
                      <a:prstDash val="solid"/>
                    </a:lnL>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c>
                  <a:txBody>
                    <a:bodyPr/>
                    <a:lstStyle/>
                    <a:p>
                      <a:r>
                        <a:rPr sz="1800" b="1">
                          <a:solidFill>
                            <a:srgbClr val="15283D"/>
                          </a:solidFill>
                          <a:latin typeface="Arial"/>
                          <a:ea typeface="Arial"/>
                          <a:cs typeface="Arial"/>
                        </a:rPr>
                        <a:t>Was geschieht?</a:t>
                      </a:r>
                    </a:p>
                  </a:txBody>
                  <a:tcPr marL="114300" marR="114300" marT="47625" marB="47625" anchor="ctr">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c>
                  <a:txBody>
                    <a:bodyPr/>
                    <a:lstStyle/>
                    <a:p>
                      <a:r>
                        <a:rPr sz="1800" b="1">
                          <a:solidFill>
                            <a:srgbClr val="15283D"/>
                          </a:solidFill>
                          <a:latin typeface="Arial"/>
                          <a:ea typeface="Arial"/>
                          <a:cs typeface="Arial"/>
                        </a:rPr>
                        <a:t>In diesem Einstieg</a:t>
                      </a:r>
                    </a:p>
                  </a:txBody>
                  <a:tcPr marL="114300" marR="114300" marT="47625" marB="47625" anchor="ctr">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r>
              <a:tr h="785813">
                <a:tc>
                  <a:txBody>
                    <a:bodyPr/>
                    <a:lstStyle/>
                    <a:p>
                      <a:r>
                        <a:rPr sz="1800" b="0">
                          <a:solidFill>
                            <a:srgbClr val="15283D"/>
                          </a:solidFill>
                          <a:latin typeface="Arial"/>
                          <a:ea typeface="Arial"/>
                          <a:cs typeface="Arial"/>
                        </a:rPr>
                        <a:t>Training</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Ein Modell lernt aus Trainingsbeispielen.</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Wir trainieren kein Modell.</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785813">
                <a:tc>
                  <a:txBody>
                    <a:bodyPr/>
                    <a:lstStyle/>
                    <a:p>
                      <a:r>
                        <a:rPr sz="1800" b="0">
                          <a:solidFill>
                            <a:srgbClr val="15283D"/>
                          </a:solidFill>
                          <a:latin typeface="Arial"/>
                          <a:ea typeface="Arial"/>
                          <a:cs typeface="Arial"/>
                        </a:rPr>
                        <a:t>Inferenz</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Ein vorbereitetes Modell verarbeitet neue Eingaben.</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Späterer Modellpfad mit eigenen Voraussetzungen.</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785813">
                <a:tc>
                  <a:txBody>
                    <a:bodyPr/>
                    <a:lstStyle/>
                    <a:p>
                      <a:r>
                        <a:rPr sz="1800" b="0">
                          <a:solidFill>
                            <a:srgbClr val="15283D"/>
                          </a:solidFill>
                          <a:latin typeface="Arial"/>
                          <a:ea typeface="Arial"/>
                          <a:cs typeface="Arial"/>
                        </a:rPr>
                        <a:t>Feste Lehrwerte</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Wir geben Zahlen oder Antworten ausdrücklich vor.</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Das ist unser erster Offlinepfad.</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bl>
          </a:graphicData>
        </a:graphic>
      </p:graphicFrame>
      <p:sp>
        <p:nvSpPr>
          <p:cNvPr id="3" name="text-1">
            <a:extLst xmlns:a="http://schemas.openxmlformats.org/drawingml/2006/main">
              <a:ext uri="{FF2B5EF4-FFF2-40B4-BE49-F238E27FC236}">
                <a16:creationId xmlns:a16="http://schemas.microsoft.com/office/drawing/2014/main" id="{5C032F8C-631D-4334-8882-9DC88CF6EE35}"/>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STANDARD 10 · Quellfolie 10 · CUR-013 / CUR-016</a:t>
            </a:r>
          </a:p>
        </p:txBody>
      </p:sp>
    </p:spTree>
    <p:extLst>
      <p:ext uri="{BB962C8B-B14F-4D97-AF65-F5344CB8AC3E}">
        <p14:creationId xmlns:p14="http://schemas.microsoft.com/office/powerpoint/2010/main" val="147147315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25D022A8-0140-4D1D-9166-37DEAFCB38A1}"/>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Ein Sprachmodell erzeugt Antworttext</a:t>
            </a:r>
          </a:p>
        </p:txBody>
      </p:sp>
      <p:sp>
        <p:nvSpPr>
          <p:cNvPr id="2" name="text-1">
            <a:extLst xmlns:a="http://schemas.openxmlformats.org/drawingml/2006/main">
              <a:ext uri="{FF2B5EF4-FFF2-40B4-BE49-F238E27FC236}">
                <a16:creationId xmlns:a16="http://schemas.microsoft.com/office/drawing/2014/main" id="{F3857119-F34E-45AD-A5C0-9F8911A2C5C3}"/>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Sprachmodell</a:t>
            </a:r>
          </a:p>
        </p:txBody>
      </p:sp>
      <p:sp>
        <p:nvSpPr>
          <p:cNvPr id="3" name="text-2">
            <a:extLst xmlns:a="http://schemas.openxmlformats.org/drawingml/2006/main">
              <a:ext uri="{FF2B5EF4-FFF2-40B4-BE49-F238E27FC236}">
                <a16:creationId xmlns:a16="http://schemas.microsoft.com/office/drawing/2014/main" id="{485E7A50-D5C2-4DDC-8D3D-45D492C3B920}"/>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Ein Large Language Model, kurz LLM, verarbeitet Textkontext und kann neue Textfolgen erzeugen.</a:t>
            </a:r>
          </a:p>
        </p:txBody>
      </p:sp>
      <p:sp>
        <p:nvSpPr>
          <p:cNvPr id="4" name="text-3">
            <a:extLst xmlns:a="http://schemas.openxmlformats.org/drawingml/2006/main">
              <a:ext uri="{FF2B5EF4-FFF2-40B4-BE49-F238E27FC236}">
                <a16:creationId xmlns:a16="http://schemas.microsoft.com/office/drawing/2014/main" id="{4AB3BCED-2CE8-42AF-ACFD-F6F266A9C3D3}"/>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Beispiel</a:t>
            </a:r>
          </a:p>
        </p:txBody>
      </p:sp>
      <p:sp>
        <p:nvSpPr>
          <p:cNvPr id="5" name="text-4">
            <a:extLst xmlns:a="http://schemas.openxmlformats.org/drawingml/2006/main">
              <a:ext uri="{FF2B5EF4-FFF2-40B4-BE49-F238E27FC236}">
                <a16:creationId xmlns:a16="http://schemas.microsoft.com/office/drawing/2014/main" id="{D15A96AB-180E-42BC-9E8D-F334DF91037D}"/>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Aus einer gegebenen Quelle könnte die Anwendung den Satz bilden: MOD_A bewahrt Protokolle sieben Tage auf.</a:t>
            </a:r>
          </a:p>
        </p:txBody>
      </p:sp>
      <p:sp>
        <p:nvSpPr>
          <p:cNvPr id="6" name="text-5">
            <a:extLst xmlns:a="http://schemas.openxmlformats.org/drawingml/2006/main">
              <a:ext uri="{FF2B5EF4-FFF2-40B4-BE49-F238E27FC236}">
                <a16:creationId xmlns:a16="http://schemas.microsoft.com/office/drawing/2014/main" id="{9D361D22-5C52-4712-9B44-F43C471A77DB}"/>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Grenze</a:t>
            </a:r>
          </a:p>
        </p:txBody>
      </p:sp>
      <p:sp>
        <p:nvSpPr>
          <p:cNvPr id="7" name="text-6">
            <a:extLst xmlns:a="http://schemas.openxmlformats.org/drawingml/2006/main">
              <a:ext uri="{FF2B5EF4-FFF2-40B4-BE49-F238E27FC236}">
                <a16:creationId xmlns:a16="http://schemas.microsoft.com/office/drawing/2014/main" id="{7ED3FE7C-F330-4394-AA0F-92972CB60F10}"/>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Ein gut formulierter Satz kann sachlich falsch oder durch die Quelle nicht gestützt sein.</a:t>
            </a:r>
          </a:p>
        </p:txBody>
      </p:sp>
      <p:sp>
        <p:nvSpPr>
          <p:cNvPr id="8" name="text-7">
            <a:extLst xmlns:a="http://schemas.openxmlformats.org/drawingml/2006/main">
              <a:ext uri="{FF2B5EF4-FFF2-40B4-BE49-F238E27FC236}">
                <a16:creationId xmlns:a16="http://schemas.microsoft.com/office/drawing/2014/main" id="{8C9732FF-87E0-485A-9DBC-7FE84AFD177A}"/>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STANDARD 11 · Quellfolie 11 · CUR-013</a:t>
            </a:r>
          </a:p>
        </p:txBody>
      </p:sp>
    </p:spTree>
    <p:extLst>
      <p:ext uri="{BB962C8B-B14F-4D97-AF65-F5344CB8AC3E}">
        <p14:creationId xmlns:p14="http://schemas.microsoft.com/office/powerpoint/2010/main" val="184004838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1E8B91A6-8438-4B32-AA5B-4E317A2DE4D7}"/>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Tokens und Textlänge</a:t>
            </a:r>
          </a:p>
        </p:txBody>
      </p:sp>
      <p:sp>
        <p:nvSpPr>
          <p:cNvPr id="2" name="text-1">
            <a:extLst xmlns:a="http://schemas.openxmlformats.org/drawingml/2006/main">
              <a:ext uri="{FF2B5EF4-FFF2-40B4-BE49-F238E27FC236}">
                <a16:creationId xmlns:a16="http://schemas.microsoft.com/office/drawing/2014/main" id="{E58FBB70-9248-4FC1-8395-B528560F5E73}"/>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Token</a:t>
            </a:r>
          </a:p>
        </p:txBody>
      </p:sp>
      <p:sp>
        <p:nvSpPr>
          <p:cNvPr id="3" name="text-2">
            <a:extLst xmlns:a="http://schemas.openxmlformats.org/drawingml/2006/main">
              <a:ext uri="{FF2B5EF4-FFF2-40B4-BE49-F238E27FC236}">
                <a16:creationId xmlns:a16="http://schemas.microsoft.com/office/drawing/2014/main" id="{C7492870-CAC8-4402-93DC-F1654A53F2F5}"/>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Eine Verarbeitungseinheit des konkreten Sprachmodells. Ein Token kann einen Wortteil darstellen.</a:t>
            </a:r>
          </a:p>
        </p:txBody>
      </p:sp>
      <p:sp>
        <p:nvSpPr>
          <p:cNvPr id="4" name="text-3">
            <a:extLst xmlns:a="http://schemas.openxmlformats.org/drawingml/2006/main">
              <a:ext uri="{FF2B5EF4-FFF2-40B4-BE49-F238E27FC236}">
                <a16:creationId xmlns:a16="http://schemas.microsoft.com/office/drawing/2014/main" id="{270DF041-D648-4625-A399-D7AC30BB0BCB}"/>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Tokenizer</a:t>
            </a:r>
          </a:p>
        </p:txBody>
      </p:sp>
      <p:sp>
        <p:nvSpPr>
          <p:cNvPr id="5" name="text-4">
            <a:extLst xmlns:a="http://schemas.openxmlformats.org/drawingml/2006/main">
              <a:ext uri="{FF2B5EF4-FFF2-40B4-BE49-F238E27FC236}">
                <a16:creationId xmlns:a16="http://schemas.microsoft.com/office/drawing/2014/main" id="{C84F68BA-DC08-44FF-85EE-2054C3AF7D0B}"/>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Er zerlegt den Text nach den Regeln des verwendeten Modells.</a:t>
            </a:r>
          </a:p>
        </p:txBody>
      </p:sp>
      <p:sp>
        <p:nvSpPr>
          <p:cNvPr id="6" name="text-5">
            <a:extLst xmlns:a="http://schemas.openxmlformats.org/drawingml/2006/main">
              <a:ext uri="{FF2B5EF4-FFF2-40B4-BE49-F238E27FC236}">
                <a16:creationId xmlns:a16="http://schemas.microsoft.com/office/drawing/2014/main" id="{EFC808CF-7746-42CA-A47A-D4BBBE7E1949}"/>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Folge</a:t>
            </a:r>
          </a:p>
        </p:txBody>
      </p:sp>
      <p:sp>
        <p:nvSpPr>
          <p:cNvPr id="7" name="text-6">
            <a:extLst xmlns:a="http://schemas.openxmlformats.org/drawingml/2006/main">
              <a:ext uri="{FF2B5EF4-FFF2-40B4-BE49-F238E27FC236}">
                <a16:creationId xmlns:a16="http://schemas.microsoft.com/office/drawing/2014/main" id="{4E2ED39F-FCF1-4BFA-96F7-BE78249909E4}"/>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Zeichenanzahl und Tokenanzahl sind verschieden. Beide Grenzen müssen zum jeweiligen Schritt passen.</a:t>
            </a:r>
          </a:p>
        </p:txBody>
      </p:sp>
      <p:sp>
        <p:nvSpPr>
          <p:cNvPr id="8" name="text-7">
            <a:extLst xmlns:a="http://schemas.openxmlformats.org/drawingml/2006/main">
              <a:ext uri="{FF2B5EF4-FFF2-40B4-BE49-F238E27FC236}">
                <a16:creationId xmlns:a16="http://schemas.microsoft.com/office/drawing/2014/main" id="{DB2A3BB2-75E0-4387-B6D8-19D03EC0D2D2}"/>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STANDARD 12 · Quellfolie 12 · CUR-013 / CUR-015</a:t>
            </a:r>
          </a:p>
        </p:txBody>
      </p:sp>
    </p:spTree>
    <p:extLst>
      <p:ext uri="{BB962C8B-B14F-4D97-AF65-F5344CB8AC3E}">
        <p14:creationId xmlns:p14="http://schemas.microsoft.com/office/powerpoint/2010/main" val="19506774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0">
            <a:extLst xmlns:a="http://schemas.openxmlformats.org/drawingml/2006/main">
              <a:ext uri="{FF2B5EF4-FFF2-40B4-BE49-F238E27FC236}">
                <a16:creationId xmlns:a16="http://schemas.microsoft.com/office/drawing/2014/main" id="{29752411-8398-47AA-A695-A6A26422D3CE}"/>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SQL Server, Modell und Anwendung</a:t>
            </a:r>
          </a:p>
        </p:txBody>
      </p:sp>
      <p:graphicFrame>
        <p:nvGraphicFramePr>
          <p:cNvPr id="2" name="">
            <a:extLst xmlns:a="http://schemas.openxmlformats.org/drawingml/2006/main">
              <a:ext uri="{FF2B5EF4-FFF2-40B4-BE49-F238E27FC236}">
                <a16:creationId xmlns:a16="http://schemas.microsoft.com/office/drawing/2014/main" id="{18F8C52D-556B-4CB7-ADB5-93963853C803}"/>
              </a:ext>
            </a:extLst>
          </p:cNvPr>
          <p:cNvGraphicFramePr/>
          <p:nvPr/>
        </p:nvGraphicFramePr>
        <p:xfrm>
          <a:off xmlns:a="http://schemas.openxmlformats.org/drawingml/2006/main" x="685800" y="1771650"/>
          <a:ext xmlns:a="http://schemas.openxmlformats.org/drawingml/2006/main" cx="10668000" cy="3143250"/>
        </p:xfrm>
        <a:graphic xmlns:a="http://schemas.openxmlformats.org/drawingml/2006/main">
          <a:graphicData uri="http://schemas.openxmlformats.org/drawingml/2006/table">
            <a:tbl>
              <a:tblPr/>
              <a:tblGrid>
                <a:gridCol w="3143250"/>
                <a:gridCol w="7524750"/>
              </a:tblGrid>
              <a:tr h="785813">
                <a:tc>
                  <a:txBody>
                    <a:bodyPr/>
                    <a:lstStyle/>
                    <a:p>
                      <a:r>
                        <a:rPr sz="1800" b="1">
                          <a:solidFill>
                            <a:srgbClr val="15283D"/>
                          </a:solidFill>
                          <a:latin typeface="Arial"/>
                          <a:ea typeface="Arial"/>
                          <a:cs typeface="Arial"/>
                        </a:rPr>
                        <a:t>Komponente</a:t>
                      </a:r>
                    </a:p>
                  </a:txBody>
                  <a:tcPr marL="114300" marR="114300" marT="47625" marB="47625" anchor="ctr">
                    <a:lnL w="9525">
                      <a:solidFill>
                        <a:srgbClr val="C8D5DE"/>
                      </a:solidFill>
                      <a:prstDash val="solid"/>
                    </a:lnL>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c>
                  <a:txBody>
                    <a:bodyPr/>
                    <a:lstStyle/>
                    <a:p>
                      <a:r>
                        <a:rPr sz="1800" b="1">
                          <a:solidFill>
                            <a:srgbClr val="15283D"/>
                          </a:solidFill>
                          <a:latin typeface="Arial"/>
                          <a:ea typeface="Arial"/>
                          <a:cs typeface="Arial"/>
                        </a:rPr>
                        <a:t>Aufgabe im Wissensbasisfall</a:t>
                      </a:r>
                    </a:p>
                  </a:txBody>
                  <a:tcPr marL="114300" marR="114300" marT="47625" marB="47625" anchor="ctr">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r>
              <a:tr h="785813">
                <a:tc>
                  <a:txBody>
                    <a:bodyPr/>
                    <a:lstStyle/>
                    <a:p>
                      <a:r>
                        <a:rPr sz="1800" b="0">
                          <a:solidFill>
                            <a:srgbClr val="15283D"/>
                          </a:solidFill>
                          <a:latin typeface="Arial"/>
                          <a:ea typeface="Arial"/>
                          <a:cs typeface="Arial"/>
                        </a:rPr>
                        <a:t>SQL Server</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Speichert Dokumente und liefert erlaubte Daten.</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785813">
                <a:tc>
                  <a:txBody>
                    <a:bodyPr/>
                    <a:lstStyle/>
                    <a:p>
                      <a:r>
                        <a:rPr sz="1800" b="0">
                          <a:solidFill>
                            <a:srgbClr val="15283D"/>
                          </a:solidFill>
                          <a:latin typeface="Arial"/>
                          <a:ea typeface="Arial"/>
                          <a:cs typeface="Arial"/>
                        </a:rPr>
                        <a:t>Modell</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Verarbeitet bereitgestellte Eingaben für seine Aufgabe.</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785813">
                <a:tc>
                  <a:txBody>
                    <a:bodyPr/>
                    <a:lstStyle/>
                    <a:p>
                      <a:r>
                        <a:rPr sz="1800" b="0">
                          <a:solidFill>
                            <a:srgbClr val="15283D"/>
                          </a:solidFill>
                          <a:latin typeface="Arial"/>
                          <a:ea typeface="Arial"/>
                          <a:cs typeface="Arial"/>
                        </a:rPr>
                        <a:t>Anwendung</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Vermittelt die Frage, sucht Quellen und prüft die Antwort.</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bl>
          </a:graphicData>
        </a:graphic>
      </p:graphicFrame>
      <p:sp>
        <p:nvSpPr>
          <p:cNvPr id="3" name="text-1">
            <a:extLst xmlns:a="http://schemas.openxmlformats.org/drawingml/2006/main">
              <a:ext uri="{FF2B5EF4-FFF2-40B4-BE49-F238E27FC236}">
                <a16:creationId xmlns:a16="http://schemas.microsoft.com/office/drawing/2014/main" id="{D62D6192-EEC7-45F9-9C29-982978626D59}"/>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STANDARD 13 · Quellfolie 13 · CUR-013 / CUR-016</a:t>
            </a:r>
          </a:p>
        </p:txBody>
      </p:sp>
    </p:spTree>
    <p:extLst>
      <p:ext uri="{BB962C8B-B14F-4D97-AF65-F5344CB8AC3E}">
        <p14:creationId xmlns:p14="http://schemas.microsoft.com/office/powerpoint/2010/main" val="22733640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D2B8FF15-A0AB-4A5D-A9D8-C08D90974EDA}"/>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Der erste Offlineeinstieg</a:t>
            </a:r>
          </a:p>
        </p:txBody>
      </p:sp>
      <p:sp>
        <p:nvSpPr>
          <p:cNvPr id="2" name="text-1">
            <a:extLst xmlns:a="http://schemas.openxmlformats.org/drawingml/2006/main">
              <a:ext uri="{FF2B5EF4-FFF2-40B4-BE49-F238E27FC236}">
                <a16:creationId xmlns:a16="http://schemas.microsoft.com/office/drawing/2014/main" id="{EC72DB2E-61DE-469A-B46F-3C342D85A332}"/>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Eingaben</a:t>
            </a:r>
          </a:p>
        </p:txBody>
      </p:sp>
      <p:sp>
        <p:nvSpPr>
          <p:cNvPr id="3" name="text-2">
            <a:extLst xmlns:a="http://schemas.openxmlformats.org/drawingml/2006/main">
              <a:ext uri="{FF2B5EF4-FFF2-40B4-BE49-F238E27FC236}">
                <a16:creationId xmlns:a16="http://schemas.microsoft.com/office/drawing/2014/main" id="{B435CEF4-187D-48C2-BC02-AB5E403C2AE6}"/>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Kleine feste Vektoren und synthetische Texte statt eines Live-Modells.</a:t>
            </a:r>
          </a:p>
        </p:txBody>
      </p:sp>
      <p:sp>
        <p:nvSpPr>
          <p:cNvPr id="4" name="text-3">
            <a:extLst xmlns:a="http://schemas.openxmlformats.org/drawingml/2006/main">
              <a:ext uri="{FF2B5EF4-FFF2-40B4-BE49-F238E27FC236}">
                <a16:creationId xmlns:a16="http://schemas.microsoft.com/office/drawing/2014/main" id="{1C284F6B-E6EB-47E1-B71D-EFAF08BBF998}"/>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Zugang</a:t>
            </a:r>
          </a:p>
        </p:txBody>
      </p:sp>
      <p:sp>
        <p:nvSpPr>
          <p:cNvPr id="5" name="text-4">
            <a:extLst xmlns:a="http://schemas.openxmlformats.org/drawingml/2006/main">
              <a:ext uri="{FF2B5EF4-FFF2-40B4-BE49-F238E27FC236}">
                <a16:creationId xmlns:a16="http://schemas.microsoft.com/office/drawing/2014/main" id="{C64FA8C2-158F-47A3-A633-F97F32E35D39}"/>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Diese ersten Beispiele benötigen weder ChatGPT noch Copilot oder ein Cloudkonto.</a:t>
            </a:r>
          </a:p>
        </p:txBody>
      </p:sp>
      <p:sp>
        <p:nvSpPr>
          <p:cNvPr id="6" name="text-5">
            <a:extLst xmlns:a="http://schemas.openxmlformats.org/drawingml/2006/main">
              <a:ext uri="{FF2B5EF4-FFF2-40B4-BE49-F238E27FC236}">
                <a16:creationId xmlns:a16="http://schemas.microsoft.com/office/drawing/2014/main" id="{881CEB97-E5F1-48FC-B43F-FBEFC423D1E1}"/>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Beobachtung</a:t>
            </a:r>
          </a:p>
        </p:txBody>
      </p:sp>
      <p:sp>
        <p:nvSpPr>
          <p:cNvPr id="7" name="text-6">
            <a:extLst xmlns:a="http://schemas.openxmlformats.org/drawingml/2006/main">
              <a:ext uri="{FF2B5EF4-FFF2-40B4-BE49-F238E27FC236}">
                <a16:creationId xmlns:a16="http://schemas.microsoft.com/office/drawing/2014/main" id="{7EEAB6F9-ADC1-4CC5-A394-E2A117D70B31}"/>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Werte, Rangfolge und Quellen lassen sich gemeinsam erklären. Es gibt keinen Modellrequest.</a:t>
            </a:r>
          </a:p>
        </p:txBody>
      </p:sp>
      <p:sp>
        <p:nvSpPr>
          <p:cNvPr id="8" name="text-7">
            <a:extLst xmlns:a="http://schemas.openxmlformats.org/drawingml/2006/main">
              <a:ext uri="{FF2B5EF4-FFF2-40B4-BE49-F238E27FC236}">
                <a16:creationId xmlns:a16="http://schemas.microsoft.com/office/drawing/2014/main" id="{B7E6108E-4D77-4CB1-A358-EABA71E76E15}"/>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vl1pPr>
              <a:defRPr sz="1800" b="0">
                <a:solidFill>
                  <a:srgbClr val="52647A"/>
                </a:solidFill>
                <a:latin typeface="Arial"/>
                <a:ea typeface="Arial"/>
                <a:cs typeface="Arial"/>
              </a:defRPr>
            </a:lvl1pPr>
            <a:lvl2pPr>
              <a:defRPr sz="1800" b="0">
                <a:solidFill>
                  <a:srgbClr val="52647A"/>
                </a:solidFill>
                <a:latin typeface="Arial"/>
                <a:ea typeface="Arial"/>
                <a:cs typeface="Arial"/>
              </a:defRPr>
            </a:lvl2pPr>
            <a:lvl3pPr>
              <a:defRPr sz="1800" b="0">
                <a:solidFill>
                  <a:srgbClr val="52647A"/>
                </a:solidFill>
                <a:latin typeface="Arial"/>
                <a:ea typeface="Arial"/>
                <a:cs typeface="Arial"/>
              </a:defRPr>
            </a:lvl3pPr>
            <a:lvl4pPr>
              <a:defRPr sz="1800" b="0">
                <a:solidFill>
                  <a:srgbClr val="52647A"/>
                </a:solidFill>
                <a:latin typeface="Arial"/>
                <a:ea typeface="Arial"/>
                <a:cs typeface="Arial"/>
              </a:defRPr>
            </a:lvl4pPr>
            <a:lvl5pPr>
              <a:defRPr sz="1800" b="0">
                <a:solidFill>
                  <a:srgbClr val="52647A"/>
                </a:solidFill>
                <a:latin typeface="Arial"/>
                <a:ea typeface="Arial"/>
                <a:cs typeface="Arial"/>
              </a:defRPr>
            </a:lvl5pPr>
            <a:lvl6pPr>
              <a:defRPr sz="1800" b="0">
                <a:solidFill>
                  <a:srgbClr val="52647A"/>
                </a:solidFill>
                <a:latin typeface="Arial"/>
                <a:ea typeface="Arial"/>
                <a:cs typeface="Arial"/>
              </a:defRPr>
            </a:lvl6pPr>
            <a:lvl7pPr>
              <a:defRPr sz="1800" b="0">
                <a:solidFill>
                  <a:srgbClr val="52647A"/>
                </a:solidFill>
                <a:latin typeface="Arial"/>
                <a:ea typeface="Arial"/>
                <a:cs typeface="Arial"/>
              </a:defRPr>
            </a:lvl7pPr>
            <a:lvl8pPr>
              <a:defRPr sz="1800" b="0">
                <a:solidFill>
                  <a:srgbClr val="52647A"/>
                </a:solidFill>
                <a:latin typeface="Arial"/>
                <a:ea typeface="Arial"/>
                <a:cs typeface="Arial"/>
              </a:defRPr>
            </a:lvl8pPr>
            <a:lvl9pPr>
              <a:defRPr sz="1800" b="0">
                <a:solidFill>
                  <a:srgbClr val="52647A"/>
                </a:solidFill>
                <a:latin typeface="Arial"/>
                <a:ea typeface="Arial"/>
                <a:cs typeface="Arial"/>
              </a:defRPr>
            </a:lvl9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Für die praktische Vorführung genügt die vorbereitete SQL-Testinstanz mit einem Queryclient.</a:t>
            </a:r>
          </a:p>
        </p:txBody>
      </p:sp>
      <p:sp>
        <p:nvSpPr>
          <p:cNvPr id="9" name="text-8">
            <a:extLst xmlns:a="http://schemas.openxmlformats.org/drawingml/2006/main">
              <a:ext uri="{FF2B5EF4-FFF2-40B4-BE49-F238E27FC236}">
                <a16:creationId xmlns:a16="http://schemas.microsoft.com/office/drawing/2014/main" id="{0AFE4D24-7478-4156-9203-7EACD7076AF1}"/>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STANDARD 14 · Quellfolie 14 · CUR-013 / CUR-014</a:t>
            </a:r>
          </a:p>
        </p:txBody>
      </p:sp>
    </p:spTree>
    <p:extLst>
      <p:ext uri="{BB962C8B-B14F-4D97-AF65-F5344CB8AC3E}">
        <p14:creationId xmlns:p14="http://schemas.microsoft.com/office/powerpoint/2010/main" val="30349725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2DDF55C0-A756-4530-B5F0-8AF3D5D8F454}"/>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Serverversion und Client sind verschieden</a:t>
            </a:r>
          </a:p>
        </p:txBody>
      </p:sp>
      <p:sp>
        <p:nvSpPr>
          <p:cNvPr id="2" name="text-1">
            <a:extLst xmlns:a="http://schemas.openxmlformats.org/drawingml/2006/main">
              <a:ext uri="{FF2B5EF4-FFF2-40B4-BE49-F238E27FC236}">
                <a16:creationId xmlns:a16="http://schemas.microsoft.com/office/drawing/2014/main" id="{9B00325D-CE7C-48E0-B5AF-46225C86D0BE}"/>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SQL Server</a:t>
            </a:r>
          </a:p>
        </p:txBody>
      </p:sp>
      <p:sp>
        <p:nvSpPr>
          <p:cNvPr id="3" name="text-2">
            <a:extLst xmlns:a="http://schemas.openxmlformats.org/drawingml/2006/main">
              <a:ext uri="{FF2B5EF4-FFF2-40B4-BE49-F238E27FC236}">
                <a16:creationId xmlns:a16="http://schemas.microsoft.com/office/drawing/2014/main" id="{15D03B84-6EA8-4192-8A40-BADC53596854}"/>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Unsere VECTOR-Beispiele benötigen SQL Server 2025, Engine 17.x.</a:t>
            </a:r>
          </a:p>
        </p:txBody>
      </p:sp>
      <p:sp>
        <p:nvSpPr>
          <p:cNvPr id="4" name="text-3">
            <a:extLst xmlns:a="http://schemas.openxmlformats.org/drawingml/2006/main">
              <a:ext uri="{FF2B5EF4-FFF2-40B4-BE49-F238E27FC236}">
                <a16:creationId xmlns:a16="http://schemas.microsoft.com/office/drawing/2014/main" id="{9E4CB267-B1AC-4AA8-B9AD-B238DD8F90B6}"/>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Client</a:t>
            </a:r>
          </a:p>
        </p:txBody>
      </p:sp>
      <p:sp>
        <p:nvSpPr>
          <p:cNvPr id="5" name="text-4">
            <a:extLst xmlns:a="http://schemas.openxmlformats.org/drawingml/2006/main">
              <a:ext uri="{FF2B5EF4-FFF2-40B4-BE49-F238E27FC236}">
                <a16:creationId xmlns:a16="http://schemas.microsoft.com/office/drawing/2014/main" id="{45BA2E0F-9BB7-41A2-9059-690BE09C84B3}"/>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Das Programm zum Senden der Query macht aus einer älteren Engine keine SQL-Server-2025-Engine.</a:t>
            </a:r>
          </a:p>
        </p:txBody>
      </p:sp>
      <p:sp>
        <p:nvSpPr>
          <p:cNvPr id="6" name="text-5">
            <a:extLst xmlns:a="http://schemas.openxmlformats.org/drawingml/2006/main">
              <a:ext uri="{FF2B5EF4-FFF2-40B4-BE49-F238E27FC236}">
                <a16:creationId xmlns:a16="http://schemas.microsoft.com/office/drawing/2014/main" id="{76D10CCC-C9F5-4176-96A8-DEE9717AF592}"/>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Datenbank</a:t>
            </a:r>
          </a:p>
        </p:txBody>
      </p:sp>
      <p:sp>
        <p:nvSpPr>
          <p:cNvPr id="7" name="text-6">
            <a:extLst xmlns:a="http://schemas.openxmlformats.org/drawingml/2006/main">
              <a:ext uri="{FF2B5EF4-FFF2-40B4-BE49-F238E27FC236}">
                <a16:creationId xmlns:a16="http://schemas.microsoft.com/office/drawing/2014/main" id="{F1CE88C7-2B5C-4B19-89EF-D31102D55E06}"/>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Das Schulungsprofil verwendet Compatibility Level 170. Das ist eine eigene Datenbankeinstellung.</a:t>
            </a:r>
          </a:p>
        </p:txBody>
      </p:sp>
      <p:sp>
        <p:nvSpPr>
          <p:cNvPr id="8" name="text-7">
            <a:extLst xmlns:a="http://schemas.openxmlformats.org/drawingml/2006/main">
              <a:ext uri="{FF2B5EF4-FFF2-40B4-BE49-F238E27FC236}">
                <a16:creationId xmlns:a16="http://schemas.microsoft.com/office/drawing/2014/main" id="{88313A86-A2D5-48B7-A195-C202442E5146}"/>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STANDARD 15 · Quellfolie 15 · CUR-014 / CUR-016</a:t>
            </a:r>
          </a:p>
        </p:txBody>
      </p:sp>
    </p:spTree>
    <p:extLst>
      <p:ext uri="{BB962C8B-B14F-4D97-AF65-F5344CB8AC3E}">
        <p14:creationId xmlns:p14="http://schemas.microsoft.com/office/powerpoint/2010/main" val="62059992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46A8FD2D-D3CE-4E8C-8FB3-5847FA6D6712}"/>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Version und Datenbankeinstellung lesen</a:t>
            </a:r>
          </a:p>
        </p:txBody>
      </p:sp>
      <p:sp>
        <p:nvSpPr>
          <p:cNvPr id="2" name="text-1">
            <a:extLst xmlns:a="http://schemas.openxmlformats.org/drawingml/2006/main">
              <a:ext uri="{FF2B5EF4-FFF2-40B4-BE49-F238E27FC236}">
                <a16:creationId xmlns:a16="http://schemas.microsoft.com/office/drawing/2014/main" id="{44CDFCE6-B68F-4A17-BF6E-0A523C5CFA39}"/>
              </a:ext>
            </a:extLst>
          </p:cNvPr>
          <p:cNvSpPr>
            <a:spLocks xmlns:a="http://schemas.openxmlformats.org/drawingml/2006/main" noGrp="1"/>
          </p:cNvSpPr>
          <p:nvPr/>
        </p:nvSpPr>
        <p:spPr>
          <a:xfrm xmlns:a="http://schemas.openxmlformats.org/drawingml/2006/main">
            <a:off x="685800" y="1771650"/>
            <a:ext cx="108204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007A83"/>
                </a:solidFill>
                <a:latin typeface="Arial"/>
                <a:ea typeface="Arial"/>
                <a:cs typeface="Arial"/>
              </a:defRPr>
            </a:defPPr>
            <a:lvl1pPr>
              <a:defRPr sz="2100" b="0">
                <a:solidFill>
                  <a:srgbClr val="007A83"/>
                </a:solidFill>
                <a:latin typeface="Arial"/>
                <a:ea typeface="Arial"/>
                <a:cs typeface="Arial"/>
              </a:defRPr>
            </a:lvl1pPr>
            <a:lvl2pPr>
              <a:defRPr sz="2100" b="0">
                <a:solidFill>
                  <a:srgbClr val="007A83"/>
                </a:solidFill>
                <a:latin typeface="Arial"/>
                <a:ea typeface="Arial"/>
                <a:cs typeface="Arial"/>
              </a:defRPr>
            </a:lvl2pPr>
            <a:lvl3pPr>
              <a:defRPr sz="2100" b="0">
                <a:solidFill>
                  <a:srgbClr val="007A83"/>
                </a:solidFill>
                <a:latin typeface="Arial"/>
                <a:ea typeface="Arial"/>
                <a:cs typeface="Arial"/>
              </a:defRPr>
            </a:lvl3pPr>
            <a:lvl4pPr>
              <a:defRPr sz="2100" b="0">
                <a:solidFill>
                  <a:srgbClr val="007A83"/>
                </a:solidFill>
                <a:latin typeface="Arial"/>
                <a:ea typeface="Arial"/>
                <a:cs typeface="Arial"/>
              </a:defRPr>
            </a:lvl4pPr>
            <a:lvl5pPr>
              <a:defRPr sz="2100" b="0">
                <a:solidFill>
                  <a:srgbClr val="007A83"/>
                </a:solidFill>
                <a:latin typeface="Arial"/>
                <a:ea typeface="Arial"/>
                <a:cs typeface="Arial"/>
              </a:defRPr>
            </a:lvl5pPr>
            <a:lvl6pPr>
              <a:defRPr sz="2100" b="0">
                <a:solidFill>
                  <a:srgbClr val="007A83"/>
                </a:solidFill>
                <a:latin typeface="Arial"/>
                <a:ea typeface="Arial"/>
                <a:cs typeface="Arial"/>
              </a:defRPr>
            </a:lvl6pPr>
            <a:lvl7pPr>
              <a:defRPr sz="2100" b="0">
                <a:solidFill>
                  <a:srgbClr val="007A83"/>
                </a:solidFill>
                <a:latin typeface="Arial"/>
                <a:ea typeface="Arial"/>
                <a:cs typeface="Arial"/>
              </a:defRPr>
            </a:lvl7pPr>
            <a:lvl8pPr>
              <a:defRPr sz="2100" b="0">
                <a:solidFill>
                  <a:srgbClr val="007A83"/>
                </a:solidFill>
                <a:latin typeface="Arial"/>
                <a:ea typeface="Arial"/>
                <a:cs typeface="Arial"/>
              </a:defRPr>
            </a:lvl8pPr>
            <a:lvl9pPr>
              <a:defRPr sz="2100" b="0">
                <a:solidFill>
                  <a:srgbClr val="007A83"/>
                </a:solidFill>
                <a:latin typeface="Arial"/>
                <a:ea typeface="Arial"/>
                <a:cs typeface="Arial"/>
              </a:defRPr>
            </a:lvl9pPr>
          </a:lstStyle>
          <a:p xmlns:a="http://schemas.openxmlformats.org/drawingml/2006/main">
            <a:pPr>
              <a:defRPr sz="2100" b="0">
                <a:solidFill>
                  <a:srgbClr val="007A83"/>
                </a:solidFill>
                <a:latin typeface="Arial"/>
                <a:ea typeface="Arial"/>
                <a:cs typeface="Arial"/>
              </a:defRPr>
            </a:pPr>
            <a:r>
              <a:rPr sz="2100" b="0">
                <a:solidFill>
                  <a:srgbClr val="007A83"/>
                </a:solidFill>
                <a:latin typeface="Arial"/>
                <a:ea typeface="Arial"/>
                <a:cs typeface="Arial"/>
              </a:rPr>
              <a:t>SELECT CAST(SERVERPROPERTY('ProductMajorVersion') AS int) AS Major;</a:t>
            </a:r>
          </a:p>
          <a:p xmlns:a="http://schemas.openxmlformats.org/drawingml/2006/main">
            <a:pPr>
              <a:defRPr sz="2100" b="0">
                <a:solidFill>
                  <a:srgbClr val="007A83"/>
                </a:solidFill>
                <a:latin typeface="Arial"/>
                <a:ea typeface="Arial"/>
                <a:cs typeface="Arial"/>
              </a:defRPr>
            </a:pPr>
            <a:r>
              <a:rPr sz="2100" b="0">
                <a:solidFill>
                  <a:srgbClr val="007A83"/>
                </a:solidFill>
                <a:latin typeface="Arial"/>
                <a:ea typeface="Arial"/>
                <a:cs typeface="Arial"/>
              </a:rPr>
              <a:t>SELECT compatibility_level AS CL</a:t>
            </a:r>
          </a:p>
          <a:p xmlns:a="http://schemas.openxmlformats.org/drawingml/2006/main">
            <a:pPr>
              <a:defRPr sz="2100" b="0">
                <a:solidFill>
                  <a:srgbClr val="007A83"/>
                </a:solidFill>
                <a:latin typeface="Arial"/>
                <a:ea typeface="Arial"/>
                <a:cs typeface="Arial"/>
              </a:defRPr>
            </a:pPr>
            <a:r>
              <a:rPr sz="2100" b="0">
                <a:solidFill>
                  <a:srgbClr val="007A83"/>
                </a:solidFill>
                <a:latin typeface="Arial"/>
                <a:ea typeface="Arial"/>
                <a:cs typeface="Arial"/>
              </a:rPr>
              <a:t>FROM sys.databases WHERE name = DB_NAME();</a:t>
            </a:r>
          </a:p>
        </p:txBody>
      </p:sp>
      <p:sp>
        <p:nvSpPr>
          <p:cNvPr id="3" name="text-2">
            <a:extLst xmlns:a="http://schemas.openxmlformats.org/drawingml/2006/main">
              <a:ext uri="{FF2B5EF4-FFF2-40B4-BE49-F238E27FC236}">
                <a16:creationId xmlns:a16="http://schemas.microsoft.com/office/drawing/2014/main" id="{8614668E-3EA7-4B1D-AAB4-D7F7B3BFCDE5}"/>
              </a:ext>
            </a:extLst>
          </p:cNvPr>
          <p:cNvSpPr>
            <a:spLocks xmlns:a="http://schemas.openxmlformats.org/drawingml/2006/main" noGrp="1"/>
          </p:cNvSpPr>
          <p:nvPr/>
        </p:nvSpPr>
        <p:spPr>
          <a:xfrm xmlns:a="http://schemas.openxmlformats.org/drawingml/2006/main">
            <a:off x="685800" y="3724275"/>
            <a:ext cx="233362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Einordnung</a:t>
            </a:r>
          </a:p>
        </p:txBody>
      </p:sp>
      <p:sp>
        <p:nvSpPr>
          <p:cNvPr id="4" name="text-3">
            <a:extLst xmlns:a="http://schemas.openxmlformats.org/drawingml/2006/main">
              <a:ext uri="{FF2B5EF4-FFF2-40B4-BE49-F238E27FC236}">
                <a16:creationId xmlns:a16="http://schemas.microsoft.com/office/drawing/2014/main" id="{C9DAF0EE-0123-4ECF-A72E-65883CC8CF76}"/>
              </a:ext>
            </a:extLst>
          </p:cNvPr>
          <p:cNvSpPr>
            <a:spLocks xmlns:a="http://schemas.openxmlformats.org/drawingml/2006/main" noGrp="1"/>
          </p:cNvSpPr>
          <p:nvPr/>
        </p:nvSpPr>
        <p:spPr>
          <a:xfrm xmlns:a="http://schemas.openxmlformats.org/drawingml/2006/main">
            <a:off x="3190875" y="3724275"/>
            <a:ext cx="823912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Major 17 bezeichnet die Enginefamilie. CL 170 bezeichnet das gewählte Datenbankprofil.</a:t>
            </a:r>
          </a:p>
        </p:txBody>
      </p:sp>
      <p:sp>
        <p:nvSpPr>
          <p:cNvPr id="5" name="text-4">
            <a:extLst xmlns:a="http://schemas.openxmlformats.org/drawingml/2006/main">
              <a:ext uri="{FF2B5EF4-FFF2-40B4-BE49-F238E27FC236}">
                <a16:creationId xmlns:a16="http://schemas.microsoft.com/office/drawing/2014/main" id="{0EA9CB5F-60DD-4CAA-A0C5-16F2E5B05187}"/>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vl1pPr>
              <a:defRPr sz="1800" b="0">
                <a:solidFill>
                  <a:srgbClr val="52647A"/>
                </a:solidFill>
                <a:latin typeface="Arial"/>
                <a:ea typeface="Arial"/>
                <a:cs typeface="Arial"/>
              </a:defRPr>
            </a:lvl1pPr>
            <a:lvl2pPr>
              <a:defRPr sz="1800" b="0">
                <a:solidFill>
                  <a:srgbClr val="52647A"/>
                </a:solidFill>
                <a:latin typeface="Arial"/>
                <a:ea typeface="Arial"/>
                <a:cs typeface="Arial"/>
              </a:defRPr>
            </a:lvl2pPr>
            <a:lvl3pPr>
              <a:defRPr sz="1800" b="0">
                <a:solidFill>
                  <a:srgbClr val="52647A"/>
                </a:solidFill>
                <a:latin typeface="Arial"/>
                <a:ea typeface="Arial"/>
                <a:cs typeface="Arial"/>
              </a:defRPr>
            </a:lvl3pPr>
            <a:lvl4pPr>
              <a:defRPr sz="1800" b="0">
                <a:solidFill>
                  <a:srgbClr val="52647A"/>
                </a:solidFill>
                <a:latin typeface="Arial"/>
                <a:ea typeface="Arial"/>
                <a:cs typeface="Arial"/>
              </a:defRPr>
            </a:lvl4pPr>
            <a:lvl5pPr>
              <a:defRPr sz="1800" b="0">
                <a:solidFill>
                  <a:srgbClr val="52647A"/>
                </a:solidFill>
                <a:latin typeface="Arial"/>
                <a:ea typeface="Arial"/>
                <a:cs typeface="Arial"/>
              </a:defRPr>
            </a:lvl5pPr>
            <a:lvl6pPr>
              <a:defRPr sz="1800" b="0">
                <a:solidFill>
                  <a:srgbClr val="52647A"/>
                </a:solidFill>
                <a:latin typeface="Arial"/>
                <a:ea typeface="Arial"/>
                <a:cs typeface="Arial"/>
              </a:defRPr>
            </a:lvl6pPr>
            <a:lvl7pPr>
              <a:defRPr sz="1800" b="0">
                <a:solidFill>
                  <a:srgbClr val="52647A"/>
                </a:solidFill>
                <a:latin typeface="Arial"/>
                <a:ea typeface="Arial"/>
                <a:cs typeface="Arial"/>
              </a:defRPr>
            </a:lvl7pPr>
            <a:lvl8pPr>
              <a:defRPr sz="1800" b="0">
                <a:solidFill>
                  <a:srgbClr val="52647A"/>
                </a:solidFill>
                <a:latin typeface="Arial"/>
                <a:ea typeface="Arial"/>
                <a:cs typeface="Arial"/>
              </a:defRPr>
            </a:lvl8pPr>
            <a:lvl9pPr>
              <a:defRPr sz="1800" b="0">
                <a:solidFill>
                  <a:srgbClr val="52647A"/>
                </a:solidFill>
                <a:latin typeface="Arial"/>
                <a:ea typeface="Arial"/>
                <a:cs typeface="Arial"/>
              </a:defRPr>
            </a:lvl9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Die Query liest Eigenschaften. Sie ändert weder Server noch Datenbank.</a:t>
            </a:r>
          </a:p>
        </p:txBody>
      </p:sp>
      <p:sp>
        <p:nvSpPr>
          <p:cNvPr id="6" name="text-5">
            <a:extLst xmlns:a="http://schemas.openxmlformats.org/drawingml/2006/main">
              <a:ext uri="{FF2B5EF4-FFF2-40B4-BE49-F238E27FC236}">
                <a16:creationId xmlns:a16="http://schemas.microsoft.com/office/drawing/2014/main" id="{39516C92-8705-48B2-B3A9-D7FC856BAE06}"/>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STANDARD 16 · Quellfolie 16 · CUR-014</a:t>
            </a:r>
          </a:p>
        </p:txBody>
      </p:sp>
    </p:spTree>
    <p:extLst>
      <p:ext uri="{BB962C8B-B14F-4D97-AF65-F5344CB8AC3E}">
        <p14:creationId xmlns:p14="http://schemas.microsoft.com/office/powerpoint/2010/main" val="88673231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DBEE7887-28F9-4082-A719-58C8B1380F85}"/>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Eine vorbereitete Testumgebung und passende Rechte</a:t>
            </a:r>
          </a:p>
        </p:txBody>
      </p:sp>
      <p:sp>
        <p:nvSpPr>
          <p:cNvPr id="2" name="text-1">
            <a:extLst xmlns:a="http://schemas.openxmlformats.org/drawingml/2006/main">
              <a:ext uri="{FF2B5EF4-FFF2-40B4-BE49-F238E27FC236}">
                <a16:creationId xmlns:a16="http://schemas.microsoft.com/office/drawing/2014/main" id="{30CA0F82-4726-4BB5-A8E3-ED10496A2274}"/>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Umgebung</a:t>
            </a:r>
          </a:p>
        </p:txBody>
      </p:sp>
      <p:sp>
        <p:nvSpPr>
          <p:cNvPr id="3" name="text-2">
            <a:extLst xmlns:a="http://schemas.openxmlformats.org/drawingml/2006/main">
              <a:ext uri="{FF2B5EF4-FFF2-40B4-BE49-F238E27FC236}">
                <a16:creationId xmlns:a16="http://schemas.microsoft.com/office/drawing/2014/main" id="{58EBC793-FFB7-4A30-99B3-70F8E1C9E5C6}"/>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Die Lehrperson bereitet eine dedizierte SQL-Server-2025-Testinstanz vor.</a:t>
            </a:r>
          </a:p>
        </p:txBody>
      </p:sp>
      <p:sp>
        <p:nvSpPr>
          <p:cNvPr id="4" name="text-3">
            <a:extLst xmlns:a="http://schemas.openxmlformats.org/drawingml/2006/main">
              <a:ext uri="{FF2B5EF4-FFF2-40B4-BE49-F238E27FC236}">
                <a16:creationId xmlns:a16="http://schemas.microsoft.com/office/drawing/2014/main" id="{5806639E-FD2B-4827-AC3E-0CD17F8C9812}"/>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Teilnehmende</a:t>
            </a:r>
          </a:p>
        </p:txBody>
      </p:sp>
      <p:sp>
        <p:nvSpPr>
          <p:cNvPr id="5" name="text-4">
            <a:extLst xmlns:a="http://schemas.openxmlformats.org/drawingml/2006/main">
              <a:ext uri="{FF2B5EF4-FFF2-40B4-BE49-F238E27FC236}">
                <a16:creationId xmlns:a16="http://schemas.microsoft.com/office/drawing/2014/main" id="{461EA656-86AA-44FD-8E75-A24423272728}"/>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Für unsere kleinen Beispiele lesen wir feste Werte. Einrichtung und Verwaltung bleiben getrennt.</a:t>
            </a:r>
          </a:p>
        </p:txBody>
      </p:sp>
      <p:sp>
        <p:nvSpPr>
          <p:cNvPr id="6" name="text-5">
            <a:extLst xmlns:a="http://schemas.openxmlformats.org/drawingml/2006/main">
              <a:ext uri="{FF2B5EF4-FFF2-40B4-BE49-F238E27FC236}">
                <a16:creationId xmlns:a16="http://schemas.microsoft.com/office/drawing/2014/main" id="{C7675D97-418B-4B03-B05C-35264F2AB483}"/>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Falls etwas fehlt</a:t>
            </a:r>
          </a:p>
        </p:txBody>
      </p:sp>
      <p:sp>
        <p:nvSpPr>
          <p:cNvPr id="7" name="text-6">
            <a:extLst xmlns:a="http://schemas.openxmlformats.org/drawingml/2006/main">
              <a:ext uri="{FF2B5EF4-FFF2-40B4-BE49-F238E27FC236}">
                <a16:creationId xmlns:a16="http://schemas.microsoft.com/office/drawing/2014/main" id="{D51755E6-7064-46D5-8F7E-81280040560C}"/>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Verbindung, Ziel und Rechte gemeinsam prüfen. Für die Diskussion können wir zuerst die Sollwerte lesen.</a:t>
            </a:r>
          </a:p>
        </p:txBody>
      </p:sp>
      <p:sp>
        <p:nvSpPr>
          <p:cNvPr id="8" name="text-7">
            <a:extLst xmlns:a="http://schemas.openxmlformats.org/drawingml/2006/main">
              <a:ext uri="{FF2B5EF4-FFF2-40B4-BE49-F238E27FC236}">
                <a16:creationId xmlns:a16="http://schemas.microsoft.com/office/drawing/2014/main" id="{472518EE-004A-46E3-B3B8-9E8DA9FEF980}"/>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vl1pPr>
              <a:defRPr sz="1800" b="0">
                <a:solidFill>
                  <a:srgbClr val="52647A"/>
                </a:solidFill>
                <a:latin typeface="Arial"/>
                <a:ea typeface="Arial"/>
                <a:cs typeface="Arial"/>
              </a:defRPr>
            </a:lvl1pPr>
            <a:lvl2pPr>
              <a:defRPr sz="1800" b="0">
                <a:solidFill>
                  <a:srgbClr val="52647A"/>
                </a:solidFill>
                <a:latin typeface="Arial"/>
                <a:ea typeface="Arial"/>
                <a:cs typeface="Arial"/>
              </a:defRPr>
            </a:lvl2pPr>
            <a:lvl3pPr>
              <a:defRPr sz="1800" b="0">
                <a:solidFill>
                  <a:srgbClr val="52647A"/>
                </a:solidFill>
                <a:latin typeface="Arial"/>
                <a:ea typeface="Arial"/>
                <a:cs typeface="Arial"/>
              </a:defRPr>
            </a:lvl3pPr>
            <a:lvl4pPr>
              <a:defRPr sz="1800" b="0">
                <a:solidFill>
                  <a:srgbClr val="52647A"/>
                </a:solidFill>
                <a:latin typeface="Arial"/>
                <a:ea typeface="Arial"/>
                <a:cs typeface="Arial"/>
              </a:defRPr>
            </a:lvl4pPr>
            <a:lvl5pPr>
              <a:defRPr sz="1800" b="0">
                <a:solidFill>
                  <a:srgbClr val="52647A"/>
                </a:solidFill>
                <a:latin typeface="Arial"/>
                <a:ea typeface="Arial"/>
                <a:cs typeface="Arial"/>
              </a:defRPr>
            </a:lvl5pPr>
            <a:lvl6pPr>
              <a:defRPr sz="1800" b="0">
                <a:solidFill>
                  <a:srgbClr val="52647A"/>
                </a:solidFill>
                <a:latin typeface="Arial"/>
                <a:ea typeface="Arial"/>
                <a:cs typeface="Arial"/>
              </a:defRPr>
            </a:lvl6pPr>
            <a:lvl7pPr>
              <a:defRPr sz="1800" b="0">
                <a:solidFill>
                  <a:srgbClr val="52647A"/>
                </a:solidFill>
                <a:latin typeface="Arial"/>
                <a:ea typeface="Arial"/>
                <a:cs typeface="Arial"/>
              </a:defRPr>
            </a:lvl7pPr>
            <a:lvl8pPr>
              <a:defRPr sz="1800" b="0">
                <a:solidFill>
                  <a:srgbClr val="52647A"/>
                </a:solidFill>
                <a:latin typeface="Arial"/>
                <a:ea typeface="Arial"/>
                <a:cs typeface="Arial"/>
              </a:defRPr>
            </a:lvl8pPr>
            <a:lvl9pPr>
              <a:defRPr sz="1800" b="0">
                <a:solidFill>
                  <a:srgbClr val="52647A"/>
                </a:solidFill>
                <a:latin typeface="Arial"/>
                <a:ea typeface="Arial"/>
                <a:cs typeface="Arial"/>
              </a:defRPr>
            </a:lvl9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Spätere vollständige Demos nutzen ihre dokumentierten Setup- und Cleanup-Verträge.</a:t>
            </a:r>
          </a:p>
        </p:txBody>
      </p:sp>
      <p:sp>
        <p:nvSpPr>
          <p:cNvPr id="9" name="text-8">
            <a:extLst xmlns:a="http://schemas.openxmlformats.org/drawingml/2006/main">
              <a:ext uri="{FF2B5EF4-FFF2-40B4-BE49-F238E27FC236}">
                <a16:creationId xmlns:a16="http://schemas.microsoft.com/office/drawing/2014/main" id="{7967F37C-A76C-4F8F-A0CC-DCDD8627EEFB}"/>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STANDARD 17 · Quellfolie 17 · CUR-014 / CUR-018</a:t>
            </a:r>
          </a:p>
        </p:txBody>
      </p:sp>
    </p:spTree>
    <p:extLst>
      <p:ext uri="{BB962C8B-B14F-4D97-AF65-F5344CB8AC3E}">
        <p14:creationId xmlns:p14="http://schemas.microsoft.com/office/powerpoint/2010/main" val="89233444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F6BFD958-660B-4F77-B808-9213608F07EE}"/>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Ein Vektor als kleine Zahlenliste</a:t>
            </a:r>
          </a:p>
        </p:txBody>
      </p:sp>
      <p:sp>
        <p:nvSpPr>
          <p:cNvPr id="2" name="text-1">
            <a:extLst xmlns:a="http://schemas.openxmlformats.org/drawingml/2006/main">
              <a:ext uri="{FF2B5EF4-FFF2-40B4-BE49-F238E27FC236}">
                <a16:creationId xmlns:a16="http://schemas.microsoft.com/office/drawing/2014/main" id="{A9B3FB23-92E6-44FE-A7ED-62C90479702C}"/>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Drei Komponenten</a:t>
            </a:r>
          </a:p>
        </p:txBody>
      </p:sp>
      <p:sp>
        <p:nvSpPr>
          <p:cNvPr id="3" name="text-2">
            <a:extLst xmlns:a="http://schemas.openxmlformats.org/drawingml/2006/main">
              <a:ext uri="{FF2B5EF4-FFF2-40B4-BE49-F238E27FC236}">
                <a16:creationId xmlns:a16="http://schemas.microsoft.com/office/drawing/2014/main" id="{CA8DA9A1-7C43-4EA5-BFBC-C0BCA34748B7}"/>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VECTOR(3) enthält drei numerische Werte, zum Beispiel [1,0,0].</a:t>
            </a:r>
          </a:p>
        </p:txBody>
      </p:sp>
      <p:sp>
        <p:nvSpPr>
          <p:cNvPr id="4" name="text-3">
            <a:extLst xmlns:a="http://schemas.openxmlformats.org/drawingml/2006/main">
              <a:ext uri="{FF2B5EF4-FFF2-40B4-BE49-F238E27FC236}">
                <a16:creationId xmlns:a16="http://schemas.microsoft.com/office/drawing/2014/main" id="{E977087F-A917-4074-98BF-A692A02BD648}"/>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Unsere Lehrwerte</a:t>
            </a:r>
          </a:p>
        </p:txBody>
      </p:sp>
      <p:sp>
        <p:nvSpPr>
          <p:cNvPr id="5" name="text-4">
            <a:extLst xmlns:a="http://schemas.openxmlformats.org/drawingml/2006/main">
              <a:ext uri="{FF2B5EF4-FFF2-40B4-BE49-F238E27FC236}">
                <a16:creationId xmlns:a16="http://schemas.microsoft.com/office/drawing/2014/main" id="{28D483CE-D1C8-4BC9-ACC4-FA0DD0EBB227}"/>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Wir geben alle Zahlen ausdrücklich vor. Sie stammen aus keinem Textmodell.</a:t>
            </a:r>
          </a:p>
        </p:txBody>
      </p:sp>
      <p:sp>
        <p:nvSpPr>
          <p:cNvPr id="6" name="text-5">
            <a:extLst xmlns:a="http://schemas.openxmlformats.org/drawingml/2006/main">
              <a:ext uri="{FF2B5EF4-FFF2-40B4-BE49-F238E27FC236}">
                <a16:creationId xmlns:a16="http://schemas.microsoft.com/office/drawing/2014/main" id="{008EC240-09FA-40BD-A695-8A1659B53AB3}"/>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Vergleich</a:t>
            </a:r>
          </a:p>
        </p:txBody>
      </p:sp>
      <p:sp>
        <p:nvSpPr>
          <p:cNvPr id="7" name="text-6">
            <a:extLst xmlns:a="http://schemas.openxmlformats.org/drawingml/2006/main">
              <a:ext uri="{FF2B5EF4-FFF2-40B4-BE49-F238E27FC236}">
                <a16:creationId xmlns:a16="http://schemas.microsoft.com/office/drawing/2014/main" id="{3278F2A3-6493-444A-BEC5-6C15C93D66C7}"/>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Die Cosine-Distanz vergleicht die Richtung der beiden Zahlenlisten.</a:t>
            </a:r>
          </a:p>
        </p:txBody>
      </p:sp>
      <p:sp>
        <p:nvSpPr>
          <p:cNvPr id="8" name="text-7">
            <a:extLst xmlns:a="http://schemas.openxmlformats.org/drawingml/2006/main">
              <a:ext uri="{FF2B5EF4-FFF2-40B4-BE49-F238E27FC236}">
                <a16:creationId xmlns:a16="http://schemas.microsoft.com/office/drawing/2014/main" id="{9B74AF80-AD3B-47F9-80A5-C990388043AD}"/>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STANDARD 18 · Quellfolie 18 · CUR-013 / CUR-014</a:t>
            </a:r>
          </a:p>
        </p:txBody>
      </p:sp>
    </p:spTree>
    <p:extLst>
      <p:ext uri="{BB962C8B-B14F-4D97-AF65-F5344CB8AC3E}">
        <p14:creationId xmlns:p14="http://schemas.microsoft.com/office/powerpoint/2010/main" val="177611924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1A246AF2-BBCE-4ABA-BAB7-C3307B1F4B45}"/>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Vorhersage für drei Richtungen</a:t>
            </a:r>
          </a:p>
        </p:txBody>
      </p:sp>
      <p:graphicFrame>
        <p:nvGraphicFramePr>
          <p:cNvPr id="2" name="">
            <a:extLst xmlns:a="http://schemas.openxmlformats.org/drawingml/2006/main">
              <a:ext uri="{FF2B5EF4-FFF2-40B4-BE49-F238E27FC236}">
                <a16:creationId xmlns:a16="http://schemas.microsoft.com/office/drawing/2014/main" id="{068ACB90-6DF3-4894-B3AE-FCD9F53E524B}"/>
              </a:ext>
            </a:extLst>
          </p:cNvPr>
          <p:cNvGraphicFramePr/>
          <p:nvPr/>
        </p:nvGraphicFramePr>
        <p:xfrm>
          <a:off xmlns:a="http://schemas.openxmlformats.org/drawingml/2006/main" x="685800" y="1771650"/>
          <a:ext xmlns:a="http://schemas.openxmlformats.org/drawingml/2006/main" cx="10668000" cy="3143250"/>
        </p:xfrm>
        <a:graphic xmlns:a="http://schemas.openxmlformats.org/drawingml/2006/main">
          <a:graphicData uri="http://schemas.openxmlformats.org/drawingml/2006/table">
            <a:tbl>
              <a:tblPr/>
              <a:tblGrid>
                <a:gridCol w="1428750"/>
                <a:gridCol w="2952750"/>
                <a:gridCol w="6286500"/>
              </a:tblGrid>
              <a:tr h="785813">
                <a:tc>
                  <a:txBody>
                    <a:bodyPr/>
                    <a:lstStyle/>
                    <a:p>
                      <a:r>
                        <a:rPr sz="1800" b="1">
                          <a:solidFill>
                            <a:srgbClr val="15283D"/>
                          </a:solidFill>
                          <a:latin typeface="Arial"/>
                          <a:ea typeface="Arial"/>
                          <a:cs typeface="Arial"/>
                        </a:rPr>
                        <a:t>Id</a:t>
                      </a:r>
                    </a:p>
                  </a:txBody>
                  <a:tcPr marL="114300" marR="114300" marT="47625" marB="47625" anchor="ctr">
                    <a:lnL w="9525">
                      <a:solidFill>
                        <a:srgbClr val="C8D5DE"/>
                      </a:solidFill>
                      <a:prstDash val="solid"/>
                    </a:lnL>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c>
                  <a:txBody>
                    <a:bodyPr/>
                    <a:lstStyle/>
                    <a:p>
                      <a:r>
                        <a:rPr sz="1800" b="1">
                          <a:solidFill>
                            <a:srgbClr val="15283D"/>
                          </a:solidFill>
                          <a:latin typeface="Arial"/>
                          <a:ea typeface="Arial"/>
                          <a:cs typeface="Arial"/>
                        </a:rPr>
                        <a:t>Vektor</a:t>
                      </a:r>
                    </a:p>
                  </a:txBody>
                  <a:tcPr marL="114300" marR="114300" marT="47625" marB="47625" anchor="ctr">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c>
                  <a:txBody>
                    <a:bodyPr/>
                    <a:lstStyle/>
                    <a:p>
                      <a:r>
                        <a:rPr sz="1800" b="1">
                          <a:solidFill>
                            <a:srgbClr val="15283D"/>
                          </a:solidFill>
                          <a:latin typeface="Arial"/>
                          <a:ea typeface="Arial"/>
                          <a:cs typeface="Arial"/>
                        </a:rPr>
                        <a:t>Richtung zur Frage [1,0,0]</a:t>
                      </a:r>
                    </a:p>
                  </a:txBody>
                  <a:tcPr marL="114300" marR="114300" marT="47625" marB="47625" anchor="ctr">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r>
              <a:tr h="785813">
                <a:tc>
                  <a:txBody>
                    <a:bodyPr/>
                    <a:lstStyle/>
                    <a:p>
                      <a:r>
                        <a:rPr sz="1800" b="0">
                          <a:solidFill>
                            <a:srgbClr val="15283D"/>
                          </a:solidFill>
                          <a:latin typeface="Arial"/>
                          <a:ea typeface="Arial"/>
                          <a:cs typeface="Arial"/>
                        </a:rPr>
                        <a:t>1</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[1,0,0]</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Gleiche Richtung</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785813">
                <a:tc>
                  <a:txBody>
                    <a:bodyPr/>
                    <a:lstStyle/>
                    <a:p>
                      <a:r>
                        <a:rPr sz="1800" b="0">
                          <a:solidFill>
                            <a:srgbClr val="15283D"/>
                          </a:solidFill>
                          <a:latin typeface="Arial"/>
                          <a:ea typeface="Arial"/>
                          <a:cs typeface="Arial"/>
                        </a:rPr>
                        <a:t>2</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[0,1,0]</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Senkrechte Richtung</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785813">
                <a:tc>
                  <a:txBody>
                    <a:bodyPr/>
                    <a:lstStyle/>
                    <a:p>
                      <a:r>
                        <a:rPr sz="1800" b="0">
                          <a:solidFill>
                            <a:srgbClr val="15283D"/>
                          </a:solidFill>
                          <a:latin typeface="Arial"/>
                          <a:ea typeface="Arial"/>
                          <a:cs typeface="Arial"/>
                        </a:rPr>
                        <a:t>3</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[-1,0,0]</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Entgegengesetzte Richtung</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bl>
          </a:graphicData>
        </a:graphic>
      </p:graphicFrame>
      <p:sp>
        <p:nvSpPr>
          <p:cNvPr id="3" name="text-1">
            <a:extLst xmlns:a="http://schemas.openxmlformats.org/drawingml/2006/main">
              <a:ext uri="{FF2B5EF4-FFF2-40B4-BE49-F238E27FC236}">
                <a16:creationId xmlns:a16="http://schemas.microsoft.com/office/drawing/2014/main" id="{F618786E-CC7B-4849-842D-4E8201392488}"/>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vl1pPr>
              <a:defRPr sz="1800" b="0">
                <a:solidFill>
                  <a:srgbClr val="52647A"/>
                </a:solidFill>
                <a:latin typeface="Arial"/>
                <a:ea typeface="Arial"/>
                <a:cs typeface="Arial"/>
              </a:defRPr>
            </a:lvl1pPr>
            <a:lvl2pPr>
              <a:defRPr sz="1800" b="0">
                <a:solidFill>
                  <a:srgbClr val="52647A"/>
                </a:solidFill>
                <a:latin typeface="Arial"/>
                <a:ea typeface="Arial"/>
                <a:cs typeface="Arial"/>
              </a:defRPr>
            </a:lvl2pPr>
            <a:lvl3pPr>
              <a:defRPr sz="1800" b="0">
                <a:solidFill>
                  <a:srgbClr val="52647A"/>
                </a:solidFill>
                <a:latin typeface="Arial"/>
                <a:ea typeface="Arial"/>
                <a:cs typeface="Arial"/>
              </a:defRPr>
            </a:lvl3pPr>
            <a:lvl4pPr>
              <a:defRPr sz="1800" b="0">
                <a:solidFill>
                  <a:srgbClr val="52647A"/>
                </a:solidFill>
                <a:latin typeface="Arial"/>
                <a:ea typeface="Arial"/>
                <a:cs typeface="Arial"/>
              </a:defRPr>
            </a:lvl4pPr>
            <a:lvl5pPr>
              <a:defRPr sz="1800" b="0">
                <a:solidFill>
                  <a:srgbClr val="52647A"/>
                </a:solidFill>
                <a:latin typeface="Arial"/>
                <a:ea typeface="Arial"/>
                <a:cs typeface="Arial"/>
              </a:defRPr>
            </a:lvl5pPr>
            <a:lvl6pPr>
              <a:defRPr sz="1800" b="0">
                <a:solidFill>
                  <a:srgbClr val="52647A"/>
                </a:solidFill>
                <a:latin typeface="Arial"/>
                <a:ea typeface="Arial"/>
                <a:cs typeface="Arial"/>
              </a:defRPr>
            </a:lvl6pPr>
            <a:lvl7pPr>
              <a:defRPr sz="1800" b="0">
                <a:solidFill>
                  <a:srgbClr val="52647A"/>
                </a:solidFill>
                <a:latin typeface="Arial"/>
                <a:ea typeface="Arial"/>
                <a:cs typeface="Arial"/>
              </a:defRPr>
            </a:lvl7pPr>
            <a:lvl8pPr>
              <a:defRPr sz="1800" b="0">
                <a:solidFill>
                  <a:srgbClr val="52647A"/>
                </a:solidFill>
                <a:latin typeface="Arial"/>
                <a:ea typeface="Arial"/>
                <a:cs typeface="Arial"/>
              </a:defRPr>
            </a:lvl8pPr>
            <a:lvl9pPr>
              <a:defRPr sz="1800" b="0">
                <a:solidFill>
                  <a:srgbClr val="52647A"/>
                </a:solidFill>
                <a:latin typeface="Arial"/>
                <a:ea typeface="Arial"/>
                <a:cs typeface="Arial"/>
              </a:defRPr>
            </a:lvl9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Vorhersage: Welcher Vektor soll bei aufsteigender Cosine-Distanz zuerst erscheinen?</a:t>
            </a:r>
          </a:p>
        </p:txBody>
      </p:sp>
      <p:sp>
        <p:nvSpPr>
          <p:cNvPr id="4" name="text-2">
            <a:extLst xmlns:a="http://schemas.openxmlformats.org/drawingml/2006/main">
              <a:ext uri="{FF2B5EF4-FFF2-40B4-BE49-F238E27FC236}">
                <a16:creationId xmlns:a16="http://schemas.microsoft.com/office/drawing/2014/main" id="{9578340D-FC52-44E3-90B1-CC5246694B16}"/>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STANDARD 19 · Quellfolie 19 · CUR-014</a:t>
            </a:r>
          </a:p>
        </p:txBody>
      </p:sp>
    </p:spTree>
    <p:extLst>
      <p:ext uri="{BB962C8B-B14F-4D97-AF65-F5344CB8AC3E}">
        <p14:creationId xmlns:p14="http://schemas.microsoft.com/office/powerpoint/2010/main" val="721557231"/>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5FFEEBA1-BB4A-4CE9-8744-AE42C3BECD36}"/>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Eine vollständige read-only Vektorquery</a:t>
            </a:r>
          </a:p>
        </p:txBody>
      </p:sp>
      <p:sp>
        <p:nvSpPr>
          <p:cNvPr id="2" name="text-1">
            <a:extLst xmlns:a="http://schemas.openxmlformats.org/drawingml/2006/main">
              <a:ext uri="{FF2B5EF4-FFF2-40B4-BE49-F238E27FC236}">
                <a16:creationId xmlns:a16="http://schemas.microsoft.com/office/drawing/2014/main" id="{73D7CA55-352D-4201-890D-9EBBDFCCD958}"/>
              </a:ext>
            </a:extLst>
          </p:cNvPr>
          <p:cNvSpPr>
            <a:spLocks xmlns:a="http://schemas.openxmlformats.org/drawingml/2006/main" noGrp="1"/>
          </p:cNvSpPr>
          <p:nvPr/>
        </p:nvSpPr>
        <p:spPr>
          <a:xfrm xmlns:a="http://schemas.openxmlformats.org/drawingml/2006/main">
            <a:off x="685800" y="1771650"/>
            <a:ext cx="108204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007A83"/>
                </a:solidFill>
                <a:latin typeface="Arial"/>
                <a:ea typeface="Arial"/>
                <a:cs typeface="Arial"/>
              </a:defRPr>
            </a:defPPr>
            <a:lvl1pPr>
              <a:defRPr sz="2100" b="0">
                <a:solidFill>
                  <a:srgbClr val="007A83"/>
                </a:solidFill>
                <a:latin typeface="Arial"/>
                <a:ea typeface="Arial"/>
                <a:cs typeface="Arial"/>
              </a:defRPr>
            </a:lvl1pPr>
            <a:lvl2pPr>
              <a:defRPr sz="2100" b="0">
                <a:solidFill>
                  <a:srgbClr val="007A83"/>
                </a:solidFill>
                <a:latin typeface="Arial"/>
                <a:ea typeface="Arial"/>
                <a:cs typeface="Arial"/>
              </a:defRPr>
            </a:lvl2pPr>
            <a:lvl3pPr>
              <a:defRPr sz="2100" b="0">
                <a:solidFill>
                  <a:srgbClr val="007A83"/>
                </a:solidFill>
                <a:latin typeface="Arial"/>
                <a:ea typeface="Arial"/>
                <a:cs typeface="Arial"/>
              </a:defRPr>
            </a:lvl3pPr>
            <a:lvl4pPr>
              <a:defRPr sz="2100" b="0">
                <a:solidFill>
                  <a:srgbClr val="007A83"/>
                </a:solidFill>
                <a:latin typeface="Arial"/>
                <a:ea typeface="Arial"/>
                <a:cs typeface="Arial"/>
              </a:defRPr>
            </a:lvl4pPr>
            <a:lvl5pPr>
              <a:defRPr sz="2100" b="0">
                <a:solidFill>
                  <a:srgbClr val="007A83"/>
                </a:solidFill>
                <a:latin typeface="Arial"/>
                <a:ea typeface="Arial"/>
                <a:cs typeface="Arial"/>
              </a:defRPr>
            </a:lvl5pPr>
            <a:lvl6pPr>
              <a:defRPr sz="2100" b="0">
                <a:solidFill>
                  <a:srgbClr val="007A83"/>
                </a:solidFill>
                <a:latin typeface="Arial"/>
                <a:ea typeface="Arial"/>
                <a:cs typeface="Arial"/>
              </a:defRPr>
            </a:lvl6pPr>
            <a:lvl7pPr>
              <a:defRPr sz="2100" b="0">
                <a:solidFill>
                  <a:srgbClr val="007A83"/>
                </a:solidFill>
                <a:latin typeface="Arial"/>
                <a:ea typeface="Arial"/>
                <a:cs typeface="Arial"/>
              </a:defRPr>
            </a:lvl7pPr>
            <a:lvl8pPr>
              <a:defRPr sz="2100" b="0">
                <a:solidFill>
                  <a:srgbClr val="007A83"/>
                </a:solidFill>
                <a:latin typeface="Arial"/>
                <a:ea typeface="Arial"/>
                <a:cs typeface="Arial"/>
              </a:defRPr>
            </a:lvl8pPr>
            <a:lvl9pPr>
              <a:defRPr sz="2100" b="0">
                <a:solidFill>
                  <a:srgbClr val="007A83"/>
                </a:solidFill>
                <a:latin typeface="Arial"/>
                <a:ea typeface="Arial"/>
                <a:cs typeface="Arial"/>
              </a:defRPr>
            </a:lvl9pPr>
          </a:lstStyle>
          <a:p xmlns:a="http://schemas.openxmlformats.org/drawingml/2006/main">
            <a:pPr>
              <a:defRPr sz="2100" b="0">
                <a:solidFill>
                  <a:srgbClr val="007A83"/>
                </a:solidFill>
                <a:latin typeface="Arial"/>
                <a:ea typeface="Arial"/>
                <a:cs typeface="Arial"/>
              </a:defRPr>
            </a:pPr>
            <a:r>
              <a:rPr sz="2100" b="0">
                <a:solidFill>
                  <a:srgbClr val="007A83"/>
                </a:solidFill>
                <a:latin typeface="Arial"/>
                <a:ea typeface="Arial"/>
                <a:cs typeface="Arial"/>
              </a:rPr>
              <a:t>DECLARE @q VECTOR(3) = '[1,0,0]';</a:t>
            </a:r>
          </a:p>
          <a:p xmlns:a="http://schemas.openxmlformats.org/drawingml/2006/main">
            <a:pPr>
              <a:defRPr sz="2100" b="0">
                <a:solidFill>
                  <a:srgbClr val="007A83"/>
                </a:solidFill>
                <a:latin typeface="Arial"/>
                <a:ea typeface="Arial"/>
                <a:cs typeface="Arial"/>
              </a:defRPr>
            </a:pPr>
            <a:r>
              <a:rPr sz="2100" b="0">
                <a:solidFill>
                  <a:srgbClr val="007A83"/>
                </a:solidFill>
                <a:latin typeface="Arial"/>
                <a:ea typeface="Arial"/>
                <a:cs typeface="Arial"/>
              </a:rPr>
              <a:t>SELECT Id, VECTOR_DISTANCE('cosine', @q, CAST(V AS VECTOR(3))) AS D</a:t>
            </a:r>
          </a:p>
          <a:p xmlns:a="http://schemas.openxmlformats.org/drawingml/2006/main">
            <a:pPr>
              <a:defRPr sz="2100" b="0">
                <a:solidFill>
                  <a:srgbClr val="007A83"/>
                </a:solidFill>
                <a:latin typeface="Arial"/>
                <a:ea typeface="Arial"/>
                <a:cs typeface="Arial"/>
              </a:defRPr>
            </a:pPr>
            <a:r>
              <a:rPr sz="2100" b="0">
                <a:solidFill>
                  <a:srgbClr val="007A83"/>
                </a:solidFill>
                <a:latin typeface="Arial"/>
                <a:ea typeface="Arial"/>
                <a:cs typeface="Arial"/>
              </a:rPr>
              <a:t>FROM (VALUES (1,'[1,0,0]'),(2,'[0,1,0]'),(3,'[-1,0,0]')) d(Id,V)</a:t>
            </a:r>
          </a:p>
          <a:p xmlns:a="http://schemas.openxmlformats.org/drawingml/2006/main">
            <a:pPr>
              <a:defRPr sz="2100" b="0">
                <a:solidFill>
                  <a:srgbClr val="007A83"/>
                </a:solidFill>
                <a:latin typeface="Arial"/>
                <a:ea typeface="Arial"/>
                <a:cs typeface="Arial"/>
              </a:defRPr>
            </a:pPr>
            <a:r>
              <a:rPr sz="2100" b="0">
                <a:solidFill>
                  <a:srgbClr val="007A83"/>
                </a:solidFill>
                <a:latin typeface="Arial"/>
                <a:ea typeface="Arial"/>
                <a:cs typeface="Arial"/>
              </a:rPr>
              <a:t>ORDER BY D, Id;</a:t>
            </a:r>
          </a:p>
        </p:txBody>
      </p:sp>
      <p:sp>
        <p:nvSpPr>
          <p:cNvPr id="3" name="text-2">
            <a:extLst xmlns:a="http://schemas.openxmlformats.org/drawingml/2006/main">
              <a:ext uri="{FF2B5EF4-FFF2-40B4-BE49-F238E27FC236}">
                <a16:creationId xmlns:a16="http://schemas.microsoft.com/office/drawing/2014/main" id="{85D28425-20D3-424C-8374-98AEE9455937}"/>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vl1pPr>
              <a:defRPr sz="1800" b="0">
                <a:solidFill>
                  <a:srgbClr val="52647A"/>
                </a:solidFill>
                <a:latin typeface="Arial"/>
                <a:ea typeface="Arial"/>
                <a:cs typeface="Arial"/>
              </a:defRPr>
            </a:lvl1pPr>
            <a:lvl2pPr>
              <a:defRPr sz="1800" b="0">
                <a:solidFill>
                  <a:srgbClr val="52647A"/>
                </a:solidFill>
                <a:latin typeface="Arial"/>
                <a:ea typeface="Arial"/>
                <a:cs typeface="Arial"/>
              </a:defRPr>
            </a:lvl2pPr>
            <a:lvl3pPr>
              <a:defRPr sz="1800" b="0">
                <a:solidFill>
                  <a:srgbClr val="52647A"/>
                </a:solidFill>
                <a:latin typeface="Arial"/>
                <a:ea typeface="Arial"/>
                <a:cs typeface="Arial"/>
              </a:defRPr>
            </a:lvl3pPr>
            <a:lvl4pPr>
              <a:defRPr sz="1800" b="0">
                <a:solidFill>
                  <a:srgbClr val="52647A"/>
                </a:solidFill>
                <a:latin typeface="Arial"/>
                <a:ea typeface="Arial"/>
                <a:cs typeface="Arial"/>
              </a:defRPr>
            </a:lvl4pPr>
            <a:lvl5pPr>
              <a:defRPr sz="1800" b="0">
                <a:solidFill>
                  <a:srgbClr val="52647A"/>
                </a:solidFill>
                <a:latin typeface="Arial"/>
                <a:ea typeface="Arial"/>
                <a:cs typeface="Arial"/>
              </a:defRPr>
            </a:lvl5pPr>
            <a:lvl6pPr>
              <a:defRPr sz="1800" b="0">
                <a:solidFill>
                  <a:srgbClr val="52647A"/>
                </a:solidFill>
                <a:latin typeface="Arial"/>
                <a:ea typeface="Arial"/>
                <a:cs typeface="Arial"/>
              </a:defRPr>
            </a:lvl6pPr>
            <a:lvl7pPr>
              <a:defRPr sz="1800" b="0">
                <a:solidFill>
                  <a:srgbClr val="52647A"/>
                </a:solidFill>
                <a:latin typeface="Arial"/>
                <a:ea typeface="Arial"/>
                <a:cs typeface="Arial"/>
              </a:defRPr>
            </a:lvl7pPr>
            <a:lvl8pPr>
              <a:defRPr sz="1800" b="0">
                <a:solidFill>
                  <a:srgbClr val="52647A"/>
                </a:solidFill>
                <a:latin typeface="Arial"/>
                <a:ea typeface="Arial"/>
                <a:cs typeface="Arial"/>
              </a:defRPr>
            </a:lvl8pPr>
            <a:lvl9pPr>
              <a:defRPr sz="1800" b="0">
                <a:solidFill>
                  <a:srgbClr val="52647A"/>
                </a:solidFill>
                <a:latin typeface="Arial"/>
                <a:ea typeface="Arial"/>
                <a:cs typeface="Arial"/>
              </a:defRPr>
            </a:lvl9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DECLARE definiert den Fragevektor. VALUES liefert Kandidaten. SELECT berechnet und sortiert.</a:t>
            </a:r>
          </a:p>
        </p:txBody>
      </p:sp>
      <p:sp>
        <p:nvSpPr>
          <p:cNvPr id="4" name="text-3">
            <a:extLst xmlns:a="http://schemas.openxmlformats.org/drawingml/2006/main">
              <a:ext uri="{FF2B5EF4-FFF2-40B4-BE49-F238E27FC236}">
                <a16:creationId xmlns:a16="http://schemas.microsoft.com/office/drawing/2014/main" id="{A3A30392-8D39-4833-AB0F-A1C83CE0A97A}"/>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STANDARD 20 · Quellfolie 20 · CUR-014</a:t>
            </a:r>
          </a:p>
        </p:txBody>
      </p:sp>
    </p:spTree>
    <p:extLst>
      <p:ext uri="{BB962C8B-B14F-4D97-AF65-F5344CB8AC3E}">
        <p14:creationId xmlns:p14="http://schemas.microsoft.com/office/powerpoint/2010/main" val="1791205455"/>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1F60694B-05B7-4465-9951-43A66D93B796}"/>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Ergebnisbesprechung der Vektorquery</a:t>
            </a:r>
          </a:p>
        </p:txBody>
      </p:sp>
      <p:graphicFrame>
        <p:nvGraphicFramePr>
          <p:cNvPr id="2" name="">
            <a:extLst xmlns:a="http://schemas.openxmlformats.org/drawingml/2006/main">
              <a:ext uri="{FF2B5EF4-FFF2-40B4-BE49-F238E27FC236}">
                <a16:creationId xmlns:a16="http://schemas.microsoft.com/office/drawing/2014/main" id="{0B4DC0B3-9722-4330-8037-D4EBA357D2E3}"/>
              </a:ext>
            </a:extLst>
          </p:cNvPr>
          <p:cNvGraphicFramePr/>
          <p:nvPr/>
        </p:nvGraphicFramePr>
        <p:xfrm>
          <a:off xmlns:a="http://schemas.openxmlformats.org/drawingml/2006/main" x="685800" y="1771650"/>
          <a:ext xmlns:a="http://schemas.openxmlformats.org/drawingml/2006/main" cx="10668000" cy="3143250"/>
        </p:xfrm>
        <a:graphic xmlns:a="http://schemas.openxmlformats.org/drawingml/2006/main">
          <a:graphicData uri="http://schemas.openxmlformats.org/drawingml/2006/table">
            <a:tbl>
              <a:tblPr/>
              <a:tblGrid>
                <a:gridCol w="2190750"/>
                <a:gridCol w="2762250"/>
                <a:gridCol w="5715000"/>
              </a:tblGrid>
              <a:tr h="785813">
                <a:tc>
                  <a:txBody>
                    <a:bodyPr/>
                    <a:lstStyle/>
                    <a:p>
                      <a:r>
                        <a:rPr sz="1800" b="1">
                          <a:solidFill>
                            <a:srgbClr val="15283D"/>
                          </a:solidFill>
                          <a:latin typeface="Arial"/>
                          <a:ea typeface="Arial"/>
                          <a:cs typeface="Arial"/>
                        </a:rPr>
                        <a:t>Ausgabe Id</a:t>
                      </a:r>
                    </a:p>
                  </a:txBody>
                  <a:tcPr marL="114300" marR="114300" marT="47625" marB="47625" anchor="ctr">
                    <a:lnL w="9525">
                      <a:solidFill>
                        <a:srgbClr val="C8D5DE"/>
                      </a:solidFill>
                      <a:prstDash val="solid"/>
                    </a:lnL>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c>
                  <a:txBody>
                    <a:bodyPr/>
                    <a:lstStyle/>
                    <a:p>
                      <a:r>
                        <a:rPr sz="1800" b="1">
                          <a:solidFill>
                            <a:srgbClr val="15283D"/>
                          </a:solidFill>
                          <a:latin typeface="Arial"/>
                          <a:ea typeface="Arial"/>
                          <a:cs typeface="Arial"/>
                        </a:rPr>
                        <a:t>Cosine-Distanz D</a:t>
                      </a:r>
                    </a:p>
                  </a:txBody>
                  <a:tcPr marL="114300" marR="114300" marT="47625" marB="47625" anchor="ctr">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c>
                  <a:txBody>
                    <a:bodyPr/>
                    <a:lstStyle/>
                    <a:p>
                      <a:r>
                        <a:rPr sz="1800" b="1">
                          <a:solidFill>
                            <a:srgbClr val="15283D"/>
                          </a:solidFill>
                          <a:latin typeface="Arial"/>
                          <a:ea typeface="Arial"/>
                          <a:cs typeface="Arial"/>
                        </a:rPr>
                        <a:t>Erklärung</a:t>
                      </a:r>
                    </a:p>
                  </a:txBody>
                  <a:tcPr marL="114300" marR="114300" marT="47625" marB="47625" anchor="ctr">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r>
              <a:tr h="785813">
                <a:tc>
                  <a:txBody>
                    <a:bodyPr/>
                    <a:lstStyle/>
                    <a:p>
                      <a:r>
                        <a:rPr sz="1800" b="0">
                          <a:solidFill>
                            <a:srgbClr val="15283D"/>
                          </a:solidFill>
                          <a:latin typeface="Arial"/>
                          <a:ea typeface="Arial"/>
                          <a:cs typeface="Arial"/>
                        </a:rPr>
                        <a:t>1</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0</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Gleiche Richtung wie die Frage</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785813">
                <a:tc>
                  <a:txBody>
                    <a:bodyPr/>
                    <a:lstStyle/>
                    <a:p>
                      <a:r>
                        <a:rPr sz="1800" b="0">
                          <a:solidFill>
                            <a:srgbClr val="15283D"/>
                          </a:solidFill>
                          <a:latin typeface="Arial"/>
                          <a:ea typeface="Arial"/>
                          <a:cs typeface="Arial"/>
                        </a:rPr>
                        <a:t>2</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1</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Senkrecht zur Frage</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785813">
                <a:tc>
                  <a:txBody>
                    <a:bodyPr/>
                    <a:lstStyle/>
                    <a:p>
                      <a:r>
                        <a:rPr sz="1800" b="0">
                          <a:solidFill>
                            <a:srgbClr val="15283D"/>
                          </a:solidFill>
                          <a:latin typeface="Arial"/>
                          <a:ea typeface="Arial"/>
                          <a:cs typeface="Arial"/>
                        </a:rPr>
                        <a:t>3</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2</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Entgegengesetzte Richtung</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bl>
          </a:graphicData>
        </a:graphic>
      </p:graphicFrame>
      <p:sp>
        <p:nvSpPr>
          <p:cNvPr id="3" name="text-1">
            <a:extLst xmlns:a="http://schemas.openxmlformats.org/drawingml/2006/main">
              <a:ext uri="{FF2B5EF4-FFF2-40B4-BE49-F238E27FC236}">
                <a16:creationId xmlns:a16="http://schemas.microsoft.com/office/drawing/2014/main" id="{2BDE1F26-5151-4456-83AA-E3FE0BB9E706}"/>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vl1pPr>
              <a:defRPr sz="1800" b="0">
                <a:solidFill>
                  <a:srgbClr val="52647A"/>
                </a:solidFill>
                <a:latin typeface="Arial"/>
                <a:ea typeface="Arial"/>
                <a:cs typeface="Arial"/>
              </a:defRPr>
            </a:lvl1pPr>
            <a:lvl2pPr>
              <a:defRPr sz="1800" b="0">
                <a:solidFill>
                  <a:srgbClr val="52647A"/>
                </a:solidFill>
                <a:latin typeface="Arial"/>
                <a:ea typeface="Arial"/>
                <a:cs typeface="Arial"/>
              </a:defRPr>
            </a:lvl2pPr>
            <a:lvl3pPr>
              <a:defRPr sz="1800" b="0">
                <a:solidFill>
                  <a:srgbClr val="52647A"/>
                </a:solidFill>
                <a:latin typeface="Arial"/>
                <a:ea typeface="Arial"/>
                <a:cs typeface="Arial"/>
              </a:defRPr>
            </a:lvl3pPr>
            <a:lvl4pPr>
              <a:defRPr sz="1800" b="0">
                <a:solidFill>
                  <a:srgbClr val="52647A"/>
                </a:solidFill>
                <a:latin typeface="Arial"/>
                <a:ea typeface="Arial"/>
                <a:cs typeface="Arial"/>
              </a:defRPr>
            </a:lvl4pPr>
            <a:lvl5pPr>
              <a:defRPr sz="1800" b="0">
                <a:solidFill>
                  <a:srgbClr val="52647A"/>
                </a:solidFill>
                <a:latin typeface="Arial"/>
                <a:ea typeface="Arial"/>
                <a:cs typeface="Arial"/>
              </a:defRPr>
            </a:lvl5pPr>
            <a:lvl6pPr>
              <a:defRPr sz="1800" b="0">
                <a:solidFill>
                  <a:srgbClr val="52647A"/>
                </a:solidFill>
                <a:latin typeface="Arial"/>
                <a:ea typeface="Arial"/>
                <a:cs typeface="Arial"/>
              </a:defRPr>
            </a:lvl6pPr>
            <a:lvl7pPr>
              <a:defRPr sz="1800" b="0">
                <a:solidFill>
                  <a:srgbClr val="52647A"/>
                </a:solidFill>
                <a:latin typeface="Arial"/>
                <a:ea typeface="Arial"/>
                <a:cs typeface="Arial"/>
              </a:defRPr>
            </a:lvl7pPr>
            <a:lvl8pPr>
              <a:defRPr sz="1800" b="0">
                <a:solidFill>
                  <a:srgbClr val="52647A"/>
                </a:solidFill>
                <a:latin typeface="Arial"/>
                <a:ea typeface="Arial"/>
                <a:cs typeface="Arial"/>
              </a:defRPr>
            </a:lvl8pPr>
            <a:lvl9pPr>
              <a:defRPr sz="1800" b="0">
                <a:solidFill>
                  <a:srgbClr val="52647A"/>
                </a:solidFill>
                <a:latin typeface="Arial"/>
                <a:ea typeface="Arial"/>
                <a:cs typeface="Arial"/>
              </a:defRPr>
            </a:lvl9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Mathematische Sollwerte des festen Lehrfalls. Kleine Floating-Point-Abweichungen fachlich einordnen.</a:t>
            </a:r>
          </a:p>
        </p:txBody>
      </p:sp>
      <p:sp>
        <p:nvSpPr>
          <p:cNvPr id="4" name="text-2">
            <a:extLst xmlns:a="http://schemas.openxmlformats.org/drawingml/2006/main">
              <a:ext uri="{FF2B5EF4-FFF2-40B4-BE49-F238E27FC236}">
                <a16:creationId xmlns:a16="http://schemas.microsoft.com/office/drawing/2014/main" id="{F6FABFE3-387A-4997-8595-69B4E7B66CBD}"/>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STANDARD 21 · Quellfolie 21 · CUR-014</a:t>
            </a:r>
          </a:p>
        </p:txBody>
      </p:sp>
    </p:spTree>
    <p:extLst>
      <p:ext uri="{BB962C8B-B14F-4D97-AF65-F5344CB8AC3E}">
        <p14:creationId xmlns:p14="http://schemas.microsoft.com/office/powerpoint/2010/main" val="1310141727"/>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07B4E7A0-7F17-465F-BC92-5F3668DA7986}"/>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Text als Zahlen: ein Embedding</a:t>
            </a:r>
          </a:p>
        </p:txBody>
      </p:sp>
      <p:sp>
        <p:nvSpPr>
          <p:cNvPr id="2" name="text-1">
            <a:extLst xmlns:a="http://schemas.openxmlformats.org/drawingml/2006/main">
              <a:ext uri="{FF2B5EF4-FFF2-40B4-BE49-F238E27FC236}">
                <a16:creationId xmlns:a16="http://schemas.microsoft.com/office/drawing/2014/main" id="{D483B030-1E66-41D9-88E4-F5F14091CDDB}"/>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Embedding</a:t>
            </a:r>
          </a:p>
        </p:txBody>
      </p:sp>
      <p:sp>
        <p:nvSpPr>
          <p:cNvPr id="3" name="text-2">
            <a:extLst xmlns:a="http://schemas.openxmlformats.org/drawingml/2006/main">
              <a:ext uri="{FF2B5EF4-FFF2-40B4-BE49-F238E27FC236}">
                <a16:creationId xmlns:a16="http://schemas.microsoft.com/office/drawing/2014/main" id="{AA223AD2-B876-4601-BF7F-0C52C2D6189A}"/>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Ein bestimmtes Modell bildet einen Text auf einen numerischen Vektor ab.</a:t>
            </a:r>
          </a:p>
        </p:txBody>
      </p:sp>
      <p:sp>
        <p:nvSpPr>
          <p:cNvPr id="4" name="text-3">
            <a:extLst xmlns:a="http://schemas.openxmlformats.org/drawingml/2006/main">
              <a:ext uri="{FF2B5EF4-FFF2-40B4-BE49-F238E27FC236}">
                <a16:creationId xmlns:a16="http://schemas.microsoft.com/office/drawing/2014/main" id="{701656A3-C7AF-47F0-842E-35BD007313D6}"/>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Suche</a:t>
            </a:r>
          </a:p>
        </p:txBody>
      </p:sp>
      <p:sp>
        <p:nvSpPr>
          <p:cNvPr id="5" name="text-4">
            <a:extLst xmlns:a="http://schemas.openxmlformats.org/drawingml/2006/main">
              <a:ext uri="{FF2B5EF4-FFF2-40B4-BE49-F238E27FC236}">
                <a16:creationId xmlns:a16="http://schemas.microsoft.com/office/drawing/2014/main" id="{AF795F5B-4B18-4748-AD10-F168614CB204}"/>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Frage und Quellen erhalten vergleichbare Vektoren aus demselben Modellraum.</a:t>
            </a:r>
          </a:p>
        </p:txBody>
      </p:sp>
      <p:sp>
        <p:nvSpPr>
          <p:cNvPr id="6" name="text-5">
            <a:extLst xmlns:a="http://schemas.openxmlformats.org/drawingml/2006/main">
              <a:ext uri="{FF2B5EF4-FFF2-40B4-BE49-F238E27FC236}">
                <a16:creationId xmlns:a16="http://schemas.microsoft.com/office/drawing/2014/main" id="{A43C93AD-A7B8-4F2D-BFFA-01B76A708679}"/>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Bewertung</a:t>
            </a:r>
          </a:p>
        </p:txBody>
      </p:sp>
      <p:sp>
        <p:nvSpPr>
          <p:cNvPr id="7" name="text-6">
            <a:extLst xmlns:a="http://schemas.openxmlformats.org/drawingml/2006/main">
              <a:ext uri="{FF2B5EF4-FFF2-40B4-BE49-F238E27FC236}">
                <a16:creationId xmlns:a16="http://schemas.microsoft.com/office/drawing/2014/main" id="{8DA2CF73-C6B3-4F5B-85BD-19C72AFE4E0B}"/>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Ähnliche Vektoren können passende Texte liefern. Die fachliche Relevanz müssen wir prüfen.</a:t>
            </a:r>
          </a:p>
        </p:txBody>
      </p:sp>
      <p:sp>
        <p:nvSpPr>
          <p:cNvPr id="8" name="text-7">
            <a:extLst xmlns:a="http://schemas.openxmlformats.org/drawingml/2006/main">
              <a:ext uri="{FF2B5EF4-FFF2-40B4-BE49-F238E27FC236}">
                <a16:creationId xmlns:a16="http://schemas.microsoft.com/office/drawing/2014/main" id="{73859AAF-4287-4D49-B015-B73067E155B3}"/>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vl1pPr>
              <a:defRPr sz="1800" b="0">
                <a:solidFill>
                  <a:srgbClr val="52647A"/>
                </a:solidFill>
                <a:latin typeface="Arial"/>
                <a:ea typeface="Arial"/>
                <a:cs typeface="Arial"/>
              </a:defRPr>
            </a:lvl1pPr>
            <a:lvl2pPr>
              <a:defRPr sz="1800" b="0">
                <a:solidFill>
                  <a:srgbClr val="52647A"/>
                </a:solidFill>
                <a:latin typeface="Arial"/>
                <a:ea typeface="Arial"/>
                <a:cs typeface="Arial"/>
              </a:defRPr>
            </a:lvl2pPr>
            <a:lvl3pPr>
              <a:defRPr sz="1800" b="0">
                <a:solidFill>
                  <a:srgbClr val="52647A"/>
                </a:solidFill>
                <a:latin typeface="Arial"/>
                <a:ea typeface="Arial"/>
                <a:cs typeface="Arial"/>
              </a:defRPr>
            </a:lvl3pPr>
            <a:lvl4pPr>
              <a:defRPr sz="1800" b="0">
                <a:solidFill>
                  <a:srgbClr val="52647A"/>
                </a:solidFill>
                <a:latin typeface="Arial"/>
                <a:ea typeface="Arial"/>
                <a:cs typeface="Arial"/>
              </a:defRPr>
            </a:lvl4pPr>
            <a:lvl5pPr>
              <a:defRPr sz="1800" b="0">
                <a:solidFill>
                  <a:srgbClr val="52647A"/>
                </a:solidFill>
                <a:latin typeface="Arial"/>
                <a:ea typeface="Arial"/>
                <a:cs typeface="Arial"/>
              </a:defRPr>
            </a:lvl5pPr>
            <a:lvl6pPr>
              <a:defRPr sz="1800" b="0">
                <a:solidFill>
                  <a:srgbClr val="52647A"/>
                </a:solidFill>
                <a:latin typeface="Arial"/>
                <a:ea typeface="Arial"/>
                <a:cs typeface="Arial"/>
              </a:defRPr>
            </a:lvl6pPr>
            <a:lvl7pPr>
              <a:defRPr sz="1800" b="0">
                <a:solidFill>
                  <a:srgbClr val="52647A"/>
                </a:solidFill>
                <a:latin typeface="Arial"/>
                <a:ea typeface="Arial"/>
                <a:cs typeface="Arial"/>
              </a:defRPr>
            </a:lvl7pPr>
            <a:lvl8pPr>
              <a:defRPr sz="1800" b="0">
                <a:solidFill>
                  <a:srgbClr val="52647A"/>
                </a:solidFill>
                <a:latin typeface="Arial"/>
                <a:ea typeface="Arial"/>
                <a:cs typeface="Arial"/>
              </a:defRPr>
            </a:lvl8pPr>
            <a:lvl9pPr>
              <a:defRPr sz="1800" b="0">
                <a:solidFill>
                  <a:srgbClr val="52647A"/>
                </a:solidFill>
                <a:latin typeface="Arial"/>
                <a:ea typeface="Arial"/>
                <a:cs typeface="Arial"/>
              </a:defRPr>
            </a:lvl9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Unsere VECTOR(3)-Lehrwerte waren handgesetzt. Sie sind keine echten Textembeddings.</a:t>
            </a:r>
          </a:p>
        </p:txBody>
      </p:sp>
      <p:sp>
        <p:nvSpPr>
          <p:cNvPr id="9" name="text-8">
            <a:extLst xmlns:a="http://schemas.openxmlformats.org/drawingml/2006/main">
              <a:ext uri="{FF2B5EF4-FFF2-40B4-BE49-F238E27FC236}">
                <a16:creationId xmlns:a16="http://schemas.microsoft.com/office/drawing/2014/main" id="{077106C9-FB58-443D-B4AE-C28866F0FB0D}"/>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STANDARD 22 · Quellfolie 22 · CUR-013 / CUR-016</a:t>
            </a:r>
          </a:p>
        </p:txBody>
      </p:sp>
    </p:spTree>
    <p:extLst>
      <p:ext uri="{BB962C8B-B14F-4D97-AF65-F5344CB8AC3E}">
        <p14:creationId xmlns:p14="http://schemas.microsoft.com/office/powerpoint/2010/main" val="229512786"/>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0">
            <a:extLst xmlns:a="http://schemas.openxmlformats.org/drawingml/2006/main">
              <a:ext uri="{FF2B5EF4-FFF2-40B4-BE49-F238E27FC236}">
                <a16:creationId xmlns:a16="http://schemas.microsoft.com/office/drawing/2014/main" id="{71144FA3-9837-45B6-9E46-3A3DAC772418}"/>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Zusätzliche Hürden eines echten Modellpfads</a:t>
            </a:r>
          </a:p>
        </p:txBody>
      </p:sp>
      <p:graphicFrame>
        <p:nvGraphicFramePr>
          <p:cNvPr id="2" name="">
            <a:extLst xmlns:a="http://schemas.openxmlformats.org/drawingml/2006/main">
              <a:ext uri="{FF2B5EF4-FFF2-40B4-BE49-F238E27FC236}">
                <a16:creationId xmlns:a16="http://schemas.microsoft.com/office/drawing/2014/main" id="{E94B8A45-2768-45FF-BA66-61C69EB48209}"/>
              </a:ext>
            </a:extLst>
          </p:cNvPr>
          <p:cNvGraphicFramePr/>
          <p:nvPr/>
        </p:nvGraphicFramePr>
        <p:xfrm>
          <a:off xmlns:a="http://schemas.openxmlformats.org/drawingml/2006/main" x="685800" y="1771650"/>
          <a:ext xmlns:a="http://schemas.openxmlformats.org/drawingml/2006/main" cx="10668000" cy="4000500"/>
        </p:xfrm>
        <a:graphic xmlns:a="http://schemas.openxmlformats.org/drawingml/2006/main">
          <a:graphicData uri="http://schemas.openxmlformats.org/drawingml/2006/table">
            <a:tbl>
              <a:tblPr/>
              <a:tblGrid>
                <a:gridCol w="1809750"/>
                <a:gridCol w="4429125"/>
                <a:gridCol w="4429125"/>
              </a:tblGrid>
              <a:tr h="800100">
                <a:tc>
                  <a:txBody>
                    <a:bodyPr/>
                    <a:lstStyle/>
                    <a:p>
                      <a:r>
                        <a:rPr sz="1800" b="1">
                          <a:solidFill>
                            <a:srgbClr val="15283D"/>
                          </a:solidFill>
                          <a:latin typeface="Arial"/>
                          <a:ea typeface="Arial"/>
                          <a:cs typeface="Arial"/>
                        </a:rPr>
                        <a:t>Hürde</a:t>
                      </a:r>
                    </a:p>
                  </a:txBody>
                  <a:tcPr marL="114300" marR="114300" marT="47625" marB="47625" anchor="ctr">
                    <a:lnL w="9525">
                      <a:solidFill>
                        <a:srgbClr val="C8D5DE"/>
                      </a:solidFill>
                      <a:prstDash val="solid"/>
                    </a:lnL>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c>
                  <a:txBody>
                    <a:bodyPr/>
                    <a:lstStyle/>
                    <a:p>
                      <a:r>
                        <a:rPr sz="1800" b="1">
                          <a:solidFill>
                            <a:srgbClr val="15283D"/>
                          </a:solidFill>
                          <a:latin typeface="Arial"/>
                          <a:ea typeface="Arial"/>
                          <a:cs typeface="Arial"/>
                        </a:rPr>
                        <a:t>Vorbereitete Lösung</a:t>
                      </a:r>
                    </a:p>
                  </a:txBody>
                  <a:tcPr marL="114300" marR="114300" marT="47625" marB="47625" anchor="ctr">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c>
                  <a:txBody>
                    <a:bodyPr/>
                    <a:lstStyle/>
                    <a:p>
                      <a:r>
                        <a:rPr sz="1800" b="1">
                          <a:solidFill>
                            <a:srgbClr val="15283D"/>
                          </a:solidFill>
                          <a:latin typeface="Arial"/>
                          <a:ea typeface="Arial"/>
                          <a:cs typeface="Arial"/>
                        </a:rPr>
                        <a:t>Sichtbare Prüfung</a:t>
                      </a:r>
                    </a:p>
                  </a:txBody>
                  <a:tcPr marL="114300" marR="114300" marT="47625" marB="47625" anchor="ctr">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r>
              <a:tr h="800100">
                <a:tc>
                  <a:txBody>
                    <a:bodyPr/>
                    <a:lstStyle/>
                    <a:p>
                      <a:r>
                        <a:rPr sz="1800" b="0">
                          <a:solidFill>
                            <a:srgbClr val="15283D"/>
                          </a:solidFill>
                          <a:latin typeface="Arial"/>
                          <a:ea typeface="Arial"/>
                          <a:cs typeface="Arial"/>
                        </a:rPr>
                        <a:t>Modell</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Geeignete Version und Dimension festlegen.</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Der Vektor passt zum erwarteten Modellraum.</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800100">
                <a:tc>
                  <a:txBody>
                    <a:bodyPr/>
                    <a:lstStyle/>
                    <a:p>
                      <a:r>
                        <a:rPr sz="1800" b="0">
                          <a:solidFill>
                            <a:srgbClr val="15283D"/>
                          </a:solidFill>
                          <a:latin typeface="Arial"/>
                          <a:ea typeface="Arial"/>
                          <a:cs typeface="Arial"/>
                        </a:rPr>
                        <a:t>Verbindung</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Verschlüsselten Transport und Zertifikat prüfen.</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Der erlaubte Dienst ist aus dem Aufrufer erreichbar.</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800100">
                <a:tc>
                  <a:txBody>
                    <a:bodyPr/>
                    <a:lstStyle/>
                    <a:p>
                      <a:r>
                        <a:rPr sz="1800" b="0">
                          <a:solidFill>
                            <a:srgbClr val="15283D"/>
                          </a:solidFill>
                          <a:latin typeface="Arial"/>
                          <a:ea typeface="Arial"/>
                          <a:cs typeface="Arial"/>
                        </a:rPr>
                        <a:t>Kosten</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Menge der Requests und Wiederholungen begrenzen.</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Verbrauch und Abbruchgrenze bleiben nachvollziehbar.</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800100">
                <a:tc>
                  <a:txBody>
                    <a:bodyPr/>
                    <a:lstStyle/>
                    <a:p>
                      <a:r>
                        <a:rPr sz="1800" b="0">
                          <a:solidFill>
                            <a:srgbClr val="15283D"/>
                          </a:solidFill>
                          <a:latin typeface="Arial"/>
                          <a:ea typeface="Arial"/>
                          <a:cs typeface="Arial"/>
                        </a:rPr>
                        <a:t>Datenschutz</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Erlaubte Daten und Dienstverarbeitung klären.</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Nur freigegebener Kontext verlässt seine Grenze.</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bl>
          </a:graphicData>
        </a:graphic>
      </p:graphicFrame>
      <p:sp>
        <p:nvSpPr>
          <p:cNvPr id="3" name="text-1">
            <a:extLst xmlns:a="http://schemas.openxmlformats.org/drawingml/2006/main">
              <a:ext uri="{FF2B5EF4-FFF2-40B4-BE49-F238E27FC236}">
                <a16:creationId xmlns:a16="http://schemas.microsoft.com/office/drawing/2014/main" id="{DA7D4ED0-4D9F-438D-99FA-D8534BC7F824}"/>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STANDARD 23 · Quellfolie 23 · CUR-016 / CUR-018</a:t>
            </a:r>
          </a:p>
        </p:txBody>
      </p:sp>
    </p:spTree>
    <p:extLst>
      <p:ext uri="{BB962C8B-B14F-4D97-AF65-F5344CB8AC3E}">
        <p14:creationId xmlns:p14="http://schemas.microsoft.com/office/powerpoint/2010/main" val="659484361"/>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9A8C578F-B4C0-499A-8D7A-9EAD1D996103}"/>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Ein Textausschnitt braucht seine Herkunft</a:t>
            </a:r>
          </a:p>
        </p:txBody>
      </p:sp>
      <p:sp>
        <p:nvSpPr>
          <p:cNvPr id="2" name="text-1">
            <a:extLst xmlns:a="http://schemas.openxmlformats.org/drawingml/2006/main">
              <a:ext uri="{FF2B5EF4-FFF2-40B4-BE49-F238E27FC236}">
                <a16:creationId xmlns:a16="http://schemas.microsoft.com/office/drawing/2014/main" id="{B30AFADC-666E-4AC6-BA67-613F2A0EB66A}"/>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Quelltext</a:t>
            </a:r>
          </a:p>
        </p:txBody>
      </p:sp>
      <p:sp>
        <p:nvSpPr>
          <p:cNvPr id="3" name="text-2">
            <a:extLst xmlns:a="http://schemas.openxmlformats.org/drawingml/2006/main">
              <a:ext uri="{FF2B5EF4-FFF2-40B4-BE49-F238E27FC236}">
                <a16:creationId xmlns:a16="http://schemas.microsoft.com/office/drawing/2014/main" id="{10AE51BB-AA87-4CA9-94D5-5629A57467F4}"/>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Dokument 2, v2: MOD_A bewahrt Protokolle sieben Tage auf.</a:t>
            </a:r>
          </a:p>
        </p:txBody>
      </p:sp>
      <p:sp>
        <p:nvSpPr>
          <p:cNvPr id="4" name="text-3">
            <a:extLst xmlns:a="http://schemas.openxmlformats.org/drawingml/2006/main">
              <a:ext uri="{FF2B5EF4-FFF2-40B4-BE49-F238E27FC236}">
                <a16:creationId xmlns:a16="http://schemas.microsoft.com/office/drawing/2014/main" id="{F904D8EA-03D0-4516-B392-545197DF18BF}"/>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Ausschnitt</a:t>
            </a:r>
          </a:p>
        </p:txBody>
      </p:sp>
      <p:sp>
        <p:nvSpPr>
          <p:cNvPr id="5" name="text-4">
            <a:extLst xmlns:a="http://schemas.openxmlformats.org/drawingml/2006/main">
              <a:ext uri="{FF2B5EF4-FFF2-40B4-BE49-F238E27FC236}">
                <a16:creationId xmlns:a16="http://schemas.microsoft.com/office/drawing/2014/main" id="{07F7F228-845D-4564-9118-2300698BE837}"/>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Ein Chunk ist ein abgegrenzter Textbereich. Er bleibt mit Dokument und Fassung verbunden.</a:t>
            </a:r>
          </a:p>
        </p:txBody>
      </p:sp>
      <p:sp>
        <p:nvSpPr>
          <p:cNvPr id="6" name="text-5">
            <a:extLst xmlns:a="http://schemas.openxmlformats.org/drawingml/2006/main">
              <a:ext uri="{FF2B5EF4-FFF2-40B4-BE49-F238E27FC236}">
                <a16:creationId xmlns:a16="http://schemas.microsoft.com/office/drawing/2014/main" id="{5135E995-E926-491D-930D-9F373AF856C5}"/>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Prüfung</a:t>
            </a:r>
          </a:p>
        </p:txBody>
      </p:sp>
      <p:sp>
        <p:nvSpPr>
          <p:cNvPr id="7" name="text-6">
            <a:extLst xmlns:a="http://schemas.openxmlformats.org/drawingml/2006/main">
              <a:ext uri="{FF2B5EF4-FFF2-40B4-BE49-F238E27FC236}">
                <a16:creationId xmlns:a16="http://schemas.microsoft.com/office/drawing/2014/main" id="{441959E7-EC2E-4606-8CE6-F9A0EB0D23FF}"/>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Wir können zeigen, wo die gefundene Information steht und ob diese Fassung aktuell ist.</a:t>
            </a:r>
          </a:p>
        </p:txBody>
      </p:sp>
      <p:sp>
        <p:nvSpPr>
          <p:cNvPr id="8" name="text-7">
            <a:extLst xmlns:a="http://schemas.openxmlformats.org/drawingml/2006/main">
              <a:ext uri="{FF2B5EF4-FFF2-40B4-BE49-F238E27FC236}">
                <a16:creationId xmlns:a16="http://schemas.microsoft.com/office/drawing/2014/main" id="{1FD32AE4-CCB6-4DEC-84E8-A597A6993A7B}"/>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STANDARD 24 · Quellfolie 24 · CUR-015 / CUR-017</a:t>
            </a:r>
          </a:p>
        </p:txBody>
      </p:sp>
    </p:spTree>
    <p:extLst>
      <p:ext uri="{BB962C8B-B14F-4D97-AF65-F5344CB8AC3E}">
        <p14:creationId xmlns:p14="http://schemas.microsoft.com/office/powerpoint/2010/main" val="2133497258"/>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DD61A54E-8878-4947-A29E-097F2EA00297}"/>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Eine Antwort mit abgerufenem Quellenkontext</a:t>
            </a:r>
          </a:p>
        </p:txBody>
      </p:sp>
      <p:sp>
        <p:nvSpPr>
          <p:cNvPr id="2" name="text-1">
            <a:extLst xmlns:a="http://schemas.openxmlformats.org/drawingml/2006/main">
              <a:ext uri="{FF2B5EF4-FFF2-40B4-BE49-F238E27FC236}">
                <a16:creationId xmlns:a16="http://schemas.microsoft.com/office/drawing/2014/main" id="{65C810E3-C15C-42E3-936A-40A2AC852E17}"/>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Suche</a:t>
            </a:r>
          </a:p>
        </p:txBody>
      </p:sp>
      <p:sp>
        <p:nvSpPr>
          <p:cNvPr id="3" name="text-2">
            <a:extLst xmlns:a="http://schemas.openxmlformats.org/drawingml/2006/main">
              <a:ext uri="{FF2B5EF4-FFF2-40B4-BE49-F238E27FC236}">
                <a16:creationId xmlns:a16="http://schemas.microsoft.com/office/drawing/2014/main" id="{EE682E1A-7082-48FC-909D-A2FB3BFC4558}"/>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Die Anwendung findet zur Frage erlaubte, aktuelle Quellen.</a:t>
            </a:r>
          </a:p>
        </p:txBody>
      </p:sp>
      <p:sp>
        <p:nvSpPr>
          <p:cNvPr id="4" name="text-3">
            <a:extLst xmlns:a="http://schemas.openxmlformats.org/drawingml/2006/main">
              <a:ext uri="{FF2B5EF4-FFF2-40B4-BE49-F238E27FC236}">
                <a16:creationId xmlns:a16="http://schemas.microsoft.com/office/drawing/2014/main" id="{3CE6000A-CA53-4C05-B559-C3A5F1511962}"/>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Kontext</a:t>
            </a:r>
          </a:p>
        </p:txBody>
      </p:sp>
      <p:sp>
        <p:nvSpPr>
          <p:cNvPr id="5" name="text-4">
            <a:extLst xmlns:a="http://schemas.openxmlformats.org/drawingml/2006/main">
              <a:ext uri="{FF2B5EF4-FFF2-40B4-BE49-F238E27FC236}">
                <a16:creationId xmlns:a16="http://schemas.microsoft.com/office/drawing/2014/main" id="{880CCF8B-EEA9-4B21-8D37-00CFBE523227}"/>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Sie gibt passende Ausschnitte zusammen mit der Frage an die Antwortstufe.</a:t>
            </a:r>
          </a:p>
        </p:txBody>
      </p:sp>
      <p:sp>
        <p:nvSpPr>
          <p:cNvPr id="6" name="text-5">
            <a:extLst xmlns:a="http://schemas.openxmlformats.org/drawingml/2006/main">
              <a:ext uri="{FF2B5EF4-FFF2-40B4-BE49-F238E27FC236}">
                <a16:creationId xmlns:a16="http://schemas.microsoft.com/office/drawing/2014/main" id="{4C6AD408-4621-4696-9755-5E8C9A5779ED}"/>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Antwort</a:t>
            </a:r>
          </a:p>
        </p:txBody>
      </p:sp>
      <p:sp>
        <p:nvSpPr>
          <p:cNvPr id="7" name="text-6">
            <a:extLst xmlns:a="http://schemas.openxmlformats.org/drawingml/2006/main">
              <a:ext uri="{FF2B5EF4-FFF2-40B4-BE49-F238E27FC236}">
                <a16:creationId xmlns:a16="http://schemas.microsoft.com/office/drawing/2014/main" id="{466FB1E2-41ED-4DAA-AD93-1EBA029F594B}"/>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Ein Antwortentwurf nennt seine Belege. Die Anwendung prüft die stützende Quelle.</a:t>
            </a:r>
          </a:p>
        </p:txBody>
      </p:sp>
      <p:sp>
        <p:nvSpPr>
          <p:cNvPr id="8" name="text-7">
            <a:extLst xmlns:a="http://schemas.openxmlformats.org/drawingml/2006/main">
              <a:ext uri="{FF2B5EF4-FFF2-40B4-BE49-F238E27FC236}">
                <a16:creationId xmlns:a16="http://schemas.microsoft.com/office/drawing/2014/main" id="{90980A8F-0475-4E10-8D67-F38536708824}"/>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vl1pPr>
              <a:defRPr sz="1800" b="0">
                <a:solidFill>
                  <a:srgbClr val="52647A"/>
                </a:solidFill>
                <a:latin typeface="Arial"/>
                <a:ea typeface="Arial"/>
                <a:cs typeface="Arial"/>
              </a:defRPr>
            </a:lvl1pPr>
            <a:lvl2pPr>
              <a:defRPr sz="1800" b="0">
                <a:solidFill>
                  <a:srgbClr val="52647A"/>
                </a:solidFill>
                <a:latin typeface="Arial"/>
                <a:ea typeface="Arial"/>
                <a:cs typeface="Arial"/>
              </a:defRPr>
            </a:lvl2pPr>
            <a:lvl3pPr>
              <a:defRPr sz="1800" b="0">
                <a:solidFill>
                  <a:srgbClr val="52647A"/>
                </a:solidFill>
                <a:latin typeface="Arial"/>
                <a:ea typeface="Arial"/>
                <a:cs typeface="Arial"/>
              </a:defRPr>
            </a:lvl3pPr>
            <a:lvl4pPr>
              <a:defRPr sz="1800" b="0">
                <a:solidFill>
                  <a:srgbClr val="52647A"/>
                </a:solidFill>
                <a:latin typeface="Arial"/>
                <a:ea typeface="Arial"/>
                <a:cs typeface="Arial"/>
              </a:defRPr>
            </a:lvl4pPr>
            <a:lvl5pPr>
              <a:defRPr sz="1800" b="0">
                <a:solidFill>
                  <a:srgbClr val="52647A"/>
                </a:solidFill>
                <a:latin typeface="Arial"/>
                <a:ea typeface="Arial"/>
                <a:cs typeface="Arial"/>
              </a:defRPr>
            </a:lvl5pPr>
            <a:lvl6pPr>
              <a:defRPr sz="1800" b="0">
                <a:solidFill>
                  <a:srgbClr val="52647A"/>
                </a:solidFill>
                <a:latin typeface="Arial"/>
                <a:ea typeface="Arial"/>
                <a:cs typeface="Arial"/>
              </a:defRPr>
            </a:lvl6pPr>
            <a:lvl7pPr>
              <a:defRPr sz="1800" b="0">
                <a:solidFill>
                  <a:srgbClr val="52647A"/>
                </a:solidFill>
                <a:latin typeface="Arial"/>
                <a:ea typeface="Arial"/>
                <a:cs typeface="Arial"/>
              </a:defRPr>
            </a:lvl7pPr>
            <a:lvl8pPr>
              <a:defRPr sz="1800" b="0">
                <a:solidFill>
                  <a:srgbClr val="52647A"/>
                </a:solidFill>
                <a:latin typeface="Arial"/>
                <a:ea typeface="Arial"/>
                <a:cs typeface="Arial"/>
              </a:defRPr>
            </a:lvl8pPr>
            <a:lvl9pPr>
              <a:defRPr sz="1800" b="0">
                <a:solidFill>
                  <a:srgbClr val="52647A"/>
                </a:solidFill>
                <a:latin typeface="Arial"/>
                <a:ea typeface="Arial"/>
                <a:cs typeface="Arial"/>
              </a:defRPr>
            </a:lvl9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Dieser Ablauf heißt Retrieval-Augmented Generation, kurz RAG.</a:t>
            </a:r>
          </a:p>
        </p:txBody>
      </p:sp>
      <p:sp>
        <p:nvSpPr>
          <p:cNvPr id="9" name="text-8">
            <a:extLst xmlns:a="http://schemas.openxmlformats.org/drawingml/2006/main">
              <a:ext uri="{FF2B5EF4-FFF2-40B4-BE49-F238E27FC236}">
                <a16:creationId xmlns:a16="http://schemas.microsoft.com/office/drawing/2014/main" id="{C4EB0586-C12A-44B3-80EA-30B486EEBFEA}"/>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STANDARD 25 · Quellfolie 25 · CUR-017</a:t>
            </a:r>
          </a:p>
        </p:txBody>
      </p:sp>
    </p:spTree>
    <p:extLst>
      <p:ext uri="{BB962C8B-B14F-4D97-AF65-F5344CB8AC3E}">
        <p14:creationId xmlns:p14="http://schemas.microsoft.com/office/powerpoint/2010/main" val="1601067533"/>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0">
            <a:extLst xmlns:a="http://schemas.openxmlformats.org/drawingml/2006/main">
              <a:ext uri="{FF2B5EF4-FFF2-40B4-BE49-F238E27FC236}">
                <a16:creationId xmlns:a16="http://schemas.microsoft.com/office/drawing/2014/main" id="{BB6F224B-9CB9-4460-B822-D9F56E59F09D}"/>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Eine belegbare Antwort im Wissensbasisfall</a:t>
            </a:r>
          </a:p>
        </p:txBody>
      </p:sp>
      <p:graphicFrame>
        <p:nvGraphicFramePr>
          <p:cNvPr id="2" name="">
            <a:extLst xmlns:a="http://schemas.openxmlformats.org/drawingml/2006/main">
              <a:ext uri="{FF2B5EF4-FFF2-40B4-BE49-F238E27FC236}">
                <a16:creationId xmlns:a16="http://schemas.microsoft.com/office/drawing/2014/main" id="{DA9909E3-64F8-40A3-8D89-5E45655C9C65}"/>
              </a:ext>
            </a:extLst>
          </p:cNvPr>
          <p:cNvGraphicFramePr/>
          <p:nvPr/>
        </p:nvGraphicFramePr>
        <p:xfrm>
          <a:off xmlns:a="http://schemas.openxmlformats.org/drawingml/2006/main" x="685800" y="1771650"/>
          <a:ext xmlns:a="http://schemas.openxmlformats.org/drawingml/2006/main" cx="10668000" cy="3143250"/>
        </p:xfrm>
        <a:graphic xmlns:a="http://schemas.openxmlformats.org/drawingml/2006/main">
          <a:graphicData uri="http://schemas.openxmlformats.org/drawingml/2006/table">
            <a:tbl>
              <a:tblPr/>
              <a:tblGrid>
                <a:gridCol w="3048000"/>
                <a:gridCol w="7620000"/>
              </a:tblGrid>
              <a:tr h="785813">
                <a:tc>
                  <a:txBody>
                    <a:bodyPr/>
                    <a:lstStyle/>
                    <a:p>
                      <a:r>
                        <a:rPr sz="1800" b="1">
                          <a:solidFill>
                            <a:srgbClr val="15283D"/>
                          </a:solidFill>
                          <a:latin typeface="Arial"/>
                          <a:ea typeface="Arial"/>
                          <a:cs typeface="Arial"/>
                        </a:rPr>
                        <a:t>Bestandteil</a:t>
                      </a:r>
                    </a:p>
                  </a:txBody>
                  <a:tcPr marL="114300" marR="114300" marT="47625" marB="47625" anchor="ctr">
                    <a:lnL w="9525">
                      <a:solidFill>
                        <a:srgbClr val="C8D5DE"/>
                      </a:solidFill>
                      <a:prstDash val="solid"/>
                    </a:lnL>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c>
                  <a:txBody>
                    <a:bodyPr/>
                    <a:lstStyle/>
                    <a:p>
                      <a:r>
                        <a:rPr sz="1800" b="1">
                          <a:solidFill>
                            <a:srgbClr val="15283D"/>
                          </a:solidFill>
                          <a:latin typeface="Arial"/>
                          <a:ea typeface="Arial"/>
                          <a:cs typeface="Arial"/>
                        </a:rPr>
                        <a:t>Sichtbarer Inhalt</a:t>
                      </a:r>
                    </a:p>
                  </a:txBody>
                  <a:tcPr marL="114300" marR="114300" marT="47625" marB="47625" anchor="ctr">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r>
              <a:tr h="785813">
                <a:tc>
                  <a:txBody>
                    <a:bodyPr/>
                    <a:lstStyle/>
                    <a:p>
                      <a:r>
                        <a:rPr sz="1800" b="0">
                          <a:solidFill>
                            <a:srgbClr val="15283D"/>
                          </a:solidFill>
                          <a:latin typeface="Arial"/>
                          <a:ea typeface="Arial"/>
                          <a:cs typeface="Arial"/>
                        </a:rPr>
                        <a:t>Frage</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Wie lange bleiben die Protokolle von MOD_A erhalten?</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785813">
                <a:tc>
                  <a:txBody>
                    <a:bodyPr/>
                    <a:lstStyle/>
                    <a:p>
                      <a:r>
                        <a:rPr sz="1800" b="0">
                          <a:solidFill>
                            <a:srgbClr val="15283D"/>
                          </a:solidFill>
                          <a:latin typeface="Arial"/>
                          <a:ea typeface="Arial"/>
                          <a:cs typeface="Arial"/>
                        </a:rPr>
                        <a:t>Gelieferte Quelle</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Dokument 2, v2: MOD_A bewahrt Protokolle sieben Tage auf.</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785813">
                <a:tc>
                  <a:txBody>
                    <a:bodyPr/>
                    <a:lstStyle/>
                    <a:p>
                      <a:r>
                        <a:rPr sz="1800" b="0">
                          <a:solidFill>
                            <a:srgbClr val="15283D"/>
                          </a:solidFill>
                          <a:latin typeface="Arial"/>
                          <a:ea typeface="Arial"/>
                          <a:cs typeface="Arial"/>
                        </a:rPr>
                        <a:t>Fester Antwortentwurf</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Sieben Tage. Beleg: Dokument 2, Fassung v2.</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bl>
          </a:graphicData>
        </a:graphic>
      </p:graphicFrame>
      <p:sp>
        <p:nvSpPr>
          <p:cNvPr id="3" name="text-1">
            <a:extLst xmlns:a="http://schemas.openxmlformats.org/drawingml/2006/main">
              <a:ext uri="{FF2B5EF4-FFF2-40B4-BE49-F238E27FC236}">
                <a16:creationId xmlns:a16="http://schemas.microsoft.com/office/drawing/2014/main" id="{0F2F41A2-46AE-4016-A561-4D25476946A6}"/>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STANDARD 26 · Quellfolie 26 · CUR-017</a:t>
            </a:r>
          </a:p>
        </p:txBody>
      </p:sp>
    </p:spTree>
    <p:extLst>
      <p:ext uri="{BB962C8B-B14F-4D97-AF65-F5344CB8AC3E}">
        <p14:creationId xmlns:p14="http://schemas.microsoft.com/office/powerpoint/2010/main" val="1249633747"/>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0">
            <a:extLst xmlns:a="http://schemas.openxmlformats.org/drawingml/2006/main">
              <a:ext uri="{FF2B5EF4-FFF2-40B4-BE49-F238E27FC236}">
                <a16:creationId xmlns:a16="http://schemas.microsoft.com/office/drawing/2014/main" id="{EF31707F-5EC9-4996-95C0-96372E7649A1}"/>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Falsche und fehlende Antworten erkennen</a:t>
            </a:r>
          </a:p>
        </p:txBody>
      </p:sp>
      <p:graphicFrame>
        <p:nvGraphicFramePr>
          <p:cNvPr id="2" name="">
            <a:extLst xmlns:a="http://schemas.openxmlformats.org/drawingml/2006/main">
              <a:ext uri="{FF2B5EF4-FFF2-40B4-BE49-F238E27FC236}">
                <a16:creationId xmlns:a16="http://schemas.microsoft.com/office/drawing/2014/main" id="{DBAA80C7-C026-4EAC-A227-02EAC9B0636C}"/>
              </a:ext>
            </a:extLst>
          </p:cNvPr>
          <p:cNvGraphicFramePr/>
          <p:nvPr/>
        </p:nvGraphicFramePr>
        <p:xfrm>
          <a:off xmlns:a="http://schemas.openxmlformats.org/drawingml/2006/main" x="685800" y="1771650"/>
          <a:ext xmlns:a="http://schemas.openxmlformats.org/drawingml/2006/main" cx="10668000" cy="3143250"/>
        </p:xfrm>
        <a:graphic xmlns:a="http://schemas.openxmlformats.org/drawingml/2006/main">
          <a:graphicData uri="http://schemas.openxmlformats.org/drawingml/2006/table">
            <a:tbl>
              <a:tblPr/>
              <a:tblGrid>
                <a:gridCol w="5334000"/>
                <a:gridCol w="5334000"/>
              </a:tblGrid>
              <a:tr h="785813">
                <a:tc>
                  <a:txBody>
                    <a:bodyPr/>
                    <a:lstStyle/>
                    <a:p>
                      <a:r>
                        <a:rPr sz="1800" b="1">
                          <a:solidFill>
                            <a:srgbClr val="15283D"/>
                          </a:solidFill>
                          <a:latin typeface="Arial"/>
                          <a:ea typeface="Arial"/>
                          <a:cs typeface="Arial"/>
                        </a:rPr>
                        <a:t>Frage oder Antwortentwurf</a:t>
                      </a:r>
                    </a:p>
                  </a:txBody>
                  <a:tcPr marL="114300" marR="114300" marT="47625" marB="47625" anchor="ctr">
                    <a:lnL w="9525">
                      <a:solidFill>
                        <a:srgbClr val="C8D5DE"/>
                      </a:solidFill>
                      <a:prstDash val="solid"/>
                    </a:lnL>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c>
                  <a:txBody>
                    <a:bodyPr/>
                    <a:lstStyle/>
                    <a:p>
                      <a:r>
                        <a:rPr sz="1800" b="1">
                          <a:solidFill>
                            <a:srgbClr val="15283D"/>
                          </a:solidFill>
                          <a:latin typeface="Arial"/>
                          <a:ea typeface="Arial"/>
                          <a:cs typeface="Arial"/>
                        </a:rPr>
                        <a:t>Gemeinsame Entscheidung</a:t>
                      </a:r>
                    </a:p>
                  </a:txBody>
                  <a:tcPr marL="114300" marR="114300" marT="47625" marB="47625" anchor="ctr">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r>
              <a:tr h="785813">
                <a:tc>
                  <a:txBody>
                    <a:bodyPr/>
                    <a:lstStyle/>
                    <a:p>
                      <a:r>
                        <a:rPr sz="1800" b="0">
                          <a:solidFill>
                            <a:srgbClr val="15283D"/>
                          </a:solidFill>
                          <a:latin typeface="Arial"/>
                          <a:ea typeface="Arial"/>
                          <a:cs typeface="Arial"/>
                        </a:rPr>
                        <a:t>MOD_A bewahrt Protokolle 14 Tage auf.</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Falsch zum gelieferten Beleg von sieben Tagen.</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785813">
                <a:tc>
                  <a:txBody>
                    <a:bodyPr/>
                    <a:lstStyle/>
                    <a:p>
                      <a:r>
                        <a:rPr sz="1800" b="0">
                          <a:solidFill>
                            <a:srgbClr val="15283D"/>
                          </a:solidFill>
                          <a:latin typeface="Arial"/>
                          <a:ea typeface="Arial"/>
                          <a:cs typeface="Arial"/>
                        </a:rPr>
                        <a:t>Warum sind es genau sieben Tage?</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Der Grund fehlt in der Quelle. Keine Erklärung erfinden.</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785813">
                <a:tc>
                  <a:txBody>
                    <a:bodyPr/>
                    <a:lstStyle/>
                    <a:p>
                      <a:r>
                        <a:rPr sz="1800" b="0">
                          <a:solidFill>
                            <a:srgbClr val="15283D"/>
                          </a:solidFill>
                          <a:latin typeface="Arial"/>
                          <a:ea typeface="Arial"/>
                          <a:cs typeface="Arial"/>
                        </a:rPr>
                        <a:t>Ohne passende Quelle bleibt die Antwort leer.</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Eine begründete Nichtantwort ist nachvollziehbarer.</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bl>
          </a:graphicData>
        </a:graphic>
      </p:graphicFrame>
      <p:sp>
        <p:nvSpPr>
          <p:cNvPr id="3" name="text-1">
            <a:extLst xmlns:a="http://schemas.openxmlformats.org/drawingml/2006/main">
              <a:ext uri="{FF2B5EF4-FFF2-40B4-BE49-F238E27FC236}">
                <a16:creationId xmlns:a16="http://schemas.microsoft.com/office/drawing/2014/main" id="{A0946EE3-E902-4362-90B7-D494300A0A17}"/>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STANDARD 27 · Quellfolie 27 · CUR-017 / CUR-022</a:t>
            </a:r>
          </a:p>
        </p:txBody>
      </p:sp>
    </p:spTree>
    <p:extLst>
      <p:ext uri="{BB962C8B-B14F-4D97-AF65-F5344CB8AC3E}">
        <p14:creationId xmlns:p14="http://schemas.microsoft.com/office/powerpoint/2010/main" val="778169974"/>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35F32BB6-EF4F-4393-83FD-1AD0B1AF0ECC}"/>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Vorbereitung auf die konkreten Demos</a:t>
            </a:r>
          </a:p>
        </p:txBody>
      </p:sp>
      <p:sp>
        <p:nvSpPr>
          <p:cNvPr id="2" name="text-1">
            <a:extLst xmlns:a="http://schemas.openxmlformats.org/drawingml/2006/main">
              <a:ext uri="{FF2B5EF4-FFF2-40B4-BE49-F238E27FC236}">
                <a16:creationId xmlns:a16="http://schemas.microsoft.com/office/drawing/2014/main" id="{9E5F5E32-9AA6-43F6-8E5F-AC8FE267EAFF}"/>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Zahlen verstehen</a:t>
            </a:r>
          </a:p>
        </p:txBody>
      </p:sp>
      <p:sp>
        <p:nvSpPr>
          <p:cNvPr id="3" name="text-2">
            <a:extLst xmlns:a="http://schemas.openxmlformats.org/drawingml/2006/main">
              <a:ext uri="{FF2B5EF4-FFF2-40B4-BE49-F238E27FC236}">
                <a16:creationId xmlns:a16="http://schemas.microsoft.com/office/drawing/2014/main" id="{7458D49A-8F14-4399-85D8-6ABC93B889FE}"/>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Eine Vektorquery vergleicht Werte. Ihre Distanz beweist noch keine richtige Antwort.</a:t>
            </a:r>
          </a:p>
        </p:txBody>
      </p:sp>
      <p:sp>
        <p:nvSpPr>
          <p:cNvPr id="4" name="text-3">
            <a:extLst xmlns:a="http://schemas.openxmlformats.org/drawingml/2006/main">
              <a:ext uri="{FF2B5EF4-FFF2-40B4-BE49-F238E27FC236}">
                <a16:creationId xmlns:a16="http://schemas.microsoft.com/office/drawing/2014/main" id="{28CF5C12-A951-472F-81E1-BA8E901F7A0A}"/>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Quellen prüfen</a:t>
            </a:r>
          </a:p>
        </p:txBody>
      </p:sp>
      <p:sp>
        <p:nvSpPr>
          <p:cNvPr id="5" name="text-4">
            <a:extLst xmlns:a="http://schemas.openxmlformats.org/drawingml/2006/main">
              <a:ext uri="{FF2B5EF4-FFF2-40B4-BE49-F238E27FC236}">
                <a16:creationId xmlns:a16="http://schemas.microsoft.com/office/drawing/2014/main" id="{E89D568B-961D-48F0-B03A-B02B3178DAA4}"/>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Dokument, Fassung und erlaubter Kontext gehören zum Ergebnis.</a:t>
            </a:r>
          </a:p>
        </p:txBody>
      </p:sp>
      <p:sp>
        <p:nvSpPr>
          <p:cNvPr id="6" name="text-5">
            <a:extLst xmlns:a="http://schemas.openxmlformats.org/drawingml/2006/main">
              <a:ext uri="{FF2B5EF4-FFF2-40B4-BE49-F238E27FC236}">
                <a16:creationId xmlns:a16="http://schemas.microsoft.com/office/drawing/2014/main" id="{51652617-2101-47D2-85BD-1CA3E0FAD108}"/>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Nächster Schritt</a:t>
            </a:r>
          </a:p>
        </p:txBody>
      </p:sp>
      <p:sp>
        <p:nvSpPr>
          <p:cNvPr id="7" name="text-6">
            <a:extLst xmlns:a="http://schemas.openxmlformats.org/drawingml/2006/main">
              <a:ext uri="{FF2B5EF4-FFF2-40B4-BE49-F238E27FC236}">
                <a16:creationId xmlns:a16="http://schemas.microsoft.com/office/drawing/2014/main" id="{E3F266BA-9478-42C8-8E33-463A96A6AA9F}"/>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Wir untersuchen nun Datentypen, Suche, Quellen und Rechte an den vorbereiteten Offline-Demos.</a:t>
            </a:r>
          </a:p>
        </p:txBody>
      </p:sp>
      <p:sp>
        <p:nvSpPr>
          <p:cNvPr id="8" name="text-7">
            <a:extLst xmlns:a="http://schemas.openxmlformats.org/drawingml/2006/main">
              <a:ext uri="{FF2B5EF4-FFF2-40B4-BE49-F238E27FC236}">
                <a16:creationId xmlns:a16="http://schemas.microsoft.com/office/drawing/2014/main" id="{838D368B-DFBC-417A-9FA4-3C34913901D6}"/>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STANDARD 28 · Quellfolie 28 · CUR-013 / CUR-014 / CUR-017 / CUR-018</a:t>
            </a:r>
          </a:p>
        </p:txBody>
      </p:sp>
    </p:spTree>
    <p:extLst>
      <p:ext uri="{BB962C8B-B14F-4D97-AF65-F5344CB8AC3E}">
        <p14:creationId xmlns:p14="http://schemas.microsoft.com/office/powerpoint/2010/main" val="1802947614"/>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FACE62ED-D988-409B-97BC-352841124DE5}"/>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Vektoren und Embeddingräume</a:t>
            </a:r>
          </a:p>
        </p:txBody>
      </p:sp>
      <p:sp>
        <p:nvSpPr>
          <p:cNvPr id="2" name="text-1">
            <a:extLst xmlns:a="http://schemas.openxmlformats.org/drawingml/2006/main">
              <a:ext uri="{FF2B5EF4-FFF2-40B4-BE49-F238E27FC236}">
                <a16:creationId xmlns:a16="http://schemas.microsoft.com/office/drawing/2014/main" id="{ED80351F-538C-4AB1-A04C-F3AF48A18796}"/>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VECTOR(3)</a:t>
            </a:r>
          </a:p>
        </p:txBody>
      </p:sp>
      <p:sp>
        <p:nvSpPr>
          <p:cNvPr id="3" name="text-2">
            <a:extLst xmlns:a="http://schemas.openxmlformats.org/drawingml/2006/main">
              <a:ext uri="{FF2B5EF4-FFF2-40B4-BE49-F238E27FC236}">
                <a16:creationId xmlns:a16="http://schemas.microsoft.com/office/drawing/2014/main" id="{3734035D-C373-4C56-9D0B-8C6E5CFF2526}"/>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Ein Wert enthält drei numerische Komponenten. float32 benötigt ungefähr 4 × d Bytes Nutzdaten.</a:t>
            </a:r>
          </a:p>
        </p:txBody>
      </p:sp>
      <p:sp>
        <p:nvSpPr>
          <p:cNvPr id="4" name="text-3">
            <a:extLst xmlns:a="http://schemas.openxmlformats.org/drawingml/2006/main">
              <a:ext uri="{FF2B5EF4-FFF2-40B4-BE49-F238E27FC236}">
                <a16:creationId xmlns:a16="http://schemas.microsoft.com/office/drawing/2014/main" id="{24A0C03A-3DA2-44FE-A94A-A5AF51D8E50B}"/>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Modellraum</a:t>
            </a:r>
          </a:p>
        </p:txBody>
      </p:sp>
      <p:sp>
        <p:nvSpPr>
          <p:cNvPr id="5" name="text-4">
            <a:extLst xmlns:a="http://schemas.openxmlformats.org/drawingml/2006/main">
              <a:ext uri="{FF2B5EF4-FFF2-40B4-BE49-F238E27FC236}">
                <a16:creationId xmlns:a16="http://schemas.microsoft.com/office/drawing/2014/main" id="{7DB0E808-A187-48CD-9013-13C10233E125}"/>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Gleiche Dimension allein erlaubt keine gemeinsame Suche. Modellversion und Normalisierung gehören zur Provenienz.</a:t>
            </a:r>
          </a:p>
        </p:txBody>
      </p:sp>
      <p:sp>
        <p:nvSpPr>
          <p:cNvPr id="6" name="text-5">
            <a:extLst xmlns:a="http://schemas.openxmlformats.org/drawingml/2006/main">
              <a:ext uri="{FF2B5EF4-FFF2-40B4-BE49-F238E27FC236}">
                <a16:creationId xmlns:a16="http://schemas.microsoft.com/office/drawing/2014/main" id="{C4DE67FD-20BE-41CE-84BD-ABCE6F6DDEF8}"/>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Grenzen</a:t>
            </a:r>
          </a:p>
        </p:txBody>
      </p:sp>
      <p:sp>
        <p:nvSpPr>
          <p:cNvPr id="7" name="text-6">
            <a:extLst xmlns:a="http://schemas.openxmlformats.org/drawingml/2006/main">
              <a:ext uri="{FF2B5EF4-FFF2-40B4-BE49-F238E27FC236}">
                <a16:creationId xmlns:a16="http://schemas.microsoft.com/office/drawing/2014/main" id="{470AC099-4108-4819-943C-9358E234405D}"/>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float32: 1 bis 1998 Dimensionen. float16: 1 bis 3996 Dimensionen, Preview im SQL-Server-Pfad.</a:t>
            </a:r>
          </a:p>
        </p:txBody>
      </p:sp>
      <p:sp>
        <p:nvSpPr>
          <p:cNvPr id="8" name="text-7">
            <a:extLst xmlns:a="http://schemas.openxmlformats.org/drawingml/2006/main">
              <a:ext uri="{FF2B5EF4-FFF2-40B4-BE49-F238E27FC236}">
                <a16:creationId xmlns:a16="http://schemas.microsoft.com/office/drawing/2014/main" id="{30C8A06B-CC6D-445A-8689-43A4EB56144C}"/>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STANDARD 29 · Quellfolie 34 · CUR-013 / CUR-014</a:t>
            </a:r>
          </a:p>
        </p:txBody>
      </p:sp>
    </p:spTree>
    <p:extLst>
      <p:ext uri="{BB962C8B-B14F-4D97-AF65-F5344CB8AC3E}">
        <p14:creationId xmlns:p14="http://schemas.microsoft.com/office/powerpoint/2010/main" val="316148143"/>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6CEB814C-ED87-45F8-BA76-23B093624760}"/>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QRY-014: Typ und Modellraum</a:t>
            </a:r>
          </a:p>
        </p:txBody>
      </p:sp>
      <p:sp>
        <p:nvSpPr>
          <p:cNvPr id="2" name="text-1">
            <a:extLst xmlns:a="http://schemas.openxmlformats.org/drawingml/2006/main">
              <a:ext uri="{FF2B5EF4-FFF2-40B4-BE49-F238E27FC236}">
                <a16:creationId xmlns:a16="http://schemas.microsoft.com/office/drawing/2014/main" id="{F03E19AA-A0E5-4B44-AC51-65F8508D4685}"/>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Vorhersage</a:t>
            </a:r>
          </a:p>
        </p:txBody>
      </p:sp>
      <p:sp>
        <p:nvSpPr>
          <p:cNvPr id="3" name="text-2">
            <a:extLst xmlns:a="http://schemas.openxmlformats.org/drawingml/2006/main">
              <a:ext uri="{FF2B5EF4-FFF2-40B4-BE49-F238E27FC236}">
                <a16:creationId xmlns:a16="http://schemas.microsoft.com/office/drawing/2014/main" id="{EFC35314-E221-4621-84D6-D96CA2C30CA3}"/>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Dürfen GEOMETRY_V1 und GEOMETRY_V2 allein wegen VECTOR(3) gemeinsam gesucht werden?</a:t>
            </a:r>
          </a:p>
        </p:txBody>
      </p:sp>
      <p:sp>
        <p:nvSpPr>
          <p:cNvPr id="4" name="text-3">
            <a:extLst xmlns:a="http://schemas.openxmlformats.org/drawingml/2006/main">
              <a:ext uri="{FF2B5EF4-FFF2-40B4-BE49-F238E27FC236}">
                <a16:creationId xmlns:a16="http://schemas.microsoft.com/office/drawing/2014/main" id="{13F49761-DDBF-4F2E-8E5E-64C8AAA0EE8C}"/>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Beobachtung</a:t>
            </a:r>
          </a:p>
        </p:txBody>
      </p:sp>
      <p:sp>
        <p:nvSpPr>
          <p:cNvPr id="5" name="text-4">
            <a:extLst xmlns:a="http://schemas.openxmlformats.org/drawingml/2006/main">
              <a:ext uri="{FF2B5EF4-FFF2-40B4-BE49-F238E27FC236}">
                <a16:creationId xmlns:a16="http://schemas.microsoft.com/office/drawing/2014/main" id="{A5051E6F-CC65-4CBF-80DA-FAD649CB506C}"/>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Fünf Rows, Dimensionszahl und BaseType lesen. Falsche Dimension und ungültiges JSON unterscheiden.</a:t>
            </a:r>
          </a:p>
        </p:txBody>
      </p:sp>
      <p:sp>
        <p:nvSpPr>
          <p:cNvPr id="6" name="text-5">
            <a:extLst xmlns:a="http://schemas.openxmlformats.org/drawingml/2006/main">
              <a:ext uri="{FF2B5EF4-FFF2-40B4-BE49-F238E27FC236}">
                <a16:creationId xmlns:a16="http://schemas.microsoft.com/office/drawing/2014/main" id="{00319CB8-107A-44F4-A547-631D85B9C465}"/>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Erklärung</a:t>
            </a:r>
          </a:p>
        </p:txBody>
      </p:sp>
      <p:sp>
        <p:nvSpPr>
          <p:cNvPr id="7" name="text-6">
            <a:extLst xmlns:a="http://schemas.openxmlformats.org/drawingml/2006/main">
              <a:ext uri="{FF2B5EF4-FFF2-40B4-BE49-F238E27FC236}">
                <a16:creationId xmlns:a16="http://schemas.microsoft.com/office/drawing/2014/main" id="{B2E54BE0-C71F-4BBB-B18C-7DA30A966552}"/>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Der SQL-Typ prüft die technische Form. Die Anwendung muss den passenden Modellraum sicherstellen.</a:t>
            </a:r>
          </a:p>
        </p:txBody>
      </p:sp>
      <p:sp>
        <p:nvSpPr>
          <p:cNvPr id="8" name="text-7">
            <a:extLst xmlns:a="http://schemas.openxmlformats.org/drawingml/2006/main">
              <a:ext uri="{FF2B5EF4-FFF2-40B4-BE49-F238E27FC236}">
                <a16:creationId xmlns:a16="http://schemas.microsoft.com/office/drawing/2014/main" id="{F210C90F-013A-4D92-9A5F-56920EAB3DD4}"/>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vl1pPr>
              <a:defRPr sz="1800" b="0">
                <a:solidFill>
                  <a:srgbClr val="52647A"/>
                </a:solidFill>
                <a:latin typeface="Arial"/>
                <a:ea typeface="Arial"/>
                <a:cs typeface="Arial"/>
              </a:defRPr>
            </a:lvl1pPr>
            <a:lvl2pPr>
              <a:defRPr sz="1800" b="0">
                <a:solidFill>
                  <a:srgbClr val="52647A"/>
                </a:solidFill>
                <a:latin typeface="Arial"/>
                <a:ea typeface="Arial"/>
                <a:cs typeface="Arial"/>
              </a:defRPr>
            </a:lvl2pPr>
            <a:lvl3pPr>
              <a:defRPr sz="1800" b="0">
                <a:solidFill>
                  <a:srgbClr val="52647A"/>
                </a:solidFill>
                <a:latin typeface="Arial"/>
                <a:ea typeface="Arial"/>
                <a:cs typeface="Arial"/>
              </a:defRPr>
            </a:lvl3pPr>
            <a:lvl4pPr>
              <a:defRPr sz="1800" b="0">
                <a:solidFill>
                  <a:srgbClr val="52647A"/>
                </a:solidFill>
                <a:latin typeface="Arial"/>
                <a:ea typeface="Arial"/>
                <a:cs typeface="Arial"/>
              </a:defRPr>
            </a:lvl4pPr>
            <a:lvl5pPr>
              <a:defRPr sz="1800" b="0">
                <a:solidFill>
                  <a:srgbClr val="52647A"/>
                </a:solidFill>
                <a:latin typeface="Arial"/>
                <a:ea typeface="Arial"/>
                <a:cs typeface="Arial"/>
              </a:defRPr>
            </a:lvl5pPr>
            <a:lvl6pPr>
              <a:defRPr sz="1800" b="0">
                <a:solidFill>
                  <a:srgbClr val="52647A"/>
                </a:solidFill>
                <a:latin typeface="Arial"/>
                <a:ea typeface="Arial"/>
                <a:cs typeface="Arial"/>
              </a:defRPr>
            </a:lvl6pPr>
            <a:lvl7pPr>
              <a:defRPr sz="1800" b="0">
                <a:solidFill>
                  <a:srgbClr val="52647A"/>
                </a:solidFill>
                <a:latin typeface="Arial"/>
                <a:ea typeface="Arial"/>
                <a:cs typeface="Arial"/>
              </a:defRPr>
            </a:lvl7pPr>
            <a:lvl8pPr>
              <a:defRPr sz="1800" b="0">
                <a:solidFill>
                  <a:srgbClr val="52647A"/>
                </a:solidFill>
                <a:latin typeface="Arial"/>
                <a:ea typeface="Arial"/>
                <a:cs typeface="Arial"/>
              </a:defRPr>
            </a:lvl8pPr>
            <a:lvl9pPr>
              <a:defRPr sz="1800" b="0">
                <a:solidFill>
                  <a:srgbClr val="52647A"/>
                </a:solidFill>
                <a:latin typeface="Arial"/>
                <a:ea typeface="Arial"/>
                <a:cs typeface="Arial"/>
              </a:defRPr>
            </a:lvl9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IMPLEMENTED. Offline, GREEN, eine Session, Engine 17.x und CL 170.</a:t>
            </a:r>
          </a:p>
        </p:txBody>
      </p:sp>
      <p:sp>
        <p:nvSpPr>
          <p:cNvPr id="9" name="text-8">
            <a:extLst xmlns:a="http://schemas.openxmlformats.org/drawingml/2006/main">
              <a:ext uri="{FF2B5EF4-FFF2-40B4-BE49-F238E27FC236}">
                <a16:creationId xmlns:a16="http://schemas.microsoft.com/office/drawing/2014/main" id="{6C1DE2C9-6995-446B-B4D8-78970F3B5204}"/>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STANDARD 30 · Quellfolie 35 · CUR-014</a:t>
            </a:r>
          </a:p>
        </p:txBody>
      </p:sp>
    </p:spTree>
    <p:extLst>
      <p:ext uri="{BB962C8B-B14F-4D97-AF65-F5344CB8AC3E}">
        <p14:creationId xmlns:p14="http://schemas.microsoft.com/office/powerpoint/2010/main" val="1973713943"/>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E153FF65-0274-4C66-998E-02D3D9F66A3D}"/>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Distanz, Norm und Normalisierung</a:t>
            </a:r>
          </a:p>
        </p:txBody>
      </p:sp>
      <p:graphicFrame>
        <p:nvGraphicFramePr>
          <p:cNvPr id="2" name="">
            <a:extLst xmlns:a="http://schemas.openxmlformats.org/drawingml/2006/main">
              <a:ext uri="{FF2B5EF4-FFF2-40B4-BE49-F238E27FC236}">
                <a16:creationId xmlns:a16="http://schemas.microsoft.com/office/drawing/2014/main" id="{2F52AC71-0ABB-4A73-885A-606E809B2D14}"/>
              </a:ext>
            </a:extLst>
          </p:cNvPr>
          <p:cNvGraphicFramePr/>
          <p:nvPr/>
        </p:nvGraphicFramePr>
        <p:xfrm>
          <a:off xmlns:a="http://schemas.openxmlformats.org/drawingml/2006/main" x="685800" y="1771650"/>
          <a:ext xmlns:a="http://schemas.openxmlformats.org/drawingml/2006/main" cx="10668000" cy="4000500"/>
        </p:xfrm>
        <a:graphic xmlns:a="http://schemas.openxmlformats.org/drawingml/2006/main">
          <a:graphicData uri="http://schemas.openxmlformats.org/drawingml/2006/table">
            <a:tbl>
              <a:tblPr/>
              <a:tblGrid>
                <a:gridCol w="2952750"/>
                <a:gridCol w="4572000"/>
                <a:gridCol w="3143250"/>
              </a:tblGrid>
              <a:tr h="800100">
                <a:tc>
                  <a:txBody>
                    <a:bodyPr/>
                    <a:lstStyle/>
                    <a:p>
                      <a:r>
                        <a:rPr sz="1800" b="1">
                          <a:solidFill>
                            <a:srgbClr val="15283D"/>
                          </a:solidFill>
                          <a:latin typeface="Arial"/>
                          <a:ea typeface="Arial"/>
                          <a:cs typeface="Arial"/>
                        </a:rPr>
                        <a:t>Größe</a:t>
                      </a:r>
                    </a:p>
                  </a:txBody>
                  <a:tcPr marL="114300" marR="114300" marT="47625" marB="47625" anchor="ctr">
                    <a:lnL w="9525">
                      <a:solidFill>
                        <a:srgbClr val="C8D5DE"/>
                      </a:solidFill>
                      <a:prstDash val="solid"/>
                    </a:lnL>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c>
                  <a:txBody>
                    <a:bodyPr/>
                    <a:lstStyle/>
                    <a:p>
                      <a:r>
                        <a:rPr sz="1800" b="1">
                          <a:solidFill>
                            <a:srgbClr val="15283D"/>
                          </a:solidFill>
                          <a:latin typeface="Arial"/>
                          <a:ea typeface="Arial"/>
                          <a:cs typeface="Arial"/>
                        </a:rPr>
                        <a:t>Bedeutung</a:t>
                      </a:r>
                    </a:p>
                  </a:txBody>
                  <a:tcPr marL="114300" marR="114300" marT="47625" marB="47625" anchor="ctr">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c>
                  <a:txBody>
                    <a:bodyPr/>
                    <a:lstStyle/>
                    <a:p>
                      <a:r>
                        <a:rPr sz="1800" b="1">
                          <a:solidFill>
                            <a:srgbClr val="15283D"/>
                          </a:solidFill>
                          <a:latin typeface="Arial"/>
                          <a:ea typeface="Arial"/>
                          <a:cs typeface="Arial"/>
                        </a:rPr>
                        <a:t>Beispiel [3,4,0]</a:t>
                      </a:r>
                    </a:p>
                  </a:txBody>
                  <a:tcPr marL="114300" marR="114300" marT="47625" marB="47625" anchor="ctr">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r>
              <a:tr h="800100">
                <a:tc>
                  <a:txBody>
                    <a:bodyPr/>
                    <a:lstStyle/>
                    <a:p>
                      <a:r>
                        <a:rPr sz="1800" b="0">
                          <a:solidFill>
                            <a:srgbClr val="15283D"/>
                          </a:solidFill>
                          <a:latin typeface="Arial"/>
                          <a:ea typeface="Arial"/>
                          <a:cs typeface="Arial"/>
                        </a:rPr>
                        <a:t>Euclidean-Distanz</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Abstand zweier Punkte</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Selbstdistanz 0</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800100">
                <a:tc>
                  <a:txBody>
                    <a:bodyPr/>
                    <a:lstStyle/>
                    <a:p>
                      <a:r>
                        <a:rPr sz="1800" b="0">
                          <a:solidFill>
                            <a:srgbClr val="15283D"/>
                          </a:solidFill>
                          <a:latin typeface="Arial"/>
                          <a:ea typeface="Arial"/>
                          <a:cs typeface="Arial"/>
                        </a:rPr>
                        <a:t>Cosine-Distanz</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Richtung relativ zur Norm</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Selbstdistanz 0 für diesen Nichtnullvektor</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800100">
                <a:tc>
                  <a:txBody>
                    <a:bodyPr/>
                    <a:lstStyle/>
                    <a:p>
                      <a:r>
                        <a:rPr sz="1800" b="0">
                          <a:solidFill>
                            <a:srgbClr val="15283D"/>
                          </a:solidFill>
                          <a:latin typeface="Arial"/>
                          <a:ea typeface="Arial"/>
                          <a:cs typeface="Arial"/>
                        </a:rPr>
                        <a:t>Negatives Dot Product</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Richtung und Magnitude</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Self-Dot-Distanz −25</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800100">
                <a:tc>
                  <a:txBody>
                    <a:bodyPr/>
                    <a:lstStyle/>
                    <a:p>
                      <a:r>
                        <a:rPr sz="1800" b="0">
                          <a:solidFill>
                            <a:srgbClr val="15283D"/>
                          </a:solidFill>
                          <a:latin typeface="Arial"/>
                          <a:ea typeface="Arial"/>
                          <a:cs typeface="Arial"/>
                        </a:rPr>
                        <a:t>norm1 / norm2 / norminf</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Summe / Länge / größter Betrag</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7 / 5 / 4</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bl>
          </a:graphicData>
        </a:graphic>
      </p:graphicFrame>
      <p:sp>
        <p:nvSpPr>
          <p:cNvPr id="3" name="text-1">
            <a:extLst xmlns:a="http://schemas.openxmlformats.org/drawingml/2006/main">
              <a:ext uri="{FF2B5EF4-FFF2-40B4-BE49-F238E27FC236}">
                <a16:creationId xmlns:a16="http://schemas.microsoft.com/office/drawing/2014/main" id="{F23C6510-4515-4A53-A4BD-10D4D7C15C88}"/>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vl1pPr>
              <a:defRPr sz="1800" b="0">
                <a:solidFill>
                  <a:srgbClr val="52647A"/>
                </a:solidFill>
                <a:latin typeface="Arial"/>
                <a:ea typeface="Arial"/>
                <a:cs typeface="Arial"/>
              </a:defRPr>
            </a:lvl1pPr>
            <a:lvl2pPr>
              <a:defRPr sz="1800" b="0">
                <a:solidFill>
                  <a:srgbClr val="52647A"/>
                </a:solidFill>
                <a:latin typeface="Arial"/>
                <a:ea typeface="Arial"/>
                <a:cs typeface="Arial"/>
              </a:defRPr>
            </a:lvl2pPr>
            <a:lvl3pPr>
              <a:defRPr sz="1800" b="0">
                <a:solidFill>
                  <a:srgbClr val="52647A"/>
                </a:solidFill>
                <a:latin typeface="Arial"/>
                <a:ea typeface="Arial"/>
                <a:cs typeface="Arial"/>
              </a:defRPr>
            </a:lvl3pPr>
            <a:lvl4pPr>
              <a:defRPr sz="1800" b="0">
                <a:solidFill>
                  <a:srgbClr val="52647A"/>
                </a:solidFill>
                <a:latin typeface="Arial"/>
                <a:ea typeface="Arial"/>
                <a:cs typeface="Arial"/>
              </a:defRPr>
            </a:lvl4pPr>
            <a:lvl5pPr>
              <a:defRPr sz="1800" b="0">
                <a:solidFill>
                  <a:srgbClr val="52647A"/>
                </a:solidFill>
                <a:latin typeface="Arial"/>
                <a:ea typeface="Arial"/>
                <a:cs typeface="Arial"/>
              </a:defRPr>
            </a:lvl5pPr>
            <a:lvl6pPr>
              <a:defRPr sz="1800" b="0">
                <a:solidFill>
                  <a:srgbClr val="52647A"/>
                </a:solidFill>
                <a:latin typeface="Arial"/>
                <a:ea typeface="Arial"/>
                <a:cs typeface="Arial"/>
              </a:defRPr>
            </a:lvl6pPr>
            <a:lvl7pPr>
              <a:defRPr sz="1800" b="0">
                <a:solidFill>
                  <a:srgbClr val="52647A"/>
                </a:solidFill>
                <a:latin typeface="Arial"/>
                <a:ea typeface="Arial"/>
                <a:cs typeface="Arial"/>
              </a:defRPr>
            </a:lvl7pPr>
            <a:lvl8pPr>
              <a:defRPr sz="1800" b="0">
                <a:solidFill>
                  <a:srgbClr val="52647A"/>
                </a:solidFill>
                <a:latin typeface="Arial"/>
                <a:ea typeface="Arial"/>
                <a:cs typeface="Arial"/>
              </a:defRPr>
            </a:lvl8pPr>
            <a:lvl9pPr>
              <a:defRPr sz="1800" b="0">
                <a:solidFill>
                  <a:srgbClr val="52647A"/>
                </a:solidFill>
                <a:latin typeface="Arial"/>
                <a:ea typeface="Arial"/>
                <a:cs typeface="Arial"/>
              </a:defRPr>
            </a:lvl9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Kleinere Distanz bedeutet Nähe im gewählten Raum. Sie ist keine Antwortwahrscheinlichkeit.</a:t>
            </a:r>
          </a:p>
        </p:txBody>
      </p:sp>
      <p:sp>
        <p:nvSpPr>
          <p:cNvPr id="4" name="text-2">
            <a:extLst xmlns:a="http://schemas.openxmlformats.org/drawingml/2006/main">
              <a:ext uri="{FF2B5EF4-FFF2-40B4-BE49-F238E27FC236}">
                <a16:creationId xmlns:a16="http://schemas.microsoft.com/office/drawing/2014/main" id="{62D14B21-A454-4BD7-BFE7-8D18C44A8FD1}"/>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STANDARD 31 · Quellfolie 36 · CUR-014</a:t>
            </a:r>
          </a:p>
        </p:txBody>
      </p:sp>
    </p:spTree>
    <p:extLst>
      <p:ext uri="{BB962C8B-B14F-4D97-AF65-F5344CB8AC3E}">
        <p14:creationId xmlns:p14="http://schemas.microsoft.com/office/powerpoint/2010/main" val="579420299"/>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54C0716D-F10E-4B9B-9E68-255452432D28}"/>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QRY-015: Rangfolge vor und nach Normalisierung</a:t>
            </a:r>
          </a:p>
        </p:txBody>
      </p:sp>
      <p:sp>
        <p:nvSpPr>
          <p:cNvPr id="2" name="text-1">
            <a:extLst xmlns:a="http://schemas.openxmlformats.org/drawingml/2006/main">
              <a:ext uri="{FF2B5EF4-FFF2-40B4-BE49-F238E27FC236}">
                <a16:creationId xmlns:a16="http://schemas.microsoft.com/office/drawing/2014/main" id="{2CAC9E31-1E72-498F-BDAB-AF489A6FF7C0}"/>
              </a:ext>
            </a:extLst>
          </p:cNvPr>
          <p:cNvSpPr>
            <a:spLocks xmlns:a="http://schemas.openxmlformats.org/drawingml/2006/main" noGrp="1"/>
          </p:cNvSpPr>
          <p:nvPr/>
        </p:nvSpPr>
        <p:spPr>
          <a:xfrm xmlns:a="http://schemas.openxmlformats.org/drawingml/2006/main">
            <a:off x="685800" y="1771650"/>
            <a:ext cx="108204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007A83"/>
                </a:solidFill>
                <a:latin typeface="Arial"/>
                <a:ea typeface="Arial"/>
                <a:cs typeface="Arial"/>
              </a:defRPr>
            </a:defPPr>
            <a:lvl1pPr>
              <a:defRPr sz="2100" b="0">
                <a:solidFill>
                  <a:srgbClr val="007A83"/>
                </a:solidFill>
                <a:latin typeface="Arial"/>
                <a:ea typeface="Arial"/>
                <a:cs typeface="Arial"/>
              </a:defRPr>
            </a:lvl1pPr>
            <a:lvl2pPr>
              <a:defRPr sz="2100" b="0">
                <a:solidFill>
                  <a:srgbClr val="007A83"/>
                </a:solidFill>
                <a:latin typeface="Arial"/>
                <a:ea typeface="Arial"/>
                <a:cs typeface="Arial"/>
              </a:defRPr>
            </a:lvl2pPr>
            <a:lvl3pPr>
              <a:defRPr sz="2100" b="0">
                <a:solidFill>
                  <a:srgbClr val="007A83"/>
                </a:solidFill>
                <a:latin typeface="Arial"/>
                <a:ea typeface="Arial"/>
                <a:cs typeface="Arial"/>
              </a:defRPr>
            </a:lvl3pPr>
            <a:lvl4pPr>
              <a:defRPr sz="2100" b="0">
                <a:solidFill>
                  <a:srgbClr val="007A83"/>
                </a:solidFill>
                <a:latin typeface="Arial"/>
                <a:ea typeface="Arial"/>
                <a:cs typeface="Arial"/>
              </a:defRPr>
            </a:lvl4pPr>
            <a:lvl5pPr>
              <a:defRPr sz="2100" b="0">
                <a:solidFill>
                  <a:srgbClr val="007A83"/>
                </a:solidFill>
                <a:latin typeface="Arial"/>
                <a:ea typeface="Arial"/>
                <a:cs typeface="Arial"/>
              </a:defRPr>
            </a:lvl5pPr>
            <a:lvl6pPr>
              <a:defRPr sz="2100" b="0">
                <a:solidFill>
                  <a:srgbClr val="007A83"/>
                </a:solidFill>
                <a:latin typeface="Arial"/>
                <a:ea typeface="Arial"/>
                <a:cs typeface="Arial"/>
              </a:defRPr>
            </a:lvl6pPr>
            <a:lvl7pPr>
              <a:defRPr sz="2100" b="0">
                <a:solidFill>
                  <a:srgbClr val="007A83"/>
                </a:solidFill>
                <a:latin typeface="Arial"/>
                <a:ea typeface="Arial"/>
                <a:cs typeface="Arial"/>
              </a:defRPr>
            </a:lvl7pPr>
            <a:lvl8pPr>
              <a:defRPr sz="2100" b="0">
                <a:solidFill>
                  <a:srgbClr val="007A83"/>
                </a:solidFill>
                <a:latin typeface="Arial"/>
                <a:ea typeface="Arial"/>
                <a:cs typeface="Arial"/>
              </a:defRPr>
            </a:lvl8pPr>
            <a:lvl9pPr>
              <a:defRPr sz="2100" b="0">
                <a:solidFill>
                  <a:srgbClr val="007A83"/>
                </a:solidFill>
                <a:latin typeface="Arial"/>
                <a:ea typeface="Arial"/>
                <a:cs typeface="Arial"/>
              </a:defRPr>
            </a:lvl9pPr>
          </a:lstStyle>
          <a:p xmlns:a="http://schemas.openxmlformats.org/drawingml/2006/main">
            <a:pPr>
              <a:defRPr sz="2100" b="0">
                <a:solidFill>
                  <a:srgbClr val="007A83"/>
                </a:solidFill>
                <a:latin typeface="Arial"/>
                <a:ea typeface="Arial"/>
                <a:cs typeface="Arial"/>
              </a:defRPr>
            </a:pPr>
            <a:r>
              <a:rPr sz="2100" b="0">
                <a:solidFill>
                  <a:srgbClr val="007A83"/>
                </a:solidFill>
                <a:latin typeface="Arial"/>
                <a:ea typeface="Arial"/>
                <a:cs typeface="Arial"/>
              </a:rPr>
              <a:t>DECLARE @q VECTOR(3) = '[1,0,0]';</a:t>
            </a:r>
          </a:p>
          <a:p xmlns:a="http://schemas.openxmlformats.org/drawingml/2006/main">
            <a:pPr>
              <a:defRPr sz="2100" b="0">
                <a:solidFill>
                  <a:srgbClr val="007A83"/>
                </a:solidFill>
                <a:latin typeface="Arial"/>
                <a:ea typeface="Arial"/>
                <a:cs typeface="Arial"/>
              </a:defRPr>
            </a:pPr>
            <a:r>
              <a:rPr sz="2100" b="0">
                <a:solidFill>
                  <a:srgbClr val="007A83"/>
                </a:solidFill>
                <a:latin typeface="Arial"/>
                <a:ea typeface="Arial"/>
                <a:cs typeface="Arial"/>
              </a:rPr>
              <a:t>SELECT Id, VECTOR_DISTANCE('dot', V, @q) AS Distance</a:t>
            </a:r>
          </a:p>
          <a:p xmlns:a="http://schemas.openxmlformats.org/drawingml/2006/main">
            <a:pPr>
              <a:defRPr sz="2100" b="0">
                <a:solidFill>
                  <a:srgbClr val="007A83"/>
                </a:solidFill>
                <a:latin typeface="Arial"/>
                <a:ea typeface="Arial"/>
                <a:cs typeface="Arial"/>
              </a:defRPr>
            </a:pPr>
            <a:r>
              <a:rPr sz="2100" b="0">
                <a:solidFill>
                  <a:srgbClr val="007A83"/>
                </a:solidFill>
                <a:latin typeface="Arial"/>
                <a:ea typeface="Arial"/>
                <a:cs typeface="Arial"/>
              </a:rPr>
              <a:t>FROM lab.VectorFixture</a:t>
            </a:r>
          </a:p>
          <a:p xmlns:a="http://schemas.openxmlformats.org/drawingml/2006/main">
            <a:pPr>
              <a:defRPr sz="2100" b="0">
                <a:solidFill>
                  <a:srgbClr val="007A83"/>
                </a:solidFill>
                <a:latin typeface="Arial"/>
                <a:ea typeface="Arial"/>
                <a:cs typeface="Arial"/>
              </a:defRPr>
            </a:pPr>
            <a:r>
              <a:rPr sz="2100" b="0">
                <a:solidFill>
                  <a:srgbClr val="007A83"/>
                </a:solidFill>
                <a:latin typeface="Arial"/>
                <a:ea typeface="Arial"/>
                <a:cs typeface="Arial"/>
              </a:rPr>
              <a:t>ORDER BY Distance, Id;</a:t>
            </a:r>
          </a:p>
        </p:txBody>
      </p:sp>
      <p:sp>
        <p:nvSpPr>
          <p:cNvPr id="3" name="text-2">
            <a:extLst xmlns:a="http://schemas.openxmlformats.org/drawingml/2006/main">
              <a:ext uri="{FF2B5EF4-FFF2-40B4-BE49-F238E27FC236}">
                <a16:creationId xmlns:a16="http://schemas.microsoft.com/office/drawing/2014/main" id="{C9B5B99A-3CB5-4426-9BD2-B151B3D77CC5}"/>
              </a:ext>
            </a:extLst>
          </p:cNvPr>
          <p:cNvSpPr>
            <a:spLocks xmlns:a="http://schemas.openxmlformats.org/drawingml/2006/main" noGrp="1"/>
          </p:cNvSpPr>
          <p:nvPr/>
        </p:nvSpPr>
        <p:spPr>
          <a:xfrm xmlns:a="http://schemas.openxmlformats.org/drawingml/2006/main">
            <a:off x="685800" y="3724275"/>
            <a:ext cx="2333625" cy="976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Vorhersage</a:t>
            </a:r>
          </a:p>
        </p:txBody>
      </p:sp>
      <p:sp>
        <p:nvSpPr>
          <p:cNvPr id="4" name="text-3">
            <a:extLst xmlns:a="http://schemas.openxmlformats.org/drawingml/2006/main">
              <a:ext uri="{FF2B5EF4-FFF2-40B4-BE49-F238E27FC236}">
                <a16:creationId xmlns:a16="http://schemas.microsoft.com/office/drawing/2014/main" id="{D6BD07F1-7956-4860-95E2-94FF0861B10A}"/>
              </a:ext>
            </a:extLst>
          </p:cNvPr>
          <p:cNvSpPr>
            <a:spLocks xmlns:a="http://schemas.openxmlformats.org/drawingml/2006/main" noGrp="1"/>
          </p:cNvSpPr>
          <p:nvPr/>
        </p:nvSpPr>
        <p:spPr>
          <a:xfrm xmlns:a="http://schemas.openxmlformats.org/drawingml/2006/main">
            <a:off x="3190875" y="3724275"/>
            <a:ext cx="8239125" cy="976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Euclidean und rohe Dot-Distanz können verschiedene Ersttreffer liefern.</a:t>
            </a:r>
          </a:p>
        </p:txBody>
      </p:sp>
      <p:sp>
        <p:nvSpPr>
          <p:cNvPr id="5" name="text-4">
            <a:extLst xmlns:a="http://schemas.openxmlformats.org/drawingml/2006/main">
              <a:ext uri="{FF2B5EF4-FFF2-40B4-BE49-F238E27FC236}">
                <a16:creationId xmlns:a16="http://schemas.microsoft.com/office/drawing/2014/main" id="{624F0E30-F285-4633-8B67-ECF2682843BC}"/>
              </a:ext>
            </a:extLst>
          </p:cNvPr>
          <p:cNvSpPr>
            <a:spLocks xmlns:a="http://schemas.openxmlformats.org/drawingml/2006/main" noGrp="1"/>
          </p:cNvSpPr>
          <p:nvPr/>
        </p:nvSpPr>
        <p:spPr>
          <a:xfrm xmlns:a="http://schemas.openxmlformats.org/drawingml/2006/main">
            <a:off x="685800" y="4795838"/>
            <a:ext cx="2333625" cy="976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Beobachtung</a:t>
            </a:r>
          </a:p>
        </p:txBody>
      </p:sp>
      <p:sp>
        <p:nvSpPr>
          <p:cNvPr id="6" name="text-5">
            <a:extLst xmlns:a="http://schemas.openxmlformats.org/drawingml/2006/main">
              <a:ext uri="{FF2B5EF4-FFF2-40B4-BE49-F238E27FC236}">
                <a16:creationId xmlns:a16="http://schemas.microsoft.com/office/drawing/2014/main" id="{E4A56859-2A40-4A42-9CCA-74E20D92F8C3}"/>
              </a:ext>
            </a:extLst>
          </p:cNvPr>
          <p:cNvSpPr>
            <a:spLocks xmlns:a="http://schemas.openxmlformats.org/drawingml/2006/main" noGrp="1"/>
          </p:cNvSpPr>
          <p:nvPr/>
        </p:nvSpPr>
        <p:spPr>
          <a:xfrm xmlns:a="http://schemas.openxmlformats.org/drawingml/2006/main">
            <a:off x="3190875" y="4795838"/>
            <a:ext cx="8239125" cy="976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Die rohe Dot-Suche liefert im Fixture Id 2. Nach norm2-Normalisierung die Rangfolge erneut erklären.</a:t>
            </a:r>
          </a:p>
        </p:txBody>
      </p:sp>
      <p:sp>
        <p:nvSpPr>
          <p:cNvPr id="7" name="text-6">
            <a:extLst xmlns:a="http://schemas.openxmlformats.org/drawingml/2006/main">
              <a:ext uri="{FF2B5EF4-FFF2-40B4-BE49-F238E27FC236}">
                <a16:creationId xmlns:a16="http://schemas.microsoft.com/office/drawing/2014/main" id="{3951A83A-B490-4667-B44A-723D4AAC4075}"/>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vl1pPr>
              <a:defRPr sz="1800" b="0">
                <a:solidFill>
                  <a:srgbClr val="52647A"/>
                </a:solidFill>
                <a:latin typeface="Arial"/>
                <a:ea typeface="Arial"/>
                <a:cs typeface="Arial"/>
              </a:defRPr>
            </a:lvl1pPr>
            <a:lvl2pPr>
              <a:defRPr sz="1800" b="0">
                <a:solidFill>
                  <a:srgbClr val="52647A"/>
                </a:solidFill>
                <a:latin typeface="Arial"/>
                <a:ea typeface="Arial"/>
                <a:cs typeface="Arial"/>
              </a:defRPr>
            </a:lvl2pPr>
            <a:lvl3pPr>
              <a:defRPr sz="1800" b="0">
                <a:solidFill>
                  <a:srgbClr val="52647A"/>
                </a:solidFill>
                <a:latin typeface="Arial"/>
                <a:ea typeface="Arial"/>
                <a:cs typeface="Arial"/>
              </a:defRPr>
            </a:lvl3pPr>
            <a:lvl4pPr>
              <a:defRPr sz="1800" b="0">
                <a:solidFill>
                  <a:srgbClr val="52647A"/>
                </a:solidFill>
                <a:latin typeface="Arial"/>
                <a:ea typeface="Arial"/>
                <a:cs typeface="Arial"/>
              </a:defRPr>
            </a:lvl4pPr>
            <a:lvl5pPr>
              <a:defRPr sz="1800" b="0">
                <a:solidFill>
                  <a:srgbClr val="52647A"/>
                </a:solidFill>
                <a:latin typeface="Arial"/>
                <a:ea typeface="Arial"/>
                <a:cs typeface="Arial"/>
              </a:defRPr>
            </a:lvl5pPr>
            <a:lvl6pPr>
              <a:defRPr sz="1800" b="0">
                <a:solidFill>
                  <a:srgbClr val="52647A"/>
                </a:solidFill>
                <a:latin typeface="Arial"/>
                <a:ea typeface="Arial"/>
                <a:cs typeface="Arial"/>
              </a:defRPr>
            </a:lvl6pPr>
            <a:lvl7pPr>
              <a:defRPr sz="1800" b="0">
                <a:solidFill>
                  <a:srgbClr val="52647A"/>
                </a:solidFill>
                <a:latin typeface="Arial"/>
                <a:ea typeface="Arial"/>
                <a:cs typeface="Arial"/>
              </a:defRPr>
            </a:lvl7pPr>
            <a:lvl8pPr>
              <a:defRPr sz="1800" b="0">
                <a:solidFill>
                  <a:srgbClr val="52647A"/>
                </a:solidFill>
                <a:latin typeface="Arial"/>
                <a:ea typeface="Arial"/>
                <a:cs typeface="Arial"/>
              </a:defRPr>
            </a:lvl8pPr>
            <a:lvl9pPr>
              <a:defRPr sz="1800" b="0">
                <a:solidFill>
                  <a:srgbClr val="52647A"/>
                </a:solidFill>
                <a:latin typeface="Arial"/>
                <a:ea typeface="Arial"/>
                <a:cs typeface="Arial"/>
              </a:defRPr>
            </a:lvl9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IMPLEMENTED. Codeauszug aus 30_Demonstration.sql, innerhalb des eigenen Demo-Lifecycles.</a:t>
            </a:r>
          </a:p>
        </p:txBody>
      </p:sp>
      <p:sp>
        <p:nvSpPr>
          <p:cNvPr id="8" name="text-7">
            <a:extLst xmlns:a="http://schemas.openxmlformats.org/drawingml/2006/main">
              <a:ext uri="{FF2B5EF4-FFF2-40B4-BE49-F238E27FC236}">
                <a16:creationId xmlns:a16="http://schemas.microsoft.com/office/drawing/2014/main" id="{7C97DC5D-75F8-4413-A4B6-A57C8A8870BE}"/>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STANDARD 32 · Quellfolie 37 · CUR-014</a:t>
            </a:r>
          </a:p>
        </p:txBody>
      </p:sp>
    </p:spTree>
    <p:extLst>
      <p:ext uri="{BB962C8B-B14F-4D97-AF65-F5344CB8AC3E}">
        <p14:creationId xmlns:p14="http://schemas.microsoft.com/office/powerpoint/2010/main" val="293298060"/>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710FCF7C-D724-443A-8E6F-40ED1C567055}"/>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Chunking und belegbare Quellen</a:t>
            </a:r>
          </a:p>
        </p:txBody>
      </p:sp>
      <p:sp>
        <p:nvSpPr>
          <p:cNvPr id="2" name="text-1">
            <a:extLst xmlns:a="http://schemas.openxmlformats.org/drawingml/2006/main">
              <a:ext uri="{FF2B5EF4-FFF2-40B4-BE49-F238E27FC236}">
                <a16:creationId xmlns:a16="http://schemas.microsoft.com/office/drawing/2014/main" id="{BD00FE39-9666-4B64-B2DA-FA249F0BB8CA}"/>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Zeichenbereiche</a:t>
            </a:r>
          </a:p>
        </p:txBody>
      </p:sp>
      <p:sp>
        <p:nvSpPr>
          <p:cNvPr id="3" name="text-2">
            <a:extLst xmlns:a="http://schemas.openxmlformats.org/drawingml/2006/main">
              <a:ext uri="{FF2B5EF4-FFF2-40B4-BE49-F238E27FC236}">
                <a16:creationId xmlns:a16="http://schemas.microsoft.com/office/drawing/2014/main" id="{CEEE2384-CC83-43FD-9110-F3492E91EF2B}"/>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FIXED zerlegt Text nach Zeichenanzahl. CHUNK_SIZE belegt kein Tokenlimit eines Modells.</a:t>
            </a:r>
          </a:p>
        </p:txBody>
      </p:sp>
      <p:sp>
        <p:nvSpPr>
          <p:cNvPr id="4" name="text-3">
            <a:extLst xmlns:a="http://schemas.openxmlformats.org/drawingml/2006/main">
              <a:ext uri="{FF2B5EF4-FFF2-40B4-BE49-F238E27FC236}">
                <a16:creationId xmlns:a16="http://schemas.microsoft.com/office/drawing/2014/main" id="{C9200390-7039-49E9-B1E3-FA932A222824}"/>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Overlap</a:t>
            </a:r>
          </a:p>
        </p:txBody>
      </p:sp>
      <p:sp>
        <p:nvSpPr>
          <p:cNvPr id="5" name="text-4">
            <a:extLst xmlns:a="http://schemas.openxmlformats.org/drawingml/2006/main">
              <a:ext uri="{FF2B5EF4-FFF2-40B4-BE49-F238E27FC236}">
                <a16:creationId xmlns:a16="http://schemas.microsoft.com/office/drawing/2014/main" id="{72AF2D5B-CA56-41FD-B60B-F10263B31B3D}"/>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OVERLAP legt 0 bis 50 Prozent Überlappung fest. Wiederholte Bereiche erhöhen die verarbeitete Textmenge.</a:t>
            </a:r>
          </a:p>
        </p:txBody>
      </p:sp>
      <p:sp>
        <p:nvSpPr>
          <p:cNvPr id="6" name="text-5">
            <a:extLst xmlns:a="http://schemas.openxmlformats.org/drawingml/2006/main">
              <a:ext uri="{FF2B5EF4-FFF2-40B4-BE49-F238E27FC236}">
                <a16:creationId xmlns:a16="http://schemas.microsoft.com/office/drawing/2014/main" id="{22818856-96EE-4968-8DCF-DB51940CC419}"/>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Provenienz</a:t>
            </a:r>
          </a:p>
        </p:txBody>
      </p:sp>
      <p:sp>
        <p:nvSpPr>
          <p:cNvPr id="7" name="text-6">
            <a:extLst xmlns:a="http://schemas.openxmlformats.org/drawingml/2006/main">
              <a:ext uri="{FF2B5EF4-FFF2-40B4-BE49-F238E27FC236}">
                <a16:creationId xmlns:a16="http://schemas.microsoft.com/office/drawing/2014/main" id="{E7A58253-5D5A-48D9-88A8-5E909AE8F042}"/>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DocId, Version, Reihenfolge, Offset, Länge und Chunkparameter bleiben mit dem Treffer verbunden.</a:t>
            </a:r>
          </a:p>
        </p:txBody>
      </p:sp>
      <p:sp>
        <p:nvSpPr>
          <p:cNvPr id="8" name="text-7">
            <a:extLst xmlns:a="http://schemas.openxmlformats.org/drawingml/2006/main">
              <a:ext uri="{FF2B5EF4-FFF2-40B4-BE49-F238E27FC236}">
                <a16:creationId xmlns:a16="http://schemas.microsoft.com/office/drawing/2014/main" id="{A20A188A-8272-4BB7-8252-734C7A47BF2F}"/>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STANDARD 33 · Quellfolie 38 · CUR-015</a:t>
            </a:r>
          </a:p>
        </p:txBody>
      </p:sp>
    </p:spTree>
    <p:extLst>
      <p:ext uri="{BB962C8B-B14F-4D97-AF65-F5344CB8AC3E}">
        <p14:creationId xmlns:p14="http://schemas.microsoft.com/office/powerpoint/2010/main" val="2054897042"/>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43D8B2FC-2379-496D-B373-BC97179A302F}"/>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QRY-016: Overlap und Dokumentversion</a:t>
            </a:r>
          </a:p>
        </p:txBody>
      </p:sp>
      <p:sp>
        <p:nvSpPr>
          <p:cNvPr id="2" name="text-1">
            <a:extLst xmlns:a="http://schemas.openxmlformats.org/drawingml/2006/main">
              <a:ext uri="{FF2B5EF4-FFF2-40B4-BE49-F238E27FC236}">
                <a16:creationId xmlns:a16="http://schemas.microsoft.com/office/drawing/2014/main" id="{8BB16495-B035-4704-8DE8-D624AFF14461}"/>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Vorhersage</a:t>
            </a:r>
          </a:p>
        </p:txBody>
      </p:sp>
      <p:sp>
        <p:nvSpPr>
          <p:cNvPr id="3" name="text-2">
            <a:extLst xmlns:a="http://schemas.openxmlformats.org/drawingml/2006/main">
              <a:ext uri="{FF2B5EF4-FFF2-40B4-BE49-F238E27FC236}">
                <a16:creationId xmlns:a16="http://schemas.microsoft.com/office/drawing/2014/main" id="{9DEAD0E1-72B8-4043-83BC-44E390A0355C}"/>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Wie verändert 25 Prozent Overlap die summierte Bereichslänge?</a:t>
            </a:r>
          </a:p>
        </p:txBody>
      </p:sp>
      <p:sp>
        <p:nvSpPr>
          <p:cNvPr id="4" name="text-3">
            <a:extLst xmlns:a="http://schemas.openxmlformats.org/drawingml/2006/main">
              <a:ext uri="{FF2B5EF4-FFF2-40B4-BE49-F238E27FC236}">
                <a16:creationId xmlns:a16="http://schemas.microsoft.com/office/drawing/2014/main" id="{5F0F9CF9-9E32-4F99-86BB-2AC68D4EB501}"/>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Beobachtung</a:t>
            </a:r>
          </a:p>
        </p:txBody>
      </p:sp>
      <p:sp>
        <p:nvSpPr>
          <p:cNvPr id="5" name="text-4">
            <a:extLst xmlns:a="http://schemas.openxmlformats.org/drawingml/2006/main">
              <a:ext uri="{FF2B5EF4-FFF2-40B4-BE49-F238E27FC236}">
                <a16:creationId xmlns:a16="http://schemas.microsoft.com/office/drawing/2014/main" id="{769A4F92-1DE1-497D-9811-5B9222ABF211}"/>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Je einen Chunk beider Dokumentversionen und der Profile 0/25 dem Originaltext zuordnen.</a:t>
            </a:r>
          </a:p>
        </p:txBody>
      </p:sp>
      <p:sp>
        <p:nvSpPr>
          <p:cNvPr id="6" name="text-5">
            <a:extLst xmlns:a="http://schemas.openxmlformats.org/drawingml/2006/main">
              <a:ext uri="{FF2B5EF4-FFF2-40B4-BE49-F238E27FC236}">
                <a16:creationId xmlns:a16="http://schemas.microsoft.com/office/drawing/2014/main" id="{5480C5B4-722B-4D10-A2CA-EB6A0E871E48}"/>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Vergleich</a:t>
            </a:r>
          </a:p>
        </p:txBody>
      </p:sp>
      <p:sp>
        <p:nvSpPr>
          <p:cNvPr id="7" name="text-6">
            <a:extLst xmlns:a="http://schemas.openxmlformats.org/drawingml/2006/main">
              <a:ext uri="{FF2B5EF4-FFF2-40B4-BE49-F238E27FC236}">
                <a16:creationId xmlns:a16="http://schemas.microsoft.com/office/drawing/2014/main" id="{1A0B7A22-B470-424D-A79C-B9199D174838}"/>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Reihenfolge, Offset und Länge kontrollieren. Nach dem Update die Version des Treffers eindeutig nennen.</a:t>
            </a:r>
          </a:p>
        </p:txBody>
      </p:sp>
      <p:sp>
        <p:nvSpPr>
          <p:cNvPr id="8" name="text-7">
            <a:extLst xmlns:a="http://schemas.openxmlformats.org/drawingml/2006/main">
              <a:ext uri="{FF2B5EF4-FFF2-40B4-BE49-F238E27FC236}">
                <a16:creationId xmlns:a16="http://schemas.microsoft.com/office/drawing/2014/main" id="{4D990651-ED00-497C-84D8-632221D1A0E5}"/>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vl1pPr>
              <a:defRPr sz="1800" b="0">
                <a:solidFill>
                  <a:srgbClr val="52647A"/>
                </a:solidFill>
                <a:latin typeface="Arial"/>
                <a:ea typeface="Arial"/>
                <a:cs typeface="Arial"/>
              </a:defRPr>
            </a:lvl1pPr>
            <a:lvl2pPr>
              <a:defRPr sz="1800" b="0">
                <a:solidFill>
                  <a:srgbClr val="52647A"/>
                </a:solidFill>
                <a:latin typeface="Arial"/>
                <a:ea typeface="Arial"/>
                <a:cs typeface="Arial"/>
              </a:defRPr>
            </a:lvl2pPr>
            <a:lvl3pPr>
              <a:defRPr sz="1800" b="0">
                <a:solidFill>
                  <a:srgbClr val="52647A"/>
                </a:solidFill>
                <a:latin typeface="Arial"/>
                <a:ea typeface="Arial"/>
                <a:cs typeface="Arial"/>
              </a:defRPr>
            </a:lvl3pPr>
            <a:lvl4pPr>
              <a:defRPr sz="1800" b="0">
                <a:solidFill>
                  <a:srgbClr val="52647A"/>
                </a:solidFill>
                <a:latin typeface="Arial"/>
                <a:ea typeface="Arial"/>
                <a:cs typeface="Arial"/>
              </a:defRPr>
            </a:lvl4pPr>
            <a:lvl5pPr>
              <a:defRPr sz="1800" b="0">
                <a:solidFill>
                  <a:srgbClr val="52647A"/>
                </a:solidFill>
                <a:latin typeface="Arial"/>
                <a:ea typeface="Arial"/>
                <a:cs typeface="Arial"/>
              </a:defRPr>
            </a:lvl5pPr>
            <a:lvl6pPr>
              <a:defRPr sz="1800" b="0">
                <a:solidFill>
                  <a:srgbClr val="52647A"/>
                </a:solidFill>
                <a:latin typeface="Arial"/>
                <a:ea typeface="Arial"/>
                <a:cs typeface="Arial"/>
              </a:defRPr>
            </a:lvl6pPr>
            <a:lvl7pPr>
              <a:defRPr sz="1800" b="0">
                <a:solidFill>
                  <a:srgbClr val="52647A"/>
                </a:solidFill>
                <a:latin typeface="Arial"/>
                <a:ea typeface="Arial"/>
                <a:cs typeface="Arial"/>
              </a:defRPr>
            </a:lvl7pPr>
            <a:lvl8pPr>
              <a:defRPr sz="1800" b="0">
                <a:solidFill>
                  <a:srgbClr val="52647A"/>
                </a:solidFill>
                <a:latin typeface="Arial"/>
                <a:ea typeface="Arial"/>
                <a:cs typeface="Arial"/>
              </a:defRPr>
            </a:lvl8pPr>
            <a:lvl9pPr>
              <a:defRPr sz="1800" b="0">
                <a:solidFill>
                  <a:srgbClr val="52647A"/>
                </a:solidFill>
                <a:latin typeface="Arial"/>
                <a:ea typeface="Arial"/>
                <a:cs typeface="Arial"/>
              </a:defRPr>
            </a:lvl9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IMPLEMENTED. Lokales FIXED-Chunking ohne Tokenizer oder Modellcall.</a:t>
            </a:r>
          </a:p>
        </p:txBody>
      </p:sp>
      <p:sp>
        <p:nvSpPr>
          <p:cNvPr id="9" name="text-8">
            <a:extLst xmlns:a="http://schemas.openxmlformats.org/drawingml/2006/main">
              <a:ext uri="{FF2B5EF4-FFF2-40B4-BE49-F238E27FC236}">
                <a16:creationId xmlns:a16="http://schemas.microsoft.com/office/drawing/2014/main" id="{70D3E5B7-A962-4B13-B4DF-A35C2B02A998}"/>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STANDARD 34 · Quellfolie 39 · CUR-015</a:t>
            </a:r>
          </a:p>
        </p:txBody>
      </p:sp>
    </p:spTree>
    <p:extLst>
      <p:ext uri="{BB962C8B-B14F-4D97-AF65-F5344CB8AC3E}">
        <p14:creationId xmlns:p14="http://schemas.microsoft.com/office/powerpoint/2010/main" val="670040985"/>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0">
            <a:extLst xmlns:a="http://schemas.openxmlformats.org/drawingml/2006/main">
              <a:ext uri="{FF2B5EF4-FFF2-40B4-BE49-F238E27FC236}">
                <a16:creationId xmlns:a16="http://schemas.microsoft.com/office/drawing/2014/main" id="{703F336F-9816-40EF-B376-498C9A4BEA1D}"/>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Suchpfade und Qualitätsfragen</a:t>
            </a:r>
          </a:p>
        </p:txBody>
      </p:sp>
      <p:graphicFrame>
        <p:nvGraphicFramePr>
          <p:cNvPr id="2" name="">
            <a:extLst xmlns:a="http://schemas.openxmlformats.org/drawingml/2006/main">
              <a:ext uri="{FF2B5EF4-FFF2-40B4-BE49-F238E27FC236}">
                <a16:creationId xmlns:a16="http://schemas.microsoft.com/office/drawing/2014/main" id="{E4C9665D-3715-434F-93AE-F31C0331977B}"/>
              </a:ext>
            </a:extLst>
          </p:cNvPr>
          <p:cNvGraphicFramePr/>
          <p:nvPr/>
        </p:nvGraphicFramePr>
        <p:xfrm>
          <a:off xmlns:a="http://schemas.openxmlformats.org/drawingml/2006/main" x="685800" y="1771650"/>
          <a:ext xmlns:a="http://schemas.openxmlformats.org/drawingml/2006/main" cx="10668000" cy="4000500"/>
        </p:xfrm>
        <a:graphic xmlns:a="http://schemas.openxmlformats.org/drawingml/2006/main">
          <a:graphicData uri="http://schemas.openxmlformats.org/drawingml/2006/table">
            <a:tbl>
              <a:tblPr/>
              <a:tblGrid>
                <a:gridCol w="2667000"/>
                <a:gridCol w="3810000"/>
                <a:gridCol w="4191000"/>
              </a:tblGrid>
              <a:tr h="800100">
                <a:tc>
                  <a:txBody>
                    <a:bodyPr/>
                    <a:lstStyle/>
                    <a:p>
                      <a:r>
                        <a:rPr sz="1800" b="1">
                          <a:solidFill>
                            <a:srgbClr val="15283D"/>
                          </a:solidFill>
                          <a:latin typeface="Arial"/>
                          <a:ea typeface="Arial"/>
                          <a:cs typeface="Arial"/>
                        </a:rPr>
                        <a:t>Suchpfad</a:t>
                      </a:r>
                    </a:p>
                  </a:txBody>
                  <a:tcPr marL="114300" marR="114300" marT="47625" marB="47625" anchor="ctr">
                    <a:lnL w="9525">
                      <a:solidFill>
                        <a:srgbClr val="C8D5DE"/>
                      </a:solidFill>
                      <a:prstDash val="solid"/>
                    </a:lnL>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c>
                  <a:txBody>
                    <a:bodyPr/>
                    <a:lstStyle/>
                    <a:p>
                      <a:r>
                        <a:rPr sz="1800" b="1">
                          <a:solidFill>
                            <a:srgbClr val="15283D"/>
                          </a:solidFill>
                          <a:latin typeface="Arial"/>
                          <a:ea typeface="Arial"/>
                          <a:cs typeface="Arial"/>
                        </a:rPr>
                        <a:t>Passende Frage</a:t>
                      </a:r>
                    </a:p>
                  </a:txBody>
                  <a:tcPr marL="114300" marR="114300" marT="47625" marB="47625" anchor="ctr">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c>
                  <a:txBody>
                    <a:bodyPr/>
                    <a:lstStyle/>
                    <a:p>
                      <a:r>
                        <a:rPr sz="1800" b="1">
                          <a:solidFill>
                            <a:srgbClr val="15283D"/>
                          </a:solidFill>
                          <a:latin typeface="Arial"/>
                          <a:ea typeface="Arial"/>
                          <a:cs typeface="Arial"/>
                        </a:rPr>
                        <a:t>Erforderliche Bewertung</a:t>
                      </a:r>
                    </a:p>
                  </a:txBody>
                  <a:tcPr marL="114300" marR="114300" marT="47625" marB="47625" anchor="ctr">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r>
              <a:tr h="800100">
                <a:tc>
                  <a:txBody>
                    <a:bodyPr/>
                    <a:lstStyle/>
                    <a:p>
                      <a:r>
                        <a:rPr sz="1800" b="0">
                          <a:solidFill>
                            <a:srgbClr val="15283D"/>
                          </a:solidFill>
                          <a:latin typeface="Arial"/>
                          <a:ea typeface="Arial"/>
                          <a:cs typeface="Arial"/>
                        </a:rPr>
                        <a:t>Relational</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Exakte Kennung, Bereich oder erlaubter Tenant</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Ergebnisidentität und geeigneter Zugriff</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800100">
                <a:tc>
                  <a:txBody>
                    <a:bodyPr/>
                    <a:lstStyle/>
                    <a:p>
                      <a:r>
                        <a:rPr sz="1800" b="0">
                          <a:solidFill>
                            <a:srgbClr val="15283D"/>
                          </a:solidFill>
                          <a:latin typeface="Arial"/>
                          <a:ea typeface="Arial"/>
                          <a:cs typeface="Arial"/>
                        </a:rPr>
                        <a:t>Full-Text</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Wort oder sprachliche Suchform</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Komponente, Population und Relevanz</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800100">
                <a:tc>
                  <a:txBody>
                    <a:bodyPr/>
                    <a:lstStyle/>
                    <a:p>
                      <a:r>
                        <a:rPr sz="1800" b="0">
                          <a:solidFill>
                            <a:srgbClr val="15283D"/>
                          </a:solidFill>
                          <a:latin typeface="Arial"/>
                          <a:ea typeface="Arial"/>
                          <a:cs typeface="Arial"/>
                        </a:rPr>
                        <a:t>Exact Vector</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Nähe im festgelegten Modellraum</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Gleiche Kandidaten, Metric und Tie-Regel</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800100">
                <a:tc>
                  <a:txBody>
                    <a:bodyPr/>
                    <a:lstStyle/>
                    <a:p>
                      <a:r>
                        <a:rPr sz="1800" b="0">
                          <a:solidFill>
                            <a:srgbClr val="15283D"/>
                          </a:solidFill>
                          <a:latin typeface="Arial"/>
                          <a:ea typeface="Arial"/>
                          <a:cs typeface="Arial"/>
                        </a:rPr>
                        <a:t>Approximate Vector</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Approximation bei größerem Suchbestand</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Recall, Planbeleg, Filter und Gesamtkosten</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bl>
          </a:graphicData>
        </a:graphic>
      </p:graphicFrame>
      <p:sp>
        <p:nvSpPr>
          <p:cNvPr id="3" name="text-1">
            <a:extLst xmlns:a="http://schemas.openxmlformats.org/drawingml/2006/main">
              <a:ext uri="{FF2B5EF4-FFF2-40B4-BE49-F238E27FC236}">
                <a16:creationId xmlns:a16="http://schemas.microsoft.com/office/drawing/2014/main" id="{3A6504F0-F4C0-482D-B423-2E173188A0CC}"/>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STANDARD 35 · Quellfolie 43 · CUR-017 / CUR-020</a:t>
            </a:r>
          </a:p>
        </p:txBody>
      </p:sp>
    </p:spTree>
    <p:extLst>
      <p:ext uri="{BB962C8B-B14F-4D97-AF65-F5344CB8AC3E}">
        <p14:creationId xmlns:p14="http://schemas.microsoft.com/office/powerpoint/2010/main" val="1869672037"/>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97087E85-8031-4D35-8042-5E0486C2CF86}"/>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QRY-017: Suche nach MOD_A</a:t>
            </a:r>
          </a:p>
        </p:txBody>
      </p:sp>
      <p:sp>
        <p:nvSpPr>
          <p:cNvPr id="2" name="text-1">
            <a:extLst xmlns:a="http://schemas.openxmlformats.org/drawingml/2006/main">
              <a:ext uri="{FF2B5EF4-FFF2-40B4-BE49-F238E27FC236}">
                <a16:creationId xmlns:a16="http://schemas.microsoft.com/office/drawing/2014/main" id="{93701770-DDEC-4B02-BF36-103942617BD9}"/>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Vorhersage</a:t>
            </a:r>
          </a:p>
        </p:txBody>
      </p:sp>
      <p:sp>
        <p:nvSpPr>
          <p:cNvPr id="3" name="text-2">
            <a:extLst xmlns:a="http://schemas.openxmlformats.org/drawingml/2006/main">
              <a:ext uri="{FF2B5EF4-FFF2-40B4-BE49-F238E27FC236}">
                <a16:creationId xmlns:a16="http://schemas.microsoft.com/office/drawing/2014/main" id="{1CD8A0A6-3D59-44DC-8B80-5F62FAA8F839}"/>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Welcher Pfad beantwortet die exakte synthetische Kennung MOD_A?</a:t>
            </a:r>
          </a:p>
        </p:txBody>
      </p:sp>
      <p:sp>
        <p:nvSpPr>
          <p:cNvPr id="4" name="text-3">
            <a:extLst xmlns:a="http://schemas.openxmlformats.org/drawingml/2006/main">
              <a:ext uri="{FF2B5EF4-FFF2-40B4-BE49-F238E27FC236}">
                <a16:creationId xmlns:a16="http://schemas.microsoft.com/office/drawing/2014/main" id="{FE3B4524-A46A-409B-B7EC-D9A65634D578}"/>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Beobachtung</a:t>
            </a:r>
          </a:p>
        </p:txBody>
      </p:sp>
      <p:sp>
        <p:nvSpPr>
          <p:cNvPr id="5" name="text-4">
            <a:extLst xmlns:a="http://schemas.openxmlformats.org/drawingml/2006/main">
              <a:ext uri="{FF2B5EF4-FFF2-40B4-BE49-F238E27FC236}">
                <a16:creationId xmlns:a16="http://schemas.microsoft.com/office/drawing/2014/main" id="{218A58E2-2286-4C76-AFE3-BCB17AC269B2}"/>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Relationale Query, LIKE, optionalen Full-Text und Exact Distance an vier Rows vergleichen.</a:t>
            </a:r>
          </a:p>
        </p:txBody>
      </p:sp>
      <p:sp>
        <p:nvSpPr>
          <p:cNvPr id="6" name="text-5">
            <a:extLst xmlns:a="http://schemas.openxmlformats.org/drawingml/2006/main">
              <a:ext uri="{FF2B5EF4-FFF2-40B4-BE49-F238E27FC236}">
                <a16:creationId xmlns:a16="http://schemas.microsoft.com/office/drawing/2014/main" id="{431BEC6C-5FEB-420B-A331-18DD8ECE746A}"/>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Erklärung</a:t>
            </a:r>
          </a:p>
        </p:txBody>
      </p:sp>
      <p:sp>
        <p:nvSpPr>
          <p:cNvPr id="7" name="text-6">
            <a:extLst xmlns:a="http://schemas.openxmlformats.org/drawingml/2006/main">
              <a:ext uri="{FF2B5EF4-FFF2-40B4-BE49-F238E27FC236}">
                <a16:creationId xmlns:a16="http://schemas.microsoft.com/office/drawing/2014/main" id="{3EF53394-4226-4009-B848-080C4CB94C99}"/>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Tenantfilter und erlaubten Treffer nennen. Fehlender Full-Text bleibt ein sichtbarer WARN.</a:t>
            </a:r>
          </a:p>
        </p:txBody>
      </p:sp>
      <p:sp>
        <p:nvSpPr>
          <p:cNvPr id="8" name="text-7">
            <a:extLst xmlns:a="http://schemas.openxmlformats.org/drawingml/2006/main">
              <a:ext uri="{FF2B5EF4-FFF2-40B4-BE49-F238E27FC236}">
                <a16:creationId xmlns:a16="http://schemas.microsoft.com/office/drawing/2014/main" id="{582DA24F-F96F-4F86-AA3D-65BA3A73C395}"/>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vl1pPr>
              <a:defRPr sz="1800" b="0">
                <a:solidFill>
                  <a:srgbClr val="52647A"/>
                </a:solidFill>
                <a:latin typeface="Arial"/>
                <a:ea typeface="Arial"/>
                <a:cs typeface="Arial"/>
              </a:defRPr>
            </a:lvl1pPr>
            <a:lvl2pPr>
              <a:defRPr sz="1800" b="0">
                <a:solidFill>
                  <a:srgbClr val="52647A"/>
                </a:solidFill>
                <a:latin typeface="Arial"/>
                <a:ea typeface="Arial"/>
                <a:cs typeface="Arial"/>
              </a:defRPr>
            </a:lvl2pPr>
            <a:lvl3pPr>
              <a:defRPr sz="1800" b="0">
                <a:solidFill>
                  <a:srgbClr val="52647A"/>
                </a:solidFill>
                <a:latin typeface="Arial"/>
                <a:ea typeface="Arial"/>
                <a:cs typeface="Arial"/>
              </a:defRPr>
            </a:lvl3pPr>
            <a:lvl4pPr>
              <a:defRPr sz="1800" b="0">
                <a:solidFill>
                  <a:srgbClr val="52647A"/>
                </a:solidFill>
                <a:latin typeface="Arial"/>
                <a:ea typeface="Arial"/>
                <a:cs typeface="Arial"/>
              </a:defRPr>
            </a:lvl4pPr>
            <a:lvl5pPr>
              <a:defRPr sz="1800" b="0">
                <a:solidFill>
                  <a:srgbClr val="52647A"/>
                </a:solidFill>
                <a:latin typeface="Arial"/>
                <a:ea typeface="Arial"/>
                <a:cs typeface="Arial"/>
              </a:defRPr>
            </a:lvl5pPr>
            <a:lvl6pPr>
              <a:defRPr sz="1800" b="0">
                <a:solidFill>
                  <a:srgbClr val="52647A"/>
                </a:solidFill>
                <a:latin typeface="Arial"/>
                <a:ea typeface="Arial"/>
                <a:cs typeface="Arial"/>
              </a:defRPr>
            </a:lvl6pPr>
            <a:lvl7pPr>
              <a:defRPr sz="1800" b="0">
                <a:solidFill>
                  <a:srgbClr val="52647A"/>
                </a:solidFill>
                <a:latin typeface="Arial"/>
                <a:ea typeface="Arial"/>
                <a:cs typeface="Arial"/>
              </a:defRPr>
            </a:lvl7pPr>
            <a:lvl8pPr>
              <a:defRPr sz="1800" b="0">
                <a:solidFill>
                  <a:srgbClr val="52647A"/>
                </a:solidFill>
                <a:latin typeface="Arial"/>
                <a:ea typeface="Arial"/>
                <a:cs typeface="Arial"/>
              </a:defRPr>
            </a:lvl8pPr>
            <a:lvl9pPr>
              <a:defRPr sz="1800" b="0">
                <a:solidFill>
                  <a:srgbClr val="52647A"/>
                </a:solidFill>
                <a:latin typeface="Arial"/>
                <a:ea typeface="Arial"/>
                <a:cs typeface="Arial"/>
              </a:defRPr>
            </a:lvl9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IMPLEMENTED. Konstruierte Vektoren erklären die Mechanik. Sie belegen keine Sprachmodellqualität.</a:t>
            </a:r>
          </a:p>
        </p:txBody>
      </p:sp>
      <p:sp>
        <p:nvSpPr>
          <p:cNvPr id="9" name="text-8">
            <a:extLst xmlns:a="http://schemas.openxmlformats.org/drawingml/2006/main">
              <a:ext uri="{FF2B5EF4-FFF2-40B4-BE49-F238E27FC236}">
                <a16:creationId xmlns:a16="http://schemas.microsoft.com/office/drawing/2014/main" id="{59523073-A7D0-4E77-98E2-BFAFB24A771A}"/>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STANDARD 36 · Quellfolie 44 · CUR-017 / CUR-020</a:t>
            </a:r>
          </a:p>
        </p:txBody>
      </p:sp>
    </p:spTree>
    <p:extLst>
      <p:ext uri="{BB962C8B-B14F-4D97-AF65-F5344CB8AC3E}">
        <p14:creationId xmlns:p14="http://schemas.microsoft.com/office/powerpoint/2010/main" val="1429395258"/>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CD7264BC-A2FC-4F4B-860F-13A503B3A7B6}"/>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RAG und die Bindung einer Antwort</a:t>
            </a:r>
          </a:p>
        </p:txBody>
      </p:sp>
      <p:sp>
        <p:nvSpPr>
          <p:cNvPr id="2" name="text-1">
            <a:extLst xmlns:a="http://schemas.openxmlformats.org/drawingml/2006/main">
              <a:ext uri="{FF2B5EF4-FFF2-40B4-BE49-F238E27FC236}">
                <a16:creationId xmlns:a16="http://schemas.microsoft.com/office/drawing/2014/main" id="{56839B8F-7F56-4666-901D-4DE37A77756E}"/>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Retrieval</a:t>
            </a:r>
          </a:p>
        </p:txBody>
      </p:sp>
      <p:sp>
        <p:nvSpPr>
          <p:cNvPr id="3" name="text-2">
            <a:extLst xmlns:a="http://schemas.openxmlformats.org/drawingml/2006/main">
              <a:ext uri="{FF2B5EF4-FFF2-40B4-BE49-F238E27FC236}">
                <a16:creationId xmlns:a16="http://schemas.microsoft.com/office/drawing/2014/main" id="{D656BE90-6E83-46F0-8F60-99F0E8EBFBD0}"/>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Nur autorisierte, aktuelle Quellen in den begrenzten Kontext aufnehmen.</a:t>
            </a:r>
          </a:p>
        </p:txBody>
      </p:sp>
      <p:sp>
        <p:nvSpPr>
          <p:cNvPr id="4" name="text-3">
            <a:extLst xmlns:a="http://schemas.openxmlformats.org/drawingml/2006/main">
              <a:ext uri="{FF2B5EF4-FFF2-40B4-BE49-F238E27FC236}">
                <a16:creationId xmlns:a16="http://schemas.microsoft.com/office/drawing/2014/main" id="{860C4520-6BAA-468F-94F0-A15C8CD882E9}"/>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Claimprüfung</a:t>
            </a:r>
          </a:p>
        </p:txBody>
      </p:sp>
      <p:sp>
        <p:nvSpPr>
          <p:cNvPr id="5" name="text-4">
            <a:extLst xmlns:a="http://schemas.openxmlformats.org/drawingml/2006/main">
              <a:ext uri="{FF2B5EF4-FFF2-40B4-BE49-F238E27FC236}">
                <a16:creationId xmlns:a16="http://schemas.microsoft.com/office/drawing/2014/main" id="{66291B8F-73A1-4D26-9A8C-DFED8AB10477}"/>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Für jeden akzeptierten Satz eine stützende Quellenstelle im tatsächlich gelieferten Kontext prüfen.</a:t>
            </a:r>
          </a:p>
        </p:txBody>
      </p:sp>
      <p:sp>
        <p:nvSpPr>
          <p:cNvPr id="6" name="text-5">
            <a:extLst xmlns:a="http://schemas.openxmlformats.org/drawingml/2006/main">
              <a:ext uri="{FF2B5EF4-FFF2-40B4-BE49-F238E27FC236}">
                <a16:creationId xmlns:a16="http://schemas.microsoft.com/office/drawing/2014/main" id="{E30E3E6E-5EFB-4B4F-A1F3-4D83BC0E81E5}"/>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Nichtantwort</a:t>
            </a:r>
          </a:p>
        </p:txBody>
      </p:sp>
      <p:sp>
        <p:nvSpPr>
          <p:cNvPr id="7" name="text-6">
            <a:extLst xmlns:a="http://schemas.openxmlformats.org/drawingml/2006/main">
              <a:ext uri="{FF2B5EF4-FFF2-40B4-BE49-F238E27FC236}">
                <a16:creationId xmlns:a16="http://schemas.microsoft.com/office/drawing/2014/main" id="{40DAF5A0-5B38-4F00-BD69-364CF667E5E0}"/>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Fehlende Evidenz und widersprüchliche aktuelle Quellen ausdrücklich benennen.</a:t>
            </a:r>
          </a:p>
        </p:txBody>
      </p:sp>
      <p:sp>
        <p:nvSpPr>
          <p:cNvPr id="8" name="text-7">
            <a:extLst xmlns:a="http://schemas.openxmlformats.org/drawingml/2006/main">
              <a:ext uri="{FF2B5EF4-FFF2-40B4-BE49-F238E27FC236}">
                <a16:creationId xmlns:a16="http://schemas.microsoft.com/office/drawing/2014/main" id="{BFB44711-951F-494B-95A6-FFE7B356CDE1}"/>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vl1pPr>
              <a:defRPr sz="1800" b="0">
                <a:solidFill>
                  <a:srgbClr val="52647A"/>
                </a:solidFill>
                <a:latin typeface="Arial"/>
                <a:ea typeface="Arial"/>
                <a:cs typeface="Arial"/>
              </a:defRPr>
            </a:lvl1pPr>
            <a:lvl2pPr>
              <a:defRPr sz="1800" b="0">
                <a:solidFill>
                  <a:srgbClr val="52647A"/>
                </a:solidFill>
                <a:latin typeface="Arial"/>
                <a:ea typeface="Arial"/>
                <a:cs typeface="Arial"/>
              </a:defRPr>
            </a:lvl2pPr>
            <a:lvl3pPr>
              <a:defRPr sz="1800" b="0">
                <a:solidFill>
                  <a:srgbClr val="52647A"/>
                </a:solidFill>
                <a:latin typeface="Arial"/>
                <a:ea typeface="Arial"/>
                <a:cs typeface="Arial"/>
              </a:defRPr>
            </a:lvl3pPr>
            <a:lvl4pPr>
              <a:defRPr sz="1800" b="0">
                <a:solidFill>
                  <a:srgbClr val="52647A"/>
                </a:solidFill>
                <a:latin typeface="Arial"/>
                <a:ea typeface="Arial"/>
                <a:cs typeface="Arial"/>
              </a:defRPr>
            </a:lvl4pPr>
            <a:lvl5pPr>
              <a:defRPr sz="1800" b="0">
                <a:solidFill>
                  <a:srgbClr val="52647A"/>
                </a:solidFill>
                <a:latin typeface="Arial"/>
                <a:ea typeface="Arial"/>
                <a:cs typeface="Arial"/>
              </a:defRPr>
            </a:lvl5pPr>
            <a:lvl6pPr>
              <a:defRPr sz="1800" b="0">
                <a:solidFill>
                  <a:srgbClr val="52647A"/>
                </a:solidFill>
                <a:latin typeface="Arial"/>
                <a:ea typeface="Arial"/>
                <a:cs typeface="Arial"/>
              </a:defRPr>
            </a:lvl6pPr>
            <a:lvl7pPr>
              <a:defRPr sz="1800" b="0">
                <a:solidFill>
                  <a:srgbClr val="52647A"/>
                </a:solidFill>
                <a:latin typeface="Arial"/>
                <a:ea typeface="Arial"/>
                <a:cs typeface="Arial"/>
              </a:defRPr>
            </a:lvl7pPr>
            <a:lvl8pPr>
              <a:defRPr sz="1800" b="0">
                <a:solidFill>
                  <a:srgbClr val="52647A"/>
                </a:solidFill>
                <a:latin typeface="Arial"/>
                <a:ea typeface="Arial"/>
                <a:cs typeface="Arial"/>
              </a:defRPr>
            </a:lvl8pPr>
            <a:lvl9pPr>
              <a:defRPr sz="1800" b="0">
                <a:solidFill>
                  <a:srgbClr val="52647A"/>
                </a:solidFill>
                <a:latin typeface="Arial"/>
                <a:ea typeface="Arial"/>
                <a:cs typeface="Arial"/>
              </a:defRPr>
            </a:lvl9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Ein vorhandener Quellenlink allein beweist den zugehörigen Satz nicht.</a:t>
            </a:r>
          </a:p>
        </p:txBody>
      </p:sp>
      <p:sp>
        <p:nvSpPr>
          <p:cNvPr id="9" name="text-8">
            <a:extLst xmlns:a="http://schemas.openxmlformats.org/drawingml/2006/main">
              <a:ext uri="{FF2B5EF4-FFF2-40B4-BE49-F238E27FC236}">
                <a16:creationId xmlns:a16="http://schemas.microsoft.com/office/drawing/2014/main" id="{EE3C0F8A-058E-4909-AD34-66B5939D3305}"/>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STANDARD 37 · Quellfolie 45 · CUR-017</a:t>
            </a:r>
          </a:p>
        </p:txBody>
      </p:sp>
    </p:spTree>
    <p:extLst>
      <p:ext uri="{BB962C8B-B14F-4D97-AF65-F5344CB8AC3E}">
        <p14:creationId xmlns:p14="http://schemas.microsoft.com/office/powerpoint/2010/main" val="988259328"/>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BF3ED180-92A1-499A-AC90-CE5350D48FBD}"/>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QRY-018: Vier Quellenentscheidungen</a:t>
            </a:r>
          </a:p>
        </p:txBody>
      </p:sp>
      <p:graphicFrame>
        <p:nvGraphicFramePr>
          <p:cNvPr id="2" name="">
            <a:extLst xmlns:a="http://schemas.openxmlformats.org/drawingml/2006/main">
              <a:ext uri="{FF2B5EF4-FFF2-40B4-BE49-F238E27FC236}">
                <a16:creationId xmlns:a16="http://schemas.microsoft.com/office/drawing/2014/main" id="{045A4E6A-CE53-4C6E-8F79-013CDF0C76CA}"/>
              </a:ext>
            </a:extLst>
          </p:cNvPr>
          <p:cNvGraphicFramePr/>
          <p:nvPr/>
        </p:nvGraphicFramePr>
        <p:xfrm>
          <a:off xmlns:a="http://schemas.openxmlformats.org/drawingml/2006/main" x="685800" y="1771650"/>
          <a:ext xmlns:a="http://schemas.openxmlformats.org/drawingml/2006/main" cx="10668000" cy="4000500"/>
        </p:xfrm>
        <a:graphic xmlns:a="http://schemas.openxmlformats.org/drawingml/2006/main">
          <a:graphicData uri="http://schemas.openxmlformats.org/drawingml/2006/table">
            <a:tbl>
              <a:tblPr/>
              <a:tblGrid>
                <a:gridCol w="4095750"/>
                <a:gridCol w="2190750"/>
                <a:gridCol w="4381500"/>
              </a:tblGrid>
              <a:tr h="800100">
                <a:tc>
                  <a:txBody>
                    <a:bodyPr/>
                    <a:lstStyle/>
                    <a:p>
                      <a:r>
                        <a:rPr sz="1800" b="1">
                          <a:solidFill>
                            <a:srgbClr val="15283D"/>
                          </a:solidFill>
                          <a:latin typeface="Arial"/>
                          <a:ea typeface="Arial"/>
                          <a:cs typeface="Arial"/>
                        </a:rPr>
                        <a:t>Fixture</a:t>
                      </a:r>
                    </a:p>
                  </a:txBody>
                  <a:tcPr marL="114300" marR="114300" marT="47625" marB="47625" anchor="ctr">
                    <a:lnL w="9525">
                      <a:solidFill>
                        <a:srgbClr val="C8D5DE"/>
                      </a:solidFill>
                      <a:prstDash val="solid"/>
                    </a:lnL>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c>
                  <a:txBody>
                    <a:bodyPr/>
                    <a:lstStyle/>
                    <a:p>
                      <a:r>
                        <a:rPr sz="1800" b="1">
                          <a:solidFill>
                            <a:srgbClr val="15283D"/>
                          </a:solidFill>
                          <a:latin typeface="Arial"/>
                          <a:ea typeface="Arial"/>
                          <a:cs typeface="Arial"/>
                        </a:rPr>
                        <a:t>Entscheidung</a:t>
                      </a:r>
                    </a:p>
                  </a:txBody>
                  <a:tcPr marL="114300" marR="114300" marT="47625" marB="47625" anchor="ctr">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c>
                  <a:txBody>
                    <a:bodyPr/>
                    <a:lstStyle/>
                    <a:p>
                      <a:r>
                        <a:rPr sz="1800" b="1">
                          <a:solidFill>
                            <a:srgbClr val="15283D"/>
                          </a:solidFill>
                          <a:latin typeface="Arial"/>
                          <a:ea typeface="Arial"/>
                          <a:cs typeface="Arial"/>
                        </a:rPr>
                        <a:t>Begründung</a:t>
                      </a:r>
                    </a:p>
                  </a:txBody>
                  <a:tcPr marL="114300" marR="114300" marT="47625" marB="47625" anchor="ctr">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r>
              <a:tr h="800100">
                <a:tc>
                  <a:txBody>
                    <a:bodyPr/>
                    <a:lstStyle/>
                    <a:p>
                      <a:r>
                        <a:rPr sz="1800" b="0">
                          <a:solidFill>
                            <a:srgbClr val="15283D"/>
                          </a:solidFill>
                          <a:latin typeface="Arial"/>
                          <a:ea typeface="Arial"/>
                          <a:cs typeface="Arial"/>
                        </a:rPr>
                        <a:t>Aktuelle Sieben-Tage-Quelle</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ACCEPTED</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Stützende Quelle im erlaubten Kontext</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800100">
                <a:tc>
                  <a:txBody>
                    <a:bodyPr/>
                    <a:lstStyle/>
                    <a:p>
                      <a:r>
                        <a:rPr sz="1800" b="0">
                          <a:solidFill>
                            <a:srgbClr val="15283D"/>
                          </a:solidFill>
                          <a:latin typeface="Arial"/>
                          <a:ea typeface="Arial"/>
                          <a:cs typeface="Arial"/>
                        </a:rPr>
                        <a:t>Zitat außerhalb des Kontexts</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REJECTED</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Existenz des Zitats genügt nicht</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800100">
                <a:tc>
                  <a:txBody>
                    <a:bodyPr/>
                    <a:lstStyle/>
                    <a:p>
                      <a:r>
                        <a:rPr sz="1800" b="0">
                          <a:solidFill>
                            <a:srgbClr val="15283D"/>
                          </a:solidFill>
                          <a:latin typeface="Arial"/>
                          <a:ea typeface="Arial"/>
                          <a:cs typeface="Arial"/>
                        </a:rPr>
                        <a:t>Kein ausreichender Kontext</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ABSTAINED</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Begründete Nichtantwort</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800100">
                <a:tc>
                  <a:txBody>
                    <a:bodyPr/>
                    <a:lstStyle/>
                    <a:p>
                      <a:r>
                        <a:rPr sz="1800" b="0">
                          <a:solidFill>
                            <a:srgbClr val="15283D"/>
                          </a:solidFill>
                          <a:latin typeface="Arial"/>
                          <a:ea typeface="Arial"/>
                          <a:cs typeface="Arial"/>
                        </a:rPr>
                        <a:t>Sieben und neun Tage aktuell</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ABSTAINED</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Widerspruch zwischen erlaubten Quellen</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bl>
          </a:graphicData>
        </a:graphic>
      </p:graphicFrame>
      <p:sp>
        <p:nvSpPr>
          <p:cNvPr id="3" name="text-1">
            <a:extLst xmlns:a="http://schemas.openxmlformats.org/drawingml/2006/main">
              <a:ext uri="{FF2B5EF4-FFF2-40B4-BE49-F238E27FC236}">
                <a16:creationId xmlns:a16="http://schemas.microsoft.com/office/drawing/2014/main" id="{7FA09C2E-1FF3-45A7-8F89-908D8C3546A8}"/>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vl1pPr>
              <a:defRPr sz="1800" b="0">
                <a:solidFill>
                  <a:srgbClr val="52647A"/>
                </a:solidFill>
                <a:latin typeface="Arial"/>
                <a:ea typeface="Arial"/>
                <a:cs typeface="Arial"/>
              </a:defRPr>
            </a:lvl1pPr>
            <a:lvl2pPr>
              <a:defRPr sz="1800" b="0">
                <a:solidFill>
                  <a:srgbClr val="52647A"/>
                </a:solidFill>
                <a:latin typeface="Arial"/>
                <a:ea typeface="Arial"/>
                <a:cs typeface="Arial"/>
              </a:defRPr>
            </a:lvl2pPr>
            <a:lvl3pPr>
              <a:defRPr sz="1800" b="0">
                <a:solidFill>
                  <a:srgbClr val="52647A"/>
                </a:solidFill>
                <a:latin typeface="Arial"/>
                <a:ea typeface="Arial"/>
                <a:cs typeface="Arial"/>
              </a:defRPr>
            </a:lvl3pPr>
            <a:lvl4pPr>
              <a:defRPr sz="1800" b="0">
                <a:solidFill>
                  <a:srgbClr val="52647A"/>
                </a:solidFill>
                <a:latin typeface="Arial"/>
                <a:ea typeface="Arial"/>
                <a:cs typeface="Arial"/>
              </a:defRPr>
            </a:lvl4pPr>
            <a:lvl5pPr>
              <a:defRPr sz="1800" b="0">
                <a:solidFill>
                  <a:srgbClr val="52647A"/>
                </a:solidFill>
                <a:latin typeface="Arial"/>
                <a:ea typeface="Arial"/>
                <a:cs typeface="Arial"/>
              </a:defRPr>
            </a:lvl5pPr>
            <a:lvl6pPr>
              <a:defRPr sz="1800" b="0">
                <a:solidFill>
                  <a:srgbClr val="52647A"/>
                </a:solidFill>
                <a:latin typeface="Arial"/>
                <a:ea typeface="Arial"/>
                <a:cs typeface="Arial"/>
              </a:defRPr>
            </a:lvl6pPr>
            <a:lvl7pPr>
              <a:defRPr sz="1800" b="0">
                <a:solidFill>
                  <a:srgbClr val="52647A"/>
                </a:solidFill>
                <a:latin typeface="Arial"/>
                <a:ea typeface="Arial"/>
                <a:cs typeface="Arial"/>
              </a:defRPr>
            </a:lvl7pPr>
            <a:lvl8pPr>
              <a:defRPr sz="1800" b="0">
                <a:solidFill>
                  <a:srgbClr val="52647A"/>
                </a:solidFill>
                <a:latin typeface="Arial"/>
                <a:ea typeface="Arial"/>
                <a:cs typeface="Arial"/>
              </a:defRPr>
            </a:lvl8pPr>
            <a:lvl9pPr>
              <a:defRPr sz="1800" b="0">
                <a:solidFill>
                  <a:srgbClr val="52647A"/>
                </a:solidFill>
                <a:latin typeface="Arial"/>
                <a:ea typeface="Arial"/>
                <a:cs typeface="Arial"/>
              </a:defRPr>
            </a:lvl9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IMPLEMENTED. Feste Antwortfixtures und Claimprüfung, keine Livegeneration.</a:t>
            </a:r>
          </a:p>
        </p:txBody>
      </p:sp>
      <p:sp>
        <p:nvSpPr>
          <p:cNvPr id="4" name="text-2">
            <a:extLst xmlns:a="http://schemas.openxmlformats.org/drawingml/2006/main">
              <a:ext uri="{FF2B5EF4-FFF2-40B4-BE49-F238E27FC236}">
                <a16:creationId xmlns:a16="http://schemas.microsoft.com/office/drawing/2014/main" id="{DB0119F1-1A63-4994-8A9A-33BF053251DF}"/>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STANDARD 38 · Quellfolie 46 · CUR-017 / CUR-022</a:t>
            </a:r>
          </a:p>
        </p:txBody>
      </p:sp>
    </p:spTree>
    <p:extLst>
      <p:ext uri="{BB962C8B-B14F-4D97-AF65-F5344CB8AC3E}">
        <p14:creationId xmlns:p14="http://schemas.microsoft.com/office/powerpoint/2010/main" val="2112502051"/>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BFF304D9-13AB-405F-B0C4-D32F38FECFE9}"/>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Securitygrenzen im Datenfluss</a:t>
            </a:r>
          </a:p>
        </p:txBody>
      </p:sp>
      <p:graphicFrame>
        <p:nvGraphicFramePr>
          <p:cNvPr id="2" name="">
            <a:extLst xmlns:a="http://schemas.openxmlformats.org/drawingml/2006/main">
              <a:ext uri="{FF2B5EF4-FFF2-40B4-BE49-F238E27FC236}">
                <a16:creationId xmlns:a16="http://schemas.microsoft.com/office/drawing/2014/main" id="{C2AAB912-BB35-4928-9AB1-9E04E02AC64B}"/>
              </a:ext>
            </a:extLst>
          </p:cNvPr>
          <p:cNvGraphicFramePr/>
          <p:nvPr/>
        </p:nvGraphicFramePr>
        <p:xfrm>
          <a:off xmlns:a="http://schemas.openxmlformats.org/drawingml/2006/main" x="685800" y="1771650"/>
          <a:ext xmlns:a="http://schemas.openxmlformats.org/drawingml/2006/main" cx="10668000" cy="4000500"/>
        </p:xfrm>
        <a:graphic xmlns:a="http://schemas.openxmlformats.org/drawingml/2006/main">
          <a:graphicData uri="http://schemas.openxmlformats.org/drawingml/2006/table">
            <a:tbl>
              <a:tblPr/>
              <a:tblGrid>
                <a:gridCol w="4762500"/>
                <a:gridCol w="5905500"/>
              </a:tblGrid>
              <a:tr h="800100">
                <a:tc>
                  <a:txBody>
                    <a:bodyPr/>
                    <a:lstStyle/>
                    <a:p>
                      <a:r>
                        <a:rPr sz="1800" b="1">
                          <a:solidFill>
                            <a:srgbClr val="15283D"/>
                          </a:solidFill>
                          <a:latin typeface="Arial"/>
                          <a:ea typeface="Arial"/>
                          <a:cs typeface="Arial"/>
                        </a:rPr>
                        <a:t>Unvertrauenswürdige Eingabe</a:t>
                      </a:r>
                    </a:p>
                  </a:txBody>
                  <a:tcPr marL="114300" marR="114300" marT="47625" marB="47625" anchor="ctr">
                    <a:lnL w="9525">
                      <a:solidFill>
                        <a:srgbClr val="C8D5DE"/>
                      </a:solidFill>
                      <a:prstDash val="solid"/>
                    </a:lnL>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c>
                  <a:txBody>
                    <a:bodyPr/>
                    <a:lstStyle/>
                    <a:p>
                      <a:r>
                        <a:rPr sz="1800" b="1">
                          <a:solidFill>
                            <a:srgbClr val="15283D"/>
                          </a:solidFill>
                          <a:latin typeface="Arial"/>
                          <a:ea typeface="Arial"/>
                          <a:cs typeface="Arial"/>
                        </a:rPr>
                        <a:t>Erzwungene Grenze</a:t>
                      </a:r>
                    </a:p>
                  </a:txBody>
                  <a:tcPr marL="114300" marR="114300" marT="47625" marB="47625" anchor="ctr">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r>
              <a:tr h="800100">
                <a:tc>
                  <a:txBody>
                    <a:bodyPr/>
                    <a:lstStyle/>
                    <a:p>
                      <a:r>
                        <a:rPr sz="1800" b="0">
                          <a:solidFill>
                            <a:srgbClr val="15283D"/>
                          </a:solidFill>
                          <a:latin typeface="Arial"/>
                          <a:ea typeface="Arial"/>
                          <a:cs typeface="Arial"/>
                        </a:rPr>
                        <a:t>Prompt und LLM-SQL</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Feste SQL-Struktur, Wertbindung und minimale DB-Rechte</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800100">
                <a:tc>
                  <a:txBody>
                    <a:bodyPr/>
                    <a:lstStyle/>
                    <a:p>
                      <a:r>
                        <a:rPr sz="1800" b="0">
                          <a:solidFill>
                            <a:srgbClr val="15283D"/>
                          </a:solidFill>
                          <a:latin typeface="Arial"/>
                          <a:ea typeface="Arial"/>
                          <a:cs typeface="Arial"/>
                        </a:rPr>
                        <a:t>Retrievalquelle und Toolwunsch</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Quelleninhalt getrennt von Toolpolicy verarbeiten</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800100">
                <a:tc>
                  <a:txBody>
                    <a:bodyPr/>
                    <a:lstStyle/>
                    <a:p>
                      <a:r>
                        <a:rPr sz="1800" b="0">
                          <a:solidFill>
                            <a:srgbClr val="15283D"/>
                          </a:solidFill>
                          <a:latin typeface="Arial"/>
                          <a:ea typeface="Arial"/>
                          <a:cs typeface="Arial"/>
                        </a:rPr>
                        <a:t>Tenantangabe aus dem Prompt</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Authentifizierter Kontext und DB-seitige Zugriffskontrolle</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800100">
                <a:tc>
                  <a:txBody>
                    <a:bodyPr/>
                    <a:lstStyle/>
                    <a:p>
                      <a:r>
                        <a:rPr sz="1800" b="0">
                          <a:solidFill>
                            <a:srgbClr val="15283D"/>
                          </a:solidFill>
                          <a:latin typeface="Arial"/>
                          <a:ea typeface="Arial"/>
                          <a:cs typeface="Arial"/>
                        </a:rPr>
                        <a:t>Modellendpoint und Dateien</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TLS, Egress, Credentials, Lizenz und endliche Budgets</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bl>
          </a:graphicData>
        </a:graphic>
      </p:graphicFrame>
      <p:sp>
        <p:nvSpPr>
          <p:cNvPr id="3" name="text-1">
            <a:extLst xmlns:a="http://schemas.openxmlformats.org/drawingml/2006/main">
              <a:ext uri="{FF2B5EF4-FFF2-40B4-BE49-F238E27FC236}">
                <a16:creationId xmlns:a16="http://schemas.microsoft.com/office/drawing/2014/main" id="{B788EE0D-017B-4400-AB45-25672EC45F25}"/>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vl1pPr>
              <a:defRPr sz="1800" b="0">
                <a:solidFill>
                  <a:srgbClr val="52647A"/>
                </a:solidFill>
                <a:latin typeface="Arial"/>
                <a:ea typeface="Arial"/>
                <a:cs typeface="Arial"/>
              </a:defRPr>
            </a:lvl1pPr>
            <a:lvl2pPr>
              <a:defRPr sz="1800" b="0">
                <a:solidFill>
                  <a:srgbClr val="52647A"/>
                </a:solidFill>
                <a:latin typeface="Arial"/>
                <a:ea typeface="Arial"/>
                <a:cs typeface="Arial"/>
              </a:defRPr>
            </a:lvl2pPr>
            <a:lvl3pPr>
              <a:defRPr sz="1800" b="0">
                <a:solidFill>
                  <a:srgbClr val="52647A"/>
                </a:solidFill>
                <a:latin typeface="Arial"/>
                <a:ea typeface="Arial"/>
                <a:cs typeface="Arial"/>
              </a:defRPr>
            </a:lvl3pPr>
            <a:lvl4pPr>
              <a:defRPr sz="1800" b="0">
                <a:solidFill>
                  <a:srgbClr val="52647A"/>
                </a:solidFill>
                <a:latin typeface="Arial"/>
                <a:ea typeface="Arial"/>
                <a:cs typeface="Arial"/>
              </a:defRPr>
            </a:lvl4pPr>
            <a:lvl5pPr>
              <a:defRPr sz="1800" b="0">
                <a:solidFill>
                  <a:srgbClr val="52647A"/>
                </a:solidFill>
                <a:latin typeface="Arial"/>
                <a:ea typeface="Arial"/>
                <a:cs typeface="Arial"/>
              </a:defRPr>
            </a:lvl5pPr>
            <a:lvl6pPr>
              <a:defRPr sz="1800" b="0">
                <a:solidFill>
                  <a:srgbClr val="52647A"/>
                </a:solidFill>
                <a:latin typeface="Arial"/>
                <a:ea typeface="Arial"/>
                <a:cs typeface="Arial"/>
              </a:defRPr>
            </a:lvl6pPr>
            <a:lvl7pPr>
              <a:defRPr sz="1800" b="0">
                <a:solidFill>
                  <a:srgbClr val="52647A"/>
                </a:solidFill>
                <a:latin typeface="Arial"/>
                <a:ea typeface="Arial"/>
                <a:cs typeface="Arial"/>
              </a:defRPr>
            </a:lvl7pPr>
            <a:lvl8pPr>
              <a:defRPr sz="1800" b="0">
                <a:solidFill>
                  <a:srgbClr val="52647A"/>
                </a:solidFill>
                <a:latin typeface="Arial"/>
                <a:ea typeface="Arial"/>
                <a:cs typeface="Arial"/>
              </a:defRPr>
            </a:lvl8pPr>
            <a:lvl9pPr>
              <a:defRPr sz="1800" b="0">
                <a:solidFill>
                  <a:srgbClr val="52647A"/>
                </a:solidFill>
                <a:latin typeface="Arial"/>
                <a:ea typeface="Arial"/>
                <a:cs typeface="Arial"/>
              </a:defRPr>
            </a:lvl9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Embeddings, Prompts und Antworten können schutzwürdige Information enthalten.</a:t>
            </a:r>
          </a:p>
        </p:txBody>
      </p:sp>
      <p:sp>
        <p:nvSpPr>
          <p:cNvPr id="4" name="text-2">
            <a:extLst xmlns:a="http://schemas.openxmlformats.org/drawingml/2006/main">
              <a:ext uri="{FF2B5EF4-FFF2-40B4-BE49-F238E27FC236}">
                <a16:creationId xmlns:a16="http://schemas.microsoft.com/office/drawing/2014/main" id="{6C5B70B0-DF52-4A43-AC14-DB0DFB6395F5}"/>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STANDARD 39 · Quellfolie 47 · CUR-018</a:t>
            </a:r>
          </a:p>
        </p:txBody>
      </p:sp>
    </p:spTree>
    <p:extLst>
      <p:ext uri="{BB962C8B-B14F-4D97-AF65-F5344CB8AC3E}">
        <p14:creationId xmlns:p14="http://schemas.microsoft.com/office/powerpoint/2010/main" val="1373711149"/>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5F1DA912-AB8F-4ABF-BF04-982C91B57CDA}"/>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QRY-019: Wertbindung und SQL-Struktur</a:t>
            </a:r>
          </a:p>
        </p:txBody>
      </p:sp>
      <p:sp>
        <p:nvSpPr>
          <p:cNvPr id="2" name="text-1">
            <a:extLst xmlns:a="http://schemas.openxmlformats.org/drawingml/2006/main">
              <a:ext uri="{FF2B5EF4-FFF2-40B4-BE49-F238E27FC236}">
                <a16:creationId xmlns:a16="http://schemas.microsoft.com/office/drawing/2014/main" id="{46FCCCD6-F57C-44CA-8AA6-BDE72D2F9AB2}"/>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Vorhersage</a:t>
            </a:r>
          </a:p>
        </p:txBody>
      </p:sp>
      <p:sp>
        <p:nvSpPr>
          <p:cNvPr id="3" name="text-2">
            <a:extLst xmlns:a="http://schemas.openxmlformats.org/drawingml/2006/main">
              <a:ext uri="{FF2B5EF4-FFF2-40B4-BE49-F238E27FC236}">
                <a16:creationId xmlns:a16="http://schemas.microsoft.com/office/drawing/2014/main" id="{0E3DCB1E-8DBD-43C9-AB30-FA328B8D89B4}"/>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Kann Quote-, Semikolon- und DROP-Text als Wert einen Literal-Treffer liefern?</a:t>
            </a:r>
          </a:p>
        </p:txBody>
      </p:sp>
      <p:sp>
        <p:nvSpPr>
          <p:cNvPr id="4" name="text-3">
            <a:extLst xmlns:a="http://schemas.openxmlformats.org/drawingml/2006/main">
              <a:ext uri="{FF2B5EF4-FFF2-40B4-BE49-F238E27FC236}">
                <a16:creationId xmlns:a16="http://schemas.microsoft.com/office/drawing/2014/main" id="{FD145C17-7F29-4420-A3A5-DD4330D0B8F1}"/>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Beobachtung</a:t>
            </a:r>
          </a:p>
        </p:txBody>
      </p:sp>
      <p:sp>
        <p:nvSpPr>
          <p:cNvPr id="5" name="text-4">
            <a:extLst xmlns:a="http://schemas.openxmlformats.org/drawingml/2006/main">
              <a:ext uri="{FF2B5EF4-FFF2-40B4-BE49-F238E27FC236}">
                <a16:creationId xmlns:a16="http://schemas.microsoft.com/office/drawing/2014/main" id="{9CFD8080-D4F0-49F3-8244-0BCED1D0A165}"/>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Feste Statementstruktur, getrennte Wertparameter und tatsächliche Readerrechte im Code zeigen.</a:t>
            </a:r>
          </a:p>
        </p:txBody>
      </p:sp>
      <p:sp>
        <p:nvSpPr>
          <p:cNvPr id="6" name="text-5">
            <a:extLst xmlns:a="http://schemas.openxmlformats.org/drawingml/2006/main">
              <a:ext uri="{FF2B5EF4-FFF2-40B4-BE49-F238E27FC236}">
                <a16:creationId xmlns:a16="http://schemas.microsoft.com/office/drawing/2014/main" id="{AFCF0F16-8C1F-47A5-9CB3-8590E9171AEF}"/>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Gegenprobe</a:t>
            </a:r>
          </a:p>
        </p:txBody>
      </p:sp>
      <p:sp>
        <p:nvSpPr>
          <p:cNvPr id="7" name="text-6">
            <a:extLst xmlns:a="http://schemas.openxmlformats.org/drawingml/2006/main">
              <a:ext uri="{FF2B5EF4-FFF2-40B4-BE49-F238E27FC236}">
                <a16:creationId xmlns:a16="http://schemas.microsoft.com/office/drawing/2014/main" id="{6861F6AA-A9B3-44B8-910F-5C022BBCC0E4}"/>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Zusatzstatement und unerlaubte Aktion ablehnen. Identifier benötigen eine eigene Allowlist.</a:t>
            </a:r>
          </a:p>
        </p:txBody>
      </p:sp>
      <p:sp>
        <p:nvSpPr>
          <p:cNvPr id="8" name="text-7">
            <a:extLst xmlns:a="http://schemas.openxmlformats.org/drawingml/2006/main">
              <a:ext uri="{FF2B5EF4-FFF2-40B4-BE49-F238E27FC236}">
                <a16:creationId xmlns:a16="http://schemas.microsoft.com/office/drawing/2014/main" id="{5A555A61-C024-4D9E-AADE-705C6F91A98E}"/>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vl1pPr>
              <a:defRPr sz="1800" b="0">
                <a:solidFill>
                  <a:srgbClr val="52647A"/>
                </a:solidFill>
                <a:latin typeface="Arial"/>
                <a:ea typeface="Arial"/>
                <a:cs typeface="Arial"/>
              </a:defRPr>
            </a:lvl1pPr>
            <a:lvl2pPr>
              <a:defRPr sz="1800" b="0">
                <a:solidFill>
                  <a:srgbClr val="52647A"/>
                </a:solidFill>
                <a:latin typeface="Arial"/>
                <a:ea typeface="Arial"/>
                <a:cs typeface="Arial"/>
              </a:defRPr>
            </a:lvl2pPr>
            <a:lvl3pPr>
              <a:defRPr sz="1800" b="0">
                <a:solidFill>
                  <a:srgbClr val="52647A"/>
                </a:solidFill>
                <a:latin typeface="Arial"/>
                <a:ea typeface="Arial"/>
                <a:cs typeface="Arial"/>
              </a:defRPr>
            </a:lvl3pPr>
            <a:lvl4pPr>
              <a:defRPr sz="1800" b="0">
                <a:solidFill>
                  <a:srgbClr val="52647A"/>
                </a:solidFill>
                <a:latin typeface="Arial"/>
                <a:ea typeface="Arial"/>
                <a:cs typeface="Arial"/>
              </a:defRPr>
            </a:lvl4pPr>
            <a:lvl5pPr>
              <a:defRPr sz="1800" b="0">
                <a:solidFill>
                  <a:srgbClr val="52647A"/>
                </a:solidFill>
                <a:latin typeface="Arial"/>
                <a:ea typeface="Arial"/>
                <a:cs typeface="Arial"/>
              </a:defRPr>
            </a:lvl5pPr>
            <a:lvl6pPr>
              <a:defRPr sz="1800" b="0">
                <a:solidFill>
                  <a:srgbClr val="52647A"/>
                </a:solidFill>
                <a:latin typeface="Arial"/>
                <a:ea typeface="Arial"/>
                <a:cs typeface="Arial"/>
              </a:defRPr>
            </a:lvl6pPr>
            <a:lvl7pPr>
              <a:defRPr sz="1800" b="0">
                <a:solidFill>
                  <a:srgbClr val="52647A"/>
                </a:solidFill>
                <a:latin typeface="Arial"/>
                <a:ea typeface="Arial"/>
                <a:cs typeface="Arial"/>
              </a:defRPr>
            </a:lvl7pPr>
            <a:lvl8pPr>
              <a:defRPr sz="1800" b="0">
                <a:solidFill>
                  <a:srgbClr val="52647A"/>
                </a:solidFill>
                <a:latin typeface="Arial"/>
                <a:ea typeface="Arial"/>
                <a:cs typeface="Arial"/>
              </a:defRPr>
            </a:lvl8pPr>
            <a:lvl9pPr>
              <a:defRPr sz="1800" b="0">
                <a:solidFill>
                  <a:srgbClr val="52647A"/>
                </a:solidFill>
                <a:latin typeface="Arial"/>
                <a:ea typeface="Arial"/>
                <a:cs typeface="Arial"/>
              </a:defRPr>
            </a:lvl9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IMPLEMENTED. Feste SQL-/Promptfixtures, kein privilegierter Angriffslauf.</a:t>
            </a:r>
          </a:p>
        </p:txBody>
      </p:sp>
      <p:sp>
        <p:nvSpPr>
          <p:cNvPr id="9" name="text-8">
            <a:extLst xmlns:a="http://schemas.openxmlformats.org/drawingml/2006/main">
              <a:ext uri="{FF2B5EF4-FFF2-40B4-BE49-F238E27FC236}">
                <a16:creationId xmlns:a16="http://schemas.microsoft.com/office/drawing/2014/main" id="{7ED8B6A7-85A3-4960-B57E-6051130890B3}"/>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STANDARD 40 · Quellfolie 48 · CUR-018 / CUR-021</a:t>
            </a:r>
          </a:p>
        </p:txBody>
      </p:sp>
    </p:spTree>
    <p:extLst>
      <p:ext uri="{BB962C8B-B14F-4D97-AF65-F5344CB8AC3E}">
        <p14:creationId xmlns:p14="http://schemas.microsoft.com/office/powerpoint/2010/main" val="751513345"/>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0">
            <a:extLst xmlns:a="http://schemas.openxmlformats.org/drawingml/2006/main">
              <a:ext uri="{FF2B5EF4-FFF2-40B4-BE49-F238E27FC236}">
                <a16:creationId xmlns:a16="http://schemas.microsoft.com/office/drawing/2014/main" id="{C9C34952-FCC8-4E9E-A527-B5E2CD866CAE}"/>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Modellpfade und ihre Freigaben</a:t>
            </a:r>
          </a:p>
        </p:txBody>
      </p:sp>
      <p:graphicFrame>
        <p:nvGraphicFramePr>
          <p:cNvPr id="2" name="">
            <a:extLst xmlns:a="http://schemas.openxmlformats.org/drawingml/2006/main">
              <a:ext uri="{FF2B5EF4-FFF2-40B4-BE49-F238E27FC236}">
                <a16:creationId xmlns:a16="http://schemas.microsoft.com/office/drawing/2014/main" id="{E6106C73-3E44-4257-AB62-5209BBA204C1}"/>
              </a:ext>
            </a:extLst>
          </p:cNvPr>
          <p:cNvGraphicFramePr/>
          <p:nvPr/>
        </p:nvGraphicFramePr>
        <p:xfrm>
          <a:off xmlns:a="http://schemas.openxmlformats.org/drawingml/2006/main" x="685800" y="1771650"/>
          <a:ext xmlns:a="http://schemas.openxmlformats.org/drawingml/2006/main" cx="10668000" cy="4000500"/>
        </p:xfrm>
        <a:graphic xmlns:a="http://schemas.openxmlformats.org/drawingml/2006/main">
          <a:graphicData uri="http://schemas.openxmlformats.org/drawingml/2006/table">
            <a:tbl>
              <a:tblPr/>
              <a:tblGrid>
                <a:gridCol w="3048000"/>
                <a:gridCol w="3905250"/>
                <a:gridCol w="3714750"/>
              </a:tblGrid>
              <a:tr h="800100">
                <a:tc>
                  <a:txBody>
                    <a:bodyPr/>
                    <a:lstStyle/>
                    <a:p>
                      <a:r>
                        <a:rPr sz="1800" b="1">
                          <a:solidFill>
                            <a:srgbClr val="15283D"/>
                          </a:solidFill>
                          <a:latin typeface="Arial"/>
                          <a:ea typeface="Arial"/>
                          <a:cs typeface="Arial"/>
                        </a:rPr>
                        <a:t>Pfad</a:t>
                      </a:r>
                    </a:p>
                  </a:txBody>
                  <a:tcPr marL="114300" marR="114300" marT="47625" marB="47625" anchor="ctr">
                    <a:lnL w="9525">
                      <a:solidFill>
                        <a:srgbClr val="C8D5DE"/>
                      </a:solidFill>
                      <a:prstDash val="solid"/>
                    </a:lnL>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c>
                  <a:txBody>
                    <a:bodyPr/>
                    <a:lstStyle/>
                    <a:p>
                      <a:r>
                        <a:rPr sz="1800" b="1">
                          <a:solidFill>
                            <a:srgbClr val="15283D"/>
                          </a:solidFill>
                          <a:latin typeface="Arial"/>
                          <a:ea typeface="Arial"/>
                          <a:cs typeface="Arial"/>
                        </a:rPr>
                        <a:t>Was er zeigt</a:t>
                      </a:r>
                    </a:p>
                  </a:txBody>
                  <a:tcPr marL="114300" marR="114300" marT="47625" marB="47625" anchor="ctr">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c>
                  <a:txBody>
                    <a:bodyPr/>
                    <a:lstStyle/>
                    <a:p>
                      <a:r>
                        <a:rPr sz="1800" b="1">
                          <a:solidFill>
                            <a:srgbClr val="15283D"/>
                          </a:solidFill>
                          <a:latin typeface="Arial"/>
                          <a:ea typeface="Arial"/>
                          <a:cs typeface="Arial"/>
                        </a:rPr>
                        <a:t>Grenze</a:t>
                      </a:r>
                    </a:p>
                  </a:txBody>
                  <a:tcPr marL="114300" marR="114300" marT="47625" marB="47625" anchor="ctr">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r>
              <a:tr h="800100">
                <a:tc>
                  <a:txBody>
                    <a:bodyPr/>
                    <a:lstStyle/>
                    <a:p>
                      <a:r>
                        <a:rPr sz="1800" b="0">
                          <a:solidFill>
                            <a:srgbClr val="15283D"/>
                          </a:solidFill>
                          <a:latin typeface="Arial"/>
                          <a:ea typeface="Arial"/>
                          <a:cs typeface="Arial"/>
                        </a:rPr>
                        <a:t>Geometrie und Offlinefixtures</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SQL-Mechanik und feste Kontrollfälle</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Keine echte Sprachsemantik oder Inferenz</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800100">
                <a:tc>
                  <a:txBody>
                    <a:bodyPr/>
                    <a:lstStyle/>
                    <a:p>
                      <a:r>
                        <a:rPr sz="1800" b="0">
                          <a:solidFill>
                            <a:srgbClr val="15283D"/>
                          </a:solidFill>
                          <a:latin typeface="Arial"/>
                          <a:ea typeface="Arial"/>
                          <a:cs typeface="Arial"/>
                        </a:rPr>
                        <a:t>QRY-020: lokaler Provider</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Geplante echte Embeddings über Ollama</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PROPOSED. Verschlüsselung (TLS), Schnittstelle und Laufzeit prüfen</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800100">
                <a:tc>
                  <a:txBody>
                    <a:bodyPr/>
                    <a:lstStyle/>
                    <a:p>
                      <a:r>
                        <a:rPr sz="1800" b="0">
                          <a:solidFill>
                            <a:srgbClr val="15283D"/>
                          </a:solidFill>
                          <a:latin typeface="Arial"/>
                          <a:ea typeface="Arial"/>
                          <a:cs typeface="Arial"/>
                        </a:rPr>
                        <a:t>QRY-021: externer Provider</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Geplante externe Embeddings</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PROPOSED. Egress, Secrets und Geldbudget</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800100">
                <a:tc>
                  <a:txBody>
                    <a:bodyPr/>
                    <a:lstStyle/>
                    <a:p>
                      <a:r>
                        <a:rPr sz="1800" b="0">
                          <a:solidFill>
                            <a:srgbClr val="15283D"/>
                          </a:solidFill>
                          <a:latin typeface="Arial"/>
                          <a:ea typeface="Arial"/>
                          <a:cs typeface="Arial"/>
                        </a:rPr>
                        <a:t>QRY-022: Modellformat ONNX</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Open Neural Network Exchange für lokale Inferenz</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PROPOSED. Windows und ML Services, Rot</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bl>
          </a:graphicData>
        </a:graphic>
      </p:graphicFrame>
      <p:sp>
        <p:nvSpPr>
          <p:cNvPr id="3" name="text-1">
            <a:extLst xmlns:a="http://schemas.openxmlformats.org/drawingml/2006/main">
              <a:ext uri="{FF2B5EF4-FFF2-40B4-BE49-F238E27FC236}">
                <a16:creationId xmlns:a16="http://schemas.microsoft.com/office/drawing/2014/main" id="{B1291D98-3DBD-4FA1-A270-FA49AC282F7C}"/>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STANDARD 41 · Quellfolie 40 · CUR-016</a:t>
            </a:r>
          </a:p>
        </p:txBody>
      </p:sp>
    </p:spTree>
    <p:extLst>
      <p:ext uri="{BB962C8B-B14F-4D97-AF65-F5344CB8AC3E}">
        <p14:creationId xmlns:p14="http://schemas.microsoft.com/office/powerpoint/2010/main" val="1587465542"/>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C55FB869-9F7B-477D-8FAE-31AC82B04E4E}"/>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Embedding-Lifecycle</a:t>
            </a:r>
          </a:p>
        </p:txBody>
      </p:sp>
      <p:sp>
        <p:nvSpPr>
          <p:cNvPr id="2" name="text-1">
            <a:extLst xmlns:a="http://schemas.openxmlformats.org/drawingml/2006/main">
              <a:ext uri="{FF2B5EF4-FFF2-40B4-BE49-F238E27FC236}">
                <a16:creationId xmlns:a16="http://schemas.microsoft.com/office/drawing/2014/main" id="{9E89E186-0896-4E58-B471-06FB64A506A5}"/>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Vor Anfrage</a:t>
            </a:r>
          </a:p>
        </p:txBody>
      </p:sp>
      <p:sp>
        <p:nvSpPr>
          <p:cNvPr id="3" name="text-2">
            <a:extLst xmlns:a="http://schemas.openxmlformats.org/drawingml/2006/main">
              <a:ext uri="{FF2B5EF4-FFF2-40B4-BE49-F238E27FC236}">
                <a16:creationId xmlns:a16="http://schemas.microsoft.com/office/drawing/2014/main" id="{725FD670-F44E-46F8-AB52-D56B55C36ADC}"/>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Modell, Dimension, Tokenlimit, Lizenz, TLS und authentifizierten Endpoint prüfen.</a:t>
            </a:r>
          </a:p>
        </p:txBody>
      </p:sp>
      <p:sp>
        <p:nvSpPr>
          <p:cNvPr id="4" name="text-3">
            <a:extLst xmlns:a="http://schemas.openxmlformats.org/drawingml/2006/main">
              <a:ext uri="{FF2B5EF4-FFF2-40B4-BE49-F238E27FC236}">
                <a16:creationId xmlns:a16="http://schemas.microsoft.com/office/drawing/2014/main" id="{C9190B43-5694-496A-B8D2-256D56618CAA}"/>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Vor dem INSERT</a:t>
            </a:r>
          </a:p>
        </p:txBody>
      </p:sp>
      <p:sp>
        <p:nvSpPr>
          <p:cNvPr id="5" name="text-4">
            <a:extLst xmlns:a="http://schemas.openxmlformats.org/drawingml/2006/main">
              <a:ext uri="{FF2B5EF4-FFF2-40B4-BE49-F238E27FC236}">
                <a16:creationId xmlns:a16="http://schemas.microsoft.com/office/drawing/2014/main" id="{B87A8D85-1E44-45B7-84AA-5CBF8B94CF9F}"/>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Resultattyp, Anzahl, Dimension, Truncation und Modellraum kontrollieren.</a:t>
            </a:r>
          </a:p>
        </p:txBody>
      </p:sp>
      <p:sp>
        <p:nvSpPr>
          <p:cNvPr id="6" name="text-5">
            <a:extLst xmlns:a="http://schemas.openxmlformats.org/drawingml/2006/main">
              <a:ext uri="{FF2B5EF4-FFF2-40B4-BE49-F238E27FC236}">
                <a16:creationId xmlns:a16="http://schemas.microsoft.com/office/drawing/2014/main" id="{741CC22A-9ECC-4710-B60F-42E1B632938D}"/>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Nach Änderungen</a:t>
            </a:r>
          </a:p>
        </p:txBody>
      </p:sp>
      <p:sp>
        <p:nvSpPr>
          <p:cNvPr id="7" name="text-6">
            <a:extLst xmlns:a="http://schemas.openxmlformats.org/drawingml/2006/main">
              <a:ext uri="{FF2B5EF4-FFF2-40B4-BE49-F238E27FC236}">
                <a16:creationId xmlns:a16="http://schemas.microsoft.com/office/drawing/2014/main" id="{079409AE-D09A-48DC-A35F-5BBBE2289399}"/>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Re-Embedding nachvollziehbar versionieren. Request-, Retry-, Netz- und Modellzeit getrennt zählen.</a:t>
            </a:r>
          </a:p>
        </p:txBody>
      </p:sp>
      <p:sp>
        <p:nvSpPr>
          <p:cNvPr id="8" name="text-7">
            <a:extLst xmlns:a="http://schemas.openxmlformats.org/drawingml/2006/main">
              <a:ext uri="{FF2B5EF4-FFF2-40B4-BE49-F238E27FC236}">
                <a16:creationId xmlns:a16="http://schemas.microsoft.com/office/drawing/2014/main" id="{387BED64-F442-49A3-905D-24FEB6A7FA17}"/>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vl1pPr>
              <a:defRPr sz="1800" b="0">
                <a:solidFill>
                  <a:srgbClr val="52647A"/>
                </a:solidFill>
                <a:latin typeface="Arial"/>
                <a:ea typeface="Arial"/>
                <a:cs typeface="Arial"/>
              </a:defRPr>
            </a:lvl1pPr>
            <a:lvl2pPr>
              <a:defRPr sz="1800" b="0">
                <a:solidFill>
                  <a:srgbClr val="52647A"/>
                </a:solidFill>
                <a:latin typeface="Arial"/>
                <a:ea typeface="Arial"/>
                <a:cs typeface="Arial"/>
              </a:defRPr>
            </a:lvl2pPr>
            <a:lvl3pPr>
              <a:defRPr sz="1800" b="0">
                <a:solidFill>
                  <a:srgbClr val="52647A"/>
                </a:solidFill>
                <a:latin typeface="Arial"/>
                <a:ea typeface="Arial"/>
                <a:cs typeface="Arial"/>
              </a:defRPr>
            </a:lvl3pPr>
            <a:lvl4pPr>
              <a:defRPr sz="1800" b="0">
                <a:solidFill>
                  <a:srgbClr val="52647A"/>
                </a:solidFill>
                <a:latin typeface="Arial"/>
                <a:ea typeface="Arial"/>
                <a:cs typeface="Arial"/>
              </a:defRPr>
            </a:lvl4pPr>
            <a:lvl5pPr>
              <a:defRPr sz="1800" b="0">
                <a:solidFill>
                  <a:srgbClr val="52647A"/>
                </a:solidFill>
                <a:latin typeface="Arial"/>
                <a:ea typeface="Arial"/>
                <a:cs typeface="Arial"/>
              </a:defRPr>
            </a:lvl5pPr>
            <a:lvl6pPr>
              <a:defRPr sz="1800" b="0">
                <a:solidFill>
                  <a:srgbClr val="52647A"/>
                </a:solidFill>
                <a:latin typeface="Arial"/>
                <a:ea typeface="Arial"/>
                <a:cs typeface="Arial"/>
              </a:defRPr>
            </a:lvl6pPr>
            <a:lvl7pPr>
              <a:defRPr sz="1800" b="0">
                <a:solidFill>
                  <a:srgbClr val="52647A"/>
                </a:solidFill>
                <a:latin typeface="Arial"/>
                <a:ea typeface="Arial"/>
                <a:cs typeface="Arial"/>
              </a:defRPr>
            </a:lvl7pPr>
            <a:lvl8pPr>
              <a:defRPr sz="1800" b="0">
                <a:solidFill>
                  <a:srgbClr val="52647A"/>
                </a:solidFill>
                <a:latin typeface="Arial"/>
                <a:ea typeface="Arial"/>
                <a:cs typeface="Arial"/>
              </a:defRPr>
            </a:lvl8pPr>
            <a:lvl9pPr>
              <a:defRPr sz="1800" b="0">
                <a:solidFill>
                  <a:srgbClr val="52647A"/>
                </a:solidFill>
                <a:latin typeface="Arial"/>
                <a:ea typeface="Arial"/>
                <a:cs typeface="Arial"/>
              </a:defRPr>
            </a:lvl9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SQL External Model beschreibt den Embeddingzugang. Die generative Antwort bleibt ein Anwendungsschritt.</a:t>
            </a:r>
          </a:p>
        </p:txBody>
      </p:sp>
      <p:sp>
        <p:nvSpPr>
          <p:cNvPr id="9" name="text-8">
            <a:extLst xmlns:a="http://schemas.openxmlformats.org/drawingml/2006/main">
              <a:ext uri="{FF2B5EF4-FFF2-40B4-BE49-F238E27FC236}">
                <a16:creationId xmlns:a16="http://schemas.microsoft.com/office/drawing/2014/main" id="{35FF8FBF-A783-4ABA-AC69-8A3EBE7D850D}"/>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STANDARD 42 · Quellfolie 41 · CUR-016</a:t>
            </a:r>
          </a:p>
        </p:txBody>
      </p:sp>
    </p:spTree>
    <p:extLst>
      <p:ext uri="{BB962C8B-B14F-4D97-AF65-F5344CB8AC3E}">
        <p14:creationId xmlns:p14="http://schemas.microsoft.com/office/powerpoint/2010/main" val="434438359"/>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9BFA3D30-E459-422C-9A71-861CF4A4BEED}"/>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DGN-008: Getrennte Modellrechte</a:t>
            </a:r>
          </a:p>
        </p:txBody>
      </p:sp>
      <p:sp>
        <p:nvSpPr>
          <p:cNvPr id="2" name="text-1">
            <a:extLst xmlns:a="http://schemas.openxmlformats.org/drawingml/2006/main">
              <a:ext uri="{FF2B5EF4-FFF2-40B4-BE49-F238E27FC236}">
                <a16:creationId xmlns:a16="http://schemas.microsoft.com/office/drawing/2014/main" id="{A1390EBF-D107-42BF-9B97-4CBED2E8D974}"/>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Vorhersage</a:t>
            </a:r>
          </a:p>
        </p:txBody>
      </p:sp>
      <p:sp>
        <p:nvSpPr>
          <p:cNvPr id="3" name="text-2">
            <a:extLst xmlns:a="http://schemas.openxmlformats.org/drawingml/2006/main">
              <a:ext uri="{FF2B5EF4-FFF2-40B4-BE49-F238E27FC236}">
                <a16:creationId xmlns:a16="http://schemas.microsoft.com/office/drawing/2014/main" id="{E1F70299-CDAA-435F-92EC-6D477D7105FA}"/>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Welche Rechte brauchen Setup, Ingestion und Retrieval jeweils?</a:t>
            </a:r>
          </a:p>
        </p:txBody>
      </p:sp>
      <p:sp>
        <p:nvSpPr>
          <p:cNvPr id="4" name="text-3">
            <a:extLst xmlns:a="http://schemas.openxmlformats.org/drawingml/2006/main">
              <a:ext uri="{FF2B5EF4-FFF2-40B4-BE49-F238E27FC236}">
                <a16:creationId xmlns:a16="http://schemas.microsoft.com/office/drawing/2014/main" id="{28111B26-8C21-45E5-99BC-8601BDD6AAE4}"/>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Beobachtung</a:t>
            </a:r>
          </a:p>
        </p:txBody>
      </p:sp>
      <p:sp>
        <p:nvSpPr>
          <p:cNvPr id="5" name="text-4">
            <a:extLst xmlns:a="http://schemas.openxmlformats.org/drawingml/2006/main">
              <a:ext uri="{FF2B5EF4-FFF2-40B4-BE49-F238E27FC236}">
                <a16:creationId xmlns:a16="http://schemas.microsoft.com/office/drawing/2014/main" id="{728EED69-B208-4C3B-9C29-7BA2B6D95677}"/>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Offline-Modellmetadaten, drei getrennte Rollen und die tatsächliche Grantreduktion prüfen.</a:t>
            </a:r>
          </a:p>
        </p:txBody>
      </p:sp>
      <p:sp>
        <p:nvSpPr>
          <p:cNvPr id="6" name="text-5">
            <a:extLst xmlns:a="http://schemas.openxmlformats.org/drawingml/2006/main">
              <a:ext uri="{FF2B5EF4-FFF2-40B4-BE49-F238E27FC236}">
                <a16:creationId xmlns:a16="http://schemas.microsoft.com/office/drawing/2014/main" id="{B3942F05-EE12-4979-8BFB-BCA28F47FF8B}"/>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Interpretation</a:t>
            </a:r>
          </a:p>
        </p:txBody>
      </p:sp>
      <p:sp>
        <p:nvSpPr>
          <p:cNvPr id="7" name="text-6">
            <a:extLst xmlns:a="http://schemas.openxmlformats.org/drawingml/2006/main">
              <a:ext uri="{FF2B5EF4-FFF2-40B4-BE49-F238E27FC236}">
                <a16:creationId xmlns:a16="http://schemas.microsoft.com/office/drawing/2014/main" id="{DF0ED0D9-74D1-4DCB-B3BC-58F166824E7B}"/>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Model-EXECUTE belegt hier ein Metadatenrecht. Providererreichbarkeit und Inferenz bleiben offen.</a:t>
            </a:r>
          </a:p>
        </p:txBody>
      </p:sp>
      <p:sp>
        <p:nvSpPr>
          <p:cNvPr id="8" name="text-7">
            <a:extLst xmlns:a="http://schemas.openxmlformats.org/drawingml/2006/main">
              <a:ext uri="{FF2B5EF4-FFF2-40B4-BE49-F238E27FC236}">
                <a16:creationId xmlns:a16="http://schemas.microsoft.com/office/drawing/2014/main" id="{FBDC1338-F796-4E2D-B4DE-03C5DB558369}"/>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vl1pPr>
              <a:defRPr sz="1800" b="0">
                <a:solidFill>
                  <a:srgbClr val="52647A"/>
                </a:solidFill>
                <a:latin typeface="Arial"/>
                <a:ea typeface="Arial"/>
                <a:cs typeface="Arial"/>
              </a:defRPr>
            </a:lvl1pPr>
            <a:lvl2pPr>
              <a:defRPr sz="1800" b="0">
                <a:solidFill>
                  <a:srgbClr val="52647A"/>
                </a:solidFill>
                <a:latin typeface="Arial"/>
                <a:ea typeface="Arial"/>
                <a:cs typeface="Arial"/>
              </a:defRPr>
            </a:lvl2pPr>
            <a:lvl3pPr>
              <a:defRPr sz="1800" b="0">
                <a:solidFill>
                  <a:srgbClr val="52647A"/>
                </a:solidFill>
                <a:latin typeface="Arial"/>
                <a:ea typeface="Arial"/>
                <a:cs typeface="Arial"/>
              </a:defRPr>
            </a:lvl3pPr>
            <a:lvl4pPr>
              <a:defRPr sz="1800" b="0">
                <a:solidFill>
                  <a:srgbClr val="52647A"/>
                </a:solidFill>
                <a:latin typeface="Arial"/>
                <a:ea typeface="Arial"/>
                <a:cs typeface="Arial"/>
              </a:defRPr>
            </a:lvl4pPr>
            <a:lvl5pPr>
              <a:defRPr sz="1800" b="0">
                <a:solidFill>
                  <a:srgbClr val="52647A"/>
                </a:solidFill>
                <a:latin typeface="Arial"/>
                <a:ea typeface="Arial"/>
                <a:cs typeface="Arial"/>
              </a:defRPr>
            </a:lvl5pPr>
            <a:lvl6pPr>
              <a:defRPr sz="1800" b="0">
                <a:solidFill>
                  <a:srgbClr val="52647A"/>
                </a:solidFill>
                <a:latin typeface="Arial"/>
                <a:ea typeface="Arial"/>
                <a:cs typeface="Arial"/>
              </a:defRPr>
            </a:lvl6pPr>
            <a:lvl7pPr>
              <a:defRPr sz="1800" b="0">
                <a:solidFill>
                  <a:srgbClr val="52647A"/>
                </a:solidFill>
                <a:latin typeface="Arial"/>
                <a:ea typeface="Arial"/>
                <a:cs typeface="Arial"/>
              </a:defRPr>
            </a:lvl7pPr>
            <a:lvl8pPr>
              <a:defRPr sz="1800" b="0">
                <a:solidFill>
                  <a:srgbClr val="52647A"/>
                </a:solidFill>
                <a:latin typeface="Arial"/>
                <a:ea typeface="Arial"/>
                <a:cs typeface="Arial"/>
              </a:defRPr>
            </a:lvl8pPr>
            <a:lvl9pPr>
              <a:defRPr sz="1800" b="0">
                <a:solidFill>
                  <a:srgbClr val="52647A"/>
                </a:solidFill>
                <a:latin typeface="Arial"/>
                <a:ea typeface="Arial"/>
                <a:cs typeface="Arial"/>
              </a:defRPr>
            </a:lvl9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IMPLEMENTED. Ohne Credential, Netzrequest oder Embeddinggenerierung.</a:t>
            </a:r>
          </a:p>
        </p:txBody>
      </p:sp>
      <p:sp>
        <p:nvSpPr>
          <p:cNvPr id="9" name="text-8">
            <a:extLst xmlns:a="http://schemas.openxmlformats.org/drawingml/2006/main">
              <a:ext uri="{FF2B5EF4-FFF2-40B4-BE49-F238E27FC236}">
                <a16:creationId xmlns:a16="http://schemas.microsoft.com/office/drawing/2014/main" id="{CBCB1D3E-4021-4948-BA09-048B31ADD724}"/>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STANDARD 43 · Quellfolie 42 · CUR-016 / CUR-018</a:t>
            </a:r>
          </a:p>
        </p:txBody>
      </p:sp>
    </p:spTree>
    <p:extLst>
      <p:ext uri="{BB962C8B-B14F-4D97-AF65-F5344CB8AC3E}">
        <p14:creationId xmlns:p14="http://schemas.microsoft.com/office/powerpoint/2010/main" val="65128585"/>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2AE061F8-C961-441C-88EF-768152137B59}"/>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DGN-009: Manipulierte Retrievalquelle</a:t>
            </a:r>
          </a:p>
        </p:txBody>
      </p:sp>
      <p:sp>
        <p:nvSpPr>
          <p:cNvPr id="2" name="text-1">
            <a:extLst xmlns:a="http://schemas.openxmlformats.org/drawingml/2006/main">
              <a:ext uri="{FF2B5EF4-FFF2-40B4-BE49-F238E27FC236}">
                <a16:creationId xmlns:a16="http://schemas.microsoft.com/office/drawing/2014/main" id="{F88A42A8-E61D-4271-A134-E9982E1E347E}"/>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Vorhersage</a:t>
            </a:r>
          </a:p>
        </p:txBody>
      </p:sp>
      <p:sp>
        <p:nvSpPr>
          <p:cNvPr id="3" name="text-2">
            <a:extLst xmlns:a="http://schemas.openxmlformats.org/drawingml/2006/main">
              <a:ext uri="{FF2B5EF4-FFF2-40B4-BE49-F238E27FC236}">
                <a16:creationId xmlns:a16="http://schemas.microsoft.com/office/drawing/2014/main" id="{F9084EEB-8862-4669-8AB2-654919915A8C}"/>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Eine Quelle fordert eine Zusatzaktion. Welche Befugnis entsteht daraus?</a:t>
            </a:r>
          </a:p>
        </p:txBody>
      </p:sp>
      <p:sp>
        <p:nvSpPr>
          <p:cNvPr id="4" name="text-3">
            <a:extLst xmlns:a="http://schemas.openxmlformats.org/drawingml/2006/main">
              <a:ext uri="{FF2B5EF4-FFF2-40B4-BE49-F238E27FC236}">
                <a16:creationId xmlns:a16="http://schemas.microsoft.com/office/drawing/2014/main" id="{2C87AE3B-0D71-4804-9FB1-D36AD3FA4F72}"/>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Beobachtung</a:t>
            </a:r>
          </a:p>
        </p:txBody>
      </p:sp>
      <p:sp>
        <p:nvSpPr>
          <p:cNvPr id="5" name="text-4">
            <a:extLst xmlns:a="http://schemas.openxmlformats.org/drawingml/2006/main">
              <a:ext uri="{FF2B5EF4-FFF2-40B4-BE49-F238E27FC236}">
                <a16:creationId xmlns:a16="http://schemas.microsoft.com/office/drawing/2014/main" id="{CF99DF56-C52A-4109-9EEF-907BD772CF33}"/>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Den tatsächlich retrievten manipulierten Text von Antwortfixture und Toolpolicy trennen.</a:t>
            </a:r>
          </a:p>
        </p:txBody>
      </p:sp>
      <p:sp>
        <p:nvSpPr>
          <p:cNvPr id="6" name="text-5">
            <a:extLst xmlns:a="http://schemas.openxmlformats.org/drawingml/2006/main">
              <a:ext uri="{FF2B5EF4-FFF2-40B4-BE49-F238E27FC236}">
                <a16:creationId xmlns:a16="http://schemas.microsoft.com/office/drawing/2014/main" id="{1378D9E1-AC5C-4537-B5CA-3504A69BCA83}"/>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Gegenprobe</a:t>
            </a:r>
          </a:p>
        </p:txBody>
      </p:sp>
      <p:sp>
        <p:nvSpPr>
          <p:cNvPr id="7" name="text-6">
            <a:extLst xmlns:a="http://schemas.openxmlformats.org/drawingml/2006/main">
              <a:ext uri="{FF2B5EF4-FFF2-40B4-BE49-F238E27FC236}">
                <a16:creationId xmlns:a16="http://schemas.microsoft.com/office/drawing/2014/main" id="{197E5791-69A9-4D7D-9F95-FD140DBA3B0E}"/>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Feste Policy und minimale SQL-Rechte verweigern unerlaubte Aktionen tatsächlich.</a:t>
            </a:r>
          </a:p>
        </p:txBody>
      </p:sp>
      <p:sp>
        <p:nvSpPr>
          <p:cNvPr id="8" name="text-7">
            <a:extLst xmlns:a="http://schemas.openxmlformats.org/drawingml/2006/main">
              <a:ext uri="{FF2B5EF4-FFF2-40B4-BE49-F238E27FC236}">
                <a16:creationId xmlns:a16="http://schemas.microsoft.com/office/drawing/2014/main" id="{1D318407-44A1-4C27-B902-9AEE4A71297D}"/>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vl1pPr>
              <a:defRPr sz="1800" b="0">
                <a:solidFill>
                  <a:srgbClr val="52647A"/>
                </a:solidFill>
                <a:latin typeface="Arial"/>
                <a:ea typeface="Arial"/>
                <a:cs typeface="Arial"/>
              </a:defRPr>
            </a:lvl1pPr>
            <a:lvl2pPr>
              <a:defRPr sz="1800" b="0">
                <a:solidFill>
                  <a:srgbClr val="52647A"/>
                </a:solidFill>
                <a:latin typeface="Arial"/>
                <a:ea typeface="Arial"/>
                <a:cs typeface="Arial"/>
              </a:defRPr>
            </a:lvl2pPr>
            <a:lvl3pPr>
              <a:defRPr sz="1800" b="0">
                <a:solidFill>
                  <a:srgbClr val="52647A"/>
                </a:solidFill>
                <a:latin typeface="Arial"/>
                <a:ea typeface="Arial"/>
                <a:cs typeface="Arial"/>
              </a:defRPr>
            </a:lvl3pPr>
            <a:lvl4pPr>
              <a:defRPr sz="1800" b="0">
                <a:solidFill>
                  <a:srgbClr val="52647A"/>
                </a:solidFill>
                <a:latin typeface="Arial"/>
                <a:ea typeface="Arial"/>
                <a:cs typeface="Arial"/>
              </a:defRPr>
            </a:lvl4pPr>
            <a:lvl5pPr>
              <a:defRPr sz="1800" b="0">
                <a:solidFill>
                  <a:srgbClr val="52647A"/>
                </a:solidFill>
                <a:latin typeface="Arial"/>
                <a:ea typeface="Arial"/>
                <a:cs typeface="Arial"/>
              </a:defRPr>
            </a:lvl5pPr>
            <a:lvl6pPr>
              <a:defRPr sz="1800" b="0">
                <a:solidFill>
                  <a:srgbClr val="52647A"/>
                </a:solidFill>
                <a:latin typeface="Arial"/>
                <a:ea typeface="Arial"/>
                <a:cs typeface="Arial"/>
              </a:defRPr>
            </a:lvl6pPr>
            <a:lvl7pPr>
              <a:defRPr sz="1800" b="0">
                <a:solidFill>
                  <a:srgbClr val="52647A"/>
                </a:solidFill>
                <a:latin typeface="Arial"/>
                <a:ea typeface="Arial"/>
                <a:cs typeface="Arial"/>
              </a:defRPr>
            </a:lvl7pPr>
            <a:lvl8pPr>
              <a:defRPr sz="1800" b="0">
                <a:solidFill>
                  <a:srgbClr val="52647A"/>
                </a:solidFill>
                <a:latin typeface="Arial"/>
                <a:ea typeface="Arial"/>
                <a:cs typeface="Arial"/>
              </a:defRPr>
            </a:lvl8pPr>
            <a:lvl9pPr>
              <a:defRPr sz="1800" b="0">
                <a:solidFill>
                  <a:srgbClr val="52647A"/>
                </a:solidFill>
                <a:latin typeface="Arial"/>
                <a:ea typeface="Arial"/>
                <a:cs typeface="Arial"/>
              </a:defRPr>
            </a:lvl9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IMPLEMENTED. Offline-Antwort-/Toolfixtures. Verhalten unbekannter Live-Modelle bleibt offen.</a:t>
            </a:r>
          </a:p>
        </p:txBody>
      </p:sp>
      <p:sp>
        <p:nvSpPr>
          <p:cNvPr id="9" name="text-8">
            <a:extLst xmlns:a="http://schemas.openxmlformats.org/drawingml/2006/main">
              <a:ext uri="{FF2B5EF4-FFF2-40B4-BE49-F238E27FC236}">
                <a16:creationId xmlns:a16="http://schemas.microsoft.com/office/drawing/2014/main" id="{DE53516C-2ACE-4E65-943E-9D070C172EB2}"/>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STANDARD 44 · Quellfolie 49 · CUR-018</a:t>
            </a:r>
          </a:p>
        </p:txBody>
      </p:sp>
    </p:spTree>
    <p:extLst>
      <p:ext uri="{BB962C8B-B14F-4D97-AF65-F5344CB8AC3E}">
        <p14:creationId xmlns:p14="http://schemas.microsoft.com/office/powerpoint/2010/main" val="573372016"/>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4BC9BDD0-3D86-481F-B667-FCEC4F1A7AB5}"/>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Entscheidung und Transferaufgabe</a:t>
            </a:r>
          </a:p>
        </p:txBody>
      </p:sp>
      <p:sp>
        <p:nvSpPr>
          <p:cNvPr id="2" name="text-1">
            <a:extLst xmlns:a="http://schemas.openxmlformats.org/drawingml/2006/main">
              <a:ext uri="{FF2B5EF4-FFF2-40B4-BE49-F238E27FC236}">
                <a16:creationId xmlns:a16="http://schemas.microsoft.com/office/drawing/2014/main" id="{978C435C-6322-406E-B2CF-AA638DAF9FEA}"/>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Suchfrage</a:t>
            </a:r>
          </a:p>
        </p:txBody>
      </p:sp>
      <p:sp>
        <p:nvSpPr>
          <p:cNvPr id="3" name="text-2">
            <a:extLst xmlns:a="http://schemas.openxmlformats.org/drawingml/2006/main">
              <a:ext uri="{FF2B5EF4-FFF2-40B4-BE49-F238E27FC236}">
                <a16:creationId xmlns:a16="http://schemas.microsoft.com/office/drawing/2014/main" id="{94EAEDA6-DD3A-45A4-A5C2-C72141265635}"/>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Eine exakte Dokumentkennung und eine inhaltliche Frage brauchen begründete Suchpfade.</a:t>
            </a:r>
          </a:p>
        </p:txBody>
      </p:sp>
      <p:sp>
        <p:nvSpPr>
          <p:cNvPr id="4" name="text-3">
            <a:extLst xmlns:a="http://schemas.openxmlformats.org/drawingml/2006/main">
              <a:ext uri="{FF2B5EF4-FFF2-40B4-BE49-F238E27FC236}">
                <a16:creationId xmlns:a16="http://schemas.microsoft.com/office/drawing/2014/main" id="{E862B5A0-04C2-43C9-96FD-CB9A8B1AD42D}"/>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Quellenkonflikt</a:t>
            </a:r>
          </a:p>
        </p:txBody>
      </p:sp>
      <p:sp>
        <p:nvSpPr>
          <p:cNvPr id="5" name="text-4">
            <a:extLst xmlns:a="http://schemas.openxmlformats.org/drawingml/2006/main">
              <a:ext uri="{FF2B5EF4-FFF2-40B4-BE49-F238E27FC236}">
                <a16:creationId xmlns:a16="http://schemas.microsoft.com/office/drawing/2014/main" id="{FF3EE04B-0556-406F-A70A-6A6A422CF2DB}"/>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Zwei aktuelle erlaubte Quellen widersprechen sich. Herkunft und Version am Treffer belegen.</a:t>
            </a:r>
          </a:p>
        </p:txBody>
      </p:sp>
      <p:sp>
        <p:nvSpPr>
          <p:cNvPr id="6" name="text-5">
            <a:extLst xmlns:a="http://schemas.openxmlformats.org/drawingml/2006/main">
              <a:ext uri="{FF2B5EF4-FFF2-40B4-BE49-F238E27FC236}">
                <a16:creationId xmlns:a16="http://schemas.microsoft.com/office/drawing/2014/main" id="{5F64B69D-EB1D-495E-9E9A-620B4EA7FB82}"/>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Manipulation</a:t>
            </a:r>
          </a:p>
        </p:txBody>
      </p:sp>
      <p:sp>
        <p:nvSpPr>
          <p:cNvPr id="7" name="text-6">
            <a:extLst xmlns:a="http://schemas.openxmlformats.org/drawingml/2006/main">
              <a:ext uri="{FF2B5EF4-FFF2-40B4-BE49-F238E27FC236}">
                <a16:creationId xmlns:a16="http://schemas.microsoft.com/office/drawing/2014/main" id="{EB79F128-0BD4-4305-BF5A-BF69A66F12AA}"/>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Ein Quellenabsatz fordert eine Zusatzaktion. Zulässige Antwort und Toolbefugnis getrennt erklären.</a:t>
            </a:r>
          </a:p>
        </p:txBody>
      </p:sp>
      <p:sp>
        <p:nvSpPr>
          <p:cNvPr id="8" name="text-7">
            <a:extLst xmlns:a="http://schemas.openxmlformats.org/drawingml/2006/main">
              <a:ext uri="{FF2B5EF4-FFF2-40B4-BE49-F238E27FC236}">
                <a16:creationId xmlns:a16="http://schemas.microsoft.com/office/drawing/2014/main" id="{C43D7311-4549-4CA3-8BBF-7403B84E1D35}"/>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vl1pPr>
              <a:defRPr sz="1800" b="0">
                <a:solidFill>
                  <a:srgbClr val="52647A"/>
                </a:solidFill>
                <a:latin typeface="Arial"/>
                <a:ea typeface="Arial"/>
                <a:cs typeface="Arial"/>
              </a:defRPr>
            </a:lvl1pPr>
            <a:lvl2pPr>
              <a:defRPr sz="1800" b="0">
                <a:solidFill>
                  <a:srgbClr val="52647A"/>
                </a:solidFill>
                <a:latin typeface="Arial"/>
                <a:ea typeface="Arial"/>
                <a:cs typeface="Arial"/>
              </a:defRPr>
            </a:lvl2pPr>
            <a:lvl3pPr>
              <a:defRPr sz="1800" b="0">
                <a:solidFill>
                  <a:srgbClr val="52647A"/>
                </a:solidFill>
                <a:latin typeface="Arial"/>
                <a:ea typeface="Arial"/>
                <a:cs typeface="Arial"/>
              </a:defRPr>
            </a:lvl3pPr>
            <a:lvl4pPr>
              <a:defRPr sz="1800" b="0">
                <a:solidFill>
                  <a:srgbClr val="52647A"/>
                </a:solidFill>
                <a:latin typeface="Arial"/>
                <a:ea typeface="Arial"/>
                <a:cs typeface="Arial"/>
              </a:defRPr>
            </a:lvl4pPr>
            <a:lvl5pPr>
              <a:defRPr sz="1800" b="0">
                <a:solidFill>
                  <a:srgbClr val="52647A"/>
                </a:solidFill>
                <a:latin typeface="Arial"/>
                <a:ea typeface="Arial"/>
                <a:cs typeface="Arial"/>
              </a:defRPr>
            </a:lvl5pPr>
            <a:lvl6pPr>
              <a:defRPr sz="1800" b="0">
                <a:solidFill>
                  <a:srgbClr val="52647A"/>
                </a:solidFill>
                <a:latin typeface="Arial"/>
                <a:ea typeface="Arial"/>
                <a:cs typeface="Arial"/>
              </a:defRPr>
            </a:lvl6pPr>
            <a:lvl7pPr>
              <a:defRPr sz="1800" b="0">
                <a:solidFill>
                  <a:srgbClr val="52647A"/>
                </a:solidFill>
                <a:latin typeface="Arial"/>
                <a:ea typeface="Arial"/>
                <a:cs typeface="Arial"/>
              </a:defRPr>
            </a:lvl7pPr>
            <a:lvl8pPr>
              <a:defRPr sz="1800" b="0">
                <a:solidFill>
                  <a:srgbClr val="52647A"/>
                </a:solidFill>
                <a:latin typeface="Arial"/>
                <a:ea typeface="Arial"/>
                <a:cs typeface="Arial"/>
              </a:defRPr>
            </a:lvl8pPr>
            <a:lvl9pPr>
              <a:defRPr sz="1800" b="0">
                <a:solidFill>
                  <a:srgbClr val="52647A"/>
                </a:solidFill>
                <a:latin typeface="Arial"/>
                <a:ea typeface="Arial"/>
                <a:cs typeface="Arial"/>
              </a:defRPr>
            </a:lvl9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Acht Aufgaben: höchstens 16 Punkte nach bestehender Rubrik. Transfer unbewertet; kein Live-Modellaufruf.</a:t>
            </a:r>
          </a:p>
        </p:txBody>
      </p:sp>
      <p:sp>
        <p:nvSpPr>
          <p:cNvPr id="9" name="text-8">
            <a:extLst xmlns:a="http://schemas.openxmlformats.org/drawingml/2006/main">
              <a:ext uri="{FF2B5EF4-FFF2-40B4-BE49-F238E27FC236}">
                <a16:creationId xmlns:a16="http://schemas.microsoft.com/office/drawing/2014/main" id="{78760961-B6D4-43D3-8496-698EF643CD27}"/>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STANDARD 45 · Quellfolie 61 · CUR-022</a:t>
            </a:r>
          </a:p>
        </p:txBody>
      </p:sp>
    </p:spTree>
    <p:extLst>
      <p:ext uri="{BB962C8B-B14F-4D97-AF65-F5344CB8AC3E}">
        <p14:creationId xmlns:p14="http://schemas.microsoft.com/office/powerpoint/2010/main" val="170085594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ep:Properties xmlns:ep="http://schemas.openxmlformats.org/officeDocument/2006/extended-properties">
  <ep:Application>Walnut Exporter</ep:Application>
  <ep:PresentationFormat>Converted Presentation</ep:PresentationFormat>
  <ep:Slides>0</ep:Slides>
  <ep:Notes>0</ep:Notes>
  <ep:HiddenSlides>0</ep:HiddenSlides>
  <ep:SharedDoc>false</ep:SharedDoc>
  <ep:DocSecurity>0</ep:DocSecurity>
</ep:Properties>
</file>

<file path=docProps/core.xml><?xml version="1.0" encoding="utf-8"?>
<cp:coreProperties xmlns:cp="http://schemas.openxmlformats.org/package/2006/metadata/core-properties" xmlns:dc="http://purl.org/dc/elements/1.1/" xmlns:dcterms="http://purl.org/dc/terms/" xmlns:xsi="http://www.w3.org/2001/XMLSchema-instance">
  <dc:creator/>
  <cp:lastModifiedBy/>
  <dc:title>Presentation</dc:title>
  <dcterms:created xsi:type="dcterms:W3CDTF">2026-10-21T08:05:42.1280000Z</dcterms:created>
  <dcterms:modified xsi:type="dcterms:W3CDTF">2026-10-21T08:05:42.1280000Z</dcterms:modified>
</cp:coreProperties>
</file>