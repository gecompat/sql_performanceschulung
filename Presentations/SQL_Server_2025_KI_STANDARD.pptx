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26669d0ceed14786" /><Relationship Type="http://schemas.openxmlformats.org/officeDocument/2006/relationships/extended-properties" Target="/docProps/app.xml" Id="Rc739d32bdc08451d" /><Relationship Type="http://schemas.openxmlformats.org/officeDocument/2006/relationships/officeDocument" Target="/ppt/presentation.xml" Id="R57c065dc8b7149de" /></Relationships>
</file>

<file path=ppt/presentation.xml><?xml version="1.0" encoding="utf-8"?>
<p:presentation xmlns:p="http://schemas.openxmlformats.org/presentationml/2006/main">
  <p:sldMasterIdLst>
    <p:sldMasterId xmlns:r="http://schemas.openxmlformats.org/officeDocument/2006/relationships" id="2147483648" r:id="Rbd1732199eca4094"/>
  </p:sldMasterIdLst>
  <p:notesMasterIdLst>
    <p:notesMasterId xmlns:r="http://schemas.openxmlformats.org/officeDocument/2006/relationships" r:id="Rbff93cba152748bd"/>
  </p:notesMasterIdLst>
  <p:sldIdLst>
    <p:sldId xmlns:r="http://schemas.openxmlformats.org/officeDocument/2006/relationships" id="256" r:id="R910304aba25640aa"/>
    <p:sldId xmlns:r="http://schemas.openxmlformats.org/officeDocument/2006/relationships" id="257" r:id="R1ec976b3229b437c"/>
    <p:sldId xmlns:r="http://schemas.openxmlformats.org/officeDocument/2006/relationships" id="258" r:id="R6e414fd8ba1f4097"/>
    <p:sldId xmlns:r="http://schemas.openxmlformats.org/officeDocument/2006/relationships" id="259" r:id="R6c93c1845e724daf"/>
    <p:sldId xmlns:r="http://schemas.openxmlformats.org/officeDocument/2006/relationships" id="260" r:id="R8efa3e4dffbc4b7e"/>
    <p:sldId xmlns:r="http://schemas.openxmlformats.org/officeDocument/2006/relationships" id="261" r:id="R0ee6378e11e14eea"/>
    <p:sldId xmlns:r="http://schemas.openxmlformats.org/officeDocument/2006/relationships" id="262" r:id="R89ddf671119e4dae"/>
    <p:sldId xmlns:r="http://schemas.openxmlformats.org/officeDocument/2006/relationships" id="263" r:id="R6db9ea67ab874468"/>
    <p:sldId xmlns:r="http://schemas.openxmlformats.org/officeDocument/2006/relationships" id="264" r:id="R4a877b5d17ce478d"/>
    <p:sldId xmlns:r="http://schemas.openxmlformats.org/officeDocument/2006/relationships" id="265" r:id="R80c180972ec3494e"/>
    <p:sldId xmlns:r="http://schemas.openxmlformats.org/officeDocument/2006/relationships" id="266" r:id="R8a5ca1a1c66542b4"/>
    <p:sldId xmlns:r="http://schemas.openxmlformats.org/officeDocument/2006/relationships" id="267" r:id="Recde9e27a193426b"/>
    <p:sldId xmlns:r="http://schemas.openxmlformats.org/officeDocument/2006/relationships" id="268" r:id="R4b3b87ffa7bf4c6f"/>
    <p:sldId xmlns:r="http://schemas.openxmlformats.org/officeDocument/2006/relationships" id="269" r:id="R5f44c78a1d68465d"/>
    <p:sldId xmlns:r="http://schemas.openxmlformats.org/officeDocument/2006/relationships" id="270" r:id="R3fe41e7b195e4b77"/>
    <p:sldId xmlns:r="http://schemas.openxmlformats.org/officeDocument/2006/relationships" id="271" r:id="Rd4363b2a8026482e"/>
    <p:sldId xmlns:r="http://schemas.openxmlformats.org/officeDocument/2006/relationships" id="272" r:id="R3b2d31a6a2b74ffd"/>
    <p:sldId xmlns:r="http://schemas.openxmlformats.org/officeDocument/2006/relationships" id="273" r:id="Re10a45ff69d64e6a"/>
    <p:sldId xmlns:r="http://schemas.openxmlformats.org/officeDocument/2006/relationships" id="274" r:id="Ra9b4f318659c4951"/>
    <p:sldId xmlns:r="http://schemas.openxmlformats.org/officeDocument/2006/relationships" id="275" r:id="Rdb7417d7fed2484c"/>
    <p:sldId xmlns:r="http://schemas.openxmlformats.org/officeDocument/2006/relationships" id="276" r:id="R009c7acb1a9443f0"/>
    <p:sldId xmlns:r="http://schemas.openxmlformats.org/officeDocument/2006/relationships" id="277" r:id="R47b4a610b7734fb1"/>
    <p:sldId xmlns:r="http://schemas.openxmlformats.org/officeDocument/2006/relationships" id="278" r:id="Rfc5374f90e8d4997"/>
    <p:sldId xmlns:r="http://schemas.openxmlformats.org/officeDocument/2006/relationships" id="279" r:id="Re44011fb71be48ba"/>
    <p:sldId xmlns:r="http://schemas.openxmlformats.org/officeDocument/2006/relationships" id="280" r:id="R84ce0877745c4629"/>
    <p:sldId xmlns:r="http://schemas.openxmlformats.org/officeDocument/2006/relationships" id="281" r:id="R349abe468ac74909"/>
    <p:sldId xmlns:r="http://schemas.openxmlformats.org/officeDocument/2006/relationships" id="282" r:id="R56f64645cb71482b"/>
    <p:sldId xmlns:r="http://schemas.openxmlformats.org/officeDocument/2006/relationships" id="283" r:id="Rc2839c6c2f734f49"/>
    <p:sldId xmlns:r="http://schemas.openxmlformats.org/officeDocument/2006/relationships" id="284" r:id="R1dc0878ab2cc417e"/>
    <p:sldId xmlns:r="http://schemas.openxmlformats.org/officeDocument/2006/relationships" id="285" r:id="R74fe7273e3af4e5f"/>
    <p:sldId xmlns:r="http://schemas.openxmlformats.org/officeDocument/2006/relationships" id="286" r:id="Rba39a3a864064617"/>
    <p:sldId xmlns:r="http://schemas.openxmlformats.org/officeDocument/2006/relationships" id="287" r:id="R4637df0846164876"/>
    <p:sldId xmlns:r="http://schemas.openxmlformats.org/officeDocument/2006/relationships" id="288" r:id="Rd687ef0a2cf34680"/>
    <p:sldId xmlns:r="http://schemas.openxmlformats.org/officeDocument/2006/relationships" id="289" r:id="R766e355d10ce4d83"/>
    <p:sldId xmlns:r="http://schemas.openxmlformats.org/officeDocument/2006/relationships" id="290" r:id="R07174bf9f6e24d02"/>
    <p:sldId xmlns:r="http://schemas.openxmlformats.org/officeDocument/2006/relationships" id="291" r:id="R34d868bcd831420e"/>
    <p:sldId xmlns:r="http://schemas.openxmlformats.org/officeDocument/2006/relationships" id="292" r:id="R95e9acbe5ff64ba2"/>
    <p:sldId xmlns:r="http://schemas.openxmlformats.org/officeDocument/2006/relationships" id="293" r:id="R4ce4fb69a9da4755"/>
    <p:sldId xmlns:r="http://schemas.openxmlformats.org/officeDocument/2006/relationships" id="294" r:id="R42f66bd37f854389"/>
    <p:sldId xmlns:r="http://schemas.openxmlformats.org/officeDocument/2006/relationships" id="295" r:id="Ra9533654cee548fa"/>
    <p:sldId xmlns:r="http://schemas.openxmlformats.org/officeDocument/2006/relationships" id="296" r:id="R3fa13307e5664d7a"/>
    <p:sldId xmlns:r="http://schemas.openxmlformats.org/officeDocument/2006/relationships" id="297" r:id="R8ff780a320034fd9"/>
    <p:sldId xmlns:r="http://schemas.openxmlformats.org/officeDocument/2006/relationships" id="298" r:id="R982b7062d4ee4a9d"/>
    <p:sldId xmlns:r="http://schemas.openxmlformats.org/officeDocument/2006/relationships" id="299" r:id="R71f1f88571dc4cc4"/>
    <p:sldId xmlns:r="http://schemas.openxmlformats.org/officeDocument/2006/relationships" id="300" r:id="R283a0ca857e34f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32faa0243b4b93" /><Relationship Type="http://schemas.openxmlformats.org/officeDocument/2006/relationships/slideMaster" Target="/ppt/slideMasters/slideMaster1.xml" Id="Rbd1732199eca4094" /><Relationship Type="http://schemas.openxmlformats.org/officeDocument/2006/relationships/notesMaster" Target="/ppt/notesMasters/notesMaster1.xml" Id="Rbff93cba152748bd" /><Relationship Type="http://schemas.openxmlformats.org/officeDocument/2006/relationships/presProps" Target="/ppt/presProps.xml" Id="R937e23f81cae43fb" /><Relationship Type="http://schemas.openxmlformats.org/officeDocument/2006/relationships/tableStyles" Target="/ppt/tableStyles.xml" Id="R24833857e06145ea" /><Relationship Type="http://schemas.openxmlformats.org/officeDocument/2006/relationships/slide" Target="/ppt/slides/slide1.xml" Id="R910304aba25640aa" /><Relationship Type="http://schemas.openxmlformats.org/officeDocument/2006/relationships/slide" Target="/ppt/slides/slide2.xml" Id="R1ec976b3229b437c" /><Relationship Type="http://schemas.openxmlformats.org/officeDocument/2006/relationships/slide" Target="/ppt/slides/slide3.xml" Id="R6e414fd8ba1f4097" /><Relationship Type="http://schemas.openxmlformats.org/officeDocument/2006/relationships/slide" Target="/ppt/slides/slide4.xml" Id="R6c93c1845e724daf" /><Relationship Type="http://schemas.openxmlformats.org/officeDocument/2006/relationships/slide" Target="/ppt/slides/slide5.xml" Id="R8efa3e4dffbc4b7e" /><Relationship Type="http://schemas.openxmlformats.org/officeDocument/2006/relationships/slide" Target="/ppt/slides/slide6.xml" Id="R0ee6378e11e14eea" /><Relationship Type="http://schemas.openxmlformats.org/officeDocument/2006/relationships/slide" Target="/ppt/slides/slide7.xml" Id="R89ddf671119e4dae" /><Relationship Type="http://schemas.openxmlformats.org/officeDocument/2006/relationships/slide" Target="/ppt/slides/slide8.xml" Id="R6db9ea67ab874468" /><Relationship Type="http://schemas.openxmlformats.org/officeDocument/2006/relationships/slide" Target="/ppt/slides/slide9.xml" Id="R4a877b5d17ce478d" /><Relationship Type="http://schemas.openxmlformats.org/officeDocument/2006/relationships/slide" Target="/ppt/slides/slide10.xml" Id="R80c180972ec3494e" /><Relationship Type="http://schemas.openxmlformats.org/officeDocument/2006/relationships/slide" Target="/ppt/slides/slide11.xml" Id="R8a5ca1a1c66542b4" /><Relationship Type="http://schemas.openxmlformats.org/officeDocument/2006/relationships/slide" Target="/ppt/slides/slide12.xml" Id="Recde9e27a193426b" /><Relationship Type="http://schemas.openxmlformats.org/officeDocument/2006/relationships/slide" Target="/ppt/slides/slide13.xml" Id="R4b3b87ffa7bf4c6f" /><Relationship Type="http://schemas.openxmlformats.org/officeDocument/2006/relationships/slide" Target="/ppt/slides/slide14.xml" Id="R5f44c78a1d68465d" /><Relationship Type="http://schemas.openxmlformats.org/officeDocument/2006/relationships/slide" Target="/ppt/slides/slide15.xml" Id="R3fe41e7b195e4b77" /><Relationship Type="http://schemas.openxmlformats.org/officeDocument/2006/relationships/slide" Target="/ppt/slides/slide16.xml" Id="Rd4363b2a8026482e" /><Relationship Type="http://schemas.openxmlformats.org/officeDocument/2006/relationships/slide" Target="/ppt/slides/slide17.xml" Id="R3b2d31a6a2b74ffd" /><Relationship Type="http://schemas.openxmlformats.org/officeDocument/2006/relationships/slide" Target="/ppt/slides/slide18.xml" Id="Re10a45ff69d64e6a" /><Relationship Type="http://schemas.openxmlformats.org/officeDocument/2006/relationships/slide" Target="/ppt/slides/slide19.xml" Id="Ra9b4f318659c4951" /><Relationship Type="http://schemas.openxmlformats.org/officeDocument/2006/relationships/slide" Target="/ppt/slides/slide20.xml" Id="Rdb7417d7fed2484c" /><Relationship Type="http://schemas.openxmlformats.org/officeDocument/2006/relationships/slide" Target="/ppt/slides/slide21.xml" Id="R009c7acb1a9443f0" /><Relationship Type="http://schemas.openxmlformats.org/officeDocument/2006/relationships/slide" Target="/ppt/slides/slide22.xml" Id="R47b4a610b7734fb1" /><Relationship Type="http://schemas.openxmlformats.org/officeDocument/2006/relationships/slide" Target="/ppt/slides/slide23.xml" Id="Rfc5374f90e8d4997" /><Relationship Type="http://schemas.openxmlformats.org/officeDocument/2006/relationships/slide" Target="/ppt/slides/slide24.xml" Id="Re44011fb71be48ba" /><Relationship Type="http://schemas.openxmlformats.org/officeDocument/2006/relationships/slide" Target="/ppt/slides/slide25.xml" Id="R84ce0877745c4629" /><Relationship Type="http://schemas.openxmlformats.org/officeDocument/2006/relationships/slide" Target="/ppt/slides/slide26.xml" Id="R349abe468ac74909" /><Relationship Type="http://schemas.openxmlformats.org/officeDocument/2006/relationships/slide" Target="/ppt/slides/slide27.xml" Id="R56f64645cb71482b" /><Relationship Type="http://schemas.openxmlformats.org/officeDocument/2006/relationships/slide" Target="/ppt/slides/slide28.xml" Id="Rc2839c6c2f734f49" /><Relationship Type="http://schemas.openxmlformats.org/officeDocument/2006/relationships/slide" Target="/ppt/slides/slide29.xml" Id="R1dc0878ab2cc417e" /><Relationship Type="http://schemas.openxmlformats.org/officeDocument/2006/relationships/slide" Target="/ppt/slides/slide30.xml" Id="R74fe7273e3af4e5f" /><Relationship Type="http://schemas.openxmlformats.org/officeDocument/2006/relationships/slide" Target="/ppt/slides/slide31.xml" Id="Rba39a3a864064617" /><Relationship Type="http://schemas.openxmlformats.org/officeDocument/2006/relationships/slide" Target="/ppt/slides/slide32.xml" Id="R4637df0846164876" /><Relationship Type="http://schemas.openxmlformats.org/officeDocument/2006/relationships/slide" Target="/ppt/slides/slide33.xml" Id="Rd687ef0a2cf34680" /><Relationship Type="http://schemas.openxmlformats.org/officeDocument/2006/relationships/slide" Target="/ppt/slides/slide34.xml" Id="R766e355d10ce4d83" /><Relationship Type="http://schemas.openxmlformats.org/officeDocument/2006/relationships/slide" Target="/ppt/slides/slide35.xml" Id="R07174bf9f6e24d02" /><Relationship Type="http://schemas.openxmlformats.org/officeDocument/2006/relationships/slide" Target="/ppt/slides/slide36.xml" Id="R34d868bcd831420e" /><Relationship Type="http://schemas.openxmlformats.org/officeDocument/2006/relationships/slide" Target="/ppt/slides/slide37.xml" Id="R95e9acbe5ff64ba2" /><Relationship Type="http://schemas.openxmlformats.org/officeDocument/2006/relationships/slide" Target="/ppt/slides/slide38.xml" Id="R4ce4fb69a9da4755" /><Relationship Type="http://schemas.openxmlformats.org/officeDocument/2006/relationships/slide" Target="/ppt/slides/slide39.xml" Id="R42f66bd37f854389" /><Relationship Type="http://schemas.openxmlformats.org/officeDocument/2006/relationships/slide" Target="/ppt/slides/slide40.xml" Id="Ra9533654cee548fa" /><Relationship Type="http://schemas.openxmlformats.org/officeDocument/2006/relationships/slide" Target="/ppt/slides/slide41.xml" Id="R3fa13307e5664d7a" /><Relationship Type="http://schemas.openxmlformats.org/officeDocument/2006/relationships/slide" Target="/ppt/slides/slide42.xml" Id="R8ff780a320034fd9" /><Relationship Type="http://schemas.openxmlformats.org/officeDocument/2006/relationships/slide" Target="/ppt/slides/slide43.xml" Id="R982b7062d4ee4a9d" /><Relationship Type="http://schemas.openxmlformats.org/officeDocument/2006/relationships/slide" Target="/ppt/slides/slide44.xml" Id="R71f1f88571dc4cc4" /><Relationship Type="http://schemas.openxmlformats.org/officeDocument/2006/relationships/slide" Target="/ppt/slides/slide45.xml" Id="R283a0ca857e34f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37295143d74d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760604967d4474" /><Relationship Type="http://schemas.openxmlformats.org/officeDocument/2006/relationships/notesMaster" Target="/ppt/notesMasters/notesMaster1.xml" Id="Rac0f7d15f9b842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131e2ebe924a5f" /><Relationship Type="http://schemas.openxmlformats.org/officeDocument/2006/relationships/notesMaster" Target="/ppt/notesMasters/notesMaster1.xml" Id="R0248ae6b87c54d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c2093e84ea4fbf" /><Relationship Type="http://schemas.openxmlformats.org/officeDocument/2006/relationships/notesMaster" Target="/ppt/notesMasters/notesMaster1.xml" Id="R352c6d4d0ad243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34d7be23734368" /><Relationship Type="http://schemas.openxmlformats.org/officeDocument/2006/relationships/notesMaster" Target="/ppt/notesMasters/notesMaster1.xml" Id="R09362910610544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d51d6a84d14fed" /><Relationship Type="http://schemas.openxmlformats.org/officeDocument/2006/relationships/notesMaster" Target="/ppt/notesMasters/notesMaster1.xml" Id="R847482840ff64f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1d685bc9074950" /><Relationship Type="http://schemas.openxmlformats.org/officeDocument/2006/relationships/notesMaster" Target="/ppt/notesMasters/notesMaster1.xml" Id="R6795c69c238e4e7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8f4049d3a446e8" /><Relationship Type="http://schemas.openxmlformats.org/officeDocument/2006/relationships/notesMaster" Target="/ppt/notesMasters/notesMaster1.xml" Id="R237445b5917d41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633db83c014aba" /><Relationship Type="http://schemas.openxmlformats.org/officeDocument/2006/relationships/notesMaster" Target="/ppt/notesMasters/notesMaster1.xml" Id="Re454a1bc707449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7abc0bf7384cac" /><Relationship Type="http://schemas.openxmlformats.org/officeDocument/2006/relationships/notesMaster" Target="/ppt/notesMasters/notesMaster1.xml" Id="R7d5fef47ae5048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bd4f15e1a84b03" /><Relationship Type="http://schemas.openxmlformats.org/officeDocument/2006/relationships/notesMaster" Target="/ppt/notesMasters/notesMaster1.xml" Id="R084890e2150048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fba60744d404af5" /><Relationship Type="http://schemas.openxmlformats.org/officeDocument/2006/relationships/notesMaster" Target="/ppt/notesMasters/notesMaster1.xml" Id="R4aab32129ec047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50abd216cdd4e57" /><Relationship Type="http://schemas.openxmlformats.org/officeDocument/2006/relationships/notesMaster" Target="/ppt/notesMasters/notesMaster1.xml" Id="R7698af9e6ae04fa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7607c624bfb491f" /><Relationship Type="http://schemas.openxmlformats.org/officeDocument/2006/relationships/notesMaster" Target="/ppt/notesMasters/notesMaster1.xml" Id="Rd3bc52b6b7b347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f40edae81643a5" /><Relationship Type="http://schemas.openxmlformats.org/officeDocument/2006/relationships/notesMaster" Target="/ppt/notesMasters/notesMaster1.xml" Id="R88b73ac074cd49f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74af9f26b8479f" /><Relationship Type="http://schemas.openxmlformats.org/officeDocument/2006/relationships/notesMaster" Target="/ppt/notesMasters/notesMaster1.xml" Id="R4c19bf84d0d645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ea99a8364d9453e" /><Relationship Type="http://schemas.openxmlformats.org/officeDocument/2006/relationships/notesMaster" Target="/ppt/notesMasters/notesMaster1.xml" Id="R0ba499a406e6476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4e7cf3f01f44fb7" /><Relationship Type="http://schemas.openxmlformats.org/officeDocument/2006/relationships/notesMaster" Target="/ppt/notesMasters/notesMaster1.xml" Id="R0f5a4c518ae1478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7a686b1b5bd409c" /><Relationship Type="http://schemas.openxmlformats.org/officeDocument/2006/relationships/notesMaster" Target="/ppt/notesMasters/notesMaster1.xml" Id="R754ec4df865747a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d3b7d10639b49f5" /><Relationship Type="http://schemas.openxmlformats.org/officeDocument/2006/relationships/notesMaster" Target="/ppt/notesMasters/notesMaster1.xml" Id="R3cd1978afda24a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51116ac56df477c" /><Relationship Type="http://schemas.openxmlformats.org/officeDocument/2006/relationships/notesMaster" Target="/ppt/notesMasters/notesMaster1.xml" Id="Rd8017f886a5c45c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3dc72c431dc4bd3" /><Relationship Type="http://schemas.openxmlformats.org/officeDocument/2006/relationships/notesMaster" Target="/ppt/notesMasters/notesMaster1.xml" Id="Rf84d4cea4741467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777af54f6a415d" /><Relationship Type="http://schemas.openxmlformats.org/officeDocument/2006/relationships/notesMaster" Target="/ppt/notesMasters/notesMaster1.xml" Id="Rdc4a6f40e3a24fa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47e7b9a377a4b4d" /><Relationship Type="http://schemas.openxmlformats.org/officeDocument/2006/relationships/notesMaster" Target="/ppt/notesMasters/notesMaster1.xml" Id="R1672494021ad4b1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d0da3eb8e854ee4" /><Relationship Type="http://schemas.openxmlformats.org/officeDocument/2006/relationships/notesMaster" Target="/ppt/notesMasters/notesMaster1.xml" Id="R32f992753fc843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1e9ae3ed5c84208" /><Relationship Type="http://schemas.openxmlformats.org/officeDocument/2006/relationships/notesMaster" Target="/ppt/notesMasters/notesMaster1.xml" Id="R95acae24d4e7437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96d4ffd17264f09" /><Relationship Type="http://schemas.openxmlformats.org/officeDocument/2006/relationships/notesMaster" Target="/ppt/notesMasters/notesMaster1.xml" Id="Rf5542ccfeb2f4e6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8f88230253e43c4" /><Relationship Type="http://schemas.openxmlformats.org/officeDocument/2006/relationships/notesMaster" Target="/ppt/notesMasters/notesMaster1.xml" Id="R3315ca963837418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2c96b4b243d4296" /><Relationship Type="http://schemas.openxmlformats.org/officeDocument/2006/relationships/notesMaster" Target="/ppt/notesMasters/notesMaster1.xml" Id="Rc053894f261940e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8c98321edc942f2" /><Relationship Type="http://schemas.openxmlformats.org/officeDocument/2006/relationships/notesMaster" Target="/ppt/notesMasters/notesMaster1.xml" Id="R80e7911c0e3c4ef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a139497f7c241f1" /><Relationship Type="http://schemas.openxmlformats.org/officeDocument/2006/relationships/notesMaster" Target="/ppt/notesMasters/notesMaster1.xml" Id="R31e7d23aa99a4a7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b86b4002391439f" /><Relationship Type="http://schemas.openxmlformats.org/officeDocument/2006/relationships/notesMaster" Target="/ppt/notesMasters/notesMaster1.xml" Id="R6367e7383dd4446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b3cd20aead840b1" /><Relationship Type="http://schemas.openxmlformats.org/officeDocument/2006/relationships/notesMaster" Target="/ppt/notesMasters/notesMaster1.xml" Id="R380330f432d54ba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ca8751e35b14324" /><Relationship Type="http://schemas.openxmlformats.org/officeDocument/2006/relationships/notesMaster" Target="/ppt/notesMasters/notesMaster1.xml" Id="Rc147980bd2cd41e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844061357714e6f" /><Relationship Type="http://schemas.openxmlformats.org/officeDocument/2006/relationships/notesMaster" Target="/ppt/notesMasters/notesMaster1.xml" Id="R22e322d01bef422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13749bd28634163" /><Relationship Type="http://schemas.openxmlformats.org/officeDocument/2006/relationships/notesMaster" Target="/ppt/notesMasters/notesMaster1.xml" Id="Rb934675e0adf4cc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82509063e8e475d" /><Relationship Type="http://schemas.openxmlformats.org/officeDocument/2006/relationships/notesMaster" Target="/ppt/notesMasters/notesMaster1.xml" Id="Rbc2e91aa7405436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53970f0a20d4297" /><Relationship Type="http://schemas.openxmlformats.org/officeDocument/2006/relationships/notesMaster" Target="/ppt/notesMasters/notesMaster1.xml" Id="R6456b649052549c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3a74f702dca4de4" /><Relationship Type="http://schemas.openxmlformats.org/officeDocument/2006/relationships/notesMaster" Target="/ppt/notesMasters/notesMaster1.xml" Id="R3c845dd89e3b479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bc03fd742cd450d" /><Relationship Type="http://schemas.openxmlformats.org/officeDocument/2006/relationships/notesMaster" Target="/ppt/notesMasters/notesMaster1.xml" Id="R3f517fbb2ee341c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93cb14145344de7" /><Relationship Type="http://schemas.openxmlformats.org/officeDocument/2006/relationships/notesMaster" Target="/ppt/notesMasters/notesMaster1.xml" Id="Ra976480da5694a0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242f5bbc699471e" /><Relationship Type="http://schemas.openxmlformats.org/officeDocument/2006/relationships/notesMaster" Target="/ppt/notesMasters/notesMaster1.xml" Id="Rd50c4efa5d5f4b2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fa71c91af2248d7" /><Relationship Type="http://schemas.openxmlformats.org/officeDocument/2006/relationships/notesMaster" Target="/ppt/notesMasters/notesMaster1.xml" Id="R6741cad3056e4f9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f3039dbd74c4679" /><Relationship Type="http://schemas.openxmlformats.org/officeDocument/2006/relationships/notesMaster" Target="/ppt/notesMasters/notesMaster1.xml" Id="R01e9f136b9d0489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8c68bbe0a384195" /><Relationship Type="http://schemas.openxmlformats.org/officeDocument/2006/relationships/notesMaster" Target="/ppt/notesMasters/notesMaster1.xml" Id="R87ce98e25046482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407bd92c9eb40d4" /><Relationship Type="http://schemas.openxmlformats.org/officeDocument/2006/relationships/notesMaster" Target="/ppt/notesMasters/notesMaster1.xml" Id="R767568f7004548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Anwender:innen mit einfachen SQL-Grundkenntnissen und ohne vorausgesetzte KI-Erfahrung. Die Einführung entwickelt Begriffe am gleichen synthetischen Wissensbasisfall und führt eine kleine Read-only-SQL-Übung Schritt für Schritt vor. SELECT und ORDER BY sind hilfreich und werden am Beispiel eingeordnet. Modellzugänge und Previewkonfiguration sind für diesen Einstieg nicht erforderlich. Danach folgen die bestehenden Fachmodule und manifestbasierten Offline-Demos auf einer eigens vorbereiteten Labinstanz.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STANDARD-Folie 1, Quellfolie 1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Didaktische Einführung. Frage an die Gruppe: Welche Informationen brauchen Sie, um eine technische Frage zuverlässig zu beantworten? Erwartete Antworten: die passende Quelle, ihre aktuelle Fassung und die Berechtigung zum Lesen. An diese bekannten Anforderungen knüpft die Einheit an. Die kleine Vektorübung zeigt später eine zusätzliche Suchmöglichkeit mit ausschließlich festen Zahlen. Vorwissen in Statistik, Modelltraining oder Cloudbereitstellung ist dafür nicht erforderlich. Erklären Sie neue Begriffe beim ersten Auftreten und lassen Sie die Gruppe den Unterschied zwischen einer Tabellenzeile und einem formulierten Antwortsatz wiedergeben. Übergang: Zunächst betrachten wir die Frage, bevor wir ein Werkzeug auswählen.</a:t>
            </a:r>
          </a:p>
          <a:p xmlns:a="http://schemas.openxmlformats.org/drawingml/2006/main">
            <a:r>
              <a:t/>
            </a:r>
          </a:p>
          <a:p xmlns:a="http://schemas.openxmlformats.org/drawingml/2006/main">
            <a:r>
              <a:t>STANDARD-Folie 2, Quellfolie 2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.ai/PROJECT_CONTEXT.md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 eigenständiger synthetischer Einstiegskorpus, keine neue Demoimplementierung und keine behauptete Ausgabe einer bestehenden Demo. MOD_A ist ein imaginärer technischer Baustein. Die Texte und ihre festen Zuordnungen dienen der gemeinsamen Diskussion. Frage: Was könnte schiefgehen, wenn eine Suche beide Fassungen gleich behandelt? Erwartete Antwort: Eine veraltete Fassung kann die Antwort beeinflussen oder einen scheinbaren Widerspruch erzeugen. Eine flüssige Formulierung löst dieses Versionsproblem nicht. Übergang: Wir halten die kleinen Dokumente mit Kennung und Fassung sichtbar fest.</a:t>
            </a:r>
          </a:p>
          <a:p xmlns:a="http://schemas.openxmlformats.org/drawingml/2006/main">
            <a:r>
              <a:t/>
            </a:r>
          </a:p>
          <a:p xmlns:a="http://schemas.openxmlformats.org/drawingml/2006/main">
            <a:r>
              <a:t>STANDARD-Folie 3, Quellfolie 3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Dokument 2 für die konkrete MOD_A-Frage auswählen. Antwort: Es betrifft das richtige Modul und seine aktuelle Fassung. Dokument 1 ist veraltet. Dokument 3 ist aktuell, betrifft aber ein anderes Modul. Frage: Reicht die Zahl sieben als gespeichertes Ergebnis? Erwartete Antwort: Für eine überprüfbare Antwort benötigen wir zusätzlich Dokumentkennung, Fassung und den stützenden Textbereich. Alle drei vollständigen Sätze sind synthetisch. Es gibt hier keine Aussage über reale Aufbewahrungsfristen. Übergang: Eine SELECT-Abfrage liefert solche Daten als Rows.</a:t>
            </a:r>
          </a:p>
          <a:p xmlns:a="http://schemas.openxmlformats.org/drawingml/2006/main">
            <a:r>
              <a:t/>
            </a:r>
          </a:p>
          <a:p xmlns:a="http://schemas.openxmlformats.org/drawingml/2006/main">
            <a:r>
              <a:t>STANDARD-Folie 4, Quellfolie 4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gezeigte Abfrage ist vollständig und benötigt keine eigene Tabelle. Sie ist eine Illustration des bekannten tabellarischen Ergebnisformats. Der feste VALUES-Ausdruck enthält bereits die ausgewählte Fassung. Er sucht oder prüft nicht selbstständig, ob ein Dokument aktuell ist. Frage: Woher kennt SQL hier die sieben Tage? Antwort: Aus dem ausdrücklich angegebenen Literalwert. Es gibt weder Training noch Modellaufruf. Die Statements schreiben keine persistenten Daten. Ein späterer praktischer Versuch erfolgt nur auf dem vorbereiteten Schulungsziel. Übergang: Aus einer Row kann eine Anwendung einen Satz formulieren, doch die Herkunft des Werts muss erhalten bleiben.</a:t>
            </a:r>
          </a:p>
          <a:p xmlns:a="http://schemas.openxmlformats.org/drawingml/2006/main">
            <a:r>
              <a:t/>
            </a:r>
          </a:p>
          <a:p xmlns:a="http://schemas.openxmlformats.org/drawingml/2006/main">
            <a:r>
              <a:t>STANDARD-Folie 5, Quellfolie 5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Logeinträge und Protokolle gelten für diesen didaktischen Fall als alternative Wortwahl. Das ist eine festgelegte Lehrannahme, kein gemessener Sprachmodellbefund. Die erste Frage lässt sich bei bekanntem Datenmodell relational bearbeiten. Die zweite motiviert eine Suche nach Bedeutung. Die dritte zeigt eine Grenze: Unser Quelltext nennt eine Frist, aber keinen Grund. Frage: Darf die Anwendung daraus eine Erklärung für die Frist erfinden? Antwort: Nein, der Grund ist mit diesen Quellen nicht belegt. Ein begründetes Offenlassen ist angemessen. Übergang: Wir benennen nun, was KI-Verfahren in diesem Ablauf leisten sollen.</a:t>
            </a:r>
          </a:p>
          <a:p xmlns:a="http://schemas.openxmlformats.org/drawingml/2006/main">
            <a:r>
              <a:t/>
            </a:r>
          </a:p>
          <a:p xmlns:a="http://schemas.openxmlformats.org/drawingml/2006/main">
            <a:r>
              <a:t>STANDARD-Folie 6, Quellfolie 6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zeigt die Breite als didaktische Anwendungsideen, keine Liste bereits freigegebener Implementierungen. Bei Klassifikation ordnet ein passendes Modell eine Eingabe einer Kategorie zu. Bei Vorhersage liefert es einen Wert für die zuvor definierte Aufgabe. Dafür sind jeweils geeignete Daten, Modellwahl und eigene Bewertung nötig. Die SQL-2025-External-Modeldefinition im behandelten Pfad hat MODEL_TYPE=EMBEDDINGS. AI_GENERATE_EMBEDDINGS ist ein Embeddingzugang. Daraus folgt keine allgemeine native Chat-, Zusammenfassungs-, Vorhersage- oder Klassifikationsfunktion. Antworttext und Zusammenfassung sind im geplanten generativen Pfad Aufgaben der Anwendung und ihres Sprachmodells. SQL-Assistenz gehört ebenfalls zu einem ausdrücklich gewählten Client-/Anwendungspfad. Frage: Würde ein einziger Vektordatentyp alle vier Anwendungen lösen? Antwort: Nein, er ist ein Baustein. Übergang: Für die passende Auswahl erklären wir nun die grundlegenden Begriffe.</a:t>
            </a:r>
          </a:p>
          <a:p xmlns:a="http://schemas.openxmlformats.org/drawingml/2006/main">
            <a:r>
              <a:t/>
            </a:r>
          </a:p>
          <a:p xmlns:a="http://schemas.openxmlformats.org/drawingml/2006/main">
            <a:r>
              <a:t>STANDARD-Folie 7, Quellfolie 7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CUR-013 / CUR-016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Folie bietet eine einfache Einordnung des breiteren KI-Feldes. Regelbasierte Wissensverarbeitung, Mustererkennung, Vorhersage und Sprachverarbeitung können KI-Anwendungen dienen. Machine Learning bezeichnet darin Verfahren, die Modellverhalten aus Trainingsdaten lernen. Ein regelbasiertes Wissenssystem kann mit ausdrücklich formulierten Regeln arbeiten. Eine generative Textanwendung ist deshalb nur ein möglicher Fall. Frage: Lernt schon ein SELECT aus einer festen VALUES-Row? Antwort: Nein, es verarbeitet die angegebenen Werte nach SQL-Regeln. Nicht jede regelgeleitete Berechnung wird dadurch automatisch zur KI-Anwendung. Das Erstellen einer Tabelle oder fester Geometrievektoren ist ebenfalls kein Modelltraining. Wir beginnen mit dieser Unterscheidung, um später keinen mathematischen Lehrfall als echte Sprachsemantik auszugeben. Übergang: Für unsere späteren Modellpfade betrachten wir nun Modellaufgabe und Eingabe genauer.</a:t>
            </a:r>
          </a:p>
          <a:p xmlns:a="http://schemas.openxmlformats.org/drawingml/2006/main">
            <a:r>
              <a:t/>
            </a:r>
          </a:p>
          <a:p xmlns:a="http://schemas.openxmlformats.org/drawingml/2006/main">
            <a:r>
              <a:t>STANDARD-Folie 8, Quellfolie 8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Rechenvorschrift umfasst bei einem ML-Modell gelernte Parameter. Für den Einstieg reicht die Eingabe-/Ausgabevorstellung. Vermeiden Sie eine Erklärung, in der ein Modell als Person dargestellt wird, die automatisch unsere Datenbank kennt. Frage: Sind Textsuche und Antwortformulierung dieselbe Aufgabe? Antwort: Nein. Eine numerische Repräsentation kann der Suche dienen. Die Formulierung eines Antworttexts ist ein weiterer Verarbeitungsschritt. Einige Modelle und Anwendungen verbinden mehrere Fähigkeiten, doch die Aufgaben und ihre Ergebnisse werden hier getrennt bewertet. Übergang: Ein vorbereitetes Modell kann verwendet werden, ohne es in der Schulung neu zu trainieren.</a:t>
            </a:r>
          </a:p>
          <a:p xmlns:a="http://schemas.openxmlformats.org/drawingml/2006/main">
            <a:r>
              <a:t/>
            </a:r>
          </a:p>
          <a:p xmlns:a="http://schemas.openxmlformats.org/drawingml/2006/main">
            <a:r>
              <a:t>STANDARD-Folie 9, Quellfolie 9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Wenn wir MOD_A als neue Tabellenrow speichern, haben wir damit ein Sprachmodell trainiert? Antwort: Nein. Speichern, Suchen, Inferenz und Training sind verschiedene Vorgänge. Eine Anwendung kann aktuelle Dokumente zur Antwort hinzufügen, ohne das vorbereitete Sprachmodell neu zu trainieren. Ein Cloudservice kann Daten je nach Dienst und Funktion unterschiedlich verarbeiten. Aus unserer Erklärung des Anwendungspfads folgt deshalb keine allgemeine Datenschutz- oder Retentiongarantie. Die festen Werte des Einstiegs sind bewusst ohne Modell erzeugt. Übergang: Bei der Textausgabe betrachten wir ein Sprachmodell genauer.</a:t>
            </a:r>
          </a:p>
          <a:p xmlns:a="http://schemas.openxmlformats.org/drawingml/2006/main">
            <a:r>
              <a:t/>
            </a:r>
          </a:p>
          <a:p xmlns:a="http://schemas.openxmlformats.org/drawingml/2006/main">
            <a:r>
              <a:t>STANDARD-Folie 10, Quellfolie 10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Beispielsatz auf der Folie ist von der Lehrperson fest vorgegeben. Er ist kein Ergebnis eines hier ausgeführten Modellaufrufs. Frage: Woran würden Sie die Antwort prüfen? Erwartete Antwort: Am aktuellen Dokument 2, Fassung v2, und an der Aussage zur Aufbewahrung. Ein Sprachmodell kann plausiblen Text erzeugen, obwohl nötiger Kontext fehlt. Die Qualität der Formulierung und die Qualität des Belegs werden deshalb getrennt bewertet. Vermeiden Sie den Eindruck, ein Modell hätte automatisch Zugriff auf unsere SQL-Tabellen. Diesen Zugriff vermittelt die Anwendung mit den tatsächlichen Rechten. Übergang: Text wird dabei in Verarbeitungseinheiten aufgeteilt.</a:t>
            </a:r>
          </a:p>
          <a:p xmlns:a="http://schemas.openxmlformats.org/drawingml/2006/main">
            <a:r>
              <a:t/>
            </a:r>
          </a:p>
          <a:p xmlns:a="http://schemas.openxmlformats.org/drawingml/2006/main">
            <a:r>
              <a:t>STANDARD-Folie 11, Quellfolie 11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Nennen Sie den kurzen Satz MOD_A bewahrt Protokolle sieben Tage auf. Lassen Sie die Gruppe Wörter und Zeichen zählen. Frage: Kennen wir damit bereits seine genaue Tokenzahl? Antwort: Nein, dafür benötigen wir den tatsächlich verwendeten Tokenizer. Geben Sie keine erfundene Tokenzerlegung als Produktresultat aus. Tokens können Modelllimits und Requestkosten beeinflussen. Das später erläuterte SQL-FIXED-Chunking arbeitet dagegen mit Zeichenbereichen. Eine Chunkgröße ist daher kein bewiesenes Modelltokenlimit. Übergang: Die beteiligten Komponenten benötigen unterschiedliche Eingaben und liefern unterschiedliche Ergebnisse.</a:t>
            </a:r>
          </a:p>
          <a:p xmlns:a="http://schemas.openxmlformats.org/drawingml/2006/main">
            <a:r>
              <a:t/>
            </a:r>
          </a:p>
          <a:p xmlns:a="http://schemas.openxmlformats.org/drawingml/2006/main">
            <a:r>
              <a:t>STANDARD-Folie 12, Quellfolie 12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Wer entscheidet, welche SQL-Rows ein Benutzer lesen darf? Antwort: Die tatsächliche Datenbankautorisierung zusammen mit dem festgelegten Anwendungspfad. Das Modell erhält nur den Kontext, den die Anwendung ihm übergibt. Die aktuelle SQL-External-Modeldefinition beschreibt im behandelten Pfad einen Embeddingzugang. Sie hostet nicht automatisch ein allgemeines generatives Chatmodell in der Database Engine. Diese technische Unterscheidung wird in der Vertiefung genauer behandelt. Ein Modell verändert keine Datenbankrechte allein durch seine Ausgabe. Übergang: Für das erste Verständnis können wir diese Komponenten auf einen noch kleineren Offlineversuch reduzieren.</a:t>
            </a:r>
          </a:p>
          <a:p xmlns:a="http://schemas.openxmlformats.org/drawingml/2006/main">
            <a:r>
              <a:t/>
            </a:r>
          </a:p>
          <a:p xmlns:a="http://schemas.openxmlformats.org/drawingml/2006/main">
            <a:r>
              <a:t>STANDARD-Folie 13, Quellfolie 13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Brauche ich für diese ersten Beispiele schon ChatGPT, Copilot oder ein Cloudkonto? Antwort: Nein. Die festen T-SQL-Werte und die Distanzberechnung rufen keinen Modellservice auf. Frage: Welchen Teil können wir schon ohne Modellzugang verstehen? Antwort: Datentyp, Distanzberechnung, tabellarische Resultate und die Prüfung eines festen Antwortbelegs. Das ist der bewusst kleine Einstiegspfad. Er belegt keine Sprachmodellqualität und führt keinen Provideraufruf aus. Für Personen ohne laufenden SQL Server können die festen Eingaben und erwarteten Werte zunächst gemeinsam auf den Folien besprochen werden. Die praktische Vorführung benötigt anschließend eine passend vorbereitete Testinstanz mit einem Queryclient. Der vorhandene Demo-Ausführungsleitfaden übernimmt spätere vollständige Demos mit ihren eigenen Verträgen. Übergang: Die häufigste erste Hürde ist die Trennung von Server und Client.</a:t>
            </a:r>
          </a:p>
          <a:p xmlns:a="http://schemas.openxmlformats.org/drawingml/2006/main">
            <a:r>
              <a:t/>
            </a:r>
          </a:p>
          <a:p xmlns:a="http://schemas.openxmlformats.org/drawingml/2006/main">
            <a:r>
              <a:t>STANDARD-Folie 14, Quellfolie 14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Engine als das SQL-Server-Programm, das die Query ausführt. Ein Client ist zum Beispiel ein Queryeditor oder sqlcmd. Compatibility Level steuert bestimmte Datenbankverhaltensweisen und ist nicht identisch mit der installierten Engineversion. VECTOR ist laut Microsoft unter allen Compatibility Levels der geeigneten Engine verfügbar. Das vollständige Schulungsprofil verwendet dennoch CL170, unter anderem wegen AI_GENERATE_CHUNKS. Frage: Beweist ein neuer Queryeditor die Verfügbarkeit von VECTOR auf einem älteren Server? Antwort: Nein. Wenn die Engine ungeeignet ist, wird die vorbereitete SQL-2025-Testumgebung benötigt. Es wird hier keine Installation oder Änderung ausgeführt. Übergang: Zwei read-only Abfragen zeigen die getrennten Werte.</a:t>
            </a:r>
          </a:p>
          <a:p xmlns:a="http://schemas.openxmlformats.org/drawingml/2006/main">
            <a:r>
              <a:t/>
            </a:r>
          </a:p>
          <a:p xmlns:a="http://schemas.openxmlformats.org/drawingml/2006/main">
            <a:r>
              <a:t>STANDARD-Folie 15, Quellfolie 15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Code ist read-only. Die angezeigten Werte sind tatsächliche Umgebungswerte eines späteren praktischen Versuchs und werden nicht für diesen Entwurf als gemessen behauptet. Erwartung im vorbereiteten Schulungsprofil: Major17 und CL170. Eine Ausgabe Major16 ist kein SQL Server2025. Eine17.x-Engine kann eine Datenbank mit niedrigerem CL betreiben. Die Abfrage beweist noch nicht Edition, Rechte, verfügbare Komponente, Clienttransport oder die vollständigen Demovoraussetzungen. Frage: Was tun bei einer Abweichung? Antwort: Erst das Ziel und den vorgesehenen Preflight mit der Lehrperson klären. Keine automatische ALTER-Anweisung ergänzen. Den Compatibility-Level-Bezug entnehmen wir SRC079 und dem gewählten Projektprofil. Reale Namen oder Verbindungsdetails werden nicht in Unterlagen übernommen.</a:t>
            </a:r>
          </a:p>
          <a:p xmlns:a="http://schemas.openxmlformats.org/drawingml/2006/main">
            <a:r>
              <a:t/>
            </a:r>
          </a:p>
          <a:p xmlns:a="http://schemas.openxmlformats.org/drawingml/2006/main">
            <a:r>
              <a:t>STANDARD-Folie 16, Quellfolie 16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Benötigt die Person, die eine Query versteht, automatisch dieselben Rechte wie die Person, die das Lab einrichtet? Antwort: Nein. Eigene Demo-Setups können Datenbanken oder Rollen anlegen, während unsere DECLARE-/VALUES-/SELECT-Übung keine solchen Rechte benötigt. Die Lehrperson nutzt den vorhandenen Ausführungsleitfaden und bei fehlender Testinstanz die passende Umgebungsanleitung. Der Container-Quickstart ist für sein dort beschriebenes Szenario qualifiziert und wird nicht pauschal zur Freigabe sämtlicher KI-Pfade erklärt. Ein Berechtigungsfehler wird als Voraussetzung untersucht. Er wird nicht mit einer ungeprüften Rechteerweiterung gelöst. Die praktische Übung erfolgt auf dem vorbereiteten Schulungsziel. Übergang: Nun können wir die festen Zahlen kennenlernen.</a:t>
            </a:r>
          </a:p>
          <a:p xmlns:a="http://schemas.openxmlformats.org/drawingml/2006/main">
            <a:r>
              <a:t/>
            </a:r>
          </a:p>
          <a:p xmlns:a="http://schemas.openxmlformats.org/drawingml/2006/main">
            <a:r>
              <a:t>STANDARD-Folie 17, Quellfolie 17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Projektquelle: Documentation/HowTo/CONTAINER_QUICKSTART.md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CUR-014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Zeigen Sie die drei Positionen in [1,0,0], ohne ihnen Wörter oder eine gemessene Sprachbedeutung zuzuweisen. In dieser geometrischen Übung stellen sie Koordinaten dar. Dimension3 bedeutet drei Komponenten. Die Richtung [1,0,0] zeigt entlang einer Achse, [0,1,0] entlang einer anderen und [-1,0,0] in die Gegenrichtung. Alle drei Vektoren sind Nichtnullvektoren mit Länge1. Die Cosine-Distanz wird deshalb an einem besonders einfachen Fall erklärt. Frage: Hat SQL hier Textverständnis erzeugt? Antwort: Nein, wir haben Zahlen vorgegeben und werden Mathematik anwenden. Echte Textembeddings erläutern wir erst nach der Übung.</a:t>
            </a:r>
          </a:p>
          <a:p xmlns:a="http://schemas.openxmlformats.org/drawingml/2006/main">
            <a:r>
              <a:t/>
            </a:r>
          </a:p>
          <a:p xmlns:a="http://schemas.openxmlformats.org/drawingml/2006/main">
            <a:r>
              <a:t>STANDARD-Folie 18, Quellfolie 18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zunächst nur die Rangfolge vorhersagen. Erwartete Reihenfolge: Id1, Id2, Id3. Begründen lassen: Gleiche Richtung ist näher als senkrechte und entgegengesetzte Richtung. Die verwendete Distanz ist eins minus Cosine-Ähnlichkeit. Für unsere Nichtnull-Einheitsvektoren sind die Ähnlichkeiten1,0,−1 und die Distanzen deshalb0,1,2. Diese Werte sind mathematische Sollwerte des ausdrücklich konstruierten Falls, kein protokollierter SQL-Lauf. Erklären Sie bei Bedarf die Begriffe senkrecht und Gegenrichtung verbal. Erst die folgende Query zeigt die Zuordnung zum SQL-Ausdruck. Es gibt hier keine realen Dokumentembeddings oder Relevanzurteile.</a:t>
            </a:r>
          </a:p>
          <a:p xmlns:a="http://schemas.openxmlformats.org/drawingml/2006/main">
            <a:r>
              <a:t/>
            </a:r>
          </a:p>
          <a:p xmlns:a="http://schemas.openxmlformats.org/drawingml/2006/main">
            <a:r>
              <a:t>STANDARD-Folie 19, Quellfolie 19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Vollständiges kopierbares Lehrbeispiel:</a:t>
            </a:r>
          </a:p>
          <a:p xmlns:a="http://schemas.openxmlformats.org/drawingml/2006/main">
            <a:r>
              <a:t>DECLARE @q VECTOR(3) = '[1,0,0]';</a:t>
            </a:r>
          </a:p>
          <a:p xmlns:a="http://schemas.openxmlformats.org/drawingml/2006/main">
            <a:r>
              <a:t>SELECT Id, VECTOR_DISTANCE('cosine', @q, CAST(V AS VECTOR(3))) AS D</a:t>
            </a:r>
          </a:p>
          <a:p xmlns:a="http://schemas.openxmlformats.org/drawingml/2006/main">
            <a:r>
              <a:t>FROM (VALUES (1,'[1,0,0]'),(2,'[0,1,0]'),(3,'[-1,0,0]')) d(Id,V)</a:t>
            </a:r>
          </a:p>
          <a:p xmlns:a="http://schemas.openxmlformats.org/drawingml/2006/main">
            <a:r>
              <a:t>ORDER BY D, Id;</a:t>
            </a:r>
          </a:p>
          <a:p xmlns:a="http://schemas.openxmlformats.org/drawingml/2006/main">
            <a:r>
              <a:t/>
            </a:r>
          </a:p>
          <a:p xmlns:a="http://schemas.openxmlformats.org/drawingml/2006/main">
            <a:r>
              <a:t>Diese Query legt keine Tabelle an, schreibt keine Daten und ruft kein Modell auf. Die angeleitete Vorführung setzt die vorbereitete Engine 17.x voraus. Frage: Welche Zahl ist der Fragevektor? Antwort: @q. Welche Werte werden verglichen? Antwort: Die drei ausdrücklich angegebenen V-Zeichenfolgen nach der Konvertierung zu VECTOR(3). Die Funktion berechnet für jede Row eine exakte Distanz. ORDER BY D,Id legt die Reihenfolge fest und löst gleiche Distanzwerte nach Id auf. VECTOR_DISTANCE nutzt dafür keinen Vector Index. Die resultierenden Sollwerte stehen auf der nächsten Folie. Diese angeleitete Vorführung ist ein didaktischer read-only Ausdruck, keine neue katalogisierte Demo, keine bewertete Arbeitsheftaufgabe und keine zusätzliche Runtimefreigabe. Es gibt hierfür keine neue Rubrik. Die bestehenden bewerteten Aufgaben, Trainerlösungen und Bewertungsrubrik bleiben ausschließlich im Arbeitsheft.</a:t>
            </a:r>
          </a:p>
          <a:p xmlns:a="http://schemas.openxmlformats.org/drawingml/2006/main">
            <a:r>
              <a:t/>
            </a:r>
          </a:p>
          <a:p xmlns:a="http://schemas.openxmlformats.org/drawingml/2006/main">
            <a:r>
              <a:t>STANDARD-Folie 20, Quellfolie 20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Was bedeutet der erste Treffer? Antwort: Id1 ist unter der gewählten Metric und den vorgegebenen Zahlen am nächsten. Frage: Bedeutet Distanz0, dass ein Antworttext mit100Prozent Wahrscheinlichkeit wahr ist? Antwort: Nein. Die Distanz bezieht sich auf Zahlen im gewählten Raum und ist keine Antwortwahrscheinlichkeit. Die mathematischen Sollwerte0,1,2 sind direkt aus den drei Einheitsvektoren hergeleitet, keine erhobene Runtimeevidenz. Bei einem praktischen Lauf erst tatsächliche Rows und die sichtbare numerische Darstellung lesen. Sehr kleine Rundungsabweichungen werden begründet eingeordnet und dürfen keine geänderten Kandidaten oder andere Metric verbergen. Übergang: Für Textsuche muss noch erklärt werden, wo geeignete Zahlen überhaupt herkommen.</a:t>
            </a:r>
          </a:p>
          <a:p xmlns:a="http://schemas.openxmlformats.org/drawingml/2006/main">
            <a:r>
              <a:t/>
            </a:r>
          </a:p>
          <a:p xmlns:a="http://schemas.openxmlformats.org/drawingml/2006/main">
            <a:r>
              <a:t>STANDARD-Folie 21, Quellfolie 21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bedeutet hier eine modellabhängige numerische Repräsentation von Text. Rückbezug zur Frage Wann verschwinden die Logeinträge: Ein geeignetes Textmodell könnte unterschiedliche Formulierungen nahe abbilden. Das ist eine zu bewertende Anwendungsidee, kein in dieser Einführung gemessenes Ergebnis. Die Frage und die Quellen müssen zum selben geeigneten Modellraum gehören. Gleiche Dimensionszahl allein genügt nicht. Modellversion, Dimension und Normalisierung werden bei gespeicherten Embeddings nachvollziehbar gehalten. Jede Koordinate ist nicht einfach einem verständlichen Wort zuzuordnen. Das Suchmodell und ein Modell zur Antwortformulierung können unterschiedliche Komponenten sein. Übergang: Der echte Modellpfad bringt zusätzliche praktische Hürden mit sich.</a:t>
            </a:r>
          </a:p>
          <a:p xmlns:a="http://schemas.openxmlformats.org/drawingml/2006/main">
            <a:r>
              <a:t/>
            </a:r>
          </a:p>
          <a:p xmlns:a="http://schemas.openxmlformats.org/drawingml/2006/main">
            <a:r>
              <a:t>STANDARD-Folie 22, Quellfolie 22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Provider ist der Dienst, der das vorbereitete Modell ausführt. Im direkten SQL-External-Modelpfad verlangt Microsoft einen HTTPS-Endpunkt mit TLS, einem Verfahren für verschlüsselten Transport. Diese Prüfung ist mehr als die Frage, ob ein Dienst im Browser antwortet. Bei Containern bezeichnet localhost den jeweiligen Ausführungskontext. Rechte für Modellnutzung bleiben von Einrichtungs- und Credentialrechten getrennt. Ein lokal laufendes Modell benötigt ebenfalls Prüfung von Modelllizenz, Ressourcen und Eingaben. Das bedeutet nicht, dass sämtliche Daten automatisch das Gerät verlassen. Der jeweilige Datenfluss entscheidet. Kostenangaben, Retention und Verarbeitung unterscheiden sich nach Modell und Dienst. Es gibt keine allgemeine Nullkosten- oder Datenschutzgarantie. Diese Folie erklärt einen späteren Pfad und startet keinen Modellcall, keine Cloudbereitstellung und keine Instanzaktivierung. Bei fehlenden Voraussetzungen bleiben wir beim Offlineeinstieg. Frage: Welche dieser Hürden entfällt in unserer festen Zahlenübung? Antwort: Ein Modellrequest und dessen Providerkonfiguration sind dort nicht beteiligt.</a:t>
            </a:r>
          </a:p>
          <a:p xmlns:a="http://schemas.openxmlformats.org/drawingml/2006/main">
            <a:r>
              <a:t/>
            </a:r>
          </a:p>
          <a:p xmlns:a="http://schemas.openxmlformats.org/drawingml/2006/main">
            <a:r>
              <a:t>STANDARD-Folie 23, Quellfolie 23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kurzen Einstiegssatz kann der gesamte Satz ein Textbereich sein. Bei längeren Dokumenten entstehen mehrere Chunks. Provenienz bedeutet nachvollziehbare Herkunft und Verarbeitung. Dazu gehören Dokumentkennung, Fassung, Reihenfolge, Anfang und Länge des Bereichs. Diese Felder werden in den anschließenden Demos konkret untersucht. Die SQL-Funktion AI_GENERATE_CHUNKS benötigt mindestens Compatibility Level170. Ihr FIXED-Verfahren verwendet Zeichenbereiche und ist kein Modelltokenizer. Frage: Was verlieren wir, wenn wir nur den Satz und seine Zahlenliste speichern? Antwort: Die Verbindung zur überprüfbaren Quelle und ihrer aktuellen Fassung. Übergang: Ein solcher erlaubter Quellenausschnitt kann Kontext für einen Antwortentwurf bilden.</a:t>
            </a:r>
          </a:p>
          <a:p xmlns:a="http://schemas.openxmlformats.org/drawingml/2006/main">
            <a:r>
              <a:t/>
            </a:r>
          </a:p>
          <a:p xmlns:a="http://schemas.openxmlformats.org/drawingml/2006/main">
            <a:r>
              <a:t>STANDARD-Folie 24, Quellfolie 24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CUR-015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bezeichnet die Verbindung von abgerufenem Kontext und generativer Antwort. Retrieval heißt hier das Suchen und Bereitstellen von Quellen. Die Architektur wurde bereits mit den getrennten Rollen vorbereitet. Frage: Trainieren wir das Modell mit jeder neuen Frage automatisch neu? Antwort: Nein, die Anwendung kann dem vorbereiteten Modell neuen Kontext bereitstellen. Sie muss dabei sowohl Zugriffsrechte als auch Quellenstand beachten. Ein erlaubter Text allein stützt noch nicht jeden erzeugten Satz. Der kurze folgende Fall arbeitet mit ausdrücklich vorgegebenen Antworten, damit die Gruppe die Belegentscheidung gemeinsam prüfen kann. Das ist ein Offline-Kontrollfall und keine Livegeneration. Übergang: Wir lesen Frage, Quelle und Antwort nebeneinander.</a:t>
            </a:r>
          </a:p>
          <a:p xmlns:a="http://schemas.openxmlformats.org/drawingml/2006/main">
            <a:r>
              <a:t/>
            </a:r>
          </a:p>
          <a:p xmlns:a="http://schemas.openxmlformats.org/drawingml/2006/main">
            <a:r>
              <a:t>STANDARD-Folie 25, Quellfolie 25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Antwort freigeben oder zurückweisen und die Entscheidung an einem sichtbaren Beleg festmachen. Erwartete Entscheidung für diesen festen Lehrfall: Die Fristaussage ist durch die aktuelle erlaubte Quelle gestützt. Frage: Welche zusätzliche Behauptung wäre noch nicht belegt? Antwort: Eine Begründung, warum die Frist sieben Tage beträgt. Unser Dokument nennt keinen Grund. Die Existenz einer Dokumentkennung genügt nicht, wenn der zitierte Satz außerhalb des tatsächlich gelieferten Kontexts liegt. Der Antwortentwurf ist hier vorgegeben und nicht mit einem Modell erzeugt. Übergang: Jetzt prüfen wir dieselbe Regel an einer falschen und an einer unbeantwortbaren Frage.</a:t>
            </a:r>
          </a:p>
          <a:p xmlns:a="http://schemas.openxmlformats.org/drawingml/2006/main">
            <a:r>
              <a:t/>
            </a:r>
          </a:p>
          <a:p xmlns:a="http://schemas.openxmlformats.org/drawingml/2006/main">
            <a:r>
              <a:t>STANDARD-Folie 26, Quellfolie 26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Geben Sie dieselbe aktuelle Quelle aus Dokument2 vor. Erst die falsche14-Tage-Antwort besprechen. Frage: Reicht eine korrekte Quellenkennung für diese Antwort? Antwort: Nein, ihr Inhalt widerspricht dem Quelleninhalt. Danach die Warum-Frage behandeln. Der passende feste Nichtantworttext lautet: Die aktuelle Anleitung nennt sieben Tage, erklärt den Grund aber nicht. Die Gruppe soll zwischen falscher Antwort und fehlender Information unterscheiden. Eine leere Ausgabe allein erklärt keine dieser Situationen. Eine begründete Nichtantwort macht die fehlende Evidenz sichtbar. Diese Lehrfälle greifen die späteren Offline-RAG-Kontrollen auf, ersetzen aber deren vollständigen Ergebnisvertrag nicht. Übergang: Mit diesen Kriterien können wir nun die konkreten SQL-Demos verstehen.</a:t>
            </a:r>
          </a:p>
          <a:p xmlns:a="http://schemas.openxmlformats.org/drawingml/2006/main">
            <a:r>
              <a:t/>
            </a:r>
          </a:p>
          <a:p xmlns:a="http://schemas.openxmlformats.org/drawingml/2006/main">
            <a:r>
              <a:t>STANDARD-Folie 27, Quellfolie 27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Kurzer Verständnischeck vor dem Übergang: Woher stammen unsere ersten drei Vektoren? Antwort: Aus ausdrücklich gesetzten Geometriewerten. Was liefert ein echtes Embedding-Modell? Antwort: Eine modellabhängige numerische Repräsentation der Eingabe. Was prüft unsere sieben-Tage-Antwort? Antwort: Eine konkrete aktuelle Quellenstelle im erlaubten Kontext. Was tun wir bei fehlendem Modellzugang? Antwort: Den lokalen Offlinepfad und seine begrenzten Lernziele nutzen. Die folgenden vorhandenen Folien führen die konkreten Demo-IDs, Voraussetzungen, Ergebnisverträge und offenen Vertiefungspfade ein. Keine zusätzlichen Modell-, Cloud- oder Hosteffekte aus den Einführungscodebeispielen ableiten. Lehrperson fragt vor dem Demostart nach tatsächlichem Ziel, Preflight und dokumentiertem Cleanup. Lehrzeiten und Lernwirksamkeit dieser neuen Einsteigerfolge sind noch nicht erprobt.</a:t>
            </a:r>
          </a:p>
          <a:p xmlns:a="http://schemas.openxmlformats.org/drawingml/2006/main">
            <a:r>
              <a:t/>
            </a:r>
          </a:p>
          <a:p xmlns:a="http://schemas.openxmlformats.org/drawingml/2006/main">
            <a:r>
              <a:t>STANDARD-Folie 28, Quellfolie 28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CUR-013 / CUR-014 / CUR-017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STANDARD-Folie 29, Quellfolie 34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STANDARD-Folie 30, Quellfolie 35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STANDARD-Folie 31, Quellfolie 36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STANDARD-Folie 32, Quellfolie 37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STANDARD-Folie 33, Quellfolie 38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STANDARD-Folie 34, Quellfolie 39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ANN-Approximation,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STANDARD-Folie 35, Quellfolie 43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STANDARD-Folie 36, Quellfolie 44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STANDARD-Folie 37, Quellfolie 45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STANDARD-Folie 38, Quellfolie 46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STANDARD-Folie 39, Quellfolie 47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STANDARD-Folie 40, Quellfolie 48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 lokales HTTP-API erfüllt den direkten SQL-HTTPS-Vertrag noch nicht. Erreichbarkeit wird aus dem Enginekontext geprüft. localhost im SQL-Container bezeichnet den Container selbst. Cloud und ONNX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STANDARD-Folie 41, Quellfolie 40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STANDARD-Folie 42, Quellfolie 41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STANDARD-Folie 43, Quellfolie 42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STANDARD-Folie 44, Quellfolie 49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DML-/Storage-/Buildkosten.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STANDARD-Folie 45, Quellfolie 61 des 61-Folien-Masterdecks. Ablauf und Beobachtungsbogen: Documentation/HowTo/SQL_SERVER_2025_AI_STANDARD_COURSE.md.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f0d4f51c1e4af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32ce8ed862a4f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a4f7c2cc64843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631682cc3e422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335c845e8d4c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8dcfddbfb2142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B006FD-9867-4B55-8AEB-60E1397D7B8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6C020B-6C7D-4A8A-B642-BDE058D729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3B60E2-6A4F-49A4-9D1C-8D0641C8B3E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DC73D4-C22D-4FC2-88EF-B42D2FC9D1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FFECE6-9D19-4DC4-8DAC-A7107C6AF46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C8298F9-2957-4406-90B0-89F7D94A9B8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4B9EDD-BC86-4529-89AC-37CF3EFD954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5B2DEC-1407-4F97-B0C9-6894DB3185D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75049E-2943-4E18-9DC2-235D07C435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909E1A-2185-4CB3-B281-5CC912215B2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92106d9cf84b1f" /><Relationship Type="http://schemas.openxmlformats.org/officeDocument/2006/relationships/slideLayout" Target="/ppt/slideLayouts/slideLayout1.xml" Id="R497815aa1b144781" /><Relationship Type="http://schemas.openxmlformats.org/officeDocument/2006/relationships/slideLayout" Target="/ppt/slideLayouts/slideLayout2.xml" Id="Re345be9d607c4747" /><Relationship Type="http://schemas.openxmlformats.org/officeDocument/2006/relationships/slideLayout" Target="/ppt/slideLayouts/slideLayout3.xml" Id="R843508abcc7c4e60" /><Relationship Type="http://schemas.openxmlformats.org/officeDocument/2006/relationships/slideLayout" Target="/ppt/slideLayouts/slideLayout4.xml" Id="R2aae6ff45891442d" /><Relationship Type="http://schemas.openxmlformats.org/officeDocument/2006/relationships/slideLayout" Target="/ppt/slideLayouts/slideLayout5.xml" Id="Rc094926e67b044bf" /><Relationship Type="http://schemas.openxmlformats.org/officeDocument/2006/relationships/slideLayout" Target="/ppt/slideLayouts/slideLayout6.xml" Id="Rdaa12d67861140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7815aa1b144781"/>
    <p:sldLayoutId xmlns:r="http://schemas.openxmlformats.org/officeDocument/2006/relationships" id="2147483650" r:id="Re345be9d607c4747"/>
    <p:sldLayoutId xmlns:r="http://schemas.openxmlformats.org/officeDocument/2006/relationships" id="2147483651" r:id="R843508abcc7c4e60"/>
    <p:sldLayoutId xmlns:r="http://schemas.openxmlformats.org/officeDocument/2006/relationships" id="2147483652" r:id="R2aae6ff45891442d"/>
    <p:sldLayoutId xmlns:r="http://schemas.openxmlformats.org/officeDocument/2006/relationships" id="2147483653" r:id="Rc094926e67b044bf"/>
    <p:sldLayoutId xmlns:r="http://schemas.openxmlformats.org/officeDocument/2006/relationships" id="2147483654" r:id="Rdaa12d67861140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4a6fac46ec34646" /><Relationship Type="http://schemas.openxmlformats.org/officeDocument/2006/relationships/notesSlide" Target="/ppt/notesSlides/notesSlide1.xml" Id="Rb572ab23737d4f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9bbc8f9193a4c4c" /><Relationship Type="http://schemas.openxmlformats.org/officeDocument/2006/relationships/notesSlide" Target="/ppt/notesSlides/notesSlide2.xml" Id="R4c95487e67d240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4c0b8d548f64dc4" /><Relationship Type="http://schemas.openxmlformats.org/officeDocument/2006/relationships/notesSlide" Target="/ppt/notesSlides/notesSlide3.xml" Id="Rcd24b6306e5646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7163a3b62f143eb" /><Relationship Type="http://schemas.openxmlformats.org/officeDocument/2006/relationships/notesSlide" Target="/ppt/notesSlides/notesSlide4.xml" Id="R9ff8f59427974d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e8859640c2d4b93" /><Relationship Type="http://schemas.openxmlformats.org/officeDocument/2006/relationships/notesSlide" Target="/ppt/notesSlides/notesSlide5.xml" Id="Re2e7fb92ae7e47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8207b8f7afa45a2" /><Relationship Type="http://schemas.openxmlformats.org/officeDocument/2006/relationships/notesSlide" Target="/ppt/notesSlides/notesSlide6.xml" Id="R4f9c34478e6346b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2983ce0b8d14f62" /><Relationship Type="http://schemas.openxmlformats.org/officeDocument/2006/relationships/notesSlide" Target="/ppt/notesSlides/notesSlide7.xml" Id="R42daed48d55e40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58abd22e3e64510" /><Relationship Type="http://schemas.openxmlformats.org/officeDocument/2006/relationships/notesSlide" Target="/ppt/notesSlides/notesSlide8.xml" Id="R583599bf25624b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1758f9a55fa48ee" /><Relationship Type="http://schemas.openxmlformats.org/officeDocument/2006/relationships/notesSlide" Target="/ppt/notesSlides/notesSlide9.xml" Id="Rdfd49113577b4b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ed21b4d757e4ff2" /><Relationship Type="http://schemas.openxmlformats.org/officeDocument/2006/relationships/notesSlide" Target="/ppt/notesSlides/notesSlide10.xml" Id="R4a9426a807ab42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0b85d41d7124986" /><Relationship Type="http://schemas.openxmlformats.org/officeDocument/2006/relationships/notesSlide" Target="/ppt/notesSlides/notesSlide11.xml" Id="R28c93298a996462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12250e18b6f474e" /><Relationship Type="http://schemas.openxmlformats.org/officeDocument/2006/relationships/notesSlide" Target="/ppt/notesSlides/notesSlide12.xml" Id="R0eae1ded91df46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165f6c74854ce0" /><Relationship Type="http://schemas.openxmlformats.org/officeDocument/2006/relationships/notesSlide" Target="/ppt/notesSlides/notesSlide13.xml" Id="R4fb40ea4091849f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74da354fbd4f0f" /><Relationship Type="http://schemas.openxmlformats.org/officeDocument/2006/relationships/notesSlide" Target="/ppt/notesSlides/notesSlide14.xml" Id="Rd15e85bc608d435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2c7607bf56641c9" /><Relationship Type="http://schemas.openxmlformats.org/officeDocument/2006/relationships/notesSlide" Target="/ppt/notesSlides/notesSlide15.xml" Id="R32448fd5fa214d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43392e3793a4532" /><Relationship Type="http://schemas.openxmlformats.org/officeDocument/2006/relationships/notesSlide" Target="/ppt/notesSlides/notesSlide16.xml" Id="Rd2b8a927b70d4c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ae70216f8194dd8" /><Relationship Type="http://schemas.openxmlformats.org/officeDocument/2006/relationships/notesSlide" Target="/ppt/notesSlides/notesSlide17.xml" Id="R4e459e3d541e45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7e87fd6e2b64dc1" /><Relationship Type="http://schemas.openxmlformats.org/officeDocument/2006/relationships/notesSlide" Target="/ppt/notesSlides/notesSlide18.xml" Id="R2f745901997c47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2ca8815a3094a48" /><Relationship Type="http://schemas.openxmlformats.org/officeDocument/2006/relationships/notesSlide" Target="/ppt/notesSlides/notesSlide19.xml" Id="R20c08eadf313485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7d0f3a0073a40da" /><Relationship Type="http://schemas.openxmlformats.org/officeDocument/2006/relationships/notesSlide" Target="/ppt/notesSlides/notesSlide20.xml" Id="R6d42626a15524df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600a417b0784be6" /><Relationship Type="http://schemas.openxmlformats.org/officeDocument/2006/relationships/notesSlide" Target="/ppt/notesSlides/notesSlide21.xml" Id="R15d63c51306e430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60a3e8adcc84bf7" /><Relationship Type="http://schemas.openxmlformats.org/officeDocument/2006/relationships/notesSlide" Target="/ppt/notesSlides/notesSlide22.xml" Id="Rbbbefc11e158497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ca41c83c5d34601" /><Relationship Type="http://schemas.openxmlformats.org/officeDocument/2006/relationships/notesSlide" Target="/ppt/notesSlides/notesSlide23.xml" Id="R5eb194c45125473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e70b4cc0b4849d9" /><Relationship Type="http://schemas.openxmlformats.org/officeDocument/2006/relationships/notesSlide" Target="/ppt/notesSlides/notesSlide24.xml" Id="R7da6c79f45a8418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3f44b0da5a541c0" /><Relationship Type="http://schemas.openxmlformats.org/officeDocument/2006/relationships/notesSlide" Target="/ppt/notesSlides/notesSlide25.xml" Id="R92dc92049a3142a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75ef920bcb84b40" /><Relationship Type="http://schemas.openxmlformats.org/officeDocument/2006/relationships/notesSlide" Target="/ppt/notesSlides/notesSlide26.xml" Id="R8b2a4e3780e4457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9c196b5c6d449d8" /><Relationship Type="http://schemas.openxmlformats.org/officeDocument/2006/relationships/notesSlide" Target="/ppt/notesSlides/notesSlide27.xml" Id="Re8de19641e49446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0d546469ac641b2" /><Relationship Type="http://schemas.openxmlformats.org/officeDocument/2006/relationships/notesSlide" Target="/ppt/notesSlides/notesSlide28.xml" Id="R1a4e4a5710aa4e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31a08c177044394" /><Relationship Type="http://schemas.openxmlformats.org/officeDocument/2006/relationships/notesSlide" Target="/ppt/notesSlides/notesSlide29.xml" Id="R1193015b000e457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60a55919b3442dd" /><Relationship Type="http://schemas.openxmlformats.org/officeDocument/2006/relationships/notesSlide" Target="/ppt/notesSlides/notesSlide30.xml" Id="R390ebd79e6cb46f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fdc41c1764d49a3" /><Relationship Type="http://schemas.openxmlformats.org/officeDocument/2006/relationships/notesSlide" Target="/ppt/notesSlides/notesSlide31.xml" Id="R11416eac3f9b476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44b2a0cac954b3e" /><Relationship Type="http://schemas.openxmlformats.org/officeDocument/2006/relationships/notesSlide" Target="/ppt/notesSlides/notesSlide32.xml" Id="Rc076049bc95d4f5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f513270b43e4ab9" /><Relationship Type="http://schemas.openxmlformats.org/officeDocument/2006/relationships/notesSlide" Target="/ppt/notesSlides/notesSlide33.xml" Id="R4b76bb2ff00941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a960aac91a44fe7" /><Relationship Type="http://schemas.openxmlformats.org/officeDocument/2006/relationships/notesSlide" Target="/ppt/notesSlides/notesSlide34.xml" Id="R9c6314ff67cf446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13f3dabc2714d37" /><Relationship Type="http://schemas.openxmlformats.org/officeDocument/2006/relationships/notesSlide" Target="/ppt/notesSlides/notesSlide35.xml" Id="R8a0882f928f6492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fab67d7494245be" /><Relationship Type="http://schemas.openxmlformats.org/officeDocument/2006/relationships/notesSlide" Target="/ppt/notesSlides/notesSlide36.xml" Id="R6b3193a94f8846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b8ff0b60a1d4278" /><Relationship Type="http://schemas.openxmlformats.org/officeDocument/2006/relationships/notesSlide" Target="/ppt/notesSlides/notesSlide37.xml" Id="Rf3cc1b9408c9486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0e51e58bfc340a4" /><Relationship Type="http://schemas.openxmlformats.org/officeDocument/2006/relationships/notesSlide" Target="/ppt/notesSlides/notesSlide38.xml" Id="R3ac2696d49ae463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7be66395b894c29" /><Relationship Type="http://schemas.openxmlformats.org/officeDocument/2006/relationships/notesSlide" Target="/ppt/notesSlides/notesSlide39.xml" Id="Rfd0401e5c49a42a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c0c6c3d27d94fbe" /><Relationship Type="http://schemas.openxmlformats.org/officeDocument/2006/relationships/notesSlide" Target="/ppt/notesSlides/notesSlide40.xml" Id="R4b0340e13956448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f804b067a654cbf" /><Relationship Type="http://schemas.openxmlformats.org/officeDocument/2006/relationships/notesSlide" Target="/ppt/notesSlides/notesSlide41.xml" Id="R00cd33540d8d408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e72efda1cef4ec8" /><Relationship Type="http://schemas.openxmlformats.org/officeDocument/2006/relationships/notesSlide" Target="/ppt/notesSlides/notesSlide42.xml" Id="Ra7e08008e24d40c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3ce6c954a224b53" /><Relationship Type="http://schemas.openxmlformats.org/officeDocument/2006/relationships/notesSlide" Target="/ppt/notesSlides/notesSlide43.xml" Id="Rd22e7558d99f480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53c036ff5644492" /><Relationship Type="http://schemas.openxmlformats.org/officeDocument/2006/relationships/notesSlide" Target="/ppt/notesSlides/notesSlide44.xml" Id="R867d978e7c0b404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7bf1c0477164d23" /><Relationship Type="http://schemas.openxmlformats.org/officeDocument/2006/relationships/notesSlide" Target="/ppt/notesSlides/notesSlide45.xml" Id="Rbf14e703423c4e3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FD71BF6-8648-44AA-A7D5-3C7D25156D92}"/>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vl1pPr>
              <a:defRPr sz="4800" b="1">
                <a:solidFill>
                  <a:srgbClr val="15283D"/>
                </a:solidFill>
                <a:latin typeface="Arial"/>
                <a:ea typeface="Arial"/>
                <a:cs typeface="Arial"/>
              </a:defRPr>
            </a:lvl1pPr>
            <a:lvl2pPr>
              <a:defRPr sz="4800" b="1">
                <a:solidFill>
                  <a:srgbClr val="15283D"/>
                </a:solidFill>
                <a:latin typeface="Arial"/>
                <a:ea typeface="Arial"/>
                <a:cs typeface="Arial"/>
              </a:defRPr>
            </a:lvl2pPr>
            <a:lvl3pPr>
              <a:defRPr sz="4800" b="1">
                <a:solidFill>
                  <a:srgbClr val="15283D"/>
                </a:solidFill>
                <a:latin typeface="Arial"/>
                <a:ea typeface="Arial"/>
                <a:cs typeface="Arial"/>
              </a:defRPr>
            </a:lvl3pPr>
            <a:lvl4pPr>
              <a:defRPr sz="4800" b="1">
                <a:solidFill>
                  <a:srgbClr val="15283D"/>
                </a:solidFill>
                <a:latin typeface="Arial"/>
                <a:ea typeface="Arial"/>
                <a:cs typeface="Arial"/>
              </a:defRPr>
            </a:lvl4pPr>
            <a:lvl5pPr>
              <a:defRPr sz="4800" b="1">
                <a:solidFill>
                  <a:srgbClr val="15283D"/>
                </a:solidFill>
                <a:latin typeface="Arial"/>
                <a:ea typeface="Arial"/>
                <a:cs typeface="Arial"/>
              </a:defRPr>
            </a:lvl5pPr>
            <a:lvl6pPr>
              <a:defRPr sz="4800" b="1">
                <a:solidFill>
                  <a:srgbClr val="15283D"/>
                </a:solidFill>
                <a:latin typeface="Arial"/>
                <a:ea typeface="Arial"/>
                <a:cs typeface="Arial"/>
              </a:defRPr>
            </a:lvl6pPr>
            <a:lvl7pPr>
              <a:defRPr sz="4800" b="1">
                <a:solidFill>
                  <a:srgbClr val="15283D"/>
                </a:solidFill>
                <a:latin typeface="Arial"/>
                <a:ea typeface="Arial"/>
                <a:cs typeface="Arial"/>
              </a:defRPr>
            </a:lvl7pPr>
            <a:lvl8pPr>
              <a:defRPr sz="4800" b="1">
                <a:solidFill>
                  <a:srgbClr val="15283D"/>
                </a:solidFill>
                <a:latin typeface="Arial"/>
                <a:ea typeface="Arial"/>
                <a:cs typeface="Arial"/>
              </a:defRPr>
            </a:lvl8pPr>
            <a:lvl9pPr>
              <a:defRPr sz="4800" b="1">
                <a:solidFill>
                  <a:srgbClr val="15283D"/>
                </a:solidFill>
                <a:latin typeface="Arial"/>
                <a:ea typeface="Arial"/>
                <a:cs typeface="Arial"/>
              </a:defRPr>
            </a:lvl9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SQL Server 2025</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STANDARD</a:t>
            </a:r>
          </a:p>
        </p:txBody>
      </p:sp>
      <p:sp>
        <p:nvSpPr>
          <p:cNvPr id="2" name="text-1">
            <a:extLst xmlns:a="http://schemas.openxmlformats.org/drawingml/2006/main">
              <a:ext uri="{FF2B5EF4-FFF2-40B4-BE49-F238E27FC236}">
                <a16:creationId xmlns:a16="http://schemas.microsoft.com/office/drawing/2014/main" id="{AA1EA21B-DF39-46DB-AC01-B41072DFD324}"/>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vl1pPr>
              <a:defRPr sz="2400" b="0">
                <a:solidFill>
                  <a:srgbClr val="52647A"/>
                </a:solidFill>
                <a:latin typeface="Arial"/>
                <a:ea typeface="Arial"/>
                <a:cs typeface="Arial"/>
              </a:defRPr>
            </a:lvl1pPr>
            <a:lvl2pPr>
              <a:defRPr sz="2400" b="0">
                <a:solidFill>
                  <a:srgbClr val="52647A"/>
                </a:solidFill>
                <a:latin typeface="Arial"/>
                <a:ea typeface="Arial"/>
                <a:cs typeface="Arial"/>
              </a:defRPr>
            </a:lvl2pPr>
            <a:lvl3pPr>
              <a:defRPr sz="2400" b="0">
                <a:solidFill>
                  <a:srgbClr val="52647A"/>
                </a:solidFill>
                <a:latin typeface="Arial"/>
                <a:ea typeface="Arial"/>
                <a:cs typeface="Arial"/>
              </a:defRPr>
            </a:lvl3pPr>
            <a:lvl4pPr>
              <a:defRPr sz="2400" b="0">
                <a:solidFill>
                  <a:srgbClr val="52647A"/>
                </a:solidFill>
                <a:latin typeface="Arial"/>
                <a:ea typeface="Arial"/>
                <a:cs typeface="Arial"/>
              </a:defRPr>
            </a:lvl4pPr>
            <a:lvl5pPr>
              <a:defRPr sz="2400" b="0">
                <a:solidFill>
                  <a:srgbClr val="52647A"/>
                </a:solidFill>
                <a:latin typeface="Arial"/>
                <a:ea typeface="Arial"/>
                <a:cs typeface="Arial"/>
              </a:defRPr>
            </a:lvl5pPr>
            <a:lvl6pPr>
              <a:defRPr sz="2400" b="0">
                <a:solidFill>
                  <a:srgbClr val="52647A"/>
                </a:solidFill>
                <a:latin typeface="Arial"/>
                <a:ea typeface="Arial"/>
                <a:cs typeface="Arial"/>
              </a:defRPr>
            </a:lvl6pPr>
            <a:lvl7pPr>
              <a:defRPr sz="2400" b="0">
                <a:solidFill>
                  <a:srgbClr val="52647A"/>
                </a:solidFill>
                <a:latin typeface="Arial"/>
                <a:ea typeface="Arial"/>
                <a:cs typeface="Arial"/>
              </a:defRPr>
            </a:lvl7pPr>
            <a:lvl8pPr>
              <a:defRPr sz="2400" b="0">
                <a:solidFill>
                  <a:srgbClr val="52647A"/>
                </a:solidFill>
                <a:latin typeface="Arial"/>
                <a:ea typeface="Arial"/>
                <a:cs typeface="Arial"/>
              </a:defRPr>
            </a:lvl8pPr>
            <a:lvl9pPr>
              <a:defRPr sz="2400" b="0">
                <a:solidFill>
                  <a:srgbClr val="52647A"/>
                </a:solidFill>
                <a:latin typeface="Arial"/>
                <a:ea typeface="Arial"/>
                <a:cs typeface="Arial"/>
              </a:defRPr>
            </a:lvl9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Ein Unterrichtstag · Vektoren, Quellen und sichere Offlineabläufe</a:t>
            </a:r>
          </a:p>
        </p:txBody>
      </p:sp>
      <p:sp>
        <p:nvSpPr>
          <p:cNvPr id="3" name="text-2">
            <a:extLst xmlns:a="http://schemas.openxmlformats.org/drawingml/2006/main">
              <a:ext uri="{FF2B5EF4-FFF2-40B4-BE49-F238E27FC236}">
                <a16:creationId xmlns:a16="http://schemas.microsoft.com/office/drawing/2014/main" id="{0AAAF258-1CB5-4E82-899E-F08D4CE64610}"/>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vl1pPr>
              <a:defRPr sz="1800" b="0">
                <a:solidFill>
                  <a:srgbClr val="007A83"/>
                </a:solidFill>
                <a:latin typeface="Arial"/>
                <a:ea typeface="Arial"/>
                <a:cs typeface="Arial"/>
              </a:defRPr>
            </a:lvl1pPr>
            <a:lvl2pPr>
              <a:defRPr sz="1800" b="0">
                <a:solidFill>
                  <a:srgbClr val="007A83"/>
                </a:solidFill>
                <a:latin typeface="Arial"/>
                <a:ea typeface="Arial"/>
                <a:cs typeface="Arial"/>
              </a:defRPr>
            </a:lvl2pPr>
            <a:lvl3pPr>
              <a:defRPr sz="1800" b="0">
                <a:solidFill>
                  <a:srgbClr val="007A83"/>
                </a:solidFill>
                <a:latin typeface="Arial"/>
                <a:ea typeface="Arial"/>
                <a:cs typeface="Arial"/>
              </a:defRPr>
            </a:lvl3pPr>
            <a:lvl4pPr>
              <a:defRPr sz="1800" b="0">
                <a:solidFill>
                  <a:srgbClr val="007A83"/>
                </a:solidFill>
                <a:latin typeface="Arial"/>
                <a:ea typeface="Arial"/>
                <a:cs typeface="Arial"/>
              </a:defRPr>
            </a:lvl4pPr>
            <a:lvl5pPr>
              <a:defRPr sz="1800" b="0">
                <a:solidFill>
                  <a:srgbClr val="007A83"/>
                </a:solidFill>
                <a:latin typeface="Arial"/>
                <a:ea typeface="Arial"/>
                <a:cs typeface="Arial"/>
              </a:defRPr>
            </a:lvl5pPr>
            <a:lvl6pPr>
              <a:defRPr sz="1800" b="0">
                <a:solidFill>
                  <a:srgbClr val="007A83"/>
                </a:solidFill>
                <a:latin typeface="Arial"/>
                <a:ea typeface="Arial"/>
                <a:cs typeface="Arial"/>
              </a:defRPr>
            </a:lvl6pPr>
            <a:lvl7pPr>
              <a:defRPr sz="1800" b="0">
                <a:solidFill>
                  <a:srgbClr val="007A83"/>
                </a:solidFill>
                <a:latin typeface="Arial"/>
                <a:ea typeface="Arial"/>
                <a:cs typeface="Arial"/>
              </a:defRPr>
            </a:lvl7pPr>
            <a:lvl8pPr>
              <a:defRPr sz="1800" b="0">
                <a:solidFill>
                  <a:srgbClr val="007A83"/>
                </a:solidFill>
                <a:latin typeface="Arial"/>
                <a:ea typeface="Arial"/>
                <a:cs typeface="Arial"/>
              </a:defRPr>
            </a:lvl8pPr>
            <a:lvl9pPr>
              <a:defRPr sz="1800" b="0">
                <a:solidFill>
                  <a:srgbClr val="007A83"/>
                </a:solidFill>
                <a:latin typeface="Arial"/>
                <a:ea typeface="Arial"/>
                <a:cs typeface="Arial"/>
              </a:defRPr>
            </a:lvl9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20598064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8CCBE96C-DA8E-4EA8-BD94-69F7CF00EB7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Einstieg mit bekannten SQL-Grundlagen</a:t>
            </a:r>
          </a:p>
        </p:txBody>
      </p:sp>
      <p:sp>
        <p:nvSpPr>
          <p:cNvPr id="2" name="text-1">
            <a:extLst xmlns:a="http://schemas.openxmlformats.org/drawingml/2006/main">
              <a:ext uri="{FF2B5EF4-FFF2-40B4-BE49-F238E27FC236}">
                <a16:creationId xmlns:a16="http://schemas.microsoft.com/office/drawing/2014/main" id="{6D3B301F-62CC-4895-8F22-3129BD6544C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Ausgangspunkt</a:t>
            </a:r>
          </a:p>
        </p:txBody>
      </p:sp>
      <p:sp>
        <p:nvSpPr>
          <p:cNvPr id="3" name="text-2">
            <a:extLst xmlns:a="http://schemas.openxmlformats.org/drawingml/2006/main">
              <a:ext uri="{FF2B5EF4-FFF2-40B4-BE49-F238E27FC236}">
                <a16:creationId xmlns:a16="http://schemas.microsoft.com/office/drawing/2014/main" id="{7A803848-0586-4748-AD9E-438B19605F6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kennen SELECT und Tabellen. Erfahrung mit KI brauchen Sie für diesen Einstieg nicht.</a:t>
            </a:r>
          </a:p>
        </p:txBody>
      </p:sp>
      <p:sp>
        <p:nvSpPr>
          <p:cNvPr id="4" name="text-3">
            <a:extLst xmlns:a="http://schemas.openxmlformats.org/drawingml/2006/main">
              <a:ext uri="{FF2B5EF4-FFF2-40B4-BE49-F238E27FC236}">
                <a16:creationId xmlns:a16="http://schemas.microsoft.com/office/drawing/2014/main" id="{684A18B3-8809-4F27-8A90-0E8E9B1498C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Fall</a:t>
            </a:r>
          </a:p>
        </p:txBody>
      </p:sp>
      <p:sp>
        <p:nvSpPr>
          <p:cNvPr id="5" name="text-4">
            <a:extLst xmlns:a="http://schemas.openxmlformats.org/drawingml/2006/main">
              <a:ext uri="{FF2B5EF4-FFF2-40B4-BE49-F238E27FC236}">
                <a16:creationId xmlns:a16="http://schemas.microsoft.com/office/drawing/2014/main" id="{1B6047BF-3125-4ED1-9D77-E010120B86D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kleine technische Wissensbasis soll eine nachvollziehbare Antwort liefern.</a:t>
            </a:r>
          </a:p>
        </p:txBody>
      </p:sp>
      <p:sp>
        <p:nvSpPr>
          <p:cNvPr id="6" name="text-5">
            <a:extLst xmlns:a="http://schemas.openxmlformats.org/drawingml/2006/main">
              <a:ext uri="{FF2B5EF4-FFF2-40B4-BE49-F238E27FC236}">
                <a16:creationId xmlns:a16="http://schemas.microsoft.com/office/drawing/2014/main" id="{9A039BED-82C1-442C-AE16-12086460436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Erstes Ergebnis</a:t>
            </a:r>
          </a:p>
        </p:txBody>
      </p:sp>
      <p:sp>
        <p:nvSpPr>
          <p:cNvPr id="7" name="text-6">
            <a:extLst xmlns:a="http://schemas.openxmlformats.org/drawingml/2006/main">
              <a:ext uri="{FF2B5EF4-FFF2-40B4-BE49-F238E27FC236}">
                <a16:creationId xmlns:a16="http://schemas.microsoft.com/office/drawing/2014/main" id="{135DF2DF-0FFB-4B19-B864-53C0EFDC144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lesen Quellen und vergleichen feste Zahlen. Ein Modellzugang ist dafür noch nicht nötig.</a:t>
            </a:r>
          </a:p>
        </p:txBody>
      </p:sp>
      <p:sp>
        <p:nvSpPr>
          <p:cNvPr id="8" name="text-7">
            <a:extLst xmlns:a="http://schemas.openxmlformats.org/drawingml/2006/main">
              <a:ext uri="{FF2B5EF4-FFF2-40B4-BE49-F238E27FC236}">
                <a16:creationId xmlns:a16="http://schemas.microsoft.com/office/drawing/2014/main" id="{C38C6C91-D05F-473C-93B2-738B4B808B7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 · Quellfolie 2 · CUR-013</a:t>
            </a:r>
          </a:p>
        </p:txBody>
      </p:sp>
    </p:spTree>
    <p:extLst>
      <p:ext uri="{BB962C8B-B14F-4D97-AF65-F5344CB8AC3E}">
        <p14:creationId xmlns:p14="http://schemas.microsoft.com/office/powerpoint/2010/main" val="19229879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0E087A8-B851-46F3-8A46-DB643C4D3F8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Frage aus der technischen Wissensbasis</a:t>
            </a:r>
          </a:p>
        </p:txBody>
      </p:sp>
      <p:sp>
        <p:nvSpPr>
          <p:cNvPr id="2" name="text-1">
            <a:extLst xmlns:a="http://schemas.openxmlformats.org/drawingml/2006/main">
              <a:ext uri="{FF2B5EF4-FFF2-40B4-BE49-F238E27FC236}">
                <a16:creationId xmlns:a16="http://schemas.microsoft.com/office/drawing/2014/main" id="{D1AB7B48-5934-4461-98BD-EA2815E0D63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Frage</a:t>
            </a:r>
          </a:p>
        </p:txBody>
      </p:sp>
      <p:sp>
        <p:nvSpPr>
          <p:cNvPr id="3" name="text-2">
            <a:extLst xmlns:a="http://schemas.openxmlformats.org/drawingml/2006/main">
              <a:ext uri="{FF2B5EF4-FFF2-40B4-BE49-F238E27FC236}">
                <a16:creationId xmlns:a16="http://schemas.microsoft.com/office/drawing/2014/main" id="{A24FC235-F200-411B-B8E9-34C325E99C3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lange bleiben die Protokolle des Moduls MOD_A erhalten?</a:t>
            </a:r>
          </a:p>
        </p:txBody>
      </p:sp>
      <p:sp>
        <p:nvSpPr>
          <p:cNvPr id="4" name="text-3">
            <a:extLst xmlns:a="http://schemas.openxmlformats.org/drawingml/2006/main">
              <a:ext uri="{FF2B5EF4-FFF2-40B4-BE49-F238E27FC236}">
                <a16:creationId xmlns:a16="http://schemas.microsoft.com/office/drawing/2014/main" id="{33D6B52E-3FC5-4369-821E-F404430F5D1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a:t>
            </a:r>
          </a:p>
        </p:txBody>
      </p:sp>
      <p:sp>
        <p:nvSpPr>
          <p:cNvPr id="5" name="text-4">
            <a:extLst xmlns:a="http://schemas.openxmlformats.org/drawingml/2006/main">
              <a:ext uri="{FF2B5EF4-FFF2-40B4-BE49-F238E27FC236}">
                <a16:creationId xmlns:a16="http://schemas.microsoft.com/office/drawing/2014/main" id="{26EE809A-8D01-4FED-BDAB-04BDB30F882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alte Anleitung nennt fünf Tage. Die aktuelle Anleitung nennt sieben Tage.</a:t>
            </a:r>
          </a:p>
        </p:txBody>
      </p:sp>
      <p:sp>
        <p:nvSpPr>
          <p:cNvPr id="6" name="text-5">
            <a:extLst xmlns:a="http://schemas.openxmlformats.org/drawingml/2006/main">
              <a:ext uri="{FF2B5EF4-FFF2-40B4-BE49-F238E27FC236}">
                <a16:creationId xmlns:a16="http://schemas.microsoft.com/office/drawing/2014/main" id="{CA119C93-B808-45D0-B689-0750FD26BD5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Erwartung</a:t>
            </a:r>
          </a:p>
        </p:txBody>
      </p:sp>
      <p:sp>
        <p:nvSpPr>
          <p:cNvPr id="7" name="text-6">
            <a:extLst xmlns:a="http://schemas.openxmlformats.org/drawingml/2006/main">
              <a:ext uri="{FF2B5EF4-FFF2-40B4-BE49-F238E27FC236}">
                <a16:creationId xmlns:a16="http://schemas.microsoft.com/office/drawing/2014/main" id="{1BA174AC-3164-4D4E-A7B6-2681B5E3F0B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Antwort muss zur aktuellen Anleitung passen und ihre Quelle nennen.</a:t>
            </a:r>
          </a:p>
        </p:txBody>
      </p:sp>
      <p:sp>
        <p:nvSpPr>
          <p:cNvPr id="8" name="text-7">
            <a:extLst xmlns:a="http://schemas.openxmlformats.org/drawingml/2006/main">
              <a:ext uri="{FF2B5EF4-FFF2-40B4-BE49-F238E27FC236}">
                <a16:creationId xmlns:a16="http://schemas.microsoft.com/office/drawing/2014/main" id="{8CAC2E60-115B-4815-803A-3D10252C2AB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MOD_A und alle Dokumente sind frei erfundene Schulungsdaten.</a:t>
            </a:r>
          </a:p>
        </p:txBody>
      </p:sp>
      <p:sp>
        <p:nvSpPr>
          <p:cNvPr id="9" name="text-8">
            <a:extLst xmlns:a="http://schemas.openxmlformats.org/drawingml/2006/main">
              <a:ext uri="{FF2B5EF4-FFF2-40B4-BE49-F238E27FC236}">
                <a16:creationId xmlns:a16="http://schemas.microsoft.com/office/drawing/2014/main" id="{0E520A6D-0713-4563-B1C7-A9797AF4D64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 · Quellfolie 3 · CUR-013 / CUR-017</a:t>
            </a:r>
          </a:p>
        </p:txBody>
      </p:sp>
    </p:spTree>
    <p:extLst>
      <p:ext uri="{BB962C8B-B14F-4D97-AF65-F5344CB8AC3E}">
        <p14:creationId xmlns:p14="http://schemas.microsoft.com/office/powerpoint/2010/main" val="4854694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F1D4096-F2D2-4B2C-8D64-4BEFBDCA18C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Drei überschaubare Quelldokumente</a:t>
            </a:r>
          </a:p>
        </p:txBody>
      </p:sp>
      <p:graphicFrame>
        <p:nvGraphicFramePr>
          <p:cNvPr id="2" name="">
            <a:extLst xmlns:a="http://schemas.openxmlformats.org/drawingml/2006/main">
              <a:ext uri="{FF2B5EF4-FFF2-40B4-BE49-F238E27FC236}">
                <a16:creationId xmlns:a16="http://schemas.microsoft.com/office/drawing/2014/main" id="{FB61D0F6-9B33-4640-BDCD-057EFACBC6F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190750"/>
                <a:gridCol w="6286500"/>
              </a:tblGrid>
              <a:tr h="785813">
                <a:tc>
                  <a:txBody>
                    <a:bodyPr/>
                    <a:lstStyle/>
                    <a:p>
                      <a:r>
                        <a:rPr sz="1800" b="1">
                          <a:solidFill>
                            <a:srgbClr val="15283D"/>
                          </a:solidFill>
                          <a:latin typeface="Arial"/>
                          <a:ea typeface="Arial"/>
                          <a:cs typeface="Arial"/>
                        </a:rPr>
                        <a:t>Dokument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Fassung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Quelltext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veraltet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fünf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v2,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 MOD_B</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MOD_B bewahrt Protokolle neun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3E99BEE-A1AC-4210-A1C9-B969AB9FCBB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 · Quellfolie 4 · CUR-013 / CUR-015</a:t>
            </a:r>
          </a:p>
        </p:txBody>
      </p:sp>
    </p:spTree>
    <p:extLst>
      <p:ext uri="{BB962C8B-B14F-4D97-AF65-F5344CB8AC3E}">
        <p14:creationId xmlns:p14="http://schemas.microsoft.com/office/powerpoint/2010/main" val="15690875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50DBE18-D120-4269-9BD2-EE998E92AFA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vertraute SELECT-Abfrage</a:t>
            </a:r>
          </a:p>
        </p:txBody>
      </p:sp>
      <p:sp>
        <p:nvSpPr>
          <p:cNvPr id="2" name="text-1">
            <a:extLst xmlns:a="http://schemas.openxmlformats.org/drawingml/2006/main">
              <a:ext uri="{FF2B5EF4-FFF2-40B4-BE49-F238E27FC236}">
                <a16:creationId xmlns:a16="http://schemas.microsoft.com/office/drawing/2014/main" id="{7C6E7801-E16F-4712-8840-46C46F613020}"/>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DocId, Fassung, Text</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(2, N'v2', N'MOD_A: sieben Tage')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AS d(DocId, Fassung, Text);</a:t>
            </a:r>
          </a:p>
        </p:txBody>
      </p:sp>
      <p:sp>
        <p:nvSpPr>
          <p:cNvPr id="3" name="text-2">
            <a:extLst xmlns:a="http://schemas.openxmlformats.org/drawingml/2006/main">
              <a:ext uri="{FF2B5EF4-FFF2-40B4-BE49-F238E27FC236}">
                <a16:creationId xmlns:a16="http://schemas.microsoft.com/office/drawing/2014/main" id="{389FFB73-E729-4BC8-8DA0-00E2E3A7F56A}"/>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Ergebnis</a:t>
            </a:r>
          </a:p>
        </p:txBody>
      </p:sp>
      <p:sp>
        <p:nvSpPr>
          <p:cNvPr id="4" name="text-3">
            <a:extLst xmlns:a="http://schemas.openxmlformats.org/drawingml/2006/main">
              <a:ext uri="{FF2B5EF4-FFF2-40B4-BE49-F238E27FC236}">
                <a16:creationId xmlns:a16="http://schemas.microsoft.com/office/drawing/2014/main" id="{2C5911BC-4292-48F7-8B39-0E928A023719}"/>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Row mit DocId 2, Fassung v2 und dem festen Text MOD_A: sieben Tage.</a:t>
            </a:r>
          </a:p>
        </p:txBody>
      </p:sp>
      <p:sp>
        <p:nvSpPr>
          <p:cNvPr id="5" name="text-4">
            <a:extLst xmlns:a="http://schemas.openxmlformats.org/drawingml/2006/main">
              <a:ext uri="{FF2B5EF4-FFF2-40B4-BE49-F238E27FC236}">
                <a16:creationId xmlns:a16="http://schemas.microsoft.com/office/drawing/2014/main" id="{9900DFEF-7BFE-4944-B966-89631D1A265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Read-only-Beispiel. VALUES stellt eine feste Row bereit, ohne eine Tabelle anzulegen.</a:t>
            </a:r>
          </a:p>
        </p:txBody>
      </p:sp>
      <p:sp>
        <p:nvSpPr>
          <p:cNvPr id="6" name="text-5">
            <a:extLst xmlns:a="http://schemas.openxmlformats.org/drawingml/2006/main">
              <a:ext uri="{FF2B5EF4-FFF2-40B4-BE49-F238E27FC236}">
                <a16:creationId xmlns:a16="http://schemas.microsoft.com/office/drawing/2014/main" id="{69F753BD-2FF0-48C1-9D57-EC2A27CAFB8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5 · Quellfolie 5 · CUR-013</a:t>
            </a:r>
          </a:p>
        </p:txBody>
      </p:sp>
    </p:spTree>
    <p:extLst>
      <p:ext uri="{BB962C8B-B14F-4D97-AF65-F5344CB8AC3E}">
        <p14:creationId xmlns:p14="http://schemas.microsoft.com/office/powerpoint/2010/main" val="7797541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C293FB96-DEA4-4B18-800C-F5E35B658C1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Unterschiedliche Fragen an dieselben Daten</a:t>
            </a:r>
          </a:p>
        </p:txBody>
      </p:sp>
      <p:graphicFrame>
        <p:nvGraphicFramePr>
          <p:cNvPr id="2" name="">
            <a:extLst xmlns:a="http://schemas.openxmlformats.org/drawingml/2006/main">
              <a:ext uri="{FF2B5EF4-FFF2-40B4-BE49-F238E27FC236}">
                <a16:creationId xmlns:a16="http://schemas.microsoft.com/office/drawing/2014/main" id="{51C677C4-0E9B-4DE6-81FA-255452B2C080}"/>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762500"/>
                <a:gridCol w="5905500"/>
              </a:tblGrid>
              <a:tr h="785813">
                <a:tc>
                  <a:txBody>
                    <a:bodyPr/>
                    <a:lstStyle/>
                    <a:p>
                      <a:r>
                        <a:rPr sz="1800" b="1">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wir benötigen</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Was steht aktuell zu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Richtiges Modul und aktuelle Fassung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Wann verschwinden die Logeinträge?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Bedeutung trotz anderer Wortwahl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Quelle, die den Grund tatsächlich erklärt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55746B6-FC63-4DDC-AA39-8EE51F2A0F1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6 · Quellfolie 6 · CUR-013 / CUR-017</a:t>
            </a:r>
          </a:p>
        </p:txBody>
      </p:sp>
    </p:spTree>
    <p:extLst>
      <p:ext uri="{BB962C8B-B14F-4D97-AF65-F5344CB8AC3E}">
        <p14:creationId xmlns:p14="http://schemas.microsoft.com/office/powerpoint/2010/main" val="14237979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9F92104-1F9A-4849-A160-FED633EB92D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KI-Anwendungen rund um SQL Server</a:t>
            </a:r>
          </a:p>
        </p:txBody>
      </p:sp>
      <p:graphicFrame>
        <p:nvGraphicFramePr>
          <p:cNvPr id="2" name="">
            <a:extLst xmlns:a="http://schemas.openxmlformats.org/drawingml/2006/main">
              <a:ext uri="{FF2B5EF4-FFF2-40B4-BE49-F238E27FC236}">
                <a16:creationId xmlns:a16="http://schemas.microsoft.com/office/drawing/2014/main" id="{E2FE5D43-2F2D-40AC-BE48-D583745E77F2}"/>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333750"/>
                <a:gridCol w="7334250"/>
              </a:tblGrid>
              <a:tr h="800100">
                <a:tc>
                  <a:txBody>
                    <a:bodyPr/>
                    <a:lstStyle/>
                    <a:p>
                      <a:r>
                        <a:rPr sz="1800" b="1">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Wissenssuche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Anleitung zu einer anders formulierten Frage 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Textaufbereitung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Aus gelieferten Quellen einen kurzen Antwortentwurf oder eine Zusammenfassung bilden.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SQL-Assistenz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Query erklären oder einen Änderungsvorschlag diskutieren.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Vorhersage und Klassifikation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Mit einem passenden zusätzlichen Modell einen Wert vorhersagen oder eine Kategorie zuordnen.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DD741ED-A919-48A3-95A4-32FD6EF40C5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Aufgabe bestimmt das Modell und den Anwendungspfad. Eine Funktion deckt nicht jede Aufgabe ab.</a:t>
            </a:r>
          </a:p>
        </p:txBody>
      </p:sp>
      <p:sp>
        <p:nvSpPr>
          <p:cNvPr id="4" name="text-2">
            <a:extLst xmlns:a="http://schemas.openxmlformats.org/drawingml/2006/main">
              <a:ext uri="{FF2B5EF4-FFF2-40B4-BE49-F238E27FC236}">
                <a16:creationId xmlns:a16="http://schemas.microsoft.com/office/drawing/2014/main" id="{7EBDA101-98FE-43D9-B903-8FBFB2530E1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7 · Quellfolie 7 · CUR-013 / CUR-016 / CUR-021</a:t>
            </a:r>
          </a:p>
        </p:txBody>
      </p:sp>
    </p:spTree>
    <p:extLst>
      <p:ext uri="{BB962C8B-B14F-4D97-AF65-F5344CB8AC3E}">
        <p14:creationId xmlns:p14="http://schemas.microsoft.com/office/powerpoint/2010/main" val="17389596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B30DCC2-2DD0-40A6-B3B9-8373E2BCEE9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 und Machine Learning in einfachen Worten</a:t>
            </a:r>
          </a:p>
        </p:txBody>
      </p:sp>
      <p:sp>
        <p:nvSpPr>
          <p:cNvPr id="2" name="text-1">
            <a:extLst xmlns:a="http://schemas.openxmlformats.org/drawingml/2006/main">
              <a:ext uri="{FF2B5EF4-FFF2-40B4-BE49-F238E27FC236}">
                <a16:creationId xmlns:a16="http://schemas.microsoft.com/office/drawing/2014/main" id="{2FC70E8F-11AA-40D2-A5DB-76D0C6DE112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KI</a:t>
            </a:r>
          </a:p>
        </p:txBody>
      </p:sp>
      <p:sp>
        <p:nvSpPr>
          <p:cNvPr id="3" name="text-2">
            <a:extLst xmlns:a="http://schemas.openxmlformats.org/drawingml/2006/main">
              <a:ext uri="{FF2B5EF4-FFF2-40B4-BE49-F238E27FC236}">
                <a16:creationId xmlns:a16="http://schemas.microsoft.com/office/drawing/2014/main" id="{DA94E3DD-3D78-4060-84B6-C3489596FF6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Künstliche Intelligenz umfasst etwa Systeme mit Wissensregeln oder gelernten Mustern. Suche und Texterzeugung sind mögliche Anwendungen.</a:t>
            </a:r>
          </a:p>
        </p:txBody>
      </p:sp>
      <p:sp>
        <p:nvSpPr>
          <p:cNvPr id="4" name="text-3">
            <a:extLst xmlns:a="http://schemas.openxmlformats.org/drawingml/2006/main">
              <a:ext uri="{FF2B5EF4-FFF2-40B4-BE49-F238E27FC236}">
                <a16:creationId xmlns:a16="http://schemas.microsoft.com/office/drawing/2014/main" id="{385595EC-EEB1-4E3D-9171-D83E20718D3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Machine Learning</a:t>
            </a:r>
          </a:p>
        </p:txBody>
      </p:sp>
      <p:sp>
        <p:nvSpPr>
          <p:cNvPr id="5" name="text-4">
            <a:extLst xmlns:a="http://schemas.openxmlformats.org/drawingml/2006/main">
              <a:ext uri="{FF2B5EF4-FFF2-40B4-BE49-F238E27FC236}">
                <a16:creationId xmlns:a16="http://schemas.microsoft.com/office/drawing/2014/main" id="{BCD4A013-A904-456E-A27C-EAC4F8C84BF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lernt Muster aus Beispielen. Die Abkürzung dafür lautet ML.</a:t>
            </a:r>
          </a:p>
        </p:txBody>
      </p:sp>
      <p:sp>
        <p:nvSpPr>
          <p:cNvPr id="6" name="text-5">
            <a:extLst xmlns:a="http://schemas.openxmlformats.org/drawingml/2006/main">
              <a:ext uri="{FF2B5EF4-FFF2-40B4-BE49-F238E27FC236}">
                <a16:creationId xmlns:a16="http://schemas.microsoft.com/office/drawing/2014/main" id="{715D17B5-5817-4701-B115-13E5FF361A2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Ziel</a:t>
            </a:r>
          </a:p>
        </p:txBody>
      </p:sp>
      <p:sp>
        <p:nvSpPr>
          <p:cNvPr id="7" name="text-6">
            <a:extLst xmlns:a="http://schemas.openxmlformats.org/drawingml/2006/main">
              <a:ext uri="{FF2B5EF4-FFF2-40B4-BE49-F238E27FC236}">
                <a16:creationId xmlns:a16="http://schemas.microsoft.com/office/drawing/2014/main" id="{FFFF78F5-FAE4-4BAF-90BA-521E2DEEF5B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verwenden geeignete Funktionen und prüfen ihr Ergebnis an konkreten Quellen.</a:t>
            </a:r>
          </a:p>
        </p:txBody>
      </p:sp>
      <p:sp>
        <p:nvSpPr>
          <p:cNvPr id="8" name="text-7">
            <a:extLst xmlns:a="http://schemas.openxmlformats.org/drawingml/2006/main">
              <a:ext uri="{FF2B5EF4-FFF2-40B4-BE49-F238E27FC236}">
                <a16:creationId xmlns:a16="http://schemas.microsoft.com/office/drawing/2014/main" id="{32DA8103-845B-4111-B470-4D00F84DD2F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8 · Quellfolie 8 · CUR-013</a:t>
            </a:r>
          </a:p>
        </p:txBody>
      </p:sp>
    </p:spTree>
    <p:extLst>
      <p:ext uri="{BB962C8B-B14F-4D97-AF65-F5344CB8AC3E}">
        <p14:creationId xmlns:p14="http://schemas.microsoft.com/office/powerpoint/2010/main" val="4592246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BA2B018-5520-4ACF-AED6-B4F3CA9E3BA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Modell und seine Aufgabe</a:t>
            </a:r>
          </a:p>
        </p:txBody>
      </p:sp>
      <p:sp>
        <p:nvSpPr>
          <p:cNvPr id="2" name="text-1">
            <a:extLst xmlns:a="http://schemas.openxmlformats.org/drawingml/2006/main">
              <a:ext uri="{FF2B5EF4-FFF2-40B4-BE49-F238E27FC236}">
                <a16:creationId xmlns:a16="http://schemas.microsoft.com/office/drawing/2014/main" id="{88964828-6E04-420D-A178-C6C373D35AC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a:t>
            </a:r>
          </a:p>
        </p:txBody>
      </p:sp>
      <p:sp>
        <p:nvSpPr>
          <p:cNvPr id="3" name="text-2">
            <a:extLst xmlns:a="http://schemas.openxmlformats.org/drawingml/2006/main">
              <a:ext uri="{FF2B5EF4-FFF2-40B4-BE49-F238E27FC236}">
                <a16:creationId xmlns:a16="http://schemas.microsoft.com/office/drawing/2014/main" id="{5B3786B2-7A57-4B28-92A5-2675BEABE5A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vorbereitete Rechenvorschrift verarbeitet eine Eingabe und liefert eine Ausgabe.</a:t>
            </a:r>
          </a:p>
        </p:txBody>
      </p:sp>
      <p:sp>
        <p:nvSpPr>
          <p:cNvPr id="4" name="text-3">
            <a:extLst xmlns:a="http://schemas.openxmlformats.org/drawingml/2006/main">
              <a:ext uri="{FF2B5EF4-FFF2-40B4-BE49-F238E27FC236}">
                <a16:creationId xmlns:a16="http://schemas.microsoft.com/office/drawing/2014/main" id="{D10E048D-E8D1-4B91-A53E-652A99436E96}"/>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Aufgabe</a:t>
            </a:r>
          </a:p>
        </p:txBody>
      </p:sp>
      <p:sp>
        <p:nvSpPr>
          <p:cNvPr id="5" name="text-4">
            <a:extLst xmlns:a="http://schemas.openxmlformats.org/drawingml/2006/main">
              <a:ext uri="{FF2B5EF4-FFF2-40B4-BE49-F238E27FC236}">
                <a16:creationId xmlns:a16="http://schemas.microsoft.com/office/drawing/2014/main" id="{34C3EF91-A92D-48B7-84BF-A0597A42BD4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kann zum Beispiel Text in Zahlen abbilden oder einen Antworttext erzeugen.</a:t>
            </a:r>
          </a:p>
        </p:txBody>
      </p:sp>
      <p:sp>
        <p:nvSpPr>
          <p:cNvPr id="6" name="text-5">
            <a:extLst xmlns:a="http://schemas.openxmlformats.org/drawingml/2006/main">
              <a:ext uri="{FF2B5EF4-FFF2-40B4-BE49-F238E27FC236}">
                <a16:creationId xmlns:a16="http://schemas.microsoft.com/office/drawing/2014/main" id="{8C4446BF-8461-4C1C-99BE-2383F6DC5C0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1B44B39E-E0F6-4BCC-904F-FAF187A589D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müssen wissen, welches Modell welche Aufgabe übernimmt und wo seine Ausgabe geprüft wird.</a:t>
            </a:r>
          </a:p>
        </p:txBody>
      </p:sp>
      <p:sp>
        <p:nvSpPr>
          <p:cNvPr id="8" name="text-7">
            <a:extLst xmlns:a="http://schemas.openxmlformats.org/drawingml/2006/main">
              <a:ext uri="{FF2B5EF4-FFF2-40B4-BE49-F238E27FC236}">
                <a16:creationId xmlns:a16="http://schemas.microsoft.com/office/drawing/2014/main" id="{216D52F0-C280-4394-BC39-26848942659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9 · Quellfolie 9 · CUR-013</a:t>
            </a:r>
          </a:p>
        </p:txBody>
      </p:sp>
    </p:spTree>
    <p:extLst>
      <p:ext uri="{BB962C8B-B14F-4D97-AF65-F5344CB8AC3E}">
        <p14:creationId xmlns:p14="http://schemas.microsoft.com/office/powerpoint/2010/main" val="199549979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C5D1820-5A64-4145-B358-FAF42FDF78C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Training und Inferenz</a:t>
            </a:r>
          </a:p>
        </p:txBody>
      </p:sp>
      <p:graphicFrame>
        <p:nvGraphicFramePr>
          <p:cNvPr id="2" name="">
            <a:extLst xmlns:a="http://schemas.openxmlformats.org/drawingml/2006/main">
              <a:ext uri="{FF2B5EF4-FFF2-40B4-BE49-F238E27FC236}">
                <a16:creationId xmlns:a16="http://schemas.microsoft.com/office/drawing/2014/main" id="{4A81507E-62C8-40CA-A315-B82F6EB2F379}"/>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00250"/>
                <a:gridCol w="4572000"/>
                <a:gridCol w="4095750"/>
              </a:tblGrid>
              <a:tr h="785813">
                <a:tc>
                  <a:txBody>
                    <a:bodyPr/>
                    <a:lstStyle/>
                    <a:p>
                      <a:r>
                        <a:rPr sz="1800" b="1">
                          <a:solidFill>
                            <a:srgbClr val="15283D"/>
                          </a:solidFill>
                          <a:latin typeface="Arial"/>
                          <a:ea typeface="Arial"/>
                          <a:cs typeface="Arial"/>
                        </a:rPr>
                        <a:t>Begriff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geschieht?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In diesem Einstieg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Training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Modell lernt aus Trainingsbeispielen.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trainieren kein Modell.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Inferenz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vorbereitetes Modell verarbeitet neue Eingaben.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Späterer Modellpfad mit eigenen Voraussetzungen.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 Lehrwerte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geben Zahlen oder Antworten ausdrücklich vor.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Das ist unser erster Offlinepfad.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D06A1B1-E94E-4CFC-B2DB-F90368F4CDC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10 · Quellfolie 10 · CUR-013 / CUR-016</a:t>
            </a:r>
          </a:p>
        </p:txBody>
      </p:sp>
    </p:spTree>
    <p:extLst>
      <p:ext uri="{BB962C8B-B14F-4D97-AF65-F5344CB8AC3E}">
        <p14:creationId xmlns:p14="http://schemas.microsoft.com/office/powerpoint/2010/main" val="18688632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0351E41-7D5C-4007-9CB3-A56CB1879FE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Sprachmodell erzeugt Antworttext</a:t>
            </a:r>
          </a:p>
        </p:txBody>
      </p:sp>
      <p:sp>
        <p:nvSpPr>
          <p:cNvPr id="2" name="text-1">
            <a:extLst xmlns:a="http://schemas.openxmlformats.org/drawingml/2006/main">
              <a:ext uri="{FF2B5EF4-FFF2-40B4-BE49-F238E27FC236}">
                <a16:creationId xmlns:a16="http://schemas.microsoft.com/office/drawing/2014/main" id="{BA6F78C1-A7EA-4B21-AB3F-013A4572117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Sprachmodell</a:t>
            </a:r>
          </a:p>
        </p:txBody>
      </p:sp>
      <p:sp>
        <p:nvSpPr>
          <p:cNvPr id="3" name="text-2">
            <a:extLst xmlns:a="http://schemas.openxmlformats.org/drawingml/2006/main">
              <a:ext uri="{FF2B5EF4-FFF2-40B4-BE49-F238E27FC236}">
                <a16:creationId xmlns:a16="http://schemas.microsoft.com/office/drawing/2014/main" id="{1B1D3EC0-FD19-40B3-857F-8D30042A617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Large Language Model, kurz LLM, verarbeitet Textkontext und kann neue Textfolgen erzeugen.</a:t>
            </a:r>
          </a:p>
        </p:txBody>
      </p:sp>
      <p:sp>
        <p:nvSpPr>
          <p:cNvPr id="4" name="text-3">
            <a:extLst xmlns:a="http://schemas.openxmlformats.org/drawingml/2006/main">
              <a:ext uri="{FF2B5EF4-FFF2-40B4-BE49-F238E27FC236}">
                <a16:creationId xmlns:a16="http://schemas.microsoft.com/office/drawing/2014/main" id="{CF83E6A0-E7D6-4163-B29F-97DAA19B971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Beispiel</a:t>
            </a:r>
          </a:p>
        </p:txBody>
      </p:sp>
      <p:sp>
        <p:nvSpPr>
          <p:cNvPr id="5" name="text-4">
            <a:extLst xmlns:a="http://schemas.openxmlformats.org/drawingml/2006/main">
              <a:ext uri="{FF2B5EF4-FFF2-40B4-BE49-F238E27FC236}">
                <a16:creationId xmlns:a16="http://schemas.microsoft.com/office/drawing/2014/main" id="{B1C488BD-3D6B-4348-B41E-0DCCFCC4AA1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Aus einer gegebenen Quelle könnte die Anwendung den Satz bilden: MOD_A bewahrt Protokolle sieben Tage auf.</a:t>
            </a:r>
          </a:p>
        </p:txBody>
      </p:sp>
      <p:sp>
        <p:nvSpPr>
          <p:cNvPr id="6" name="text-5">
            <a:extLst xmlns:a="http://schemas.openxmlformats.org/drawingml/2006/main">
              <a:ext uri="{FF2B5EF4-FFF2-40B4-BE49-F238E27FC236}">
                <a16:creationId xmlns:a16="http://schemas.microsoft.com/office/drawing/2014/main" id="{AC97BEFE-6E22-4BEB-82D8-0241F1BAD10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265CF551-D2D4-4B35-B20F-FFD4F7F61CC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gut formulierter Satz kann sachlich falsch oder durch die Quelle nicht gestützt sein.</a:t>
            </a:r>
          </a:p>
        </p:txBody>
      </p:sp>
      <p:sp>
        <p:nvSpPr>
          <p:cNvPr id="8" name="text-7">
            <a:extLst xmlns:a="http://schemas.openxmlformats.org/drawingml/2006/main">
              <a:ext uri="{FF2B5EF4-FFF2-40B4-BE49-F238E27FC236}">
                <a16:creationId xmlns:a16="http://schemas.microsoft.com/office/drawing/2014/main" id="{A091C711-A499-4970-8220-02BD8319745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11 · Quellfolie 11 · CUR-013</a:t>
            </a:r>
          </a:p>
        </p:txBody>
      </p:sp>
    </p:spTree>
    <p:extLst>
      <p:ext uri="{BB962C8B-B14F-4D97-AF65-F5344CB8AC3E}">
        <p14:creationId xmlns:p14="http://schemas.microsoft.com/office/powerpoint/2010/main" val="111720978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C345278-8D82-4830-AF63-3D49687EFC0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Tokens und Textlänge</a:t>
            </a:r>
          </a:p>
        </p:txBody>
      </p:sp>
      <p:sp>
        <p:nvSpPr>
          <p:cNvPr id="2" name="text-1">
            <a:extLst xmlns:a="http://schemas.openxmlformats.org/drawingml/2006/main">
              <a:ext uri="{FF2B5EF4-FFF2-40B4-BE49-F238E27FC236}">
                <a16:creationId xmlns:a16="http://schemas.microsoft.com/office/drawing/2014/main" id="{BF683E64-A136-4F67-BF91-31416B78422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a:t>
            </a:r>
          </a:p>
        </p:txBody>
      </p:sp>
      <p:sp>
        <p:nvSpPr>
          <p:cNvPr id="3" name="text-2">
            <a:extLst xmlns:a="http://schemas.openxmlformats.org/drawingml/2006/main">
              <a:ext uri="{FF2B5EF4-FFF2-40B4-BE49-F238E27FC236}">
                <a16:creationId xmlns:a16="http://schemas.microsoft.com/office/drawing/2014/main" id="{050B0452-9904-4EA5-9F3E-E34C37FE366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Verarbeitungseinheit des konkreten Sprachmodells. Ein Token kann einen Wortteil darstellen.</a:t>
            </a:r>
          </a:p>
        </p:txBody>
      </p:sp>
      <p:sp>
        <p:nvSpPr>
          <p:cNvPr id="4" name="text-3">
            <a:extLst xmlns:a="http://schemas.openxmlformats.org/drawingml/2006/main">
              <a:ext uri="{FF2B5EF4-FFF2-40B4-BE49-F238E27FC236}">
                <a16:creationId xmlns:a16="http://schemas.microsoft.com/office/drawing/2014/main" id="{1D8E1B09-4440-41D3-B2C4-3760B9EA416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Tokenizer</a:t>
            </a:r>
          </a:p>
        </p:txBody>
      </p:sp>
      <p:sp>
        <p:nvSpPr>
          <p:cNvPr id="5" name="text-4">
            <a:extLst xmlns:a="http://schemas.openxmlformats.org/drawingml/2006/main">
              <a:ext uri="{FF2B5EF4-FFF2-40B4-BE49-F238E27FC236}">
                <a16:creationId xmlns:a16="http://schemas.microsoft.com/office/drawing/2014/main" id="{2633B86E-CCFF-4D03-8427-60AE132A1CD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Er zerlegt den Text nach den Regeln des verwendeten Modells.</a:t>
            </a:r>
          </a:p>
        </p:txBody>
      </p:sp>
      <p:sp>
        <p:nvSpPr>
          <p:cNvPr id="6" name="text-5">
            <a:extLst xmlns:a="http://schemas.openxmlformats.org/drawingml/2006/main">
              <a:ext uri="{FF2B5EF4-FFF2-40B4-BE49-F238E27FC236}">
                <a16:creationId xmlns:a16="http://schemas.microsoft.com/office/drawing/2014/main" id="{00358DC1-30ED-47BC-A8ED-E87BBD96BA1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Folge</a:t>
            </a:r>
          </a:p>
        </p:txBody>
      </p:sp>
      <p:sp>
        <p:nvSpPr>
          <p:cNvPr id="7" name="text-6">
            <a:extLst xmlns:a="http://schemas.openxmlformats.org/drawingml/2006/main">
              <a:ext uri="{FF2B5EF4-FFF2-40B4-BE49-F238E27FC236}">
                <a16:creationId xmlns:a16="http://schemas.microsoft.com/office/drawing/2014/main" id="{00F5FC4C-0C39-4577-879B-C806653460F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Zeichenanzahl und Tokenanzahl sind verschieden. Beide Grenzen müssen zum jeweiligen Schritt passen.</a:t>
            </a:r>
          </a:p>
        </p:txBody>
      </p:sp>
      <p:sp>
        <p:nvSpPr>
          <p:cNvPr id="8" name="text-7">
            <a:extLst xmlns:a="http://schemas.openxmlformats.org/drawingml/2006/main">
              <a:ext uri="{FF2B5EF4-FFF2-40B4-BE49-F238E27FC236}">
                <a16:creationId xmlns:a16="http://schemas.microsoft.com/office/drawing/2014/main" id="{641C1035-651B-43E4-8E50-1F1F30A9F86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12 · Quellfolie 12 · CUR-013 / CUR-015</a:t>
            </a:r>
          </a:p>
        </p:txBody>
      </p:sp>
    </p:spTree>
    <p:extLst>
      <p:ext uri="{BB962C8B-B14F-4D97-AF65-F5344CB8AC3E}">
        <p14:creationId xmlns:p14="http://schemas.microsoft.com/office/powerpoint/2010/main" val="18784387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2E22888-84A5-44B1-9A80-49CE2DAD940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SQL Server, Modell und Anwendung</a:t>
            </a:r>
          </a:p>
        </p:txBody>
      </p:sp>
      <p:graphicFrame>
        <p:nvGraphicFramePr>
          <p:cNvPr id="2" name="">
            <a:extLst xmlns:a="http://schemas.openxmlformats.org/drawingml/2006/main">
              <a:ext uri="{FF2B5EF4-FFF2-40B4-BE49-F238E27FC236}">
                <a16:creationId xmlns:a16="http://schemas.microsoft.com/office/drawing/2014/main" id="{B524D9B3-E332-45CE-A5B5-BA3A44F3707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143250"/>
                <a:gridCol w="7524750"/>
              </a:tblGrid>
              <a:tr h="785813">
                <a:tc>
                  <a:txBody>
                    <a:bodyPr/>
                    <a:lstStyle/>
                    <a:p>
                      <a:r>
                        <a:rPr sz="1800" b="1">
                          <a:solidFill>
                            <a:srgbClr val="15283D"/>
                          </a:solidFill>
                          <a:latin typeface="Arial"/>
                          <a:ea typeface="Arial"/>
                          <a:cs typeface="Arial"/>
                        </a:rPr>
                        <a:t>Komponente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Aufgabe im Wissensbasisfall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SQL Server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Speichert Dokumente und liefert erlaubte 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Verarbeitet bereitgestellte Eingaben für seine Aufgabe.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Vermittelt die Frage, sucht Quellen und prüft die 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937CE58-7EF0-48BC-85B4-1B5C4375D76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13 · Quellfolie 13 · CUR-013 / CUR-016</a:t>
            </a:r>
          </a:p>
        </p:txBody>
      </p:sp>
    </p:spTree>
    <p:extLst>
      <p:ext uri="{BB962C8B-B14F-4D97-AF65-F5344CB8AC3E}">
        <p14:creationId xmlns:p14="http://schemas.microsoft.com/office/powerpoint/2010/main" val="7677504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6FAFD7B-4019-4219-9607-62605B4E45E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Der erste Offlineeinstieg</a:t>
            </a:r>
          </a:p>
        </p:txBody>
      </p:sp>
      <p:sp>
        <p:nvSpPr>
          <p:cNvPr id="2" name="text-1">
            <a:extLst xmlns:a="http://schemas.openxmlformats.org/drawingml/2006/main">
              <a:ext uri="{FF2B5EF4-FFF2-40B4-BE49-F238E27FC236}">
                <a16:creationId xmlns:a16="http://schemas.microsoft.com/office/drawing/2014/main" id="{F949AB3E-E853-4DE1-A083-FEF9B75005A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Eingaben</a:t>
            </a:r>
          </a:p>
        </p:txBody>
      </p:sp>
      <p:sp>
        <p:nvSpPr>
          <p:cNvPr id="3" name="text-2">
            <a:extLst xmlns:a="http://schemas.openxmlformats.org/drawingml/2006/main">
              <a:ext uri="{FF2B5EF4-FFF2-40B4-BE49-F238E27FC236}">
                <a16:creationId xmlns:a16="http://schemas.microsoft.com/office/drawing/2014/main" id="{A5BC244C-7CC9-4091-8CB3-2E5CABB531A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Kleine feste Vektoren und synthetische Texte statt eines Live-Modells.</a:t>
            </a:r>
          </a:p>
        </p:txBody>
      </p:sp>
      <p:sp>
        <p:nvSpPr>
          <p:cNvPr id="4" name="text-3">
            <a:extLst xmlns:a="http://schemas.openxmlformats.org/drawingml/2006/main">
              <a:ext uri="{FF2B5EF4-FFF2-40B4-BE49-F238E27FC236}">
                <a16:creationId xmlns:a16="http://schemas.microsoft.com/office/drawing/2014/main" id="{CE205566-0F0A-4607-BC4D-B544D7AC7B0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Zugang</a:t>
            </a:r>
          </a:p>
        </p:txBody>
      </p:sp>
      <p:sp>
        <p:nvSpPr>
          <p:cNvPr id="5" name="text-4">
            <a:extLst xmlns:a="http://schemas.openxmlformats.org/drawingml/2006/main">
              <a:ext uri="{FF2B5EF4-FFF2-40B4-BE49-F238E27FC236}">
                <a16:creationId xmlns:a16="http://schemas.microsoft.com/office/drawing/2014/main" id="{779FEAAE-A517-4EED-B0C3-CE16A6D5F05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Diese ersten Beispiele benötigen weder ChatGPT noch Copilot oder ein Cloudkonto.</a:t>
            </a:r>
          </a:p>
        </p:txBody>
      </p:sp>
      <p:sp>
        <p:nvSpPr>
          <p:cNvPr id="6" name="text-5">
            <a:extLst xmlns:a="http://schemas.openxmlformats.org/drawingml/2006/main">
              <a:ext uri="{FF2B5EF4-FFF2-40B4-BE49-F238E27FC236}">
                <a16:creationId xmlns:a16="http://schemas.microsoft.com/office/drawing/2014/main" id="{F35C686E-BCE4-470C-A999-2CA98F4A3DB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7" name="text-6">
            <a:extLst xmlns:a="http://schemas.openxmlformats.org/drawingml/2006/main">
              <a:ext uri="{FF2B5EF4-FFF2-40B4-BE49-F238E27FC236}">
                <a16:creationId xmlns:a16="http://schemas.microsoft.com/office/drawing/2014/main" id="{3396A83C-53AF-40DA-8BAA-80BB332AB9C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Werte, Rangfolge und Quellen lassen sich gemeinsam erklären. Es gibt keinen Modellrequest.</a:t>
            </a:r>
          </a:p>
        </p:txBody>
      </p:sp>
      <p:sp>
        <p:nvSpPr>
          <p:cNvPr id="8" name="text-7">
            <a:extLst xmlns:a="http://schemas.openxmlformats.org/drawingml/2006/main">
              <a:ext uri="{FF2B5EF4-FFF2-40B4-BE49-F238E27FC236}">
                <a16:creationId xmlns:a16="http://schemas.microsoft.com/office/drawing/2014/main" id="{84E4B382-F7A9-420C-B5AE-19114911E90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Für die praktische Vorführung genügt die vorbereitete SQL-Testinstanz mit einem Queryclient.</a:t>
            </a:r>
          </a:p>
        </p:txBody>
      </p:sp>
      <p:sp>
        <p:nvSpPr>
          <p:cNvPr id="9" name="text-8">
            <a:extLst xmlns:a="http://schemas.openxmlformats.org/drawingml/2006/main">
              <a:ext uri="{FF2B5EF4-FFF2-40B4-BE49-F238E27FC236}">
                <a16:creationId xmlns:a16="http://schemas.microsoft.com/office/drawing/2014/main" id="{AD07A0FF-B7A5-4716-94CF-8A593D841F1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14 · Quellfolie 14 · CUR-013 / CUR-014</a:t>
            </a:r>
          </a:p>
        </p:txBody>
      </p:sp>
    </p:spTree>
    <p:extLst>
      <p:ext uri="{BB962C8B-B14F-4D97-AF65-F5344CB8AC3E}">
        <p14:creationId xmlns:p14="http://schemas.microsoft.com/office/powerpoint/2010/main" val="9875617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91F57F0C-CF39-4D9F-A155-4E411B39984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Serverversion und Client sind verschieden</a:t>
            </a:r>
          </a:p>
        </p:txBody>
      </p:sp>
      <p:sp>
        <p:nvSpPr>
          <p:cNvPr id="2" name="text-1">
            <a:extLst xmlns:a="http://schemas.openxmlformats.org/drawingml/2006/main">
              <a:ext uri="{FF2B5EF4-FFF2-40B4-BE49-F238E27FC236}">
                <a16:creationId xmlns:a16="http://schemas.microsoft.com/office/drawing/2014/main" id="{D9071AEC-0403-4474-8B34-F2176A18ED1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SQL Server</a:t>
            </a:r>
          </a:p>
        </p:txBody>
      </p:sp>
      <p:sp>
        <p:nvSpPr>
          <p:cNvPr id="3" name="text-2">
            <a:extLst xmlns:a="http://schemas.openxmlformats.org/drawingml/2006/main">
              <a:ext uri="{FF2B5EF4-FFF2-40B4-BE49-F238E27FC236}">
                <a16:creationId xmlns:a16="http://schemas.microsoft.com/office/drawing/2014/main" id="{B98B9F35-F906-4880-8039-CA8A6B2C8D4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Unsere VECTOR-Beispiele benötigen SQL Server 2025, Engine 17.x.</a:t>
            </a:r>
          </a:p>
        </p:txBody>
      </p:sp>
      <p:sp>
        <p:nvSpPr>
          <p:cNvPr id="4" name="text-3">
            <a:extLst xmlns:a="http://schemas.openxmlformats.org/drawingml/2006/main">
              <a:ext uri="{FF2B5EF4-FFF2-40B4-BE49-F238E27FC236}">
                <a16:creationId xmlns:a16="http://schemas.microsoft.com/office/drawing/2014/main" id="{A1F699AF-51B0-467F-931D-8FBD57FF152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a:t>
            </a:r>
          </a:p>
        </p:txBody>
      </p:sp>
      <p:sp>
        <p:nvSpPr>
          <p:cNvPr id="5" name="text-4">
            <a:extLst xmlns:a="http://schemas.openxmlformats.org/drawingml/2006/main">
              <a:ext uri="{FF2B5EF4-FFF2-40B4-BE49-F238E27FC236}">
                <a16:creationId xmlns:a16="http://schemas.microsoft.com/office/drawing/2014/main" id="{43D8EEF9-4467-414F-AD82-DE5697A3FF4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Programm zum Senden der Query macht aus einer älteren Engine keine SQL-Server-2025-Engine.</a:t>
            </a:r>
          </a:p>
        </p:txBody>
      </p:sp>
      <p:sp>
        <p:nvSpPr>
          <p:cNvPr id="6" name="text-5">
            <a:extLst xmlns:a="http://schemas.openxmlformats.org/drawingml/2006/main">
              <a:ext uri="{FF2B5EF4-FFF2-40B4-BE49-F238E27FC236}">
                <a16:creationId xmlns:a16="http://schemas.microsoft.com/office/drawing/2014/main" id="{B3993256-8863-4EA3-B204-57A317816BB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Datenbank</a:t>
            </a:r>
          </a:p>
        </p:txBody>
      </p:sp>
      <p:sp>
        <p:nvSpPr>
          <p:cNvPr id="7" name="text-6">
            <a:extLst xmlns:a="http://schemas.openxmlformats.org/drawingml/2006/main">
              <a:ext uri="{FF2B5EF4-FFF2-40B4-BE49-F238E27FC236}">
                <a16:creationId xmlns:a16="http://schemas.microsoft.com/office/drawing/2014/main" id="{2E3022E7-D1A4-4383-89B4-2E83102540A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Schulungsprofil verwendet Compatibility Level 170. Das ist eine eigene Datenbankeinstellung.</a:t>
            </a:r>
          </a:p>
        </p:txBody>
      </p:sp>
      <p:sp>
        <p:nvSpPr>
          <p:cNvPr id="8" name="text-7">
            <a:extLst xmlns:a="http://schemas.openxmlformats.org/drawingml/2006/main">
              <a:ext uri="{FF2B5EF4-FFF2-40B4-BE49-F238E27FC236}">
                <a16:creationId xmlns:a16="http://schemas.microsoft.com/office/drawing/2014/main" id="{30470908-F3C3-48CC-B940-FC614A7FE1C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15 · Quellfolie 15 · CUR-014 / CUR-016</a:t>
            </a:r>
          </a:p>
        </p:txBody>
      </p:sp>
    </p:spTree>
    <p:extLst>
      <p:ext uri="{BB962C8B-B14F-4D97-AF65-F5344CB8AC3E}">
        <p14:creationId xmlns:p14="http://schemas.microsoft.com/office/powerpoint/2010/main" val="4380534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7EC304A-6B04-449E-9D9B-8DCCC76C36D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 und Datenbankeinstellung lesen</a:t>
            </a:r>
          </a:p>
        </p:txBody>
      </p:sp>
      <p:sp>
        <p:nvSpPr>
          <p:cNvPr id="2" name="text-1">
            <a:extLst xmlns:a="http://schemas.openxmlformats.org/drawingml/2006/main">
              <a:ext uri="{FF2B5EF4-FFF2-40B4-BE49-F238E27FC236}">
                <a16:creationId xmlns:a16="http://schemas.microsoft.com/office/drawing/2014/main" id="{5051C13E-86CB-40A6-AFE7-C2916CB1DF79}"/>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CAST(SERVERPROPERTY('ProductMajorVersion') AS int) AS Major;</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compatibility_level AS CL</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sys.databases WHERE name = DB_NAME();</a:t>
            </a:r>
          </a:p>
        </p:txBody>
      </p:sp>
      <p:sp>
        <p:nvSpPr>
          <p:cNvPr id="3" name="text-2">
            <a:extLst xmlns:a="http://schemas.openxmlformats.org/drawingml/2006/main">
              <a:ext uri="{FF2B5EF4-FFF2-40B4-BE49-F238E27FC236}">
                <a16:creationId xmlns:a16="http://schemas.microsoft.com/office/drawing/2014/main" id="{78E0C396-F7C9-47A0-A535-761C55D4CEFE}"/>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Einordnung</a:t>
            </a:r>
          </a:p>
        </p:txBody>
      </p:sp>
      <p:sp>
        <p:nvSpPr>
          <p:cNvPr id="4" name="text-3">
            <a:extLst xmlns:a="http://schemas.openxmlformats.org/drawingml/2006/main">
              <a:ext uri="{FF2B5EF4-FFF2-40B4-BE49-F238E27FC236}">
                <a16:creationId xmlns:a16="http://schemas.microsoft.com/office/drawing/2014/main" id="{63FF7182-B86B-458B-83D0-B8954A5ADCB3}"/>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Major 17 bezeichnet die Enginefamilie. CL 170 bezeichnet das gewählte Datenbankprofil.</a:t>
            </a:r>
          </a:p>
        </p:txBody>
      </p:sp>
      <p:sp>
        <p:nvSpPr>
          <p:cNvPr id="5" name="text-4">
            <a:extLst xmlns:a="http://schemas.openxmlformats.org/drawingml/2006/main">
              <a:ext uri="{FF2B5EF4-FFF2-40B4-BE49-F238E27FC236}">
                <a16:creationId xmlns:a16="http://schemas.microsoft.com/office/drawing/2014/main" id="{1D48DB1F-DA21-4022-962D-994BD7DA7B0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Query liest Eigenschaften. Sie ändert weder Server noch Datenbank.</a:t>
            </a:r>
          </a:p>
        </p:txBody>
      </p:sp>
      <p:sp>
        <p:nvSpPr>
          <p:cNvPr id="6" name="text-5">
            <a:extLst xmlns:a="http://schemas.openxmlformats.org/drawingml/2006/main">
              <a:ext uri="{FF2B5EF4-FFF2-40B4-BE49-F238E27FC236}">
                <a16:creationId xmlns:a16="http://schemas.microsoft.com/office/drawing/2014/main" id="{B6AD6A49-B0B2-4EDB-AD08-7BF3A89FC4C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16 · Quellfolie 16 · CUR-014</a:t>
            </a:r>
          </a:p>
        </p:txBody>
      </p:sp>
    </p:spTree>
    <p:extLst>
      <p:ext uri="{BB962C8B-B14F-4D97-AF65-F5344CB8AC3E}">
        <p14:creationId xmlns:p14="http://schemas.microsoft.com/office/powerpoint/2010/main" val="142056403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FC529B6-DF2F-4F4A-B632-98A6CE9B772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vorbereitete Testumgebung und passende Rechte</a:t>
            </a:r>
          </a:p>
        </p:txBody>
      </p:sp>
      <p:sp>
        <p:nvSpPr>
          <p:cNvPr id="2" name="text-1">
            <a:extLst xmlns:a="http://schemas.openxmlformats.org/drawingml/2006/main">
              <a:ext uri="{FF2B5EF4-FFF2-40B4-BE49-F238E27FC236}">
                <a16:creationId xmlns:a16="http://schemas.microsoft.com/office/drawing/2014/main" id="{91BFFCDB-67CB-40E3-A083-B38EB4408B7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Umgebung</a:t>
            </a:r>
          </a:p>
        </p:txBody>
      </p:sp>
      <p:sp>
        <p:nvSpPr>
          <p:cNvPr id="3" name="text-2">
            <a:extLst xmlns:a="http://schemas.openxmlformats.org/drawingml/2006/main">
              <a:ext uri="{FF2B5EF4-FFF2-40B4-BE49-F238E27FC236}">
                <a16:creationId xmlns:a16="http://schemas.microsoft.com/office/drawing/2014/main" id="{5CEA6F06-F117-4B03-B42B-7711C33ED74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Lehrperson bereitet eine dedizierte SQL-Server-2025-Testinstanz vor.</a:t>
            </a:r>
          </a:p>
        </p:txBody>
      </p:sp>
      <p:sp>
        <p:nvSpPr>
          <p:cNvPr id="4" name="text-3">
            <a:extLst xmlns:a="http://schemas.openxmlformats.org/drawingml/2006/main">
              <a:ext uri="{FF2B5EF4-FFF2-40B4-BE49-F238E27FC236}">
                <a16:creationId xmlns:a16="http://schemas.microsoft.com/office/drawing/2014/main" id="{02A9CF64-4D16-4DA7-A502-68CD351B873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Teilnehmende</a:t>
            </a:r>
          </a:p>
        </p:txBody>
      </p:sp>
      <p:sp>
        <p:nvSpPr>
          <p:cNvPr id="5" name="text-4">
            <a:extLst xmlns:a="http://schemas.openxmlformats.org/drawingml/2006/main">
              <a:ext uri="{FF2B5EF4-FFF2-40B4-BE49-F238E27FC236}">
                <a16:creationId xmlns:a16="http://schemas.microsoft.com/office/drawing/2014/main" id="{A860FAD4-D455-4A35-960D-671DDCAE9AE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unsere kleinen Beispiele lesen wir feste Werte. Einrichtung und Verwaltung bleiben getrennt.</a:t>
            </a:r>
          </a:p>
        </p:txBody>
      </p:sp>
      <p:sp>
        <p:nvSpPr>
          <p:cNvPr id="6" name="text-5">
            <a:extLst xmlns:a="http://schemas.openxmlformats.org/drawingml/2006/main">
              <a:ext uri="{FF2B5EF4-FFF2-40B4-BE49-F238E27FC236}">
                <a16:creationId xmlns:a16="http://schemas.microsoft.com/office/drawing/2014/main" id="{9B34350D-6438-4074-B12F-910FE98E110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Falls etwas fehlt</a:t>
            </a:r>
          </a:p>
        </p:txBody>
      </p:sp>
      <p:sp>
        <p:nvSpPr>
          <p:cNvPr id="7" name="text-6">
            <a:extLst xmlns:a="http://schemas.openxmlformats.org/drawingml/2006/main">
              <a:ext uri="{FF2B5EF4-FFF2-40B4-BE49-F238E27FC236}">
                <a16:creationId xmlns:a16="http://schemas.microsoft.com/office/drawing/2014/main" id="{3A5C88B1-89B5-454A-A315-7F5A593B319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Verbindung, Ziel und Rechte gemeinsam prüfen. Für die Diskussion können wir zuerst die Sollwerte lesen.</a:t>
            </a:r>
          </a:p>
        </p:txBody>
      </p:sp>
      <p:sp>
        <p:nvSpPr>
          <p:cNvPr id="8" name="text-7">
            <a:extLst xmlns:a="http://schemas.openxmlformats.org/drawingml/2006/main">
              <a:ext uri="{FF2B5EF4-FFF2-40B4-BE49-F238E27FC236}">
                <a16:creationId xmlns:a16="http://schemas.microsoft.com/office/drawing/2014/main" id="{06B513B9-60E0-4F87-8498-622039CDDF3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Spätere vollständige Demos nutzen ihre dokumentierten Setup- und Cleanup-Verträge.</a:t>
            </a:r>
          </a:p>
        </p:txBody>
      </p:sp>
      <p:sp>
        <p:nvSpPr>
          <p:cNvPr id="9" name="text-8">
            <a:extLst xmlns:a="http://schemas.openxmlformats.org/drawingml/2006/main">
              <a:ext uri="{FF2B5EF4-FFF2-40B4-BE49-F238E27FC236}">
                <a16:creationId xmlns:a16="http://schemas.microsoft.com/office/drawing/2014/main" id="{1AA837BF-37D5-4E79-BF03-3EABFF75816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17 · Quellfolie 17 · CUR-014 / CUR-018</a:t>
            </a:r>
          </a:p>
        </p:txBody>
      </p:sp>
    </p:spTree>
    <p:extLst>
      <p:ext uri="{BB962C8B-B14F-4D97-AF65-F5344CB8AC3E}">
        <p14:creationId xmlns:p14="http://schemas.microsoft.com/office/powerpoint/2010/main" val="172395884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73301A93-4075-47CD-A570-8CB88ECEA47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Vektor als kleine Zahlenliste</a:t>
            </a:r>
          </a:p>
        </p:txBody>
      </p:sp>
      <p:sp>
        <p:nvSpPr>
          <p:cNvPr id="2" name="text-1">
            <a:extLst xmlns:a="http://schemas.openxmlformats.org/drawingml/2006/main">
              <a:ext uri="{FF2B5EF4-FFF2-40B4-BE49-F238E27FC236}">
                <a16:creationId xmlns:a16="http://schemas.microsoft.com/office/drawing/2014/main" id="{BB6EC351-9D9C-4089-BC72-BDAB84D3E2D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Drei Komponenten</a:t>
            </a:r>
          </a:p>
        </p:txBody>
      </p:sp>
      <p:sp>
        <p:nvSpPr>
          <p:cNvPr id="3" name="text-2">
            <a:extLst xmlns:a="http://schemas.openxmlformats.org/drawingml/2006/main">
              <a:ext uri="{FF2B5EF4-FFF2-40B4-BE49-F238E27FC236}">
                <a16:creationId xmlns:a16="http://schemas.microsoft.com/office/drawing/2014/main" id="{FC0FC49C-999B-4681-9A12-FDACB13F96C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VECTOR(3) enthält drei numerische Werte, zum Beispiel [1,0,0].</a:t>
            </a:r>
          </a:p>
        </p:txBody>
      </p:sp>
      <p:sp>
        <p:nvSpPr>
          <p:cNvPr id="4" name="text-3">
            <a:extLst xmlns:a="http://schemas.openxmlformats.org/drawingml/2006/main">
              <a:ext uri="{FF2B5EF4-FFF2-40B4-BE49-F238E27FC236}">
                <a16:creationId xmlns:a16="http://schemas.microsoft.com/office/drawing/2014/main" id="{C0ED0252-169E-4964-ABC7-539D2189C43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Unsere Lehrwerte</a:t>
            </a:r>
          </a:p>
        </p:txBody>
      </p:sp>
      <p:sp>
        <p:nvSpPr>
          <p:cNvPr id="5" name="text-4">
            <a:extLst xmlns:a="http://schemas.openxmlformats.org/drawingml/2006/main">
              <a:ext uri="{FF2B5EF4-FFF2-40B4-BE49-F238E27FC236}">
                <a16:creationId xmlns:a16="http://schemas.microsoft.com/office/drawing/2014/main" id="{E45BACA4-B1EB-4BCF-AC37-1BC3F21B795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geben alle Zahlen ausdrücklich vor. Sie stammen aus keinem Textmodell.</a:t>
            </a:r>
          </a:p>
        </p:txBody>
      </p:sp>
      <p:sp>
        <p:nvSpPr>
          <p:cNvPr id="6" name="text-5">
            <a:extLst xmlns:a="http://schemas.openxmlformats.org/drawingml/2006/main">
              <a:ext uri="{FF2B5EF4-FFF2-40B4-BE49-F238E27FC236}">
                <a16:creationId xmlns:a16="http://schemas.microsoft.com/office/drawing/2014/main" id="{05E92D1C-E000-4660-A34C-DFB9EEE8CCD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1E0A66E3-B785-43D2-9E07-D0F28D81974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Cosine-Distanz vergleicht die Richtung der beiden Zahlenlisten.</a:t>
            </a:r>
          </a:p>
        </p:txBody>
      </p:sp>
      <p:sp>
        <p:nvSpPr>
          <p:cNvPr id="8" name="text-7">
            <a:extLst xmlns:a="http://schemas.openxmlformats.org/drawingml/2006/main">
              <a:ext uri="{FF2B5EF4-FFF2-40B4-BE49-F238E27FC236}">
                <a16:creationId xmlns:a16="http://schemas.microsoft.com/office/drawing/2014/main" id="{63555FC1-4AAB-4622-ACB8-629DF6EB536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18 · Quellfolie 18 · CUR-013 / CUR-014</a:t>
            </a:r>
          </a:p>
        </p:txBody>
      </p:sp>
    </p:spTree>
    <p:extLst>
      <p:ext uri="{BB962C8B-B14F-4D97-AF65-F5344CB8AC3E}">
        <p14:creationId xmlns:p14="http://schemas.microsoft.com/office/powerpoint/2010/main" val="213331215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27A39EC-EF55-44A5-A469-1E73CD9554D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Vorhersage für drei Richtungen</a:t>
            </a:r>
          </a:p>
        </p:txBody>
      </p:sp>
      <p:graphicFrame>
        <p:nvGraphicFramePr>
          <p:cNvPr id="2" name="">
            <a:extLst xmlns:a="http://schemas.openxmlformats.org/drawingml/2006/main">
              <a:ext uri="{FF2B5EF4-FFF2-40B4-BE49-F238E27FC236}">
                <a16:creationId xmlns:a16="http://schemas.microsoft.com/office/drawing/2014/main" id="{76F701E9-A39D-4FDB-8662-9761227F36AB}"/>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1428750"/>
                <a:gridCol w="2952750"/>
                <a:gridCol w="6286500"/>
              </a:tblGrid>
              <a:tr h="785813">
                <a:tc>
                  <a:txBody>
                    <a:bodyPr/>
                    <a:lstStyle/>
                    <a:p>
                      <a:r>
                        <a:rPr sz="1800" b="1">
                          <a:solidFill>
                            <a:srgbClr val="15283D"/>
                          </a:solidFill>
                          <a:latin typeface="Arial"/>
                          <a:ea typeface="Arial"/>
                          <a:cs typeface="Arial"/>
                        </a:rPr>
                        <a:t>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Vektor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Richtung zur Frage [1,0,0]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20F6BDA-83BF-4F7F-9DC5-389D90DAEF2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Vorhersage: Welcher Vektor soll bei aufsteigender Cosine-Distanz zuerst erscheinen?</a:t>
            </a:r>
          </a:p>
        </p:txBody>
      </p:sp>
      <p:sp>
        <p:nvSpPr>
          <p:cNvPr id="4" name="text-2">
            <a:extLst xmlns:a="http://schemas.openxmlformats.org/drawingml/2006/main">
              <a:ext uri="{FF2B5EF4-FFF2-40B4-BE49-F238E27FC236}">
                <a16:creationId xmlns:a16="http://schemas.microsoft.com/office/drawing/2014/main" id="{D6F47C26-5885-4B3B-B07E-19C94CAE4F0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19 · Quellfolie 19 · CUR-014</a:t>
            </a:r>
          </a:p>
        </p:txBody>
      </p:sp>
    </p:spTree>
    <p:extLst>
      <p:ext uri="{BB962C8B-B14F-4D97-AF65-F5344CB8AC3E}">
        <p14:creationId xmlns:p14="http://schemas.microsoft.com/office/powerpoint/2010/main" val="5450384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E9BDECE-A6BB-43AB-BD4A-435C5BB3781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vollständige read-only Vektorquery</a:t>
            </a:r>
          </a:p>
        </p:txBody>
      </p:sp>
      <p:sp>
        <p:nvSpPr>
          <p:cNvPr id="2" name="text-1">
            <a:extLst xmlns:a="http://schemas.openxmlformats.org/drawingml/2006/main">
              <a:ext uri="{FF2B5EF4-FFF2-40B4-BE49-F238E27FC236}">
                <a16:creationId xmlns:a16="http://schemas.microsoft.com/office/drawing/2014/main" id="{4FEDB133-2977-4EED-ADC8-C52D6E108C8D}"/>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VECTOR_DISTANCE('cosine', @q, CAST(V AS VECTOR(3))) AS D</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 (1,'[1,0,0]'),(2,'[0,1,0]'),(3,'[-1,0,0]')) d(Id,V)</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 Id;</a:t>
            </a:r>
          </a:p>
        </p:txBody>
      </p:sp>
      <p:sp>
        <p:nvSpPr>
          <p:cNvPr id="3" name="text-2">
            <a:extLst xmlns:a="http://schemas.openxmlformats.org/drawingml/2006/main">
              <a:ext uri="{FF2B5EF4-FFF2-40B4-BE49-F238E27FC236}">
                <a16:creationId xmlns:a16="http://schemas.microsoft.com/office/drawing/2014/main" id="{D92966EE-9B16-4C13-8CBA-E269575DB4D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DECLARE definiert den Fragevektor. VALUES liefert Kandidaten. SELECT berechnet und sortiert.</a:t>
            </a:r>
          </a:p>
        </p:txBody>
      </p:sp>
      <p:sp>
        <p:nvSpPr>
          <p:cNvPr id="4" name="text-3">
            <a:extLst xmlns:a="http://schemas.openxmlformats.org/drawingml/2006/main">
              <a:ext uri="{FF2B5EF4-FFF2-40B4-BE49-F238E27FC236}">
                <a16:creationId xmlns:a16="http://schemas.microsoft.com/office/drawing/2014/main" id="{511ECBDE-92B8-4EE8-8829-4A692885492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20 · Quellfolie 20 · CUR-014</a:t>
            </a:r>
          </a:p>
        </p:txBody>
      </p:sp>
    </p:spTree>
    <p:extLst>
      <p:ext uri="{BB962C8B-B14F-4D97-AF65-F5344CB8AC3E}">
        <p14:creationId xmlns:p14="http://schemas.microsoft.com/office/powerpoint/2010/main" val="1180983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B606DDF-106D-47E5-9A4E-BF4DD420CEF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Ergebnisbesprechung der Vektorquery</a:t>
            </a:r>
          </a:p>
        </p:txBody>
      </p:sp>
      <p:graphicFrame>
        <p:nvGraphicFramePr>
          <p:cNvPr id="2" name="">
            <a:extLst xmlns:a="http://schemas.openxmlformats.org/drawingml/2006/main">
              <a:ext uri="{FF2B5EF4-FFF2-40B4-BE49-F238E27FC236}">
                <a16:creationId xmlns:a16="http://schemas.microsoft.com/office/drawing/2014/main" id="{B3133917-8650-42B3-91FF-734F43A52493}"/>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762250"/>
                <a:gridCol w="5715000"/>
              </a:tblGrid>
              <a:tr h="785813">
                <a:tc>
                  <a:txBody>
                    <a:bodyPr/>
                    <a:lstStyle/>
                    <a:p>
                      <a:r>
                        <a:rPr sz="1800" b="1">
                          <a:solidFill>
                            <a:srgbClr val="15283D"/>
                          </a:solidFill>
                          <a:latin typeface="Arial"/>
                          <a:ea typeface="Arial"/>
                          <a:cs typeface="Arial"/>
                        </a:rPr>
                        <a:t>Ausgabe 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Cosine-Distanz D</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Erklärung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 wie die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 zur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3450533-6AB7-420C-B046-8784A908D29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Mathematische Sollwerte des festen Lehrfalls. Kleine Floating-Point-Abweichungen fachlich einordnen.</a:t>
            </a:r>
          </a:p>
        </p:txBody>
      </p:sp>
      <p:sp>
        <p:nvSpPr>
          <p:cNvPr id="4" name="text-2">
            <a:extLst xmlns:a="http://schemas.openxmlformats.org/drawingml/2006/main">
              <a:ext uri="{FF2B5EF4-FFF2-40B4-BE49-F238E27FC236}">
                <a16:creationId xmlns:a16="http://schemas.microsoft.com/office/drawing/2014/main" id="{2BBCD92E-FA0F-4D98-B5EF-7A47D642E46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21 · Quellfolie 21 · CUR-014</a:t>
            </a:r>
          </a:p>
        </p:txBody>
      </p:sp>
    </p:spTree>
    <p:extLst>
      <p:ext uri="{BB962C8B-B14F-4D97-AF65-F5344CB8AC3E}">
        <p14:creationId xmlns:p14="http://schemas.microsoft.com/office/powerpoint/2010/main" val="109982766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326D54D-5B20-4CA7-B6F1-05DDD8CAA94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Text als Zahlen: ein Embedding</a:t>
            </a:r>
          </a:p>
        </p:txBody>
      </p:sp>
      <p:sp>
        <p:nvSpPr>
          <p:cNvPr id="2" name="text-1">
            <a:extLst xmlns:a="http://schemas.openxmlformats.org/drawingml/2006/main">
              <a:ext uri="{FF2B5EF4-FFF2-40B4-BE49-F238E27FC236}">
                <a16:creationId xmlns:a16="http://schemas.microsoft.com/office/drawing/2014/main" id="{7424AADC-7D68-4AB2-A047-05DA142E5A7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a:t>
            </a:r>
          </a:p>
        </p:txBody>
      </p:sp>
      <p:sp>
        <p:nvSpPr>
          <p:cNvPr id="3" name="text-2">
            <a:extLst xmlns:a="http://schemas.openxmlformats.org/drawingml/2006/main">
              <a:ext uri="{FF2B5EF4-FFF2-40B4-BE49-F238E27FC236}">
                <a16:creationId xmlns:a16="http://schemas.microsoft.com/office/drawing/2014/main" id="{FE8E37AF-5642-415A-96FF-8B0C91380C6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bestimmtes Modell bildet einen Text auf einen numerischen Vektor ab.</a:t>
            </a:r>
          </a:p>
        </p:txBody>
      </p:sp>
      <p:sp>
        <p:nvSpPr>
          <p:cNvPr id="4" name="text-3">
            <a:extLst xmlns:a="http://schemas.openxmlformats.org/drawingml/2006/main">
              <a:ext uri="{FF2B5EF4-FFF2-40B4-BE49-F238E27FC236}">
                <a16:creationId xmlns:a16="http://schemas.microsoft.com/office/drawing/2014/main" id="{16EA7F8C-364C-4095-A300-6827C005646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5" name="text-4">
            <a:extLst xmlns:a="http://schemas.openxmlformats.org/drawingml/2006/main">
              <a:ext uri="{FF2B5EF4-FFF2-40B4-BE49-F238E27FC236}">
                <a16:creationId xmlns:a16="http://schemas.microsoft.com/office/drawing/2014/main" id="{B6BEDE90-87FC-443D-A656-0C70BA5D144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Frage und Quellen erhalten vergleichbare Vektoren aus demselben Modellraum.</a:t>
            </a:r>
          </a:p>
        </p:txBody>
      </p:sp>
      <p:sp>
        <p:nvSpPr>
          <p:cNvPr id="6" name="text-5">
            <a:extLst xmlns:a="http://schemas.openxmlformats.org/drawingml/2006/main">
              <a:ext uri="{FF2B5EF4-FFF2-40B4-BE49-F238E27FC236}">
                <a16:creationId xmlns:a16="http://schemas.microsoft.com/office/drawing/2014/main" id="{23B84346-0A0A-4C55-92FB-5D482A1FA63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259913ED-65BF-44F6-AAC2-8974DA179E2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Ähnliche Vektoren können passende Texte liefern. Die fachliche Relevanz müssen wir prüfen.</a:t>
            </a:r>
          </a:p>
        </p:txBody>
      </p:sp>
      <p:sp>
        <p:nvSpPr>
          <p:cNvPr id="8" name="text-7">
            <a:extLst xmlns:a="http://schemas.openxmlformats.org/drawingml/2006/main">
              <a:ext uri="{FF2B5EF4-FFF2-40B4-BE49-F238E27FC236}">
                <a16:creationId xmlns:a16="http://schemas.microsoft.com/office/drawing/2014/main" id="{E61E43E7-D8AD-4A0A-8E11-E9699CF3B30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Unsere VECTOR(3)-Lehrwerte waren handgesetzt. Sie sind keine echten Textembeddings.</a:t>
            </a:r>
          </a:p>
        </p:txBody>
      </p:sp>
      <p:sp>
        <p:nvSpPr>
          <p:cNvPr id="9" name="text-8">
            <a:extLst xmlns:a="http://schemas.openxmlformats.org/drawingml/2006/main">
              <a:ext uri="{FF2B5EF4-FFF2-40B4-BE49-F238E27FC236}">
                <a16:creationId xmlns:a16="http://schemas.microsoft.com/office/drawing/2014/main" id="{4829EEA5-F7A9-4938-A32A-4B09A59DF45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22 · Quellfolie 22 · CUR-013 / CUR-016</a:t>
            </a:r>
          </a:p>
        </p:txBody>
      </p:sp>
    </p:spTree>
    <p:extLst>
      <p:ext uri="{BB962C8B-B14F-4D97-AF65-F5344CB8AC3E}">
        <p14:creationId xmlns:p14="http://schemas.microsoft.com/office/powerpoint/2010/main" val="23208719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C06EE33D-ACFD-43D4-98C8-64FBCE94B08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Zusätzliche Hürden eines echten Modellpfads</a:t>
            </a:r>
          </a:p>
        </p:txBody>
      </p:sp>
      <p:graphicFrame>
        <p:nvGraphicFramePr>
          <p:cNvPr id="2" name="">
            <a:extLst xmlns:a="http://schemas.openxmlformats.org/drawingml/2006/main">
              <a:ext uri="{FF2B5EF4-FFF2-40B4-BE49-F238E27FC236}">
                <a16:creationId xmlns:a16="http://schemas.microsoft.com/office/drawing/2014/main" id="{F4D3A3AE-3768-42C7-891C-98DA0A561296}"/>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1809750"/>
                <a:gridCol w="4429125"/>
                <a:gridCol w="4429125"/>
              </a:tblGrid>
              <a:tr h="800100">
                <a:tc>
                  <a:txBody>
                    <a:bodyPr/>
                    <a:lstStyle/>
                    <a:p>
                      <a:r>
                        <a:rPr sz="1800" b="1">
                          <a:solidFill>
                            <a:srgbClr val="15283D"/>
                          </a:solidFill>
                          <a:latin typeface="Arial"/>
                          <a:ea typeface="Arial"/>
                          <a:cs typeface="Arial"/>
                        </a:rPr>
                        <a:t>Hürde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Vorbereitete Lösung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 Prüfung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Geeignete Version und Dimension festlegen.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Vektor passt zum erwarteten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Verbindung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Verschlüsselten Transport und Zertifikat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erlaubte Dienst ist aus dem Aufrufer erreichbar.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Kosten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Menge der Requests und Wiederholungen begrenzen.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Verbrauch und Abbruchgrenze bleiben nachvollziehbar.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Datenschutz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Erlaubte Daten und Dienstverarbeitung klären.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Nur freigegebener Kontext verlässt seine Grenze.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99F6B49-74C7-45CA-BDF9-56B57EC3B48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23 · Quellfolie 23 · CUR-016 / CUR-018</a:t>
            </a:r>
          </a:p>
        </p:txBody>
      </p:sp>
    </p:spTree>
    <p:extLst>
      <p:ext uri="{BB962C8B-B14F-4D97-AF65-F5344CB8AC3E}">
        <p14:creationId xmlns:p14="http://schemas.microsoft.com/office/powerpoint/2010/main" val="71388615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856D030D-BA86-4D0B-B57F-2583917AE49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Textausschnitt braucht seine Herkunft</a:t>
            </a:r>
          </a:p>
        </p:txBody>
      </p:sp>
      <p:sp>
        <p:nvSpPr>
          <p:cNvPr id="2" name="text-1">
            <a:extLst xmlns:a="http://schemas.openxmlformats.org/drawingml/2006/main">
              <a:ext uri="{FF2B5EF4-FFF2-40B4-BE49-F238E27FC236}">
                <a16:creationId xmlns:a16="http://schemas.microsoft.com/office/drawing/2014/main" id="{1E6460AF-D9B5-4774-94E7-BE6267AB4B1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Quelltext</a:t>
            </a:r>
          </a:p>
        </p:txBody>
      </p:sp>
      <p:sp>
        <p:nvSpPr>
          <p:cNvPr id="3" name="text-2">
            <a:extLst xmlns:a="http://schemas.openxmlformats.org/drawingml/2006/main">
              <a:ext uri="{FF2B5EF4-FFF2-40B4-BE49-F238E27FC236}">
                <a16:creationId xmlns:a16="http://schemas.microsoft.com/office/drawing/2014/main" id="{2C7A94CF-FF72-43CC-ACE1-7F116BE8BD1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2, v2: MOD_A bewahrt Protokolle sieben Tage auf.</a:t>
            </a:r>
          </a:p>
        </p:txBody>
      </p:sp>
      <p:sp>
        <p:nvSpPr>
          <p:cNvPr id="4" name="text-3">
            <a:extLst xmlns:a="http://schemas.openxmlformats.org/drawingml/2006/main">
              <a:ext uri="{FF2B5EF4-FFF2-40B4-BE49-F238E27FC236}">
                <a16:creationId xmlns:a16="http://schemas.microsoft.com/office/drawing/2014/main" id="{6230A8E2-EA0A-459D-A337-37DE65ECE5E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Ausschnitt</a:t>
            </a:r>
          </a:p>
        </p:txBody>
      </p:sp>
      <p:sp>
        <p:nvSpPr>
          <p:cNvPr id="5" name="text-4">
            <a:extLst xmlns:a="http://schemas.openxmlformats.org/drawingml/2006/main">
              <a:ext uri="{FF2B5EF4-FFF2-40B4-BE49-F238E27FC236}">
                <a16:creationId xmlns:a16="http://schemas.microsoft.com/office/drawing/2014/main" id="{1CB09F53-C8DF-4CD8-86ED-902D7B0DA2F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Chunk ist ein abgegrenzter Textbereich. Er bleibt mit Dokument und Fassung verbunden.</a:t>
            </a:r>
          </a:p>
        </p:txBody>
      </p:sp>
      <p:sp>
        <p:nvSpPr>
          <p:cNvPr id="6" name="text-5">
            <a:extLst xmlns:a="http://schemas.openxmlformats.org/drawingml/2006/main">
              <a:ext uri="{FF2B5EF4-FFF2-40B4-BE49-F238E27FC236}">
                <a16:creationId xmlns:a16="http://schemas.microsoft.com/office/drawing/2014/main" id="{E59F653A-5E06-4CB5-ADB2-4B83619F1D2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D9B6FDDB-1AB9-4732-8170-55755DF32EF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können zeigen, wo die gefundene Information steht und ob diese Fassung aktuell ist.</a:t>
            </a:r>
          </a:p>
        </p:txBody>
      </p:sp>
      <p:sp>
        <p:nvSpPr>
          <p:cNvPr id="8" name="text-7">
            <a:extLst xmlns:a="http://schemas.openxmlformats.org/drawingml/2006/main">
              <a:ext uri="{FF2B5EF4-FFF2-40B4-BE49-F238E27FC236}">
                <a16:creationId xmlns:a16="http://schemas.microsoft.com/office/drawing/2014/main" id="{4A3F0028-8160-4CE4-9413-8A0C55D3DCA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24 · Quellfolie 24 · CUR-015 / CUR-017</a:t>
            </a:r>
          </a:p>
        </p:txBody>
      </p:sp>
    </p:spTree>
    <p:extLst>
      <p:ext uri="{BB962C8B-B14F-4D97-AF65-F5344CB8AC3E}">
        <p14:creationId xmlns:p14="http://schemas.microsoft.com/office/powerpoint/2010/main" val="195422608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1FD3F9F-CE31-4A7D-B049-11E7766079B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Antwort mit abgerufenem Quellenkontext</a:t>
            </a:r>
          </a:p>
        </p:txBody>
      </p:sp>
      <p:sp>
        <p:nvSpPr>
          <p:cNvPr id="2" name="text-1">
            <a:extLst xmlns:a="http://schemas.openxmlformats.org/drawingml/2006/main">
              <a:ext uri="{FF2B5EF4-FFF2-40B4-BE49-F238E27FC236}">
                <a16:creationId xmlns:a16="http://schemas.microsoft.com/office/drawing/2014/main" id="{07F26D66-C7F9-434B-AAC5-5D4E8F44F9A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3" name="text-2">
            <a:extLst xmlns:a="http://schemas.openxmlformats.org/drawingml/2006/main">
              <a:ext uri="{FF2B5EF4-FFF2-40B4-BE49-F238E27FC236}">
                <a16:creationId xmlns:a16="http://schemas.microsoft.com/office/drawing/2014/main" id="{CE939027-DC32-41F2-A464-3EE71D828E0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Anwendung findet zur Frage erlaubte, aktuelle Quellen.</a:t>
            </a:r>
          </a:p>
        </p:txBody>
      </p:sp>
      <p:sp>
        <p:nvSpPr>
          <p:cNvPr id="4" name="text-3">
            <a:extLst xmlns:a="http://schemas.openxmlformats.org/drawingml/2006/main">
              <a:ext uri="{FF2B5EF4-FFF2-40B4-BE49-F238E27FC236}">
                <a16:creationId xmlns:a16="http://schemas.microsoft.com/office/drawing/2014/main" id="{D7273E82-16D8-43AE-A100-18EA7C11240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Kontext</a:t>
            </a:r>
          </a:p>
        </p:txBody>
      </p:sp>
      <p:sp>
        <p:nvSpPr>
          <p:cNvPr id="5" name="text-4">
            <a:extLst xmlns:a="http://schemas.openxmlformats.org/drawingml/2006/main">
              <a:ext uri="{FF2B5EF4-FFF2-40B4-BE49-F238E27FC236}">
                <a16:creationId xmlns:a16="http://schemas.microsoft.com/office/drawing/2014/main" id="{9445DB74-5CBA-4189-9BD7-EF0909DD279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gibt passende Ausschnitte zusammen mit der Frage an die Antwortstufe.</a:t>
            </a:r>
          </a:p>
        </p:txBody>
      </p:sp>
      <p:sp>
        <p:nvSpPr>
          <p:cNvPr id="6" name="text-5">
            <a:extLst xmlns:a="http://schemas.openxmlformats.org/drawingml/2006/main">
              <a:ext uri="{FF2B5EF4-FFF2-40B4-BE49-F238E27FC236}">
                <a16:creationId xmlns:a16="http://schemas.microsoft.com/office/drawing/2014/main" id="{FF5EC3DB-F60C-44AD-8E32-D7D804C6B8F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Antwort</a:t>
            </a:r>
          </a:p>
        </p:txBody>
      </p:sp>
      <p:sp>
        <p:nvSpPr>
          <p:cNvPr id="7" name="text-6">
            <a:extLst xmlns:a="http://schemas.openxmlformats.org/drawingml/2006/main">
              <a:ext uri="{FF2B5EF4-FFF2-40B4-BE49-F238E27FC236}">
                <a16:creationId xmlns:a16="http://schemas.microsoft.com/office/drawing/2014/main" id="{CC632F66-BC77-4C85-B0AE-D7DA8E5B005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Antwortentwurf nennt seine Belege. Die Anwendung prüft die stützende Quelle.</a:t>
            </a:r>
          </a:p>
        </p:txBody>
      </p:sp>
      <p:sp>
        <p:nvSpPr>
          <p:cNvPr id="8" name="text-7">
            <a:extLst xmlns:a="http://schemas.openxmlformats.org/drawingml/2006/main">
              <a:ext uri="{FF2B5EF4-FFF2-40B4-BE49-F238E27FC236}">
                <a16:creationId xmlns:a16="http://schemas.microsoft.com/office/drawing/2014/main" id="{205791E1-DD28-47C1-981F-C02CD69C3F7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Dieser Ablauf heißt Retrieval-Augmented Generation, kurz RAG.</a:t>
            </a:r>
          </a:p>
        </p:txBody>
      </p:sp>
      <p:sp>
        <p:nvSpPr>
          <p:cNvPr id="9" name="text-8">
            <a:extLst xmlns:a="http://schemas.openxmlformats.org/drawingml/2006/main">
              <a:ext uri="{FF2B5EF4-FFF2-40B4-BE49-F238E27FC236}">
                <a16:creationId xmlns:a16="http://schemas.microsoft.com/office/drawing/2014/main" id="{1CB97E28-4EE9-4116-A878-87038C0F4D9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25 · Quellfolie 25 · CUR-017</a:t>
            </a:r>
          </a:p>
        </p:txBody>
      </p:sp>
    </p:spTree>
    <p:extLst>
      <p:ext uri="{BB962C8B-B14F-4D97-AF65-F5344CB8AC3E}">
        <p14:creationId xmlns:p14="http://schemas.microsoft.com/office/powerpoint/2010/main" val="185565859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A469F02-0061-4534-BEA3-79C9C1B7F37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belegbare Antwort im Wissensbasisfall</a:t>
            </a:r>
          </a:p>
        </p:txBody>
      </p:sp>
      <p:graphicFrame>
        <p:nvGraphicFramePr>
          <p:cNvPr id="2" name="">
            <a:extLst xmlns:a="http://schemas.openxmlformats.org/drawingml/2006/main">
              <a:ext uri="{FF2B5EF4-FFF2-40B4-BE49-F238E27FC236}">
                <a16:creationId xmlns:a16="http://schemas.microsoft.com/office/drawing/2014/main" id="{10935203-3D92-485C-A676-3A553BE0C19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048000"/>
                <a:gridCol w="7620000"/>
              </a:tblGrid>
              <a:tr h="785813">
                <a:tc>
                  <a:txBody>
                    <a:bodyPr/>
                    <a:lstStyle/>
                    <a:p>
                      <a:r>
                        <a:rPr sz="1800" b="1">
                          <a:solidFill>
                            <a:srgbClr val="15283D"/>
                          </a:solidFill>
                          <a:latin typeface="Arial"/>
                          <a:ea typeface="Arial"/>
                          <a:cs typeface="Arial"/>
                        </a:rPr>
                        <a:t>Bestandteil</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Sichtbarer Inhalt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Wie lange bleiben die Protokolle von MOD_A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Gelieferte 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Dokument 2, v2: 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Fester Antwortentwurf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Sieben Tage. Beleg: Dokument 2, Fassung v2.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99D0210-5C89-4312-9504-78408E44BBA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26 · Quellfolie 26 · CUR-017</a:t>
            </a:r>
          </a:p>
        </p:txBody>
      </p:sp>
    </p:spTree>
    <p:extLst>
      <p:ext uri="{BB962C8B-B14F-4D97-AF65-F5344CB8AC3E}">
        <p14:creationId xmlns:p14="http://schemas.microsoft.com/office/powerpoint/2010/main" val="145565096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8BE67F55-6B8B-44E8-A604-3B1CAFDB2D2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Falsche und fehlende Antworten erkennen</a:t>
            </a:r>
          </a:p>
        </p:txBody>
      </p:sp>
      <p:graphicFrame>
        <p:nvGraphicFramePr>
          <p:cNvPr id="2" name="">
            <a:extLst xmlns:a="http://schemas.openxmlformats.org/drawingml/2006/main">
              <a:ext uri="{FF2B5EF4-FFF2-40B4-BE49-F238E27FC236}">
                <a16:creationId xmlns:a16="http://schemas.microsoft.com/office/drawing/2014/main" id="{036C8233-28C9-462D-A727-B788DF8F9A0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5334000"/>
                <a:gridCol w="5334000"/>
              </a:tblGrid>
              <a:tr h="785813">
                <a:tc>
                  <a:txBody>
                    <a:bodyPr/>
                    <a:lstStyle/>
                    <a:p>
                      <a:r>
                        <a:rPr sz="1800" b="1">
                          <a:solidFill>
                            <a:srgbClr val="15283D"/>
                          </a:solidFill>
                          <a:latin typeface="Arial"/>
                          <a:ea typeface="Arial"/>
                          <a:cs typeface="Arial"/>
                        </a:rPr>
                        <a:t>Frage oder Antwortentwurf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Gemeinsame 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MOD_A bewahrt Protokolle 14 Tage auf.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Falsch zum gelieferten Beleg von sieben Tagen.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Grund fehlt in der Quelle. Keine Erklärung erfinden.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Ohne passende Quelle bleibt die Antwort leer.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begründete Nichtantwort ist nachvollziehbarer.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11A7C83-6AA2-4108-BC47-948771C8D21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27 · Quellfolie 27 · CUR-017 / CUR-022</a:t>
            </a:r>
          </a:p>
        </p:txBody>
      </p:sp>
    </p:spTree>
    <p:extLst>
      <p:ext uri="{BB962C8B-B14F-4D97-AF65-F5344CB8AC3E}">
        <p14:creationId xmlns:p14="http://schemas.microsoft.com/office/powerpoint/2010/main" val="159514286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56EA7565-AD9C-48B4-B2AC-3A7D2E993D9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Vorbereitung auf die konkreten Demos</a:t>
            </a:r>
          </a:p>
        </p:txBody>
      </p:sp>
      <p:sp>
        <p:nvSpPr>
          <p:cNvPr id="2" name="text-1">
            <a:extLst xmlns:a="http://schemas.openxmlformats.org/drawingml/2006/main">
              <a:ext uri="{FF2B5EF4-FFF2-40B4-BE49-F238E27FC236}">
                <a16:creationId xmlns:a16="http://schemas.microsoft.com/office/drawing/2014/main" id="{99B17422-A670-4C61-A101-6B522A2A848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Zahlen verstehen</a:t>
            </a:r>
          </a:p>
        </p:txBody>
      </p:sp>
      <p:sp>
        <p:nvSpPr>
          <p:cNvPr id="3" name="text-2">
            <a:extLst xmlns:a="http://schemas.openxmlformats.org/drawingml/2006/main">
              <a:ext uri="{FF2B5EF4-FFF2-40B4-BE49-F238E27FC236}">
                <a16:creationId xmlns:a16="http://schemas.microsoft.com/office/drawing/2014/main" id="{8BB23BB9-E937-4E2E-9F0E-124FA186795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Vektorquery vergleicht Werte. Ihre Distanz beweist noch keine richtige Antwort.</a:t>
            </a:r>
          </a:p>
        </p:txBody>
      </p:sp>
      <p:sp>
        <p:nvSpPr>
          <p:cNvPr id="4" name="text-3">
            <a:extLst xmlns:a="http://schemas.openxmlformats.org/drawingml/2006/main">
              <a:ext uri="{FF2B5EF4-FFF2-40B4-BE49-F238E27FC236}">
                <a16:creationId xmlns:a16="http://schemas.microsoft.com/office/drawing/2014/main" id="{4BE48608-EE1A-4F4B-AFA2-51A4D472092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 prüfen</a:t>
            </a:r>
          </a:p>
        </p:txBody>
      </p:sp>
      <p:sp>
        <p:nvSpPr>
          <p:cNvPr id="5" name="text-4">
            <a:extLst xmlns:a="http://schemas.openxmlformats.org/drawingml/2006/main">
              <a:ext uri="{FF2B5EF4-FFF2-40B4-BE49-F238E27FC236}">
                <a16:creationId xmlns:a16="http://schemas.microsoft.com/office/drawing/2014/main" id="{4E5156A7-64F7-4AB7-B2C9-BA3098F4D58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Fassung und erlaubter Kontext gehören zum Ergebnis.</a:t>
            </a:r>
          </a:p>
        </p:txBody>
      </p:sp>
      <p:sp>
        <p:nvSpPr>
          <p:cNvPr id="6" name="text-5">
            <a:extLst xmlns:a="http://schemas.openxmlformats.org/drawingml/2006/main">
              <a:ext uri="{FF2B5EF4-FFF2-40B4-BE49-F238E27FC236}">
                <a16:creationId xmlns:a16="http://schemas.microsoft.com/office/drawing/2014/main" id="{EFC4A4A0-77EA-47C0-AF53-1CC78FEA801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Nächster Schritt</a:t>
            </a:r>
          </a:p>
        </p:txBody>
      </p:sp>
      <p:sp>
        <p:nvSpPr>
          <p:cNvPr id="7" name="text-6">
            <a:extLst xmlns:a="http://schemas.openxmlformats.org/drawingml/2006/main">
              <a:ext uri="{FF2B5EF4-FFF2-40B4-BE49-F238E27FC236}">
                <a16:creationId xmlns:a16="http://schemas.microsoft.com/office/drawing/2014/main" id="{7CE4302B-2166-4D43-82A6-6AF6237327C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untersuchen nun Datentypen, Suche, Quellen und Rechte an den vorbereiteten Offline-Demos.</a:t>
            </a:r>
          </a:p>
        </p:txBody>
      </p:sp>
      <p:sp>
        <p:nvSpPr>
          <p:cNvPr id="8" name="text-7">
            <a:extLst xmlns:a="http://schemas.openxmlformats.org/drawingml/2006/main">
              <a:ext uri="{FF2B5EF4-FFF2-40B4-BE49-F238E27FC236}">
                <a16:creationId xmlns:a16="http://schemas.microsoft.com/office/drawing/2014/main" id="{DFD34565-E792-4259-805D-2A143948426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28 · Quellfolie 28 · CUR-013 / CUR-014 / CUR-017 / CUR-018</a:t>
            </a:r>
          </a:p>
        </p:txBody>
      </p:sp>
    </p:spTree>
    <p:extLst>
      <p:ext uri="{BB962C8B-B14F-4D97-AF65-F5344CB8AC3E}">
        <p14:creationId xmlns:p14="http://schemas.microsoft.com/office/powerpoint/2010/main" val="118518748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B664EE0-F5EA-4809-B0E3-A6BF36F6A4A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7789FDCA-15F9-4D16-9FB9-E037F59FA0C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31829B07-0F36-471F-A4F3-FFA42E822B4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A52FB4FF-D8BA-4034-8342-5F646225F8D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B6389832-603F-40AA-9EAE-42C5CF7022A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A0A656DB-E0C1-4BB0-A4F4-599986B0712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81AB7CCD-F531-4F92-A4EA-016C1AEFB05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5B024A92-ACAE-44B3-BA9B-752DACFF409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29 · Quellfolie 34 · CUR-013 / CUR-014</a:t>
            </a:r>
          </a:p>
        </p:txBody>
      </p:sp>
    </p:spTree>
    <p:extLst>
      <p:ext uri="{BB962C8B-B14F-4D97-AF65-F5344CB8AC3E}">
        <p14:creationId xmlns:p14="http://schemas.microsoft.com/office/powerpoint/2010/main" val="181609546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566E8CB-98F3-47CE-AA71-6CB8E1ACED8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3313AB18-74C3-45D8-9F5A-E2545031A08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6F2AE2A9-B7A9-47FC-9309-2D3B2D099A0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B6DEA293-4669-4D16-82CE-410F07A6CC1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6076C4EF-3F25-4F7C-B410-9B6E6FBE0B5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6D412D43-5C8D-470C-B4FC-25BC4F862C8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A26B5932-2A2B-4528-BA55-141995560F8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BE7B53AB-27BB-4B61-A566-81819FDA698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49E701CB-A5F3-45B8-A392-B43A743AC1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30 · Quellfolie 35 · CUR-014</a:t>
            </a:r>
          </a:p>
        </p:txBody>
      </p:sp>
    </p:spTree>
    <p:extLst>
      <p:ext uri="{BB962C8B-B14F-4D97-AF65-F5344CB8AC3E}">
        <p14:creationId xmlns:p14="http://schemas.microsoft.com/office/powerpoint/2010/main" val="147014629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1CD9129B-4E70-46AF-8470-40A5748ADE3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615F5B11-6AB7-493A-915F-C37C27AA01FC}"/>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A21BC8D-814F-4953-8514-712FDA495F7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285DD954-AA8E-4803-87DE-BCFD79D98A2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31 · Quellfolie 36 · CUR-014</a:t>
            </a:r>
          </a:p>
        </p:txBody>
      </p:sp>
    </p:spTree>
    <p:extLst>
      <p:ext uri="{BB962C8B-B14F-4D97-AF65-F5344CB8AC3E}">
        <p14:creationId xmlns:p14="http://schemas.microsoft.com/office/powerpoint/2010/main" val="15536803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09A7908-546B-4B80-B76D-92B1CAB1C24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ADA509D3-BF67-46F8-88AD-CCA4D85BBD51}"/>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E93FEF05-E8B1-4AD3-9529-AF31383B3ABD}"/>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B5411685-4BE6-46F2-BC14-3A5577D4B9A4}"/>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F9998BCE-7377-46EF-8866-B991941BF9CD}"/>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CE1EA2AD-D897-4C7E-87F4-A9119C50E213}"/>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ABA9C41B-A1EB-417B-AA2F-7A4C61C6720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E44D8FE9-00A0-4CDF-B14D-98857EB6089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32 · Quellfolie 37 · CUR-014</a:t>
            </a:r>
          </a:p>
        </p:txBody>
      </p:sp>
    </p:spTree>
    <p:extLst>
      <p:ext uri="{BB962C8B-B14F-4D97-AF65-F5344CB8AC3E}">
        <p14:creationId xmlns:p14="http://schemas.microsoft.com/office/powerpoint/2010/main" val="63004159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A7195A7-C1F5-49E1-B023-7EDF1927534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3CD55C4E-896C-4170-9141-95D7D984B06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C7B49213-DF4C-4213-9348-A3BDAF6FF36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C9796747-2872-4250-A4CD-895D6EF5AB0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A0428FAA-A73B-4772-AE0B-40D383FDB1F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4EB67E7A-F64E-42C3-80C4-6F7730D5C16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EDC57119-75CD-49B2-93CF-4F39C3F169F2}"/>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9B8E4703-0010-458C-A046-0E05968BC28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33 · Quellfolie 38 · CUR-015</a:t>
            </a:r>
          </a:p>
        </p:txBody>
      </p:sp>
    </p:spTree>
    <p:extLst>
      <p:ext uri="{BB962C8B-B14F-4D97-AF65-F5344CB8AC3E}">
        <p14:creationId xmlns:p14="http://schemas.microsoft.com/office/powerpoint/2010/main" val="12671343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7999239-CB29-4CFB-986E-203E9D1B903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E274C5F7-07D0-4CAA-8729-D7CC864AA46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BCED8F01-476A-4B1B-BCC4-F2AE95EBC89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37C56E47-0B5D-464B-80E1-C4231690A53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9651B6B6-14A3-46AC-A693-FAF892C0DC6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8FA1342F-F90E-484B-863C-E4C2F10A6E2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EEE73DF9-2B12-4FF5-9520-80FECD56E97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F0C41638-34A5-4F63-A53B-D45968EDA03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4252BE62-8759-4C60-B65C-4F4FD0BCF18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34 · Quellfolie 39 · CUR-015</a:t>
            </a:r>
          </a:p>
        </p:txBody>
      </p:sp>
    </p:spTree>
    <p:extLst>
      <p:ext uri="{BB962C8B-B14F-4D97-AF65-F5344CB8AC3E}">
        <p14:creationId xmlns:p14="http://schemas.microsoft.com/office/powerpoint/2010/main" val="19536042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F22C84E-01E7-429C-B896-98B023AC748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A25BB812-66A9-4049-8D6D-130336A6CA9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E63A996-644B-4E9C-BD70-C63A2A5D0A4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35 · Quellfolie 43 · CUR-017 / CUR-020</a:t>
            </a:r>
          </a:p>
        </p:txBody>
      </p:sp>
    </p:spTree>
    <p:extLst>
      <p:ext uri="{BB962C8B-B14F-4D97-AF65-F5344CB8AC3E}">
        <p14:creationId xmlns:p14="http://schemas.microsoft.com/office/powerpoint/2010/main" val="66591351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DB8215B-77ED-4F35-8B1E-9ABE97374EA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575A0646-4D61-4D57-910B-8EC8AA155EF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8BD98165-F6EA-4EA8-B8E2-C5F3900A48F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0D280ABD-AFC8-43A2-ADF8-759E8AE71E2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B47CA0A4-3A84-4289-9782-14B81C62E88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D6A8081B-904E-443C-93C9-52180C229958}"/>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4545FB99-9EA9-4400-AD4B-36E3B993A1A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AE2FE751-3AE7-4513-B182-C819245D8DC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082A8341-9C57-43F0-AC57-6A9B13D344D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36 · Quellfolie 44 · CUR-017 / CUR-020</a:t>
            </a:r>
          </a:p>
        </p:txBody>
      </p:sp>
    </p:spTree>
    <p:extLst>
      <p:ext uri="{BB962C8B-B14F-4D97-AF65-F5344CB8AC3E}">
        <p14:creationId xmlns:p14="http://schemas.microsoft.com/office/powerpoint/2010/main" val="126475115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6C2829D-7268-4081-A0D5-0D99533F439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613237D8-2777-4097-A812-23EE16A5C1E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CBFC01E7-1CE8-47C1-88BC-4A2FC81C017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ECB91A69-EB10-475F-805A-8E54E945A4A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440F1FE9-F831-41B9-8B7F-54F7E84180D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6F884BF8-660A-4329-94F2-6B742D66FB6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E865C60B-AE74-40BB-82EC-57199375CE0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978DDA6A-ACBC-4A1E-944C-EFD08271223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D1A723F0-6FA0-4DD0-9818-EF546C5F2EC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37 · Quellfolie 45 · CUR-017</a:t>
            </a:r>
          </a:p>
        </p:txBody>
      </p:sp>
    </p:spTree>
    <p:extLst>
      <p:ext uri="{BB962C8B-B14F-4D97-AF65-F5344CB8AC3E}">
        <p14:creationId xmlns:p14="http://schemas.microsoft.com/office/powerpoint/2010/main" val="137645938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F227CFF-B8F6-4928-B92B-527F940B53F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43E9AF52-F9AB-4A34-9EC7-58D8A89047B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A5FF60B-188F-4CC7-9376-9584396AE84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328053F2-4253-43E4-91D6-C7E9892FA56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38 · Quellfolie 46 · CUR-017 / CUR-022</a:t>
            </a:r>
          </a:p>
        </p:txBody>
      </p:sp>
    </p:spTree>
    <p:extLst>
      <p:ext uri="{BB962C8B-B14F-4D97-AF65-F5344CB8AC3E}">
        <p14:creationId xmlns:p14="http://schemas.microsoft.com/office/powerpoint/2010/main" val="214223150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E3E8CA51-07A8-4D03-AAA2-6ECD05F6A90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7B172EFA-7086-490D-BB96-0F7CF36BA065}"/>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B3C2E64-E69B-4D63-A2BA-A0B9A9D2F34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8D366776-D503-4B95-AE2F-67EFA9BC664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39 · Quellfolie 47 · CUR-018</a:t>
            </a:r>
          </a:p>
        </p:txBody>
      </p:sp>
    </p:spTree>
    <p:extLst>
      <p:ext uri="{BB962C8B-B14F-4D97-AF65-F5344CB8AC3E}">
        <p14:creationId xmlns:p14="http://schemas.microsoft.com/office/powerpoint/2010/main" val="119519509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53D3BDE-60B8-418C-8667-EAFE3464CF1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1F6DE3FD-00B0-46B1-9010-B40F85BC088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A2A0236-3450-4C50-874B-BF821884F6A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F5E34B2D-F615-4EDB-BC3F-01CB87DC206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03CD91E7-3887-4143-B72A-EA53156A93A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8EB26BE6-17AB-4CAA-B88F-D59EEA39EBA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64591D1A-73AD-47A0-BDAF-165CF013AD5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E310D902-8996-4437-A89A-4C3A02A4F46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C0E7B68B-93B4-479A-9BE9-5C3F25B35E8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40 · Quellfolie 48 · CUR-018 / CUR-021</a:t>
            </a:r>
          </a:p>
        </p:txBody>
      </p:sp>
    </p:spTree>
    <p:extLst>
      <p:ext uri="{BB962C8B-B14F-4D97-AF65-F5344CB8AC3E}">
        <p14:creationId xmlns:p14="http://schemas.microsoft.com/office/powerpoint/2010/main" val="189244839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E951DCF-2DB4-48E1-A3CF-B9E077517CA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8AAE84E3-8B86-46A4-91C1-C91F9FC44CC7}"/>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TLS, API und Runtime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QRY-022: ONNX</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lokale Native-Inferenz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2A04D2C-945C-42FA-B9FE-F5ED880F989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41 · Quellfolie 40 · CUR-016</a:t>
            </a:r>
          </a:p>
        </p:txBody>
      </p:sp>
    </p:spTree>
    <p:extLst>
      <p:ext uri="{BB962C8B-B14F-4D97-AF65-F5344CB8AC3E}">
        <p14:creationId xmlns:p14="http://schemas.microsoft.com/office/powerpoint/2010/main" val="188423950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3C33C5E-0FA1-45DC-BB97-743E06DD5DD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140F3514-53EB-456D-A320-60FF2938D29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Anfrage</a:t>
            </a:r>
          </a:p>
        </p:txBody>
      </p:sp>
      <p:sp>
        <p:nvSpPr>
          <p:cNvPr id="3" name="text-2">
            <a:extLst xmlns:a="http://schemas.openxmlformats.org/drawingml/2006/main">
              <a:ext uri="{FF2B5EF4-FFF2-40B4-BE49-F238E27FC236}">
                <a16:creationId xmlns:a16="http://schemas.microsoft.com/office/drawing/2014/main" id="{9775FA60-C686-4187-A8A5-E51925A0F83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45513BA0-FF96-44FA-8D0D-BC8FA111068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271C38A8-2CB3-42BF-9FFB-67C527472B9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7056B1F0-02C5-4464-842B-C5875BBCEB3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55688130-BB94-4DF4-BC68-10FCC03FA3A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FBFB25A5-6508-4A5A-929B-3375A420ED6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7AC05A8A-D47D-4123-A4C3-5FCFCB818FE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42 · Quellfolie 41 · CUR-016</a:t>
            </a:r>
          </a:p>
        </p:txBody>
      </p:sp>
    </p:spTree>
    <p:extLst>
      <p:ext uri="{BB962C8B-B14F-4D97-AF65-F5344CB8AC3E}">
        <p14:creationId xmlns:p14="http://schemas.microsoft.com/office/powerpoint/2010/main" val="202205259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85A9316-CA03-4F85-82E3-CC7F9E03733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F466A517-03EA-4675-9FE1-2D078329620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F36CD55F-E3BE-4EA3-915D-2D825B705FE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66D953F5-255C-4F62-A33F-3EF7A9325A8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63A7620-2DE9-4881-A7B8-5B0EF4DB6D8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80310B09-CC33-4334-99E9-3D7C01B3596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9DD16EC2-52BB-4DC9-B21D-91194F066C8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83AAA996-CBB1-498B-BF74-093A3101E4B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9E3FA0A9-514B-407E-8798-10C6718C1D2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43 · Quellfolie 42 · CUR-016 / CUR-018</a:t>
            </a:r>
          </a:p>
        </p:txBody>
      </p:sp>
    </p:spTree>
    <p:extLst>
      <p:ext uri="{BB962C8B-B14F-4D97-AF65-F5344CB8AC3E}">
        <p14:creationId xmlns:p14="http://schemas.microsoft.com/office/powerpoint/2010/main" val="140715230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416E1C8-7005-4AD6-9B26-EF9C34F7BAE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F3A85428-F2E9-406C-ADB3-8EFB9BD16EC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0159198A-9B18-4CDC-BCE6-8B73E681B3B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CF347831-FE6F-4BE5-824E-72043DD67CF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F328584-FAF3-4693-9F31-1C14964A29A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7CF465D1-82B3-4C81-9C00-4D52CCF144F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49A12BCA-5A3C-4E62-A6FF-6F953313320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BC2E4654-2617-4D4C-B1B9-9865D231994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7FC9F542-2694-43C0-B545-DB559C9D5EF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44 · Quellfolie 49 · CUR-018</a:t>
            </a:r>
          </a:p>
        </p:txBody>
      </p:sp>
    </p:spTree>
    <p:extLst>
      <p:ext uri="{BB962C8B-B14F-4D97-AF65-F5344CB8AC3E}">
        <p14:creationId xmlns:p14="http://schemas.microsoft.com/office/powerpoint/2010/main" val="31061873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BF1822E-B8C1-4F09-8F1E-C9B46CC8CA0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98A558F2-B66C-47C2-913B-2EBFB75D07F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Suchfrage</a:t>
            </a:r>
          </a:p>
        </p:txBody>
      </p:sp>
      <p:sp>
        <p:nvSpPr>
          <p:cNvPr id="3" name="text-2">
            <a:extLst xmlns:a="http://schemas.openxmlformats.org/drawingml/2006/main">
              <a:ext uri="{FF2B5EF4-FFF2-40B4-BE49-F238E27FC236}">
                <a16:creationId xmlns:a16="http://schemas.microsoft.com/office/drawing/2014/main" id="{C7F2FC89-0E93-44F6-86BA-B64608A5457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exakte Dokumentkennung und eine inhaltliche Frage brauchen begründete Suchpfade.</a:t>
            </a:r>
          </a:p>
        </p:txBody>
      </p:sp>
      <p:sp>
        <p:nvSpPr>
          <p:cNvPr id="4" name="text-3">
            <a:extLst xmlns:a="http://schemas.openxmlformats.org/drawingml/2006/main">
              <a:ext uri="{FF2B5EF4-FFF2-40B4-BE49-F238E27FC236}">
                <a16:creationId xmlns:a16="http://schemas.microsoft.com/office/drawing/2014/main" id="{5240FDB7-BA1A-472C-A7C0-BB62A9DDA37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Quellenkonflikt</a:t>
            </a:r>
          </a:p>
        </p:txBody>
      </p:sp>
      <p:sp>
        <p:nvSpPr>
          <p:cNvPr id="5" name="text-4">
            <a:extLst xmlns:a="http://schemas.openxmlformats.org/drawingml/2006/main">
              <a:ext uri="{FF2B5EF4-FFF2-40B4-BE49-F238E27FC236}">
                <a16:creationId xmlns:a16="http://schemas.microsoft.com/office/drawing/2014/main" id="{3E36F0B1-2388-4E86-A157-2CF08B9AFA3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aktuelle erlaubte Quellen widersprechen sich. Herkunft und Version am Treffer belegen.</a:t>
            </a:r>
          </a:p>
        </p:txBody>
      </p:sp>
      <p:sp>
        <p:nvSpPr>
          <p:cNvPr id="6" name="text-5">
            <a:extLst xmlns:a="http://schemas.openxmlformats.org/drawingml/2006/main">
              <a:ext uri="{FF2B5EF4-FFF2-40B4-BE49-F238E27FC236}">
                <a16:creationId xmlns:a16="http://schemas.microsoft.com/office/drawing/2014/main" id="{154CD6BA-D944-4568-9479-58DBA5D4CA5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Manipulation</a:t>
            </a:r>
          </a:p>
        </p:txBody>
      </p:sp>
      <p:sp>
        <p:nvSpPr>
          <p:cNvPr id="7" name="text-6">
            <a:extLst xmlns:a="http://schemas.openxmlformats.org/drawingml/2006/main">
              <a:ext uri="{FF2B5EF4-FFF2-40B4-BE49-F238E27FC236}">
                <a16:creationId xmlns:a16="http://schemas.microsoft.com/office/drawing/2014/main" id="{07695B07-5111-4948-80F0-2E47362B624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Quellenabsatz fordert eine Zusatzaktion. Zulässige Antwort und Toolbefugnis getrennt erklären.</a:t>
            </a:r>
          </a:p>
        </p:txBody>
      </p:sp>
      <p:sp>
        <p:nvSpPr>
          <p:cNvPr id="8" name="text-7">
            <a:extLst xmlns:a="http://schemas.openxmlformats.org/drawingml/2006/main">
              <a:ext uri="{FF2B5EF4-FFF2-40B4-BE49-F238E27FC236}">
                <a16:creationId xmlns:a16="http://schemas.microsoft.com/office/drawing/2014/main" id="{52A8C52C-32CD-4D79-B089-23009FFAB55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Acht Aufgaben: höchstens 16 Punkte nach bestehender Rubrik. Transfer unbewertet; kein Live-Modellaufruf.</a:t>
            </a:r>
          </a:p>
        </p:txBody>
      </p:sp>
      <p:sp>
        <p:nvSpPr>
          <p:cNvPr id="9" name="text-8">
            <a:extLst xmlns:a="http://schemas.openxmlformats.org/drawingml/2006/main">
              <a:ext uri="{FF2B5EF4-FFF2-40B4-BE49-F238E27FC236}">
                <a16:creationId xmlns:a16="http://schemas.microsoft.com/office/drawing/2014/main" id="{E1485B6F-1BBE-4722-BA37-FD2EDB858DC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STANDARD 45 · Quellfolie 61 · CUR-022</a:t>
            </a:r>
          </a:p>
        </p:txBody>
      </p:sp>
    </p:spTree>
    <p:extLst>
      <p:ext uri="{BB962C8B-B14F-4D97-AF65-F5344CB8AC3E}">
        <p14:creationId xmlns:p14="http://schemas.microsoft.com/office/powerpoint/2010/main" val="6422102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2026-10-18T17:50:48.1920000Z</dcterms:created>
  <dcterms:modified xsi:type="dcterms:W3CDTF">2026-10-18T17:50:48.1920000Z</dcterms:modified>
</cp:coreProperties>
</file>