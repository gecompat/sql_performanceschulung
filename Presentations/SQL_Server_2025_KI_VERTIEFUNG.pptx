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b0e582de522340d3" /><Relationship Type="http://schemas.openxmlformats.org/officeDocument/2006/relationships/extended-properties" Target="/docProps/app.xml" Id="R134d6ac67dc748de" /><Relationship Type="http://schemas.openxmlformats.org/officeDocument/2006/relationships/officeDocument" Target="/ppt/presentation.xml" Id="Rda8e753427814461" /></Relationships>
</file>

<file path=ppt/presentation.xml><?xml version="1.0" encoding="utf-8"?>
<p:presentation xmlns:p="http://schemas.openxmlformats.org/presentationml/2006/main">
  <p:sldMasterIdLst>
    <p:sldMasterId xmlns:r="http://schemas.openxmlformats.org/officeDocument/2006/relationships" id="2147483648" r:id="R8c2e39a8c4ef4493"/>
  </p:sldMasterIdLst>
  <p:notesMasterIdLst>
    <p:notesMasterId xmlns:r="http://schemas.openxmlformats.org/officeDocument/2006/relationships" r:id="Rc973f3190b66457e"/>
  </p:notesMasterIdLst>
  <p:sldIdLst>
    <p:sldId xmlns:r="http://schemas.openxmlformats.org/officeDocument/2006/relationships" id="256" r:id="Rc3d3b6ccc65a421b"/>
    <p:sldId xmlns:r="http://schemas.openxmlformats.org/officeDocument/2006/relationships" id="257" r:id="R0fef3fbb3e8340e0"/>
    <p:sldId xmlns:r="http://schemas.openxmlformats.org/officeDocument/2006/relationships" id="258" r:id="Rbc174426ee4e46e5"/>
    <p:sldId xmlns:r="http://schemas.openxmlformats.org/officeDocument/2006/relationships" id="259" r:id="Rcc9c0f82fb7b4fda"/>
    <p:sldId xmlns:r="http://schemas.openxmlformats.org/officeDocument/2006/relationships" id="260" r:id="Rdc13eca36d84485e"/>
    <p:sldId xmlns:r="http://schemas.openxmlformats.org/officeDocument/2006/relationships" id="261" r:id="Rd63968ee5fcf45be"/>
    <p:sldId xmlns:r="http://schemas.openxmlformats.org/officeDocument/2006/relationships" id="262" r:id="Ra965ba71dee14fc4"/>
    <p:sldId xmlns:r="http://schemas.openxmlformats.org/officeDocument/2006/relationships" id="263" r:id="R13a0bcdd327f4deb"/>
    <p:sldId xmlns:r="http://schemas.openxmlformats.org/officeDocument/2006/relationships" id="264" r:id="Rf28ec199bdcf4a0e"/>
    <p:sldId xmlns:r="http://schemas.openxmlformats.org/officeDocument/2006/relationships" id="265" r:id="Rea98c4dae7864058"/>
    <p:sldId xmlns:r="http://schemas.openxmlformats.org/officeDocument/2006/relationships" id="266" r:id="Rc17fd728371d49e9"/>
    <p:sldId xmlns:r="http://schemas.openxmlformats.org/officeDocument/2006/relationships" id="267" r:id="Rc094ae418ef44a46"/>
    <p:sldId xmlns:r="http://schemas.openxmlformats.org/officeDocument/2006/relationships" id="268" r:id="R099a6baf0c0d4839"/>
    <p:sldId xmlns:r="http://schemas.openxmlformats.org/officeDocument/2006/relationships" id="269" r:id="Rab2059be2f7e4859"/>
    <p:sldId xmlns:r="http://schemas.openxmlformats.org/officeDocument/2006/relationships" id="270" r:id="R12ca4acd25554623"/>
    <p:sldId xmlns:r="http://schemas.openxmlformats.org/officeDocument/2006/relationships" id="271" r:id="R4414934c067d406e"/>
    <p:sldId xmlns:r="http://schemas.openxmlformats.org/officeDocument/2006/relationships" id="272" r:id="Re064ce72375b47c4"/>
    <p:sldId xmlns:r="http://schemas.openxmlformats.org/officeDocument/2006/relationships" id="273" r:id="R78f08869ff3542a4"/>
    <p:sldId xmlns:r="http://schemas.openxmlformats.org/officeDocument/2006/relationships" id="274" r:id="R109335faaf804225"/>
    <p:sldId xmlns:r="http://schemas.openxmlformats.org/officeDocument/2006/relationships" id="275" r:id="R1115e60c2f1b4054"/>
    <p:sldId xmlns:r="http://schemas.openxmlformats.org/officeDocument/2006/relationships" id="276" r:id="R0024c88094cc438a"/>
    <p:sldId xmlns:r="http://schemas.openxmlformats.org/officeDocument/2006/relationships" id="277" r:id="Reb0cdf873e22460e"/>
    <p:sldId xmlns:r="http://schemas.openxmlformats.org/officeDocument/2006/relationships" id="278" r:id="R91fe241296c748b1"/>
    <p:sldId xmlns:r="http://schemas.openxmlformats.org/officeDocument/2006/relationships" id="279" r:id="R326aedde9e0a4e00"/>
    <p:sldId xmlns:r="http://schemas.openxmlformats.org/officeDocument/2006/relationships" id="280" r:id="Rd6976badbf644fb8"/>
    <p:sldId xmlns:r="http://schemas.openxmlformats.org/officeDocument/2006/relationships" id="281" r:id="R107e12e9f4994fb1"/>
    <p:sldId xmlns:r="http://schemas.openxmlformats.org/officeDocument/2006/relationships" id="282" r:id="R94378f7a46234694"/>
    <p:sldId xmlns:r="http://schemas.openxmlformats.org/officeDocument/2006/relationships" id="283" r:id="Ra6c187d5553b456f"/>
    <p:sldId xmlns:r="http://schemas.openxmlformats.org/officeDocument/2006/relationships" id="284" r:id="R41ef5e3257064402"/>
    <p:sldId xmlns:r="http://schemas.openxmlformats.org/officeDocument/2006/relationships" id="285" r:id="R06af92a55d074097"/>
    <p:sldId xmlns:r="http://schemas.openxmlformats.org/officeDocument/2006/relationships" id="286" r:id="R2ed7b0ec75954640"/>
    <p:sldId xmlns:r="http://schemas.openxmlformats.org/officeDocument/2006/relationships" id="287" r:id="R29d5eac0c0cc42eb"/>
    <p:sldId xmlns:r="http://schemas.openxmlformats.org/officeDocument/2006/relationships" id="288" r:id="Rddf77a6369704c15"/>
    <p:sldId xmlns:r="http://schemas.openxmlformats.org/officeDocument/2006/relationships" id="289" r:id="R446ad74ab9b2424c"/>
    <p:sldId xmlns:r="http://schemas.openxmlformats.org/officeDocument/2006/relationships" id="290" r:id="R2104f72f6de54f4f"/>
    <p:sldId xmlns:r="http://schemas.openxmlformats.org/officeDocument/2006/relationships" id="291" r:id="Ree46efa2cbc44650"/>
    <p:sldId xmlns:r="http://schemas.openxmlformats.org/officeDocument/2006/relationships" id="292" r:id="R6258bef529d941df"/>
    <p:sldId xmlns:r="http://schemas.openxmlformats.org/officeDocument/2006/relationships" id="293" r:id="R4f80cfad6fae4f89"/>
    <p:sldId xmlns:r="http://schemas.openxmlformats.org/officeDocument/2006/relationships" id="294" r:id="R379eb00535fe48eb"/>
    <p:sldId xmlns:r="http://schemas.openxmlformats.org/officeDocument/2006/relationships" id="295" r:id="R2fbc87cdbeb54910"/>
    <p:sldId xmlns:r="http://schemas.openxmlformats.org/officeDocument/2006/relationships" id="296" r:id="R4fb74a72d7094629"/>
    <p:sldId xmlns:r="http://schemas.openxmlformats.org/officeDocument/2006/relationships" id="297" r:id="R8b476923747c4613"/>
    <p:sldId xmlns:r="http://schemas.openxmlformats.org/officeDocument/2006/relationships" id="298" r:id="Re1b9bbdba99e4353"/>
    <p:sldId xmlns:r="http://schemas.openxmlformats.org/officeDocument/2006/relationships" id="299" r:id="R197d852fc5cf4a48"/>
    <p:sldId xmlns:r="http://schemas.openxmlformats.org/officeDocument/2006/relationships" id="300" r:id="Rc0e3559961464de3"/>
    <p:sldId xmlns:r="http://schemas.openxmlformats.org/officeDocument/2006/relationships" id="301" r:id="Ra4967e3c54534ce3"/>
    <p:sldId xmlns:r="http://schemas.openxmlformats.org/officeDocument/2006/relationships" id="302" r:id="Rc21da5a34e29494b"/>
    <p:sldId xmlns:r="http://schemas.openxmlformats.org/officeDocument/2006/relationships" id="303" r:id="Re2cb77a2fe0f49c3"/>
    <p:sldId xmlns:r="http://schemas.openxmlformats.org/officeDocument/2006/relationships" id="304" r:id="Rd902f71223a1429d"/>
    <p:sldId xmlns:r="http://schemas.openxmlformats.org/officeDocument/2006/relationships" id="305" r:id="R1dd24f9b3e6349ab"/>
    <p:sldId xmlns:r="http://schemas.openxmlformats.org/officeDocument/2006/relationships" id="306" r:id="Rfcc917bb9cc14444"/>
    <p:sldId xmlns:r="http://schemas.openxmlformats.org/officeDocument/2006/relationships" id="307" r:id="R468dd96b4d944af8"/>
    <p:sldId xmlns:r="http://schemas.openxmlformats.org/officeDocument/2006/relationships" id="308" r:id="R24c290a8f7174295"/>
    <p:sldId xmlns:r="http://schemas.openxmlformats.org/officeDocument/2006/relationships" id="309" r:id="Rd7dfc3c80d6546e4"/>
    <p:sldId xmlns:r="http://schemas.openxmlformats.org/officeDocument/2006/relationships" id="310" r:id="Rebf842d87f9f4c8a"/>
    <p:sldId xmlns:r="http://schemas.openxmlformats.org/officeDocument/2006/relationships" id="311" r:id="Rd50cc8431f3242b7"/>
    <p:sldId xmlns:r="http://schemas.openxmlformats.org/officeDocument/2006/relationships" id="312" r:id="R972290f99dc542de"/>
    <p:sldId xmlns:r="http://schemas.openxmlformats.org/officeDocument/2006/relationships" id="313" r:id="Ra724b79f84a44fc4"/>
    <p:sldId xmlns:r="http://schemas.openxmlformats.org/officeDocument/2006/relationships" id="314" r:id="Ree5269e955e84aeb"/>
    <p:sldId xmlns:r="http://schemas.openxmlformats.org/officeDocument/2006/relationships" id="315" r:id="R81aa5231a8b04325"/>
    <p:sldId xmlns:r="http://schemas.openxmlformats.org/officeDocument/2006/relationships" id="316" r:id="Rbd8bd8684a364f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3cf89e85ae40c8" /><Relationship Type="http://schemas.openxmlformats.org/officeDocument/2006/relationships/slideMaster" Target="/ppt/slideMasters/slideMaster1.xml" Id="R8c2e39a8c4ef4493" /><Relationship Type="http://schemas.openxmlformats.org/officeDocument/2006/relationships/notesMaster" Target="/ppt/notesMasters/notesMaster1.xml" Id="Rc973f3190b66457e" /><Relationship Type="http://schemas.openxmlformats.org/officeDocument/2006/relationships/presProps" Target="/ppt/presProps.xml" Id="R219f2942eeda420a" /><Relationship Type="http://schemas.openxmlformats.org/officeDocument/2006/relationships/tableStyles" Target="/ppt/tableStyles.xml" Id="Re9019ea43a8341d1" /><Relationship Type="http://schemas.openxmlformats.org/officeDocument/2006/relationships/slide" Target="/ppt/slides/slide1.xml" Id="Rc3d3b6ccc65a421b" /><Relationship Type="http://schemas.openxmlformats.org/officeDocument/2006/relationships/slide" Target="/ppt/slides/slide2.xml" Id="R0fef3fbb3e8340e0" /><Relationship Type="http://schemas.openxmlformats.org/officeDocument/2006/relationships/slide" Target="/ppt/slides/slide3.xml" Id="Rbc174426ee4e46e5" /><Relationship Type="http://schemas.openxmlformats.org/officeDocument/2006/relationships/slide" Target="/ppt/slides/slide4.xml" Id="Rcc9c0f82fb7b4fda" /><Relationship Type="http://schemas.openxmlformats.org/officeDocument/2006/relationships/slide" Target="/ppt/slides/slide5.xml" Id="Rdc13eca36d84485e" /><Relationship Type="http://schemas.openxmlformats.org/officeDocument/2006/relationships/slide" Target="/ppt/slides/slide6.xml" Id="Rd63968ee5fcf45be" /><Relationship Type="http://schemas.openxmlformats.org/officeDocument/2006/relationships/slide" Target="/ppt/slides/slide7.xml" Id="Ra965ba71dee14fc4" /><Relationship Type="http://schemas.openxmlformats.org/officeDocument/2006/relationships/slide" Target="/ppt/slides/slide8.xml" Id="R13a0bcdd327f4deb" /><Relationship Type="http://schemas.openxmlformats.org/officeDocument/2006/relationships/slide" Target="/ppt/slides/slide9.xml" Id="Rf28ec199bdcf4a0e" /><Relationship Type="http://schemas.openxmlformats.org/officeDocument/2006/relationships/slide" Target="/ppt/slides/slide10.xml" Id="Rea98c4dae7864058" /><Relationship Type="http://schemas.openxmlformats.org/officeDocument/2006/relationships/slide" Target="/ppt/slides/slide11.xml" Id="Rc17fd728371d49e9" /><Relationship Type="http://schemas.openxmlformats.org/officeDocument/2006/relationships/slide" Target="/ppt/slides/slide12.xml" Id="Rc094ae418ef44a46" /><Relationship Type="http://schemas.openxmlformats.org/officeDocument/2006/relationships/slide" Target="/ppt/slides/slide13.xml" Id="R099a6baf0c0d4839" /><Relationship Type="http://schemas.openxmlformats.org/officeDocument/2006/relationships/slide" Target="/ppt/slides/slide14.xml" Id="Rab2059be2f7e4859" /><Relationship Type="http://schemas.openxmlformats.org/officeDocument/2006/relationships/slide" Target="/ppt/slides/slide15.xml" Id="R12ca4acd25554623" /><Relationship Type="http://schemas.openxmlformats.org/officeDocument/2006/relationships/slide" Target="/ppt/slides/slide16.xml" Id="R4414934c067d406e" /><Relationship Type="http://schemas.openxmlformats.org/officeDocument/2006/relationships/slide" Target="/ppt/slides/slide17.xml" Id="Re064ce72375b47c4" /><Relationship Type="http://schemas.openxmlformats.org/officeDocument/2006/relationships/slide" Target="/ppt/slides/slide18.xml" Id="R78f08869ff3542a4" /><Relationship Type="http://schemas.openxmlformats.org/officeDocument/2006/relationships/slide" Target="/ppt/slides/slide19.xml" Id="R109335faaf804225" /><Relationship Type="http://schemas.openxmlformats.org/officeDocument/2006/relationships/slide" Target="/ppt/slides/slide20.xml" Id="R1115e60c2f1b4054" /><Relationship Type="http://schemas.openxmlformats.org/officeDocument/2006/relationships/slide" Target="/ppt/slides/slide21.xml" Id="R0024c88094cc438a" /><Relationship Type="http://schemas.openxmlformats.org/officeDocument/2006/relationships/slide" Target="/ppt/slides/slide22.xml" Id="Reb0cdf873e22460e" /><Relationship Type="http://schemas.openxmlformats.org/officeDocument/2006/relationships/slide" Target="/ppt/slides/slide23.xml" Id="R91fe241296c748b1" /><Relationship Type="http://schemas.openxmlformats.org/officeDocument/2006/relationships/slide" Target="/ppt/slides/slide24.xml" Id="R326aedde9e0a4e00" /><Relationship Type="http://schemas.openxmlformats.org/officeDocument/2006/relationships/slide" Target="/ppt/slides/slide25.xml" Id="Rd6976badbf644fb8" /><Relationship Type="http://schemas.openxmlformats.org/officeDocument/2006/relationships/slide" Target="/ppt/slides/slide26.xml" Id="R107e12e9f4994fb1" /><Relationship Type="http://schemas.openxmlformats.org/officeDocument/2006/relationships/slide" Target="/ppt/slides/slide27.xml" Id="R94378f7a46234694" /><Relationship Type="http://schemas.openxmlformats.org/officeDocument/2006/relationships/slide" Target="/ppt/slides/slide28.xml" Id="Ra6c187d5553b456f" /><Relationship Type="http://schemas.openxmlformats.org/officeDocument/2006/relationships/slide" Target="/ppt/slides/slide29.xml" Id="R41ef5e3257064402" /><Relationship Type="http://schemas.openxmlformats.org/officeDocument/2006/relationships/slide" Target="/ppt/slides/slide30.xml" Id="R06af92a55d074097" /><Relationship Type="http://schemas.openxmlformats.org/officeDocument/2006/relationships/slide" Target="/ppt/slides/slide31.xml" Id="R2ed7b0ec75954640" /><Relationship Type="http://schemas.openxmlformats.org/officeDocument/2006/relationships/slide" Target="/ppt/slides/slide32.xml" Id="R29d5eac0c0cc42eb" /><Relationship Type="http://schemas.openxmlformats.org/officeDocument/2006/relationships/slide" Target="/ppt/slides/slide33.xml" Id="Rddf77a6369704c15" /><Relationship Type="http://schemas.openxmlformats.org/officeDocument/2006/relationships/slide" Target="/ppt/slides/slide34.xml" Id="R446ad74ab9b2424c" /><Relationship Type="http://schemas.openxmlformats.org/officeDocument/2006/relationships/slide" Target="/ppt/slides/slide35.xml" Id="R2104f72f6de54f4f" /><Relationship Type="http://schemas.openxmlformats.org/officeDocument/2006/relationships/slide" Target="/ppt/slides/slide36.xml" Id="Ree46efa2cbc44650" /><Relationship Type="http://schemas.openxmlformats.org/officeDocument/2006/relationships/slide" Target="/ppt/slides/slide37.xml" Id="R6258bef529d941df" /><Relationship Type="http://schemas.openxmlformats.org/officeDocument/2006/relationships/slide" Target="/ppt/slides/slide38.xml" Id="R4f80cfad6fae4f89" /><Relationship Type="http://schemas.openxmlformats.org/officeDocument/2006/relationships/slide" Target="/ppt/slides/slide39.xml" Id="R379eb00535fe48eb" /><Relationship Type="http://schemas.openxmlformats.org/officeDocument/2006/relationships/slide" Target="/ppt/slides/slide40.xml" Id="R2fbc87cdbeb54910" /><Relationship Type="http://schemas.openxmlformats.org/officeDocument/2006/relationships/slide" Target="/ppt/slides/slide41.xml" Id="R4fb74a72d7094629" /><Relationship Type="http://schemas.openxmlformats.org/officeDocument/2006/relationships/slide" Target="/ppt/slides/slide42.xml" Id="R8b476923747c4613" /><Relationship Type="http://schemas.openxmlformats.org/officeDocument/2006/relationships/slide" Target="/ppt/slides/slide43.xml" Id="Re1b9bbdba99e4353" /><Relationship Type="http://schemas.openxmlformats.org/officeDocument/2006/relationships/slide" Target="/ppt/slides/slide44.xml" Id="R197d852fc5cf4a48" /><Relationship Type="http://schemas.openxmlformats.org/officeDocument/2006/relationships/slide" Target="/ppt/slides/slide45.xml" Id="Rc0e3559961464de3" /><Relationship Type="http://schemas.openxmlformats.org/officeDocument/2006/relationships/slide" Target="/ppt/slides/slide46.xml" Id="Ra4967e3c54534ce3" /><Relationship Type="http://schemas.openxmlformats.org/officeDocument/2006/relationships/slide" Target="/ppt/slides/slide47.xml" Id="Rc21da5a34e29494b" /><Relationship Type="http://schemas.openxmlformats.org/officeDocument/2006/relationships/slide" Target="/ppt/slides/slide48.xml" Id="Re2cb77a2fe0f49c3" /><Relationship Type="http://schemas.openxmlformats.org/officeDocument/2006/relationships/slide" Target="/ppt/slides/slide49.xml" Id="Rd902f71223a1429d" /><Relationship Type="http://schemas.openxmlformats.org/officeDocument/2006/relationships/slide" Target="/ppt/slides/slide50.xml" Id="R1dd24f9b3e6349ab" /><Relationship Type="http://schemas.openxmlformats.org/officeDocument/2006/relationships/slide" Target="/ppt/slides/slide51.xml" Id="Rfcc917bb9cc14444" /><Relationship Type="http://schemas.openxmlformats.org/officeDocument/2006/relationships/slide" Target="/ppt/slides/slide52.xml" Id="R468dd96b4d944af8" /><Relationship Type="http://schemas.openxmlformats.org/officeDocument/2006/relationships/slide" Target="/ppt/slides/slide53.xml" Id="R24c290a8f7174295" /><Relationship Type="http://schemas.openxmlformats.org/officeDocument/2006/relationships/slide" Target="/ppt/slides/slide54.xml" Id="Rd7dfc3c80d6546e4" /><Relationship Type="http://schemas.openxmlformats.org/officeDocument/2006/relationships/slide" Target="/ppt/slides/slide55.xml" Id="Rebf842d87f9f4c8a" /><Relationship Type="http://schemas.openxmlformats.org/officeDocument/2006/relationships/slide" Target="/ppt/slides/slide56.xml" Id="Rd50cc8431f3242b7" /><Relationship Type="http://schemas.openxmlformats.org/officeDocument/2006/relationships/slide" Target="/ppt/slides/slide57.xml" Id="R972290f99dc542de" /><Relationship Type="http://schemas.openxmlformats.org/officeDocument/2006/relationships/slide" Target="/ppt/slides/slide58.xml" Id="Ra724b79f84a44fc4" /><Relationship Type="http://schemas.openxmlformats.org/officeDocument/2006/relationships/slide" Target="/ppt/slides/slide59.xml" Id="Ree5269e955e84aeb" /><Relationship Type="http://schemas.openxmlformats.org/officeDocument/2006/relationships/slide" Target="/ppt/slides/slide60.xml" Id="R81aa5231a8b04325" /><Relationship Type="http://schemas.openxmlformats.org/officeDocument/2006/relationships/slide" Target="/ppt/slides/slide61.xml" Id="Rbd8bd8684a364f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bbbc5b1ef64c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2fb517323544bb" /><Relationship Type="http://schemas.openxmlformats.org/officeDocument/2006/relationships/notesMaster" Target="/ppt/notesMasters/notesMaster1.xml" Id="Rb16ca9777c184c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17b240aadc493c" /><Relationship Type="http://schemas.openxmlformats.org/officeDocument/2006/relationships/notesMaster" Target="/ppt/notesMasters/notesMaster1.xml" Id="Rc29d1f1eb8a247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38af9e11e34c6c" /><Relationship Type="http://schemas.openxmlformats.org/officeDocument/2006/relationships/notesMaster" Target="/ppt/notesMasters/notesMaster1.xml" Id="R803e9ead32544b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514a4f7ef14c10" /><Relationship Type="http://schemas.openxmlformats.org/officeDocument/2006/relationships/notesMaster" Target="/ppt/notesMasters/notesMaster1.xml" Id="Re8e3476f8e1647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0e49ed657244f1" /><Relationship Type="http://schemas.openxmlformats.org/officeDocument/2006/relationships/notesMaster" Target="/ppt/notesMasters/notesMaster1.xml" Id="Rc40fc32df06b4a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d7477dd8dc4413" /><Relationship Type="http://schemas.openxmlformats.org/officeDocument/2006/relationships/notesMaster" Target="/ppt/notesMasters/notesMaster1.xml" Id="R3dcd4930a1414d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3dcc44e9bf4fe2" /><Relationship Type="http://schemas.openxmlformats.org/officeDocument/2006/relationships/notesMaster" Target="/ppt/notesMasters/notesMaster1.xml" Id="Rbf29b7ee7ab34c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cc1ace7be54e19" /><Relationship Type="http://schemas.openxmlformats.org/officeDocument/2006/relationships/notesMaster" Target="/ppt/notesMasters/notesMaster1.xml" Id="R72b625cf1f894f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beeb98d2a54bf7" /><Relationship Type="http://schemas.openxmlformats.org/officeDocument/2006/relationships/notesMaster" Target="/ppt/notesMasters/notesMaster1.xml" Id="R80b4f312dd9c47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e6af594e224995" /><Relationship Type="http://schemas.openxmlformats.org/officeDocument/2006/relationships/notesMaster" Target="/ppt/notesMasters/notesMaster1.xml" Id="R45fa8b67b53946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bff3ade3214674" /><Relationship Type="http://schemas.openxmlformats.org/officeDocument/2006/relationships/notesMaster" Target="/ppt/notesMasters/notesMaster1.xml" Id="Rf6855a6c187940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41ed32dc7449e9" /><Relationship Type="http://schemas.openxmlformats.org/officeDocument/2006/relationships/notesMaster" Target="/ppt/notesMasters/notesMaster1.xml" Id="Rb66ff6d4ee1841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fd16023eaa4dc8" /><Relationship Type="http://schemas.openxmlformats.org/officeDocument/2006/relationships/notesMaster" Target="/ppt/notesMasters/notesMaster1.xml" Id="Ra8725ee12dcd409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ce77d304834660" /><Relationship Type="http://schemas.openxmlformats.org/officeDocument/2006/relationships/notesMaster" Target="/ppt/notesMasters/notesMaster1.xml" Id="Rd3f39538ff0743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7257ef8ae7445f" /><Relationship Type="http://schemas.openxmlformats.org/officeDocument/2006/relationships/notesMaster" Target="/ppt/notesMasters/notesMaster1.xml" Id="R5a98b228a34447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510d87e7244895" /><Relationship Type="http://schemas.openxmlformats.org/officeDocument/2006/relationships/notesMaster" Target="/ppt/notesMasters/notesMaster1.xml" Id="Rb8f227b5b15641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e00b88245447de" /><Relationship Type="http://schemas.openxmlformats.org/officeDocument/2006/relationships/notesMaster" Target="/ppt/notesMasters/notesMaster1.xml" Id="R311d6f13389f4e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dad360267a47e6" /><Relationship Type="http://schemas.openxmlformats.org/officeDocument/2006/relationships/notesMaster" Target="/ppt/notesMasters/notesMaster1.xml" Id="R1f3439966d3842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8d8fd328d54d38" /><Relationship Type="http://schemas.openxmlformats.org/officeDocument/2006/relationships/notesMaster" Target="/ppt/notesMasters/notesMaster1.xml" Id="R407032581d29411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022385143d4e58" /><Relationship Type="http://schemas.openxmlformats.org/officeDocument/2006/relationships/notesMaster" Target="/ppt/notesMasters/notesMaster1.xml" Id="Ra82fa7877f974f0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f9e4041a55436d" /><Relationship Type="http://schemas.openxmlformats.org/officeDocument/2006/relationships/notesMaster" Target="/ppt/notesMasters/notesMaster1.xml" Id="R82cec9d89c6d4a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fed3c821d54472" /><Relationship Type="http://schemas.openxmlformats.org/officeDocument/2006/relationships/notesMaster" Target="/ppt/notesMasters/notesMaster1.xml" Id="Rd59b9350185f41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0cddb0d7c024eed" /><Relationship Type="http://schemas.openxmlformats.org/officeDocument/2006/relationships/notesMaster" Target="/ppt/notesMasters/notesMaster1.xml" Id="Rde7708d9f87740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785921fdfa4326" /><Relationship Type="http://schemas.openxmlformats.org/officeDocument/2006/relationships/notesMaster" Target="/ppt/notesMasters/notesMaster1.xml" Id="Rc35f3da121b649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c0012129e64ee1" /><Relationship Type="http://schemas.openxmlformats.org/officeDocument/2006/relationships/notesMaster" Target="/ppt/notesMasters/notesMaster1.xml" Id="R5f9b41f3761e40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aa9c40d7ac4401b" /><Relationship Type="http://schemas.openxmlformats.org/officeDocument/2006/relationships/notesMaster" Target="/ppt/notesMasters/notesMaster1.xml" Id="Rcb61a7b8aa284b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0ef4cc7c9c2456c" /><Relationship Type="http://schemas.openxmlformats.org/officeDocument/2006/relationships/notesMaster" Target="/ppt/notesMasters/notesMaster1.xml" Id="R0d63304d721d49a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61c1f7f6a9b4912" /><Relationship Type="http://schemas.openxmlformats.org/officeDocument/2006/relationships/notesMaster" Target="/ppt/notesMasters/notesMaster1.xml" Id="R05e95c5a98fb42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d3460ab96d34fe6" /><Relationship Type="http://schemas.openxmlformats.org/officeDocument/2006/relationships/notesMaster" Target="/ppt/notesMasters/notesMaster1.xml" Id="R7cb6bfc109064a7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615688e0e464f68" /><Relationship Type="http://schemas.openxmlformats.org/officeDocument/2006/relationships/notesMaster" Target="/ppt/notesMasters/notesMaster1.xml" Id="R7eb2855761c140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2b4f05a823b48c4" /><Relationship Type="http://schemas.openxmlformats.org/officeDocument/2006/relationships/notesMaster" Target="/ppt/notesMasters/notesMaster1.xml" Id="Rf31d08c359a54b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2b83e8d1551453a" /><Relationship Type="http://schemas.openxmlformats.org/officeDocument/2006/relationships/notesMaster" Target="/ppt/notesMasters/notesMaster1.xml" Id="R0bb788fbbb2e4bc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b1eae219cd8420f" /><Relationship Type="http://schemas.openxmlformats.org/officeDocument/2006/relationships/notesMaster" Target="/ppt/notesMasters/notesMaster1.xml" Id="R7c24fd823047486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9eec4443b044aa" /><Relationship Type="http://schemas.openxmlformats.org/officeDocument/2006/relationships/notesMaster" Target="/ppt/notesMasters/notesMaster1.xml" Id="R97103617412b44c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c8e2fcd15a472b" /><Relationship Type="http://schemas.openxmlformats.org/officeDocument/2006/relationships/notesMaster" Target="/ppt/notesMasters/notesMaster1.xml" Id="Rfa33853a68ef4b7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c83b2861c5643cc" /><Relationship Type="http://schemas.openxmlformats.org/officeDocument/2006/relationships/notesMaster" Target="/ppt/notesMasters/notesMaster1.xml" Id="R72885dbbef0444a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057897e8d04c68" /><Relationship Type="http://schemas.openxmlformats.org/officeDocument/2006/relationships/notesMaster" Target="/ppt/notesMasters/notesMaster1.xml" Id="Re8d40241f17149c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f5b8fda988d41f4" /><Relationship Type="http://schemas.openxmlformats.org/officeDocument/2006/relationships/notesMaster" Target="/ppt/notesMasters/notesMaster1.xml" Id="R62ae82912f1f46e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b587b2523e5465b" /><Relationship Type="http://schemas.openxmlformats.org/officeDocument/2006/relationships/notesMaster" Target="/ppt/notesMasters/notesMaster1.xml" Id="R7d70f5c90e854bb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77141770ad04288" /><Relationship Type="http://schemas.openxmlformats.org/officeDocument/2006/relationships/notesMaster" Target="/ppt/notesMasters/notesMaster1.xml" Id="Re536275fadc64c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e6c31a5ebe948d4" /><Relationship Type="http://schemas.openxmlformats.org/officeDocument/2006/relationships/notesMaster" Target="/ppt/notesMasters/notesMaster1.xml" Id="Rb3e10c3db7284f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b12068018c54876" /><Relationship Type="http://schemas.openxmlformats.org/officeDocument/2006/relationships/notesMaster" Target="/ppt/notesMasters/notesMaster1.xml" Id="R3504fb89ab5f4d2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782791be63b48af" /><Relationship Type="http://schemas.openxmlformats.org/officeDocument/2006/relationships/notesMaster" Target="/ppt/notesMasters/notesMaster1.xml" Id="Rd7f539428c21473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64fb0aa99f64db4" /><Relationship Type="http://schemas.openxmlformats.org/officeDocument/2006/relationships/notesMaster" Target="/ppt/notesMasters/notesMaster1.xml" Id="R3c7172142438474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65f904de4ff4cec" /><Relationship Type="http://schemas.openxmlformats.org/officeDocument/2006/relationships/notesMaster" Target="/ppt/notesMasters/notesMaster1.xml" Id="R5a0e087405af447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b613a071f384782" /><Relationship Type="http://schemas.openxmlformats.org/officeDocument/2006/relationships/notesMaster" Target="/ppt/notesMasters/notesMaster1.xml" Id="Rf4555d78b12f423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c4af0a18a8a42f1" /><Relationship Type="http://schemas.openxmlformats.org/officeDocument/2006/relationships/notesMaster" Target="/ppt/notesMasters/notesMaster1.xml" Id="Rd53556cee8284df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50921967e374336" /><Relationship Type="http://schemas.openxmlformats.org/officeDocument/2006/relationships/notesMaster" Target="/ppt/notesMasters/notesMaster1.xml" Id="R8c2accfa8b1f431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2793d637ff14d4e" /><Relationship Type="http://schemas.openxmlformats.org/officeDocument/2006/relationships/notesMaster" Target="/ppt/notesMasters/notesMaster1.xml" Id="Rf78721320534403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6efe398d02a44dd" /><Relationship Type="http://schemas.openxmlformats.org/officeDocument/2006/relationships/notesMaster" Target="/ppt/notesMasters/notesMaster1.xml" Id="R93e9e03a28b8453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502cc67a9384930" /><Relationship Type="http://schemas.openxmlformats.org/officeDocument/2006/relationships/notesMaster" Target="/ppt/notesMasters/notesMaster1.xml" Id="R46c8b52e675a4d9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da00b7d82be493d" /><Relationship Type="http://schemas.openxmlformats.org/officeDocument/2006/relationships/notesMaster" Target="/ppt/notesMasters/notesMaster1.xml" Id="R463001c1882e445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46c11007b5d437d" /><Relationship Type="http://schemas.openxmlformats.org/officeDocument/2006/relationships/notesMaster" Target="/ppt/notesMasters/notesMaster1.xml" Id="R2c6f2e2062ca481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46ab0dbd9f54e70" /><Relationship Type="http://schemas.openxmlformats.org/officeDocument/2006/relationships/notesMaster" Target="/ppt/notesMasters/notesMaster1.xml" Id="R125ec5410bd7423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302bb7a24dc46fa" /><Relationship Type="http://schemas.openxmlformats.org/officeDocument/2006/relationships/notesMaster" Target="/ppt/notesMasters/notesMaster1.xml" Id="Rca8d262c72874a3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2a61c802fd446bf" /><Relationship Type="http://schemas.openxmlformats.org/officeDocument/2006/relationships/notesMaster" Target="/ppt/notesMasters/notesMaster1.xml" Id="Ra1bd0de5320748d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8d58884798649e2" /><Relationship Type="http://schemas.openxmlformats.org/officeDocument/2006/relationships/notesMaster" Target="/ppt/notesMasters/notesMaster1.xml" Id="R15df268b1c3b4cd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72ba3a89f0c47dd" /><Relationship Type="http://schemas.openxmlformats.org/officeDocument/2006/relationships/notesMaster" Target="/ppt/notesMasters/notesMaster1.xml" Id="R52e86433d21844e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5c5f2a78d99453c" /><Relationship Type="http://schemas.openxmlformats.org/officeDocument/2006/relationships/notesMaster" Target="/ppt/notesMasters/notesMaster1.xml" Id="Rf4e08b48959c4eb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76cb67619944280" /><Relationship Type="http://schemas.openxmlformats.org/officeDocument/2006/relationships/notesMaster" Target="/ppt/notesMasters/notesMaster1.xml" Id="Rf7c1354b49e24fe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ad699aeb6f241dc" /><Relationship Type="http://schemas.openxmlformats.org/officeDocument/2006/relationships/notesMaster" Target="/ppt/notesMasters/notesMaster1.xml" Id="R7d79590a5b574c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Einheit richtet sich an Anwender:innen mit einfachen SQL-Grundkenntnissen und ohne vorausgesetzte KI-Erfahrung. Die Einführung entwickelt Begriffe am gleichen synthetischen Wissensbasisfall und führt eine kleine Read-only-SQL-Übung Schritt für Schritt vor. SELECT und ORDER BY sind hilfreich und werden am Beispiel eingeordnet. Modellzugänge und Previewkonfiguration sind für diesen Einstieg nicht erforderlich. Danach folgen die bestehenden Fachmodule und manifestbasierten Offline-Demos auf einer eigens vorbereiteten Labinstanz. Die neun implementierten Offline-Demos besitzen begrenzte lokale Nachweise. Die weiteren neun Entwürfe besitzen eigene offene Gates. Live-Provider, vollständige Performancequalifikation, Teilnehmererprobung und Generalprobe sind damit nicht freigegeben. Begriffe und Übungen ergänzt das Offline-Arbeitsheft.</a:t>
            </a:r>
          </a:p>
          <a:p xmlns:a="http://schemas.openxmlformats.org/drawingml/2006/main">
            <a:r>
              <a:t/>
            </a:r>
          </a:p>
          <a:p xmlns:a="http://schemas.openxmlformats.org/drawingml/2006/main">
            <a:r>
              <a:t>VERTIEFUNG-Folie 1, Quellfolie 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Didaktische Einführung. Frage an die Gruppe: Welche Informationen brauchen Sie, um eine technische Frage zuverlässig zu beantworten? Erwartete Antworten: die passende Quelle, ihre aktuelle Fassung und die Berechtigung zum Lesen. An diese bekannten Anforderungen knüpft die Einheit an. Die kleine Vektorübung zeigt später eine zusätzliche Suchmöglichkeit mit ausschließlich festen Zahlen. Vorwissen in Statistik, Modelltraining oder Cloudbereitstellung ist dafür nicht erforderlich. Erklären Sie neue Begriffe beim ersten Auftreten und lassen Sie die Gruppe den Unterschied zwischen einer Tabellenzeile und einem formulierten Antwortsatz wiedergeben. Übergang: Zunächst betrachten wir die Frage, bevor wir ein Werkzeug auswählen.</a:t>
            </a:r>
          </a:p>
          <a:p xmlns:a="http://schemas.openxmlformats.org/drawingml/2006/main">
            <a:r>
              <a:t/>
            </a:r>
          </a:p>
          <a:p xmlns:a="http://schemas.openxmlformats.org/drawingml/2006/main">
            <a:r>
              <a:t>VERTIEFUNG-Folie 2, Quellfolie 2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.ai/PROJECT_CONTEXT.md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 eigenständiger synthetischer Einstiegskorpus, keine neue Demoimplementierung und keine behauptete Ausgabe einer bestehenden Demo. MOD_A ist ein imaginärer technischer Baustein. Die Texte und ihre festen Zuordnungen dienen der gemeinsamen Diskussion. Frage: Was könnte schiefgehen, wenn eine Suche beide Fassungen gleich behandelt? Erwartete Antwort: Eine veraltete Fassung kann die Antwort beeinflussen oder einen scheinbaren Widerspruch erzeugen. Eine flüssige Formulierung löst dieses Versionsproblem nicht. Übergang: Wir halten die kleinen Dokumente mit Kennung und Fassung sichtbar fest.</a:t>
            </a:r>
          </a:p>
          <a:p xmlns:a="http://schemas.openxmlformats.org/drawingml/2006/main">
            <a:r>
              <a:t/>
            </a:r>
          </a:p>
          <a:p xmlns:a="http://schemas.openxmlformats.org/drawingml/2006/main">
            <a:r>
              <a:t>VERTIEFUNG-Folie 3, Quellfolie 3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Dokument 2 für die konkrete MOD_A-Frage auswählen. Antwort: Es betrifft das richtige Modul und seine aktuelle Fassung. Dokument 1 ist veraltet. Dokument 3 ist aktuell, betrifft aber ein anderes Modul. Frage: Reicht die Zahl sieben als gespeichertes Ergebnis? Erwartete Antwort: Für eine überprüfbare Antwort benötigen wir zusätzlich Dokumentkennung, Fassung und den stützenden Textbereich. Alle drei vollständigen Sätze sind synthetisch. Es gibt hier keine Aussage über reale Aufbewahrungsfristen. Übergang: Eine SELECT-Abfrage liefert solche Daten als Rows.</a:t>
            </a:r>
          </a:p>
          <a:p xmlns:a="http://schemas.openxmlformats.org/drawingml/2006/main">
            <a:r>
              <a:t/>
            </a:r>
          </a:p>
          <a:p xmlns:a="http://schemas.openxmlformats.org/drawingml/2006/main">
            <a:r>
              <a:t>VERTIEFUNG-Folie 4, Quellfolie 4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gezeigte Abfrage ist vollständig und benötigt keine eigene Tabelle. Sie ist eine Illustration des bekannten tabellarischen Ergebnisformats. Der feste VALUES-Ausdruck enthält bereits die ausgewählte Fassung. Er sucht oder prüft nicht selbstständig, ob ein Dokument aktuell ist. Frage: Woher kennt SQL hier die sieben Tage? Antwort: Aus dem ausdrücklich angegebenen Literalwert. Es gibt weder Training noch Modellaufruf. Die Statements schreiben keine persistenten Daten. Ein späterer praktischer Versuch erfolgt nur auf dem vorbereiteten Schulungsziel. Übergang: Aus einer Row kann eine Anwendung einen Satz formulieren, doch die Herkunft des Werts muss erhalten bleiben.</a:t>
            </a:r>
          </a:p>
          <a:p xmlns:a="http://schemas.openxmlformats.org/drawingml/2006/main">
            <a:r>
              <a:t/>
            </a:r>
          </a:p>
          <a:p xmlns:a="http://schemas.openxmlformats.org/drawingml/2006/main">
            <a:r>
              <a:t>VERTIEFUNG-Folie 5, Quellfolie 5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Logeinträge und Protokolle gelten für diesen didaktischen Fall als alternative Wortwahl. Das ist eine festgelegte Lehrannahme, kein gemessener Sprachmodellbefund. Die erste Frage lässt sich bei bekanntem Datenmodell relational bearbeiten. Die zweite motiviert eine Suche nach Bedeutung. Die dritte zeigt eine Grenze: Unser Quelltext nennt eine Frist, aber keinen Grund. Frage: Darf die Anwendung daraus eine Erklärung für die Frist erfinden? Antwort: Nein, der Grund ist mit diesen Quellen nicht belegt. Ein begründetes Offenlassen ist angemessen. Übergang: Wir benennen nun, was KI-Verfahren in diesem Ablauf leisten sollen.</a:t>
            </a:r>
          </a:p>
          <a:p xmlns:a="http://schemas.openxmlformats.org/drawingml/2006/main">
            <a:r>
              <a:t/>
            </a:r>
          </a:p>
          <a:p xmlns:a="http://schemas.openxmlformats.org/drawingml/2006/main">
            <a:r>
              <a:t>VERTIEFUNG-Folie 6, Quellfolie 6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Tabelle zeigt die Breite als didaktische Anwendungsideen, keine Liste bereits freigegebener Implementierungen. Bei Klassifikation ordnet ein passendes Modell eine Eingabe einer Kategorie zu. Bei Vorhersage liefert es einen Wert für die zuvor definierte Aufgabe. Dafür sind jeweils geeignete Daten, Modellwahl und eigene Bewertung nötig. Die SQL-2025-External-Modeldefinition im behandelten Pfad hat MODEL_TYPE=EMBEDDINGS. AI_GENERATE_EMBEDDINGS ist ein Embeddingzugang. Daraus folgt keine allgemeine native Chat-, Zusammenfassungs-, Vorhersage- oder Klassifikationsfunktion. Antworttext und Zusammenfassung sind im geplanten generativen Pfad Aufgaben der Anwendung und ihres Sprachmodells. SQL-Assistenz gehört ebenfalls zu einem ausdrücklich gewählten Client-/Anwendungspfad. Frage: Würde ein einziger Vektordatentyp alle vier Anwendungen lösen? Antwort: Nein, er ist ein Baustein. Übergang: Für die passende Auswahl erklären wir nun die grundlegenden Begriffe.</a:t>
            </a:r>
          </a:p>
          <a:p xmlns:a="http://schemas.openxmlformats.org/drawingml/2006/main">
            <a:r>
              <a:t/>
            </a:r>
          </a:p>
          <a:p xmlns:a="http://schemas.openxmlformats.org/drawingml/2006/main">
            <a:r>
              <a:t>VERTIEFUNG-Folie 7, Quellfolie 7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CUR-013 / CUR-016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Folie bietet eine einfache Einordnung des breiteren KI-Feldes. Regelbasierte Wissensverarbeitung, Mustererkennung, Vorhersage und Sprachverarbeitung können KI-Anwendungen dienen. Machine Learning bezeichnet darin Verfahren, die Modellverhalten aus Trainingsdaten lernen. Ein regelbasiertes Wissenssystem kann mit ausdrücklich formulierten Regeln arbeiten. Eine generative Textanwendung ist deshalb nur ein möglicher Fall. Frage: Lernt schon ein SELECT aus einer festen VALUES-Row? Antwort: Nein, es verarbeitet die angegebenen Werte nach SQL-Regeln. Nicht jede regelgeleitete Berechnung wird dadurch automatisch zur KI-Anwendung. Das Erstellen einer Tabelle oder fester Geometrievektoren ist ebenfalls kein Modelltraining. Wir beginnen mit dieser Unterscheidung, um später keinen mathematischen Lehrfall als echte Sprachsemantik auszugeben. Übergang: Für unsere späteren Modellpfade betrachten wir nun Modellaufgabe und Eingabe genauer.</a:t>
            </a:r>
          </a:p>
          <a:p xmlns:a="http://schemas.openxmlformats.org/drawingml/2006/main">
            <a:r>
              <a:t/>
            </a:r>
          </a:p>
          <a:p xmlns:a="http://schemas.openxmlformats.org/drawingml/2006/main">
            <a:r>
              <a:t>VERTIEFUNG-Folie 8, Quellfolie 8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Rechenvorschrift umfasst bei einem ML-Modell gelernte Parameter. Für den Einstieg reicht die Eingabe-/Ausgabevorstellung. Vermeiden Sie eine Erklärung, in der ein Modell als Person dargestellt wird, die automatisch unsere Datenbank kennt. Frage: Sind Textsuche und Antwortformulierung dieselbe Aufgabe? Antwort: Nein. Eine numerische Repräsentation kann der Suche dienen. Die Formulierung eines Antworttexts ist ein weiterer Verarbeitungsschritt. Einige Modelle und Anwendungen verbinden mehrere Fähigkeiten, doch die Aufgaben und ihre Ergebnisse werden hier getrennt bewertet. Übergang: Ein vorbereitetes Modell kann verwendet werden, ohne es in der Schulung neu zu trainieren.</a:t>
            </a:r>
          </a:p>
          <a:p xmlns:a="http://schemas.openxmlformats.org/drawingml/2006/main">
            <a:r>
              <a:t/>
            </a:r>
          </a:p>
          <a:p xmlns:a="http://schemas.openxmlformats.org/drawingml/2006/main">
            <a:r>
              <a:t>VERTIEFUNG-Folie 9, Quellfolie 9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Wenn wir MOD_A als neue Tabellenrow speichern, haben wir damit ein Sprachmodell trainiert? Antwort: Nein. Speichern, Suchen, Inferenz und Training sind verschiedene Vorgänge. Eine Anwendung kann aktuelle Dokumente zur Antwort hinzufügen, ohne das vorbereitete Sprachmodell neu zu trainieren. Ein Cloudservice kann Daten je nach Dienst und Funktion unterschiedlich verarbeiten. Aus unserer Erklärung des Anwendungspfads folgt deshalb keine allgemeine Datenschutz- oder Retentiongarantie. Die festen Werte des Einstiegs sind bewusst ohne Modell erzeugt. Übergang: Bei der Textausgabe betrachten wir ein Sprachmodell genauer.</a:t>
            </a:r>
          </a:p>
          <a:p xmlns:a="http://schemas.openxmlformats.org/drawingml/2006/main">
            <a:r>
              <a:t/>
            </a:r>
          </a:p>
          <a:p xmlns:a="http://schemas.openxmlformats.org/drawingml/2006/main">
            <a:r>
              <a:t>VERTIEFUNG-Folie 10, Quellfolie 10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Beispielsatz auf der Folie ist von der Lehrperson fest vorgegeben. Er ist kein Ergebnis eines hier ausgeführten Modellaufrufs. Frage: Woran würden Sie die Antwort prüfen? Erwartete Antwort: Am aktuellen Dokument 2, Fassung v2, und an der Aussage zur Aufbewahrung. Ein Sprachmodell kann plausiblen Text erzeugen, obwohl nötiger Kontext fehlt. Die Qualität der Formulierung und die Qualität des Belegs werden deshalb getrennt bewertet. Vermeiden Sie den Eindruck, ein Modell hätte automatisch Zugriff auf unsere SQL-Tabellen. Diesen Zugriff vermittelt die Anwendung mit den tatsächlichen Rechten. Übergang: Text wird dabei in Verarbeitungseinheiten aufgeteilt.</a:t>
            </a:r>
          </a:p>
          <a:p xmlns:a="http://schemas.openxmlformats.org/drawingml/2006/main">
            <a:r>
              <a:t/>
            </a:r>
          </a:p>
          <a:p xmlns:a="http://schemas.openxmlformats.org/drawingml/2006/main">
            <a:r>
              <a:t>VERTIEFUNG-Folie 11, Quellfolie 11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Nennen Sie den kurzen Satz MOD_A bewahrt Protokolle sieben Tage auf. Lassen Sie die Gruppe Wörter und Zeichen zählen. Frage: Kennen wir damit bereits seine genaue Tokenzahl? Antwort: Nein, dafür benötigen wir den tatsächlich verwendeten Tokenizer. Geben Sie keine erfundene Tokenzerlegung als Produktresultat aus. Tokens können Modelllimits und Requestkosten beeinflussen. Das später erläuterte SQL-FIXED-Chunking arbeitet dagegen mit Zeichenbereichen. Eine Chunkgröße ist daher kein bewiesenes Modelltokenlimit. Übergang: Die beteiligten Komponenten benötigen unterschiedliche Eingaben und liefern unterschiedliche Ergebnisse.</a:t>
            </a:r>
          </a:p>
          <a:p xmlns:a="http://schemas.openxmlformats.org/drawingml/2006/main">
            <a:r>
              <a:t/>
            </a:r>
          </a:p>
          <a:p xmlns:a="http://schemas.openxmlformats.org/drawingml/2006/main">
            <a:r>
              <a:t>VERTIEFUNG-Folie 12, Quellfolie 12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Wer entscheidet, welche SQL-Rows ein Benutzer lesen darf? Antwort: Die tatsächliche Datenbankautorisierung zusammen mit dem festgelegten Anwendungspfad. Das Modell erhält nur den Kontext, den die Anwendung ihm übergibt. Die aktuelle SQL-External-Modeldefinition beschreibt im behandelten Pfad einen Embeddingzugang. Sie hostet nicht automatisch ein allgemeines generatives Chatmodell in der Database Engine. Diese technische Unterscheidung wird in der Vertiefung genauer behandelt. Ein Modell verändert keine Datenbankrechte allein durch seine Ausgabe. Übergang: Für das erste Verständnis können wir diese Komponenten auf einen noch kleineren Offlineversuch reduzieren.</a:t>
            </a:r>
          </a:p>
          <a:p xmlns:a="http://schemas.openxmlformats.org/drawingml/2006/main">
            <a:r>
              <a:t/>
            </a:r>
          </a:p>
          <a:p xmlns:a="http://schemas.openxmlformats.org/drawingml/2006/main">
            <a:r>
              <a:t>VERTIEFUNG-Folie 13, Quellfolie 13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Brauche ich für diese ersten Beispiele schon ChatGPT, Copilot oder ein Cloudkonto? Antwort: Nein. Die festen T-SQL-Werte und die Distanzberechnung rufen keinen Modellservice auf. Frage: Welchen Teil können wir schon ohne Modellzugang verstehen? Antwort: Datentyp, Distanzberechnung, tabellarische Resultate und die Prüfung eines festen Antwortbelegs. Das ist der bewusst kleine Einstiegspfad. Er belegt keine Sprachmodellqualität und führt keinen Provideraufruf aus. Für Personen ohne laufenden SQL Server können die festen Eingaben und erwarteten Werte zunächst gemeinsam auf den Folien besprochen werden. Die praktische Vorführung benötigt anschließend eine passend vorbereitete Testinstanz mit einem Queryclient. Der vorhandene Demo-Ausführungsleitfaden übernimmt spätere vollständige Demos mit ihren eigenen Verträgen. Übergang: Die häufigste erste Hürde ist die Trennung von Server und Client.</a:t>
            </a:r>
          </a:p>
          <a:p xmlns:a="http://schemas.openxmlformats.org/drawingml/2006/main">
            <a:r>
              <a:t/>
            </a:r>
          </a:p>
          <a:p xmlns:a="http://schemas.openxmlformats.org/drawingml/2006/main">
            <a:r>
              <a:t>VERTIEFUNG-Folie 14, Quellfolie 14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Documentation/HowTo/LOCAL_TEST_ENVIRONMENT.md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Engine als das SQL-Server-Programm, das die Query ausführt. Ein Client ist zum Beispiel ein Queryeditor oder sqlcmd. Compatibility Level steuert bestimmte Datenbankverhaltensweisen und ist nicht identisch mit der installierten Engineversion. VECTOR ist laut Microsoft unter allen Compatibility Levels der geeigneten Engine verfügbar. Das vollständige Schulungsprofil verwendet dennoch CL170, unter anderem wegen AI_GENERATE_CHUNKS. Frage: Beweist ein neuer Queryeditor die Verfügbarkeit von VECTOR auf einem älteren Server? Antwort: Nein. Wenn die Engine ungeeignet ist, wird die vorbereitete SQL-2025-Testumgebung benötigt. Es wird hier keine Installation oder Änderung ausgeführt. Übergang: Zwei read-only Abfragen zeigen die getrennten Werte.</a:t>
            </a:r>
          </a:p>
          <a:p xmlns:a="http://schemas.openxmlformats.org/drawingml/2006/main">
            <a:r>
              <a:t/>
            </a:r>
          </a:p>
          <a:p xmlns:a="http://schemas.openxmlformats.org/drawingml/2006/main">
            <a:r>
              <a:t>VERTIEFUNG-Folie 15, Quellfolie 15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Code ist read-only. Die angezeigten Werte sind tatsächliche Umgebungswerte eines späteren praktischen Versuchs und werden nicht für diesen Entwurf als gemessen behauptet. Erwartung im vorbereiteten Schulungsprofil: Major17 und CL170. Eine Ausgabe Major16 ist kein SQL Server2025. Eine17.x-Engine kann eine Datenbank mit niedrigerem CL betreiben. Die Abfrage beweist noch nicht Edition, Rechte, verfügbare Komponente, Clienttransport oder die vollständigen Demovoraussetzungen. Frage: Was tun bei einer Abweichung? Antwort: Erst das Ziel und den vorgesehenen Preflight mit der Lehrperson klären. Keine automatische ALTER-Anweisung ergänzen. Den Compatibility-Level-Bezug entnehmen wir SRC079 und dem gewählten Projektprofil. Reale Namen oder Verbindungsdetails werden nicht in Unterlagen übernommen.</a:t>
            </a:r>
          </a:p>
          <a:p xmlns:a="http://schemas.openxmlformats.org/drawingml/2006/main">
            <a:r>
              <a:t/>
            </a:r>
          </a:p>
          <a:p xmlns:a="http://schemas.openxmlformats.org/drawingml/2006/main">
            <a:r>
              <a:t>VERTIEFUNG-Folie 16, Quellfolie 16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Benötigt die Person, die eine Query versteht, automatisch dieselben Rechte wie die Person, die das Lab einrichtet? Antwort: Nein. Eigene Demo-Setups können Datenbanken oder Rollen anlegen, während unsere DECLARE-/VALUES-/SELECT-Übung keine solchen Rechte benötigt. Die Lehrperson nutzt den vorhandenen Ausführungsleitfaden und bei fehlender Testinstanz die passende Umgebungsanleitung. Der Container-Quickstart ist für sein dort beschriebenes Szenario qualifiziert und wird nicht pauschal zur Freigabe sämtlicher KI-Pfade erklärt. Ein Berechtigungsfehler wird als Voraussetzung untersucht. Er wird nicht mit einer ungeprüften Rechteerweiterung gelöst. Die praktische Übung erfolgt auf dem vorbereiteten Schulungsziel. Übergang: Nun können wir die festen Zahlen kennenlernen.</a:t>
            </a:r>
          </a:p>
          <a:p xmlns:a="http://schemas.openxmlformats.org/drawingml/2006/main">
            <a:r>
              <a:t/>
            </a:r>
          </a:p>
          <a:p xmlns:a="http://schemas.openxmlformats.org/drawingml/2006/main">
            <a:r>
              <a:t>VERTIEFUNG-Folie 17, Quellfolie 17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Documentation/HowTo/LOCAL_TEST_ENVIRONMENT.md</a:t>
            </a:r>
          </a:p>
          <a:p xmlns:a="http://schemas.openxmlformats.org/drawingml/2006/main">
            <a:r>
              <a:t/>
            </a:r>
          </a:p>
          <a:p xmlns:a="http://schemas.openxmlformats.org/drawingml/2006/main">
            <a:r>
              <a:t>Projektquelle: Documentation/HowTo/CONTAINER_QUICKSTART.md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Didaktische Zuordnung: CUR-014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Zeigen Sie die drei Positionen in [1,0,0], ohne ihnen Wörter oder eine gemessene Sprachbedeutung zuzuweisen. In dieser geometrischen Übung stellen sie Koordinaten dar. Dimension3 bedeutet drei Komponenten. Die Richtung [1,0,0] zeigt entlang einer Achse, [0,1,0] entlang einer anderen und [-1,0,0] in die Gegenrichtung. Alle drei Vektoren sind Nichtnullvektoren mit Länge1. Die Cosine-Distanz wird deshalb an einem besonders einfachen Fall erklärt. Frage: Hat SQL hier Textverständnis erzeugt? Antwort: Nein, wir haben Zahlen vorgegeben und werden Mathematik anwenden. Echte Textembeddings erläutern wir erst nach der Übung.</a:t>
            </a:r>
          </a:p>
          <a:p xmlns:a="http://schemas.openxmlformats.org/drawingml/2006/main">
            <a:r>
              <a:t/>
            </a:r>
          </a:p>
          <a:p xmlns:a="http://schemas.openxmlformats.org/drawingml/2006/main">
            <a:r>
              <a:t>VERTIEFUNG-Folie 18, Quellfolie 18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zunächst nur die Rangfolge vorhersagen. Erwartete Reihenfolge: Id1, Id2, Id3. Begründen lassen: Gleiche Richtung ist näher als senkrechte und entgegengesetzte Richtung. Die verwendete Distanz ist eins minus Cosine-Ähnlichkeit. Für unsere Nichtnull-Einheitsvektoren sind die Ähnlichkeiten1,0,−1 und die Distanzen deshalb0,1,2. Diese Werte sind mathematische Sollwerte des ausdrücklich konstruierten Falls, kein protokollierter SQL-Lauf. Erklären Sie bei Bedarf die Begriffe senkrecht und Gegenrichtung verbal. Erst die folgende Query zeigt die Zuordnung zum SQL-Ausdruck. Es gibt hier keine realen Dokumentembeddings oder Relevanzurteile.</a:t>
            </a:r>
          </a:p>
          <a:p xmlns:a="http://schemas.openxmlformats.org/drawingml/2006/main">
            <a:r>
              <a:t/>
            </a:r>
          </a:p>
          <a:p xmlns:a="http://schemas.openxmlformats.org/drawingml/2006/main">
            <a:r>
              <a:t>VERTIEFUNG-Folie 19, Quellfolie 19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Vollständiges kopierbares Lehrbeispiel:</a:t>
            </a:r>
          </a:p>
          <a:p xmlns:a="http://schemas.openxmlformats.org/drawingml/2006/main">
            <a:r>
              <a:t>DECLARE @q VECTOR(3) = '[1,0,0]';</a:t>
            </a:r>
          </a:p>
          <a:p xmlns:a="http://schemas.openxmlformats.org/drawingml/2006/main">
            <a:r>
              <a:t>SELECT Id, VECTOR_DISTANCE('cosine', @q, CAST(V AS VECTOR(3))) AS D</a:t>
            </a:r>
          </a:p>
          <a:p xmlns:a="http://schemas.openxmlformats.org/drawingml/2006/main">
            <a:r>
              <a:t>FROM (VALUES (1,'[1,0,0]'),(2,'[0,1,0]'),(3,'[-1,0,0]')) d(Id,V)</a:t>
            </a:r>
          </a:p>
          <a:p xmlns:a="http://schemas.openxmlformats.org/drawingml/2006/main">
            <a:r>
              <a:t>ORDER BY D, Id;</a:t>
            </a:r>
          </a:p>
          <a:p xmlns:a="http://schemas.openxmlformats.org/drawingml/2006/main">
            <a:r>
              <a:t/>
            </a:r>
          </a:p>
          <a:p xmlns:a="http://schemas.openxmlformats.org/drawingml/2006/main">
            <a:r>
              <a:t>Diese Query legt keine Tabelle an, schreibt keine Daten und ruft kein Modell auf. Die angeleitete Vorführung setzt die vorbereitete Engine 17.x voraus. Frage: Welche Zahl ist der Fragevektor? Antwort: @q. Welche Werte werden verglichen? Antwort: Die drei ausdrücklich angegebenen V-Zeichenfolgen nach der Konvertierung zu VECTOR(3). Die Funktion berechnet für jede Row eine exakte Distanz. ORDER BY D,Id legt die Reihenfolge fest und löst gleiche Distanzwerte nach Id auf. VECTOR_DISTANCE nutzt dafür keinen Vector Index. Die resultierenden Sollwerte stehen auf der nächsten Folie. Diese angeleitete Vorführung ist ein didaktischer read-only Ausdruck, keine neue katalogisierte Demo, keine bewertete Arbeitsheftaufgabe und keine zusätzliche Runtimefreigabe. Es gibt hierfür keine neue Rubrik. Die bestehenden bewerteten Aufgaben, Trainerlösungen und Bewertungsrubrik bleiben ausschließlich im Arbeitsheft.</a:t>
            </a:r>
          </a:p>
          <a:p xmlns:a="http://schemas.openxmlformats.org/drawingml/2006/main">
            <a:r>
              <a:t/>
            </a:r>
          </a:p>
          <a:p xmlns:a="http://schemas.openxmlformats.org/drawingml/2006/main">
            <a:r>
              <a:t>VERTIEFUNG-Folie 20, Quellfolie 20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Frage: Was bedeutet der erste Treffer? Antwort: Id1 ist unter der gewählten Metric und den vorgegebenen Zahlen am nächsten. Frage: Bedeutet Distanz0, dass ein Antworttext mit100Prozent Wahrscheinlichkeit wahr ist? Antwort: Nein. Die Distanz bezieht sich auf Zahlen im gewählten Raum und ist keine Antwortwahrscheinlichkeit. Die mathematischen Sollwerte0,1,2 sind direkt aus den drei Einheitsvektoren hergeleitet, keine erhobene Runtimeevidenz. Bei einem praktischen Lauf erst tatsächliche Rows und die sichtbare numerische Darstellung lesen. Sehr kleine Rundungsabweichungen werden begründet eingeordnet und dürfen keine geänderten Kandidaten oder andere Metric verbergen. Übergang: Für Textsuche muss noch erklärt werden, wo geeignete Zahlen überhaupt herkommen.</a:t>
            </a:r>
          </a:p>
          <a:p xmlns:a="http://schemas.openxmlformats.org/drawingml/2006/main">
            <a:r>
              <a:t/>
            </a:r>
          </a:p>
          <a:p xmlns:a="http://schemas.openxmlformats.org/drawingml/2006/main">
            <a:r>
              <a:t>VERTIEFUNG-Folie 21, Quellfolie 21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bedeutet hier eine modellabhängige numerische Repräsentation von Text. Rückbezug zur Frage Wann verschwinden die Logeinträge: Ein geeignetes Textmodell könnte unterschiedliche Formulierungen nahe abbilden. Das ist eine zu bewertende Anwendungsidee, kein in dieser Einführung gemessenes Ergebnis. Die Frage und die Quellen müssen zum selben geeigneten Modellraum gehören. Gleiche Dimensionszahl allein genügt nicht. Modellversion, Dimension und Normalisierung werden bei gespeicherten Embeddings nachvollziehbar gehalten. Jede Koordinate ist nicht einfach einem verständlichen Wort zuzuordnen. Das Suchmodell und ein Modell zur Antwortformulierung können unterschiedliche Komponenten sein. Übergang: Der echte Modellpfad bringt zusätzliche praktische Hürden mit sich.</a:t>
            </a:r>
          </a:p>
          <a:p xmlns:a="http://schemas.openxmlformats.org/drawingml/2006/main">
            <a:r>
              <a:t/>
            </a:r>
          </a:p>
          <a:p xmlns:a="http://schemas.openxmlformats.org/drawingml/2006/main">
            <a:r>
              <a:t>VERTIEFUNG-Folie 22, Quellfolie 22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CUR-013 /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Provider ist der Dienst, der das vorbereitete Modell ausführt. Im direkten SQL-External-Modelpfad verlangt Microsoft einen HTTPS-Endpunkt mit TLS, einem Verfahren für verschlüsselten Transport. Diese Prüfung ist mehr als die Frage, ob ein Dienst im Browser antwortet. Bei Containern bezeichnet localhost den jeweiligen Ausführungskontext. Rechte für Modellnutzung bleiben von Einrichtungs- und Credentialrechten getrennt. Ein lokal laufendes Modell benötigt ebenfalls Prüfung von Modelllizenz, Ressourcen und Eingaben. Das bedeutet nicht, dass sämtliche Daten automatisch das Gerät verlassen. Der jeweilige Datenfluss entscheidet. Kostenangaben, Retention und Verarbeitung unterscheiden sich nach Modell und Dienst. Es gibt keine allgemeine Nullkosten- oder Datenschutzgarantie. Diese Folie erklärt einen späteren Pfad und startet keinen Modellcall, keine Cloudbereitstellung und keine Instanzaktivierung. Bei fehlenden Voraussetzungen bleiben wir beim Offlineeinstieg. Frage: Welche dieser Hürden entfällt in unserer festen Zahlenübung? Antwort: Ein Modellrequest und dessen Providerkonfiguration sind dort nicht beteiligt.</a:t>
            </a:r>
          </a:p>
          <a:p xmlns:a="http://schemas.openxmlformats.org/drawingml/2006/main">
            <a:r>
              <a:t/>
            </a:r>
          </a:p>
          <a:p xmlns:a="http://schemas.openxmlformats.org/drawingml/2006/main">
            <a:r>
              <a:t>VERTIEFUNG-Folie 23, Quellfolie 23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den kurzen Einstiegssatz kann der gesamte Satz ein Textbereich sein. Bei längeren Dokumenten entstehen mehrere Chunks. Provenienz bedeutet nachvollziehbare Herkunft und Verarbeitung. Dazu gehören Dokumentkennung, Fassung, Reihenfolge, Anfang und Länge des Bereichs. Diese Felder werden in den anschließenden Demos konkret untersucht. Die SQL-Funktion AI_GENERATE_CHUNKS benötigt mindestens Compatibility Level170. Ihr FIXED-Verfahren verwendet Zeichenbereiche und ist kein Modelltokenizer. Frage: Was verlieren wir, wenn wir nur den Satz und seine Zahlenliste speichern? Antwort: Die Verbindung zur überprüfbaren Quelle und ihrer aktuellen Fassung. Übergang: Ein solcher erlaubter Quellenausschnitt kann Kontext für einen Antwortentwurf bilden.</a:t>
            </a:r>
          </a:p>
          <a:p xmlns:a="http://schemas.openxmlformats.org/drawingml/2006/main">
            <a:r>
              <a:t/>
            </a:r>
          </a:p>
          <a:p xmlns:a="http://schemas.openxmlformats.org/drawingml/2006/main">
            <a:r>
              <a:t>VERTIEFUNG-Folie 24, Quellfolie 24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CUR-015 /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bezeichnet die Verbindung von abgerufenem Kontext und generativer Antwort. Retrieval heißt hier das Suchen und Bereitstellen von Quellen. Die Architektur wurde bereits mit den getrennten Rollen vorbereitet. Frage: Trainieren wir das Modell mit jeder neuen Frage automatisch neu? Antwort: Nein, die Anwendung kann dem vorbereiteten Modell neuen Kontext bereitstellen. Sie muss dabei sowohl Zugriffsrechte als auch Quellenstand beachten. Ein erlaubter Text allein stützt noch nicht jeden erzeugten Satz. Der kurze folgende Fall arbeitet mit ausdrücklich vorgegebenen Antworten, damit die Gruppe die Belegentscheidung gemeinsam prüfen kann. Das ist ein Offline-Kontrollfall und keine Livegeneration. Übergang: Wir lesen Frage, Quelle und Antwort nebeneinander.</a:t>
            </a:r>
          </a:p>
          <a:p xmlns:a="http://schemas.openxmlformats.org/drawingml/2006/main">
            <a:r>
              <a:t/>
            </a:r>
          </a:p>
          <a:p xmlns:a="http://schemas.openxmlformats.org/drawingml/2006/main">
            <a:r>
              <a:t>VERTIEFUNG-Folie 25, Quellfolie 25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Documentation/HowTo/SQL_SERVER_2025_AI_OFFLINE_GLOSSARY.md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Antwort freigeben oder zurückweisen und die Entscheidung an einem sichtbaren Beleg festmachen. Erwartete Entscheidung für diesen festen Lehrfall: Die Fristaussage ist durch die aktuelle erlaubte Quelle gestützt. Frage: Welche zusätzliche Behauptung wäre noch nicht belegt? Antwort: Eine Begründung, warum die Frist sieben Tage beträgt. Unser Dokument nennt keinen Grund. Die Existenz einer Dokumentkennung genügt nicht, wenn der zitierte Satz außerhalb des tatsächlich gelieferten Kontexts liegt. Der Antwortentwurf ist hier vorgegeben und nicht mit einem Modell erzeugt. Übergang: Jetzt prüfen wir dieselbe Regel an einer falschen und an einer unbeantwortbaren Frage.</a:t>
            </a:r>
          </a:p>
          <a:p xmlns:a="http://schemas.openxmlformats.org/drawingml/2006/main">
            <a:r>
              <a:t/>
            </a:r>
          </a:p>
          <a:p xmlns:a="http://schemas.openxmlformats.org/drawingml/2006/main">
            <a:r>
              <a:t>VERTIEFUNG-Folie 26, Quellfolie 26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Geben Sie dieselbe aktuelle Quelle aus Dokument2 vor. Erst die falsche14-Tage-Antwort besprechen. Frage: Reicht eine korrekte Quellenkennung für diese Antwort? Antwort: Nein, ihr Inhalt widerspricht dem Quelleninhalt. Danach die Warum-Frage behandeln. Der passende feste Nichtantworttext lautet: Die aktuelle Anleitung nennt sieben Tage, erklärt den Grund aber nicht. Die Gruppe soll zwischen falscher Antwort und fehlender Information unterscheiden. Eine leere Ausgabe allein erklärt keine dieser Situationen. Eine begründete Nichtantwort macht die fehlende Evidenz sichtbar. Diese Lehrfälle greifen die späteren Offline-RAG-Kontrollen auf, ersetzen aber deren vollständigen Ergebnisvertrag nicht. Übergang: Mit diesen Kriterien können wir nun die konkreten SQL-Demos verstehen.</a:t>
            </a:r>
          </a:p>
          <a:p xmlns:a="http://schemas.openxmlformats.org/drawingml/2006/main">
            <a:r>
              <a:t/>
            </a:r>
          </a:p>
          <a:p xmlns:a="http://schemas.openxmlformats.org/drawingml/2006/main">
            <a:r>
              <a:t>VERTIEFUNG-Folie 27, Quellfolie 27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Kurzer Verständnischeck vor dem Übergang: Woher stammen unsere ersten drei Vektoren? Antwort: Aus ausdrücklich gesetzten Geometriewerten. Was liefert ein echtes Embedding-Modell? Antwort: Eine modellabhängige numerische Repräsentation der Eingabe. Was prüft unsere sieben-Tage-Antwort? Antwort: Eine konkrete aktuelle Quellenstelle im erlaubten Kontext. Was tun wir bei fehlendem Modellzugang? Antwort: Den lokalen Offlinepfad und seine begrenzten Lernziele nutzen. Die folgenden vorhandenen Folien führen die konkreten Demo-IDs, Voraussetzungen, Ergebnisverträge und offenen Vertiefungspfade ein. Keine zusätzlichen Modell-, Cloud- oder Hosteffekte aus den Einführungscodebeispielen ableiten. Lehrperson fragt vor dem Demostart nach tatsächlichem Ziel, Preflight und dokumentiertem Cleanup. Lehrzeiten und Lernwirksamkeit dieser neuen Einsteigerfolge sind noch nicht erprobt.</a:t>
            </a:r>
          </a:p>
          <a:p xmlns:a="http://schemas.openxmlformats.org/drawingml/2006/main">
            <a:r>
              <a:t/>
            </a:r>
          </a:p>
          <a:p xmlns:a="http://schemas.openxmlformats.org/drawingml/2006/main">
            <a:r>
              <a:t>VERTIEFUNG-Folie 28, Quellfolie 28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Documentation/HowTo/DEMO_EXECUTION_GUIDE.md</a:t>
            </a:r>
          </a:p>
          <a:p xmlns:a="http://schemas.openxmlformats.org/drawingml/2006/main">
            <a:r>
              <a:t/>
            </a:r>
          </a:p>
          <a:p xmlns:a="http://schemas.openxmlformats.org/drawingml/2006/main">
            <a:r>
              <a:t>Didaktische Zuordnung: CUR-013 / CUR-014 / CUR-017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synthetische Beispiel verwendet geometrische Vektoren mit drei Komponenten. Es benötigt kein Modell und erklärt keine reale Sprachsemantik. Die Payloadabschätzung 4d beziehungsweise 2d ist kein gemessener Tabellen- oder Indexspeicher. Tatsächliche Allocations und weitere Spalten sind gesondert zu messen. VECTORPROPERTY liefert Dimensions- und Basistypinformation. Diese Metadaten ersetzen keine Modellkennung, keinen Digest und keine Versionsbindung. Bei Modellwechsel sind getrennte Spalten oder Tabellen vorgesehen.</a:t>
            </a:r>
          </a:p>
          <a:p xmlns:a="http://schemas.openxmlformats.org/drawingml/2006/main">
            <a:r>
              <a:t/>
            </a:r>
          </a:p>
          <a:p xmlns:a="http://schemas.openxmlformats.org/drawingml/2006/main">
            <a:r>
              <a:t>VERTIEFUNG-Folie 29, Quellfolie 34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Demos/09_AI_SQL_Server_2025/QRY-014_Vector_Type/README.md</a:t>
            </a:r>
          </a:p>
          <a:p xmlns:a="http://schemas.openxmlformats.org/drawingml/2006/main">
            <a:r>
              <a:t/>
            </a:r>
          </a:p>
          <a:p xmlns:a="http://schemas.openxmlformats.org/drawingml/2006/main">
            <a:r>
              <a:t>Didaktische Zuordnung: CUR-013 /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Lehrperson zeigt zuerst die Vorhersagefrage und startet anschließend QRY-014 über den Ausführungsleitfaden. Lesen Sie die fünf synthetischen Rows und die festen Assertions. Vergleichen Sie einen syntaktisch ungültigen Wert mit einem gültigen Vektor aus einem anderen Modellraum. Lassen Sie zwei zusätzliche Provenienzfelder nennen, etwa Modellversion und Normalisierung. Die Gegenmaßnahme ist eine vorgelagerte Modell-/Dimensionsprüfung. Cleanup und eigene DB-Abwesenheit abschließen. float16 ist ein separat begrenzter Previewpfad und gehört nicht zur hier behaupteten Sprachmodellqualität.</a:t>
            </a:r>
          </a:p>
          <a:p xmlns:a="http://schemas.openxmlformats.org/drawingml/2006/main">
            <a:r>
              <a:t/>
            </a:r>
          </a:p>
          <a:p xmlns:a="http://schemas.openxmlformats.org/drawingml/2006/main">
            <a:r>
              <a:t>VERTIEFUNG-Folie 30, Quellfolie 35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QRY-014 -Server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Demos/09_AI_SQL_Server_2025/QRY-014_Vector_Type/README.md</a:t>
            </a:r>
          </a:p>
          <a:p xmlns:a="http://schemas.openxmlformats.org/drawingml/2006/main">
            <a:r>
              <a:t>Ergebnisvertrag: Demos/09_AI_SQL_Server_2025/QRY-014_Vector_Type/Expected/result-contract.json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SRC-072: Vector data type</a:t>
            </a:r>
          </a:p>
          <a:p xmlns:a="http://schemas.openxmlformats.org/drawingml/2006/main">
            <a:r>
              <a:t>https://learn.microsoft.com/en-us/sql/t-sql/data-types/vector-data-type?view=sql-server-ver17</a:t>
            </a:r>
          </a:p>
          <a:p xmlns:a="http://schemas.openxmlformats.org/drawingml/2006/main">
            <a:r>
              <a:t>Abrufdatum laut Quellenregister: 2026-10-11</a:t>
            </a:r>
          </a:p>
          <a:p xmlns:a="http://schemas.openxmlformats.org/drawingml/2006/main">
            <a:r>
              <a:t/>
            </a:r>
          </a:p>
          <a:p xmlns:a="http://schemas.openxmlformats.org/drawingml/2006/main">
            <a:r>
              <a:t>SRC-076: VECTORPROPERTY</a:t>
            </a:r>
          </a:p>
          <a:p xmlns:a="http://schemas.openxmlformats.org/drawingml/2006/main">
            <a:r>
              <a:t>https://learn.microsoft.com/en-us/sql/t-sql/functions/vectorproperty-transact-sql?view=sql-server-ver17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Leiten Sie norm2 als Wurzel aus 3²+4² her. VECTOR_NORMALIZE mit norm2 skaliert diesen Vektor auf [0.6,0.8,0]. Die Metric entscheidet, ob Magnitude die Rangfolge beeinflusst. VECTOR_DISTANCE berechnet exakte Distanz und nutzt dafür keinen Vector Index. Das negatives Dot Product kann negative Werte liefern. Self-Dot ist deshalb nicht generell null. Null- und Zero-Vektoren werden als eigene Eingabefälle geprüft. Floating-Point-Toleranzen und deterministische Ties gehören zum jeweiligen Ergebnisvertrag.</a:t>
            </a:r>
          </a:p>
          <a:p xmlns:a="http://schemas.openxmlformats.org/drawingml/2006/main">
            <a:r>
              <a:t/>
            </a:r>
          </a:p>
          <a:p xmlns:a="http://schemas.openxmlformats.org/drawingml/2006/main">
            <a:r>
              <a:t>VERTIEFUNG-Folie 31, Quellfolie 36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SRC-074: VECTOR_NORM</a:t>
            </a:r>
          </a:p>
          <a:p xmlns:a="http://schemas.openxmlformats.org/drawingml/2006/main">
            <a:r>
              <a:t>https://learn.microsoft.com/en-us/sql/t-sql/functions/vector-norm-transact-sql?view=sql-server-ver17</a:t>
            </a:r>
          </a:p>
          <a:p xmlns:a="http://schemas.openxmlformats.org/drawingml/2006/main">
            <a:r>
              <a:t>Abrufdatum laut Quellenregister: 2026-10-11</a:t>
            </a:r>
          </a:p>
          <a:p xmlns:a="http://schemas.openxmlformats.org/drawingml/2006/main">
            <a:r>
              <a:t/>
            </a:r>
          </a:p>
          <a:p xmlns:a="http://schemas.openxmlformats.org/drawingml/2006/main">
            <a:r>
              <a:t>SRC-075: VECTOR_NORMALIZE</a:t>
            </a:r>
          </a:p>
          <a:p xmlns:a="http://schemas.openxmlformats.org/drawingml/2006/main">
            <a:r>
              <a:t>https://learn.microsoft.com/en-us/sql/t-sql/functions/vector-normalize-transact-sql?view=sql-server-ver17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Query ist ein tatsächlicher Auszug aus der Implementierung, kein separater freier Demolauf. Der vollständige native Code enthält Kontext- und Eigentumsmarkerprüfungen. Starten Sie QRY-015 über den manifestbasierten Aufrufer. Der rohe Dot-Ersttreffer hat Id2 aufgrund seiner Magnitude. Baseline und Comparison erklären den Unterschied zur Euclidean-Suche sowie zur Normalisierung. ORDER BY Distance,Id löst Ties deterministisch. Lassen Sie die Werte 7,5,4 und −25 aus der vorherigen Folie berechnen. Eine deterministische Rangfolge belegt hier keine Sprachrelevanz.</a:t>
            </a:r>
          </a:p>
          <a:p xmlns:a="http://schemas.openxmlformats.org/drawingml/2006/main">
            <a:r>
              <a:t/>
            </a:r>
          </a:p>
          <a:p xmlns:a="http://schemas.openxmlformats.org/drawingml/2006/main">
            <a:r>
              <a:t>VERTIEFUNG-Folie 32, Quellfolie 37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QRY-015 -Server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Demos/09_AI_SQL_Server_2025/QRY-015_Vector_Metrics/README.md</a:t>
            </a:r>
          </a:p>
          <a:p xmlns:a="http://schemas.openxmlformats.org/drawingml/2006/main">
            <a:r>
              <a:t>Ergebnisvertrag: Demos/09_AI_SQL_Server_2025/QRY-015_Vector_Metrics/Expected/result-contract.json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SRC-074: VECTOR_NORM</a:t>
            </a:r>
          </a:p>
          <a:p xmlns:a="http://schemas.openxmlformats.org/drawingml/2006/main">
            <a:r>
              <a:t>https://learn.microsoft.com/en-us/sql/t-sql/functions/vector-norm-transact-sql?view=sql-server-ver17</a:t>
            </a:r>
          </a:p>
          <a:p xmlns:a="http://schemas.openxmlformats.org/drawingml/2006/main">
            <a:r>
              <a:t>Abrufdatum laut Quellenregister: 2026-10-11</a:t>
            </a:r>
          </a:p>
          <a:p xmlns:a="http://schemas.openxmlformats.org/drawingml/2006/main">
            <a:r>
              <a:t/>
            </a:r>
          </a:p>
          <a:p xmlns:a="http://schemas.openxmlformats.org/drawingml/2006/main">
            <a:r>
              <a:t>SRC-075: VECTOR_NORMALIZE</a:t>
            </a:r>
          </a:p>
          <a:p xmlns:a="http://schemas.openxmlformats.org/drawingml/2006/main">
            <a:r>
              <a:t>https://learn.microsoft.com/en-us/sql/t-sql/functions/vector-normalize-transact-sql?view=sql-server-ver17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CUR-014.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Erklären Sie Chunking zunächst ohne Modell. AI_GENERATE_CHUNKS ist eine lokale Tabellenfunktion und benötigt CL170. Ein Modelltokenizer kann denselben Text anders aufteilen. Die Summe überlappender Bereichslängen ist größer als die eindeutige Quelltextmenge. ENABLE_CHUNK_SET_ID kann Gruppen markieren, ersetzt aber keine dauerhafte Dokumentversionsbindung. Bei Dokumentupdate werden alte und neue Version nicht still vermischt. Chunkparameter und Embeddingprovenienz ermöglichen eine spätere Rekonstruktion.</a:t>
            </a:r>
          </a:p>
          <a:p xmlns:a="http://schemas.openxmlformats.org/drawingml/2006/main">
            <a:r>
              <a:t/>
            </a:r>
          </a:p>
          <a:p xmlns:a="http://schemas.openxmlformats.org/drawingml/2006/main">
            <a:r>
              <a:t>VERTIEFUNG-Folie 33, Quellfolie 38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Demos/09_AI_SQL_Server_2025/QRY-016_Chunk_Provenance/README.md</a:t>
            </a:r>
          </a:p>
          <a:p xmlns:a="http://schemas.openxmlformats.org/drawingml/2006/main">
            <a:r>
              <a:t/>
            </a:r>
          </a:p>
          <a:p xmlns:a="http://schemas.openxmlformats.org/drawingml/2006/main">
            <a:r>
              <a:t>Didaktische Zuordnung: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QRY-016 manifestbasiert. Die Fixture enthält zwei synthetische Dokumentversionen. Lassen Sie die Gruppe DocId, Version, chunk_order, chunk_offset und chunk_length ablesen und einen Bereich im Quelltext wiederfinden. Besprechen Sie getrennt den fachlichen Rekonstruktionsbeleg und die doppelt gezählten Bereiche durch Overlap. Gegenmaßnahme: Chunk und Embeddingversion zusammen halten, neue Dokumentversion getrennt importieren. Die Erwartungsresultate und die Trainerlösung liegen im Offline-Arbeitsheft. Cleanup und unabhängige eigene DB-Abwesenheit abschließen.</a:t>
            </a:r>
          </a:p>
          <a:p xmlns:a="http://schemas.openxmlformats.org/drawingml/2006/main">
            <a:r>
              <a:t/>
            </a:r>
          </a:p>
          <a:p xmlns:a="http://schemas.openxmlformats.org/drawingml/2006/main">
            <a:r>
              <a:t>VERTIEFUNG-Folie 34, Quellfolie 39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QRY-016 -Server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Demos/09_AI_SQL_Server_2025/QRY-016_Chunk_Provenance/README.md</a:t>
            </a:r>
          </a:p>
          <a:p xmlns:a="http://schemas.openxmlformats.org/drawingml/2006/main">
            <a:r>
              <a:t>Ergebnisvertrag: Demos/09_AI_SQL_Server_2025/QRY-016_Chunk_Provenance/Expected/result-contract.json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SRC-079: AI_GENERATE_CHUNKS</a:t>
            </a:r>
          </a:p>
          <a:p xmlns:a="http://schemas.openxmlformats.org/drawingml/2006/main">
            <a:r>
              <a:t>https://learn.microsoft.com/en-us/sql/t-sql/functions/ai-generate-chunks-transact-sql?view=sql-server-ver17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CUR-015.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Pfade lösen unterschiedliche Suchaufgaben. Eine Identifierfrage kann eine relationale Gleichheit benötigen. Full-Text bewertet lexikalische Suchformen. Vector Search benötigt einen passenden Modellraum und fachliche Relevanzurteile. Exact Top-k ist das Vergleichsoracle für die ANN-Approximation, aber selbst kein Beleg fachlicher Relevanz. Relevanz misst man gegen eingefrorene Urteile. Recall@k misst die Überschneidung mit dem Exact Top-k unter demselben Kandidatenscope. Bei fehlendem Full-Text bleibt der Vergleich begrenzt. Keine Suchmethode wird pauschal als schneller oder besser dargestellt.</a:t>
            </a:r>
          </a:p>
          <a:p xmlns:a="http://schemas.openxmlformats.org/drawingml/2006/main">
            <a:r>
              <a:t/>
            </a:r>
          </a:p>
          <a:p xmlns:a="http://schemas.openxmlformats.org/drawingml/2006/main">
            <a:r>
              <a:t>VERTIEFUNG-Folie 35, Quellfolie 43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SRC-087: Generate embeddings with Azure OpenAI</a:t>
            </a:r>
          </a:p>
          <a:p xmlns:a="http://schemas.openxmlformats.org/drawingml/2006/main">
            <a:r>
              <a:t>https://learn.microsoft.com/en-us/azure/foundry/openai/how-to/embeddings</a:t>
            </a:r>
          </a:p>
          <a:p xmlns:a="http://schemas.openxmlformats.org/drawingml/2006/main">
            <a:r>
              <a:t>Abrufdatum laut Quellenregister: 2026-10-11</a:t>
            </a:r>
          </a:p>
          <a:p xmlns:a="http://schemas.openxmlformats.org/drawingml/2006/main">
            <a:r>
              <a:t/>
            </a:r>
          </a:p>
          <a:p xmlns:a="http://schemas.openxmlformats.org/drawingml/2006/main">
            <a:r>
              <a:t>SRC-100: Full-Text Search</a:t>
            </a:r>
          </a:p>
          <a:p xmlns:a="http://schemas.openxmlformats.org/drawingml/2006/main">
            <a:r>
              <a:t>https://learn.microsoft.com/en-us/sql/relational-databases/search/full-text-search?view=sql-server-ver17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QRY-017 über den manifestbasierten Aufrufer. Notieren Sie den tatsächlich erlaubten Identifier-Treffer und dessen Tenant. Full-Text ist ein optionaler Teil und benötigt installierte Komponente sowie einen vollständig populierten Index. Fehlt dies, wird während dieser Einheit nichts nachinstalliert. Der fehlende Teil bleibt WARN. Die kleine Fixture besitzt keinen allgemeinen Performance- oder Semantikclaim. Fragen Sie, welche eingefrorenen Relevanzurteile und welche ausreichend aufgelösten Messungen für eine spätere Pfadempfehlung fehlen. Cleanup und unabhängige eigene DB-Abwesenheit prüfen.</a:t>
            </a:r>
          </a:p>
          <a:p xmlns:a="http://schemas.openxmlformats.org/drawingml/2006/main">
            <a:r>
              <a:t/>
            </a:r>
          </a:p>
          <a:p xmlns:a="http://schemas.openxmlformats.org/drawingml/2006/main">
            <a:r>
              <a:t>VERTIEFUNG-Folie 36, Quellfolie 44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QRY-017 -Server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Demos/09_AI_SQL_Server_2025/QRY-017_Search_Comparison/README.md</a:t>
            </a:r>
          </a:p>
          <a:p xmlns:a="http://schemas.openxmlformats.org/drawingml/2006/main">
            <a:r>
              <a:t>Ergebnisvertrag: Demos/09_AI_SQL_Server_2025/QRY-017_Search_Comparison/Expected/result-contract.json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SRC-100: Full-Text Search</a:t>
            </a:r>
          </a:p>
          <a:p xmlns:a="http://schemas.openxmlformats.org/drawingml/2006/main">
            <a:r>
              <a:t>https://learn.microsoft.com/en-us/sql/relational-databases/search/full-text-search?view=sql-server-ver17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ergänzt eine generative Antwort um abgerufenen Kontext. Weder die Architektur noch eine plausible Antwort garantiert fachliche Richtigkeit. Die Quellenstelle muss den konkreten Claim stützen, in der erlaubten Version vorliegen und Bestandteil des tatsächlich gelieferten Kontexts sein. Ein fern liegender oder widersprüchlicher Treffer kann zur begründeten Nichtantwort führen. Die Anwendung begrenzt Kontextmenge und Claimformat. Offlinefixtures erlauben reproduzierbare Kontrollfälle, ersetzen aber keine unbekannte Livegeneration. Besprechen Sie die Fachbewertung getrennt von Distanz und Retrievalranking.</a:t>
            </a:r>
          </a:p>
          <a:p xmlns:a="http://schemas.openxmlformats.org/drawingml/2006/main">
            <a:r>
              <a:t/>
            </a:r>
          </a:p>
          <a:p xmlns:a="http://schemas.openxmlformats.org/drawingml/2006/main">
            <a:r>
              <a:t>VERTIEFUNG-Folie 37, Quellfolie 45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Projektquelle: Demos/09_AI_SQL_Server_2025/QRY-018_Offline_RAG/README.md</a:t>
            </a:r>
          </a:p>
          <a:p xmlns:a="http://schemas.openxmlformats.org/drawingml/2006/main">
            <a:r>
              <a:t/>
            </a:r>
          </a:p>
          <a:p xmlns:a="http://schemas.openxmlformats.org/drawingml/2006/main">
            <a:r>
              <a:t>Didaktische Zuordnung: CUR-017.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die Gruppe die vier Entscheidungen zunächst ohne Lösung vorhersagen. Starten Sie dann QRY-018 manifestbasiert. Lesen Sie Claim, tatsächlich abgerufene Quellenstelle, Version und Ergebnisstatus zusammen. Die vier Fälle ergeben eine akzeptierte, eine abgelehnte und zwei nicht beantwortete Situationen. Die feste Claimprüfung und die Fixture-Distanzschwelle sind keine universelle Antwortkorrektheitsregel. Fragen Sie nach einem zusätzlichen widersprüchlichen Dokument und dem Verhalten bei Revoke. Die einzige Trainerlösung wird im Offline-Arbeitsheft gepflegt. Cleanup und eigene DB-Abwesenheit abschließen.</a:t>
            </a:r>
          </a:p>
          <a:p xmlns:a="http://schemas.openxmlformats.org/drawingml/2006/main">
            <a:r>
              <a:t/>
            </a:r>
          </a:p>
          <a:p xmlns:a="http://schemas.openxmlformats.org/drawingml/2006/main">
            <a:r>
              <a:t>VERTIEFUNG-Folie 38, Quellfolie 46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Demos/09_AI_SQL_Server_2025/QRY-018_Offline_RAG/README.md</a:t>
            </a:r>
          </a:p>
          <a:p xmlns:a="http://schemas.openxmlformats.org/drawingml/2006/main">
            <a:r>
              <a:t>Ergebnisvertrag: Demos/09_AI_SQL_Server_2025/QRY-018_Offline_RAG/Expected/result-contract.json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SRC-095: Retrieval-Augmented Generation for Knowledge-Intensive NLP Tasks</a:t>
            </a:r>
          </a:p>
          <a:p xmlns:a="http://schemas.openxmlformats.org/drawingml/2006/main">
            <a:r>
              <a:t>https://papers.nips.cc/paper_files/paper/2020/hash/6b493230205f780e1bc26945df7481e5-Abstract.html</a:t>
            </a:r>
          </a:p>
          <a:p xmlns:a="http://schemas.openxmlformats.org/drawingml/2006/main">
            <a:r>
              <a:t>Abrufdatum laut Quellenregister: 2026-10-11</a:t>
            </a:r>
          </a:p>
          <a:p xmlns:a="http://schemas.openxmlformats.org/drawingml/2006/main">
            <a:r>
              <a:t/>
            </a:r>
          </a:p>
          <a:p xmlns:a="http://schemas.openxmlformats.org/drawingml/2006/main">
            <a:r>
              <a:t>Didaktische Zuordnung: CUR-017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Autorisierung wird vor Übergabe an das LLM umgesetzt. Modelltext und abgerufene Dokumente erhalten keine zusätzliche Ausführungsbefugnis. Ein Promptfilter oder ein Klick zur Bestätigung ersetzt keine SQL-Rechte. Der authentifizierte Kontext muss gegen manipulierbare Tenantwerte und später gegen Pooling geprüft werden. Credentials und Rawdiagnose gehören außerhalb der Schulungsartefakte. Providerabhängige Retention ist separat zu bewerten. Dieses Material demonstriert synthetische Kontrollfälle und beansprucht keine allgemeine Sicherheits- oder Compliancegarantie.</a:t>
            </a:r>
          </a:p>
          <a:p xmlns:a="http://schemas.openxmlformats.org/drawingml/2006/main">
            <a:r>
              <a:t/>
            </a:r>
          </a:p>
          <a:p xmlns:a="http://schemas.openxmlformats.org/drawingml/2006/main">
            <a:r>
              <a:t>VERTIEFUNG-Folie 39, Quellfolie 47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SRC-093: Row-Level Security</a:t>
            </a:r>
          </a:p>
          <a:p xmlns:a="http://schemas.openxmlformats.org/drawingml/2006/main">
            <a:r>
              <a:t>https://learn.microsoft.com/en-us/sql/relational-databases/security/row-level-security?view=sql-server-ver17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QRY-019 manifestbasiert. Die Wertparameter werden tatsächlich gebunden, anstatt einen Angriffstext in ein privilegiertes Statement einzufügen. Ein zulässiger Literalwert kann Sonderzeichen enthalten. Die Strukturpolicy lehnt eine zusätzliche Query ab. Tabellen- oder Spaltennamen lassen sich nicht als gewöhnliche Wertparameter substituieren und benötigen eine feste Struktur beziehungsweise geprüfte Allowlist. Zeigen Sie die getrennten SQL-Rechtefehler. Der dbo-Kontrollharness ist kein Teilnehmerrecht. Diese Parametertechnik ist älter als SQL Server 2025, während der Demo-Versions-SKIP die Grenze des Workstreams bezeichnet. Cleanup und eigene DB-Abwesenheit prüfen.</a:t>
            </a:r>
          </a:p>
          <a:p xmlns:a="http://schemas.openxmlformats.org/drawingml/2006/main">
            <a:r>
              <a:t/>
            </a:r>
          </a:p>
          <a:p xmlns:a="http://schemas.openxmlformats.org/drawingml/2006/main">
            <a:r>
              <a:t>VERTIEFUNG-Folie 40, Quellfolie 48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QRY-019 -Server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Demos/09_AI_SQL_Server_2025/QRY-019_SQL_Input_Policy/README.md</a:t>
            </a:r>
          </a:p>
          <a:p xmlns:a="http://schemas.openxmlformats.org/drawingml/2006/main">
            <a:r>
              <a:t>Ergebnisvertrag: Demos/09_AI_SQL_Server_2025/QRY-019_SQL_Input_Policy/Expected/result-contract.json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Didaktische Zuordnung: CUR-018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verpflichtende Offlinepfad braucht keinen Provider. Der lokale Modellpfad braucht zusätzlich einen ausdrücklich vorbereiteten Modellservice mit Lizenz, Digest und endlichen Request-/Tokenlimits. Ein lokales HTTP-API erfüllt den direkten SQL-HTTPS-Vertrag noch nicht. Erreichbarkeit wird aus dem Enginekontext geprüft. localhost im SQL-Container bezeichnet den Container selbst. Cloud und ONNX werden in dieser Einheit als Architekturvarianten besprochen und nicht aktiviert. Die Linux-Editionstabelle und das konkrete Windows-ONNX-Verfahren sind nicht deckungsgleich, daher bleibt Linux-ONNX ohne Runtimeclaim. Der öffentliche Provider-Livepfad bleibt an DEC-033/SQLcmd-P blockiert.</a:t>
            </a:r>
          </a:p>
          <a:p xmlns:a="http://schemas.openxmlformats.org/drawingml/2006/main">
            <a:r>
              <a:t/>
            </a:r>
          </a:p>
          <a:p xmlns:a="http://schemas.openxmlformats.org/drawingml/2006/main">
            <a:r>
              <a:t>VERTIEFUNG-Folie 41, Quellfolie 40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SRC-085: Generate embeddings</a:t>
            </a:r>
          </a:p>
          <a:p xmlns:a="http://schemas.openxmlformats.org/drawingml/2006/main">
            <a:r>
              <a:t>https://docs.ollama.com/api/embed</a:t>
            </a:r>
          </a:p>
          <a:p xmlns:a="http://schemas.openxmlformats.org/drawingml/2006/main">
            <a:r>
              <a:t>Abrufdatum laut Quellenregister: 2026-10-11</a:t>
            </a:r>
          </a:p>
          <a:p xmlns:a="http://schemas.openxmlformats.org/drawingml/2006/main">
            <a:r>
              <a:t/>
            </a:r>
          </a:p>
          <a:p xmlns:a="http://schemas.openxmlformats.org/drawingml/2006/main">
            <a:r>
              <a:t>SRC-086: Authentication</a:t>
            </a:r>
          </a:p>
          <a:p xmlns:a="http://schemas.openxmlformats.org/drawingml/2006/main">
            <a:r>
              <a:t>https://docs.ollama.com/api/authentication</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Documentation/Project_Planning/SQL_SERVER_2025_AI_PROVIDER_REVIEW.md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AI_GENERATE_EMBEDDINGS arbeitet mit einem vorkonfigurierten EMBEDDINGS-Modell. Modell-EXECUTE und Quelltext-SELECT sind von Model-/Credential-DDL getrennt. Ein dokumentiertes Beispiel ist noch kein kompatibler Transportvertrag. Die aktiven Referenzen besitzen eine Resultattypinkonsistenz zwischen Text und skalaren Beispielen, deshalb bleiben Resultattyp, VECTOR-Konvertierung und Treibertransport Probe-Gates. Das Deck führt keinen Livecall aus und speichert keine Credentials. Datenabfluss, Retention, Kosten und Endpointform werden pro Provider bewertet. Timeouts und Retries verbrauchen ebenfalls das endliche Budget.</a:t>
            </a:r>
          </a:p>
          <a:p xmlns:a="http://schemas.openxmlformats.org/drawingml/2006/main">
            <a:r>
              <a:t/>
            </a:r>
          </a:p>
          <a:p xmlns:a="http://schemas.openxmlformats.org/drawingml/2006/main">
            <a:r>
              <a:t>VERTIEFUNG-Folie 42, Quellfolie 41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DGN-008 über den Ausführungsleitfaden. Ordnen Sie die SQL-Grants den Rollen zu und lesen Sie die positiven Restbetriebsbelege nach der Grantreduktion. Leere Resultate oder behauptete Rolle allein sind kein Rechtebeleg. Die Demo erstellt tatsächlich ein Offline-External-Modelobjekt, aber keine Inferenz. Lassen Sie die Gruppe die zusätzlichen Bedingungen eines Livecalls nennen: TLS, Providervertrag, Modellresultat, Requestbudget und kontrollierter Credentialzugang. Ownerharness und Teilnehmerrechte bleiben getrennt. Entfernen Sie nur eigene markergebundene Ressourcen und prüfen Sie die eigene DB-Abwesenheit.</a:t>
            </a:r>
          </a:p>
          <a:p xmlns:a="http://schemas.openxmlformats.org/drawingml/2006/main">
            <a:r>
              <a:t/>
            </a:r>
          </a:p>
          <a:p xmlns:a="http://schemas.openxmlformats.org/drawingml/2006/main">
            <a:r>
              <a:t>VERTIEFUNG-Folie 43, Quellfolie 42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Demos/09_AI_SQL_Server_2025/DGN-008_Offline_Model_Rights/README.md</a:t>
            </a:r>
          </a:p>
          <a:p xmlns:a="http://schemas.openxmlformats.org/drawingml/2006/main">
            <a:r>
              <a:t>Ergebnisvertrag: Demos/09_AI_SQL_Server_2025/DGN-008_Offline_Model_Rights/Expected/result-contract.json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DGN-009 über den Ausführungsleitfaden. Verfolgen Sie zuerst den tatsächlichen Retrievalpfad der manipulierten Quelle. Danach zeigen Sie die feste Antwort- und Toolfixture. Die Policy entscheidet unabhängig vom Wortlaut des Quelleninhalts. Zusätzlich belegen echte SQL-Rechtefehler die Datenbankgrenze. Eine feste Fixture ermöglicht eine wiederholbare Beobachtung, beweist aber keine Resistenz jedes späteren LLMs gegen Prompt Injection. Der Transferauftrag fragt nach einem erlaubten Dokument, das eine unerlaubte Toolaktion verlangt. Keine unbekannten Tools oder Provider aktivieren. Cleanup und eigene DB-Abwesenheit prüfen.</a:t>
            </a:r>
          </a:p>
          <a:p xmlns:a="http://schemas.openxmlformats.org/drawingml/2006/main">
            <a:r>
              <a:t/>
            </a:r>
          </a:p>
          <a:p xmlns:a="http://schemas.openxmlformats.org/drawingml/2006/main">
            <a:r>
              <a:t>VERTIEFUNG-Folie 44, Quellfolie 49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Demos/09_AI_SQL_Server_2025/DGN-009_Offline_Injection/README.md</a:t>
            </a:r>
          </a:p>
          <a:p xmlns:a="http://schemas.openxmlformats.org/drawingml/2006/main">
            <a:r>
              <a:t>Ergebnisvertrag: Demos/09_AI_SQL_Server_2025/DGN-009_Offline_Injection/Expected/result-contract.json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SRC-090: SSMS Agent mode</a:t>
            </a:r>
          </a:p>
          <a:p xmlns:a="http://schemas.openxmlformats.org/drawingml/2006/main">
            <a:r>
              <a:t>https://learn.microsoft.com/en-us/ssms/github-copilot/agent-mode</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Verwenden Sie die vorhandene Rubrik und die einzige gepflegte Trainerlösung im Offline-Arbeitsheft. Lassen Sie die Gruppe einen nachvollziehbaren Datenfluss und mindestens eine Gegenprobe beschreiben. Erwartete Elemente sind authentifizierter Tenantkontext, aktuelle Quellenbereiche, passende Modellprovenienz, feste Wertbindung und begrenzter Kontext. Ein Quellenwiderspruch erlaubt eine begründete Nichtantwort. Der Indexvorschlag benötigt gleiche Resultate, geeignete Messfenster und DML-/Storage-/Buildkosten. Die Rubrik hat keine festgelegte Bestehensgrenze und beweist keine gemessene Lernwirksamkeit. CON010 und Vertiefungsaufträge werden getrennt besprochen. Sammeln Sie keine Namen, Rawpläne oder Daten realer Systeme. Tatsächliche Lehrzeiten und Teilnehmerabnahme folgen erst in der Generalprobe.</a:t>
            </a:r>
          </a:p>
          <a:p xmlns:a="http://schemas.openxmlformats.org/drawingml/2006/main">
            <a:r>
              <a:t/>
            </a:r>
          </a:p>
          <a:p xmlns:a="http://schemas.openxmlformats.org/drawingml/2006/main">
            <a:r>
              <a:t>VERTIEFUNG-Folie 45, Quellfolie 61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DiskANN beschreibt eine approximative Suche. Das Forschungspaper erklärt das Konzept, verspricht aber keine SQL-Internals oder Performance. Ein kompatibler Vector Index und die passende Metric sind notwendige Prüfobjekte. Ein kNN-Fallback kann bei fehlendem kompatiblem ANN-Index auftreten. Daher ist der Name VECTOR_SEARCH allein kein ANN-Beweis. SQL Server 2025 und neue Azure-Indexformen besitzen unterschiedliche Syntax- und Filtergrenzen. In der lokalen Quelle ist ein begrenztes Legacy-TOP_N-Profil auf 17.0.5005.3 erlaubt, bei numerischer Generation UNKNOWN/WARN. Ein Treffer nach Postfilter kann zu weniger als k Rows führen.</a:t>
            </a:r>
          </a:p>
          <a:p xmlns:a="http://schemas.openxmlformats.org/drawingml/2006/main">
            <a:r>
              <a:t/>
            </a:r>
          </a:p>
          <a:p xmlns:a="http://schemas.openxmlformats.org/drawingml/2006/main">
            <a:r>
              <a:t>VERTIEFUNG-Folie 46, Quellfolie 51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SRC-094: DiskANN: Fast Accurate Billion-point Nearest Neighbor Search on a Single Node</a:t>
            </a:r>
          </a:p>
          <a:p xmlns:a="http://schemas.openxmlformats.org/drawingml/2006/main">
            <a:r>
              <a:t>https://www.microsoft.com/en-us/research/publication/diskann-fast-accurate-billion-point-nearest-neighbor-search-on-a-single-node/</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Documentation/Project_Planning/SQL_SERVER_2025_AI_ANN_PROFILE_DECISION.md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 ist eine Besprechung vorhandener gebundener Nachweise, kein zusätzlich gestarteter Qualifikationslauf. Lesen Sie den aktuellen IDX011-Runtime- und Benchmarkvertrag. Im kleinen Korpus dienen konstruierte Vektoren und unabhängige Distanzoracles der Mechanikprüfung. Recallgrenze und Tie-Regeln sind Profilbedingungen, keine universellen Qualitätswerte. Die begrenzte Requestmessung enthält Mess- und Ergebnisspeicheraufwand. Zeitquantisierung kann Nullfenster erzeugen, daher keine Speedupratio aus einer Nullbaseline berechnen. INDEXgeneration UNKNOWN bleibt sichtbar. Für einen späteren praktischen Lauf gelten der aktuelle öffentliche CLI- und Cleanupvertrag sowie Preview-/Ownergrenzen.</a:t>
            </a:r>
          </a:p>
          <a:p xmlns:a="http://schemas.openxmlformats.org/drawingml/2006/main">
            <a:r>
              <a:t/>
            </a:r>
          </a:p>
          <a:p xmlns:a="http://schemas.openxmlformats.org/drawingml/2006/main">
            <a:r>
              <a:t>VERTIEFUNG-Folie 47, Quellfolie 52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SRC-073: VECTOR_DISTANCE</a:t>
            </a:r>
          </a:p>
          <a:p xmlns:a="http://schemas.openxmlformats.org/drawingml/2006/main">
            <a:r>
              <a:t>https://learn.microsoft.com/en-us/sql/t-sql/functions/vector-distance-transact-sql?view=sql-server-ver17</a:t>
            </a:r>
          </a:p>
          <a:p xmlns:a="http://schemas.openxmlformats.org/drawingml/2006/main">
            <a:r>
              <a:t>Abrufdatum laut Quellenregister: 2026-10-11</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Documentation/Project_Planning/SQL_SERVER_2025_AI_IDX011_RUNTIME_REVIEW.md</a:t>
            </a:r>
          </a:p>
          <a:p xmlns:a="http://schemas.openxmlformats.org/drawingml/2006/main">
            <a:r>
              <a:t/>
            </a:r>
          </a:p>
          <a:p xmlns:a="http://schemas.openxmlformats.org/drawingml/2006/main">
            <a:r>
              <a:t>Projektquelle: Documentation/Project_Planning/SQL_SERVER_2025_AI_IDX011_BENCHMARK_CONTRACT.md</a:t>
            </a:r>
          </a:p>
          <a:p xmlns:a="http://schemas.openxmlformats.org/drawingml/2006/main">
            <a:r>
              <a:t/>
            </a:r>
          </a:p>
          <a:p xmlns:a="http://schemas.openxmlformats.org/drawingml/2006/main">
            <a:r>
              <a:t>Projektquelle: Documentation/Project_Planning/SQL_SERVER_2025_AI_ANN_MEASUREMENT_REVIEW.md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Besprechen Sie die öffentliche Vorstufe und die gebundenen Teilnachweise ohne einen neuen Lauf. Die dokumentierte SQL-2025-Einschränkung kann MAXDOP an CREATE VECTOR INDEX beziehungsweise VECTOR_SEARCH ignorieren. Ein gesetzter DBwert ist ebenfalls kein gemessener Workerbeleg. Sessionwrites zählen Dirty-Page-Markierungen und sind keine tatsächlichen Datei-Writes. Dateicounter umfassen alle Writer einer eigenen Datei im Zeitfenster. TempDB-Deltas abgeschlossener eigener Tasks decken nicht automatisch alle laufenden Tasks ab. Buildkosten, DML-Fähigkeit, Ergebnisqualität und Wiederherstellung gehören zusammen. Zusätzlicher Speicher ist auch ohne Suchgewinn relevant.</a:t>
            </a:r>
          </a:p>
          <a:p xmlns:a="http://schemas.openxmlformats.org/drawingml/2006/main">
            <a:r>
              <a:t/>
            </a:r>
          </a:p>
          <a:p xmlns:a="http://schemas.openxmlformats.org/drawingml/2006/main">
            <a:r>
              <a:t>VERTIEFUNG-Folie 48, Quellfolie 53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SRC-077: CREATE VECTOR INDEX</a:t>
            </a:r>
          </a:p>
          <a:p xmlns:a="http://schemas.openxmlformats.org/drawingml/2006/main">
            <a:r>
              <a:t>https://learn.microsoft.com/en-us/sql/t-sql/statements/create-vector-index-transact-sql?view=sql-server-ver17</a:t>
            </a:r>
          </a:p>
          <a:p xmlns:a="http://schemas.openxmlformats.org/drawingml/2006/main">
            <a:r>
              <a:t>Abrufdatum laut Quellenregister: 2026-10-11</a:t>
            </a:r>
          </a:p>
          <a:p xmlns:a="http://schemas.openxmlformats.org/drawingml/2006/main">
            <a:r>
              <a:t/>
            </a:r>
          </a:p>
          <a:p xmlns:a="http://schemas.openxmlformats.org/drawingml/2006/main">
            <a:r>
              <a:t>SRC-078: VECTOR_SEARCH</a:t>
            </a:r>
          </a:p>
          <a:p xmlns:a="http://schemas.openxmlformats.org/drawingml/2006/main">
            <a:r>
              <a:t>https://learn.microsoft.com/en-us/sql/t-sql/functions/vector-search-transact-sql?view=sql-server-ver17</a:t>
            </a:r>
          </a:p>
          <a:p xmlns:a="http://schemas.openxmlformats.org/drawingml/2006/main">
            <a:r>
              <a:t>Abrufdatum laut Quellenregister: 2026-10-11</a:t>
            </a:r>
          </a:p>
          <a:p xmlns:a="http://schemas.openxmlformats.org/drawingml/2006/main">
            <a:r>
              <a:t/>
            </a:r>
          </a:p>
          <a:p xmlns:a="http://schemas.openxmlformats.org/drawingml/2006/main">
            <a:r>
              <a:t>SRC-097: sys.vector_indexes</a:t>
            </a:r>
          </a:p>
          <a:p xmlns:a="http://schemas.openxmlformats.org/drawingml/2006/main">
            <a:r>
              <a:t>https://learn.microsoft.com/en-us/sql/relational-databases/system-catalog-views/sys-vector-indexes-transact-sql?view=sql-server-ver17</a:t>
            </a:r>
          </a:p>
          <a:p xmlns:a="http://schemas.openxmlformats.org/drawingml/2006/main">
            <a:r>
              <a:t>Abrufdatum laut Quellenregister: 2026-10-11</a:t>
            </a:r>
          </a:p>
          <a:p xmlns:a="http://schemas.openxmlformats.org/drawingml/2006/main">
            <a:r>
              <a:t/>
            </a:r>
          </a:p>
          <a:p xmlns:a="http://schemas.openxmlformats.org/drawingml/2006/main">
            <a:r>
              <a:t>SRC-106: SQL Server 2025 known issues</a:t>
            </a:r>
          </a:p>
          <a:p xmlns:a="http://schemas.openxmlformats.org/drawingml/2006/main">
            <a:r>
              <a:t>https://learn.microsoft.com/en-us/sql/sql-server/sql-server-2025-known-issues?view=sql-server-ver17#vector-index</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Documentation/Project_Planning/SQL_SERVER_2025_AI_IDX012_COST_REVIEW.md</a:t>
            </a:r>
          </a:p>
          <a:p xmlns:a="http://schemas.openxmlformats.org/drawingml/2006/main">
            <a:r>
              <a:t/>
            </a:r>
          </a:p>
          <a:p xmlns:a="http://schemas.openxmlformats.org/drawingml/2006/main">
            <a:r>
              <a:t>Projektquelle: Documentation/Project_Planning/SQL_SERVER_2025_AI_IDX012_DML_BOUNDARY_REVIEW.md</a:t>
            </a:r>
          </a:p>
          <a:p xmlns:a="http://schemas.openxmlformats.org/drawingml/2006/main">
            <a:r>
              <a:t/>
            </a:r>
          </a:p>
          <a:p xmlns:a="http://schemas.openxmlformats.org/drawingml/2006/main">
            <a:r>
              <a:t>Didaktische Zuordnung: CUR-019.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bezeichnet die Baseline und B die gezielte Gegenmaßnahme. AB/BA verteilt Reihenfolgeeffekte, AA zeigt Variation ohne Änderung. Das ersetzt keine ausreichende Stichprobe oder vollständige Ursacheanalyse. Ergebnisse und Quellen müssen vor und nach dem Fenster gleich bleiben. Der Requestschlüssel bindet Counterpunkte an dieselbe eigene Ausführung. Ein Actual Plan ist eine repräsentative Laufzeitbeobachtung und kein Beweis vollständiger Systemkosten. Batchdauer und individuelle Querylatenz sind unterschiedliche Größen. Query Store liefert keinen direkten p99-Beleg der Anwendung. Auf Nullbaseline wird N/A statt einer erfundenen Ratio berichtet.</a:t>
            </a:r>
          </a:p>
          <a:p xmlns:a="http://schemas.openxmlformats.org/drawingml/2006/main">
            <a:r>
              <a:t/>
            </a:r>
          </a:p>
          <a:p xmlns:a="http://schemas.openxmlformats.org/drawingml/2006/main">
            <a:r>
              <a:t>VERTIEFUNG-Folie 49, Quellfolie 54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SRC-032: Tune nonclustered indexes with missing index suggestions</a:t>
            </a:r>
          </a:p>
          <a:p xmlns:a="http://schemas.openxmlformats.org/drawingml/2006/main">
            <a:r>
              <a:t>https://learn.microsoft.com/en-us/sql/relational-databases/indexes/tune-nonclustered-missing-index-suggestions?view=sql-server-ver17</a:t>
            </a:r>
          </a:p>
          <a:p xmlns:a="http://schemas.openxmlformats.org/drawingml/2006/main">
            <a:r>
              <a:t>Abrufdatum laut Quellenregister: 2026-07-24</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CUR-020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Werte stammen unverändert aus der gebundenen RES008-Aggregation. Vier Populationen enthalten je100 synthetische float32-Vektoren. Je vollständigem Profil gehören20 Warmups und54 Messfenster zu5420 Queryoracles. Warmups und AA werden getrennt ausgewertet. Die Tabelle zeigt nur die AB/BA-Mediane aus Lauf1, keine vollständigen Records. Für1536 enthält die A-Elapsed-Seite ein Nullfenster. LIVE_REQUEST-Counter umfassen Arbeit an ihren eigenen Messgrenzen, während Elapsed die100-Query-Schleife einschließlich Tempresult-Inserts umfasst. Diese Bereiche sind nicht identisch. CPU und Elapsed besitzen beim384-Paar verschiedene Richtungen. Die30 numerischen FWK-PASSs je Profil stehen neben Gesamt-WARN, repräsentativen Plänen und offener Modellqualität. Der zweite Lauf, Min/Max, AA, physische Reads und Writes bleiben im kanonischen Nachweis. Kein p99, keine individuelle Querylatenz und kein allgemeiner Speedup.</a:t>
            </a:r>
          </a:p>
          <a:p xmlns:a="http://schemas.openxmlformats.org/drawingml/2006/main">
            <a:r>
              <a:t/>
            </a:r>
          </a:p>
          <a:p xmlns:a="http://schemas.openxmlformats.org/drawingml/2006/main">
            <a:r>
              <a:t>VERTIEFUNG-Folie 50, Quellfolie 55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Documentation/Project_Planning/SQL_SERVER_2025_AI_RESOURCE_AGGREGATION_REVIEW.md</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Didaktische Zuordnung: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verpflichtende Offlinepfad braucht keinen Provider. Der lokale Modellpfad braucht zusätzlich einen ausdrücklich vorbereiteten Modellservice mit Lizenz, Digest und endlichen Request-/Tokenlimits. Ein lokales HTTP-API erfüllt den direkten SQL-HTTPS-Vertrag noch nicht. Erreichbarkeit wird aus dem Enginekontext geprüft. localhost im SQL-Container bezeichnet den Container selbst. Cloud und ONNX werden in dieser Einheit als Architekturvarianten besprochen und nicht aktiviert. Die Linux-Editionstabelle und das konkrete Windows-ONNX-Verfahren sind nicht deckungsgleich, daher bleibt Linux-ONNX ohne Runtimeclaim. Der öffentliche Provider-Livepfad bleibt an DEC-033/SQLcmd-P blockiert.</a:t>
            </a:r>
          </a:p>
          <a:p xmlns:a="http://schemas.openxmlformats.org/drawingml/2006/main">
            <a:r>
              <a:t/>
            </a:r>
          </a:p>
          <a:p xmlns:a="http://schemas.openxmlformats.org/drawingml/2006/main">
            <a:r>
              <a:t>VERTIEFUNG-Folie 51, Quellfolie 40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SRC-085: Generate embeddings</a:t>
            </a:r>
          </a:p>
          <a:p xmlns:a="http://schemas.openxmlformats.org/drawingml/2006/main">
            <a:r>
              <a:t>https://docs.ollama.com/api/embed</a:t>
            </a:r>
          </a:p>
          <a:p xmlns:a="http://schemas.openxmlformats.org/drawingml/2006/main">
            <a:r>
              <a:t>Abrufdatum laut Quellenregister: 2026-10-11</a:t>
            </a:r>
          </a:p>
          <a:p xmlns:a="http://schemas.openxmlformats.org/drawingml/2006/main">
            <a:r>
              <a:t/>
            </a:r>
          </a:p>
          <a:p xmlns:a="http://schemas.openxmlformats.org/drawingml/2006/main">
            <a:r>
              <a:t>SRC-086: Authentication</a:t>
            </a:r>
          </a:p>
          <a:p xmlns:a="http://schemas.openxmlformats.org/drawingml/2006/main">
            <a:r>
              <a:t>https://docs.ollama.com/api/authentication</a:t>
            </a:r>
          </a:p>
          <a:p xmlns:a="http://schemas.openxmlformats.org/drawingml/2006/main">
            <a:r>
              <a:t>Abrufdatum laut Quellenregister: 2026-10-11</a:t>
            </a:r>
          </a:p>
          <a:p xmlns:a="http://schemas.openxmlformats.org/drawingml/2006/main">
            <a:r>
              <a:t/>
            </a:r>
          </a:p>
          <a:p xmlns:a="http://schemas.openxmlformats.org/drawingml/2006/main">
            <a:r>
              <a:t>SRC-088: Foundry Models data privacy</a:t>
            </a:r>
          </a:p>
          <a:p xmlns:a="http://schemas.openxmlformats.org/drawingml/2006/main">
            <a:r>
              <a:t>https://learn.microsoft.com/en-us/azure/foundry/responsible-ai/openai/data-privacy</a:t>
            </a:r>
          </a:p>
          <a:p xmlns:a="http://schemas.openxmlformats.org/drawingml/2006/main">
            <a:r>
              <a:t>Abrufdatum laut Quellenregister: 2026-10-11</a:t>
            </a:r>
          </a:p>
          <a:p xmlns:a="http://schemas.openxmlformats.org/drawingml/2006/main">
            <a:r>
              <a:t/>
            </a:r>
          </a:p>
          <a:p xmlns:a="http://schemas.openxmlformats.org/drawingml/2006/main">
            <a:r>
              <a:t>Projektquelle: Documentation/HowTo/SQL_SERVER_2025_AI_MODEL_PATHS.md</a:t>
            </a:r>
          </a:p>
          <a:p xmlns:a="http://schemas.openxmlformats.org/drawingml/2006/main">
            <a:r>
              <a:t/>
            </a:r>
          </a:p>
          <a:p xmlns:a="http://schemas.openxmlformats.org/drawingml/2006/main">
            <a:r>
              <a:t>Projektquelle: Documentation/Project_Planning/SQL_SERVER_2025_AI_PROVIDER_REVIEW.md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AI_GENERATE_EMBEDDINGS arbeitet mit einem vorkonfigurierten EMBEDDINGS-Modell. Modell-EXECUTE und Quelltext-SELECT sind von Model-/Credential-DDL getrennt. Ein dokumentiertes Beispiel ist noch kein kompatibler Transportvertrag. Die aktiven Referenzen besitzen eine Resultattypinkonsistenz zwischen Text und skalaren Beispielen, deshalb bleiben Resultattyp, VECTOR-Konvertierung und Treibertransport Probe-Gates. Das Deck führt keinen Livecall aus und speichert keine Credentials. Datenabfluss, Retention, Kosten und Endpointform werden pro Provider bewertet. Timeouts und Retries verbrauchen ebenfalls das endliche Budget.</a:t>
            </a:r>
          </a:p>
          <a:p xmlns:a="http://schemas.openxmlformats.org/drawingml/2006/main">
            <a:r>
              <a:t/>
            </a:r>
          </a:p>
          <a:p xmlns:a="http://schemas.openxmlformats.org/drawingml/2006/main">
            <a:r>
              <a:t>VERTIEFUNG-Folie 52, Quellfolie 41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Documentation/Research/SQL_SERVER_2025_AI_FEATURE_MATRIX.md</a:t>
            </a:r>
          </a:p>
          <a:p xmlns:a="http://schemas.openxmlformats.org/drawingml/2006/main">
            <a:r>
              <a:t/>
            </a:r>
          </a:p>
          <a:p xmlns:a="http://schemas.openxmlformats.org/drawingml/2006/main">
            <a:r>
              <a:t>Didaktische Zuordnung: CUR-016.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DGN-008 über den Ausführungsleitfaden. Ordnen Sie die SQL-Grants den Rollen zu und lesen Sie die positiven Restbetriebsbelege nach der Grantreduktion. Leere Resultate oder behauptete Rolle allein sind kein Rechtebeleg. Die Demo erstellt tatsächlich ein Offline-External-Modelobjekt, aber keine Inferenz. Lassen Sie die Gruppe die zusätzlichen Bedingungen eines Livecalls nennen: TLS, Providervertrag, Modellresultat, Requestbudget und kontrollierter Credentialzugang. Ownerharness und Teilnehmerrechte bleiben getrennt. Entfernen Sie nur eigene markergebundene Ressourcen und prüfen Sie die eigene DB-Abwesenheit.</a:t>
            </a:r>
          </a:p>
          <a:p xmlns:a="http://schemas.openxmlformats.org/drawingml/2006/main">
            <a:r>
              <a:t/>
            </a:r>
          </a:p>
          <a:p xmlns:a="http://schemas.openxmlformats.org/drawingml/2006/main">
            <a:r>
              <a:t>VERTIEFUNG-Folie 53, Quellfolie 42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DGN-008 -Server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Demos/09_AI_SQL_Server_2025/DGN-008_Offline_Model_Rights/README.md</a:t>
            </a:r>
          </a:p>
          <a:p xmlns:a="http://schemas.openxmlformats.org/drawingml/2006/main">
            <a:r>
              <a:t>Ergebnisvertrag: Demos/09_AI_SQL_Server_2025/DGN-008_Offline_Model_Rights/Expected/result-contract.json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SRC-080: CREATE EXTERNAL MODEL</a:t>
            </a:r>
          </a:p>
          <a:p xmlns:a="http://schemas.openxmlformats.org/drawingml/2006/main">
            <a:r>
              <a:t>https://learn.microsoft.com/en-us/sql/t-sql/statements/create-external-model-transact-sql?view=sql-server-ver17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SRC-096: CREATE DATABASE SCOPED CREDENTIAL</a:t>
            </a:r>
          </a:p>
          <a:p xmlns:a="http://schemas.openxmlformats.org/drawingml/2006/main">
            <a:r>
              <a:t>https://learn.microsoft.com/en-us/sql/t-sql/statements/create-database-scoped-credential-transact-sql?view=sql-server-ver17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CUR-016 /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geeigneter synthetischer Prompt lautet: Erkläre diese feste Query und nenne eine widerlegbare Performancehypothese für Engine17.x und CL170. Welche Resultat-, Plan-, Read- und DML-Belege fehlen vor einer Änderung? Ergänzen Sie keine echten Querytexte oder Diagnosepläne. Die Lehrperson lässt die Gruppe unklare Annahmen benennen. Ein LLM kann falsche Syntax, Versionsgrenzen oder Rechte voraussetzen. Konfigurationsänderungen brauchen einen eigenen Wirkungs- und Rückfallvertrag. Eine erfolgreiche Ausführung beweist weder fachliche Gleichheit noch Performancegewinn. Die kontrollierte Offlinefixture erlaubt den gleichen Vorschlag in wiederholbaren Versuchen.</a:t>
            </a:r>
          </a:p>
          <a:p xmlns:a="http://schemas.openxmlformats.org/drawingml/2006/main">
            <a:r>
              <a:t/>
            </a:r>
          </a:p>
          <a:p xmlns:a="http://schemas.openxmlformats.org/drawingml/2006/main">
            <a:r>
              <a:t>VERTIEFUNG-Folie 54, Quellfolie 57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Besprechen Sie den Vorschlag zuerst ohne einen neuen SQL-Lauf. Die vorhandenen Teilbelege betreffen einen kleinen synthetischen 1000-Row-Fall. Zwei private vollständige Original-Readerplanprofile bestätigen inzwischen je den Wechsel Clustered Index Seek auf dem vorhandenen PK, Index Seek auf dem eigenen Candidate und wieder Clustered Index Seek nach dem Abbau. Je Actualplan sind Ergebnisroot 10, Source 10, eine Ausführung und die ursprünglichen Runtimeparameter 101/110 an die echte Readerausführung gebunden. Die zusätzliche Instrumentierung bleibt von bisherigen Performancefenstern getrennt. Diese begrenzte Beobachtung bestätigt keinen Indexnettonutzen. Der INSERT-Versuch enthält OUTPUT, Roworacles, BEGIN/ROLLBACK und Abwesenheitskontrollen, daher ist seine Batchdauer keine reine INSERT- oder Commitzeit. SYSrequestWrites 0 beweist keine Log-I/O-Abwesenheit. Vollständige Runtime-/TP-PERF-, Build-/DML-/Worker-/Speicherkosten und Nettonutzen bleiben zu qualifizieren. Quellenstand dieser neuen Readerplanaussage: main 4bfb1914623c3c49fcc287ee8079013a0fad6ddb, 2026-10-12. Der Transferauftrag fordert den nächsten Versuch, der den behaupteten Lesegewinn widerlegen könnte.</a:t>
            </a:r>
          </a:p>
          <a:p xmlns:a="http://schemas.openxmlformats.org/drawingml/2006/main">
            <a:r>
              <a:t/>
            </a:r>
          </a:p>
          <a:p xmlns:a="http://schemas.openxmlformats.org/drawingml/2006/main">
            <a:r>
              <a:t>VERTIEFUNG-Folie 55, Quellfolie 58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Projektquelle: Documentation/Project_Planning/SQL_SERVER_2025_AI_DGN010_BENCHMARK_CONTRACT.md</a:t>
            </a:r>
          </a:p>
          <a:p xmlns:a="http://schemas.openxmlformats.org/drawingml/2006/main">
            <a:r>
              <a:t/>
            </a:r>
          </a:p>
          <a:p xmlns:a="http://schemas.openxmlformats.org/drawingml/2006/main">
            <a:r>
              <a:t>Projektquelle: Documentation/Project_Planning/SQL_SERVER_2025_AI_DGN010_USAGE_REVIEW.md</a:t>
            </a:r>
          </a:p>
          <a:p xmlns:a="http://schemas.openxmlformats.org/drawingml/2006/main">
            <a:r>
              <a:t/>
            </a:r>
          </a:p>
          <a:p xmlns:a="http://schemas.openxmlformats.org/drawingml/2006/main">
            <a:r>
              <a:t>Projektquelle: Documentation/Project_Planning/SQL_SERVER_2025_AI_DGN010_INSERT_REVIEW.md</a:t>
            </a:r>
          </a:p>
          <a:p xmlns:a="http://schemas.openxmlformats.org/drawingml/2006/main">
            <a:r>
              <a:t/>
            </a:r>
          </a:p>
          <a:p xmlns:a="http://schemas.openxmlformats.org/drawingml/2006/main">
            <a:r>
              <a:t>Projektquelle: Documentation/Project_Planning/SQL_SERVER_2025_AI_DGN010_READER_CLOCK_REVIEW.md</a:t>
            </a:r>
          </a:p>
          <a:p xmlns:a="http://schemas.openxmlformats.org/drawingml/2006/main">
            <a:r>
              <a:t/>
            </a:r>
          </a:p>
          <a:p xmlns:a="http://schemas.openxmlformats.org/drawingml/2006/main">
            <a:r>
              <a:t>Didaktische Zuordnung: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registrierten Microsoft-Quellen unterscheiden Clientassistenz und Enginefunktion. Agent Mode erschien ab22.7 und die Release Notes führen die GA-Grenze22.10.2. Der tatsächlich eingesetzte Clientbuild ist für verfügbare Tools maßgeblich. Ein MCP-/Toolzugang erweitert keine SQL-Rechte automatisch, kann aber einen anderen ausdrücklich konfigurierten Ausführungskontext verwenden. Diesen Kontext prüfen. Vor einem Providerzugang Datenklassifikation, Administrationspolicy, Egress, Kosten und Zugang klären. In dieser Schulung nutzt die Diskussion synthetische Prompts und feste SQLfixtures. Eine Live-Copilot-Sitzung gehört nicht zu den durch das Deck qualifizierten Offline-Demos.</a:t>
            </a:r>
          </a:p>
          <a:p xmlns:a="http://schemas.openxmlformats.org/drawingml/2006/main">
            <a:r>
              <a:t/>
            </a:r>
          </a:p>
          <a:p xmlns:a="http://schemas.openxmlformats.org/drawingml/2006/main">
            <a:r>
              <a:t>VERTIEFUNG-Folie 56, Quellfolie 59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SRC-089: GitHub Copilot in SSMS overview</a:t>
            </a:r>
          </a:p>
          <a:p xmlns:a="http://schemas.openxmlformats.org/drawingml/2006/main">
            <a:r>
              <a:t>https://learn.microsoft.com/en-us/ssms/github-copilot/overview</a:t>
            </a:r>
          </a:p>
          <a:p xmlns:a="http://schemas.openxmlformats.org/drawingml/2006/main">
            <a:r>
              <a:t>Abrufdatum laut Quellenregister: 2026-10-11</a:t>
            </a:r>
          </a:p>
          <a:p xmlns:a="http://schemas.openxmlformats.org/drawingml/2006/main">
            <a:r>
              <a:t/>
            </a:r>
          </a:p>
          <a:p xmlns:a="http://schemas.openxmlformats.org/drawingml/2006/main">
            <a:r>
              <a:t>SRC-090: SSMS Agent mode</a:t>
            </a:r>
          </a:p>
          <a:p xmlns:a="http://schemas.openxmlformats.org/drawingml/2006/main">
            <a:r>
              <a:t>https://learn.microsoft.com/en-us/ssms/github-copilot/agent-mode</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SRC-092: SSMS 22 release notes</a:t>
            </a:r>
          </a:p>
          <a:p xmlns:a="http://schemas.openxmlformats.org/drawingml/2006/main">
            <a:r>
              <a:t>https://learn.microsoft.com/en-us/ssms/release-notes-22</a:t>
            </a:r>
          </a:p>
          <a:p xmlns:a="http://schemas.openxmlformats.org/drawingml/2006/main">
            <a:r>
              <a:t>Abrufdatum laut Quellenregister: 2026-10-11</a:t>
            </a:r>
          </a:p>
          <a:p xmlns:a="http://schemas.openxmlformats.org/drawingml/2006/main">
            <a:r>
              <a:t/>
            </a:r>
          </a:p>
          <a:p xmlns:a="http://schemas.openxmlformats.org/drawingml/2006/main">
            <a:r>
              <a:t>SRC-098: SSMS Copilot admin controls</a:t>
            </a:r>
          </a:p>
          <a:p xmlns:a="http://schemas.openxmlformats.org/drawingml/2006/main">
            <a:r>
              <a:t>https://learn.microsoft.com/en-us/ssms/github-copilot/admin-controls</a:t>
            </a:r>
          </a:p>
          <a:p xmlns:a="http://schemas.openxmlformats.org/drawingml/2006/main">
            <a:r>
              <a:t>Abrufdatum laut Quellenregister: 2026-10-11</a:t>
            </a:r>
          </a:p>
          <a:p xmlns:a="http://schemas.openxmlformats.org/drawingml/2006/main">
            <a:r>
              <a:t/>
            </a:r>
          </a:p>
          <a:p xmlns:a="http://schemas.openxmlformats.org/drawingml/2006/main">
            <a:r>
              <a:t>Didaktische Zuordnung: CUR-021 /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CON-010 manifestbasiert. Prüfen Sie zwei Baselinezeilen, zwei erlaubte vollständige Quellenkontexte, null fremde Rows, drei Rechteverweigerungen, null Rows nach Revoke und einen Kontextreset. Die drei WITHOUT LOGIN Benutzer besitzen ausschließlich die sechs geprüften CONNECT-/SELECT-Grants. Der privilegierte Labowner ist im eingefrorenen Prädikat ausdrücklich zugelassen, um Fixture und Cleanup zu verwalten. Die Demo schützt deshalb nicht vor diesem Owner. RLS filtert dbo, wenn ein Prädikat keine entsprechende Ausnahme besitzt. Reale Serverlogins, mehrere Sessions, Pooling, ANN-Postfilter und Seitenkanäle brauchen eigene Nachweise. Cleanup ist markergebunden und unabhängig zu bestätigen.</a:t>
            </a:r>
          </a:p>
          <a:p xmlns:a="http://schemas.openxmlformats.org/drawingml/2006/main">
            <a:r>
              <a:t/>
            </a:r>
          </a:p>
          <a:p xmlns:a="http://schemas.openxmlformats.org/drawingml/2006/main">
            <a:r>
              <a:t>VERTIEFUNG-Folie 57, Quellfolie 50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CON-010 -Server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Demos/09_AI_SQL_Server_2025/CON-010_Tenant_Isolation/README.md</a:t>
            </a:r>
          </a:p>
          <a:p xmlns:a="http://schemas.openxmlformats.org/drawingml/2006/main">
            <a:r>
              <a:t>Ergebnisvertrag: Demos/09_AI_SQL_Server_2025/CON-010_Tenant_Isolation/Expected/result-contract.json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SRC-093: Row-Level Security</a:t>
            </a:r>
          </a:p>
          <a:p xmlns:a="http://schemas.openxmlformats.org/drawingml/2006/main">
            <a:r>
              <a:t>https://learn.microsoft.com/en-us/sql/relational-databases/security/row-level-security?view=sql-server-ver17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Lassen Sie eine langsame Antwort als Hypothese in SQL-, Netz-, Queue- und Modellanteile zerlegen. RES009 benötigt begrenzte eigene Sessions, endliche Ressourcen und Stopbedingungen. DGN011 benötigt bei realer Inferenz einen gesondert freigegebenen Provider. Authentifizierungs-/TLS-/Dimensionsfehler werden vor Persistenz erkannt. Erfassen Sie endliche Requestrohwerte für belastbare Quantile und Fehlerraten. Waits sind Diagnosehinweise, keine isolierten Ursachenbeweise. Die kanonischen Entwürfe liefern den späteren Lifecycle. Dieses Deck startet weder einen Concurrent Workload noch einen Netz- oder Modellcall.</a:t>
            </a:r>
          </a:p>
          <a:p xmlns:a="http://schemas.openxmlformats.org/drawingml/2006/main">
            <a:r>
              <a:t/>
            </a:r>
          </a:p>
          <a:p xmlns:a="http://schemas.openxmlformats.org/drawingml/2006/main">
            <a:r>
              <a:t>VERTIEFUNG-Folie 58, Quellfolie 56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SRC-027: Monitor performance by using the Query Store</a:t>
            </a:r>
          </a:p>
          <a:p xmlns:a="http://schemas.openxmlformats.org/drawingml/2006/main">
            <a:r>
              <a:t>https://learn.microsoft.com/en-us/sql/relational-databases/performance/monitoring-performance-by-using-the-query-store?view=sql-server-ver17</a:t>
            </a:r>
          </a:p>
          <a:p xmlns:a="http://schemas.openxmlformats.org/drawingml/2006/main">
            <a:r>
              <a:t>Abrufdatum laut Quellenregister: 2026-07-24</a:t>
            </a:r>
          </a:p>
          <a:p xmlns:a="http://schemas.openxmlformats.org/drawingml/2006/main">
            <a:r>
              <a:t/>
            </a:r>
          </a:p>
          <a:p xmlns:a="http://schemas.openxmlformats.org/drawingml/2006/main">
            <a:r>
              <a:t>SRC-028: Performance monitoring and tuning tools</a:t>
            </a:r>
          </a:p>
          <a:p xmlns:a="http://schemas.openxmlformats.org/drawingml/2006/main">
            <a:r>
              <a:t>https://learn.microsoft.com/en-us/sql/relational-databases/performance/performance-monitoring-and-tuning-tools?view=sql-server-ver17</a:t>
            </a:r>
          </a:p>
          <a:p xmlns:a="http://schemas.openxmlformats.org/drawingml/2006/main">
            <a:r>
              <a:t>Abrufdatum laut Quellenregister: 2026-07-24</a:t>
            </a:r>
          </a:p>
          <a:p xmlns:a="http://schemas.openxmlformats.org/drawingml/2006/main">
            <a:r>
              <a:t/>
            </a:r>
          </a:p>
          <a:p xmlns:a="http://schemas.openxmlformats.org/drawingml/2006/main">
            <a:r>
              <a:t>SRC-032: Tune nonclustered indexes with missing index suggestions</a:t>
            </a:r>
          </a:p>
          <a:p xmlns:a="http://schemas.openxmlformats.org/drawingml/2006/main">
            <a:r>
              <a:t>https://learn.microsoft.com/en-us/sql/relational-databases/indexes/tune-nonclustered-missing-index-suggestions?view=sql-server-ver17</a:t>
            </a:r>
          </a:p>
          <a:p xmlns:a="http://schemas.openxmlformats.org/drawingml/2006/main">
            <a:r>
              <a:t>Abrufdatum laut Quellenregister: 2026-07-24</a:t>
            </a:r>
          </a:p>
          <a:p xmlns:a="http://schemas.openxmlformats.org/drawingml/2006/main">
            <a:r>
              <a:t/>
            </a:r>
          </a:p>
          <a:p xmlns:a="http://schemas.openxmlformats.org/drawingml/2006/main">
            <a:r>
              <a:t>SRC-081: AI_GENERATE_EMBEDDINGS</a:t>
            </a:r>
          </a:p>
          <a:p xmlns:a="http://schemas.openxmlformats.org/drawingml/2006/main">
            <a:r>
              <a:t>https://learn.microsoft.com/en-us/sql/t-sql/functions/ai-generate-embeddings-transact-sql?view=sql-server-ver17</a:t>
            </a:r>
          </a:p>
          <a:p xmlns:a="http://schemas.openxmlformats.org/drawingml/2006/main">
            <a:r>
              <a:t>Abrufdatum laut Quellenregister: 2026-10-11</a:t>
            </a:r>
          </a:p>
          <a:p xmlns:a="http://schemas.openxmlformats.org/drawingml/2006/main">
            <a:r>
              <a:t/>
            </a:r>
          </a:p>
          <a:p xmlns:a="http://schemas.openxmlformats.org/drawingml/2006/main">
            <a:r>
              <a:t>SRC-082: sp_invoke_external_rest_endpoint</a:t>
            </a:r>
          </a:p>
          <a:p xmlns:a="http://schemas.openxmlformats.org/drawingml/2006/main">
            <a:r>
              <a:t>https://learn.microsoft.com/en-us/sql/relational-databases/system-stored-procedures/sp-invoke-external-rest-endpoint-transact-sql?view=sql-server-ver17</a:t>
            </a:r>
          </a:p>
          <a:p xmlns:a="http://schemas.openxmlformats.org/drawingml/2006/main">
            <a:r>
              <a:t>Abrufdatum laut Quellenregister: 2026-10-11</a:t>
            </a:r>
          </a:p>
          <a:p xmlns:a="http://schemas.openxmlformats.org/drawingml/2006/main">
            <a:r>
              <a:t/>
            </a:r>
          </a:p>
          <a:p xmlns:a="http://schemas.openxmlformats.org/drawingml/2006/main">
            <a:r>
              <a:t>Projektquelle: Documentation/Demo_Catalog/SQL_SERVER_2025_AI_DEMO_DESIGNS.md</a:t>
            </a:r>
          </a:p>
          <a:p xmlns:a="http://schemas.openxmlformats.org/drawingml/2006/main">
            <a:r>
              <a:t/>
            </a:r>
          </a:p>
          <a:p xmlns:a="http://schemas.openxmlformats.org/drawingml/2006/main">
            <a:r>
              <a:t>Didaktische Zuordnung: CUR-020.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Starten Sie DGN-009 über den Ausführungsleitfaden. Verfolgen Sie zuerst den tatsächlichen Retrievalpfad der manipulierten Quelle. Danach zeigen Sie die feste Antwort- und Toolfixture. Die Policy entscheidet unabhängig vom Wortlaut des Quelleninhalts. Zusätzlich belegen echte SQL-Rechtefehler die Datenbankgrenze. Eine feste Fixture ermöglicht eine wiederholbare Beobachtung, beweist aber keine Resistenz jedes späteren LLMs gegen Prompt Injection. Der Transferauftrag fragt nach einem erlaubten Dokument, das eine unerlaubte Toolaktion verlangt. Keine unbekannten Tools oder Provider aktivieren. Cleanup und eigene DB-Abwesenheit prüfen.</a:t>
            </a:r>
          </a:p>
          <a:p xmlns:a="http://schemas.openxmlformats.org/drawingml/2006/main">
            <a:r>
              <a:t/>
            </a:r>
          </a:p>
          <a:p xmlns:a="http://schemas.openxmlformats.org/drawingml/2006/main">
            <a:r>
              <a:t>VERTIEFUNG-Folie 59, Quellfolie 49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Konkreter Aufruf nach Einrichtung gemäß DEMO_EXECUTION_GUIDE.md:</a:t>
            </a:r>
          </a:p>
          <a:p xmlns:a="http://schemas.openxmlformats.org/drawingml/2006/main">
            <a:r>
              <a:t>Invoke-SqlPerfDemo -DemoId DGN-009 -Server $server -Authentication $authentication -Username $username</a:t>
            </a:r>
          </a:p>
          <a:p xmlns:a="http://schemas.openxmlformats.org/drawingml/2006/main">
            <a:r>
              <a:t>Phasen und Abbruch: manifest.json sowie 90_Cleanup.sql. Vier vollständige Eigentumsmarker und denselben RunToken prüfen. Anschließend unabhängige Abwesenheit der eigenen DB bestätigen.</a:t>
            </a:r>
          </a:p>
          <a:p xmlns:a="http://schemas.openxmlformats.org/drawingml/2006/main">
            <a:r>
              <a:t>Demoquelle: Demos/09_AI_SQL_Server_2025/DGN-009_Offline_Injection/README.md</a:t>
            </a:r>
          </a:p>
          <a:p xmlns:a="http://schemas.openxmlformats.org/drawingml/2006/main">
            <a:r>
              <a:t>Ergebnisvertrag: Demos/09_AI_SQL_Server_2025/DGN-009_Offline_Injection/Expected/result-contract.json</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SRC-090: SSMS Agent mode</a:t>
            </a:r>
          </a:p>
          <a:p xmlns:a="http://schemas.openxmlformats.org/drawingml/2006/main">
            <a:r>
              <a:t>https://learn.microsoft.com/en-us/ssms/github-copilot/agent-mode</a:t>
            </a:r>
          </a:p>
          <a:p xmlns:a="http://schemas.openxmlformats.org/drawingml/2006/main">
            <a:r>
              <a:t>Abrufdatum laut Quellenregister: 2026-10-11</a:t>
            </a:r>
          </a:p>
          <a:p xmlns:a="http://schemas.openxmlformats.org/drawingml/2006/main">
            <a:r>
              <a:t/>
            </a:r>
          </a:p>
          <a:p xmlns:a="http://schemas.openxmlformats.org/drawingml/2006/main">
            <a:r>
              <a:t>SRC-091: Execution context for GitHub Copilot</a:t>
            </a:r>
          </a:p>
          <a:p xmlns:a="http://schemas.openxmlformats.org/drawingml/2006/main">
            <a:r>
              <a:t>https://learn.microsoft.com/en-us/ssms/github-copilot/execution-context</a:t>
            </a:r>
          </a:p>
          <a:p xmlns:a="http://schemas.openxmlformats.org/drawingml/2006/main">
            <a:r>
              <a:t>Abrufdatum laut Quellenregister: 2026-10-11</a:t>
            </a:r>
          </a:p>
          <a:p xmlns:a="http://schemas.openxmlformats.org/drawingml/2006/main">
            <a:r>
              <a:t/>
            </a:r>
          </a:p>
          <a:p xmlns:a="http://schemas.openxmlformats.org/drawingml/2006/main">
            <a:r>
              <a:t>SRC-099: SQL Injection</a:t>
            </a:r>
          </a:p>
          <a:p xmlns:a="http://schemas.openxmlformats.org/drawingml/2006/main">
            <a:r>
              <a:t>https://learn.microsoft.com/en-us/sql/relational-databases/security/sql-injection?view=sql-server-ver17</a:t>
            </a:r>
          </a:p>
          <a:p xmlns:a="http://schemas.openxmlformats.org/drawingml/2006/main">
            <a:r>
              <a:t>Abrufdatum laut Quellenregister: 2026-10-11</a:t>
            </a:r>
          </a:p>
          <a:p xmlns:a="http://schemas.openxmlformats.org/drawingml/2006/main">
            <a:r>
              <a:t/>
            </a:r>
          </a:p>
          <a:p xmlns:a="http://schemas.openxmlformats.org/drawingml/2006/main">
            <a:r>
              <a:t>Didaktische Zuordnung: CUR-018.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Status stammt aus den kanonischen Quellen am12.10.2026. PROPOSED bedeutet hier nicht, dass keine Arbeit existiert. Für IDX011, IDX012, RES008 und DGN010 liegen öffentliche Vorstufen sowie begrenzte gebundene Teilbelege vor. Diese lösen jeweils eine konkrete Frage und ersetzen nicht die noch offenen vollständigen Demo-/TP-PERF-Gates. Provider-, Cloud- und ONNX-Ausführung wird nicht aus einer Folie abgeleitet. Der aktuelle Ausführungsstand bleibt die Pflegeautorität für neue Befunde. Allgemeine Runtime-, Testprofil- und Lehrpfadabnahme bleiben getrennt. Keine private Forschungs- oder PR-Historie ist für den Unterricht erforderlich.</a:t>
            </a:r>
          </a:p>
          <a:p xmlns:a="http://schemas.openxmlformats.org/drawingml/2006/main">
            <a:r>
              <a:t/>
            </a:r>
          </a:p>
          <a:p xmlns:a="http://schemas.openxmlformats.org/drawingml/2006/main">
            <a:r>
              <a:t>VERTIEFUNG-Folie 60, Quellfolie 60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Documentation/Demo_Catalog/SQL_SERVER_2025_AI_DEMO_DESIGNS.md</a:t>
            </a:r>
          </a:p>
          <a:p xmlns:a="http://schemas.openxmlformats.org/drawingml/2006/main">
            <a:r>
              <a:t/>
            </a:r>
          </a:p>
          <a:p xmlns:a="http://schemas.openxmlformats.org/drawingml/2006/main">
            <a:r>
              <a:t>Projektquelle: Documentation/Demo_Catalog/README.md</a:t>
            </a:r>
          </a:p>
          <a:p xmlns:a="http://schemas.openxmlformats.org/drawingml/2006/main">
            <a:r>
              <a:t/>
            </a:r>
          </a:p>
          <a:p xmlns:a="http://schemas.openxmlformats.org/drawingml/2006/main">
            <a:r>
              <a:t>Projektquelle: Documentation/Project_Planning/CURRENT_EXECUTION_STATUS.md</a:t>
            </a:r>
          </a:p>
          <a:p xmlns:a="http://schemas.openxmlformats.org/drawingml/2006/main">
            <a:r>
              <a:t/>
            </a:r>
          </a:p>
          <a:p xmlns:a="http://schemas.openxmlformats.org/drawingml/2006/main">
            <a:r>
              <a:t>Didaktische Zuordnung: CUR-016 / CUR-019 / CUR-020 / CUR-021.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Verwenden Sie die vorhandene Rubrik und die einzige gepflegte Trainerlösung im Offline-Arbeitsheft. Lassen Sie die Gruppe einen nachvollziehbaren Datenfluss und mindestens eine Gegenprobe beschreiben. Erwartete Elemente sind authentifizierter Tenantkontext, aktuelle Quellenbereiche, passende Modellprovenienz, feste Wertbindung und begrenzter Kontext. Ein Quellenwiderspruch erlaubt eine begründete Nichtantwort. Der Indexvorschlag benötigt gleiche Resultate, geeignete Messfenster und DML-/Storage-/Buildkosten. Die Rubrik hat keine festgelegte Bestehensgrenze und beweist keine gemessene Lernwirksamkeit. CON010 und Vertiefungsaufträge werden getrennt besprochen. Sammeln Sie keine Namen, Rawpläne oder Daten realer Systeme. Tatsächliche Lehrzeiten und Teilnehmerabnahme folgen erst in der Generalprobe.</a:t>
            </a:r>
          </a:p>
          <a:p xmlns:a="http://schemas.openxmlformats.org/drawingml/2006/main">
            <a:r>
              <a:t/>
            </a:r>
          </a:p>
          <a:p xmlns:a="http://schemas.openxmlformats.org/drawingml/2006/main">
            <a:r>
              <a:t>VERTIEFUNG-Folie 61, Quellfolie 61 des 61-Folien-Masterdecks. Ablauf und Beobachtungsbogen: Documentation/HowTo/SQL_SERVER_2025_AI_VERTIEFUNG_COURSE.md. Lösungen und Rubrik ausschließlich im vorhandenen Offline-Arbeitsheft. Zeitfenster sind Planwerte; SQL-Laufzeiten belegen keine Lehrzeit.</a:t>
            </a:r>
          </a:p>
          <a:p xmlns:a="http://schemas.openxmlformats.org/drawingml/2006/main">
            <a:r>
              <a:t/>
            </a:r>
          </a:p>
          <a:p xmlns:a="http://schemas.openxmlformats.org/drawingml/2006/main">
            <a:r>
              <a:t>Quellen und Gültigkeit:</a:t>
            </a:r>
          </a:p>
          <a:p xmlns:a="http://schemas.openxmlformats.org/drawingml/2006/main">
            <a:r>
              <a:t/>
            </a:r>
          </a:p>
          <a:p xmlns:a="http://schemas.openxmlformats.org/drawingml/2006/main">
            <a:r>
              <a:t>Projektquelle: Documentation/HowTo/SQL_SERVER_2025_AI_OFFLINE_WORKBOOK.md</a:t>
            </a:r>
          </a:p>
          <a:p xmlns:a="http://schemas.openxmlformats.org/drawingml/2006/main">
            <a:r>
              <a:t/>
            </a:r>
          </a:p>
          <a:p xmlns:a="http://schemas.openxmlformats.org/drawingml/2006/main">
            <a:r>
              <a:t>Projektquelle: Documentation/HowTo/SQL_SERVER_2025_AI_OFFLINE_TRAINER_GUIDE.md</a:t>
            </a:r>
          </a:p>
          <a:p xmlns:a="http://schemas.openxmlformats.org/drawingml/2006/main">
            <a:r>
              <a:t/>
            </a:r>
          </a:p>
          <a:p xmlns:a="http://schemas.openxmlformats.org/drawingml/2006/main">
            <a:r>
              <a:t>Projektquelle: Documentation/Project_Planning/SQL_SERVER_2025_AI_WORKSTREAM_PLAN.md</a:t>
            </a:r>
          </a:p>
          <a:p xmlns:a="http://schemas.openxmlformats.org/drawingml/2006/main">
            <a:r>
              <a:t/>
            </a:r>
          </a:p>
          <a:p xmlns:a="http://schemas.openxmlformats.org/drawingml/2006/main">
            <a:r>
              <a:t>Didaktische Zuordnung: CUR-022. Materialstand 2026-10-12. Aktuelle Ausführungsfreigaben und Demo-Gates: Documentation/Project_Planning/CURRENT_EXECUTION_STATUS.md.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b22f34317843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0bca70b5c443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d1b4272edb4c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2a779c8a0a47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dd7eb17f4745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ecaef3d461e47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E4CD45-813B-418A-BB03-1B9BABA9D3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26AF33-9EC8-438B-8F91-B112F319EB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F2A7E2-F9EA-481F-A23D-0988C24E84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AAF2EA-C558-43A8-AAB2-7F187071C4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60462D-E822-4E4C-B361-C3E57608B5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9E6AA7-7622-412A-A33D-01C2CD46E4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E60418-FB73-441B-83B1-FD2D4D7E7B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320E38-40A8-4390-A9D6-84A35B72D3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56336B-5183-4D06-A63B-E0E1E2AAD1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559E60-0B81-460E-AB66-AB916BF604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3a4e1b350348c1" /><Relationship Type="http://schemas.openxmlformats.org/officeDocument/2006/relationships/slideLayout" Target="/ppt/slideLayouts/slideLayout1.xml" Id="R1b9159693ead4bf3" /><Relationship Type="http://schemas.openxmlformats.org/officeDocument/2006/relationships/slideLayout" Target="/ppt/slideLayouts/slideLayout2.xml" Id="R3e3de9d4451642ec" /><Relationship Type="http://schemas.openxmlformats.org/officeDocument/2006/relationships/slideLayout" Target="/ppt/slideLayouts/slideLayout3.xml" Id="R7688a8fea89b47ac" /><Relationship Type="http://schemas.openxmlformats.org/officeDocument/2006/relationships/slideLayout" Target="/ppt/slideLayouts/slideLayout4.xml" Id="R0508e75e2a534728" /><Relationship Type="http://schemas.openxmlformats.org/officeDocument/2006/relationships/slideLayout" Target="/ppt/slideLayouts/slideLayout5.xml" Id="Ra342835369dd4c80" /><Relationship Type="http://schemas.openxmlformats.org/officeDocument/2006/relationships/slideLayout" Target="/ppt/slideLayouts/slideLayout6.xml" Id="R6005933ba70a41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9159693ead4bf3"/>
    <p:sldLayoutId xmlns:r="http://schemas.openxmlformats.org/officeDocument/2006/relationships" id="2147483650" r:id="R3e3de9d4451642ec"/>
    <p:sldLayoutId xmlns:r="http://schemas.openxmlformats.org/officeDocument/2006/relationships" id="2147483651" r:id="R7688a8fea89b47ac"/>
    <p:sldLayoutId xmlns:r="http://schemas.openxmlformats.org/officeDocument/2006/relationships" id="2147483652" r:id="R0508e75e2a534728"/>
    <p:sldLayoutId xmlns:r="http://schemas.openxmlformats.org/officeDocument/2006/relationships" id="2147483653" r:id="Ra342835369dd4c80"/>
    <p:sldLayoutId xmlns:r="http://schemas.openxmlformats.org/officeDocument/2006/relationships" id="2147483654" r:id="R6005933ba70a41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035b685a4e49e0" /><Relationship Type="http://schemas.openxmlformats.org/officeDocument/2006/relationships/notesSlide" Target="/ppt/notesSlides/notesSlide1.xml" Id="R2948fc58ed1640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90cc01cfcd4624" /><Relationship Type="http://schemas.openxmlformats.org/officeDocument/2006/relationships/notesSlide" Target="/ppt/notesSlides/notesSlide2.xml" Id="R72b8f5178f0b42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88dc0dab304b3f" /><Relationship Type="http://schemas.openxmlformats.org/officeDocument/2006/relationships/notesSlide" Target="/ppt/notesSlides/notesSlide3.xml" Id="R431eb8cb98734a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31cac31479401b" /><Relationship Type="http://schemas.openxmlformats.org/officeDocument/2006/relationships/notesSlide" Target="/ppt/notesSlides/notesSlide4.xml" Id="R46b47b6c45a342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979fdbcd60f4cdc" /><Relationship Type="http://schemas.openxmlformats.org/officeDocument/2006/relationships/notesSlide" Target="/ppt/notesSlides/notesSlide5.xml" Id="Rf4c422fdfb354d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325bca571045a7" /><Relationship Type="http://schemas.openxmlformats.org/officeDocument/2006/relationships/notesSlide" Target="/ppt/notesSlides/notesSlide6.xml" Id="R6726051bf71f4f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ff89e550a144d30" /><Relationship Type="http://schemas.openxmlformats.org/officeDocument/2006/relationships/notesSlide" Target="/ppt/notesSlides/notesSlide7.xml" Id="R4409555f2a7741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a3ca969e1f41b4" /><Relationship Type="http://schemas.openxmlformats.org/officeDocument/2006/relationships/notesSlide" Target="/ppt/notesSlides/notesSlide8.xml" Id="R064cd7733a384a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0d727569744d73" /><Relationship Type="http://schemas.openxmlformats.org/officeDocument/2006/relationships/notesSlide" Target="/ppt/notesSlides/notesSlide9.xml" Id="R05b1ba37906642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8e15f33781496e" /><Relationship Type="http://schemas.openxmlformats.org/officeDocument/2006/relationships/notesSlide" Target="/ppt/notesSlides/notesSlide10.xml" Id="R91a677357b664b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d94861b70c4417e" /><Relationship Type="http://schemas.openxmlformats.org/officeDocument/2006/relationships/notesSlide" Target="/ppt/notesSlides/notesSlide11.xml" Id="Rfa29b2a055244d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a25910bd484892" /><Relationship Type="http://schemas.openxmlformats.org/officeDocument/2006/relationships/notesSlide" Target="/ppt/notesSlides/notesSlide12.xml" Id="Ra329a337a51649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2545e9c37c4560" /><Relationship Type="http://schemas.openxmlformats.org/officeDocument/2006/relationships/notesSlide" Target="/ppt/notesSlides/notesSlide13.xml" Id="Rc7f0b708b34d44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2e1fae385cf44a3" /><Relationship Type="http://schemas.openxmlformats.org/officeDocument/2006/relationships/notesSlide" Target="/ppt/notesSlides/notesSlide14.xml" Id="R968368df317841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7d74b6f7d9244a4" /><Relationship Type="http://schemas.openxmlformats.org/officeDocument/2006/relationships/notesSlide" Target="/ppt/notesSlides/notesSlide15.xml" Id="R04a0d572271c4c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b8002bff794698" /><Relationship Type="http://schemas.openxmlformats.org/officeDocument/2006/relationships/notesSlide" Target="/ppt/notesSlides/notesSlide16.xml" Id="R2b990a2a18df49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13d9501cca048ff" /><Relationship Type="http://schemas.openxmlformats.org/officeDocument/2006/relationships/notesSlide" Target="/ppt/notesSlides/notesSlide17.xml" Id="Re0be12bf37a649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5f8c416215d411d" /><Relationship Type="http://schemas.openxmlformats.org/officeDocument/2006/relationships/notesSlide" Target="/ppt/notesSlides/notesSlide18.xml" Id="R424911b7c32a43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4015893fbb4ba1" /><Relationship Type="http://schemas.openxmlformats.org/officeDocument/2006/relationships/notesSlide" Target="/ppt/notesSlides/notesSlide19.xml" Id="R735f51eae65243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d6a6cbbfcc74b4f" /><Relationship Type="http://schemas.openxmlformats.org/officeDocument/2006/relationships/notesSlide" Target="/ppt/notesSlides/notesSlide20.xml" Id="R26e538d4f1f54b5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e6353f9d103448b" /><Relationship Type="http://schemas.openxmlformats.org/officeDocument/2006/relationships/notesSlide" Target="/ppt/notesSlides/notesSlide21.xml" Id="R8bc8ff38045a48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817efb50fca4e0d" /><Relationship Type="http://schemas.openxmlformats.org/officeDocument/2006/relationships/notesSlide" Target="/ppt/notesSlides/notesSlide22.xml" Id="R5151e3dad7d24e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b81b2e2cd0a4b98" /><Relationship Type="http://schemas.openxmlformats.org/officeDocument/2006/relationships/notesSlide" Target="/ppt/notesSlides/notesSlide23.xml" Id="R7facf4ee0a9d44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895c92d60d3497d" /><Relationship Type="http://schemas.openxmlformats.org/officeDocument/2006/relationships/notesSlide" Target="/ppt/notesSlides/notesSlide24.xml" Id="R11e6966ac6f448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b64ba681b5446e6" /><Relationship Type="http://schemas.openxmlformats.org/officeDocument/2006/relationships/notesSlide" Target="/ppt/notesSlides/notesSlide25.xml" Id="Rb0f6aa52283e4c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87f61cd7aaf4439" /><Relationship Type="http://schemas.openxmlformats.org/officeDocument/2006/relationships/notesSlide" Target="/ppt/notesSlides/notesSlide26.xml" Id="Rfa753f6f630d440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98f88dcdff94adc" /><Relationship Type="http://schemas.openxmlformats.org/officeDocument/2006/relationships/notesSlide" Target="/ppt/notesSlides/notesSlide27.xml" Id="R74b2067e3657449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aaa4add43014cac" /><Relationship Type="http://schemas.openxmlformats.org/officeDocument/2006/relationships/notesSlide" Target="/ppt/notesSlides/notesSlide28.xml" Id="R8cfb57618942450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4873248507f4857" /><Relationship Type="http://schemas.openxmlformats.org/officeDocument/2006/relationships/notesSlide" Target="/ppt/notesSlides/notesSlide29.xml" Id="R275825ef281647c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e0161dbafc4238" /><Relationship Type="http://schemas.openxmlformats.org/officeDocument/2006/relationships/notesSlide" Target="/ppt/notesSlides/notesSlide30.xml" Id="R430fefafa78d4c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28d9b03ad94467c" /><Relationship Type="http://schemas.openxmlformats.org/officeDocument/2006/relationships/notesSlide" Target="/ppt/notesSlides/notesSlide31.xml" Id="R99f243f1751b4d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7eb5eccfb2b4ba6" /><Relationship Type="http://schemas.openxmlformats.org/officeDocument/2006/relationships/notesSlide" Target="/ppt/notesSlides/notesSlide32.xml" Id="Reed6008259c4409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f14c4756c1e43e4" /><Relationship Type="http://schemas.openxmlformats.org/officeDocument/2006/relationships/notesSlide" Target="/ppt/notesSlides/notesSlide33.xml" Id="R829f4b49135d498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9017caa97b6404f" /><Relationship Type="http://schemas.openxmlformats.org/officeDocument/2006/relationships/notesSlide" Target="/ppt/notesSlides/notesSlide34.xml" Id="R72ab4050ee1443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35770a674614cf6" /><Relationship Type="http://schemas.openxmlformats.org/officeDocument/2006/relationships/notesSlide" Target="/ppt/notesSlides/notesSlide35.xml" Id="R7287c30b1f304b6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61025d9dd8e4e5a" /><Relationship Type="http://schemas.openxmlformats.org/officeDocument/2006/relationships/notesSlide" Target="/ppt/notesSlides/notesSlide36.xml" Id="R97224e61500544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822268e005a4845" /><Relationship Type="http://schemas.openxmlformats.org/officeDocument/2006/relationships/notesSlide" Target="/ppt/notesSlides/notesSlide37.xml" Id="R288d2ee2df604ed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9734c52356e4f8a" /><Relationship Type="http://schemas.openxmlformats.org/officeDocument/2006/relationships/notesSlide" Target="/ppt/notesSlides/notesSlide38.xml" Id="R977ccb18ed36482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d08a2354295460c" /><Relationship Type="http://schemas.openxmlformats.org/officeDocument/2006/relationships/notesSlide" Target="/ppt/notesSlides/notesSlide39.xml" Id="Rc9d904471ed547c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68030178f984ddc" /><Relationship Type="http://schemas.openxmlformats.org/officeDocument/2006/relationships/notesSlide" Target="/ppt/notesSlides/notesSlide40.xml" Id="Rc435fe05c7b840d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fb55a5c23c94821" /><Relationship Type="http://schemas.openxmlformats.org/officeDocument/2006/relationships/notesSlide" Target="/ppt/notesSlides/notesSlide41.xml" Id="R192cb7a348c6439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45b383dfb5445fb" /><Relationship Type="http://schemas.openxmlformats.org/officeDocument/2006/relationships/notesSlide" Target="/ppt/notesSlides/notesSlide42.xml" Id="Rba72c472beac430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017d453ca9e49b5" /><Relationship Type="http://schemas.openxmlformats.org/officeDocument/2006/relationships/notesSlide" Target="/ppt/notesSlides/notesSlide43.xml" Id="R6db72876c9fe4e9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678a032fcab4600" /><Relationship Type="http://schemas.openxmlformats.org/officeDocument/2006/relationships/notesSlide" Target="/ppt/notesSlides/notesSlide44.xml" Id="R57072f22e4514dc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3fbf68d31314601" /><Relationship Type="http://schemas.openxmlformats.org/officeDocument/2006/relationships/notesSlide" Target="/ppt/notesSlides/notesSlide45.xml" Id="Ra6efea16c5ec472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e426a46939a4823" /><Relationship Type="http://schemas.openxmlformats.org/officeDocument/2006/relationships/notesSlide" Target="/ppt/notesSlides/notesSlide46.xml" Id="R77ea3899acdc4d1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b8e2409f2de4903" /><Relationship Type="http://schemas.openxmlformats.org/officeDocument/2006/relationships/notesSlide" Target="/ppt/notesSlides/notesSlide47.xml" Id="Rac0be0c44bbc4f6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f478545c4c2d48a4" /><Relationship Type="http://schemas.openxmlformats.org/officeDocument/2006/relationships/notesSlide" Target="/ppt/notesSlides/notesSlide48.xml" Id="R1f471bbacf774d3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805ef11f88b47cd" /><Relationship Type="http://schemas.openxmlformats.org/officeDocument/2006/relationships/notesSlide" Target="/ppt/notesSlides/notesSlide49.xml" Id="R3248bfb5cfdb4ea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d28420ac2114a2f" /><Relationship Type="http://schemas.openxmlformats.org/officeDocument/2006/relationships/notesSlide" Target="/ppt/notesSlides/notesSlide50.xml" Id="Rd477483eb0dc4c8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c3ecbe22fde411a" /><Relationship Type="http://schemas.openxmlformats.org/officeDocument/2006/relationships/notesSlide" Target="/ppt/notesSlides/notesSlide51.xml" Id="R760f00d816e1498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0e7399d8e0ee4545" /><Relationship Type="http://schemas.openxmlformats.org/officeDocument/2006/relationships/notesSlide" Target="/ppt/notesSlides/notesSlide52.xml" Id="R13f0e8b8d10e444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99a91d65e364f71" /><Relationship Type="http://schemas.openxmlformats.org/officeDocument/2006/relationships/notesSlide" Target="/ppt/notesSlides/notesSlide53.xml" Id="Rf533a4bed631470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92d6e14fdb64bd2" /><Relationship Type="http://schemas.openxmlformats.org/officeDocument/2006/relationships/notesSlide" Target="/ppt/notesSlides/notesSlide54.xml" Id="R08231b4c0da84d6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d892bade7fc24575" /><Relationship Type="http://schemas.openxmlformats.org/officeDocument/2006/relationships/notesSlide" Target="/ppt/notesSlides/notesSlide55.xml" Id="R652f96a31fdf4fc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9573bbf45264b83" /><Relationship Type="http://schemas.openxmlformats.org/officeDocument/2006/relationships/notesSlide" Target="/ppt/notesSlides/notesSlide56.xml" Id="Rf3eb5133ab8d405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ea828f824bb43e5" /><Relationship Type="http://schemas.openxmlformats.org/officeDocument/2006/relationships/notesSlide" Target="/ppt/notesSlides/notesSlide57.xml" Id="Rbc8dcc2e04324de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6f97e312fd2c463f" /><Relationship Type="http://schemas.openxmlformats.org/officeDocument/2006/relationships/notesSlide" Target="/ppt/notesSlides/notesSlide58.xml" Id="R5196b79ece0f478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969f3228ab284b72" /><Relationship Type="http://schemas.openxmlformats.org/officeDocument/2006/relationships/notesSlide" Target="/ppt/notesSlides/notesSlide59.xml" Id="R9fb421528468400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ae88174d60db4248" /><Relationship Type="http://schemas.openxmlformats.org/officeDocument/2006/relationships/notesSlide" Target="/ppt/notesSlides/notesSlide60.xml" Id="R3a9e1de8b4ab4db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af6f96568cf64c40" /><Relationship Type="http://schemas.openxmlformats.org/officeDocument/2006/relationships/notesSlide" Target="/ppt/notesSlides/notesSlide61.xml" Id="R73e17d8395384fd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22DE5C3C-4A39-473D-A899-612AB0ECD19B}"/>
              </a:ext>
            </a:extLst>
          </p:cNvPr>
          <p:cNvSpPr>
            <a:spLocks xmlns:a="http://schemas.openxmlformats.org/drawingml/2006/main" noGrp="1"/>
          </p:cNvSpPr>
          <p:nvPr/>
        </p:nvSpPr>
        <p:spPr>
          <a:xfrm xmlns:a="http://schemas.openxmlformats.org/drawingml/2006/main">
            <a:off x="762000" y="1476375"/>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15283D"/>
                </a:solidFill>
                <a:latin typeface="Arial"/>
                <a:ea typeface="Arial"/>
                <a:cs typeface="Arial"/>
              </a:defRPr>
            </a:defPPr>
            <a:lvl1pPr>
              <a:defRPr sz="4800" b="1">
                <a:solidFill>
                  <a:srgbClr val="15283D"/>
                </a:solidFill>
                <a:latin typeface="Arial"/>
                <a:ea typeface="Arial"/>
                <a:cs typeface="Arial"/>
              </a:defRPr>
            </a:lvl1pPr>
            <a:lvl2pPr>
              <a:defRPr sz="4800" b="1">
                <a:solidFill>
                  <a:srgbClr val="15283D"/>
                </a:solidFill>
                <a:latin typeface="Arial"/>
                <a:ea typeface="Arial"/>
                <a:cs typeface="Arial"/>
              </a:defRPr>
            </a:lvl2pPr>
            <a:lvl3pPr>
              <a:defRPr sz="4800" b="1">
                <a:solidFill>
                  <a:srgbClr val="15283D"/>
                </a:solidFill>
                <a:latin typeface="Arial"/>
                <a:ea typeface="Arial"/>
                <a:cs typeface="Arial"/>
              </a:defRPr>
            </a:lvl3pPr>
            <a:lvl4pPr>
              <a:defRPr sz="4800" b="1">
                <a:solidFill>
                  <a:srgbClr val="15283D"/>
                </a:solidFill>
                <a:latin typeface="Arial"/>
                <a:ea typeface="Arial"/>
                <a:cs typeface="Arial"/>
              </a:defRPr>
            </a:lvl4pPr>
            <a:lvl5pPr>
              <a:defRPr sz="4800" b="1">
                <a:solidFill>
                  <a:srgbClr val="15283D"/>
                </a:solidFill>
                <a:latin typeface="Arial"/>
                <a:ea typeface="Arial"/>
                <a:cs typeface="Arial"/>
              </a:defRPr>
            </a:lvl5pPr>
            <a:lvl6pPr>
              <a:defRPr sz="4800" b="1">
                <a:solidFill>
                  <a:srgbClr val="15283D"/>
                </a:solidFill>
                <a:latin typeface="Arial"/>
                <a:ea typeface="Arial"/>
                <a:cs typeface="Arial"/>
              </a:defRPr>
            </a:lvl6pPr>
            <a:lvl7pPr>
              <a:defRPr sz="4800" b="1">
                <a:solidFill>
                  <a:srgbClr val="15283D"/>
                </a:solidFill>
                <a:latin typeface="Arial"/>
                <a:ea typeface="Arial"/>
                <a:cs typeface="Arial"/>
              </a:defRPr>
            </a:lvl7pPr>
            <a:lvl8pPr>
              <a:defRPr sz="4800" b="1">
                <a:solidFill>
                  <a:srgbClr val="15283D"/>
                </a:solidFill>
                <a:latin typeface="Arial"/>
                <a:ea typeface="Arial"/>
                <a:cs typeface="Arial"/>
              </a:defRPr>
            </a:lvl8pPr>
            <a:lvl9pPr>
              <a:defRPr sz="4800" b="1">
                <a:solidFill>
                  <a:srgbClr val="15283D"/>
                </a:solidFill>
                <a:latin typeface="Arial"/>
                <a:ea typeface="Arial"/>
                <a:cs typeface="Arial"/>
              </a:defRPr>
            </a:lvl9pPr>
          </a:lstStyle>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KI mit SQL Server 2025</a:t>
            </a:r>
          </a:p>
          <a:p xmlns:a="http://schemas.openxmlformats.org/drawingml/2006/main">
            <a:pPr>
              <a:defRPr sz="4800" b="1">
                <a:solidFill>
                  <a:srgbClr val="15283D"/>
                </a:solidFill>
                <a:latin typeface="Arial"/>
                <a:ea typeface="Arial"/>
                <a:cs typeface="Arial"/>
              </a:defRPr>
            </a:pPr>
            <a:r>
              <a:rPr sz="4800" b="1">
                <a:solidFill>
                  <a:srgbClr val="15283D"/>
                </a:solidFill>
                <a:latin typeface="Arial"/>
                <a:ea typeface="Arial"/>
                <a:cs typeface="Arial"/>
              </a:rPr>
              <a:t>VERTIEFUNG</a:t>
            </a:r>
          </a:p>
        </p:txBody>
      </p:sp>
      <p:sp>
        <p:nvSpPr>
          <p:cNvPr id="2" name="text-1">
            <a:extLst xmlns:a="http://schemas.openxmlformats.org/drawingml/2006/main">
              <a:ext uri="{FF2B5EF4-FFF2-40B4-BE49-F238E27FC236}">
                <a16:creationId xmlns:a16="http://schemas.microsoft.com/office/drawing/2014/main" id="{FA4802C5-12D3-4467-9BD0-7822ACFD78ED}"/>
              </a:ext>
            </a:extLst>
          </p:cNvPr>
          <p:cNvSpPr>
            <a:spLocks xmlns:a="http://schemas.openxmlformats.org/drawingml/2006/main" noGrp="1"/>
          </p:cNvSpPr>
          <p:nvPr/>
        </p:nvSpPr>
        <p:spPr>
          <a:xfrm xmlns:a="http://schemas.openxmlformats.org/drawingml/2006/main">
            <a:off x="762000" y="4143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52647A"/>
                </a:solidFill>
                <a:latin typeface="Arial"/>
                <a:ea typeface="Arial"/>
                <a:cs typeface="Arial"/>
              </a:defRPr>
            </a:defPPr>
            <a:lvl1pPr>
              <a:defRPr sz="2400" b="0">
                <a:solidFill>
                  <a:srgbClr val="52647A"/>
                </a:solidFill>
                <a:latin typeface="Arial"/>
                <a:ea typeface="Arial"/>
                <a:cs typeface="Arial"/>
              </a:defRPr>
            </a:lvl1pPr>
            <a:lvl2pPr>
              <a:defRPr sz="2400" b="0">
                <a:solidFill>
                  <a:srgbClr val="52647A"/>
                </a:solidFill>
                <a:latin typeface="Arial"/>
                <a:ea typeface="Arial"/>
                <a:cs typeface="Arial"/>
              </a:defRPr>
            </a:lvl2pPr>
            <a:lvl3pPr>
              <a:defRPr sz="2400" b="0">
                <a:solidFill>
                  <a:srgbClr val="52647A"/>
                </a:solidFill>
                <a:latin typeface="Arial"/>
                <a:ea typeface="Arial"/>
                <a:cs typeface="Arial"/>
              </a:defRPr>
            </a:lvl3pPr>
            <a:lvl4pPr>
              <a:defRPr sz="2400" b="0">
                <a:solidFill>
                  <a:srgbClr val="52647A"/>
                </a:solidFill>
                <a:latin typeface="Arial"/>
                <a:ea typeface="Arial"/>
                <a:cs typeface="Arial"/>
              </a:defRPr>
            </a:lvl4pPr>
            <a:lvl5pPr>
              <a:defRPr sz="2400" b="0">
                <a:solidFill>
                  <a:srgbClr val="52647A"/>
                </a:solidFill>
                <a:latin typeface="Arial"/>
                <a:ea typeface="Arial"/>
                <a:cs typeface="Arial"/>
              </a:defRPr>
            </a:lvl5pPr>
            <a:lvl6pPr>
              <a:defRPr sz="2400" b="0">
                <a:solidFill>
                  <a:srgbClr val="52647A"/>
                </a:solidFill>
                <a:latin typeface="Arial"/>
                <a:ea typeface="Arial"/>
                <a:cs typeface="Arial"/>
              </a:defRPr>
            </a:lvl6pPr>
            <a:lvl7pPr>
              <a:defRPr sz="2400" b="0">
                <a:solidFill>
                  <a:srgbClr val="52647A"/>
                </a:solidFill>
                <a:latin typeface="Arial"/>
                <a:ea typeface="Arial"/>
                <a:cs typeface="Arial"/>
              </a:defRPr>
            </a:lvl7pPr>
            <a:lvl8pPr>
              <a:defRPr sz="2400" b="0">
                <a:solidFill>
                  <a:srgbClr val="52647A"/>
                </a:solidFill>
                <a:latin typeface="Arial"/>
                <a:ea typeface="Arial"/>
                <a:cs typeface="Arial"/>
              </a:defRPr>
            </a:lvl8pPr>
            <a:lvl9pPr>
              <a:defRPr sz="2400" b="0">
                <a:solidFill>
                  <a:srgbClr val="52647A"/>
                </a:solidFill>
                <a:latin typeface="Arial"/>
                <a:ea typeface="Arial"/>
                <a:cs typeface="Arial"/>
              </a:defRPr>
            </a:lvl9pPr>
          </a:lstStyle>
          <a:p xmlns:a="http://schemas.openxmlformats.org/drawingml/2006/main">
            <a:pPr>
              <a:defRPr sz="2400" b="0">
                <a:solidFill>
                  <a:srgbClr val="52647A"/>
                </a:solidFill>
                <a:latin typeface="Arial"/>
                <a:ea typeface="Arial"/>
                <a:cs typeface="Arial"/>
              </a:defRPr>
            </a:pPr>
            <a:r>
              <a:rPr sz="2400" b="0">
                <a:solidFill>
                  <a:srgbClr val="52647A"/>
                </a:solidFill>
                <a:latin typeface="Arial"/>
                <a:ea typeface="Arial"/>
                <a:cs typeface="Arial"/>
              </a:rPr>
              <a:t>Zwei Unterrichtstage · Offlinepraxis, Evidenz und Architekturentscheidungen</a:t>
            </a:r>
          </a:p>
        </p:txBody>
      </p:sp>
      <p:sp>
        <p:nvSpPr>
          <p:cNvPr id="3" name="text-2">
            <a:extLst xmlns:a="http://schemas.openxmlformats.org/drawingml/2006/main">
              <a:ext uri="{FF2B5EF4-FFF2-40B4-BE49-F238E27FC236}">
                <a16:creationId xmlns:a16="http://schemas.microsoft.com/office/drawing/2014/main" id="{02322DA8-02E0-45C7-BE80-1EBC5B7A9D36}"/>
              </a:ext>
            </a:extLst>
          </p:cNvPr>
          <p:cNvSpPr>
            <a:spLocks xmlns:a="http://schemas.openxmlformats.org/drawingml/2006/main" noGrp="1"/>
          </p:cNvSpPr>
          <p:nvPr/>
        </p:nvSpPr>
        <p:spPr>
          <a:xfrm xmlns:a="http://schemas.openxmlformats.org/drawingml/2006/main">
            <a:off x="762000" y="5810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007A83"/>
                </a:solidFill>
                <a:latin typeface="Arial"/>
                <a:ea typeface="Arial"/>
                <a:cs typeface="Arial"/>
              </a:defRPr>
            </a:defPPr>
            <a:lvl1pPr>
              <a:defRPr sz="1800" b="0">
                <a:solidFill>
                  <a:srgbClr val="007A83"/>
                </a:solidFill>
                <a:latin typeface="Arial"/>
                <a:ea typeface="Arial"/>
                <a:cs typeface="Arial"/>
              </a:defRPr>
            </a:lvl1pPr>
            <a:lvl2pPr>
              <a:defRPr sz="1800" b="0">
                <a:solidFill>
                  <a:srgbClr val="007A83"/>
                </a:solidFill>
                <a:latin typeface="Arial"/>
                <a:ea typeface="Arial"/>
                <a:cs typeface="Arial"/>
              </a:defRPr>
            </a:lvl2pPr>
            <a:lvl3pPr>
              <a:defRPr sz="1800" b="0">
                <a:solidFill>
                  <a:srgbClr val="007A83"/>
                </a:solidFill>
                <a:latin typeface="Arial"/>
                <a:ea typeface="Arial"/>
                <a:cs typeface="Arial"/>
              </a:defRPr>
            </a:lvl3pPr>
            <a:lvl4pPr>
              <a:defRPr sz="1800" b="0">
                <a:solidFill>
                  <a:srgbClr val="007A83"/>
                </a:solidFill>
                <a:latin typeface="Arial"/>
                <a:ea typeface="Arial"/>
                <a:cs typeface="Arial"/>
              </a:defRPr>
            </a:lvl4pPr>
            <a:lvl5pPr>
              <a:defRPr sz="1800" b="0">
                <a:solidFill>
                  <a:srgbClr val="007A83"/>
                </a:solidFill>
                <a:latin typeface="Arial"/>
                <a:ea typeface="Arial"/>
                <a:cs typeface="Arial"/>
              </a:defRPr>
            </a:lvl5pPr>
            <a:lvl6pPr>
              <a:defRPr sz="1800" b="0">
                <a:solidFill>
                  <a:srgbClr val="007A83"/>
                </a:solidFill>
                <a:latin typeface="Arial"/>
                <a:ea typeface="Arial"/>
                <a:cs typeface="Arial"/>
              </a:defRPr>
            </a:lvl6pPr>
            <a:lvl7pPr>
              <a:defRPr sz="1800" b="0">
                <a:solidFill>
                  <a:srgbClr val="007A83"/>
                </a:solidFill>
                <a:latin typeface="Arial"/>
                <a:ea typeface="Arial"/>
                <a:cs typeface="Arial"/>
              </a:defRPr>
            </a:lvl7pPr>
            <a:lvl8pPr>
              <a:defRPr sz="1800" b="0">
                <a:solidFill>
                  <a:srgbClr val="007A83"/>
                </a:solidFill>
                <a:latin typeface="Arial"/>
                <a:ea typeface="Arial"/>
                <a:cs typeface="Arial"/>
              </a:defRPr>
            </a:lvl8pPr>
            <a:lvl9pPr>
              <a:defRPr sz="1800" b="0">
                <a:solidFill>
                  <a:srgbClr val="007A83"/>
                </a:solidFill>
                <a:latin typeface="Arial"/>
                <a:ea typeface="Arial"/>
                <a:cs typeface="Arial"/>
              </a:defRPr>
            </a:lvl9pPr>
          </a:lstStyle>
          <a:p xmlns:a="http://schemas.openxmlformats.org/drawingml/2006/main">
            <a:pPr>
              <a:defRPr sz="1800" b="0">
                <a:solidFill>
                  <a:srgbClr val="007A83"/>
                </a:solidFill>
                <a:latin typeface="Arial"/>
                <a:ea typeface="Arial"/>
                <a:cs typeface="Arial"/>
              </a:defRPr>
            </a:pPr>
            <a:r>
              <a:rPr sz="1800" b="0">
                <a:solidFill>
                  <a:srgbClr val="007A83"/>
                </a:solidFill>
                <a:latin typeface="Arial"/>
                <a:ea typeface="Arial"/>
                <a:cs typeface="Arial"/>
              </a:rPr>
              <a:t>Schulungsunterlagen · Stand 2026-10-12</a:t>
            </a:r>
          </a:p>
        </p:txBody>
      </p:sp>
    </p:spTree>
    <p:extLst>
      <p:ext uri="{BB962C8B-B14F-4D97-AF65-F5344CB8AC3E}">
        <p14:creationId xmlns:p14="http://schemas.microsoft.com/office/powerpoint/2010/main" val="3776749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2DAAABB-154C-44D3-ADC5-3D232616E3C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Einstieg mit bekannten SQL-Grundlagen</a:t>
            </a:r>
          </a:p>
        </p:txBody>
      </p:sp>
      <p:sp>
        <p:nvSpPr>
          <p:cNvPr id="2" name="text-1">
            <a:extLst xmlns:a="http://schemas.openxmlformats.org/drawingml/2006/main">
              <a:ext uri="{FF2B5EF4-FFF2-40B4-BE49-F238E27FC236}">
                <a16:creationId xmlns:a16="http://schemas.microsoft.com/office/drawing/2014/main" id="{0898A3B6-3362-4726-9D03-57DA2A79205F}"/>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Ausgangspunkt</a:t>
            </a:r>
          </a:p>
        </p:txBody>
      </p:sp>
      <p:sp>
        <p:nvSpPr>
          <p:cNvPr id="3" name="text-2">
            <a:extLst xmlns:a="http://schemas.openxmlformats.org/drawingml/2006/main">
              <a:ext uri="{FF2B5EF4-FFF2-40B4-BE49-F238E27FC236}">
                <a16:creationId xmlns:a16="http://schemas.microsoft.com/office/drawing/2014/main" id="{ACFF0B86-BE29-40F9-AEE1-5C8E5A5E9C7B}"/>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Sie kennen SELECT und Tabellen. Erfahrung mit KI brauchen Sie für diesen Einstieg nicht.</a:t>
            </a:r>
          </a:p>
        </p:txBody>
      </p:sp>
      <p:sp>
        <p:nvSpPr>
          <p:cNvPr id="4" name="text-3">
            <a:extLst xmlns:a="http://schemas.openxmlformats.org/drawingml/2006/main">
              <a:ext uri="{FF2B5EF4-FFF2-40B4-BE49-F238E27FC236}">
                <a16:creationId xmlns:a16="http://schemas.microsoft.com/office/drawing/2014/main" id="{4A275558-7A72-4FA7-BAF4-81EE58AFF425}"/>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 Fall</a:t>
            </a:r>
          </a:p>
        </p:txBody>
      </p:sp>
      <p:sp>
        <p:nvSpPr>
          <p:cNvPr id="5" name="text-4">
            <a:extLst xmlns:a="http://schemas.openxmlformats.org/drawingml/2006/main">
              <a:ext uri="{FF2B5EF4-FFF2-40B4-BE49-F238E27FC236}">
                <a16:creationId xmlns:a16="http://schemas.microsoft.com/office/drawing/2014/main" id="{09D614CF-01B8-49CD-A13A-7E158AE99E3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kleine technische Wissensbasis soll eine nachvollziehbare Antwort liefern.</a:t>
            </a:r>
          </a:p>
        </p:txBody>
      </p:sp>
      <p:sp>
        <p:nvSpPr>
          <p:cNvPr id="6" name="text-5">
            <a:extLst xmlns:a="http://schemas.openxmlformats.org/drawingml/2006/main">
              <a:ext uri="{FF2B5EF4-FFF2-40B4-BE49-F238E27FC236}">
                <a16:creationId xmlns:a16="http://schemas.microsoft.com/office/drawing/2014/main" id="{C5E639A3-515D-406D-8819-517B67839C9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Erstes Ergebnis</a:t>
            </a:r>
          </a:p>
        </p:txBody>
      </p:sp>
      <p:sp>
        <p:nvSpPr>
          <p:cNvPr id="7" name="text-6">
            <a:extLst xmlns:a="http://schemas.openxmlformats.org/drawingml/2006/main">
              <a:ext uri="{FF2B5EF4-FFF2-40B4-BE49-F238E27FC236}">
                <a16:creationId xmlns:a16="http://schemas.microsoft.com/office/drawing/2014/main" id="{BD65E8CE-AC01-4C19-8FA2-D2F26CD3235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lesen Quellen und vergleichen feste Zahlen. Ein Modellzugang ist dafür noch nicht nötig.</a:t>
            </a:r>
          </a:p>
        </p:txBody>
      </p:sp>
      <p:sp>
        <p:nvSpPr>
          <p:cNvPr id="8" name="text-7">
            <a:extLst xmlns:a="http://schemas.openxmlformats.org/drawingml/2006/main">
              <a:ext uri="{FF2B5EF4-FFF2-40B4-BE49-F238E27FC236}">
                <a16:creationId xmlns:a16="http://schemas.microsoft.com/office/drawing/2014/main" id="{BF31A480-74D4-43AF-B7C1-277A73E2904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 · Quellfolie 2 · CUR-013</a:t>
            </a:r>
          </a:p>
        </p:txBody>
      </p:sp>
    </p:spTree>
    <p:extLst>
      <p:ext uri="{BB962C8B-B14F-4D97-AF65-F5344CB8AC3E}">
        <p14:creationId xmlns:p14="http://schemas.microsoft.com/office/powerpoint/2010/main" val="16399054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D40007D-BAD4-4810-9510-C0D82E8148F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Frage aus der technischen Wissensbasis</a:t>
            </a:r>
          </a:p>
        </p:txBody>
      </p:sp>
      <p:sp>
        <p:nvSpPr>
          <p:cNvPr id="2" name="text-1">
            <a:extLst xmlns:a="http://schemas.openxmlformats.org/drawingml/2006/main">
              <a:ext uri="{FF2B5EF4-FFF2-40B4-BE49-F238E27FC236}">
                <a16:creationId xmlns:a16="http://schemas.microsoft.com/office/drawing/2014/main" id="{2EDDAE56-F704-4A73-9126-3D15304D643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Frage</a:t>
            </a:r>
          </a:p>
        </p:txBody>
      </p:sp>
      <p:sp>
        <p:nvSpPr>
          <p:cNvPr id="3" name="text-2">
            <a:extLst xmlns:a="http://schemas.openxmlformats.org/drawingml/2006/main">
              <a:ext uri="{FF2B5EF4-FFF2-40B4-BE49-F238E27FC236}">
                <a16:creationId xmlns:a16="http://schemas.microsoft.com/office/drawing/2014/main" id="{9A52CE21-08BA-43DB-A343-C28CCC64E040}"/>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Wie lange bleiben die Protokolle des Moduls MOD_A erhalten?</a:t>
            </a:r>
          </a:p>
        </p:txBody>
      </p:sp>
      <p:sp>
        <p:nvSpPr>
          <p:cNvPr id="4" name="text-3">
            <a:extLst xmlns:a="http://schemas.openxmlformats.org/drawingml/2006/main">
              <a:ext uri="{FF2B5EF4-FFF2-40B4-BE49-F238E27FC236}">
                <a16:creationId xmlns:a16="http://schemas.microsoft.com/office/drawing/2014/main" id="{94D1DBFA-BD31-4F4A-9673-9574BBE8B987}"/>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a:t>
            </a:r>
          </a:p>
        </p:txBody>
      </p:sp>
      <p:sp>
        <p:nvSpPr>
          <p:cNvPr id="5" name="text-4">
            <a:extLst xmlns:a="http://schemas.openxmlformats.org/drawingml/2006/main">
              <a:ext uri="{FF2B5EF4-FFF2-40B4-BE49-F238E27FC236}">
                <a16:creationId xmlns:a16="http://schemas.microsoft.com/office/drawing/2014/main" id="{5F60AE1F-ABA9-4304-AE38-EC26D488E93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alte Anleitung nennt fünf Tage. Die aktuelle Anleitung nennt sieben Tage.</a:t>
            </a:r>
          </a:p>
        </p:txBody>
      </p:sp>
      <p:sp>
        <p:nvSpPr>
          <p:cNvPr id="6" name="text-5">
            <a:extLst xmlns:a="http://schemas.openxmlformats.org/drawingml/2006/main">
              <a:ext uri="{FF2B5EF4-FFF2-40B4-BE49-F238E27FC236}">
                <a16:creationId xmlns:a16="http://schemas.microsoft.com/office/drawing/2014/main" id="{973DE5BA-C1F2-4403-9E4D-B008364E456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Erwartung</a:t>
            </a:r>
          </a:p>
        </p:txBody>
      </p:sp>
      <p:sp>
        <p:nvSpPr>
          <p:cNvPr id="7" name="text-6">
            <a:extLst xmlns:a="http://schemas.openxmlformats.org/drawingml/2006/main">
              <a:ext uri="{FF2B5EF4-FFF2-40B4-BE49-F238E27FC236}">
                <a16:creationId xmlns:a16="http://schemas.microsoft.com/office/drawing/2014/main" id="{6C8E6890-4CA5-4E46-90EC-84BC556CBC6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Antwort muss zur aktuellen Anleitung passen und ihre Quelle nennen.</a:t>
            </a:r>
          </a:p>
        </p:txBody>
      </p:sp>
      <p:sp>
        <p:nvSpPr>
          <p:cNvPr id="8" name="text-7">
            <a:extLst xmlns:a="http://schemas.openxmlformats.org/drawingml/2006/main">
              <a:ext uri="{FF2B5EF4-FFF2-40B4-BE49-F238E27FC236}">
                <a16:creationId xmlns:a16="http://schemas.microsoft.com/office/drawing/2014/main" id="{5E940EE4-550D-4EB2-8CCD-C2B27412AED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MOD_A und alle Dokumente sind frei erfundene Schulungsdaten.</a:t>
            </a:r>
          </a:p>
        </p:txBody>
      </p:sp>
      <p:sp>
        <p:nvSpPr>
          <p:cNvPr id="9" name="text-8">
            <a:extLst xmlns:a="http://schemas.openxmlformats.org/drawingml/2006/main">
              <a:ext uri="{FF2B5EF4-FFF2-40B4-BE49-F238E27FC236}">
                <a16:creationId xmlns:a16="http://schemas.microsoft.com/office/drawing/2014/main" id="{631863EF-76BF-448E-8EEF-585DD4A0BB6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 · Quellfolie 3 · CUR-013 / CUR-017</a:t>
            </a:r>
          </a:p>
        </p:txBody>
      </p:sp>
    </p:spTree>
    <p:extLst>
      <p:ext uri="{BB962C8B-B14F-4D97-AF65-F5344CB8AC3E}">
        <p14:creationId xmlns:p14="http://schemas.microsoft.com/office/powerpoint/2010/main" val="812113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DA88AAC-FC2C-49BC-8D28-4C65A54DB75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Drei überschaubare Quelldokumente</a:t>
            </a:r>
          </a:p>
        </p:txBody>
      </p:sp>
      <p:graphicFrame>
        <p:nvGraphicFramePr>
          <p:cNvPr id="2" name="">
            <a:extLst xmlns:a="http://schemas.openxmlformats.org/drawingml/2006/main">
              <a:ext uri="{FF2B5EF4-FFF2-40B4-BE49-F238E27FC236}">
                <a16:creationId xmlns:a16="http://schemas.microsoft.com/office/drawing/2014/main" id="{63940491-3242-49E7-B0B6-DFA7F7AB2440}"/>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190750"/>
                <a:gridCol w="2190750"/>
                <a:gridCol w="6286500"/>
              </a:tblGrid>
              <a:tr h="785813">
                <a:tc>
                  <a:txBody>
                    <a:bodyPr/>
                    <a:lstStyle/>
                    <a:p>
                      <a:r>
                        <a:rPr sz="1800" b="1">
                          <a:solidFill>
                            <a:srgbClr val="15283D"/>
                          </a:solidFill>
                          <a:latin typeface="Arial"/>
                          <a:ea typeface="Arial"/>
                          <a:cs typeface="Arial"/>
                        </a:rPr>
                        <a:t>Dokument</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Fassung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Quelltext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v1, veraltet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MOD_A bewahrt Protokolle fünf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v2, aktuell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MOD_A bewahrt Protokolle sieben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 MOD_B</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v1, aktuell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MOD_B bewahrt Protokolle neun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E5D654C4-98D3-4565-B85E-5A67F133DEE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 · Quellfolie 4 · CUR-013 / CUR-015</a:t>
            </a:r>
          </a:p>
        </p:txBody>
      </p:sp>
    </p:spTree>
    <p:extLst>
      <p:ext uri="{BB962C8B-B14F-4D97-AF65-F5344CB8AC3E}">
        <p14:creationId xmlns:p14="http://schemas.microsoft.com/office/powerpoint/2010/main" val="8495630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84F58ED-0529-4586-B2D3-8780C8D40E0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vertraute SELECT-Abfrage</a:t>
            </a:r>
          </a:p>
        </p:txBody>
      </p:sp>
      <p:sp>
        <p:nvSpPr>
          <p:cNvPr id="2" name="text-1">
            <a:extLst xmlns:a="http://schemas.openxmlformats.org/drawingml/2006/main">
              <a:ext uri="{FF2B5EF4-FFF2-40B4-BE49-F238E27FC236}">
                <a16:creationId xmlns:a16="http://schemas.microsoft.com/office/drawing/2014/main" id="{290B4AF5-5BCB-4FE9-A7C4-816E1694742C}"/>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DocId, Fassung, Text</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(VALUES</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  (2, N'v2', N'MOD_A: sieben Tage')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 AS d(DocId, Fassung, Text);</a:t>
            </a:r>
          </a:p>
        </p:txBody>
      </p:sp>
      <p:sp>
        <p:nvSpPr>
          <p:cNvPr id="3" name="text-2">
            <a:extLst xmlns:a="http://schemas.openxmlformats.org/drawingml/2006/main">
              <a:ext uri="{FF2B5EF4-FFF2-40B4-BE49-F238E27FC236}">
                <a16:creationId xmlns:a16="http://schemas.microsoft.com/office/drawing/2014/main" id="{FFD09554-4110-44F4-9B29-BA75E087D180}"/>
              </a:ext>
            </a:extLst>
          </p:cNvPr>
          <p:cNvSpPr>
            <a:spLocks xmlns:a="http://schemas.openxmlformats.org/drawingml/2006/main" noGrp="1"/>
          </p:cNvSpPr>
          <p:nvPr/>
        </p:nvSpPr>
        <p:spPr>
          <a:xfrm xmlns:a="http://schemas.openxmlformats.org/drawingml/2006/main">
            <a:off x="685800" y="3724275"/>
            <a:ext cx="2333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Ergebnis</a:t>
            </a:r>
          </a:p>
        </p:txBody>
      </p:sp>
      <p:sp>
        <p:nvSpPr>
          <p:cNvPr id="4" name="text-3">
            <a:extLst xmlns:a="http://schemas.openxmlformats.org/drawingml/2006/main">
              <a:ext uri="{FF2B5EF4-FFF2-40B4-BE49-F238E27FC236}">
                <a16:creationId xmlns:a16="http://schemas.microsoft.com/office/drawing/2014/main" id="{3D92107C-F518-447C-80C2-745CCDCA21CE}"/>
              </a:ext>
            </a:extLst>
          </p:cNvPr>
          <p:cNvSpPr>
            <a:spLocks xmlns:a="http://schemas.openxmlformats.org/drawingml/2006/main" noGrp="1"/>
          </p:cNvSpPr>
          <p:nvPr/>
        </p:nvSpPr>
        <p:spPr>
          <a:xfrm xmlns:a="http://schemas.openxmlformats.org/drawingml/2006/main">
            <a:off x="3190875" y="3724275"/>
            <a:ext cx="8239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Row mit DocId 2, Fassung v2 und dem festen Text MOD_A: sieben Tage.</a:t>
            </a:r>
          </a:p>
        </p:txBody>
      </p:sp>
      <p:sp>
        <p:nvSpPr>
          <p:cNvPr id="5" name="text-4">
            <a:extLst xmlns:a="http://schemas.openxmlformats.org/drawingml/2006/main">
              <a:ext uri="{FF2B5EF4-FFF2-40B4-BE49-F238E27FC236}">
                <a16:creationId xmlns:a16="http://schemas.microsoft.com/office/drawing/2014/main" id="{320AD259-3EFF-421E-B497-6B232095662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Read-only-Beispiel. VALUES stellt eine feste Row bereit, ohne eine Tabelle anzulegen.</a:t>
            </a:r>
          </a:p>
        </p:txBody>
      </p:sp>
      <p:sp>
        <p:nvSpPr>
          <p:cNvPr id="6" name="text-5">
            <a:extLst xmlns:a="http://schemas.openxmlformats.org/drawingml/2006/main">
              <a:ext uri="{FF2B5EF4-FFF2-40B4-BE49-F238E27FC236}">
                <a16:creationId xmlns:a16="http://schemas.microsoft.com/office/drawing/2014/main" id="{A9EBE7ED-FB02-4D89-9D51-2791B5CC4B6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 · Quellfolie 5 · CUR-013</a:t>
            </a:r>
          </a:p>
        </p:txBody>
      </p:sp>
    </p:spTree>
    <p:extLst>
      <p:ext uri="{BB962C8B-B14F-4D97-AF65-F5344CB8AC3E}">
        <p14:creationId xmlns:p14="http://schemas.microsoft.com/office/powerpoint/2010/main" val="707179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B80CC66F-B9B9-4C1B-8D0B-C90279800D4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Unterschiedliche Fragen an dieselben Daten</a:t>
            </a:r>
          </a:p>
        </p:txBody>
      </p:sp>
      <p:graphicFrame>
        <p:nvGraphicFramePr>
          <p:cNvPr id="2" name="">
            <a:extLst xmlns:a="http://schemas.openxmlformats.org/drawingml/2006/main">
              <a:ext uri="{FF2B5EF4-FFF2-40B4-BE49-F238E27FC236}">
                <a16:creationId xmlns:a16="http://schemas.microsoft.com/office/drawing/2014/main" id="{1DA873D5-AF73-448C-A39D-406018E2E43F}"/>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4762500"/>
                <a:gridCol w="5905500"/>
              </a:tblGrid>
              <a:tr h="785813">
                <a:tc>
                  <a:txBody>
                    <a:bodyPr/>
                    <a:lstStyle/>
                    <a:p>
                      <a:r>
                        <a:rPr sz="1800" b="1">
                          <a:solidFill>
                            <a:srgbClr val="15283D"/>
                          </a:solidFill>
                          <a:latin typeface="Arial"/>
                          <a:ea typeface="Arial"/>
                          <a:cs typeface="Arial"/>
                        </a:rPr>
                        <a:t>Frage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wir benötigen</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Was steht aktuell zu MOD_A?</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Richtiges Modul und aktuelle Fassung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Wann verschwinden die Logeinträge?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Passende Bedeutung trotz anderer Wortwahl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Warum sind es genau sieben Tage?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Quelle, die den Grund tatsächlich erklärt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0DDAE0A7-6D79-4999-B8CA-13765954562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6 · Quellfolie 6 · CUR-013 / CUR-017</a:t>
            </a:r>
          </a:p>
        </p:txBody>
      </p:sp>
    </p:spTree>
    <p:extLst>
      <p:ext uri="{BB962C8B-B14F-4D97-AF65-F5344CB8AC3E}">
        <p14:creationId xmlns:p14="http://schemas.microsoft.com/office/powerpoint/2010/main" val="19092617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B7FAE7F-4984-4F86-BBAF-59243A58F5A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KI-Anwendungen rund um SQL Server</a:t>
            </a:r>
          </a:p>
        </p:txBody>
      </p:sp>
      <p:graphicFrame>
        <p:nvGraphicFramePr>
          <p:cNvPr id="2" name="">
            <a:extLst xmlns:a="http://schemas.openxmlformats.org/drawingml/2006/main">
              <a:ext uri="{FF2B5EF4-FFF2-40B4-BE49-F238E27FC236}">
                <a16:creationId xmlns:a16="http://schemas.microsoft.com/office/drawing/2014/main" id="{142A6D91-A74B-4768-9D88-5C623369515D}"/>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333750"/>
                <a:gridCol w="7334250"/>
              </a:tblGrid>
              <a:tr h="800100">
                <a:tc>
                  <a:txBody>
                    <a:bodyPr/>
                    <a:lstStyle/>
                    <a:p>
                      <a:r>
                        <a:rPr sz="1800" b="1">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Beispiel</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Wissenssuche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Passende Anleitung zu einer anders formulierten Frage finden.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Textaufbereitung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Aus gelieferten Quellen einen kurzen Antwortentwurf oder eine Zusammenfassung bilden.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SQL-Assistenz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Query erklären oder einen Änderungsvorschlag diskutieren.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Vorhersage und Klassifikation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Mit einem passenden zusätzlichen Modell einen Wert vorhersagen oder eine Kategorie zuordnen.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5CB569B4-4AA7-4B3F-853D-3F8D0B89926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 Aufgabe bestimmt das Modell und den Anwendungspfad. Eine Funktion deckt nicht jede Aufgabe ab.</a:t>
            </a:r>
          </a:p>
        </p:txBody>
      </p:sp>
      <p:sp>
        <p:nvSpPr>
          <p:cNvPr id="4" name="text-2">
            <a:extLst xmlns:a="http://schemas.openxmlformats.org/drawingml/2006/main">
              <a:ext uri="{FF2B5EF4-FFF2-40B4-BE49-F238E27FC236}">
                <a16:creationId xmlns:a16="http://schemas.microsoft.com/office/drawing/2014/main" id="{2DD51860-367F-4C7E-AC72-F737D35F8A5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7 · Quellfolie 7 · CUR-013 / CUR-016 / CUR-021</a:t>
            </a:r>
          </a:p>
        </p:txBody>
      </p:sp>
    </p:spTree>
    <p:extLst>
      <p:ext uri="{BB962C8B-B14F-4D97-AF65-F5344CB8AC3E}">
        <p14:creationId xmlns:p14="http://schemas.microsoft.com/office/powerpoint/2010/main" val="12228255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08F61CA-814F-452D-9DEB-43DCFC726B6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 und Machine Learning in einfachen Worten</a:t>
            </a:r>
          </a:p>
        </p:txBody>
      </p:sp>
      <p:sp>
        <p:nvSpPr>
          <p:cNvPr id="2" name="text-1">
            <a:extLst xmlns:a="http://schemas.openxmlformats.org/drawingml/2006/main">
              <a:ext uri="{FF2B5EF4-FFF2-40B4-BE49-F238E27FC236}">
                <a16:creationId xmlns:a16="http://schemas.microsoft.com/office/drawing/2014/main" id="{2B1005CB-223C-4EB0-8C98-0885226D41F4}"/>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KI</a:t>
            </a:r>
          </a:p>
        </p:txBody>
      </p:sp>
      <p:sp>
        <p:nvSpPr>
          <p:cNvPr id="3" name="text-2">
            <a:extLst xmlns:a="http://schemas.openxmlformats.org/drawingml/2006/main">
              <a:ext uri="{FF2B5EF4-FFF2-40B4-BE49-F238E27FC236}">
                <a16:creationId xmlns:a16="http://schemas.microsoft.com/office/drawing/2014/main" id="{E948BDCA-B4D0-442E-BC88-D41A5AE149D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Künstliche Intelligenz umfasst etwa Systeme mit Wissensregeln oder gelernten Mustern. Suche und Texterzeugung sind mögliche Anwendungen.</a:t>
            </a:r>
          </a:p>
        </p:txBody>
      </p:sp>
      <p:sp>
        <p:nvSpPr>
          <p:cNvPr id="4" name="text-3">
            <a:extLst xmlns:a="http://schemas.openxmlformats.org/drawingml/2006/main">
              <a:ext uri="{FF2B5EF4-FFF2-40B4-BE49-F238E27FC236}">
                <a16:creationId xmlns:a16="http://schemas.microsoft.com/office/drawing/2014/main" id="{3F072FA7-8A6B-4642-9CD6-F40A5301BC12}"/>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Machine Learning</a:t>
            </a:r>
          </a:p>
        </p:txBody>
      </p:sp>
      <p:sp>
        <p:nvSpPr>
          <p:cNvPr id="5" name="text-4">
            <a:extLst xmlns:a="http://schemas.openxmlformats.org/drawingml/2006/main">
              <a:ext uri="{FF2B5EF4-FFF2-40B4-BE49-F238E27FC236}">
                <a16:creationId xmlns:a16="http://schemas.microsoft.com/office/drawing/2014/main" id="{FB80A014-C9E5-4904-9221-DA7E18BBA34D}"/>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Modell lernt Muster aus Beispielen. Die Abkürzung dafür lautet ML.</a:t>
            </a:r>
          </a:p>
        </p:txBody>
      </p:sp>
      <p:sp>
        <p:nvSpPr>
          <p:cNvPr id="6" name="text-5">
            <a:extLst xmlns:a="http://schemas.openxmlformats.org/drawingml/2006/main">
              <a:ext uri="{FF2B5EF4-FFF2-40B4-BE49-F238E27FC236}">
                <a16:creationId xmlns:a16="http://schemas.microsoft.com/office/drawing/2014/main" id="{79E4A71C-602C-4169-9914-C33455640F8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 Ziel</a:t>
            </a:r>
          </a:p>
        </p:txBody>
      </p:sp>
      <p:sp>
        <p:nvSpPr>
          <p:cNvPr id="7" name="text-6">
            <a:extLst xmlns:a="http://schemas.openxmlformats.org/drawingml/2006/main">
              <a:ext uri="{FF2B5EF4-FFF2-40B4-BE49-F238E27FC236}">
                <a16:creationId xmlns:a16="http://schemas.microsoft.com/office/drawing/2014/main" id="{75D5BACC-CC0B-4CDA-BE8C-08CF0852DAB1}"/>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verwenden geeignete Funktionen und prüfen ihr Ergebnis an konkreten Quellen.</a:t>
            </a:r>
          </a:p>
        </p:txBody>
      </p:sp>
      <p:sp>
        <p:nvSpPr>
          <p:cNvPr id="8" name="text-7">
            <a:extLst xmlns:a="http://schemas.openxmlformats.org/drawingml/2006/main">
              <a:ext uri="{FF2B5EF4-FFF2-40B4-BE49-F238E27FC236}">
                <a16:creationId xmlns:a16="http://schemas.microsoft.com/office/drawing/2014/main" id="{AB0FB09F-05DB-43FE-A1AF-6B9A837C8419}"/>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8 · Quellfolie 8 · CUR-013</a:t>
            </a:r>
          </a:p>
        </p:txBody>
      </p:sp>
    </p:spTree>
    <p:extLst>
      <p:ext uri="{BB962C8B-B14F-4D97-AF65-F5344CB8AC3E}">
        <p14:creationId xmlns:p14="http://schemas.microsoft.com/office/powerpoint/2010/main" val="11897620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41146F2-84E5-4B7E-B4F5-502AD2671CA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Modell und seine Aufgabe</a:t>
            </a:r>
          </a:p>
        </p:txBody>
      </p:sp>
      <p:sp>
        <p:nvSpPr>
          <p:cNvPr id="2" name="text-1">
            <a:extLst xmlns:a="http://schemas.openxmlformats.org/drawingml/2006/main">
              <a:ext uri="{FF2B5EF4-FFF2-40B4-BE49-F238E27FC236}">
                <a16:creationId xmlns:a16="http://schemas.microsoft.com/office/drawing/2014/main" id="{0EA62754-617E-4044-8881-D333D0C1097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a:t>
            </a:r>
          </a:p>
        </p:txBody>
      </p:sp>
      <p:sp>
        <p:nvSpPr>
          <p:cNvPr id="3" name="text-2">
            <a:extLst xmlns:a="http://schemas.openxmlformats.org/drawingml/2006/main">
              <a:ext uri="{FF2B5EF4-FFF2-40B4-BE49-F238E27FC236}">
                <a16:creationId xmlns:a16="http://schemas.microsoft.com/office/drawing/2014/main" id="{87A6704F-F2C0-4CCE-B038-EEFE58C650F0}"/>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vorbereitete Rechenvorschrift verarbeitet eine Eingabe und liefert eine Ausgabe.</a:t>
            </a:r>
          </a:p>
        </p:txBody>
      </p:sp>
      <p:sp>
        <p:nvSpPr>
          <p:cNvPr id="4" name="text-3">
            <a:extLst xmlns:a="http://schemas.openxmlformats.org/drawingml/2006/main">
              <a:ext uri="{FF2B5EF4-FFF2-40B4-BE49-F238E27FC236}">
                <a16:creationId xmlns:a16="http://schemas.microsoft.com/office/drawing/2014/main" id="{E6E017A3-8A43-4C80-AF17-76E8161C9C2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Aufgabe</a:t>
            </a:r>
          </a:p>
        </p:txBody>
      </p:sp>
      <p:sp>
        <p:nvSpPr>
          <p:cNvPr id="5" name="text-4">
            <a:extLst xmlns:a="http://schemas.openxmlformats.org/drawingml/2006/main">
              <a:ext uri="{FF2B5EF4-FFF2-40B4-BE49-F238E27FC236}">
                <a16:creationId xmlns:a16="http://schemas.microsoft.com/office/drawing/2014/main" id="{9616E476-5B20-4A0F-B8F3-69ABB945F78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Modell kann zum Beispiel Text in Zahlen abbilden oder einen Antworttext erzeugen.</a:t>
            </a:r>
          </a:p>
        </p:txBody>
      </p:sp>
      <p:sp>
        <p:nvSpPr>
          <p:cNvPr id="6" name="text-5">
            <a:extLst xmlns:a="http://schemas.openxmlformats.org/drawingml/2006/main">
              <a:ext uri="{FF2B5EF4-FFF2-40B4-BE49-F238E27FC236}">
                <a16:creationId xmlns:a16="http://schemas.microsoft.com/office/drawing/2014/main" id="{0CBB113C-D8DD-4B54-86F2-4AED25C3FBE0}"/>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Prüfung</a:t>
            </a:r>
          </a:p>
        </p:txBody>
      </p:sp>
      <p:sp>
        <p:nvSpPr>
          <p:cNvPr id="7" name="text-6">
            <a:extLst xmlns:a="http://schemas.openxmlformats.org/drawingml/2006/main">
              <a:ext uri="{FF2B5EF4-FFF2-40B4-BE49-F238E27FC236}">
                <a16:creationId xmlns:a16="http://schemas.microsoft.com/office/drawing/2014/main" id="{FA7313BF-E269-49C5-A8C9-19EBB64E566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müssen wissen, welches Modell welche Aufgabe übernimmt und wo seine Ausgabe geprüft wird.</a:t>
            </a:r>
          </a:p>
        </p:txBody>
      </p:sp>
      <p:sp>
        <p:nvSpPr>
          <p:cNvPr id="8" name="text-7">
            <a:extLst xmlns:a="http://schemas.openxmlformats.org/drawingml/2006/main">
              <a:ext uri="{FF2B5EF4-FFF2-40B4-BE49-F238E27FC236}">
                <a16:creationId xmlns:a16="http://schemas.microsoft.com/office/drawing/2014/main" id="{6C57DDDA-4397-4DD9-9019-4922482B3DE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9 · Quellfolie 9 · CUR-013</a:t>
            </a:r>
          </a:p>
        </p:txBody>
      </p:sp>
    </p:spTree>
    <p:extLst>
      <p:ext uri="{BB962C8B-B14F-4D97-AF65-F5344CB8AC3E}">
        <p14:creationId xmlns:p14="http://schemas.microsoft.com/office/powerpoint/2010/main" val="9831494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92544BF-95C1-4122-8593-068B149E71C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Training und Inferenz</a:t>
            </a:r>
          </a:p>
        </p:txBody>
      </p:sp>
      <p:graphicFrame>
        <p:nvGraphicFramePr>
          <p:cNvPr id="2" name="">
            <a:extLst xmlns:a="http://schemas.openxmlformats.org/drawingml/2006/main">
              <a:ext uri="{FF2B5EF4-FFF2-40B4-BE49-F238E27FC236}">
                <a16:creationId xmlns:a16="http://schemas.microsoft.com/office/drawing/2014/main" id="{25BEEEFF-C614-43AF-8B54-1B074F9F499C}"/>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000250"/>
                <a:gridCol w="4572000"/>
                <a:gridCol w="4095750"/>
              </a:tblGrid>
              <a:tr h="785813">
                <a:tc>
                  <a:txBody>
                    <a:bodyPr/>
                    <a:lstStyle/>
                    <a:p>
                      <a:r>
                        <a:rPr sz="1800" b="1">
                          <a:solidFill>
                            <a:srgbClr val="15283D"/>
                          </a:solidFill>
                          <a:latin typeface="Arial"/>
                          <a:ea typeface="Arial"/>
                          <a:cs typeface="Arial"/>
                        </a:rPr>
                        <a:t>Begriff</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geschieht?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In diesem Einstieg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Training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 Modell lernt aus Trainingsbeispielen.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Wir trainieren kein Modell.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Inferenz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 vorbereitetes Modell verarbeitet neue Eingaben.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Späterer Modellpfad mit eigenen Voraussetzungen.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Feste Lehrwerte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Wir geben Zahlen oder Antworten ausdrücklich vor.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Das ist unser erster Offlinepfad.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FDFC71B-D38A-4B6A-ABF3-05594E56116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10 · Quellfolie 10 · CUR-013 / CUR-016</a:t>
            </a:r>
          </a:p>
        </p:txBody>
      </p:sp>
    </p:spTree>
    <p:extLst>
      <p:ext uri="{BB962C8B-B14F-4D97-AF65-F5344CB8AC3E}">
        <p14:creationId xmlns:p14="http://schemas.microsoft.com/office/powerpoint/2010/main" val="4744680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8349DEA-DC20-43E5-9F25-F76F0EC5B05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Sprachmodell erzeugt Antworttext</a:t>
            </a:r>
          </a:p>
        </p:txBody>
      </p:sp>
      <p:sp>
        <p:nvSpPr>
          <p:cNvPr id="2" name="text-1">
            <a:extLst xmlns:a="http://schemas.openxmlformats.org/drawingml/2006/main">
              <a:ext uri="{FF2B5EF4-FFF2-40B4-BE49-F238E27FC236}">
                <a16:creationId xmlns:a16="http://schemas.microsoft.com/office/drawing/2014/main" id="{229CC563-2EA2-4C0F-B122-1D4FAB6C565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Sprachmodell</a:t>
            </a:r>
          </a:p>
        </p:txBody>
      </p:sp>
      <p:sp>
        <p:nvSpPr>
          <p:cNvPr id="3" name="text-2">
            <a:extLst xmlns:a="http://schemas.openxmlformats.org/drawingml/2006/main">
              <a:ext uri="{FF2B5EF4-FFF2-40B4-BE49-F238E27FC236}">
                <a16:creationId xmlns:a16="http://schemas.microsoft.com/office/drawing/2014/main" id="{0F17C017-4655-4D7C-8862-B9BAA55B6A92}"/>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Large Language Model, kurz LLM, verarbeitet Textkontext und kann neue Textfolgen erzeugen.</a:t>
            </a:r>
          </a:p>
        </p:txBody>
      </p:sp>
      <p:sp>
        <p:nvSpPr>
          <p:cNvPr id="4" name="text-3">
            <a:extLst xmlns:a="http://schemas.openxmlformats.org/drawingml/2006/main">
              <a:ext uri="{FF2B5EF4-FFF2-40B4-BE49-F238E27FC236}">
                <a16:creationId xmlns:a16="http://schemas.microsoft.com/office/drawing/2014/main" id="{6C3C8718-55D1-45F9-8626-5199B3C6175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Beispiel</a:t>
            </a:r>
          </a:p>
        </p:txBody>
      </p:sp>
      <p:sp>
        <p:nvSpPr>
          <p:cNvPr id="5" name="text-4">
            <a:extLst xmlns:a="http://schemas.openxmlformats.org/drawingml/2006/main">
              <a:ext uri="{FF2B5EF4-FFF2-40B4-BE49-F238E27FC236}">
                <a16:creationId xmlns:a16="http://schemas.microsoft.com/office/drawing/2014/main" id="{109DD7F6-3B22-43F7-9273-D656356BCAA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Aus einer gegebenen Quelle könnte die Anwendung den Satz bilden: MOD_A bewahrt Protokolle sieben Tage auf.</a:t>
            </a:r>
          </a:p>
        </p:txBody>
      </p:sp>
      <p:sp>
        <p:nvSpPr>
          <p:cNvPr id="6" name="text-5">
            <a:extLst xmlns:a="http://schemas.openxmlformats.org/drawingml/2006/main">
              <a:ext uri="{FF2B5EF4-FFF2-40B4-BE49-F238E27FC236}">
                <a16:creationId xmlns:a16="http://schemas.microsoft.com/office/drawing/2014/main" id="{EE19412C-0899-48D1-87DD-B0403B637056}"/>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a:t>
            </a:r>
          </a:p>
        </p:txBody>
      </p:sp>
      <p:sp>
        <p:nvSpPr>
          <p:cNvPr id="7" name="text-6">
            <a:extLst xmlns:a="http://schemas.openxmlformats.org/drawingml/2006/main">
              <a:ext uri="{FF2B5EF4-FFF2-40B4-BE49-F238E27FC236}">
                <a16:creationId xmlns:a16="http://schemas.microsoft.com/office/drawing/2014/main" id="{F3EA75EE-DF17-410E-8118-A8F87F9A7BA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gut formulierter Satz kann sachlich falsch oder durch die Quelle nicht gestützt sein.</a:t>
            </a:r>
          </a:p>
        </p:txBody>
      </p:sp>
      <p:sp>
        <p:nvSpPr>
          <p:cNvPr id="8" name="text-7">
            <a:extLst xmlns:a="http://schemas.openxmlformats.org/drawingml/2006/main">
              <a:ext uri="{FF2B5EF4-FFF2-40B4-BE49-F238E27FC236}">
                <a16:creationId xmlns:a16="http://schemas.microsoft.com/office/drawing/2014/main" id="{949B5F88-D382-465C-A444-8BC194DE60A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11 · Quellfolie 11 · CUR-013</a:t>
            </a:r>
          </a:p>
        </p:txBody>
      </p:sp>
    </p:spTree>
    <p:extLst>
      <p:ext uri="{BB962C8B-B14F-4D97-AF65-F5344CB8AC3E}">
        <p14:creationId xmlns:p14="http://schemas.microsoft.com/office/powerpoint/2010/main" val="12415874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10565EE-7C0F-411A-8D2A-5A956AACBB0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Tokens und Textlänge</a:t>
            </a:r>
          </a:p>
        </p:txBody>
      </p:sp>
      <p:sp>
        <p:nvSpPr>
          <p:cNvPr id="2" name="text-1">
            <a:extLst xmlns:a="http://schemas.openxmlformats.org/drawingml/2006/main">
              <a:ext uri="{FF2B5EF4-FFF2-40B4-BE49-F238E27FC236}">
                <a16:creationId xmlns:a16="http://schemas.microsoft.com/office/drawing/2014/main" id="{8551C306-7389-45CE-B59D-F17DB8EA5789}"/>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Token</a:t>
            </a:r>
          </a:p>
        </p:txBody>
      </p:sp>
      <p:sp>
        <p:nvSpPr>
          <p:cNvPr id="3" name="text-2">
            <a:extLst xmlns:a="http://schemas.openxmlformats.org/drawingml/2006/main">
              <a:ext uri="{FF2B5EF4-FFF2-40B4-BE49-F238E27FC236}">
                <a16:creationId xmlns:a16="http://schemas.microsoft.com/office/drawing/2014/main" id="{83A658D3-3912-4807-A1AC-8D01A3F90994}"/>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Verarbeitungseinheit des konkreten Sprachmodells. Ein Token kann einen Wortteil darstellen.</a:t>
            </a:r>
          </a:p>
        </p:txBody>
      </p:sp>
      <p:sp>
        <p:nvSpPr>
          <p:cNvPr id="4" name="text-3">
            <a:extLst xmlns:a="http://schemas.openxmlformats.org/drawingml/2006/main">
              <a:ext uri="{FF2B5EF4-FFF2-40B4-BE49-F238E27FC236}">
                <a16:creationId xmlns:a16="http://schemas.microsoft.com/office/drawing/2014/main" id="{9BF14619-88FF-41E6-8665-FBA9B9E6BA61}"/>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Tokenizer</a:t>
            </a:r>
          </a:p>
        </p:txBody>
      </p:sp>
      <p:sp>
        <p:nvSpPr>
          <p:cNvPr id="5" name="text-4">
            <a:extLst xmlns:a="http://schemas.openxmlformats.org/drawingml/2006/main">
              <a:ext uri="{FF2B5EF4-FFF2-40B4-BE49-F238E27FC236}">
                <a16:creationId xmlns:a16="http://schemas.microsoft.com/office/drawing/2014/main" id="{63000C06-5BF3-47C5-A86A-A0F7EEF7F66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Er zerlegt den Text nach den Regeln des verwendeten Modells.</a:t>
            </a:r>
          </a:p>
        </p:txBody>
      </p:sp>
      <p:sp>
        <p:nvSpPr>
          <p:cNvPr id="6" name="text-5">
            <a:extLst xmlns:a="http://schemas.openxmlformats.org/drawingml/2006/main">
              <a:ext uri="{FF2B5EF4-FFF2-40B4-BE49-F238E27FC236}">
                <a16:creationId xmlns:a16="http://schemas.microsoft.com/office/drawing/2014/main" id="{6440858C-4E6D-4714-A461-F2BEAB6A7204}"/>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Folge</a:t>
            </a:r>
          </a:p>
        </p:txBody>
      </p:sp>
      <p:sp>
        <p:nvSpPr>
          <p:cNvPr id="7" name="text-6">
            <a:extLst xmlns:a="http://schemas.openxmlformats.org/drawingml/2006/main">
              <a:ext uri="{FF2B5EF4-FFF2-40B4-BE49-F238E27FC236}">
                <a16:creationId xmlns:a16="http://schemas.microsoft.com/office/drawing/2014/main" id="{F1AD3372-D6AD-4E9B-A993-FB2B08B9F03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Zeichenanzahl und Tokenanzahl sind verschieden. Beide Grenzen müssen zum jeweiligen Schritt passen.</a:t>
            </a:r>
          </a:p>
        </p:txBody>
      </p:sp>
      <p:sp>
        <p:nvSpPr>
          <p:cNvPr id="8" name="text-7">
            <a:extLst xmlns:a="http://schemas.openxmlformats.org/drawingml/2006/main">
              <a:ext uri="{FF2B5EF4-FFF2-40B4-BE49-F238E27FC236}">
                <a16:creationId xmlns:a16="http://schemas.microsoft.com/office/drawing/2014/main" id="{95096CA5-C0A8-4369-929C-7AD36E112C4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12 · Quellfolie 12 · CUR-013 / CUR-015</a:t>
            </a:r>
          </a:p>
        </p:txBody>
      </p:sp>
    </p:spTree>
    <p:extLst>
      <p:ext uri="{BB962C8B-B14F-4D97-AF65-F5344CB8AC3E}">
        <p14:creationId xmlns:p14="http://schemas.microsoft.com/office/powerpoint/2010/main" val="3696113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0041A4FF-A2C8-41E3-AE34-7B42E2D904F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SQL Server, Modell und Anwendung</a:t>
            </a:r>
          </a:p>
        </p:txBody>
      </p:sp>
      <p:graphicFrame>
        <p:nvGraphicFramePr>
          <p:cNvPr id="2" name="">
            <a:extLst xmlns:a="http://schemas.openxmlformats.org/drawingml/2006/main">
              <a:ext uri="{FF2B5EF4-FFF2-40B4-BE49-F238E27FC236}">
                <a16:creationId xmlns:a16="http://schemas.microsoft.com/office/drawing/2014/main" id="{E35AD177-3D9C-42B8-BD7D-BC983853DC73}"/>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3143250"/>
                <a:gridCol w="7524750"/>
              </a:tblGrid>
              <a:tr h="785813">
                <a:tc>
                  <a:txBody>
                    <a:bodyPr/>
                    <a:lstStyle/>
                    <a:p>
                      <a:r>
                        <a:rPr sz="1800" b="1">
                          <a:solidFill>
                            <a:srgbClr val="15283D"/>
                          </a:solidFill>
                          <a:latin typeface="Arial"/>
                          <a:ea typeface="Arial"/>
                          <a:cs typeface="Arial"/>
                        </a:rPr>
                        <a:t>Komponente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Aufgabe im Wissensbasisfall</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SQL Server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Speichert Dokumente und liefert erlaubte Daten.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Modell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Verarbeitet bereitgestellte Eingaben für seine Aufgabe.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Vermittelt die Frage, sucht Quellen und prüft die Antwort.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E1E9886A-C8EF-4A5F-9594-D1CDA66C08B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13 · Quellfolie 13 · CUR-013 / CUR-016</a:t>
            </a:r>
          </a:p>
        </p:txBody>
      </p:sp>
    </p:spTree>
    <p:extLst>
      <p:ext uri="{BB962C8B-B14F-4D97-AF65-F5344CB8AC3E}">
        <p14:creationId xmlns:p14="http://schemas.microsoft.com/office/powerpoint/2010/main" val="20526075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B8D6991-F14B-43A0-971F-DBEF291E613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Der erste Offlineeinstieg</a:t>
            </a:r>
          </a:p>
        </p:txBody>
      </p:sp>
      <p:sp>
        <p:nvSpPr>
          <p:cNvPr id="2" name="text-1">
            <a:extLst xmlns:a="http://schemas.openxmlformats.org/drawingml/2006/main">
              <a:ext uri="{FF2B5EF4-FFF2-40B4-BE49-F238E27FC236}">
                <a16:creationId xmlns:a16="http://schemas.microsoft.com/office/drawing/2014/main" id="{75F5EA83-3047-4537-9129-FCB6D9E689EF}"/>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Eingaben</a:t>
            </a:r>
          </a:p>
        </p:txBody>
      </p:sp>
      <p:sp>
        <p:nvSpPr>
          <p:cNvPr id="3" name="text-2">
            <a:extLst xmlns:a="http://schemas.openxmlformats.org/drawingml/2006/main">
              <a:ext uri="{FF2B5EF4-FFF2-40B4-BE49-F238E27FC236}">
                <a16:creationId xmlns:a16="http://schemas.microsoft.com/office/drawing/2014/main" id="{860757F4-8B9A-439F-BFFE-30F3282062A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Kleine feste Vektoren und synthetische Texte statt eines Live-Modells.</a:t>
            </a:r>
          </a:p>
        </p:txBody>
      </p:sp>
      <p:sp>
        <p:nvSpPr>
          <p:cNvPr id="4" name="text-3">
            <a:extLst xmlns:a="http://schemas.openxmlformats.org/drawingml/2006/main">
              <a:ext uri="{FF2B5EF4-FFF2-40B4-BE49-F238E27FC236}">
                <a16:creationId xmlns:a16="http://schemas.microsoft.com/office/drawing/2014/main" id="{FBF79BA9-C432-47D2-8C03-7085AB2EE5C7}"/>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Zugang</a:t>
            </a:r>
          </a:p>
        </p:txBody>
      </p:sp>
      <p:sp>
        <p:nvSpPr>
          <p:cNvPr id="5" name="text-4">
            <a:extLst xmlns:a="http://schemas.openxmlformats.org/drawingml/2006/main">
              <a:ext uri="{FF2B5EF4-FFF2-40B4-BE49-F238E27FC236}">
                <a16:creationId xmlns:a16="http://schemas.microsoft.com/office/drawing/2014/main" id="{EDE672D4-F822-4FB8-93C2-81A1D1625D1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Diese ersten Beispiele benötigen weder ChatGPT noch Copilot oder ein Cloudkonto.</a:t>
            </a:r>
          </a:p>
        </p:txBody>
      </p:sp>
      <p:sp>
        <p:nvSpPr>
          <p:cNvPr id="6" name="text-5">
            <a:extLst xmlns:a="http://schemas.openxmlformats.org/drawingml/2006/main">
              <a:ext uri="{FF2B5EF4-FFF2-40B4-BE49-F238E27FC236}">
                <a16:creationId xmlns:a16="http://schemas.microsoft.com/office/drawing/2014/main" id="{BC07BD6A-11F8-4B0D-A436-47E7ADDBBBB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7" name="text-6">
            <a:extLst xmlns:a="http://schemas.openxmlformats.org/drawingml/2006/main">
              <a:ext uri="{FF2B5EF4-FFF2-40B4-BE49-F238E27FC236}">
                <a16:creationId xmlns:a16="http://schemas.microsoft.com/office/drawing/2014/main" id="{2E0B225C-AF8B-4AC7-8FFD-3AD93A928D62}"/>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Werte, Rangfolge und Quellen lassen sich gemeinsam erklären. Es gibt keinen Modellrequest.</a:t>
            </a:r>
          </a:p>
        </p:txBody>
      </p:sp>
      <p:sp>
        <p:nvSpPr>
          <p:cNvPr id="8" name="text-7">
            <a:extLst xmlns:a="http://schemas.openxmlformats.org/drawingml/2006/main">
              <a:ext uri="{FF2B5EF4-FFF2-40B4-BE49-F238E27FC236}">
                <a16:creationId xmlns:a16="http://schemas.microsoft.com/office/drawing/2014/main" id="{C7B2ACB5-304D-455C-A5C7-AEE4709A10E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Für die praktische Vorführung genügt die vorbereitete SQL-Testinstanz mit einem Queryclient.</a:t>
            </a:r>
          </a:p>
        </p:txBody>
      </p:sp>
      <p:sp>
        <p:nvSpPr>
          <p:cNvPr id="9" name="text-8">
            <a:extLst xmlns:a="http://schemas.openxmlformats.org/drawingml/2006/main">
              <a:ext uri="{FF2B5EF4-FFF2-40B4-BE49-F238E27FC236}">
                <a16:creationId xmlns:a16="http://schemas.microsoft.com/office/drawing/2014/main" id="{AE46F9DD-640A-45ED-8409-E5D53E571ED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14 · Quellfolie 14 · CUR-013 / CUR-014</a:t>
            </a:r>
          </a:p>
        </p:txBody>
      </p:sp>
    </p:spTree>
    <p:extLst>
      <p:ext uri="{BB962C8B-B14F-4D97-AF65-F5344CB8AC3E}">
        <p14:creationId xmlns:p14="http://schemas.microsoft.com/office/powerpoint/2010/main" val="720060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3A9C0BC-5FC0-474A-A499-56E8124EA9C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Serverversion und Client sind verschieden</a:t>
            </a:r>
          </a:p>
        </p:txBody>
      </p:sp>
      <p:sp>
        <p:nvSpPr>
          <p:cNvPr id="2" name="text-1">
            <a:extLst xmlns:a="http://schemas.openxmlformats.org/drawingml/2006/main">
              <a:ext uri="{FF2B5EF4-FFF2-40B4-BE49-F238E27FC236}">
                <a16:creationId xmlns:a16="http://schemas.microsoft.com/office/drawing/2014/main" id="{AD216CE9-9813-4BD8-860A-9800BA2E343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SQL Server</a:t>
            </a:r>
          </a:p>
        </p:txBody>
      </p:sp>
      <p:sp>
        <p:nvSpPr>
          <p:cNvPr id="3" name="text-2">
            <a:extLst xmlns:a="http://schemas.openxmlformats.org/drawingml/2006/main">
              <a:ext uri="{FF2B5EF4-FFF2-40B4-BE49-F238E27FC236}">
                <a16:creationId xmlns:a16="http://schemas.microsoft.com/office/drawing/2014/main" id="{6A4B5EF9-84A4-4FB0-943D-4648585D8FC1}"/>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Unsere VECTOR-Beispiele benötigen SQL Server 2025, Engine 17.x.</a:t>
            </a:r>
          </a:p>
        </p:txBody>
      </p:sp>
      <p:sp>
        <p:nvSpPr>
          <p:cNvPr id="4" name="text-3">
            <a:extLst xmlns:a="http://schemas.openxmlformats.org/drawingml/2006/main">
              <a:ext uri="{FF2B5EF4-FFF2-40B4-BE49-F238E27FC236}">
                <a16:creationId xmlns:a16="http://schemas.microsoft.com/office/drawing/2014/main" id="{90BE405F-FC18-4694-8F5D-4995613CA575}"/>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Client</a:t>
            </a:r>
          </a:p>
        </p:txBody>
      </p:sp>
      <p:sp>
        <p:nvSpPr>
          <p:cNvPr id="5" name="text-4">
            <a:extLst xmlns:a="http://schemas.openxmlformats.org/drawingml/2006/main">
              <a:ext uri="{FF2B5EF4-FFF2-40B4-BE49-F238E27FC236}">
                <a16:creationId xmlns:a16="http://schemas.microsoft.com/office/drawing/2014/main" id="{CB1ECB88-FCF2-45B7-A238-E56A75636B76}"/>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Das Programm zum Senden der Query macht aus einer älteren Engine keine SQL-Server-2025-Engine.</a:t>
            </a:r>
          </a:p>
        </p:txBody>
      </p:sp>
      <p:sp>
        <p:nvSpPr>
          <p:cNvPr id="6" name="text-5">
            <a:extLst xmlns:a="http://schemas.openxmlformats.org/drawingml/2006/main">
              <a:ext uri="{FF2B5EF4-FFF2-40B4-BE49-F238E27FC236}">
                <a16:creationId xmlns:a16="http://schemas.microsoft.com/office/drawing/2014/main" id="{2CFF47F0-5317-421B-9EB0-78C2D72A7E44}"/>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Datenbank</a:t>
            </a:r>
          </a:p>
        </p:txBody>
      </p:sp>
      <p:sp>
        <p:nvSpPr>
          <p:cNvPr id="7" name="text-6">
            <a:extLst xmlns:a="http://schemas.openxmlformats.org/drawingml/2006/main">
              <a:ext uri="{FF2B5EF4-FFF2-40B4-BE49-F238E27FC236}">
                <a16:creationId xmlns:a16="http://schemas.microsoft.com/office/drawing/2014/main" id="{FCAEB882-E1DB-40AB-ACCB-F3735781CED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Das Schulungsprofil verwendet Compatibility Level 170. Das ist eine eigene Datenbankeinstellung.</a:t>
            </a:r>
          </a:p>
        </p:txBody>
      </p:sp>
      <p:sp>
        <p:nvSpPr>
          <p:cNvPr id="8" name="text-7">
            <a:extLst xmlns:a="http://schemas.openxmlformats.org/drawingml/2006/main">
              <a:ext uri="{FF2B5EF4-FFF2-40B4-BE49-F238E27FC236}">
                <a16:creationId xmlns:a16="http://schemas.microsoft.com/office/drawing/2014/main" id="{3C619EF4-DE10-4A66-AF57-FF07BAD228ED}"/>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15 · Quellfolie 15 · CUR-014 / CUR-016</a:t>
            </a:r>
          </a:p>
        </p:txBody>
      </p:sp>
    </p:spTree>
    <p:extLst>
      <p:ext uri="{BB962C8B-B14F-4D97-AF65-F5344CB8AC3E}">
        <p14:creationId xmlns:p14="http://schemas.microsoft.com/office/powerpoint/2010/main" val="7088552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823A22B-36C8-4AF2-B037-0EEAB5FF951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Version und Datenbankeinstellung lesen</a:t>
            </a:r>
          </a:p>
        </p:txBody>
      </p:sp>
      <p:sp>
        <p:nvSpPr>
          <p:cNvPr id="2" name="text-1">
            <a:extLst xmlns:a="http://schemas.openxmlformats.org/drawingml/2006/main">
              <a:ext uri="{FF2B5EF4-FFF2-40B4-BE49-F238E27FC236}">
                <a16:creationId xmlns:a16="http://schemas.microsoft.com/office/drawing/2014/main" id="{0644572A-00AB-4517-8E5A-DF272A2C8F07}"/>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CAST(SERVERPROPERTY('ProductMajorVersion') AS int) AS Major;</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compatibility_level AS CL</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sys.databases WHERE name = DB_NAME();</a:t>
            </a:r>
          </a:p>
        </p:txBody>
      </p:sp>
      <p:sp>
        <p:nvSpPr>
          <p:cNvPr id="3" name="text-2">
            <a:extLst xmlns:a="http://schemas.openxmlformats.org/drawingml/2006/main">
              <a:ext uri="{FF2B5EF4-FFF2-40B4-BE49-F238E27FC236}">
                <a16:creationId xmlns:a16="http://schemas.microsoft.com/office/drawing/2014/main" id="{BD7A76BA-94CB-48D4-8DE9-BD6841C32F21}"/>
              </a:ext>
            </a:extLst>
          </p:cNvPr>
          <p:cNvSpPr>
            <a:spLocks xmlns:a="http://schemas.openxmlformats.org/drawingml/2006/main" noGrp="1"/>
          </p:cNvSpPr>
          <p:nvPr/>
        </p:nvSpPr>
        <p:spPr>
          <a:xfrm xmlns:a="http://schemas.openxmlformats.org/drawingml/2006/main">
            <a:off x="685800" y="3724275"/>
            <a:ext cx="2333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Einordnung</a:t>
            </a:r>
          </a:p>
        </p:txBody>
      </p:sp>
      <p:sp>
        <p:nvSpPr>
          <p:cNvPr id="4" name="text-3">
            <a:extLst xmlns:a="http://schemas.openxmlformats.org/drawingml/2006/main">
              <a:ext uri="{FF2B5EF4-FFF2-40B4-BE49-F238E27FC236}">
                <a16:creationId xmlns:a16="http://schemas.microsoft.com/office/drawing/2014/main" id="{ECE2025B-846A-415D-BDDC-E795D61CDF85}"/>
              </a:ext>
            </a:extLst>
          </p:cNvPr>
          <p:cNvSpPr>
            <a:spLocks xmlns:a="http://schemas.openxmlformats.org/drawingml/2006/main" noGrp="1"/>
          </p:cNvSpPr>
          <p:nvPr/>
        </p:nvSpPr>
        <p:spPr>
          <a:xfrm xmlns:a="http://schemas.openxmlformats.org/drawingml/2006/main">
            <a:off x="3190875" y="3724275"/>
            <a:ext cx="8239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Major 17 bezeichnet die Enginefamilie. CL 170 bezeichnet das gewählte Datenbankprofil.</a:t>
            </a:r>
          </a:p>
        </p:txBody>
      </p:sp>
      <p:sp>
        <p:nvSpPr>
          <p:cNvPr id="5" name="text-4">
            <a:extLst xmlns:a="http://schemas.openxmlformats.org/drawingml/2006/main">
              <a:ext uri="{FF2B5EF4-FFF2-40B4-BE49-F238E27FC236}">
                <a16:creationId xmlns:a16="http://schemas.microsoft.com/office/drawing/2014/main" id="{369B1330-7682-4384-A1A3-4ED397B1E090}"/>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 Query liest Eigenschaften. Sie ändert weder Server noch Datenbank.</a:t>
            </a:r>
          </a:p>
        </p:txBody>
      </p:sp>
      <p:sp>
        <p:nvSpPr>
          <p:cNvPr id="6" name="text-5">
            <a:extLst xmlns:a="http://schemas.openxmlformats.org/drawingml/2006/main">
              <a:ext uri="{FF2B5EF4-FFF2-40B4-BE49-F238E27FC236}">
                <a16:creationId xmlns:a16="http://schemas.microsoft.com/office/drawing/2014/main" id="{82384004-74CE-494F-9FEE-BAC314DD20B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16 · Quellfolie 16 · CUR-014</a:t>
            </a:r>
          </a:p>
        </p:txBody>
      </p:sp>
    </p:spTree>
    <p:extLst>
      <p:ext uri="{BB962C8B-B14F-4D97-AF65-F5344CB8AC3E}">
        <p14:creationId xmlns:p14="http://schemas.microsoft.com/office/powerpoint/2010/main" val="10191134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5D5B1E5-3075-45F5-9BCD-F380E8A3607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vorbereitete Testumgebung und passende Rechte</a:t>
            </a:r>
          </a:p>
        </p:txBody>
      </p:sp>
      <p:sp>
        <p:nvSpPr>
          <p:cNvPr id="2" name="text-1">
            <a:extLst xmlns:a="http://schemas.openxmlformats.org/drawingml/2006/main">
              <a:ext uri="{FF2B5EF4-FFF2-40B4-BE49-F238E27FC236}">
                <a16:creationId xmlns:a16="http://schemas.microsoft.com/office/drawing/2014/main" id="{CA69426F-D417-405C-8C92-A9E61756F1A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Umgebung</a:t>
            </a:r>
          </a:p>
        </p:txBody>
      </p:sp>
      <p:sp>
        <p:nvSpPr>
          <p:cNvPr id="3" name="text-2">
            <a:extLst xmlns:a="http://schemas.openxmlformats.org/drawingml/2006/main">
              <a:ext uri="{FF2B5EF4-FFF2-40B4-BE49-F238E27FC236}">
                <a16:creationId xmlns:a16="http://schemas.microsoft.com/office/drawing/2014/main" id="{316F6421-4952-4EFF-B7B4-AF361F10EB0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Lehrperson bereitet eine dedizierte SQL-Server-2025-Testinstanz vor.</a:t>
            </a:r>
          </a:p>
        </p:txBody>
      </p:sp>
      <p:sp>
        <p:nvSpPr>
          <p:cNvPr id="4" name="text-3">
            <a:extLst xmlns:a="http://schemas.openxmlformats.org/drawingml/2006/main">
              <a:ext uri="{FF2B5EF4-FFF2-40B4-BE49-F238E27FC236}">
                <a16:creationId xmlns:a16="http://schemas.microsoft.com/office/drawing/2014/main" id="{7FAA924C-B1CA-40EC-A8BD-976A877337C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Teilnehmende</a:t>
            </a:r>
          </a:p>
        </p:txBody>
      </p:sp>
      <p:sp>
        <p:nvSpPr>
          <p:cNvPr id="5" name="text-4">
            <a:extLst xmlns:a="http://schemas.openxmlformats.org/drawingml/2006/main">
              <a:ext uri="{FF2B5EF4-FFF2-40B4-BE49-F238E27FC236}">
                <a16:creationId xmlns:a16="http://schemas.microsoft.com/office/drawing/2014/main" id="{CEA8DD00-2FE6-4863-A4F2-DAA60C49B5E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unsere kleinen Beispiele lesen wir feste Werte. Einrichtung und Verwaltung bleiben getrennt.</a:t>
            </a:r>
          </a:p>
        </p:txBody>
      </p:sp>
      <p:sp>
        <p:nvSpPr>
          <p:cNvPr id="6" name="text-5">
            <a:extLst xmlns:a="http://schemas.openxmlformats.org/drawingml/2006/main">
              <a:ext uri="{FF2B5EF4-FFF2-40B4-BE49-F238E27FC236}">
                <a16:creationId xmlns:a16="http://schemas.microsoft.com/office/drawing/2014/main" id="{A096F21C-B5CE-474F-A8C8-404335994AA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Falls etwas fehlt</a:t>
            </a:r>
          </a:p>
        </p:txBody>
      </p:sp>
      <p:sp>
        <p:nvSpPr>
          <p:cNvPr id="7" name="text-6">
            <a:extLst xmlns:a="http://schemas.openxmlformats.org/drawingml/2006/main">
              <a:ext uri="{FF2B5EF4-FFF2-40B4-BE49-F238E27FC236}">
                <a16:creationId xmlns:a16="http://schemas.microsoft.com/office/drawing/2014/main" id="{27A37AA6-A6DD-442C-BF13-397BA894DBE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Verbindung, Ziel und Rechte gemeinsam prüfen. Für die Diskussion können wir zuerst die Sollwerte lesen.</a:t>
            </a:r>
          </a:p>
        </p:txBody>
      </p:sp>
      <p:sp>
        <p:nvSpPr>
          <p:cNvPr id="8" name="text-7">
            <a:extLst xmlns:a="http://schemas.openxmlformats.org/drawingml/2006/main">
              <a:ext uri="{FF2B5EF4-FFF2-40B4-BE49-F238E27FC236}">
                <a16:creationId xmlns:a16="http://schemas.microsoft.com/office/drawing/2014/main" id="{E75C1455-7162-480D-ABF8-B4D38D553DF9}"/>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Spätere vollständige Demos nutzen ihre dokumentierten Setup- und Cleanup-Verträge.</a:t>
            </a:r>
          </a:p>
        </p:txBody>
      </p:sp>
      <p:sp>
        <p:nvSpPr>
          <p:cNvPr id="9" name="text-8">
            <a:extLst xmlns:a="http://schemas.openxmlformats.org/drawingml/2006/main">
              <a:ext uri="{FF2B5EF4-FFF2-40B4-BE49-F238E27FC236}">
                <a16:creationId xmlns:a16="http://schemas.microsoft.com/office/drawing/2014/main" id="{52C27208-46D7-43A9-A9BA-86D04C23BF2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17 · Quellfolie 17 · CUR-014 / CUR-018</a:t>
            </a:r>
          </a:p>
        </p:txBody>
      </p:sp>
    </p:spTree>
    <p:extLst>
      <p:ext uri="{BB962C8B-B14F-4D97-AF65-F5344CB8AC3E}">
        <p14:creationId xmlns:p14="http://schemas.microsoft.com/office/powerpoint/2010/main" val="797098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5DEF00C-5A52-4977-A3AB-B85AB32C5BA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Vektor als kleine Zahlenliste</a:t>
            </a:r>
          </a:p>
        </p:txBody>
      </p:sp>
      <p:sp>
        <p:nvSpPr>
          <p:cNvPr id="2" name="text-1">
            <a:extLst xmlns:a="http://schemas.openxmlformats.org/drawingml/2006/main">
              <a:ext uri="{FF2B5EF4-FFF2-40B4-BE49-F238E27FC236}">
                <a16:creationId xmlns:a16="http://schemas.microsoft.com/office/drawing/2014/main" id="{D194CAE4-714C-49CD-B58A-C39A50444A1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Drei Komponenten</a:t>
            </a:r>
          </a:p>
        </p:txBody>
      </p:sp>
      <p:sp>
        <p:nvSpPr>
          <p:cNvPr id="3" name="text-2">
            <a:extLst xmlns:a="http://schemas.openxmlformats.org/drawingml/2006/main">
              <a:ext uri="{FF2B5EF4-FFF2-40B4-BE49-F238E27FC236}">
                <a16:creationId xmlns:a16="http://schemas.microsoft.com/office/drawing/2014/main" id="{55CA049C-ABCF-4FDD-A7B8-6119522539D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VECTOR(3) enthält drei numerische Werte, zum Beispiel [1,0,0].</a:t>
            </a:r>
          </a:p>
        </p:txBody>
      </p:sp>
      <p:sp>
        <p:nvSpPr>
          <p:cNvPr id="4" name="text-3">
            <a:extLst xmlns:a="http://schemas.openxmlformats.org/drawingml/2006/main">
              <a:ext uri="{FF2B5EF4-FFF2-40B4-BE49-F238E27FC236}">
                <a16:creationId xmlns:a16="http://schemas.microsoft.com/office/drawing/2014/main" id="{73237EFC-8F19-4DFD-A757-D6185F61CA35}"/>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Unsere Lehrwerte</a:t>
            </a:r>
          </a:p>
        </p:txBody>
      </p:sp>
      <p:sp>
        <p:nvSpPr>
          <p:cNvPr id="5" name="text-4">
            <a:extLst xmlns:a="http://schemas.openxmlformats.org/drawingml/2006/main">
              <a:ext uri="{FF2B5EF4-FFF2-40B4-BE49-F238E27FC236}">
                <a16:creationId xmlns:a16="http://schemas.microsoft.com/office/drawing/2014/main" id="{1F20A12F-FD2B-4913-BDB8-FB40A384D9B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geben alle Zahlen ausdrücklich vor. Sie stammen aus keinem Textmodell.</a:t>
            </a:r>
          </a:p>
        </p:txBody>
      </p:sp>
      <p:sp>
        <p:nvSpPr>
          <p:cNvPr id="6" name="text-5">
            <a:extLst xmlns:a="http://schemas.openxmlformats.org/drawingml/2006/main">
              <a:ext uri="{FF2B5EF4-FFF2-40B4-BE49-F238E27FC236}">
                <a16:creationId xmlns:a16="http://schemas.microsoft.com/office/drawing/2014/main" id="{362B2E48-AAFF-40C2-A67A-96095D9F98AA}"/>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Vergleich</a:t>
            </a:r>
          </a:p>
        </p:txBody>
      </p:sp>
      <p:sp>
        <p:nvSpPr>
          <p:cNvPr id="7" name="text-6">
            <a:extLst xmlns:a="http://schemas.openxmlformats.org/drawingml/2006/main">
              <a:ext uri="{FF2B5EF4-FFF2-40B4-BE49-F238E27FC236}">
                <a16:creationId xmlns:a16="http://schemas.microsoft.com/office/drawing/2014/main" id="{B5669A1F-663E-4F34-A6BB-F15D6EA29249}"/>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Cosine-Distanz vergleicht die Richtung der beiden Zahlenlisten.</a:t>
            </a:r>
          </a:p>
        </p:txBody>
      </p:sp>
      <p:sp>
        <p:nvSpPr>
          <p:cNvPr id="8" name="text-7">
            <a:extLst xmlns:a="http://schemas.openxmlformats.org/drawingml/2006/main">
              <a:ext uri="{FF2B5EF4-FFF2-40B4-BE49-F238E27FC236}">
                <a16:creationId xmlns:a16="http://schemas.microsoft.com/office/drawing/2014/main" id="{F20BC9FA-7F15-47C9-9F68-F5B8435DA02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18 · Quellfolie 18 · CUR-013 / CUR-014</a:t>
            </a:r>
          </a:p>
        </p:txBody>
      </p:sp>
    </p:spTree>
    <p:extLst>
      <p:ext uri="{BB962C8B-B14F-4D97-AF65-F5344CB8AC3E}">
        <p14:creationId xmlns:p14="http://schemas.microsoft.com/office/powerpoint/2010/main" val="76599146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C4F41AB-EF5D-438B-AB37-9E27A620F86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Vorhersage für drei Richtungen</a:t>
            </a:r>
          </a:p>
        </p:txBody>
      </p:sp>
      <p:graphicFrame>
        <p:nvGraphicFramePr>
          <p:cNvPr id="2" name="">
            <a:extLst xmlns:a="http://schemas.openxmlformats.org/drawingml/2006/main">
              <a:ext uri="{FF2B5EF4-FFF2-40B4-BE49-F238E27FC236}">
                <a16:creationId xmlns:a16="http://schemas.microsoft.com/office/drawing/2014/main" id="{351710EA-248A-4249-B52E-001FE98F61D8}"/>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1428750"/>
                <a:gridCol w="2952750"/>
                <a:gridCol w="6286500"/>
              </a:tblGrid>
              <a:tr h="785813">
                <a:tc>
                  <a:txBody>
                    <a:bodyPr/>
                    <a:lstStyle/>
                    <a:p>
                      <a:r>
                        <a:rPr sz="1800" b="1">
                          <a:solidFill>
                            <a:srgbClr val="15283D"/>
                          </a:solidFill>
                          <a:latin typeface="Arial"/>
                          <a:ea typeface="Arial"/>
                          <a:cs typeface="Arial"/>
                        </a:rPr>
                        <a:t>Id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Vektor</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Richtung zur Frage [1,0,0]</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[1,0,0]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[0,1,0]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Senkrechte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[-1,0,0]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Entgegengesetzte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9BF9A313-B9AD-4355-A69D-581661E3C42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Vorhersage: Welcher Vektor soll bei aufsteigender Cosine-Distanz zuerst erscheinen?</a:t>
            </a:r>
          </a:p>
        </p:txBody>
      </p:sp>
      <p:sp>
        <p:nvSpPr>
          <p:cNvPr id="4" name="text-2">
            <a:extLst xmlns:a="http://schemas.openxmlformats.org/drawingml/2006/main">
              <a:ext uri="{FF2B5EF4-FFF2-40B4-BE49-F238E27FC236}">
                <a16:creationId xmlns:a16="http://schemas.microsoft.com/office/drawing/2014/main" id="{5E783AD4-C358-4DD6-BB3F-AEFE45FBAE1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19 · Quellfolie 19 · CUR-014</a:t>
            </a:r>
          </a:p>
        </p:txBody>
      </p:sp>
    </p:spTree>
    <p:extLst>
      <p:ext uri="{BB962C8B-B14F-4D97-AF65-F5344CB8AC3E}">
        <p14:creationId xmlns:p14="http://schemas.microsoft.com/office/powerpoint/2010/main" val="7950825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9259F17-E3F2-43F2-A17A-988273B942B4}"/>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vollständige read-only Vektorquery</a:t>
            </a:r>
          </a:p>
        </p:txBody>
      </p:sp>
      <p:sp>
        <p:nvSpPr>
          <p:cNvPr id="2" name="text-1">
            <a:extLst xmlns:a="http://schemas.openxmlformats.org/drawingml/2006/main">
              <a:ext uri="{FF2B5EF4-FFF2-40B4-BE49-F238E27FC236}">
                <a16:creationId xmlns:a16="http://schemas.microsoft.com/office/drawing/2014/main" id="{4EC13681-219B-4DFB-AF1B-D5920F29CD62}"/>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DECLARE @q VECTOR(3) = '[1,0,0]';</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Id, VECTOR_DISTANCE('cosine', @q, CAST(V AS VECTOR(3))) AS D</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(VALUES (1,'[1,0,0]'),(2,'[0,1,0]'),(3,'[-1,0,0]')) d(Id,V)</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ORDER BY D, Id;</a:t>
            </a:r>
          </a:p>
        </p:txBody>
      </p:sp>
      <p:sp>
        <p:nvSpPr>
          <p:cNvPr id="3" name="text-2">
            <a:extLst xmlns:a="http://schemas.openxmlformats.org/drawingml/2006/main">
              <a:ext uri="{FF2B5EF4-FFF2-40B4-BE49-F238E27FC236}">
                <a16:creationId xmlns:a16="http://schemas.microsoft.com/office/drawing/2014/main" id="{E17020C2-4BD8-4357-BD7D-33B0D5081CE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DECLARE definiert den Fragevektor. VALUES liefert Kandidaten. SELECT berechnet und sortiert.</a:t>
            </a:r>
          </a:p>
        </p:txBody>
      </p:sp>
      <p:sp>
        <p:nvSpPr>
          <p:cNvPr id="4" name="text-3">
            <a:extLst xmlns:a="http://schemas.openxmlformats.org/drawingml/2006/main">
              <a:ext uri="{FF2B5EF4-FFF2-40B4-BE49-F238E27FC236}">
                <a16:creationId xmlns:a16="http://schemas.microsoft.com/office/drawing/2014/main" id="{9AB7C668-68D5-410A-87D3-EB275E96471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20 · Quellfolie 20 · CUR-014</a:t>
            </a:r>
          </a:p>
        </p:txBody>
      </p:sp>
    </p:spTree>
    <p:extLst>
      <p:ext uri="{BB962C8B-B14F-4D97-AF65-F5344CB8AC3E}">
        <p14:creationId xmlns:p14="http://schemas.microsoft.com/office/powerpoint/2010/main" val="7371607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5D802D7-620C-4F0D-9316-88566055ADC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Ergebnisbesprechung der Vektorquery</a:t>
            </a:r>
          </a:p>
        </p:txBody>
      </p:sp>
      <p:graphicFrame>
        <p:nvGraphicFramePr>
          <p:cNvPr id="2" name="">
            <a:extLst xmlns:a="http://schemas.openxmlformats.org/drawingml/2006/main">
              <a:ext uri="{FF2B5EF4-FFF2-40B4-BE49-F238E27FC236}">
                <a16:creationId xmlns:a16="http://schemas.microsoft.com/office/drawing/2014/main" id="{61BECA22-E1BF-4ABF-9CC0-69FC6C8E6D07}"/>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190750"/>
                <a:gridCol w="2762250"/>
                <a:gridCol w="5715000"/>
              </a:tblGrid>
              <a:tr h="785813">
                <a:tc>
                  <a:txBody>
                    <a:bodyPr/>
                    <a:lstStyle/>
                    <a:p>
                      <a:r>
                        <a:rPr sz="1800" b="1">
                          <a:solidFill>
                            <a:srgbClr val="15283D"/>
                          </a:solidFill>
                          <a:latin typeface="Arial"/>
                          <a:ea typeface="Arial"/>
                          <a:cs typeface="Arial"/>
                        </a:rPr>
                        <a:t>Ausgabe Id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Cosine-Distanz D</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Erklärung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Richtung wie die Frage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1</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Senkrecht zur Frage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3</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2</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Entgegengesetzte Richtung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BF19B616-4905-43AB-ACFB-DBB38830247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Mathematische Sollwerte des festen Lehrfalls. Kleine Floating-Point-Abweichungen fachlich einordnen.</a:t>
            </a:r>
          </a:p>
        </p:txBody>
      </p:sp>
      <p:sp>
        <p:nvSpPr>
          <p:cNvPr id="4" name="text-2">
            <a:extLst xmlns:a="http://schemas.openxmlformats.org/drawingml/2006/main">
              <a:ext uri="{FF2B5EF4-FFF2-40B4-BE49-F238E27FC236}">
                <a16:creationId xmlns:a16="http://schemas.microsoft.com/office/drawing/2014/main" id="{992F3199-F608-4AF8-939E-615BEDF1DB3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21 · Quellfolie 21 · CUR-014</a:t>
            </a:r>
          </a:p>
        </p:txBody>
      </p:sp>
    </p:spTree>
    <p:extLst>
      <p:ext uri="{BB962C8B-B14F-4D97-AF65-F5344CB8AC3E}">
        <p14:creationId xmlns:p14="http://schemas.microsoft.com/office/powerpoint/2010/main" val="11307203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4474CE0-F7F6-47DD-BD5A-998F58CD7EA2}"/>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Text als Zahlen: ein Embedding</a:t>
            </a:r>
          </a:p>
        </p:txBody>
      </p:sp>
      <p:sp>
        <p:nvSpPr>
          <p:cNvPr id="2" name="text-1">
            <a:extLst xmlns:a="http://schemas.openxmlformats.org/drawingml/2006/main">
              <a:ext uri="{FF2B5EF4-FFF2-40B4-BE49-F238E27FC236}">
                <a16:creationId xmlns:a16="http://schemas.microsoft.com/office/drawing/2014/main" id="{3D64A56B-3A9A-4D3D-8627-039A9A311C6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Embedding</a:t>
            </a:r>
          </a:p>
        </p:txBody>
      </p:sp>
      <p:sp>
        <p:nvSpPr>
          <p:cNvPr id="3" name="text-2">
            <a:extLst xmlns:a="http://schemas.openxmlformats.org/drawingml/2006/main">
              <a:ext uri="{FF2B5EF4-FFF2-40B4-BE49-F238E27FC236}">
                <a16:creationId xmlns:a16="http://schemas.microsoft.com/office/drawing/2014/main" id="{1A1E375B-6E1C-43AD-BAA4-65C4179416B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bestimmtes Modell bildet einen Text auf einen numerischen Vektor ab.</a:t>
            </a:r>
          </a:p>
        </p:txBody>
      </p:sp>
      <p:sp>
        <p:nvSpPr>
          <p:cNvPr id="4" name="text-3">
            <a:extLst xmlns:a="http://schemas.openxmlformats.org/drawingml/2006/main">
              <a:ext uri="{FF2B5EF4-FFF2-40B4-BE49-F238E27FC236}">
                <a16:creationId xmlns:a16="http://schemas.microsoft.com/office/drawing/2014/main" id="{5B835D8E-8CE6-4B21-8E68-5405ED866BFA}"/>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Suche</a:t>
            </a:r>
          </a:p>
        </p:txBody>
      </p:sp>
      <p:sp>
        <p:nvSpPr>
          <p:cNvPr id="5" name="text-4">
            <a:extLst xmlns:a="http://schemas.openxmlformats.org/drawingml/2006/main">
              <a:ext uri="{FF2B5EF4-FFF2-40B4-BE49-F238E27FC236}">
                <a16:creationId xmlns:a16="http://schemas.microsoft.com/office/drawing/2014/main" id="{884F33C6-7BF4-4370-94FF-9D084B3323F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Frage und Quellen erhalten vergleichbare Vektoren aus demselben Modellraum.</a:t>
            </a:r>
          </a:p>
        </p:txBody>
      </p:sp>
      <p:sp>
        <p:nvSpPr>
          <p:cNvPr id="6" name="text-5">
            <a:extLst xmlns:a="http://schemas.openxmlformats.org/drawingml/2006/main">
              <a:ext uri="{FF2B5EF4-FFF2-40B4-BE49-F238E27FC236}">
                <a16:creationId xmlns:a16="http://schemas.microsoft.com/office/drawing/2014/main" id="{1639EDBB-DD43-46F2-858B-6C1E5717AC0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Bewertung</a:t>
            </a:r>
          </a:p>
        </p:txBody>
      </p:sp>
      <p:sp>
        <p:nvSpPr>
          <p:cNvPr id="7" name="text-6">
            <a:extLst xmlns:a="http://schemas.openxmlformats.org/drawingml/2006/main">
              <a:ext uri="{FF2B5EF4-FFF2-40B4-BE49-F238E27FC236}">
                <a16:creationId xmlns:a16="http://schemas.microsoft.com/office/drawing/2014/main" id="{28CFF086-AB96-42B7-A405-8E074D55D37D}"/>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Ähnliche Vektoren können passende Texte liefern. Die fachliche Relevanz müssen wir prüfen.</a:t>
            </a:r>
          </a:p>
        </p:txBody>
      </p:sp>
      <p:sp>
        <p:nvSpPr>
          <p:cNvPr id="8" name="text-7">
            <a:extLst xmlns:a="http://schemas.openxmlformats.org/drawingml/2006/main">
              <a:ext uri="{FF2B5EF4-FFF2-40B4-BE49-F238E27FC236}">
                <a16:creationId xmlns:a16="http://schemas.microsoft.com/office/drawing/2014/main" id="{1A6598DD-DB01-4AD8-BD50-225CE55BAA64}"/>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Unsere VECTOR(3)-Lehrwerte waren handgesetzt. Sie sind keine echten Textembeddings.</a:t>
            </a:r>
          </a:p>
        </p:txBody>
      </p:sp>
      <p:sp>
        <p:nvSpPr>
          <p:cNvPr id="9" name="text-8">
            <a:extLst xmlns:a="http://schemas.openxmlformats.org/drawingml/2006/main">
              <a:ext uri="{FF2B5EF4-FFF2-40B4-BE49-F238E27FC236}">
                <a16:creationId xmlns:a16="http://schemas.microsoft.com/office/drawing/2014/main" id="{21600F77-B208-4E6E-A767-031BC7D085A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22 · Quellfolie 22 · CUR-013 / CUR-016</a:t>
            </a:r>
          </a:p>
        </p:txBody>
      </p:sp>
    </p:spTree>
    <p:extLst>
      <p:ext uri="{BB962C8B-B14F-4D97-AF65-F5344CB8AC3E}">
        <p14:creationId xmlns:p14="http://schemas.microsoft.com/office/powerpoint/2010/main" val="147997065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ACF05A5-4365-4F4B-A136-D0C5E8FAAC5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Zusätzliche Hürden eines echten Modellpfads</a:t>
            </a:r>
          </a:p>
        </p:txBody>
      </p:sp>
      <p:graphicFrame>
        <p:nvGraphicFramePr>
          <p:cNvPr id="2" name="">
            <a:extLst xmlns:a="http://schemas.openxmlformats.org/drawingml/2006/main">
              <a:ext uri="{FF2B5EF4-FFF2-40B4-BE49-F238E27FC236}">
                <a16:creationId xmlns:a16="http://schemas.microsoft.com/office/drawing/2014/main" id="{DF3CF044-B627-45AE-8AE2-45FFB185FE9A}"/>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1809750"/>
                <a:gridCol w="4429125"/>
                <a:gridCol w="4429125"/>
              </a:tblGrid>
              <a:tr h="800100">
                <a:tc>
                  <a:txBody>
                    <a:bodyPr/>
                    <a:lstStyle/>
                    <a:p>
                      <a:r>
                        <a:rPr sz="1800" b="1">
                          <a:solidFill>
                            <a:srgbClr val="15283D"/>
                          </a:solidFill>
                          <a:latin typeface="Arial"/>
                          <a:ea typeface="Arial"/>
                          <a:cs typeface="Arial"/>
                        </a:rPr>
                        <a:t>Hürde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Vorbereitete Lösung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Sichtbare Prüfung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Modell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Geeignete Version und Dimension festlegen.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Vektor passt zum erwarteten Modellraum.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Verbindung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Verschlüsselten Transport und Zertifikat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erlaubte Dienst ist aus dem Aufrufer erreichbar.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Kosten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Menge der Requests und Wiederholungen begrenzen.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Verbrauch und Abbruchgrenze bleiben nachvollziehbar.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Datenschutz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Erlaubte Daten und Dienstverarbeitung klären.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Nur freigegebener Kontext verlässt seine Grenze.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D5D8B737-9A32-4A59-BA6F-3BD6FF06616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23 · Quellfolie 23 · CUR-016 / CUR-018</a:t>
            </a:r>
          </a:p>
        </p:txBody>
      </p:sp>
    </p:spTree>
    <p:extLst>
      <p:ext uri="{BB962C8B-B14F-4D97-AF65-F5344CB8AC3E}">
        <p14:creationId xmlns:p14="http://schemas.microsoft.com/office/powerpoint/2010/main" val="14426392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C907A3E-C83E-49F2-A6EF-578955323AB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 Textausschnitt braucht seine Herkunft</a:t>
            </a:r>
          </a:p>
        </p:txBody>
      </p:sp>
      <p:sp>
        <p:nvSpPr>
          <p:cNvPr id="2" name="text-1">
            <a:extLst xmlns:a="http://schemas.openxmlformats.org/drawingml/2006/main">
              <a:ext uri="{FF2B5EF4-FFF2-40B4-BE49-F238E27FC236}">
                <a16:creationId xmlns:a16="http://schemas.microsoft.com/office/drawing/2014/main" id="{D4105D51-8763-41FD-B970-4E31C1DE2D3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Quelltext</a:t>
            </a:r>
          </a:p>
        </p:txBody>
      </p:sp>
      <p:sp>
        <p:nvSpPr>
          <p:cNvPr id="3" name="text-2">
            <a:extLst xmlns:a="http://schemas.openxmlformats.org/drawingml/2006/main">
              <a:ext uri="{FF2B5EF4-FFF2-40B4-BE49-F238E27FC236}">
                <a16:creationId xmlns:a16="http://schemas.microsoft.com/office/drawing/2014/main" id="{F90EB029-895C-42CB-B311-56C20B950A7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Dokument 2, v2: MOD_A bewahrt Protokolle sieben Tage auf.</a:t>
            </a:r>
          </a:p>
        </p:txBody>
      </p:sp>
      <p:sp>
        <p:nvSpPr>
          <p:cNvPr id="4" name="text-3">
            <a:extLst xmlns:a="http://schemas.openxmlformats.org/drawingml/2006/main">
              <a:ext uri="{FF2B5EF4-FFF2-40B4-BE49-F238E27FC236}">
                <a16:creationId xmlns:a16="http://schemas.microsoft.com/office/drawing/2014/main" id="{42CCBB58-C183-43C0-ACDF-B2FE55058CA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Ausschnitt</a:t>
            </a:r>
          </a:p>
        </p:txBody>
      </p:sp>
      <p:sp>
        <p:nvSpPr>
          <p:cNvPr id="5" name="text-4">
            <a:extLst xmlns:a="http://schemas.openxmlformats.org/drawingml/2006/main">
              <a:ext uri="{FF2B5EF4-FFF2-40B4-BE49-F238E27FC236}">
                <a16:creationId xmlns:a16="http://schemas.microsoft.com/office/drawing/2014/main" id="{AD57188E-23D9-46CA-A328-51544B5F27F2}"/>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Chunk ist ein abgegrenzter Textbereich. Er bleibt mit Dokument und Fassung verbunden.</a:t>
            </a:r>
          </a:p>
        </p:txBody>
      </p:sp>
      <p:sp>
        <p:nvSpPr>
          <p:cNvPr id="6" name="text-5">
            <a:extLst xmlns:a="http://schemas.openxmlformats.org/drawingml/2006/main">
              <a:ext uri="{FF2B5EF4-FFF2-40B4-BE49-F238E27FC236}">
                <a16:creationId xmlns:a16="http://schemas.microsoft.com/office/drawing/2014/main" id="{832AA8D9-DF53-417A-8391-2FDBAB1E069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Prüfung</a:t>
            </a:r>
          </a:p>
        </p:txBody>
      </p:sp>
      <p:sp>
        <p:nvSpPr>
          <p:cNvPr id="7" name="text-6">
            <a:extLst xmlns:a="http://schemas.openxmlformats.org/drawingml/2006/main">
              <a:ext uri="{FF2B5EF4-FFF2-40B4-BE49-F238E27FC236}">
                <a16:creationId xmlns:a16="http://schemas.microsoft.com/office/drawing/2014/main" id="{806A3F30-7BB3-4129-A24E-776FAEFBD19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können zeigen, wo die gefundene Information steht und ob diese Fassung aktuell ist.</a:t>
            </a:r>
          </a:p>
        </p:txBody>
      </p:sp>
      <p:sp>
        <p:nvSpPr>
          <p:cNvPr id="8" name="text-7">
            <a:extLst xmlns:a="http://schemas.openxmlformats.org/drawingml/2006/main">
              <a:ext uri="{FF2B5EF4-FFF2-40B4-BE49-F238E27FC236}">
                <a16:creationId xmlns:a16="http://schemas.microsoft.com/office/drawing/2014/main" id="{F81C1905-C291-4471-A478-E3D86E5671B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24 · Quellfolie 24 · CUR-015 / CUR-017</a:t>
            </a:r>
          </a:p>
        </p:txBody>
      </p:sp>
    </p:spTree>
    <p:extLst>
      <p:ext uri="{BB962C8B-B14F-4D97-AF65-F5344CB8AC3E}">
        <p14:creationId xmlns:p14="http://schemas.microsoft.com/office/powerpoint/2010/main" val="13078529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9A176B3-3C26-4AED-BE92-2ECAC53880E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Antwort mit abgerufenem Quellenkontext</a:t>
            </a:r>
          </a:p>
        </p:txBody>
      </p:sp>
      <p:sp>
        <p:nvSpPr>
          <p:cNvPr id="2" name="text-1">
            <a:extLst xmlns:a="http://schemas.openxmlformats.org/drawingml/2006/main">
              <a:ext uri="{FF2B5EF4-FFF2-40B4-BE49-F238E27FC236}">
                <a16:creationId xmlns:a16="http://schemas.microsoft.com/office/drawing/2014/main" id="{01A0816E-7218-476C-A5B4-A9D5EAA39BC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Suche</a:t>
            </a:r>
          </a:p>
        </p:txBody>
      </p:sp>
      <p:sp>
        <p:nvSpPr>
          <p:cNvPr id="3" name="text-2">
            <a:extLst xmlns:a="http://schemas.openxmlformats.org/drawingml/2006/main">
              <a:ext uri="{FF2B5EF4-FFF2-40B4-BE49-F238E27FC236}">
                <a16:creationId xmlns:a16="http://schemas.microsoft.com/office/drawing/2014/main" id="{CCEEF2F8-9D9D-4F24-9205-57050E70593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Anwendung findet zur Frage erlaubte, aktuelle Quellen.</a:t>
            </a:r>
          </a:p>
        </p:txBody>
      </p:sp>
      <p:sp>
        <p:nvSpPr>
          <p:cNvPr id="4" name="text-3">
            <a:extLst xmlns:a="http://schemas.openxmlformats.org/drawingml/2006/main">
              <a:ext uri="{FF2B5EF4-FFF2-40B4-BE49-F238E27FC236}">
                <a16:creationId xmlns:a16="http://schemas.microsoft.com/office/drawing/2014/main" id="{A6FD54A1-23FC-481A-8DEE-9EE3A87E280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Kontext</a:t>
            </a:r>
          </a:p>
        </p:txBody>
      </p:sp>
      <p:sp>
        <p:nvSpPr>
          <p:cNvPr id="5" name="text-4">
            <a:extLst xmlns:a="http://schemas.openxmlformats.org/drawingml/2006/main">
              <a:ext uri="{FF2B5EF4-FFF2-40B4-BE49-F238E27FC236}">
                <a16:creationId xmlns:a16="http://schemas.microsoft.com/office/drawing/2014/main" id="{3DBD2341-FAD3-49A4-962C-135E03F79C7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Sie gibt passende Ausschnitte zusammen mit der Frage an die Antwortstufe.</a:t>
            </a:r>
          </a:p>
        </p:txBody>
      </p:sp>
      <p:sp>
        <p:nvSpPr>
          <p:cNvPr id="6" name="text-5">
            <a:extLst xmlns:a="http://schemas.openxmlformats.org/drawingml/2006/main">
              <a:ext uri="{FF2B5EF4-FFF2-40B4-BE49-F238E27FC236}">
                <a16:creationId xmlns:a16="http://schemas.microsoft.com/office/drawing/2014/main" id="{831CC277-F74C-48B3-98FB-FF5721EC055B}"/>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Antwort</a:t>
            </a:r>
          </a:p>
        </p:txBody>
      </p:sp>
      <p:sp>
        <p:nvSpPr>
          <p:cNvPr id="7" name="text-6">
            <a:extLst xmlns:a="http://schemas.openxmlformats.org/drawingml/2006/main">
              <a:ext uri="{FF2B5EF4-FFF2-40B4-BE49-F238E27FC236}">
                <a16:creationId xmlns:a16="http://schemas.microsoft.com/office/drawing/2014/main" id="{6B54D74E-3727-4411-B9A0-65940C37FE7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Antwortentwurf nennt seine Belege. Die Anwendung prüft die stützende Quelle.</a:t>
            </a:r>
          </a:p>
        </p:txBody>
      </p:sp>
      <p:sp>
        <p:nvSpPr>
          <p:cNvPr id="8" name="text-7">
            <a:extLst xmlns:a="http://schemas.openxmlformats.org/drawingml/2006/main">
              <a:ext uri="{FF2B5EF4-FFF2-40B4-BE49-F238E27FC236}">
                <a16:creationId xmlns:a16="http://schemas.microsoft.com/office/drawing/2014/main" id="{18AF4320-EF15-41DE-9D84-0556A28B0D3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Dieser Ablauf heißt Retrieval-Augmented Generation, kurz RAG.</a:t>
            </a:r>
          </a:p>
        </p:txBody>
      </p:sp>
      <p:sp>
        <p:nvSpPr>
          <p:cNvPr id="9" name="text-8">
            <a:extLst xmlns:a="http://schemas.openxmlformats.org/drawingml/2006/main">
              <a:ext uri="{FF2B5EF4-FFF2-40B4-BE49-F238E27FC236}">
                <a16:creationId xmlns:a16="http://schemas.microsoft.com/office/drawing/2014/main" id="{E08D875C-E329-481E-8E98-A45DD73D3CC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25 · Quellfolie 25 · CUR-017</a:t>
            </a:r>
          </a:p>
        </p:txBody>
      </p:sp>
    </p:spTree>
    <p:extLst>
      <p:ext uri="{BB962C8B-B14F-4D97-AF65-F5344CB8AC3E}">
        <p14:creationId xmlns:p14="http://schemas.microsoft.com/office/powerpoint/2010/main" val="19608813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24B5669-B089-4DF5-8EEC-46CFDB6C219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Eine belegbare Antwort im Wissensbasisfall</a:t>
            </a:r>
          </a:p>
        </p:txBody>
      </p:sp>
      <p:graphicFrame>
        <p:nvGraphicFramePr>
          <p:cNvPr id="2" name="">
            <a:extLst xmlns:a="http://schemas.openxmlformats.org/drawingml/2006/main">
              <a:ext uri="{FF2B5EF4-FFF2-40B4-BE49-F238E27FC236}">
                <a16:creationId xmlns:a16="http://schemas.microsoft.com/office/drawing/2014/main" id="{CAC931E1-2FBF-49EC-9DDE-71C0FF433680}"/>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3048000"/>
                <a:gridCol w="7620000"/>
              </a:tblGrid>
              <a:tr h="785813">
                <a:tc>
                  <a:txBody>
                    <a:bodyPr/>
                    <a:lstStyle/>
                    <a:p>
                      <a:r>
                        <a:rPr sz="1800" b="1">
                          <a:solidFill>
                            <a:srgbClr val="15283D"/>
                          </a:solidFill>
                          <a:latin typeface="Arial"/>
                          <a:ea typeface="Arial"/>
                          <a:cs typeface="Arial"/>
                        </a:rPr>
                        <a:t>Bestandteil</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Sichtbarer Inhalt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Frage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Wie lange bleiben die Protokolle von MOD_A erhalten?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Gelieferte Quelle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Dokument 2, v2: MOD_A bewahrt Protokolle sieben Tage auf.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Fester Antwortentwurf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Sieben Tage. Beleg: Dokument 2, Fassung v2.</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80F94CA6-1D8C-45D7-963B-9E3B8ED2466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26 · Quellfolie 26 · CUR-017</a:t>
            </a:r>
          </a:p>
        </p:txBody>
      </p:sp>
    </p:spTree>
    <p:extLst>
      <p:ext uri="{BB962C8B-B14F-4D97-AF65-F5344CB8AC3E}">
        <p14:creationId xmlns:p14="http://schemas.microsoft.com/office/powerpoint/2010/main" val="16362781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96C5DBF-22A0-40B2-A0D3-43D9EA7118C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Falsche und fehlende Antworten erkennen</a:t>
            </a:r>
          </a:p>
        </p:txBody>
      </p:sp>
      <p:graphicFrame>
        <p:nvGraphicFramePr>
          <p:cNvPr id="2" name="">
            <a:extLst xmlns:a="http://schemas.openxmlformats.org/drawingml/2006/main">
              <a:ext uri="{FF2B5EF4-FFF2-40B4-BE49-F238E27FC236}">
                <a16:creationId xmlns:a16="http://schemas.microsoft.com/office/drawing/2014/main" id="{9BC64BDD-A862-4C73-9E73-28B8159ECFC6}"/>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5334000"/>
                <a:gridCol w="5334000"/>
              </a:tblGrid>
              <a:tr h="785813">
                <a:tc>
                  <a:txBody>
                    <a:bodyPr/>
                    <a:lstStyle/>
                    <a:p>
                      <a:r>
                        <a:rPr sz="1800" b="1">
                          <a:solidFill>
                            <a:srgbClr val="15283D"/>
                          </a:solidFill>
                          <a:latin typeface="Arial"/>
                          <a:ea typeface="Arial"/>
                          <a:cs typeface="Arial"/>
                        </a:rPr>
                        <a:t>Frage oder Antwortentwurf</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Gemeinsame Entscheidung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MOD_A bewahrt Protokolle 14 Tage auf.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Falsch zum gelieferten Beleg von sieben Tagen.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Warum sind es genau sieben Tage?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Der Grund fehlt in der Quelle. Keine Erklärung erfinden.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Ohne passende Quelle bleibt die Antwort leer.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Eine begründete Nichtantwort ist nachvollziehbarer.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EB8D022E-6D83-4019-B9AD-2A62CEF09546}"/>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27 · Quellfolie 27 · CUR-017 / CUR-022</a:t>
            </a:r>
          </a:p>
        </p:txBody>
      </p:sp>
    </p:spTree>
    <p:extLst>
      <p:ext uri="{BB962C8B-B14F-4D97-AF65-F5344CB8AC3E}">
        <p14:creationId xmlns:p14="http://schemas.microsoft.com/office/powerpoint/2010/main" val="9480663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E6E0084-EF68-4954-9971-A3391EDD1BD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Vorbereitung auf die konkreten Demos</a:t>
            </a:r>
          </a:p>
        </p:txBody>
      </p:sp>
      <p:sp>
        <p:nvSpPr>
          <p:cNvPr id="2" name="text-1">
            <a:extLst xmlns:a="http://schemas.openxmlformats.org/drawingml/2006/main">
              <a:ext uri="{FF2B5EF4-FFF2-40B4-BE49-F238E27FC236}">
                <a16:creationId xmlns:a16="http://schemas.microsoft.com/office/drawing/2014/main" id="{C31311FD-9232-40DF-9715-4F0F15ED236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Zahlen verstehen</a:t>
            </a:r>
          </a:p>
        </p:txBody>
      </p:sp>
      <p:sp>
        <p:nvSpPr>
          <p:cNvPr id="3" name="text-2">
            <a:extLst xmlns:a="http://schemas.openxmlformats.org/drawingml/2006/main">
              <a:ext uri="{FF2B5EF4-FFF2-40B4-BE49-F238E27FC236}">
                <a16:creationId xmlns:a16="http://schemas.microsoft.com/office/drawing/2014/main" id="{1C7DD16C-FEC6-4FA1-A7F4-F281DFB4825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Vektorquery vergleicht Werte. Ihre Distanz beweist noch keine richtige Antwort.</a:t>
            </a:r>
          </a:p>
        </p:txBody>
      </p:sp>
      <p:sp>
        <p:nvSpPr>
          <p:cNvPr id="4" name="text-3">
            <a:extLst xmlns:a="http://schemas.openxmlformats.org/drawingml/2006/main">
              <a:ext uri="{FF2B5EF4-FFF2-40B4-BE49-F238E27FC236}">
                <a16:creationId xmlns:a16="http://schemas.microsoft.com/office/drawing/2014/main" id="{1CE5BE06-035F-4DD8-AA97-A747B49AEAB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 prüfen</a:t>
            </a:r>
          </a:p>
        </p:txBody>
      </p:sp>
      <p:sp>
        <p:nvSpPr>
          <p:cNvPr id="5" name="text-4">
            <a:extLst xmlns:a="http://schemas.openxmlformats.org/drawingml/2006/main">
              <a:ext uri="{FF2B5EF4-FFF2-40B4-BE49-F238E27FC236}">
                <a16:creationId xmlns:a16="http://schemas.microsoft.com/office/drawing/2014/main" id="{8D553F03-3A5E-4AD8-82D3-E94298E496C6}"/>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Dokument, Fassung und erlaubter Kontext gehören zum Ergebnis.</a:t>
            </a:r>
          </a:p>
        </p:txBody>
      </p:sp>
      <p:sp>
        <p:nvSpPr>
          <p:cNvPr id="6" name="text-5">
            <a:extLst xmlns:a="http://schemas.openxmlformats.org/drawingml/2006/main">
              <a:ext uri="{FF2B5EF4-FFF2-40B4-BE49-F238E27FC236}">
                <a16:creationId xmlns:a16="http://schemas.microsoft.com/office/drawing/2014/main" id="{34AA1B48-4586-4557-B640-D4C2644AFA6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Nächster Schritt</a:t>
            </a:r>
          </a:p>
        </p:txBody>
      </p:sp>
      <p:sp>
        <p:nvSpPr>
          <p:cNvPr id="7" name="text-6">
            <a:extLst xmlns:a="http://schemas.openxmlformats.org/drawingml/2006/main">
              <a:ext uri="{FF2B5EF4-FFF2-40B4-BE49-F238E27FC236}">
                <a16:creationId xmlns:a16="http://schemas.microsoft.com/office/drawing/2014/main" id="{8D8F864B-F31F-4D0F-B7FF-BA635801FDE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Wir untersuchen nun Datentypen, Suche, Quellen und Rechte an den vorbereiteten Offline-Demos.</a:t>
            </a:r>
          </a:p>
        </p:txBody>
      </p:sp>
      <p:sp>
        <p:nvSpPr>
          <p:cNvPr id="8" name="text-7">
            <a:extLst xmlns:a="http://schemas.openxmlformats.org/drawingml/2006/main">
              <a:ext uri="{FF2B5EF4-FFF2-40B4-BE49-F238E27FC236}">
                <a16:creationId xmlns:a16="http://schemas.microsoft.com/office/drawing/2014/main" id="{8ABE321F-A097-4B29-861C-51DAD23AE3C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28 · Quellfolie 28 · CUR-013 / CUR-014 / CUR-017 / CUR-018</a:t>
            </a:r>
          </a:p>
        </p:txBody>
      </p:sp>
    </p:spTree>
    <p:extLst>
      <p:ext uri="{BB962C8B-B14F-4D97-AF65-F5344CB8AC3E}">
        <p14:creationId xmlns:p14="http://schemas.microsoft.com/office/powerpoint/2010/main" val="152719949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3C597B0-B89A-4180-8769-EE413F6272A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Vektoren und Embeddingräume</a:t>
            </a:r>
          </a:p>
        </p:txBody>
      </p:sp>
      <p:sp>
        <p:nvSpPr>
          <p:cNvPr id="2" name="text-1">
            <a:extLst xmlns:a="http://schemas.openxmlformats.org/drawingml/2006/main">
              <a:ext uri="{FF2B5EF4-FFF2-40B4-BE49-F238E27FC236}">
                <a16:creationId xmlns:a16="http://schemas.microsoft.com/office/drawing/2014/main" id="{3EF23E8B-ECC1-46F5-8D8A-89D490CC2798}"/>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VECTOR(3)</a:t>
            </a:r>
          </a:p>
        </p:txBody>
      </p:sp>
      <p:sp>
        <p:nvSpPr>
          <p:cNvPr id="3" name="text-2">
            <a:extLst xmlns:a="http://schemas.openxmlformats.org/drawingml/2006/main">
              <a:ext uri="{FF2B5EF4-FFF2-40B4-BE49-F238E27FC236}">
                <a16:creationId xmlns:a16="http://schemas.microsoft.com/office/drawing/2014/main" id="{25A60B8A-A6A3-4951-8591-069DBF6C4C68}"/>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Wert enthält drei numerische Komponenten. float32 benötigt ungefähr 4 × d Bytes Nutzdaten.</a:t>
            </a:r>
          </a:p>
        </p:txBody>
      </p:sp>
      <p:sp>
        <p:nvSpPr>
          <p:cNvPr id="4" name="text-3">
            <a:extLst xmlns:a="http://schemas.openxmlformats.org/drawingml/2006/main">
              <a:ext uri="{FF2B5EF4-FFF2-40B4-BE49-F238E27FC236}">
                <a16:creationId xmlns:a16="http://schemas.microsoft.com/office/drawing/2014/main" id="{BFF5100A-AAF7-4259-9902-C285869FE51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Modellraum</a:t>
            </a:r>
          </a:p>
        </p:txBody>
      </p:sp>
      <p:sp>
        <p:nvSpPr>
          <p:cNvPr id="5" name="text-4">
            <a:extLst xmlns:a="http://schemas.openxmlformats.org/drawingml/2006/main">
              <a:ext uri="{FF2B5EF4-FFF2-40B4-BE49-F238E27FC236}">
                <a16:creationId xmlns:a16="http://schemas.microsoft.com/office/drawing/2014/main" id="{7AD7433E-A3D1-4086-BF35-C263ADBDEE9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 Dimension allein erlaubt keine gemeinsame Suche. Modellversion und Normalisierung gehören zur Provenienz.</a:t>
            </a:r>
          </a:p>
        </p:txBody>
      </p:sp>
      <p:sp>
        <p:nvSpPr>
          <p:cNvPr id="6" name="text-5">
            <a:extLst xmlns:a="http://schemas.openxmlformats.org/drawingml/2006/main">
              <a:ext uri="{FF2B5EF4-FFF2-40B4-BE49-F238E27FC236}">
                <a16:creationId xmlns:a16="http://schemas.microsoft.com/office/drawing/2014/main" id="{A3692FF2-BC49-466F-B3A1-81C14E522F6D}"/>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Grenzen</a:t>
            </a:r>
          </a:p>
        </p:txBody>
      </p:sp>
      <p:sp>
        <p:nvSpPr>
          <p:cNvPr id="7" name="text-6">
            <a:extLst xmlns:a="http://schemas.openxmlformats.org/drawingml/2006/main">
              <a:ext uri="{FF2B5EF4-FFF2-40B4-BE49-F238E27FC236}">
                <a16:creationId xmlns:a16="http://schemas.microsoft.com/office/drawing/2014/main" id="{7335E773-441C-4142-8CCA-08EED46D6BB7}"/>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float32: 1 bis 1998 Dimensionen. float16: 1 bis 3996 Dimensionen, Preview im SQL-Server-Pfad.</a:t>
            </a:r>
          </a:p>
        </p:txBody>
      </p:sp>
      <p:sp>
        <p:nvSpPr>
          <p:cNvPr id="8" name="text-7">
            <a:extLst xmlns:a="http://schemas.openxmlformats.org/drawingml/2006/main">
              <a:ext uri="{FF2B5EF4-FFF2-40B4-BE49-F238E27FC236}">
                <a16:creationId xmlns:a16="http://schemas.microsoft.com/office/drawing/2014/main" id="{AE320AD2-5EAA-47D8-95AD-D2CA05E872A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29 · Quellfolie 34 · CUR-013 / CUR-014</a:t>
            </a:r>
          </a:p>
        </p:txBody>
      </p:sp>
    </p:spTree>
    <p:extLst>
      <p:ext uri="{BB962C8B-B14F-4D97-AF65-F5344CB8AC3E}">
        <p14:creationId xmlns:p14="http://schemas.microsoft.com/office/powerpoint/2010/main" val="159942437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F9A50CD-711F-45AF-80BC-E068AF3DB66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QRY-014: Typ und Modellraum</a:t>
            </a:r>
          </a:p>
        </p:txBody>
      </p:sp>
      <p:sp>
        <p:nvSpPr>
          <p:cNvPr id="2" name="text-1">
            <a:extLst xmlns:a="http://schemas.openxmlformats.org/drawingml/2006/main">
              <a:ext uri="{FF2B5EF4-FFF2-40B4-BE49-F238E27FC236}">
                <a16:creationId xmlns:a16="http://schemas.microsoft.com/office/drawing/2014/main" id="{30625DAC-C48D-4CFF-B602-FFAA0394443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AB7A7C37-4BD1-45D4-92EA-BA848E76367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Dürfen GEOMETRY_V1 und GEOMETRY_V2 allein wegen VECTOR(3) gemeinsam gesucht werden?</a:t>
            </a:r>
          </a:p>
        </p:txBody>
      </p:sp>
      <p:sp>
        <p:nvSpPr>
          <p:cNvPr id="4" name="text-3">
            <a:extLst xmlns:a="http://schemas.openxmlformats.org/drawingml/2006/main">
              <a:ext uri="{FF2B5EF4-FFF2-40B4-BE49-F238E27FC236}">
                <a16:creationId xmlns:a16="http://schemas.microsoft.com/office/drawing/2014/main" id="{FC11BCD4-AD17-419E-A945-BC5BE1890D38}"/>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85A470C3-257B-4817-A7FC-6C8D4AA0697C}"/>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Fünf Rows, Dimensionszahl und BaseType lesen. Falsche Dimension und ungültiges JSON unterscheiden.</a:t>
            </a:r>
          </a:p>
        </p:txBody>
      </p:sp>
      <p:sp>
        <p:nvSpPr>
          <p:cNvPr id="6" name="text-5">
            <a:extLst xmlns:a="http://schemas.openxmlformats.org/drawingml/2006/main">
              <a:ext uri="{FF2B5EF4-FFF2-40B4-BE49-F238E27FC236}">
                <a16:creationId xmlns:a16="http://schemas.microsoft.com/office/drawing/2014/main" id="{A2927EDB-93EA-49C6-9897-C9E8A7B8843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530904D7-5417-4CA5-8C33-C4A2C5DDF9A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SQL-Typ prüft die technische Form. Die Anwendung muss den passenden Modellraum sicherstellen.</a:t>
            </a:r>
          </a:p>
        </p:txBody>
      </p:sp>
      <p:sp>
        <p:nvSpPr>
          <p:cNvPr id="8" name="text-7">
            <a:extLst xmlns:a="http://schemas.openxmlformats.org/drawingml/2006/main">
              <a:ext uri="{FF2B5EF4-FFF2-40B4-BE49-F238E27FC236}">
                <a16:creationId xmlns:a16="http://schemas.microsoft.com/office/drawing/2014/main" id="{1572D221-EDD5-4E2D-830C-E8D6E02B07B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 GREEN, eine Session, Engine 17.x und CL 170.</a:t>
            </a:r>
          </a:p>
        </p:txBody>
      </p:sp>
      <p:sp>
        <p:nvSpPr>
          <p:cNvPr id="9" name="text-8">
            <a:extLst xmlns:a="http://schemas.openxmlformats.org/drawingml/2006/main">
              <a:ext uri="{FF2B5EF4-FFF2-40B4-BE49-F238E27FC236}">
                <a16:creationId xmlns:a16="http://schemas.microsoft.com/office/drawing/2014/main" id="{24D80D98-9BAA-4A52-A706-6D98DDA71AC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30 · Quellfolie 35 · CUR-014</a:t>
            </a:r>
          </a:p>
        </p:txBody>
      </p:sp>
    </p:spTree>
    <p:extLst>
      <p:ext uri="{BB962C8B-B14F-4D97-AF65-F5344CB8AC3E}">
        <p14:creationId xmlns:p14="http://schemas.microsoft.com/office/powerpoint/2010/main" val="193444657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9136C4F-06FC-4E9C-88AF-D14E330C3D6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Distanz, Norm und Normalisierung</a:t>
            </a:r>
          </a:p>
        </p:txBody>
      </p:sp>
      <p:graphicFrame>
        <p:nvGraphicFramePr>
          <p:cNvPr id="2" name="">
            <a:extLst xmlns:a="http://schemas.openxmlformats.org/drawingml/2006/main">
              <a:ext uri="{FF2B5EF4-FFF2-40B4-BE49-F238E27FC236}">
                <a16:creationId xmlns:a16="http://schemas.microsoft.com/office/drawing/2014/main" id="{3B31C2CE-009B-480A-A9F9-CA17DCBA7A15}"/>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952750"/>
                <a:gridCol w="4572000"/>
                <a:gridCol w="3143250"/>
              </a:tblGrid>
              <a:tr h="800100">
                <a:tc>
                  <a:txBody>
                    <a:bodyPr/>
                    <a:lstStyle/>
                    <a:p>
                      <a:r>
                        <a:rPr sz="1800" b="1">
                          <a:solidFill>
                            <a:srgbClr val="15283D"/>
                          </a:solidFill>
                          <a:latin typeface="Arial"/>
                          <a:ea typeface="Arial"/>
                          <a:cs typeface="Arial"/>
                        </a:rPr>
                        <a:t>Größe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Bedeutung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Beispiel [3,4,0]</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Euclidean-Distanz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Abstand zweier Punkte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Selbstdistanz 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Cosine-Distanz</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Richtung relativ zur Norm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Selbstdistanz 0 für diesen Nichtnullvektor</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Negatives Dot Product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Richtung und Magnitude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Self-Dot-Distanz −25</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norm1 / norm2 / norminf</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Summe / Länge / größter Betrag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7 / 5 / 4</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25997389-36FA-4ECB-BE8D-23A6B89A6ED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Kleinere Distanz bedeutet Nähe im gewählten Raum. Sie ist keine Antwortwahrscheinlichkeit.</a:t>
            </a:r>
          </a:p>
        </p:txBody>
      </p:sp>
      <p:sp>
        <p:nvSpPr>
          <p:cNvPr id="4" name="text-2">
            <a:extLst xmlns:a="http://schemas.openxmlformats.org/drawingml/2006/main">
              <a:ext uri="{FF2B5EF4-FFF2-40B4-BE49-F238E27FC236}">
                <a16:creationId xmlns:a16="http://schemas.microsoft.com/office/drawing/2014/main" id="{D0C48AB5-810A-4DAA-9975-60637279351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31 · Quellfolie 36 · CUR-014</a:t>
            </a:r>
          </a:p>
        </p:txBody>
      </p:sp>
    </p:spTree>
    <p:extLst>
      <p:ext uri="{BB962C8B-B14F-4D97-AF65-F5344CB8AC3E}">
        <p14:creationId xmlns:p14="http://schemas.microsoft.com/office/powerpoint/2010/main" val="145404389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797FA36-4B23-4D8F-AE94-287087AA713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QRY-015: Rangfolge vor und nach Normalisierung</a:t>
            </a:r>
          </a:p>
        </p:txBody>
      </p:sp>
      <p:sp>
        <p:nvSpPr>
          <p:cNvPr id="2" name="text-1">
            <a:extLst xmlns:a="http://schemas.openxmlformats.org/drawingml/2006/main">
              <a:ext uri="{FF2B5EF4-FFF2-40B4-BE49-F238E27FC236}">
                <a16:creationId xmlns:a16="http://schemas.microsoft.com/office/drawing/2014/main" id="{22273E3A-34D9-4965-A30B-5576B7137ECD}"/>
              </a:ext>
            </a:extLst>
          </p:cNvPr>
          <p:cNvSpPr>
            <a:spLocks xmlns:a="http://schemas.openxmlformats.org/drawingml/2006/main" noGrp="1"/>
          </p:cNvSpPr>
          <p:nvPr/>
        </p:nvSpPr>
        <p:spPr>
          <a:xfrm xmlns:a="http://schemas.openxmlformats.org/drawingml/2006/main">
            <a:off x="685800" y="177165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007A83"/>
                </a:solidFill>
                <a:latin typeface="Arial"/>
                <a:ea typeface="Arial"/>
                <a:cs typeface="Arial"/>
              </a:defRPr>
            </a:defPPr>
            <a:lvl1pPr>
              <a:defRPr sz="2100" b="0">
                <a:solidFill>
                  <a:srgbClr val="007A83"/>
                </a:solidFill>
                <a:latin typeface="Arial"/>
                <a:ea typeface="Arial"/>
                <a:cs typeface="Arial"/>
              </a:defRPr>
            </a:lvl1pPr>
            <a:lvl2pPr>
              <a:defRPr sz="2100" b="0">
                <a:solidFill>
                  <a:srgbClr val="007A83"/>
                </a:solidFill>
                <a:latin typeface="Arial"/>
                <a:ea typeface="Arial"/>
                <a:cs typeface="Arial"/>
              </a:defRPr>
            </a:lvl2pPr>
            <a:lvl3pPr>
              <a:defRPr sz="2100" b="0">
                <a:solidFill>
                  <a:srgbClr val="007A83"/>
                </a:solidFill>
                <a:latin typeface="Arial"/>
                <a:ea typeface="Arial"/>
                <a:cs typeface="Arial"/>
              </a:defRPr>
            </a:lvl3pPr>
            <a:lvl4pPr>
              <a:defRPr sz="2100" b="0">
                <a:solidFill>
                  <a:srgbClr val="007A83"/>
                </a:solidFill>
                <a:latin typeface="Arial"/>
                <a:ea typeface="Arial"/>
                <a:cs typeface="Arial"/>
              </a:defRPr>
            </a:lvl4pPr>
            <a:lvl5pPr>
              <a:defRPr sz="2100" b="0">
                <a:solidFill>
                  <a:srgbClr val="007A83"/>
                </a:solidFill>
                <a:latin typeface="Arial"/>
                <a:ea typeface="Arial"/>
                <a:cs typeface="Arial"/>
              </a:defRPr>
            </a:lvl5pPr>
            <a:lvl6pPr>
              <a:defRPr sz="2100" b="0">
                <a:solidFill>
                  <a:srgbClr val="007A83"/>
                </a:solidFill>
                <a:latin typeface="Arial"/>
                <a:ea typeface="Arial"/>
                <a:cs typeface="Arial"/>
              </a:defRPr>
            </a:lvl6pPr>
            <a:lvl7pPr>
              <a:defRPr sz="2100" b="0">
                <a:solidFill>
                  <a:srgbClr val="007A83"/>
                </a:solidFill>
                <a:latin typeface="Arial"/>
                <a:ea typeface="Arial"/>
                <a:cs typeface="Arial"/>
              </a:defRPr>
            </a:lvl7pPr>
            <a:lvl8pPr>
              <a:defRPr sz="2100" b="0">
                <a:solidFill>
                  <a:srgbClr val="007A83"/>
                </a:solidFill>
                <a:latin typeface="Arial"/>
                <a:ea typeface="Arial"/>
                <a:cs typeface="Arial"/>
              </a:defRPr>
            </a:lvl8pPr>
            <a:lvl9pPr>
              <a:defRPr sz="2100" b="0">
                <a:solidFill>
                  <a:srgbClr val="007A83"/>
                </a:solidFill>
                <a:latin typeface="Arial"/>
                <a:ea typeface="Arial"/>
                <a:cs typeface="Arial"/>
              </a:defRPr>
            </a:lvl9pPr>
          </a:lstStyle>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DECLARE @q VECTOR(3) = '[1,0,0]';</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SELECT Id, VECTOR_DISTANCE('dot', V, @q) AS Distance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FROM lab.VectorFixture</a:t>
            </a:r>
          </a:p>
          <a:p xmlns:a="http://schemas.openxmlformats.org/drawingml/2006/main">
            <a:pPr>
              <a:defRPr sz="2100" b="0">
                <a:solidFill>
                  <a:srgbClr val="007A83"/>
                </a:solidFill>
                <a:latin typeface="Arial"/>
                <a:ea typeface="Arial"/>
                <a:cs typeface="Arial"/>
              </a:defRPr>
            </a:pPr>
            <a:r>
              <a:rPr sz="2100" b="0">
                <a:solidFill>
                  <a:srgbClr val="007A83"/>
                </a:solidFill>
                <a:latin typeface="Arial"/>
                <a:ea typeface="Arial"/>
                <a:cs typeface="Arial"/>
              </a:rPr>
              <a:t>ORDER BY Distance, Id;</a:t>
            </a:r>
          </a:p>
        </p:txBody>
      </p:sp>
      <p:sp>
        <p:nvSpPr>
          <p:cNvPr id="3" name="text-2">
            <a:extLst xmlns:a="http://schemas.openxmlformats.org/drawingml/2006/main">
              <a:ext uri="{FF2B5EF4-FFF2-40B4-BE49-F238E27FC236}">
                <a16:creationId xmlns:a16="http://schemas.microsoft.com/office/drawing/2014/main" id="{50AC3922-4010-4F66-9F01-8957A70C5FEF}"/>
              </a:ext>
            </a:extLst>
          </p:cNvPr>
          <p:cNvSpPr>
            <a:spLocks xmlns:a="http://schemas.openxmlformats.org/drawingml/2006/main" noGrp="1"/>
          </p:cNvSpPr>
          <p:nvPr/>
        </p:nvSpPr>
        <p:spPr>
          <a:xfrm xmlns:a="http://schemas.openxmlformats.org/drawingml/2006/main">
            <a:off x="685800" y="3724275"/>
            <a:ext cx="23336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4" name="text-3">
            <a:extLst xmlns:a="http://schemas.openxmlformats.org/drawingml/2006/main">
              <a:ext uri="{FF2B5EF4-FFF2-40B4-BE49-F238E27FC236}">
                <a16:creationId xmlns:a16="http://schemas.microsoft.com/office/drawing/2014/main" id="{501F6162-7856-4D60-A723-64A21D142256}"/>
              </a:ext>
            </a:extLst>
          </p:cNvPr>
          <p:cNvSpPr>
            <a:spLocks xmlns:a="http://schemas.openxmlformats.org/drawingml/2006/main" noGrp="1"/>
          </p:cNvSpPr>
          <p:nvPr/>
        </p:nvSpPr>
        <p:spPr>
          <a:xfrm xmlns:a="http://schemas.openxmlformats.org/drawingml/2006/main">
            <a:off x="3190875" y="3724275"/>
            <a:ext cx="82391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Euclidean und rohe Dot-Distanz können verschiedene Ersttreffer liefern.</a:t>
            </a:r>
          </a:p>
        </p:txBody>
      </p:sp>
      <p:sp>
        <p:nvSpPr>
          <p:cNvPr id="5" name="text-4">
            <a:extLst xmlns:a="http://schemas.openxmlformats.org/drawingml/2006/main">
              <a:ext uri="{FF2B5EF4-FFF2-40B4-BE49-F238E27FC236}">
                <a16:creationId xmlns:a16="http://schemas.microsoft.com/office/drawing/2014/main" id="{4A19F953-B35F-4391-A267-591381A69DC2}"/>
              </a:ext>
            </a:extLst>
          </p:cNvPr>
          <p:cNvSpPr>
            <a:spLocks xmlns:a="http://schemas.openxmlformats.org/drawingml/2006/main" noGrp="1"/>
          </p:cNvSpPr>
          <p:nvPr/>
        </p:nvSpPr>
        <p:spPr>
          <a:xfrm xmlns:a="http://schemas.openxmlformats.org/drawingml/2006/main">
            <a:off x="685800" y="4795838"/>
            <a:ext cx="23336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6" name="text-5">
            <a:extLst xmlns:a="http://schemas.openxmlformats.org/drawingml/2006/main">
              <a:ext uri="{FF2B5EF4-FFF2-40B4-BE49-F238E27FC236}">
                <a16:creationId xmlns:a16="http://schemas.microsoft.com/office/drawing/2014/main" id="{C630CBAF-98D6-43B7-A742-1824A2A7941B}"/>
              </a:ext>
            </a:extLst>
          </p:cNvPr>
          <p:cNvSpPr>
            <a:spLocks xmlns:a="http://schemas.openxmlformats.org/drawingml/2006/main" noGrp="1"/>
          </p:cNvSpPr>
          <p:nvPr/>
        </p:nvSpPr>
        <p:spPr>
          <a:xfrm xmlns:a="http://schemas.openxmlformats.org/drawingml/2006/main">
            <a:off x="3190875" y="4795838"/>
            <a:ext cx="8239125" cy="976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Die rohe Dot-Suche liefert im Fixture Id 2. Nach norm2-Normalisierung die Rangfolge erneut erklären.</a:t>
            </a:r>
          </a:p>
        </p:txBody>
      </p:sp>
      <p:sp>
        <p:nvSpPr>
          <p:cNvPr id="7" name="text-6">
            <a:extLst xmlns:a="http://schemas.openxmlformats.org/drawingml/2006/main">
              <a:ext uri="{FF2B5EF4-FFF2-40B4-BE49-F238E27FC236}">
                <a16:creationId xmlns:a16="http://schemas.microsoft.com/office/drawing/2014/main" id="{41F49B23-B612-4C1B-A4F4-C90904234E8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Codeauszug aus 30_Demonstration.sql, innerhalb des eigenen Demo-Lifecycles.</a:t>
            </a:r>
          </a:p>
        </p:txBody>
      </p:sp>
      <p:sp>
        <p:nvSpPr>
          <p:cNvPr id="8" name="text-7">
            <a:extLst xmlns:a="http://schemas.openxmlformats.org/drawingml/2006/main">
              <a:ext uri="{FF2B5EF4-FFF2-40B4-BE49-F238E27FC236}">
                <a16:creationId xmlns:a16="http://schemas.microsoft.com/office/drawing/2014/main" id="{8B42AD38-7C07-4F98-84C7-5649837D146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32 · Quellfolie 37 · CUR-014</a:t>
            </a:r>
          </a:p>
        </p:txBody>
      </p:sp>
    </p:spTree>
    <p:extLst>
      <p:ext uri="{BB962C8B-B14F-4D97-AF65-F5344CB8AC3E}">
        <p14:creationId xmlns:p14="http://schemas.microsoft.com/office/powerpoint/2010/main" val="106264965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C20DAC3-DD86-4FE1-A97A-557555DD94F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Chunking und belegbare Quellen</a:t>
            </a:r>
          </a:p>
        </p:txBody>
      </p:sp>
      <p:sp>
        <p:nvSpPr>
          <p:cNvPr id="2" name="text-1">
            <a:extLst xmlns:a="http://schemas.openxmlformats.org/drawingml/2006/main">
              <a:ext uri="{FF2B5EF4-FFF2-40B4-BE49-F238E27FC236}">
                <a16:creationId xmlns:a16="http://schemas.microsoft.com/office/drawing/2014/main" id="{8940268B-36EC-46FF-B162-EF3C3CE91CA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Zeichenbereiche</a:t>
            </a:r>
          </a:p>
        </p:txBody>
      </p:sp>
      <p:sp>
        <p:nvSpPr>
          <p:cNvPr id="3" name="text-2">
            <a:extLst xmlns:a="http://schemas.openxmlformats.org/drawingml/2006/main">
              <a:ext uri="{FF2B5EF4-FFF2-40B4-BE49-F238E27FC236}">
                <a16:creationId xmlns:a16="http://schemas.microsoft.com/office/drawing/2014/main" id="{DC69BCD7-62F4-470F-9993-B9EBA972B7F6}"/>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FIXED zerlegt Text nach Zeichenanzahl. CHUNK_SIZE belegt kein Tokenlimit eines Modells.</a:t>
            </a:r>
          </a:p>
        </p:txBody>
      </p:sp>
      <p:sp>
        <p:nvSpPr>
          <p:cNvPr id="4" name="text-3">
            <a:extLst xmlns:a="http://schemas.openxmlformats.org/drawingml/2006/main">
              <a:ext uri="{FF2B5EF4-FFF2-40B4-BE49-F238E27FC236}">
                <a16:creationId xmlns:a16="http://schemas.microsoft.com/office/drawing/2014/main" id="{DA12F20C-63FA-421F-AE10-4D60089123B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Overlap</a:t>
            </a:r>
          </a:p>
        </p:txBody>
      </p:sp>
      <p:sp>
        <p:nvSpPr>
          <p:cNvPr id="5" name="text-4">
            <a:extLst xmlns:a="http://schemas.openxmlformats.org/drawingml/2006/main">
              <a:ext uri="{FF2B5EF4-FFF2-40B4-BE49-F238E27FC236}">
                <a16:creationId xmlns:a16="http://schemas.microsoft.com/office/drawing/2014/main" id="{964FC390-A6AD-4651-907A-2AE474C3C46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OVERLAP legt 0 bis 50 Prozent Überlappung fest. Wiederholte Bereiche erhöhen die verarbeitete Textmenge.</a:t>
            </a:r>
          </a:p>
        </p:txBody>
      </p:sp>
      <p:sp>
        <p:nvSpPr>
          <p:cNvPr id="6" name="text-5">
            <a:extLst xmlns:a="http://schemas.openxmlformats.org/drawingml/2006/main">
              <a:ext uri="{FF2B5EF4-FFF2-40B4-BE49-F238E27FC236}">
                <a16:creationId xmlns:a16="http://schemas.microsoft.com/office/drawing/2014/main" id="{1AD980D9-2E16-437D-9BE6-2D254F7A766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Provenienz</a:t>
            </a:r>
          </a:p>
        </p:txBody>
      </p:sp>
      <p:sp>
        <p:nvSpPr>
          <p:cNvPr id="7" name="text-6">
            <a:extLst xmlns:a="http://schemas.openxmlformats.org/drawingml/2006/main">
              <a:ext uri="{FF2B5EF4-FFF2-40B4-BE49-F238E27FC236}">
                <a16:creationId xmlns:a16="http://schemas.microsoft.com/office/drawing/2014/main" id="{26AF1AFB-E252-4A69-A977-7D49316B9B3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DocId, Version, Reihenfolge, Offset, Länge und Chunkparameter bleiben mit dem Treffer verbunden.</a:t>
            </a:r>
          </a:p>
        </p:txBody>
      </p:sp>
      <p:sp>
        <p:nvSpPr>
          <p:cNvPr id="8" name="text-7">
            <a:extLst xmlns:a="http://schemas.openxmlformats.org/drawingml/2006/main">
              <a:ext uri="{FF2B5EF4-FFF2-40B4-BE49-F238E27FC236}">
                <a16:creationId xmlns:a16="http://schemas.microsoft.com/office/drawing/2014/main" id="{1012F5B8-5059-4CB6-8DC3-391F084FAEC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33 · Quellfolie 38 · CUR-015</a:t>
            </a:r>
          </a:p>
        </p:txBody>
      </p:sp>
    </p:spTree>
    <p:extLst>
      <p:ext uri="{BB962C8B-B14F-4D97-AF65-F5344CB8AC3E}">
        <p14:creationId xmlns:p14="http://schemas.microsoft.com/office/powerpoint/2010/main" val="165605326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BD9223D-5E32-42A0-8AC8-FFF36743749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QRY-016: Overlap und Dokumentversion</a:t>
            </a:r>
          </a:p>
        </p:txBody>
      </p:sp>
      <p:sp>
        <p:nvSpPr>
          <p:cNvPr id="2" name="text-1">
            <a:extLst xmlns:a="http://schemas.openxmlformats.org/drawingml/2006/main">
              <a:ext uri="{FF2B5EF4-FFF2-40B4-BE49-F238E27FC236}">
                <a16:creationId xmlns:a16="http://schemas.microsoft.com/office/drawing/2014/main" id="{2C3F6A10-0884-4E7C-ADCD-4ADC02C87B3D}"/>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191A1527-15AA-4287-8353-CBD6B5B0418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Wie verändert 25 Prozent Overlap die summierte Bereichslänge?</a:t>
            </a:r>
          </a:p>
        </p:txBody>
      </p:sp>
      <p:sp>
        <p:nvSpPr>
          <p:cNvPr id="4" name="text-3">
            <a:extLst xmlns:a="http://schemas.openxmlformats.org/drawingml/2006/main">
              <a:ext uri="{FF2B5EF4-FFF2-40B4-BE49-F238E27FC236}">
                <a16:creationId xmlns:a16="http://schemas.microsoft.com/office/drawing/2014/main" id="{EB8CE37A-DD9B-40DD-948A-4A0D6F28AF9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89B2E3D9-5108-4A7B-AD9F-177613778870}"/>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Je einen Chunk beider Dokumentversionen und der Profile 0/25 dem Originaltext zuordnen.</a:t>
            </a:r>
          </a:p>
        </p:txBody>
      </p:sp>
      <p:sp>
        <p:nvSpPr>
          <p:cNvPr id="6" name="text-5">
            <a:extLst xmlns:a="http://schemas.openxmlformats.org/drawingml/2006/main">
              <a:ext uri="{FF2B5EF4-FFF2-40B4-BE49-F238E27FC236}">
                <a16:creationId xmlns:a16="http://schemas.microsoft.com/office/drawing/2014/main" id="{507333E5-021C-41AC-AF1B-888D04D2AB5F}"/>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Vergleich</a:t>
            </a:r>
          </a:p>
        </p:txBody>
      </p:sp>
      <p:sp>
        <p:nvSpPr>
          <p:cNvPr id="7" name="text-6">
            <a:extLst xmlns:a="http://schemas.openxmlformats.org/drawingml/2006/main">
              <a:ext uri="{FF2B5EF4-FFF2-40B4-BE49-F238E27FC236}">
                <a16:creationId xmlns:a16="http://schemas.microsoft.com/office/drawing/2014/main" id="{B68FCB38-53D2-406D-AE7D-4FD5833005D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Reihenfolge, Offset und Länge kontrollieren. Nach dem Update die Version des Treffers eindeutig nennen.</a:t>
            </a:r>
          </a:p>
        </p:txBody>
      </p:sp>
      <p:sp>
        <p:nvSpPr>
          <p:cNvPr id="8" name="text-7">
            <a:extLst xmlns:a="http://schemas.openxmlformats.org/drawingml/2006/main">
              <a:ext uri="{FF2B5EF4-FFF2-40B4-BE49-F238E27FC236}">
                <a16:creationId xmlns:a16="http://schemas.microsoft.com/office/drawing/2014/main" id="{54879D97-E85C-4DE4-BECD-F62B98B8D6D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Lokales FIXED-Chunking ohne Tokenizer oder Modellcall.</a:t>
            </a:r>
          </a:p>
        </p:txBody>
      </p:sp>
      <p:sp>
        <p:nvSpPr>
          <p:cNvPr id="9" name="text-8">
            <a:extLst xmlns:a="http://schemas.openxmlformats.org/drawingml/2006/main">
              <a:ext uri="{FF2B5EF4-FFF2-40B4-BE49-F238E27FC236}">
                <a16:creationId xmlns:a16="http://schemas.microsoft.com/office/drawing/2014/main" id="{F68B1745-2ED8-48A6-82DC-F8E81F63CD2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34 · Quellfolie 39 · CUR-015</a:t>
            </a:r>
          </a:p>
        </p:txBody>
      </p:sp>
    </p:spTree>
    <p:extLst>
      <p:ext uri="{BB962C8B-B14F-4D97-AF65-F5344CB8AC3E}">
        <p14:creationId xmlns:p14="http://schemas.microsoft.com/office/powerpoint/2010/main" val="203109204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B55A42D-90C0-43C5-B7C2-E36940ADD2B7}"/>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Suchpfade und Qualitätsfragen</a:t>
            </a:r>
          </a:p>
        </p:txBody>
      </p:sp>
      <p:graphicFrame>
        <p:nvGraphicFramePr>
          <p:cNvPr id="2" name="">
            <a:extLst xmlns:a="http://schemas.openxmlformats.org/drawingml/2006/main">
              <a:ext uri="{FF2B5EF4-FFF2-40B4-BE49-F238E27FC236}">
                <a16:creationId xmlns:a16="http://schemas.microsoft.com/office/drawing/2014/main" id="{EC16C061-AEEC-4A8D-9DC8-DFD0A152297A}"/>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667000"/>
                <a:gridCol w="3810000"/>
                <a:gridCol w="4191000"/>
              </a:tblGrid>
              <a:tr h="800100">
                <a:tc>
                  <a:txBody>
                    <a:bodyPr/>
                    <a:lstStyle/>
                    <a:p>
                      <a:r>
                        <a:rPr sz="1800" b="1">
                          <a:solidFill>
                            <a:srgbClr val="15283D"/>
                          </a:solidFill>
                          <a:latin typeface="Arial"/>
                          <a:ea typeface="Arial"/>
                          <a:cs typeface="Arial"/>
                        </a:rPr>
                        <a:t>Suchpfad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Passende Frage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Erforderliche Bewertung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Relational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Exakte Kennung, Bereich oder erlaubter Tenant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Ergebnisidentität und geeigneter Zugriff</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Full-Text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Wort oder sprachliche Suchform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Komponente, Population und Relevanz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Exact Vector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Nähe im festgelegten Modellraum</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Gleiche Kandidaten, Metric und Tie-Regel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Approximate Vector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Approximation bei größerem Suchbestand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Recall, Planbeleg, Filter und Gesamtkosten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D3D0F8B7-3D11-4428-8A9B-2D5135AA3305}"/>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35 · Quellfolie 43 · CUR-017 / CUR-020</a:t>
            </a:r>
          </a:p>
        </p:txBody>
      </p:sp>
    </p:spTree>
    <p:extLst>
      <p:ext uri="{BB962C8B-B14F-4D97-AF65-F5344CB8AC3E}">
        <p14:creationId xmlns:p14="http://schemas.microsoft.com/office/powerpoint/2010/main" val="174410136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C2CCB6C-8DE0-4AF7-9331-E6F40811620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QRY-017: Suche nach MOD_A</a:t>
            </a:r>
          </a:p>
        </p:txBody>
      </p:sp>
      <p:sp>
        <p:nvSpPr>
          <p:cNvPr id="2" name="text-1">
            <a:extLst xmlns:a="http://schemas.openxmlformats.org/drawingml/2006/main">
              <a:ext uri="{FF2B5EF4-FFF2-40B4-BE49-F238E27FC236}">
                <a16:creationId xmlns:a16="http://schemas.microsoft.com/office/drawing/2014/main" id="{3A0CC19B-F886-470F-825E-4A990F6F275F}"/>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73FB29C0-2D9F-4863-A24E-0AD9F789A9B1}"/>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Welcher Pfad beantwortet die exakte synthetische Kennung MOD_A?</a:t>
            </a:r>
          </a:p>
        </p:txBody>
      </p:sp>
      <p:sp>
        <p:nvSpPr>
          <p:cNvPr id="4" name="text-3">
            <a:extLst xmlns:a="http://schemas.openxmlformats.org/drawingml/2006/main">
              <a:ext uri="{FF2B5EF4-FFF2-40B4-BE49-F238E27FC236}">
                <a16:creationId xmlns:a16="http://schemas.microsoft.com/office/drawing/2014/main" id="{1D98D669-1839-46E8-AB61-278B5D12617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B2FC6BED-5879-44B4-A101-7EB7F84AEAA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Relationale Query, LIKE, optionalen Full-Text und Exact Distance an vier Rows vergleichen.</a:t>
            </a:r>
          </a:p>
        </p:txBody>
      </p:sp>
      <p:sp>
        <p:nvSpPr>
          <p:cNvPr id="6" name="text-5">
            <a:extLst xmlns:a="http://schemas.openxmlformats.org/drawingml/2006/main">
              <a:ext uri="{FF2B5EF4-FFF2-40B4-BE49-F238E27FC236}">
                <a16:creationId xmlns:a16="http://schemas.microsoft.com/office/drawing/2014/main" id="{9FC75097-B468-4706-87AB-67FB91446936}"/>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Erklärung</a:t>
            </a:r>
          </a:p>
        </p:txBody>
      </p:sp>
      <p:sp>
        <p:nvSpPr>
          <p:cNvPr id="7" name="text-6">
            <a:extLst xmlns:a="http://schemas.openxmlformats.org/drawingml/2006/main">
              <a:ext uri="{FF2B5EF4-FFF2-40B4-BE49-F238E27FC236}">
                <a16:creationId xmlns:a16="http://schemas.microsoft.com/office/drawing/2014/main" id="{6CD6220F-4E53-418B-A998-DD4CEDD76F8D}"/>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Tenantfilter und erlaubten Treffer nennen. Fehlender Full-Text bleibt ein sichtbarer WARN.</a:t>
            </a:r>
          </a:p>
        </p:txBody>
      </p:sp>
      <p:sp>
        <p:nvSpPr>
          <p:cNvPr id="8" name="text-7">
            <a:extLst xmlns:a="http://schemas.openxmlformats.org/drawingml/2006/main">
              <a:ext uri="{FF2B5EF4-FFF2-40B4-BE49-F238E27FC236}">
                <a16:creationId xmlns:a16="http://schemas.microsoft.com/office/drawing/2014/main" id="{30BC268E-AFB1-454B-BDAD-D318D69E9756}"/>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Konstruierte Vektoren erklären die Mechanik. Sie belegen keine Sprachmodellqualität.</a:t>
            </a:r>
          </a:p>
        </p:txBody>
      </p:sp>
      <p:sp>
        <p:nvSpPr>
          <p:cNvPr id="9" name="text-8">
            <a:extLst xmlns:a="http://schemas.openxmlformats.org/drawingml/2006/main">
              <a:ext uri="{FF2B5EF4-FFF2-40B4-BE49-F238E27FC236}">
                <a16:creationId xmlns:a16="http://schemas.microsoft.com/office/drawing/2014/main" id="{20522FCB-BBF7-4ECB-971A-C45CC721B90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36 · Quellfolie 44 · CUR-017 / CUR-020</a:t>
            </a:r>
          </a:p>
        </p:txBody>
      </p:sp>
    </p:spTree>
    <p:extLst>
      <p:ext uri="{BB962C8B-B14F-4D97-AF65-F5344CB8AC3E}">
        <p14:creationId xmlns:p14="http://schemas.microsoft.com/office/powerpoint/2010/main" val="57243224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0BE5F1F-223D-48D7-9504-6B33F2BC7D3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RAG und die Bindung einer Antwort</a:t>
            </a:r>
          </a:p>
        </p:txBody>
      </p:sp>
      <p:sp>
        <p:nvSpPr>
          <p:cNvPr id="2" name="text-1">
            <a:extLst xmlns:a="http://schemas.openxmlformats.org/drawingml/2006/main">
              <a:ext uri="{FF2B5EF4-FFF2-40B4-BE49-F238E27FC236}">
                <a16:creationId xmlns:a16="http://schemas.microsoft.com/office/drawing/2014/main" id="{02BF4F7C-4748-45D8-AEDB-CA9378D9764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Retrieval</a:t>
            </a:r>
          </a:p>
        </p:txBody>
      </p:sp>
      <p:sp>
        <p:nvSpPr>
          <p:cNvPr id="3" name="text-2">
            <a:extLst xmlns:a="http://schemas.openxmlformats.org/drawingml/2006/main">
              <a:ext uri="{FF2B5EF4-FFF2-40B4-BE49-F238E27FC236}">
                <a16:creationId xmlns:a16="http://schemas.microsoft.com/office/drawing/2014/main" id="{1DEE3D06-D4FB-4D6C-952B-3BE02402BB6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Nur autorisierte, aktuelle Quellen in den begrenzten Kontext aufnehmen.</a:t>
            </a:r>
          </a:p>
        </p:txBody>
      </p:sp>
      <p:sp>
        <p:nvSpPr>
          <p:cNvPr id="4" name="text-3">
            <a:extLst xmlns:a="http://schemas.openxmlformats.org/drawingml/2006/main">
              <a:ext uri="{FF2B5EF4-FFF2-40B4-BE49-F238E27FC236}">
                <a16:creationId xmlns:a16="http://schemas.microsoft.com/office/drawing/2014/main" id="{2CE497E3-A8BA-4613-8234-A9B9B97EB3B1}"/>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Claimprüfung</a:t>
            </a:r>
          </a:p>
        </p:txBody>
      </p:sp>
      <p:sp>
        <p:nvSpPr>
          <p:cNvPr id="5" name="text-4">
            <a:extLst xmlns:a="http://schemas.openxmlformats.org/drawingml/2006/main">
              <a:ext uri="{FF2B5EF4-FFF2-40B4-BE49-F238E27FC236}">
                <a16:creationId xmlns:a16="http://schemas.microsoft.com/office/drawing/2014/main" id="{3038F280-88D4-4BD1-9670-462E985F407B}"/>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jeden akzeptierten Satz eine stützende Quellenstelle im tatsächlich gelieferten Kontext prüfen.</a:t>
            </a:r>
          </a:p>
        </p:txBody>
      </p:sp>
      <p:sp>
        <p:nvSpPr>
          <p:cNvPr id="6" name="text-5">
            <a:extLst xmlns:a="http://schemas.openxmlformats.org/drawingml/2006/main">
              <a:ext uri="{FF2B5EF4-FFF2-40B4-BE49-F238E27FC236}">
                <a16:creationId xmlns:a16="http://schemas.microsoft.com/office/drawing/2014/main" id="{C35657AD-0A7B-486A-9899-6023BA2D6043}"/>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Nichtantwort</a:t>
            </a:r>
          </a:p>
        </p:txBody>
      </p:sp>
      <p:sp>
        <p:nvSpPr>
          <p:cNvPr id="7" name="text-6">
            <a:extLst xmlns:a="http://schemas.openxmlformats.org/drawingml/2006/main">
              <a:ext uri="{FF2B5EF4-FFF2-40B4-BE49-F238E27FC236}">
                <a16:creationId xmlns:a16="http://schemas.microsoft.com/office/drawing/2014/main" id="{70585636-3FFF-456A-BCBB-DC63E734D46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Fehlende Evidenz und widersprüchliche aktuelle Quellen ausdrücklich benennen.</a:t>
            </a:r>
          </a:p>
        </p:txBody>
      </p:sp>
      <p:sp>
        <p:nvSpPr>
          <p:cNvPr id="8" name="text-7">
            <a:extLst xmlns:a="http://schemas.openxmlformats.org/drawingml/2006/main">
              <a:ext uri="{FF2B5EF4-FFF2-40B4-BE49-F238E27FC236}">
                <a16:creationId xmlns:a16="http://schemas.microsoft.com/office/drawing/2014/main" id="{329ED38E-2DFC-41B4-893A-1C5832E29430}"/>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Ein vorhandener Quellenlink allein beweist den zugehörigen Satz nicht.</a:t>
            </a:r>
          </a:p>
        </p:txBody>
      </p:sp>
      <p:sp>
        <p:nvSpPr>
          <p:cNvPr id="9" name="text-8">
            <a:extLst xmlns:a="http://schemas.openxmlformats.org/drawingml/2006/main">
              <a:ext uri="{FF2B5EF4-FFF2-40B4-BE49-F238E27FC236}">
                <a16:creationId xmlns:a16="http://schemas.microsoft.com/office/drawing/2014/main" id="{3EAC5BAE-3EFD-4ED3-9BD5-5545C4B535C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37 · Quellfolie 45 · CUR-017</a:t>
            </a:r>
          </a:p>
        </p:txBody>
      </p:sp>
    </p:spTree>
    <p:extLst>
      <p:ext uri="{BB962C8B-B14F-4D97-AF65-F5344CB8AC3E}">
        <p14:creationId xmlns:p14="http://schemas.microsoft.com/office/powerpoint/2010/main" val="194886384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C99BDA5-8E88-45AF-BB7C-277DEDDF8FF5}"/>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QRY-018: Vier Quellenentscheidungen</a:t>
            </a:r>
          </a:p>
        </p:txBody>
      </p:sp>
      <p:graphicFrame>
        <p:nvGraphicFramePr>
          <p:cNvPr id="2" name="">
            <a:extLst xmlns:a="http://schemas.openxmlformats.org/drawingml/2006/main">
              <a:ext uri="{FF2B5EF4-FFF2-40B4-BE49-F238E27FC236}">
                <a16:creationId xmlns:a16="http://schemas.microsoft.com/office/drawing/2014/main" id="{AD1450A5-DC38-48AA-B824-0106841A6882}"/>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095750"/>
                <a:gridCol w="2190750"/>
                <a:gridCol w="4381500"/>
              </a:tblGrid>
              <a:tr h="800100">
                <a:tc>
                  <a:txBody>
                    <a:bodyPr/>
                    <a:lstStyle/>
                    <a:p>
                      <a:r>
                        <a:rPr sz="1800" b="1">
                          <a:solidFill>
                            <a:srgbClr val="15283D"/>
                          </a:solidFill>
                          <a:latin typeface="Arial"/>
                          <a:ea typeface="Arial"/>
                          <a:cs typeface="Arial"/>
                        </a:rPr>
                        <a:t>Fixture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Entscheidung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Begründung</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Aktuelle Sieben-Tage-Quelle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ACCEPTED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Stützende Quelle im erlaubten Kontext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Zitat außerhalb des Kontexts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REJECTED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Existenz des Zitats genügt nicht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Kein ausreichender Kontext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Begründete Nichtantwort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Sieben und neun Tage aktuell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ABSTAINED</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Widerspruch zwischen erlaubten Quellen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C5FEB266-504B-43AB-B4C4-6F7EB012C65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Antwortfixtures und Claimprüfung, keine Livegeneration.</a:t>
            </a:r>
          </a:p>
        </p:txBody>
      </p:sp>
      <p:sp>
        <p:nvSpPr>
          <p:cNvPr id="4" name="text-2">
            <a:extLst xmlns:a="http://schemas.openxmlformats.org/drawingml/2006/main">
              <a:ext uri="{FF2B5EF4-FFF2-40B4-BE49-F238E27FC236}">
                <a16:creationId xmlns:a16="http://schemas.microsoft.com/office/drawing/2014/main" id="{C2C1BF15-DD94-4526-88BD-2BA215CEBCD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38 · Quellfolie 46 · CUR-017 / CUR-022</a:t>
            </a:r>
          </a:p>
        </p:txBody>
      </p:sp>
    </p:spTree>
    <p:extLst>
      <p:ext uri="{BB962C8B-B14F-4D97-AF65-F5344CB8AC3E}">
        <p14:creationId xmlns:p14="http://schemas.microsoft.com/office/powerpoint/2010/main" val="10894106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C15B8A0-5F15-4673-9757-48A10855043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Securitygrenzen im Datenfluss</a:t>
            </a:r>
          </a:p>
        </p:txBody>
      </p:sp>
      <p:graphicFrame>
        <p:nvGraphicFramePr>
          <p:cNvPr id="2" name="">
            <a:extLst xmlns:a="http://schemas.openxmlformats.org/drawingml/2006/main">
              <a:ext uri="{FF2B5EF4-FFF2-40B4-BE49-F238E27FC236}">
                <a16:creationId xmlns:a16="http://schemas.microsoft.com/office/drawing/2014/main" id="{02CD3594-5682-4C5E-9B95-F54A81323CA8}"/>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762500"/>
                <a:gridCol w="5905500"/>
              </a:tblGrid>
              <a:tr h="800100">
                <a:tc>
                  <a:txBody>
                    <a:bodyPr/>
                    <a:lstStyle/>
                    <a:p>
                      <a:r>
                        <a:rPr sz="1800" b="1">
                          <a:solidFill>
                            <a:srgbClr val="15283D"/>
                          </a:solidFill>
                          <a:latin typeface="Arial"/>
                          <a:ea typeface="Arial"/>
                          <a:cs typeface="Arial"/>
                        </a:rPr>
                        <a:t>Unvertrauenswürdige Eingabe</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Erzwungene 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Prompt und LLM-SQL</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Feste SQL-Struktur, Wertbindung und minimale DB-Rechte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Retrievalquelle und Toolwunsch</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Quelleninhalt getrennt von Toolpolicy verarbeiten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Tenantangabe aus dem Prompt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Authentifizierter Kontext und DB-seitige Zugriffskontrolle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Modellendpoint und Dateien</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TLS, Egress, Credentials, Lizenz und endliche Budgets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F0C3D8D1-804D-41B6-8CA5-EA67CABE335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Embeddings, Prompts und Antworten können schutzwürdige Information enthalten.</a:t>
            </a:r>
          </a:p>
        </p:txBody>
      </p:sp>
      <p:sp>
        <p:nvSpPr>
          <p:cNvPr id="4" name="text-2">
            <a:extLst xmlns:a="http://schemas.openxmlformats.org/drawingml/2006/main">
              <a:ext uri="{FF2B5EF4-FFF2-40B4-BE49-F238E27FC236}">
                <a16:creationId xmlns:a16="http://schemas.microsoft.com/office/drawing/2014/main" id="{297A9D1B-144F-4CD2-8E51-BFD457C5843C}"/>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39 · Quellfolie 47 · CUR-018</a:t>
            </a:r>
          </a:p>
        </p:txBody>
      </p:sp>
    </p:spTree>
    <p:extLst>
      <p:ext uri="{BB962C8B-B14F-4D97-AF65-F5344CB8AC3E}">
        <p14:creationId xmlns:p14="http://schemas.microsoft.com/office/powerpoint/2010/main" val="205055913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0CCD998-44DE-4280-A2B4-26BA16FB3F4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QRY-019: Wertbindung und SQL-Struktur</a:t>
            </a:r>
          </a:p>
        </p:txBody>
      </p:sp>
      <p:sp>
        <p:nvSpPr>
          <p:cNvPr id="2" name="text-1">
            <a:extLst xmlns:a="http://schemas.openxmlformats.org/drawingml/2006/main">
              <a:ext uri="{FF2B5EF4-FFF2-40B4-BE49-F238E27FC236}">
                <a16:creationId xmlns:a16="http://schemas.microsoft.com/office/drawing/2014/main" id="{12083D00-7190-43B1-AF16-B54E752E03E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70909099-7B5D-40E5-A4B8-BEA6CDE44472}"/>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Kann Quote-, Semikolon- und DROP-Text als Wert einen Literal-Treffer liefern?</a:t>
            </a:r>
          </a:p>
        </p:txBody>
      </p:sp>
      <p:sp>
        <p:nvSpPr>
          <p:cNvPr id="4" name="text-3">
            <a:extLst xmlns:a="http://schemas.openxmlformats.org/drawingml/2006/main">
              <a:ext uri="{FF2B5EF4-FFF2-40B4-BE49-F238E27FC236}">
                <a16:creationId xmlns:a16="http://schemas.microsoft.com/office/drawing/2014/main" id="{9B29D2DB-9A94-4E4D-AB29-0DEE38018B23}"/>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94FCC58B-DCE3-41FD-BBDB-F14C5A91CCD9}"/>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Statementstruktur, getrennte Wertparameter und tatsächliche Readerrechte im Code zeigen.</a:t>
            </a:r>
          </a:p>
        </p:txBody>
      </p:sp>
      <p:sp>
        <p:nvSpPr>
          <p:cNvPr id="6" name="text-5">
            <a:extLst xmlns:a="http://schemas.openxmlformats.org/drawingml/2006/main">
              <a:ext uri="{FF2B5EF4-FFF2-40B4-BE49-F238E27FC236}">
                <a16:creationId xmlns:a16="http://schemas.microsoft.com/office/drawing/2014/main" id="{0830A6E7-AA42-482F-95D4-C34BF1B917D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86656487-7E39-4010-BE95-D70601549B4E}"/>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Zusatzstatement und unerlaubte Aktion ablehnen. Identifier benötigen eine eigene Allowlist.</a:t>
            </a:r>
          </a:p>
        </p:txBody>
      </p:sp>
      <p:sp>
        <p:nvSpPr>
          <p:cNvPr id="8" name="text-7">
            <a:extLst xmlns:a="http://schemas.openxmlformats.org/drawingml/2006/main">
              <a:ext uri="{FF2B5EF4-FFF2-40B4-BE49-F238E27FC236}">
                <a16:creationId xmlns:a16="http://schemas.microsoft.com/office/drawing/2014/main" id="{3697AF95-43AD-4727-B9A2-0EE0DD3731C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Feste SQL-/Promptfixtures, kein privilegierter Angriffslauf.</a:t>
            </a:r>
          </a:p>
        </p:txBody>
      </p:sp>
      <p:sp>
        <p:nvSpPr>
          <p:cNvPr id="9" name="text-8">
            <a:extLst xmlns:a="http://schemas.openxmlformats.org/drawingml/2006/main">
              <a:ext uri="{FF2B5EF4-FFF2-40B4-BE49-F238E27FC236}">
                <a16:creationId xmlns:a16="http://schemas.microsoft.com/office/drawing/2014/main" id="{DAE4B47E-DB28-44B1-AE47-F0CE31DC137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40 · Quellfolie 48 · CUR-018 / CUR-021</a:t>
            </a:r>
          </a:p>
        </p:txBody>
      </p:sp>
    </p:spTree>
    <p:extLst>
      <p:ext uri="{BB962C8B-B14F-4D97-AF65-F5344CB8AC3E}">
        <p14:creationId xmlns:p14="http://schemas.microsoft.com/office/powerpoint/2010/main" val="16320977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34FB3EFB-4B36-47A9-8091-28F133D98811}"/>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Modellpfade und ihre Freigaben</a:t>
            </a:r>
          </a:p>
        </p:txBody>
      </p:sp>
      <p:graphicFrame>
        <p:nvGraphicFramePr>
          <p:cNvPr id="2" name="">
            <a:extLst xmlns:a="http://schemas.openxmlformats.org/drawingml/2006/main">
              <a:ext uri="{FF2B5EF4-FFF2-40B4-BE49-F238E27FC236}">
                <a16:creationId xmlns:a16="http://schemas.microsoft.com/office/drawing/2014/main" id="{E1AB74B4-895E-4013-ADC8-EB5905BCA1F6}"/>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048000"/>
                <a:gridCol w="3905250"/>
                <a:gridCol w="3714750"/>
              </a:tblGrid>
              <a:tr h="800100">
                <a:tc>
                  <a:txBody>
                    <a:bodyPr/>
                    <a:lstStyle/>
                    <a:p>
                      <a:r>
                        <a:rPr sz="1800" b="1">
                          <a:solidFill>
                            <a:srgbClr val="15283D"/>
                          </a:solidFill>
                          <a:latin typeface="Arial"/>
                          <a:ea typeface="Arial"/>
                          <a:cs typeface="Arial"/>
                        </a:rPr>
                        <a:t>Pfad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er zeigt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Geometrie und Offlinefixtures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SQL-Mechanik und feste Kontrollfälle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Keine echte Sprachsemantik oder 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QRY-020: lokaler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echte Embeddings über Ollama</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TLS, API und Runtime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QRY-021: externer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externe Embeddings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Egress, Secrets und Geldbudget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QRY-022: ONNX</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lokale Native-Inferenz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Windows und ML Services, Rot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6BF54AEC-AB3D-4828-B702-BF39D6389A4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41 · Quellfolie 40 · CUR-016</a:t>
            </a:r>
          </a:p>
        </p:txBody>
      </p:sp>
    </p:spTree>
    <p:extLst>
      <p:ext uri="{BB962C8B-B14F-4D97-AF65-F5344CB8AC3E}">
        <p14:creationId xmlns:p14="http://schemas.microsoft.com/office/powerpoint/2010/main" val="139615911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BC4BA5E-B3E3-4215-8716-F79F7785D25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Embedding-Lifecycle</a:t>
            </a:r>
          </a:p>
        </p:txBody>
      </p:sp>
      <p:sp>
        <p:nvSpPr>
          <p:cNvPr id="2" name="text-1">
            <a:extLst xmlns:a="http://schemas.openxmlformats.org/drawingml/2006/main">
              <a:ext uri="{FF2B5EF4-FFF2-40B4-BE49-F238E27FC236}">
                <a16:creationId xmlns:a16="http://schemas.microsoft.com/office/drawing/2014/main" id="{C9800E29-6209-4E63-A390-FCB1A1BE22AB}"/>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Anfrage</a:t>
            </a:r>
          </a:p>
        </p:txBody>
      </p:sp>
      <p:sp>
        <p:nvSpPr>
          <p:cNvPr id="3" name="text-2">
            <a:extLst xmlns:a="http://schemas.openxmlformats.org/drawingml/2006/main">
              <a:ext uri="{FF2B5EF4-FFF2-40B4-BE49-F238E27FC236}">
                <a16:creationId xmlns:a16="http://schemas.microsoft.com/office/drawing/2014/main" id="{02B1FDE4-0754-4941-B5A6-FC55507886F1}"/>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Modell, Dimension, Tokenlimit, Lizenz, TLS und authentifizierten Endpoint prüfen.</a:t>
            </a:r>
          </a:p>
        </p:txBody>
      </p:sp>
      <p:sp>
        <p:nvSpPr>
          <p:cNvPr id="4" name="text-3">
            <a:extLst xmlns:a="http://schemas.openxmlformats.org/drawingml/2006/main">
              <a:ext uri="{FF2B5EF4-FFF2-40B4-BE49-F238E27FC236}">
                <a16:creationId xmlns:a16="http://schemas.microsoft.com/office/drawing/2014/main" id="{F0E3A720-459A-44B1-8AD4-9A5A4A5EBADB}"/>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dem INSERT</a:t>
            </a:r>
          </a:p>
        </p:txBody>
      </p:sp>
      <p:sp>
        <p:nvSpPr>
          <p:cNvPr id="5" name="text-4">
            <a:extLst xmlns:a="http://schemas.openxmlformats.org/drawingml/2006/main">
              <a:ext uri="{FF2B5EF4-FFF2-40B4-BE49-F238E27FC236}">
                <a16:creationId xmlns:a16="http://schemas.microsoft.com/office/drawing/2014/main" id="{7D8F5E15-1270-4988-A47A-C61F7669599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Resultattyp, Anzahl, Dimension, Truncation und Modellraum kontrollieren.</a:t>
            </a:r>
          </a:p>
        </p:txBody>
      </p:sp>
      <p:sp>
        <p:nvSpPr>
          <p:cNvPr id="6" name="text-5">
            <a:extLst xmlns:a="http://schemas.openxmlformats.org/drawingml/2006/main">
              <a:ext uri="{FF2B5EF4-FFF2-40B4-BE49-F238E27FC236}">
                <a16:creationId xmlns:a16="http://schemas.microsoft.com/office/drawing/2014/main" id="{F90A7ED5-6DA1-4F4D-8A8D-FFCD358515CA}"/>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Nach Änderungen</a:t>
            </a:r>
          </a:p>
        </p:txBody>
      </p:sp>
      <p:sp>
        <p:nvSpPr>
          <p:cNvPr id="7" name="text-6">
            <a:extLst xmlns:a="http://schemas.openxmlformats.org/drawingml/2006/main">
              <a:ext uri="{FF2B5EF4-FFF2-40B4-BE49-F238E27FC236}">
                <a16:creationId xmlns:a16="http://schemas.microsoft.com/office/drawing/2014/main" id="{D1A36B92-85C3-4F75-8B2B-B0E34C02F13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Re-Embedding nachvollziehbar versionieren. Request-, Retry-, Netz- und Modellzeit getrennt zählen.</a:t>
            </a:r>
          </a:p>
        </p:txBody>
      </p:sp>
      <p:sp>
        <p:nvSpPr>
          <p:cNvPr id="8" name="text-7">
            <a:extLst xmlns:a="http://schemas.openxmlformats.org/drawingml/2006/main">
              <a:ext uri="{FF2B5EF4-FFF2-40B4-BE49-F238E27FC236}">
                <a16:creationId xmlns:a16="http://schemas.microsoft.com/office/drawing/2014/main" id="{A881867B-5739-410A-8A6B-D42426731FD1}"/>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SQL External Model beschreibt den Embeddingzugang. Die generative Antwort bleibt ein Anwendungsschritt.</a:t>
            </a:r>
          </a:p>
        </p:txBody>
      </p:sp>
      <p:sp>
        <p:nvSpPr>
          <p:cNvPr id="9" name="text-8">
            <a:extLst xmlns:a="http://schemas.openxmlformats.org/drawingml/2006/main">
              <a:ext uri="{FF2B5EF4-FFF2-40B4-BE49-F238E27FC236}">
                <a16:creationId xmlns:a16="http://schemas.microsoft.com/office/drawing/2014/main" id="{9F4C55AF-BDD6-407B-B537-CFA82AAC4229}"/>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42 · Quellfolie 41 · CUR-016</a:t>
            </a:r>
          </a:p>
        </p:txBody>
      </p:sp>
    </p:spTree>
    <p:extLst>
      <p:ext uri="{BB962C8B-B14F-4D97-AF65-F5344CB8AC3E}">
        <p14:creationId xmlns:p14="http://schemas.microsoft.com/office/powerpoint/2010/main" val="109695766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CCDAB0F-8D74-4585-9531-D9D1E187B7CE}"/>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DGN-008: Getrennte Modellrechte</a:t>
            </a:r>
          </a:p>
        </p:txBody>
      </p:sp>
      <p:sp>
        <p:nvSpPr>
          <p:cNvPr id="2" name="text-1">
            <a:extLst xmlns:a="http://schemas.openxmlformats.org/drawingml/2006/main">
              <a:ext uri="{FF2B5EF4-FFF2-40B4-BE49-F238E27FC236}">
                <a16:creationId xmlns:a16="http://schemas.microsoft.com/office/drawing/2014/main" id="{DD2C8618-777A-4B34-8F5A-A0B94FDFD73D}"/>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5475C02B-A5F8-44CF-BEE9-214AAF915A0D}"/>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 Rechte brauchen Setup, Ingestion und Retrieval jeweils?</a:t>
            </a:r>
          </a:p>
        </p:txBody>
      </p:sp>
      <p:sp>
        <p:nvSpPr>
          <p:cNvPr id="4" name="text-3">
            <a:extLst xmlns:a="http://schemas.openxmlformats.org/drawingml/2006/main">
              <a:ext uri="{FF2B5EF4-FFF2-40B4-BE49-F238E27FC236}">
                <a16:creationId xmlns:a16="http://schemas.microsoft.com/office/drawing/2014/main" id="{82500C53-AC94-489A-9C6F-7EB7BFC9693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01849F6F-9CB8-4D3A-9BDF-35F488EB3C5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Offline-Modellmetadaten, drei getrennte Rollen und die tatsächliche Grantreduktion prüfen.</a:t>
            </a:r>
          </a:p>
        </p:txBody>
      </p:sp>
      <p:sp>
        <p:nvSpPr>
          <p:cNvPr id="6" name="text-5">
            <a:extLst xmlns:a="http://schemas.openxmlformats.org/drawingml/2006/main">
              <a:ext uri="{FF2B5EF4-FFF2-40B4-BE49-F238E27FC236}">
                <a16:creationId xmlns:a16="http://schemas.microsoft.com/office/drawing/2014/main" id="{63EE1097-490C-4882-9A50-185D7C0C0F6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Interpretation</a:t>
            </a:r>
          </a:p>
        </p:txBody>
      </p:sp>
      <p:sp>
        <p:nvSpPr>
          <p:cNvPr id="7" name="text-6">
            <a:extLst xmlns:a="http://schemas.openxmlformats.org/drawingml/2006/main">
              <a:ext uri="{FF2B5EF4-FFF2-40B4-BE49-F238E27FC236}">
                <a16:creationId xmlns:a16="http://schemas.microsoft.com/office/drawing/2014/main" id="{DD344DCF-D59E-4C82-8C2F-D7AD7D6830D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Model-EXECUTE belegt hier ein Metadatenrecht. Providererreichbarkeit und Inferenz bleiben offen.</a:t>
            </a:r>
          </a:p>
        </p:txBody>
      </p:sp>
      <p:sp>
        <p:nvSpPr>
          <p:cNvPr id="8" name="text-7">
            <a:extLst xmlns:a="http://schemas.openxmlformats.org/drawingml/2006/main">
              <a:ext uri="{FF2B5EF4-FFF2-40B4-BE49-F238E27FC236}">
                <a16:creationId xmlns:a16="http://schemas.microsoft.com/office/drawing/2014/main" id="{A84D5FEA-38C0-4462-B698-83F9A0CA749E}"/>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Ohne Credential, Netzrequest oder Embeddinggenerierung.</a:t>
            </a:r>
          </a:p>
        </p:txBody>
      </p:sp>
      <p:sp>
        <p:nvSpPr>
          <p:cNvPr id="9" name="text-8">
            <a:extLst xmlns:a="http://schemas.openxmlformats.org/drawingml/2006/main">
              <a:ext uri="{FF2B5EF4-FFF2-40B4-BE49-F238E27FC236}">
                <a16:creationId xmlns:a16="http://schemas.microsoft.com/office/drawing/2014/main" id="{8ADB9240-20AA-4A01-A8DA-E0B43DEE677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43 · Quellfolie 42 · CUR-016 / CUR-018</a:t>
            </a:r>
          </a:p>
        </p:txBody>
      </p:sp>
    </p:spTree>
    <p:extLst>
      <p:ext uri="{BB962C8B-B14F-4D97-AF65-F5344CB8AC3E}">
        <p14:creationId xmlns:p14="http://schemas.microsoft.com/office/powerpoint/2010/main" val="66511447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65BC66F-79A5-4063-8F9F-99E70A97D859}"/>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DGN-009: Manipulierte Retrievalquelle</a:t>
            </a:r>
          </a:p>
        </p:txBody>
      </p:sp>
      <p:sp>
        <p:nvSpPr>
          <p:cNvPr id="2" name="text-1">
            <a:extLst xmlns:a="http://schemas.openxmlformats.org/drawingml/2006/main">
              <a:ext uri="{FF2B5EF4-FFF2-40B4-BE49-F238E27FC236}">
                <a16:creationId xmlns:a16="http://schemas.microsoft.com/office/drawing/2014/main" id="{53800B72-8CAF-45A8-BBD4-C678F1F55E6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F4208EF1-305B-4700-9E0E-EA295303504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Quelle fordert eine Zusatzaktion. Welche Befugnis entsteht daraus?</a:t>
            </a:r>
          </a:p>
        </p:txBody>
      </p:sp>
      <p:sp>
        <p:nvSpPr>
          <p:cNvPr id="4" name="text-3">
            <a:extLst xmlns:a="http://schemas.openxmlformats.org/drawingml/2006/main">
              <a:ext uri="{FF2B5EF4-FFF2-40B4-BE49-F238E27FC236}">
                <a16:creationId xmlns:a16="http://schemas.microsoft.com/office/drawing/2014/main" id="{CA9CB176-93D5-4B49-8081-3A1B34464DD9}"/>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6B1D4858-9FAB-4B01-BEC1-BB664609A0D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Den tatsächlich retrievten manipulierten Text von Antwortfixture und Toolpolicy trennen.</a:t>
            </a:r>
          </a:p>
        </p:txBody>
      </p:sp>
      <p:sp>
        <p:nvSpPr>
          <p:cNvPr id="6" name="text-5">
            <a:extLst xmlns:a="http://schemas.openxmlformats.org/drawingml/2006/main">
              <a:ext uri="{FF2B5EF4-FFF2-40B4-BE49-F238E27FC236}">
                <a16:creationId xmlns:a16="http://schemas.microsoft.com/office/drawing/2014/main" id="{BB2C941E-4C55-4692-AFD4-A839F9CEBAA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CA678014-D0CE-4BE3-B7DB-BBA5C84FB79B}"/>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Policy und minimale SQL-Rechte verweigern unerlaubte Aktionen tatsächlich.</a:t>
            </a:r>
          </a:p>
        </p:txBody>
      </p:sp>
      <p:sp>
        <p:nvSpPr>
          <p:cNvPr id="8" name="text-7">
            <a:extLst xmlns:a="http://schemas.openxmlformats.org/drawingml/2006/main">
              <a:ext uri="{FF2B5EF4-FFF2-40B4-BE49-F238E27FC236}">
                <a16:creationId xmlns:a16="http://schemas.microsoft.com/office/drawing/2014/main" id="{2DB81813-2A63-4B87-AFD7-C1BA6358BF27}"/>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Offline-Antwort-/Toolfixtures. Verhalten unbekannter Live-Modelle bleibt offen.</a:t>
            </a:r>
          </a:p>
        </p:txBody>
      </p:sp>
      <p:sp>
        <p:nvSpPr>
          <p:cNvPr id="9" name="text-8">
            <a:extLst xmlns:a="http://schemas.openxmlformats.org/drawingml/2006/main">
              <a:ext uri="{FF2B5EF4-FFF2-40B4-BE49-F238E27FC236}">
                <a16:creationId xmlns:a16="http://schemas.microsoft.com/office/drawing/2014/main" id="{2FFD35D5-DB00-48A1-91A8-754E79F4B3D1}"/>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44 · Quellfolie 49 · CUR-018</a:t>
            </a:r>
          </a:p>
        </p:txBody>
      </p:sp>
    </p:spTree>
    <p:extLst>
      <p:ext uri="{BB962C8B-B14F-4D97-AF65-F5344CB8AC3E}">
        <p14:creationId xmlns:p14="http://schemas.microsoft.com/office/powerpoint/2010/main" val="185816142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9B54E30-787B-408D-913D-3E5EF9061EC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Entscheidung und Transferaufgabe</a:t>
            </a:r>
          </a:p>
        </p:txBody>
      </p:sp>
      <p:sp>
        <p:nvSpPr>
          <p:cNvPr id="2" name="text-1">
            <a:extLst xmlns:a="http://schemas.openxmlformats.org/drawingml/2006/main">
              <a:ext uri="{FF2B5EF4-FFF2-40B4-BE49-F238E27FC236}">
                <a16:creationId xmlns:a16="http://schemas.microsoft.com/office/drawing/2014/main" id="{201ED463-EEFB-4310-84F3-1A180D1DE9CA}"/>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Suchfrage</a:t>
            </a:r>
          </a:p>
        </p:txBody>
      </p:sp>
      <p:sp>
        <p:nvSpPr>
          <p:cNvPr id="3" name="text-2">
            <a:extLst xmlns:a="http://schemas.openxmlformats.org/drawingml/2006/main">
              <a:ext uri="{FF2B5EF4-FFF2-40B4-BE49-F238E27FC236}">
                <a16:creationId xmlns:a16="http://schemas.microsoft.com/office/drawing/2014/main" id="{E7A494A6-F3F3-4387-9A1A-4BAF149F5C87}"/>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exakte Dokumentkennung und eine inhaltliche Frage brauchen begründete Suchpfade.</a:t>
            </a:r>
          </a:p>
        </p:txBody>
      </p:sp>
      <p:sp>
        <p:nvSpPr>
          <p:cNvPr id="4" name="text-3">
            <a:extLst xmlns:a="http://schemas.openxmlformats.org/drawingml/2006/main">
              <a:ext uri="{FF2B5EF4-FFF2-40B4-BE49-F238E27FC236}">
                <a16:creationId xmlns:a16="http://schemas.microsoft.com/office/drawing/2014/main" id="{C2FC36C9-11C7-4E50-AE80-9E737525661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Quellenkonflikt</a:t>
            </a:r>
          </a:p>
        </p:txBody>
      </p:sp>
      <p:sp>
        <p:nvSpPr>
          <p:cNvPr id="5" name="text-4">
            <a:extLst xmlns:a="http://schemas.openxmlformats.org/drawingml/2006/main">
              <a:ext uri="{FF2B5EF4-FFF2-40B4-BE49-F238E27FC236}">
                <a16:creationId xmlns:a16="http://schemas.microsoft.com/office/drawing/2014/main" id="{8E643BD0-97B5-439A-8F33-2BCD133077C0}"/>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Zwei aktuelle erlaubte Quellen widersprechen sich. Herkunft und Version am Treffer belegen.</a:t>
            </a:r>
          </a:p>
        </p:txBody>
      </p:sp>
      <p:sp>
        <p:nvSpPr>
          <p:cNvPr id="6" name="text-5">
            <a:extLst xmlns:a="http://schemas.openxmlformats.org/drawingml/2006/main">
              <a:ext uri="{FF2B5EF4-FFF2-40B4-BE49-F238E27FC236}">
                <a16:creationId xmlns:a16="http://schemas.microsoft.com/office/drawing/2014/main" id="{8FB119C2-FD23-42F1-8E05-3F3AE801F3E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Manipulation</a:t>
            </a:r>
          </a:p>
        </p:txBody>
      </p:sp>
      <p:sp>
        <p:nvSpPr>
          <p:cNvPr id="7" name="text-6">
            <a:extLst xmlns:a="http://schemas.openxmlformats.org/drawingml/2006/main">
              <a:ext uri="{FF2B5EF4-FFF2-40B4-BE49-F238E27FC236}">
                <a16:creationId xmlns:a16="http://schemas.microsoft.com/office/drawing/2014/main" id="{8F632632-62D9-45D0-8063-F29DD158A9A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Quellenabsatz fordert eine Zusatzaktion. Zulässige Antwort und Toolbefugnis getrennt erklären.</a:t>
            </a:r>
          </a:p>
        </p:txBody>
      </p:sp>
      <p:sp>
        <p:nvSpPr>
          <p:cNvPr id="8" name="text-7">
            <a:extLst xmlns:a="http://schemas.openxmlformats.org/drawingml/2006/main">
              <a:ext uri="{FF2B5EF4-FFF2-40B4-BE49-F238E27FC236}">
                <a16:creationId xmlns:a16="http://schemas.microsoft.com/office/drawing/2014/main" id="{F4629245-ABEA-43EB-A3A6-3AF8BD31AE29}"/>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Acht Aufgaben: höchstens 16 Punkte nach bestehender Rubrik. Transfer unbewertet; kein Live-Modellaufruf.</a:t>
            </a:r>
          </a:p>
        </p:txBody>
      </p:sp>
      <p:sp>
        <p:nvSpPr>
          <p:cNvPr id="9" name="text-8">
            <a:extLst xmlns:a="http://schemas.openxmlformats.org/drawingml/2006/main">
              <a:ext uri="{FF2B5EF4-FFF2-40B4-BE49-F238E27FC236}">
                <a16:creationId xmlns:a16="http://schemas.microsoft.com/office/drawing/2014/main" id="{769DD63E-6102-4FC7-9EA9-B400B5D35FC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45 · Quellfolie 61 · CUR-022</a:t>
            </a:r>
          </a:p>
        </p:txBody>
      </p:sp>
    </p:spTree>
    <p:extLst>
      <p:ext uri="{BB962C8B-B14F-4D97-AF65-F5344CB8AC3E}">
        <p14:creationId xmlns:p14="http://schemas.microsoft.com/office/powerpoint/2010/main" val="69335622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F46C0F5-D978-4D6A-ACBC-F3E2BB1A2248}"/>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Exact Search und ANN</a:t>
            </a:r>
          </a:p>
        </p:txBody>
      </p:sp>
      <p:graphicFrame>
        <p:nvGraphicFramePr>
          <p:cNvPr id="2" name="">
            <a:extLst xmlns:a="http://schemas.openxmlformats.org/drawingml/2006/main">
              <a:ext uri="{FF2B5EF4-FFF2-40B4-BE49-F238E27FC236}">
                <a16:creationId xmlns:a16="http://schemas.microsoft.com/office/drawing/2014/main" id="{669766CE-2914-4FED-AE98-2222BE2FE831}"/>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571750"/>
                <a:gridCol w="4000500"/>
                <a:gridCol w="4095750"/>
              </a:tblGrid>
              <a:tr h="800100">
                <a:tc>
                  <a:txBody>
                    <a:bodyPr/>
                    <a:lstStyle/>
                    <a:p>
                      <a:r>
                        <a:rPr sz="1800" b="1">
                          <a:solidFill>
                            <a:srgbClr val="15283D"/>
                          </a:solidFill>
                          <a:latin typeface="Arial"/>
                          <a:ea typeface="Arial"/>
                          <a:cs typeface="Arial"/>
                        </a:rPr>
                        <a:t>Eigenschaft</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Exact Distance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Approximate Vector Search</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Suchvertrag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Distanzen der erlaubten Kandidaten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Approximation mit Index-/Fallbackprüfung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Qualität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Deterministisches Top-k mit Tie-Regel</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Recall@k gegen dasselbe Exact-Oracle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Planbeleg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Tatsächlichen Zugriff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Indexnutzung und Filterwirkung belegen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SQL-2025-Grenze</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VECTOR_DISTANCE nutzt keinen Vector Index</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Preview. Generation und Build binden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521636E6-F507-4CE8-8773-81E0A4A9008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Recall@k = gemeinsame Exact-/ANN-Treffer ÷ k. Fachliche Relevanz benötigt eigene Urteile.</a:t>
            </a:r>
          </a:p>
        </p:txBody>
      </p:sp>
      <p:sp>
        <p:nvSpPr>
          <p:cNvPr id="4" name="text-2">
            <a:extLst xmlns:a="http://schemas.openxmlformats.org/drawingml/2006/main">
              <a:ext uri="{FF2B5EF4-FFF2-40B4-BE49-F238E27FC236}">
                <a16:creationId xmlns:a16="http://schemas.microsoft.com/office/drawing/2014/main" id="{2034BBC6-97B1-4365-8335-27169A357C8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46 · Quellfolie 51 · CUR-019</a:t>
            </a:r>
          </a:p>
        </p:txBody>
      </p:sp>
    </p:spTree>
    <p:extLst>
      <p:ext uri="{BB962C8B-B14F-4D97-AF65-F5344CB8AC3E}">
        <p14:creationId xmlns:p14="http://schemas.microsoft.com/office/powerpoint/2010/main" val="102240203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C40FAAB-00F4-4729-979C-A3D7DD6801F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IDX-011: Recall und gebundene Messung</a:t>
            </a:r>
          </a:p>
        </p:txBody>
      </p:sp>
      <p:sp>
        <p:nvSpPr>
          <p:cNvPr id="2" name="text-1">
            <a:extLst xmlns:a="http://schemas.openxmlformats.org/drawingml/2006/main">
              <a:ext uri="{FF2B5EF4-FFF2-40B4-BE49-F238E27FC236}">
                <a16:creationId xmlns:a16="http://schemas.microsoft.com/office/drawing/2014/main" id="{584B6301-B7F1-4B3B-B6D1-5F293D4FE30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Versuchsauftrag</a:t>
            </a:r>
          </a:p>
        </p:txBody>
      </p:sp>
      <p:sp>
        <p:nvSpPr>
          <p:cNvPr id="3" name="text-2">
            <a:extLst xmlns:a="http://schemas.openxmlformats.org/drawingml/2006/main">
              <a:ext uri="{FF2B5EF4-FFF2-40B4-BE49-F238E27FC236}">
                <a16:creationId xmlns:a16="http://schemas.microsoft.com/office/drawing/2014/main" id="{0F6DE110-C230-407F-A80C-7EB2D9847B6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Gleicher 1000-Row-Korpus, cosine, k=5 und identische Ergebnisprüfung für Exact und VECTOR_SEARCH.</a:t>
            </a:r>
          </a:p>
        </p:txBody>
      </p:sp>
      <p:sp>
        <p:nvSpPr>
          <p:cNvPr id="4" name="text-3">
            <a:extLst xmlns:a="http://schemas.openxmlformats.org/drawingml/2006/main">
              <a:ext uri="{FF2B5EF4-FFF2-40B4-BE49-F238E27FC236}">
                <a16:creationId xmlns:a16="http://schemas.microsoft.com/office/drawing/2014/main" id="{D31CD112-BE43-4752-9D28-6DC367F08524}"/>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Vorliegende Evidenz</a:t>
            </a:r>
          </a:p>
        </p:txBody>
      </p:sp>
      <p:sp>
        <p:nvSpPr>
          <p:cNvPr id="5" name="text-4">
            <a:extLst xmlns:a="http://schemas.openxmlformats.org/drawingml/2006/main">
              <a:ext uri="{FF2B5EF4-FFF2-40B4-BE49-F238E27FC236}">
                <a16:creationId xmlns:a16="http://schemas.microsoft.com/office/drawing/2014/main" id="{0FEB6CF6-8746-43D9-B45C-13023D302F94}"/>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Begrenzte lokale Such-, Quellen-, Distanz- und Planbelege liegen vor. Generation bleibt UNKNOWN/WARN.</a:t>
            </a:r>
          </a:p>
        </p:txBody>
      </p:sp>
      <p:sp>
        <p:nvSpPr>
          <p:cNvPr id="6" name="text-5">
            <a:extLst xmlns:a="http://schemas.openxmlformats.org/drawingml/2006/main">
              <a:ext uri="{FF2B5EF4-FFF2-40B4-BE49-F238E27FC236}">
                <a16:creationId xmlns:a16="http://schemas.microsoft.com/office/drawing/2014/main" id="{ABB9373C-589F-4D40-A5AC-E8DF9F48D3F8}"/>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Interpretation</a:t>
            </a:r>
          </a:p>
        </p:txBody>
      </p:sp>
      <p:sp>
        <p:nvSpPr>
          <p:cNvPr id="7" name="text-6">
            <a:extLst xmlns:a="http://schemas.openxmlformats.org/drawingml/2006/main">
              <a:ext uri="{FF2B5EF4-FFF2-40B4-BE49-F238E27FC236}">
                <a16:creationId xmlns:a16="http://schemas.microsoft.com/office/drawing/2014/main" id="{FEAB641C-DC61-4639-825F-34FFF1C7A03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kleine gebundene Versuch belegt keinen allgemeinen ANN-Performancevorteil und keine Sprachrelevanz.</a:t>
            </a:r>
          </a:p>
        </p:txBody>
      </p:sp>
      <p:sp>
        <p:nvSpPr>
          <p:cNvPr id="8" name="text-7">
            <a:extLst xmlns:a="http://schemas.openxmlformats.org/drawingml/2006/main">
              <a:ext uri="{FF2B5EF4-FFF2-40B4-BE49-F238E27FC236}">
                <a16:creationId xmlns:a16="http://schemas.microsoft.com/office/drawing/2014/main" id="{7DFCB56B-FDA3-4C27-A3AC-03972B384E25}"/>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Öffentliche Vorstufe und Teilnachweise ersetzen keine vollständige TP-PERF-Abnahme.</a:t>
            </a:r>
          </a:p>
        </p:txBody>
      </p:sp>
      <p:sp>
        <p:nvSpPr>
          <p:cNvPr id="9" name="text-8">
            <a:extLst xmlns:a="http://schemas.openxmlformats.org/drawingml/2006/main">
              <a:ext uri="{FF2B5EF4-FFF2-40B4-BE49-F238E27FC236}">
                <a16:creationId xmlns:a16="http://schemas.microsoft.com/office/drawing/2014/main" id="{B653E932-7438-412F-8E64-66449E2A17A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47 · Quellfolie 52 · CUR-019</a:t>
            </a:r>
          </a:p>
        </p:txBody>
      </p:sp>
    </p:spTree>
    <p:extLst>
      <p:ext uri="{BB962C8B-B14F-4D97-AF65-F5344CB8AC3E}">
        <p14:creationId xmlns:p14="http://schemas.microsoft.com/office/powerpoint/2010/main" val="112385783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AAB393F-3970-47AD-BA39-89374423D18C}"/>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IDX-012: Index-Lifecycle und Kosten</a:t>
            </a:r>
          </a:p>
        </p:txBody>
      </p:sp>
      <p:sp>
        <p:nvSpPr>
          <p:cNvPr id="2" name="text-1">
            <a:extLst xmlns:a="http://schemas.openxmlformats.org/drawingml/2006/main">
              <a:ext uri="{FF2B5EF4-FFF2-40B4-BE49-F238E27FC236}">
                <a16:creationId xmlns:a16="http://schemas.microsoft.com/office/drawing/2014/main" id="{38A69E7F-CE07-459A-AE41-6426477F07AC}"/>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Lifecycle</a:t>
            </a:r>
          </a:p>
        </p:txBody>
      </p:sp>
      <p:sp>
        <p:nvSpPr>
          <p:cNvPr id="3" name="text-2">
            <a:extLst xmlns:a="http://schemas.openxmlformats.org/drawingml/2006/main">
              <a:ext uri="{FF2B5EF4-FFF2-40B4-BE49-F238E27FC236}">
                <a16:creationId xmlns:a16="http://schemas.microsoft.com/office/drawing/2014/main" id="{350AA937-84B0-4D16-A531-3F9810D21580}"/>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Build, DML-Grenze, Drop/Rebuild, Quellenzustand und Recovery als getrennte Phasen behandeln.</a:t>
            </a:r>
          </a:p>
        </p:txBody>
      </p:sp>
      <p:sp>
        <p:nvSpPr>
          <p:cNvPr id="4" name="text-3">
            <a:extLst xmlns:a="http://schemas.openxmlformats.org/drawingml/2006/main">
              <a:ext uri="{FF2B5EF4-FFF2-40B4-BE49-F238E27FC236}">
                <a16:creationId xmlns:a16="http://schemas.microsoft.com/office/drawing/2014/main" id="{A61B1764-8647-4DA2-8B54-5FF1F781926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Kosten</a:t>
            </a:r>
          </a:p>
        </p:txBody>
      </p:sp>
      <p:sp>
        <p:nvSpPr>
          <p:cNvPr id="5" name="text-4">
            <a:extLst xmlns:a="http://schemas.openxmlformats.org/drawingml/2006/main">
              <a:ext uri="{FF2B5EF4-FFF2-40B4-BE49-F238E27FC236}">
                <a16:creationId xmlns:a16="http://schemas.microsoft.com/office/drawing/2014/main" id="{0C7F797F-EFA8-4ECD-B8B0-6BB7572D85D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CPU, tatsächliche Datei-Writes, Storage und eigene TempDB-Allocations an den passenden Messbereich binden.</a:t>
            </a:r>
          </a:p>
        </p:txBody>
      </p:sp>
      <p:sp>
        <p:nvSpPr>
          <p:cNvPr id="6" name="text-5">
            <a:extLst xmlns:a="http://schemas.openxmlformats.org/drawingml/2006/main">
              <a:ext uri="{FF2B5EF4-FFF2-40B4-BE49-F238E27FC236}">
                <a16:creationId xmlns:a16="http://schemas.microsoft.com/office/drawing/2014/main" id="{B15EFB40-00A2-46AC-AEC3-1D0510188D25}"/>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Grenze</a:t>
            </a:r>
          </a:p>
        </p:txBody>
      </p:sp>
      <p:sp>
        <p:nvSpPr>
          <p:cNvPr id="7" name="text-6">
            <a:extLst xmlns:a="http://schemas.openxmlformats.org/drawingml/2006/main">
              <a:ext uri="{FF2B5EF4-FFF2-40B4-BE49-F238E27FC236}">
                <a16:creationId xmlns:a16="http://schemas.microsoft.com/office/drawing/2014/main" id="{0A557FED-C6C9-4F97-9B93-5572E375075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Der lokale Legacy-Pfad und seine Teilbelege garantieren keine neue Azure-DML- oder Maintenancefunktion.</a:t>
            </a:r>
          </a:p>
        </p:txBody>
      </p:sp>
      <p:sp>
        <p:nvSpPr>
          <p:cNvPr id="8" name="text-7">
            <a:extLst xmlns:a="http://schemas.openxmlformats.org/drawingml/2006/main">
              <a:ext uri="{FF2B5EF4-FFF2-40B4-BE49-F238E27FC236}">
                <a16:creationId xmlns:a16="http://schemas.microsoft.com/office/drawing/2014/main" id="{9F95D66E-A86F-49B1-8DF3-045D8F49C343}"/>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DDL-MAXDOP garantiert keinen tatsächlichen DOP. Vollständiger Nettonutzen bleibt offen.</a:t>
            </a:r>
          </a:p>
        </p:txBody>
      </p:sp>
      <p:sp>
        <p:nvSpPr>
          <p:cNvPr id="9" name="text-8">
            <a:extLst xmlns:a="http://schemas.openxmlformats.org/drawingml/2006/main">
              <a:ext uri="{FF2B5EF4-FFF2-40B4-BE49-F238E27FC236}">
                <a16:creationId xmlns:a16="http://schemas.microsoft.com/office/drawing/2014/main" id="{AE607B1E-56BD-4D3D-85A2-66DB296CD96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48 · Quellfolie 53 · CUR-019</a:t>
            </a:r>
          </a:p>
        </p:txBody>
      </p:sp>
    </p:spTree>
    <p:extLst>
      <p:ext uri="{BB962C8B-B14F-4D97-AF65-F5344CB8AC3E}">
        <p14:creationId xmlns:p14="http://schemas.microsoft.com/office/powerpoint/2010/main" val="20074647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0496295-2470-494D-A54B-72BEFFED5C1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Messbereiche und Gegenproben</a:t>
            </a:r>
          </a:p>
        </p:txBody>
      </p:sp>
      <p:graphicFrame>
        <p:nvGraphicFramePr>
          <p:cNvPr id="2" name="">
            <a:extLst xmlns:a="http://schemas.openxmlformats.org/drawingml/2006/main">
              <a:ext uri="{FF2B5EF4-FFF2-40B4-BE49-F238E27FC236}">
                <a16:creationId xmlns:a16="http://schemas.microsoft.com/office/drawing/2014/main" id="{087B6E60-105B-42C2-8624-FBDC61D2E4F6}"/>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2381250"/>
                <a:gridCol w="4476750"/>
                <a:gridCol w="3810000"/>
              </a:tblGrid>
              <a:tr h="800100">
                <a:tc>
                  <a:txBody>
                    <a:bodyPr/>
                    <a:lstStyle/>
                    <a:p>
                      <a:r>
                        <a:rPr sz="1800" b="1">
                          <a:solidFill>
                            <a:srgbClr val="15283D"/>
                          </a:solidFill>
                          <a:latin typeface="Arial"/>
                          <a:ea typeface="Arial"/>
                          <a:cs typeface="Arial"/>
                        </a:rPr>
                        <a:t>Messbereich</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Evidenz</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Aussagegrenze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SQL-Arbeit</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CPU, Reads, Resultate und Actual Plan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Queryscope und Counterauflösung nennen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Anwendung</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Requestdauer, Fehler und Throughput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p50/p95/p99 brauchen Einzelrequests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Netz-, Modellzeit, Token und Retry</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SQL-Duration isoliert diese Anteile nicht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Vergleich</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AB/BA, AA, gleiche Quelle und Konfiguration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Warmups, Nullen und Ausreißer erhalten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805B122F-C5AD-4D25-9FF5-A4D19B8DA128}"/>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Fehlender Wert, gemessene Null und nicht erfasste Evidenz bleiben verschieden.</a:t>
            </a:r>
          </a:p>
        </p:txBody>
      </p:sp>
      <p:sp>
        <p:nvSpPr>
          <p:cNvPr id="4" name="text-2">
            <a:extLst xmlns:a="http://schemas.openxmlformats.org/drawingml/2006/main">
              <a:ext uri="{FF2B5EF4-FFF2-40B4-BE49-F238E27FC236}">
                <a16:creationId xmlns:a16="http://schemas.microsoft.com/office/drawing/2014/main" id="{0D5E0D8F-6F82-4F0B-82EE-62AE93EA5A0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49 · Quellfolie 54 · CUR-020 / CUR-021</a:t>
            </a:r>
          </a:p>
        </p:txBody>
      </p:sp>
    </p:spTree>
    <p:extLst>
      <p:ext uri="{BB962C8B-B14F-4D97-AF65-F5344CB8AC3E}">
        <p14:creationId xmlns:p14="http://schemas.microsoft.com/office/powerpoint/2010/main" val="125187431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A9125C8-A3CB-49E1-9535-8A7A133AF67D}"/>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RES-008: Gebundene Dimensionsergebnisse lesen</a:t>
            </a:r>
          </a:p>
        </p:txBody>
      </p:sp>
      <p:graphicFrame>
        <p:nvGraphicFramePr>
          <p:cNvPr id="2" name="">
            <a:extLst xmlns:a="http://schemas.openxmlformats.org/drawingml/2006/main">
              <a:ext uri="{FF2B5EF4-FFF2-40B4-BE49-F238E27FC236}">
                <a16:creationId xmlns:a16="http://schemas.microsoft.com/office/drawing/2014/main" id="{CD8DD6C3-EF73-46AD-86C0-080A54D88C41}"/>
              </a:ext>
            </a:extLst>
          </p:cNvPr>
          <p:cNvGraphicFramePr/>
          <p:nvPr/>
        </p:nvGraphicFramePr>
        <p:xfrm>
          <a:off xmlns:a="http://schemas.openxmlformats.org/drawingml/2006/main" x="685800" y="1771650"/>
          <a:ext xmlns:a="http://schemas.openxmlformats.org/drawingml/2006/main" cx="10668000" cy="3143250"/>
        </p:xfrm>
        <a:graphic xmlns:a="http://schemas.openxmlformats.org/drawingml/2006/main">
          <a:graphicData uri="http://schemas.openxmlformats.org/drawingml/2006/table">
            <a:tbl>
              <a:tblPr/>
              <a:tblGrid>
                <a:gridCol w="2857500"/>
                <a:gridCol w="2286000"/>
                <a:gridCol w="3048000"/>
                <a:gridCol w="2476500"/>
              </a:tblGrid>
              <a:tr h="785813">
                <a:tc>
                  <a:txBody>
                    <a:bodyPr/>
                    <a:lstStyle/>
                    <a:p>
                      <a:r>
                        <a:rPr sz="1800" b="1">
                          <a:solidFill>
                            <a:srgbClr val="15283D"/>
                          </a:solidFill>
                          <a:latin typeface="Arial"/>
                          <a:ea typeface="Arial"/>
                          <a:cs typeface="Arial"/>
                        </a:rPr>
                        <a:t>Lauf 1: A=32 / B</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CPU-Median ms A/B</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Elapsed-Median µs A/B</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Logical Reads A/B</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785813">
                <a:tc>
                  <a:txBody>
                    <a:bodyPr/>
                    <a:lstStyle/>
                    <a:p>
                      <a:r>
                        <a:rPr sz="1800" b="0">
                          <a:solidFill>
                            <a:srgbClr val="15283D"/>
                          </a:solidFill>
                          <a:latin typeface="Arial"/>
                          <a:ea typeface="Arial"/>
                          <a:cs typeface="Arial"/>
                        </a:rPr>
                        <a:t>B=384</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6,5 / 7,0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8169,0 / 6151,0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615 / 2415</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B=768</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5,5 / 8,0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4118,5 / 8189,0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615 / 5415</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785813">
                <a:tc>
                  <a:txBody>
                    <a:bodyPr/>
                    <a:lstStyle/>
                    <a:p>
                      <a:r>
                        <a:rPr sz="1800" b="0">
                          <a:solidFill>
                            <a:srgbClr val="15283D"/>
                          </a:solidFill>
                          <a:latin typeface="Arial"/>
                          <a:ea typeface="Arial"/>
                          <a:cs typeface="Arial"/>
                        </a:rPr>
                        <a:t>B=1536</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6,0 / 15,0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4094,5 / 14483,0</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615 / 10415</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C9FBC910-D632-45DC-8BBE-747EFEE4427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Je Spalte sechs 100-Query-Batchfenster. Begrenzte Beobachtung, keine Dimensionsregel.</a:t>
            </a:r>
          </a:p>
        </p:txBody>
      </p:sp>
      <p:sp>
        <p:nvSpPr>
          <p:cNvPr id="4" name="text-2">
            <a:extLst xmlns:a="http://schemas.openxmlformats.org/drawingml/2006/main">
              <a:ext uri="{FF2B5EF4-FFF2-40B4-BE49-F238E27FC236}">
                <a16:creationId xmlns:a16="http://schemas.microsoft.com/office/drawing/2014/main" id="{5F91BCD9-0EAE-48A3-9B6C-08317AB12CB7}"/>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50 · Quellfolie 55 · CUR-020</a:t>
            </a:r>
          </a:p>
        </p:txBody>
      </p:sp>
    </p:spTree>
    <p:extLst>
      <p:ext uri="{BB962C8B-B14F-4D97-AF65-F5344CB8AC3E}">
        <p14:creationId xmlns:p14="http://schemas.microsoft.com/office/powerpoint/2010/main" val="178233019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E277751B-8F74-41D7-B22E-4F2EB344A93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Modellpfade und ihre Freigaben</a:t>
            </a:r>
          </a:p>
        </p:txBody>
      </p:sp>
      <p:graphicFrame>
        <p:nvGraphicFramePr>
          <p:cNvPr id="2" name="">
            <a:extLst xmlns:a="http://schemas.openxmlformats.org/drawingml/2006/main">
              <a:ext uri="{FF2B5EF4-FFF2-40B4-BE49-F238E27FC236}">
                <a16:creationId xmlns:a16="http://schemas.microsoft.com/office/drawing/2014/main" id="{F82B2654-9944-4922-88C9-8C8D12B92D87}"/>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3048000"/>
                <a:gridCol w="3905250"/>
                <a:gridCol w="3714750"/>
              </a:tblGrid>
              <a:tr h="800100">
                <a:tc>
                  <a:txBody>
                    <a:bodyPr/>
                    <a:lstStyle/>
                    <a:p>
                      <a:r>
                        <a:rPr sz="1800" b="1">
                          <a:solidFill>
                            <a:srgbClr val="15283D"/>
                          </a:solidFill>
                          <a:latin typeface="Arial"/>
                          <a:ea typeface="Arial"/>
                          <a:cs typeface="Arial"/>
                        </a:rPr>
                        <a:t>Pfad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Was er zeigt</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Geometrie und Offlinefixtures</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SQL-Mechanik und feste Kontrollfälle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Keine echte Sprachsemantik oder 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QRY-020: lokaler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echte Embeddings über Ollama</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TLS, API und Runtime prüfen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QRY-021: externer Provider</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externe Embeddings</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Egress, Secrets und Geldbudget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QRY-022: ONNX</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Geplante lokale Native-Inferenz</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PROPOSED. Windows und ML Services, Rot</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CAB86277-BC1B-43B6-BAC8-A3F53DB33C9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51 · Quellfolie 40 · CUR-016</a:t>
            </a:r>
          </a:p>
        </p:txBody>
      </p:sp>
    </p:spTree>
    <p:extLst>
      <p:ext uri="{BB962C8B-B14F-4D97-AF65-F5344CB8AC3E}">
        <p14:creationId xmlns:p14="http://schemas.microsoft.com/office/powerpoint/2010/main" val="92040990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845DB10-544A-4D08-AA3E-898E25C6B3B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Embedding-Lifecycle</a:t>
            </a:r>
          </a:p>
        </p:txBody>
      </p:sp>
      <p:sp>
        <p:nvSpPr>
          <p:cNvPr id="2" name="text-1">
            <a:extLst xmlns:a="http://schemas.openxmlformats.org/drawingml/2006/main">
              <a:ext uri="{FF2B5EF4-FFF2-40B4-BE49-F238E27FC236}">
                <a16:creationId xmlns:a16="http://schemas.microsoft.com/office/drawing/2014/main" id="{30DC80F4-EB03-4ED9-8856-20A92044C0C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Anfrage</a:t>
            </a:r>
          </a:p>
        </p:txBody>
      </p:sp>
      <p:sp>
        <p:nvSpPr>
          <p:cNvPr id="3" name="text-2">
            <a:extLst xmlns:a="http://schemas.openxmlformats.org/drawingml/2006/main">
              <a:ext uri="{FF2B5EF4-FFF2-40B4-BE49-F238E27FC236}">
                <a16:creationId xmlns:a16="http://schemas.microsoft.com/office/drawing/2014/main" id="{E811FC44-BA1D-4BDA-9673-4D63FE0241A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Modell, Dimension, Tokenlimit, Lizenz, TLS und authentifizierten Endpoint prüfen.</a:t>
            </a:r>
          </a:p>
        </p:txBody>
      </p:sp>
      <p:sp>
        <p:nvSpPr>
          <p:cNvPr id="4" name="text-3">
            <a:extLst xmlns:a="http://schemas.openxmlformats.org/drawingml/2006/main">
              <a:ext uri="{FF2B5EF4-FFF2-40B4-BE49-F238E27FC236}">
                <a16:creationId xmlns:a16="http://schemas.microsoft.com/office/drawing/2014/main" id="{198A164D-A4FE-4520-9D98-C3E985C527D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 dem INSERT</a:t>
            </a:r>
          </a:p>
        </p:txBody>
      </p:sp>
      <p:sp>
        <p:nvSpPr>
          <p:cNvPr id="5" name="text-4">
            <a:extLst xmlns:a="http://schemas.openxmlformats.org/drawingml/2006/main">
              <a:ext uri="{FF2B5EF4-FFF2-40B4-BE49-F238E27FC236}">
                <a16:creationId xmlns:a16="http://schemas.microsoft.com/office/drawing/2014/main" id="{E09D8759-30DC-414F-B4BC-4BD6C2FA5F1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Resultattyp, Anzahl, Dimension, Truncation und Modellraum kontrollieren.</a:t>
            </a:r>
          </a:p>
        </p:txBody>
      </p:sp>
      <p:sp>
        <p:nvSpPr>
          <p:cNvPr id="6" name="text-5">
            <a:extLst xmlns:a="http://schemas.openxmlformats.org/drawingml/2006/main">
              <a:ext uri="{FF2B5EF4-FFF2-40B4-BE49-F238E27FC236}">
                <a16:creationId xmlns:a16="http://schemas.microsoft.com/office/drawing/2014/main" id="{724C6B61-C2FD-4832-AC8F-DAF9FD5FC17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Nach Änderungen</a:t>
            </a:r>
          </a:p>
        </p:txBody>
      </p:sp>
      <p:sp>
        <p:nvSpPr>
          <p:cNvPr id="7" name="text-6">
            <a:extLst xmlns:a="http://schemas.openxmlformats.org/drawingml/2006/main">
              <a:ext uri="{FF2B5EF4-FFF2-40B4-BE49-F238E27FC236}">
                <a16:creationId xmlns:a16="http://schemas.microsoft.com/office/drawing/2014/main" id="{39E94024-2C79-4401-98A9-4E29391FEF2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Re-Embedding nachvollziehbar versionieren. Request-, Retry-, Netz- und Modellzeit getrennt zählen.</a:t>
            </a:r>
          </a:p>
        </p:txBody>
      </p:sp>
      <p:sp>
        <p:nvSpPr>
          <p:cNvPr id="8" name="text-7">
            <a:extLst xmlns:a="http://schemas.openxmlformats.org/drawingml/2006/main">
              <a:ext uri="{FF2B5EF4-FFF2-40B4-BE49-F238E27FC236}">
                <a16:creationId xmlns:a16="http://schemas.microsoft.com/office/drawing/2014/main" id="{FA5AE4D4-B023-463A-8CA7-5A720DDDAD96}"/>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SQL External Model beschreibt den Embeddingzugang. Die generative Antwort bleibt ein Anwendungsschritt.</a:t>
            </a:r>
          </a:p>
        </p:txBody>
      </p:sp>
      <p:sp>
        <p:nvSpPr>
          <p:cNvPr id="9" name="text-8">
            <a:extLst xmlns:a="http://schemas.openxmlformats.org/drawingml/2006/main">
              <a:ext uri="{FF2B5EF4-FFF2-40B4-BE49-F238E27FC236}">
                <a16:creationId xmlns:a16="http://schemas.microsoft.com/office/drawing/2014/main" id="{93AA6AEB-B3D9-4D15-BC03-05A8C978928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52 · Quellfolie 41 · CUR-016</a:t>
            </a:r>
          </a:p>
        </p:txBody>
      </p:sp>
    </p:spTree>
    <p:extLst>
      <p:ext uri="{BB962C8B-B14F-4D97-AF65-F5344CB8AC3E}">
        <p14:creationId xmlns:p14="http://schemas.microsoft.com/office/powerpoint/2010/main" val="107420140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8C778D2-46D1-4798-A45C-3B9DC3ABF23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DGN-008: Getrennte Modellrechte</a:t>
            </a:r>
          </a:p>
        </p:txBody>
      </p:sp>
      <p:sp>
        <p:nvSpPr>
          <p:cNvPr id="2" name="text-1">
            <a:extLst xmlns:a="http://schemas.openxmlformats.org/drawingml/2006/main">
              <a:ext uri="{FF2B5EF4-FFF2-40B4-BE49-F238E27FC236}">
                <a16:creationId xmlns:a16="http://schemas.microsoft.com/office/drawing/2014/main" id="{A3CF1580-5100-49CF-8D56-38CB3A93B632}"/>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7F011BC9-A4DA-4B86-AAA7-F54A7386A98E}"/>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Welche Rechte brauchen Setup, Ingestion und Retrieval jeweils?</a:t>
            </a:r>
          </a:p>
        </p:txBody>
      </p:sp>
      <p:sp>
        <p:nvSpPr>
          <p:cNvPr id="4" name="text-3">
            <a:extLst xmlns:a="http://schemas.openxmlformats.org/drawingml/2006/main">
              <a:ext uri="{FF2B5EF4-FFF2-40B4-BE49-F238E27FC236}">
                <a16:creationId xmlns:a16="http://schemas.microsoft.com/office/drawing/2014/main" id="{83CA12BB-77C1-4B46-976C-42652DA2E1A0}"/>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68980E08-95EB-43D5-AD26-DC373D8E180F}"/>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Offline-Modellmetadaten, drei getrennte Rollen und die tatsächliche Grantreduktion prüfen.</a:t>
            </a:r>
          </a:p>
        </p:txBody>
      </p:sp>
      <p:sp>
        <p:nvSpPr>
          <p:cNvPr id="6" name="text-5">
            <a:extLst xmlns:a="http://schemas.openxmlformats.org/drawingml/2006/main">
              <a:ext uri="{FF2B5EF4-FFF2-40B4-BE49-F238E27FC236}">
                <a16:creationId xmlns:a16="http://schemas.microsoft.com/office/drawing/2014/main" id="{BDCBA993-7D46-4642-AC06-E17C291ADB1F}"/>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Interpretation</a:t>
            </a:r>
          </a:p>
        </p:txBody>
      </p:sp>
      <p:sp>
        <p:nvSpPr>
          <p:cNvPr id="7" name="text-6">
            <a:extLst xmlns:a="http://schemas.openxmlformats.org/drawingml/2006/main">
              <a:ext uri="{FF2B5EF4-FFF2-40B4-BE49-F238E27FC236}">
                <a16:creationId xmlns:a16="http://schemas.microsoft.com/office/drawing/2014/main" id="{AA427C6C-25C3-4F0D-94F6-91105AAE130A}"/>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Model-EXECUTE belegt hier ein Metadatenrecht. Providererreichbarkeit und Inferenz bleiben offen.</a:t>
            </a:r>
          </a:p>
        </p:txBody>
      </p:sp>
      <p:sp>
        <p:nvSpPr>
          <p:cNvPr id="8" name="text-7">
            <a:extLst xmlns:a="http://schemas.openxmlformats.org/drawingml/2006/main">
              <a:ext uri="{FF2B5EF4-FFF2-40B4-BE49-F238E27FC236}">
                <a16:creationId xmlns:a16="http://schemas.microsoft.com/office/drawing/2014/main" id="{054FB05E-AB46-461E-AE0B-A9514EACB7AB}"/>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Ohne Credential, Netzrequest oder Embeddinggenerierung.</a:t>
            </a:r>
          </a:p>
        </p:txBody>
      </p:sp>
      <p:sp>
        <p:nvSpPr>
          <p:cNvPr id="9" name="text-8">
            <a:extLst xmlns:a="http://schemas.openxmlformats.org/drawingml/2006/main">
              <a:ext uri="{FF2B5EF4-FFF2-40B4-BE49-F238E27FC236}">
                <a16:creationId xmlns:a16="http://schemas.microsoft.com/office/drawing/2014/main" id="{513EE7AD-9949-4730-A501-0FE4071D82B0}"/>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53 · Quellfolie 42 · CUR-016 / CUR-018</a:t>
            </a:r>
          </a:p>
        </p:txBody>
      </p:sp>
    </p:spTree>
    <p:extLst>
      <p:ext uri="{BB962C8B-B14F-4D97-AF65-F5344CB8AC3E}">
        <p14:creationId xmlns:p14="http://schemas.microsoft.com/office/powerpoint/2010/main" val="171029251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00F9DC6-89DF-4D39-940F-DCD6BA4C6F1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KI-Assistenz für SQL-Entwicklung und Analyse</a:t>
            </a:r>
          </a:p>
        </p:txBody>
      </p:sp>
      <p:sp>
        <p:nvSpPr>
          <p:cNvPr id="2" name="text-1">
            <a:extLst xmlns:a="http://schemas.openxmlformats.org/drawingml/2006/main">
              <a:ext uri="{FF2B5EF4-FFF2-40B4-BE49-F238E27FC236}">
                <a16:creationId xmlns:a16="http://schemas.microsoft.com/office/drawing/2014/main" id="{CF2F5781-632C-4634-AFC3-88A0246DEEC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Entwurf</a:t>
            </a:r>
          </a:p>
        </p:txBody>
      </p:sp>
      <p:sp>
        <p:nvSpPr>
          <p:cNvPr id="3" name="text-2">
            <a:extLst xmlns:a="http://schemas.openxmlformats.org/drawingml/2006/main">
              <a:ext uri="{FF2B5EF4-FFF2-40B4-BE49-F238E27FC236}">
                <a16:creationId xmlns:a16="http://schemas.microsoft.com/office/drawing/2014/main" id="{6C6B3357-2560-4F9A-AC62-01D7CE9CF01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 erklären, eine Fehlerhypothese formulieren oder einen begrenzten Änderungsvorschlag erzeugen.</a:t>
            </a:r>
          </a:p>
        </p:txBody>
      </p:sp>
      <p:sp>
        <p:nvSpPr>
          <p:cNvPr id="4" name="text-3">
            <a:extLst xmlns:a="http://schemas.openxmlformats.org/drawingml/2006/main">
              <a:ext uri="{FF2B5EF4-FFF2-40B4-BE49-F238E27FC236}">
                <a16:creationId xmlns:a16="http://schemas.microsoft.com/office/drawing/2014/main" id="{05357ABD-3669-4F21-AA83-C25C00DCFA3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Evidenz</a:t>
            </a:r>
          </a:p>
        </p:txBody>
      </p:sp>
      <p:sp>
        <p:nvSpPr>
          <p:cNvPr id="5" name="text-4">
            <a:extLst xmlns:a="http://schemas.openxmlformats.org/drawingml/2006/main">
              <a:ext uri="{FF2B5EF4-FFF2-40B4-BE49-F238E27FC236}">
                <a16:creationId xmlns:a16="http://schemas.microsoft.com/office/drawing/2014/main" id="{91F1E757-1186-42F0-A411-1C549145CBA8}"/>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Version, Resultate, Actual Plan, Query Store, Waits und konkrete Rechte passend zum Fall prüfen.</a:t>
            </a:r>
          </a:p>
        </p:txBody>
      </p:sp>
      <p:sp>
        <p:nvSpPr>
          <p:cNvPr id="6" name="text-5">
            <a:extLst xmlns:a="http://schemas.openxmlformats.org/drawingml/2006/main">
              <a:ext uri="{FF2B5EF4-FFF2-40B4-BE49-F238E27FC236}">
                <a16:creationId xmlns:a16="http://schemas.microsoft.com/office/drawing/2014/main" id="{166AB813-FA81-41FA-A7C6-C861791C948D}"/>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Entscheidung</a:t>
            </a:r>
          </a:p>
        </p:txBody>
      </p:sp>
      <p:sp>
        <p:nvSpPr>
          <p:cNvPr id="7" name="text-6">
            <a:extLst xmlns:a="http://schemas.openxmlformats.org/drawingml/2006/main">
              <a:ext uri="{FF2B5EF4-FFF2-40B4-BE49-F238E27FC236}">
                <a16:creationId xmlns:a16="http://schemas.microsoft.com/office/drawing/2014/main" id="{1E9A3A0C-83DE-4716-910D-A4D5166692D3}"/>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Hypothese mit Gegenprobe widerlegen können. Lesegewinn gegen DML-, Build- und Storagekosten abwägen.</a:t>
            </a:r>
          </a:p>
        </p:txBody>
      </p:sp>
      <p:sp>
        <p:nvSpPr>
          <p:cNvPr id="8" name="text-7">
            <a:extLst xmlns:a="http://schemas.openxmlformats.org/drawingml/2006/main">
              <a:ext uri="{FF2B5EF4-FFF2-40B4-BE49-F238E27FC236}">
                <a16:creationId xmlns:a16="http://schemas.microsoft.com/office/drawing/2014/main" id="{149F9F18-6DD5-4982-B667-E7DF7B2F481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LLM-Ausgabe und Missing-Index-Hinweis sind Eingaben für eine Untersuchung.</a:t>
            </a:r>
          </a:p>
        </p:txBody>
      </p:sp>
      <p:sp>
        <p:nvSpPr>
          <p:cNvPr id="9" name="text-8">
            <a:extLst xmlns:a="http://schemas.openxmlformats.org/drawingml/2006/main">
              <a:ext uri="{FF2B5EF4-FFF2-40B4-BE49-F238E27FC236}">
                <a16:creationId xmlns:a16="http://schemas.microsoft.com/office/drawing/2014/main" id="{1B882CB3-E610-4B9A-8A89-60F43746EC8A}"/>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54 · Quellfolie 57 · CUR-021</a:t>
            </a:r>
          </a:p>
        </p:txBody>
      </p:sp>
    </p:spTree>
    <p:extLst>
      <p:ext uri="{BB962C8B-B14F-4D97-AF65-F5344CB8AC3E}">
        <p14:creationId xmlns:p14="http://schemas.microsoft.com/office/powerpoint/2010/main" val="59094401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A613779-1097-478C-A4F4-B6A2FCCB9A60}"/>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DGN-010: Indexvorschlag und Gegenmessung</a:t>
            </a:r>
          </a:p>
        </p:txBody>
      </p:sp>
      <p:sp>
        <p:nvSpPr>
          <p:cNvPr id="2" name="text-1">
            <a:extLst xmlns:a="http://schemas.openxmlformats.org/drawingml/2006/main">
              <a:ext uri="{FF2B5EF4-FFF2-40B4-BE49-F238E27FC236}">
                <a16:creationId xmlns:a16="http://schemas.microsoft.com/office/drawing/2014/main" id="{40224181-95D2-48D2-A625-2115F7BBE8D7}"/>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Hypothese</a:t>
            </a:r>
          </a:p>
        </p:txBody>
      </p:sp>
      <p:sp>
        <p:nvSpPr>
          <p:cNvPr id="3" name="text-2">
            <a:extLst xmlns:a="http://schemas.openxmlformats.org/drawingml/2006/main">
              <a:ext uri="{FF2B5EF4-FFF2-40B4-BE49-F238E27FC236}">
                <a16:creationId xmlns:a16="http://schemas.microsoft.com/office/drawing/2014/main" id="{E966787E-2552-4EE0-8199-988EDEC277BF}"/>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 synthetischer LLM-Vorschlag ergänzt einen INCLUDE-Index. Ein Lesegewinn muss erst belegt werden.</a:t>
            </a:r>
          </a:p>
        </p:txBody>
      </p:sp>
      <p:sp>
        <p:nvSpPr>
          <p:cNvPr id="4" name="text-3">
            <a:extLst xmlns:a="http://schemas.openxmlformats.org/drawingml/2006/main">
              <a:ext uri="{FF2B5EF4-FFF2-40B4-BE49-F238E27FC236}">
                <a16:creationId xmlns:a16="http://schemas.microsoft.com/office/drawing/2014/main" id="{BA102E4A-BA0E-498B-AA35-E19D594E49C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Vorliegende Evidenz</a:t>
            </a:r>
          </a:p>
        </p:txBody>
      </p:sp>
      <p:sp>
        <p:nvSpPr>
          <p:cNvPr id="5" name="text-4">
            <a:extLst xmlns:a="http://schemas.openxmlformats.org/drawingml/2006/main">
              <a:ext uri="{FF2B5EF4-FFF2-40B4-BE49-F238E27FC236}">
                <a16:creationId xmlns:a16="http://schemas.microsoft.com/office/drawing/2014/main" id="{70D90D15-2DAD-418B-9CBE-85720B038AB6}"/>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Gleiche Results, zwei private Original-Readerplanprofile, einzelne Reader-Indexnutzung und Owner-INSERT/Rollback.</a:t>
            </a:r>
          </a:p>
        </p:txBody>
      </p:sp>
      <p:sp>
        <p:nvSpPr>
          <p:cNvPr id="6" name="text-5">
            <a:extLst xmlns:a="http://schemas.openxmlformats.org/drawingml/2006/main">
              <a:ext uri="{FF2B5EF4-FFF2-40B4-BE49-F238E27FC236}">
                <a16:creationId xmlns:a16="http://schemas.microsoft.com/office/drawing/2014/main" id="{FB993308-F41E-4909-9C1A-D6DCC8A6CC19}"/>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Offene Entscheidung</a:t>
            </a:r>
          </a:p>
        </p:txBody>
      </p:sp>
      <p:sp>
        <p:nvSpPr>
          <p:cNvPr id="7" name="text-6">
            <a:extLst xmlns:a="http://schemas.openxmlformats.org/drawingml/2006/main">
              <a:ext uri="{FF2B5EF4-FFF2-40B4-BE49-F238E27FC236}">
                <a16:creationId xmlns:a16="http://schemas.microsoft.com/office/drawing/2014/main" id="{6DBBB965-A4EF-44F1-B1F1-4D666CC6B768}"/>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Vollständige Runtime-/TP-PERF-Abnahme und Indexnettonutzen bleiben NOT_ESTABLISHED.</a:t>
            </a:r>
          </a:p>
        </p:txBody>
      </p:sp>
      <p:sp>
        <p:nvSpPr>
          <p:cNvPr id="8" name="text-7">
            <a:extLst xmlns:a="http://schemas.openxmlformats.org/drawingml/2006/main">
              <a:ext uri="{FF2B5EF4-FFF2-40B4-BE49-F238E27FC236}">
                <a16:creationId xmlns:a16="http://schemas.microsoft.com/office/drawing/2014/main" id="{348DB060-7236-4E27-8439-950FEBF34EB2}"/>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PROPOSED. Öffentliche Producer bleiben WARN. Begrenzte Teilbelege ergeben keine volle TP-PERF-Abnahme.</a:t>
            </a:r>
          </a:p>
        </p:txBody>
      </p:sp>
      <p:sp>
        <p:nvSpPr>
          <p:cNvPr id="9" name="text-8">
            <a:extLst xmlns:a="http://schemas.openxmlformats.org/drawingml/2006/main">
              <a:ext uri="{FF2B5EF4-FFF2-40B4-BE49-F238E27FC236}">
                <a16:creationId xmlns:a16="http://schemas.microsoft.com/office/drawing/2014/main" id="{F359AC81-726C-46DA-B3A8-248B530B417F}"/>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55 · Quellfolie 58 · CUR-021</a:t>
            </a:r>
          </a:p>
        </p:txBody>
      </p:sp>
    </p:spTree>
    <p:extLst>
      <p:ext uri="{BB962C8B-B14F-4D97-AF65-F5344CB8AC3E}">
        <p14:creationId xmlns:p14="http://schemas.microsoft.com/office/powerpoint/2010/main" val="9222351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48598CB-3759-49A5-ABB6-E70F4A8C646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Copilot in SSMS und Ausführungskontext</a:t>
            </a:r>
          </a:p>
        </p:txBody>
      </p:sp>
      <p:sp>
        <p:nvSpPr>
          <p:cNvPr id="2" name="text-1">
            <a:extLst xmlns:a="http://schemas.openxmlformats.org/drawingml/2006/main">
              <a:ext uri="{FF2B5EF4-FFF2-40B4-BE49-F238E27FC236}">
                <a16:creationId xmlns:a16="http://schemas.microsoft.com/office/drawing/2014/main" id="{76FE2D62-15AF-4DE8-AE80-A2A59C819430}"/>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Clientfunktion</a:t>
            </a:r>
          </a:p>
        </p:txBody>
      </p:sp>
      <p:sp>
        <p:nvSpPr>
          <p:cNvPr id="3" name="text-2">
            <a:extLst xmlns:a="http://schemas.openxmlformats.org/drawingml/2006/main">
              <a:ext uri="{FF2B5EF4-FFF2-40B4-BE49-F238E27FC236}">
                <a16:creationId xmlns:a16="http://schemas.microsoft.com/office/drawing/2014/main" id="{C69BFB62-524E-44E6-9E1F-51396E4709A9}"/>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GitHub Copilot in SSMS gehört zum Client. Er erweitert keine Engineversion um native Vektorfunktionen.</a:t>
            </a:r>
          </a:p>
        </p:txBody>
      </p:sp>
      <p:sp>
        <p:nvSpPr>
          <p:cNvPr id="4" name="text-3">
            <a:extLst xmlns:a="http://schemas.openxmlformats.org/drawingml/2006/main">
              <a:ext uri="{FF2B5EF4-FFF2-40B4-BE49-F238E27FC236}">
                <a16:creationId xmlns:a16="http://schemas.microsoft.com/office/drawing/2014/main" id="{7E45553A-384A-43FD-A0C9-39262FF5EE1C}"/>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Rechte</a:t>
            </a:r>
          </a:p>
        </p:txBody>
      </p:sp>
      <p:sp>
        <p:nvSpPr>
          <p:cNvPr id="5" name="text-4">
            <a:extLst xmlns:a="http://schemas.openxmlformats.org/drawingml/2006/main">
              <a:ext uri="{FF2B5EF4-FFF2-40B4-BE49-F238E27FC236}">
                <a16:creationId xmlns:a16="http://schemas.microsoft.com/office/drawing/2014/main" id="{30F1B431-DAE0-47C7-A769-E4A13E0BCB4E}"/>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 Server erzwingt die Rechte des tatsächlichen Ausführungskontexts. Approval ersetzt diese Grenze nicht.</a:t>
            </a:r>
          </a:p>
        </p:txBody>
      </p:sp>
      <p:sp>
        <p:nvSpPr>
          <p:cNvPr id="6" name="text-5">
            <a:extLst xmlns:a="http://schemas.openxmlformats.org/drawingml/2006/main">
              <a:ext uri="{FF2B5EF4-FFF2-40B4-BE49-F238E27FC236}">
                <a16:creationId xmlns:a16="http://schemas.microsoft.com/office/drawing/2014/main" id="{E5CF9AEF-957A-49AF-BD6D-0C2C2F12F6E1}"/>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Betrieb</a:t>
            </a:r>
          </a:p>
        </p:txBody>
      </p:sp>
      <p:sp>
        <p:nvSpPr>
          <p:cNvPr id="7" name="text-6">
            <a:extLst xmlns:a="http://schemas.openxmlformats.org/drawingml/2006/main">
              <a:ext uri="{FF2B5EF4-FFF2-40B4-BE49-F238E27FC236}">
                <a16:creationId xmlns:a16="http://schemas.microsoft.com/office/drawing/2014/main" id="{FAFCD4C5-8141-4E5B-AA01-38BEE08B4F75}"/>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Clientbuild, Administrationspolicy, Datenübertragung und Zugang vor einer Liveübung prüfen.</a:t>
            </a:r>
          </a:p>
        </p:txBody>
      </p:sp>
      <p:sp>
        <p:nvSpPr>
          <p:cNvPr id="8" name="text-7">
            <a:extLst xmlns:a="http://schemas.openxmlformats.org/drawingml/2006/main">
              <a:ext uri="{FF2B5EF4-FFF2-40B4-BE49-F238E27FC236}">
                <a16:creationId xmlns:a16="http://schemas.microsoft.com/office/drawing/2014/main" id="{3CBD99D8-0FCA-4E62-8BD4-65230BEEC94D}"/>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SSMS 22: Copilot GA ab 22.4.1. Agent Mode GA ab 22.10.2 gemäß registrierten Release Notes.</a:t>
            </a:r>
          </a:p>
        </p:txBody>
      </p:sp>
      <p:sp>
        <p:nvSpPr>
          <p:cNvPr id="9" name="text-8">
            <a:extLst xmlns:a="http://schemas.openxmlformats.org/drawingml/2006/main">
              <a:ext uri="{FF2B5EF4-FFF2-40B4-BE49-F238E27FC236}">
                <a16:creationId xmlns:a16="http://schemas.microsoft.com/office/drawing/2014/main" id="{596267C6-F298-4C12-AB68-F99FF6A7C51E}"/>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56 · Quellfolie 59 · CUR-021 / CUR-022</a:t>
            </a:r>
          </a:p>
        </p:txBody>
      </p:sp>
    </p:spTree>
    <p:extLst>
      <p:ext uri="{BB962C8B-B14F-4D97-AF65-F5344CB8AC3E}">
        <p14:creationId xmlns:p14="http://schemas.microsoft.com/office/powerpoint/2010/main" val="72113599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0C1734C-421D-4EAE-A07F-BFCFABA891EB}"/>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CON-010: Tenant-Isolation vor dem Kontext</a:t>
            </a:r>
          </a:p>
        </p:txBody>
      </p:sp>
      <p:sp>
        <p:nvSpPr>
          <p:cNvPr id="2" name="text-1">
            <a:extLst xmlns:a="http://schemas.openxmlformats.org/drawingml/2006/main">
              <a:ext uri="{FF2B5EF4-FFF2-40B4-BE49-F238E27FC236}">
                <a16:creationId xmlns:a16="http://schemas.microsoft.com/office/drawing/2014/main" id="{EF4AD9E0-1C0F-4EB5-AAE9-7186F389D8DD}"/>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Fixture</a:t>
            </a:r>
          </a:p>
        </p:txBody>
      </p:sp>
      <p:sp>
        <p:nvSpPr>
          <p:cNvPr id="3" name="text-2">
            <a:extLst xmlns:a="http://schemas.openxmlformats.org/drawingml/2006/main">
              <a:ext uri="{FF2B5EF4-FFF2-40B4-BE49-F238E27FC236}">
                <a16:creationId xmlns:a16="http://schemas.microsoft.com/office/drawing/2014/main" id="{A4F6431A-E2B3-49E9-A002-D47D5B7C1781}"/>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Zwei Dokumente besitzen identische VECTOR(3)-Werte. RLS bindet Tenant A/B an SQL-Benutzer.</a:t>
            </a:r>
          </a:p>
        </p:txBody>
      </p:sp>
      <p:sp>
        <p:nvSpPr>
          <p:cNvPr id="4" name="text-3">
            <a:extLst xmlns:a="http://schemas.openxmlformats.org/drawingml/2006/main">
              <a:ext uri="{FF2B5EF4-FFF2-40B4-BE49-F238E27FC236}">
                <a16:creationId xmlns:a16="http://schemas.microsoft.com/office/drawing/2014/main" id="{C08F8D6C-A878-4CF2-B585-7D11531419BD}"/>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835FCD73-7E5F-4F8C-BCBB-4209D397D135}"/>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Je Tenant eine erlaubte Quelle. Unmapped erhält keine Zeile. Ein manipulierter Sessionwert ändert Tenant A nicht.</a:t>
            </a:r>
          </a:p>
        </p:txBody>
      </p:sp>
      <p:sp>
        <p:nvSpPr>
          <p:cNvPr id="6" name="text-5">
            <a:extLst xmlns:a="http://schemas.openxmlformats.org/drawingml/2006/main">
              <a:ext uri="{FF2B5EF4-FFF2-40B4-BE49-F238E27FC236}">
                <a16:creationId xmlns:a16="http://schemas.microsoft.com/office/drawing/2014/main" id="{D390D05F-4F43-42C9-B77E-621ED5BE36AE}"/>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61A6B4F8-FDDF-49A5-A459-10D70F9F9854}"/>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Policyänderung, fremde Impersonation und SELECT nach Revoke müssen tatsächlich scheitern.</a:t>
            </a:r>
          </a:p>
        </p:txBody>
      </p:sp>
      <p:sp>
        <p:nvSpPr>
          <p:cNvPr id="8" name="text-7">
            <a:extLst xmlns:a="http://schemas.openxmlformats.org/drawingml/2006/main">
              <a:ext uri="{FF2B5EF4-FFF2-40B4-BE49-F238E27FC236}">
                <a16:creationId xmlns:a16="http://schemas.microsoft.com/office/drawing/2014/main" id="{9C598D89-61B8-47E1-9403-700C60F892A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Eine Session mit EXECUTE AS. Pooling, Serverlogins und ANN bleiben UNQUALIFIED.</a:t>
            </a:r>
          </a:p>
        </p:txBody>
      </p:sp>
      <p:sp>
        <p:nvSpPr>
          <p:cNvPr id="9" name="text-8">
            <a:extLst xmlns:a="http://schemas.openxmlformats.org/drawingml/2006/main">
              <a:ext uri="{FF2B5EF4-FFF2-40B4-BE49-F238E27FC236}">
                <a16:creationId xmlns:a16="http://schemas.microsoft.com/office/drawing/2014/main" id="{0AE52337-2A5C-4953-817B-D5399BA1193B}"/>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57 · Quellfolie 50 · CUR-018</a:t>
            </a:r>
          </a:p>
        </p:txBody>
      </p:sp>
    </p:spTree>
    <p:extLst>
      <p:ext uri="{BB962C8B-B14F-4D97-AF65-F5344CB8AC3E}">
        <p14:creationId xmlns:p14="http://schemas.microsoft.com/office/powerpoint/2010/main" val="2926009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F3079D8-6B2F-4371-9344-2EA830790AEF}"/>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RES-009 und DGN-011: End-to-End-Diagnose</a:t>
            </a:r>
          </a:p>
        </p:txBody>
      </p:sp>
      <p:sp>
        <p:nvSpPr>
          <p:cNvPr id="2" name="text-1">
            <a:extLst xmlns:a="http://schemas.openxmlformats.org/drawingml/2006/main">
              <a:ext uri="{FF2B5EF4-FFF2-40B4-BE49-F238E27FC236}">
                <a16:creationId xmlns:a16="http://schemas.microsoft.com/office/drawing/2014/main" id="{EE9EEA22-0441-4C9F-87C4-74EE153D8E6E}"/>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RES-009: Concurrent Workloads</a:t>
            </a:r>
          </a:p>
        </p:txBody>
      </p:sp>
      <p:sp>
        <p:nvSpPr>
          <p:cNvPr id="3" name="text-2">
            <a:extLst xmlns:a="http://schemas.openxmlformats.org/drawingml/2006/main">
              <a:ext uri="{FF2B5EF4-FFF2-40B4-BE49-F238E27FC236}">
                <a16:creationId xmlns:a16="http://schemas.microsoft.com/office/drawing/2014/main" id="{6C35E1EC-683A-437F-8D8E-53E216676388}"/>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Geplanter Vergleich von Throughput, Fehlerrate und Requestlatenzen bei begrenzter Sessionzahl.</a:t>
            </a:r>
          </a:p>
        </p:txBody>
      </p:sp>
      <p:sp>
        <p:nvSpPr>
          <p:cNvPr id="4" name="text-3">
            <a:extLst xmlns:a="http://schemas.openxmlformats.org/drawingml/2006/main">
              <a:ext uri="{FF2B5EF4-FFF2-40B4-BE49-F238E27FC236}">
                <a16:creationId xmlns:a16="http://schemas.microsoft.com/office/drawing/2014/main" id="{6579670C-9866-4E1C-BC58-EC2B1AA58F55}"/>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DGN-011: SQL, Netz und Inferenz</a:t>
            </a:r>
          </a:p>
        </p:txBody>
      </p:sp>
      <p:sp>
        <p:nvSpPr>
          <p:cNvPr id="5" name="text-4">
            <a:extLst xmlns:a="http://schemas.openxmlformats.org/drawingml/2006/main">
              <a:ext uri="{FF2B5EF4-FFF2-40B4-BE49-F238E27FC236}">
                <a16:creationId xmlns:a16="http://schemas.microsoft.com/office/drawing/2014/main" id="{69254D18-1AAF-4DE1-843A-FD17F9F09C4D}"/>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Geplante Zuordnung von SQL-Arbeit, HTTP-/TLS-Fehlern, Modellzeit und Retry zu einem Request.</a:t>
            </a:r>
          </a:p>
        </p:txBody>
      </p:sp>
      <p:sp>
        <p:nvSpPr>
          <p:cNvPr id="6" name="text-5">
            <a:extLst xmlns:a="http://schemas.openxmlformats.org/drawingml/2006/main">
              <a:ext uri="{FF2B5EF4-FFF2-40B4-BE49-F238E27FC236}">
                <a16:creationId xmlns:a16="http://schemas.microsoft.com/office/drawing/2014/main" id="{23AD2E9C-A445-4897-A5B3-95E752A91C1C}"/>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Bewertung</a:t>
            </a:r>
          </a:p>
        </p:txBody>
      </p:sp>
      <p:sp>
        <p:nvSpPr>
          <p:cNvPr id="7" name="text-6">
            <a:extLst xmlns:a="http://schemas.openxmlformats.org/drawingml/2006/main">
              <a:ext uri="{FF2B5EF4-FFF2-40B4-BE49-F238E27FC236}">
                <a16:creationId xmlns:a16="http://schemas.microsoft.com/office/drawing/2014/main" id="{469244DB-C3E1-4AEB-8941-B9024644FAF0}"/>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SQL-Mittelwerte, Batchzeiten und isolierte Waits erklären keine vollständige Anwendungslatenz.</a:t>
            </a:r>
          </a:p>
        </p:txBody>
      </p:sp>
      <p:sp>
        <p:nvSpPr>
          <p:cNvPr id="8" name="text-7">
            <a:extLst xmlns:a="http://schemas.openxmlformats.org/drawingml/2006/main">
              <a:ext uri="{FF2B5EF4-FFF2-40B4-BE49-F238E27FC236}">
                <a16:creationId xmlns:a16="http://schemas.microsoft.com/office/drawing/2014/main" id="{C9061511-CD07-43A9-8D37-26B23C78A29A}"/>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Beide PROPOSED. Ausführung erst mit eigenen Ressourcen-, Provider- und Cleanupgates.</a:t>
            </a:r>
          </a:p>
        </p:txBody>
      </p:sp>
      <p:sp>
        <p:nvSpPr>
          <p:cNvPr id="9" name="text-8">
            <a:extLst xmlns:a="http://schemas.openxmlformats.org/drawingml/2006/main">
              <a:ext uri="{FF2B5EF4-FFF2-40B4-BE49-F238E27FC236}">
                <a16:creationId xmlns:a16="http://schemas.microsoft.com/office/drawing/2014/main" id="{0B36151C-D6B4-4B1C-BF8A-4F441ACEE34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58 · Quellfolie 56 · CUR-020</a:t>
            </a:r>
          </a:p>
        </p:txBody>
      </p:sp>
    </p:spTree>
    <p:extLst>
      <p:ext uri="{BB962C8B-B14F-4D97-AF65-F5344CB8AC3E}">
        <p14:creationId xmlns:p14="http://schemas.microsoft.com/office/powerpoint/2010/main" val="139417854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CA90C8B-1C64-468A-9432-691C517FF183}"/>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DGN-009: Manipulierte Retrievalquelle</a:t>
            </a:r>
          </a:p>
        </p:txBody>
      </p:sp>
      <p:sp>
        <p:nvSpPr>
          <p:cNvPr id="2" name="text-1">
            <a:extLst xmlns:a="http://schemas.openxmlformats.org/drawingml/2006/main">
              <a:ext uri="{FF2B5EF4-FFF2-40B4-BE49-F238E27FC236}">
                <a16:creationId xmlns:a16="http://schemas.microsoft.com/office/drawing/2014/main" id="{10D11899-53BD-4C0D-80CA-79B40088270C}"/>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Vorhersage</a:t>
            </a:r>
          </a:p>
        </p:txBody>
      </p:sp>
      <p:sp>
        <p:nvSpPr>
          <p:cNvPr id="3" name="text-2">
            <a:extLst xmlns:a="http://schemas.openxmlformats.org/drawingml/2006/main">
              <a:ext uri="{FF2B5EF4-FFF2-40B4-BE49-F238E27FC236}">
                <a16:creationId xmlns:a16="http://schemas.microsoft.com/office/drawing/2014/main" id="{3A578EBD-F373-4446-B789-BBAE119E9FB3}"/>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Eine Quelle fordert eine Zusatzaktion. Welche Befugnis entsteht daraus?</a:t>
            </a:r>
          </a:p>
        </p:txBody>
      </p:sp>
      <p:sp>
        <p:nvSpPr>
          <p:cNvPr id="4" name="text-3">
            <a:extLst xmlns:a="http://schemas.openxmlformats.org/drawingml/2006/main">
              <a:ext uri="{FF2B5EF4-FFF2-40B4-BE49-F238E27FC236}">
                <a16:creationId xmlns:a16="http://schemas.microsoft.com/office/drawing/2014/main" id="{D504BB7F-B075-43AC-BFD6-1E73EAC78FEF}"/>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Beobachtung</a:t>
            </a:r>
          </a:p>
        </p:txBody>
      </p:sp>
      <p:sp>
        <p:nvSpPr>
          <p:cNvPr id="5" name="text-4">
            <a:extLst xmlns:a="http://schemas.openxmlformats.org/drawingml/2006/main">
              <a:ext uri="{FF2B5EF4-FFF2-40B4-BE49-F238E27FC236}">
                <a16:creationId xmlns:a16="http://schemas.microsoft.com/office/drawing/2014/main" id="{0D1F8943-8806-47AA-8959-E20A5B685A26}"/>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Den tatsächlich retrievten manipulierten Text von Antwortfixture und Toolpolicy trennen.</a:t>
            </a:r>
          </a:p>
        </p:txBody>
      </p:sp>
      <p:sp>
        <p:nvSpPr>
          <p:cNvPr id="6" name="text-5">
            <a:extLst xmlns:a="http://schemas.openxmlformats.org/drawingml/2006/main">
              <a:ext uri="{FF2B5EF4-FFF2-40B4-BE49-F238E27FC236}">
                <a16:creationId xmlns:a16="http://schemas.microsoft.com/office/drawing/2014/main" id="{B88C7558-74EE-4AA9-AC87-C8D024BBB9B0}"/>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Gegenprobe</a:t>
            </a:r>
          </a:p>
        </p:txBody>
      </p:sp>
      <p:sp>
        <p:nvSpPr>
          <p:cNvPr id="7" name="text-6">
            <a:extLst xmlns:a="http://schemas.openxmlformats.org/drawingml/2006/main">
              <a:ext uri="{FF2B5EF4-FFF2-40B4-BE49-F238E27FC236}">
                <a16:creationId xmlns:a16="http://schemas.microsoft.com/office/drawing/2014/main" id="{90C2AF02-6F88-4622-8946-16A2EC31884C}"/>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Feste Policy und minimale SQL-Rechte verweigern unerlaubte Aktionen tatsächlich.</a:t>
            </a:r>
          </a:p>
        </p:txBody>
      </p:sp>
      <p:sp>
        <p:nvSpPr>
          <p:cNvPr id="8" name="text-7">
            <a:extLst xmlns:a="http://schemas.openxmlformats.org/drawingml/2006/main">
              <a:ext uri="{FF2B5EF4-FFF2-40B4-BE49-F238E27FC236}">
                <a16:creationId xmlns:a16="http://schemas.microsoft.com/office/drawing/2014/main" id="{5FFE0833-0D73-4FFF-90CF-7E6A78B99C6F}"/>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IMPLEMENTED. Offline-Antwort-/Toolfixtures. Verhalten unbekannter Live-Modelle bleibt offen.</a:t>
            </a:r>
          </a:p>
        </p:txBody>
      </p:sp>
      <p:sp>
        <p:nvSpPr>
          <p:cNvPr id="9" name="text-8">
            <a:extLst xmlns:a="http://schemas.openxmlformats.org/drawingml/2006/main">
              <a:ext uri="{FF2B5EF4-FFF2-40B4-BE49-F238E27FC236}">
                <a16:creationId xmlns:a16="http://schemas.microsoft.com/office/drawing/2014/main" id="{00C34B20-8FD6-42CB-87D2-8C851471DBB2}"/>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59 · Quellfolie 49 · CUR-018</a:t>
            </a:r>
          </a:p>
        </p:txBody>
      </p:sp>
    </p:spTree>
    <p:extLst>
      <p:ext uri="{BB962C8B-B14F-4D97-AF65-F5344CB8AC3E}">
        <p14:creationId xmlns:p14="http://schemas.microsoft.com/office/powerpoint/2010/main" val="116512951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5A0D1AF-D8CD-4D06-8078-820787417E4A}"/>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Neun Entwürfe für die Vertiefung</a:t>
            </a:r>
          </a:p>
        </p:txBody>
      </p:sp>
      <p:graphicFrame>
        <p:nvGraphicFramePr>
          <p:cNvPr id="2" name="">
            <a:extLst xmlns:a="http://schemas.openxmlformats.org/drawingml/2006/main">
              <a:ext uri="{FF2B5EF4-FFF2-40B4-BE49-F238E27FC236}">
                <a16:creationId xmlns:a16="http://schemas.microsoft.com/office/drawing/2014/main" id="{0EDC5F5D-DC46-40E6-A6B4-2A87F7E48A63}"/>
              </a:ext>
            </a:extLst>
          </p:cNvPr>
          <p:cNvGraphicFramePr/>
          <p:nvPr/>
        </p:nvGraphicFramePr>
        <p:xfrm>
          <a:off xmlns:a="http://schemas.openxmlformats.org/drawingml/2006/main" x="685800" y="1771650"/>
          <a:ext xmlns:a="http://schemas.openxmlformats.org/drawingml/2006/main" cx="10668000" cy="4000500"/>
        </p:xfrm>
        <a:graphic xmlns:a="http://schemas.openxmlformats.org/drawingml/2006/main">
          <a:graphicData uri="http://schemas.openxmlformats.org/drawingml/2006/table">
            <a:tbl>
              <a:tblPr/>
              <a:tblGrid>
                <a:gridCol w="4572000"/>
                <a:gridCol w="6096000"/>
              </a:tblGrid>
              <a:tr h="800100">
                <a:tc>
                  <a:txBody>
                    <a:bodyPr/>
                    <a:lstStyle/>
                    <a:p>
                      <a:r>
                        <a:rPr sz="1800" b="1">
                          <a:solidFill>
                            <a:srgbClr val="15283D"/>
                          </a:solidFill>
                          <a:latin typeface="Arial"/>
                          <a:ea typeface="Arial"/>
                          <a:cs typeface="Arial"/>
                        </a:rPr>
                        <a:t>PROPOSED</a:t>
                      </a:r>
                    </a:p>
                  </a:txBody>
                  <a:tcPr marL="114300" marR="114300" marT="47625" marB="47625" anchor="ctr">
                    <a:lnL w="9525">
                      <a:solidFill>
                        <a:srgbClr val="C8D5DE"/>
                      </a:solidFill>
                      <a:prstDash val="solid"/>
                    </a:lnL>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c>
                  <a:txBody>
                    <a:bodyPr/>
                    <a:lstStyle/>
                    <a:p>
                      <a:r>
                        <a:rPr sz="1800" b="1">
                          <a:solidFill>
                            <a:srgbClr val="15283D"/>
                          </a:solidFill>
                          <a:latin typeface="Arial"/>
                          <a:ea typeface="Arial"/>
                          <a:cs typeface="Arial"/>
                        </a:rPr>
                        <a:t>Nächste nachzuweisende Grenze</a:t>
                      </a:r>
                    </a:p>
                  </a:txBody>
                  <a:tcPr marL="114300" marR="114300" marT="47625" marB="47625" anchor="ctr">
                    <a:lnR w="9525">
                      <a:solidFill>
                        <a:srgbClr val="C8D5DE"/>
                      </a:solidFill>
                      <a:prstDash val="solid"/>
                    </a:lnR>
                    <a:lnT w="9525">
                      <a:solidFill>
                        <a:srgbClr val="C8D5DE"/>
                      </a:solidFill>
                      <a:prstDash val="solid"/>
                    </a:lnT>
                    <a:lnB w="9525">
                      <a:solidFill>
                        <a:srgbClr val="C8D5DE"/>
                      </a:solidFill>
                      <a:prstDash val="solid"/>
                    </a:lnB>
                    <a:solidFill>
                      <a:srgbClr val="E8F2F2"/>
                    </a:solidFill>
                  </a:tcPr>
                </a:tc>
              </a:tr>
              <a:tr h="800100">
                <a:tc>
                  <a:txBody>
                    <a:bodyPr/>
                    <a:lstStyle/>
                    <a:p>
                      <a:r>
                        <a:rPr sz="1800" b="0">
                          <a:solidFill>
                            <a:srgbClr val="15283D"/>
                          </a:solidFill>
                          <a:latin typeface="Arial"/>
                          <a:ea typeface="Arial"/>
                          <a:cs typeface="Arial"/>
                        </a:rPr>
                        <a:t>QRY-020, QRY-021, QRY-022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Lokale, externe und ONNX-Inferenz mit ihren Freigaben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IDX-011, IDX-012</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ANN-Qualität, Index-Lifecycle und vollständige Kosten</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RES-008, RES-009</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Dimensionen, Concurrency und vollständiger TP-PERF-Vertrag</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r h="800100">
                <a:tc>
                  <a:txBody>
                    <a:bodyPr/>
                    <a:lstStyle/>
                    <a:p>
                      <a:r>
                        <a:rPr sz="1800" b="0">
                          <a:solidFill>
                            <a:srgbClr val="15283D"/>
                          </a:solidFill>
                          <a:latin typeface="Arial"/>
                          <a:ea typeface="Arial"/>
                          <a:cs typeface="Arial"/>
                        </a:rPr>
                        <a:t>DGN-010, DGN-011</a:t>
                      </a:r>
                    </a:p>
                  </a:txBody>
                  <a:tcPr marL="114300" marR="114300" marT="47625" marB="47625" anchor="ctr">
                    <a:lnL w="9525">
                      <a:solidFill>
                        <a:srgbClr val="C8D5DE"/>
                      </a:solidFill>
                      <a:prstDash val="solid"/>
                    </a:lnL>
                    <a:lnR w="9525">
                      <a:solidFill>
                        <a:srgbClr val="C8D5DE"/>
                      </a:solidFill>
                      <a:prstDash val="solid"/>
                    </a:lnR>
                    <a:lnB w="9525">
                      <a:solidFill>
                        <a:srgbClr val="C8D5DE"/>
                      </a:solidFill>
                      <a:prstDash val="solid"/>
                    </a:lnB>
                    <a:solidFill>
                      <a:srgbClr val="FFFFFF"/>
                    </a:solidFill>
                  </a:tcPr>
                </a:tc>
                <a:tc>
                  <a:txBody>
                    <a:bodyPr/>
                    <a:lstStyle/>
                    <a:p>
                      <a:r>
                        <a:rPr sz="1800" b="0">
                          <a:solidFill>
                            <a:srgbClr val="15283D"/>
                          </a:solidFill>
                          <a:latin typeface="Arial"/>
                          <a:ea typeface="Arial"/>
                          <a:cs typeface="Arial"/>
                        </a:rPr>
                        <a:t>Indexnettonutzen und End-to-End-Inferenzdiagnose</a:t>
                      </a:r>
                    </a:p>
                  </a:txBody>
                  <a:tcPr marL="114300" marR="114300" marT="47625" marB="47625" anchor="ctr">
                    <a:lnR w="9525">
                      <a:solidFill>
                        <a:srgbClr val="C8D5DE"/>
                      </a:solidFill>
                      <a:prstDash val="solid"/>
                    </a:lnR>
                    <a:lnB w="9525">
                      <a:solidFill>
                        <a:srgbClr val="C8D5DE"/>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39DC0473-F07D-4CCB-ACB0-E33F700ED0AC}"/>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Zusammen mit den neun IMPLEMENTED-Demos sind alle 18 registrierten Demoentwürfe abgedeckt.</a:t>
            </a:r>
          </a:p>
        </p:txBody>
      </p:sp>
      <p:sp>
        <p:nvSpPr>
          <p:cNvPr id="4" name="text-2">
            <a:extLst xmlns:a="http://schemas.openxmlformats.org/drawingml/2006/main">
              <a:ext uri="{FF2B5EF4-FFF2-40B4-BE49-F238E27FC236}">
                <a16:creationId xmlns:a16="http://schemas.microsoft.com/office/drawing/2014/main" id="{E19DB1F9-88A0-4972-B312-2EB73E982DD8}"/>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60 · Quellfolie 60 · CUR-016 / CUR-019 / CUR-020 / CUR-021</a:t>
            </a:r>
          </a:p>
        </p:txBody>
      </p:sp>
    </p:spTree>
    <p:extLst>
      <p:ext uri="{BB962C8B-B14F-4D97-AF65-F5344CB8AC3E}">
        <p14:creationId xmlns:p14="http://schemas.microsoft.com/office/powerpoint/2010/main" val="98592136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B06B6B8-9955-446F-AEA9-86294DFC1606}"/>
              </a:ext>
            </a:extLst>
          </p:cNvPr>
          <p:cNvSpPr>
            <a:spLocks xmlns:a="http://schemas.openxmlformats.org/drawingml/2006/main" noGrp="1"/>
          </p:cNvSpPr>
          <p:nvPr/>
        </p:nvSpPr>
        <p:spPr>
          <a:xfrm xmlns:a="http://schemas.openxmlformats.org/drawingml/2006/main">
            <a:off x="685800" y="4953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5283D"/>
                </a:solidFill>
                <a:latin typeface="Arial"/>
                <a:ea typeface="Arial"/>
                <a:cs typeface="Arial"/>
              </a:defRPr>
            </a:defPPr>
            <a:lvl1pPr>
              <a:defRPr sz="3300" b="1">
                <a:solidFill>
                  <a:srgbClr val="15283D"/>
                </a:solidFill>
                <a:latin typeface="Arial"/>
                <a:ea typeface="Arial"/>
                <a:cs typeface="Arial"/>
              </a:defRPr>
            </a:lvl1pPr>
            <a:lvl2pPr>
              <a:defRPr sz="3300" b="1">
                <a:solidFill>
                  <a:srgbClr val="15283D"/>
                </a:solidFill>
                <a:latin typeface="Arial"/>
                <a:ea typeface="Arial"/>
                <a:cs typeface="Arial"/>
              </a:defRPr>
            </a:lvl2pPr>
            <a:lvl3pPr>
              <a:defRPr sz="3300" b="1">
                <a:solidFill>
                  <a:srgbClr val="15283D"/>
                </a:solidFill>
                <a:latin typeface="Arial"/>
                <a:ea typeface="Arial"/>
                <a:cs typeface="Arial"/>
              </a:defRPr>
            </a:lvl3pPr>
            <a:lvl4pPr>
              <a:defRPr sz="3300" b="1">
                <a:solidFill>
                  <a:srgbClr val="15283D"/>
                </a:solidFill>
                <a:latin typeface="Arial"/>
                <a:ea typeface="Arial"/>
                <a:cs typeface="Arial"/>
              </a:defRPr>
            </a:lvl4pPr>
            <a:lvl5pPr>
              <a:defRPr sz="3300" b="1">
                <a:solidFill>
                  <a:srgbClr val="15283D"/>
                </a:solidFill>
                <a:latin typeface="Arial"/>
                <a:ea typeface="Arial"/>
                <a:cs typeface="Arial"/>
              </a:defRPr>
            </a:lvl5pPr>
            <a:lvl6pPr>
              <a:defRPr sz="3300" b="1">
                <a:solidFill>
                  <a:srgbClr val="15283D"/>
                </a:solidFill>
                <a:latin typeface="Arial"/>
                <a:ea typeface="Arial"/>
                <a:cs typeface="Arial"/>
              </a:defRPr>
            </a:lvl6pPr>
            <a:lvl7pPr>
              <a:defRPr sz="3300" b="1">
                <a:solidFill>
                  <a:srgbClr val="15283D"/>
                </a:solidFill>
                <a:latin typeface="Arial"/>
                <a:ea typeface="Arial"/>
                <a:cs typeface="Arial"/>
              </a:defRPr>
            </a:lvl7pPr>
            <a:lvl8pPr>
              <a:defRPr sz="3300" b="1">
                <a:solidFill>
                  <a:srgbClr val="15283D"/>
                </a:solidFill>
                <a:latin typeface="Arial"/>
                <a:ea typeface="Arial"/>
                <a:cs typeface="Arial"/>
              </a:defRPr>
            </a:lvl8pPr>
            <a:lvl9pPr>
              <a:defRPr sz="3300" b="1">
                <a:solidFill>
                  <a:srgbClr val="15283D"/>
                </a:solidFill>
                <a:latin typeface="Arial"/>
                <a:ea typeface="Arial"/>
                <a:cs typeface="Arial"/>
              </a:defRPr>
            </a:lvl9pPr>
          </a:lstStyle>
          <a:p xmlns:a="http://schemas.openxmlformats.org/drawingml/2006/main">
            <a:pPr>
              <a:defRPr sz="3300" b="1">
                <a:solidFill>
                  <a:srgbClr val="15283D"/>
                </a:solidFill>
                <a:latin typeface="Arial"/>
                <a:ea typeface="Arial"/>
                <a:cs typeface="Arial"/>
              </a:defRPr>
            </a:pPr>
            <a:r>
              <a:rPr sz="3300" b="1">
                <a:solidFill>
                  <a:srgbClr val="15283D"/>
                </a:solidFill>
                <a:latin typeface="Arial"/>
                <a:ea typeface="Arial"/>
                <a:cs typeface="Arial"/>
              </a:rPr>
              <a:t>Entscheidung und Transferaufgabe</a:t>
            </a:r>
          </a:p>
        </p:txBody>
      </p:sp>
      <p:sp>
        <p:nvSpPr>
          <p:cNvPr id="2" name="text-1">
            <a:extLst xmlns:a="http://schemas.openxmlformats.org/drawingml/2006/main">
              <a:ext uri="{FF2B5EF4-FFF2-40B4-BE49-F238E27FC236}">
                <a16:creationId xmlns:a16="http://schemas.microsoft.com/office/drawing/2014/main" id="{1635B722-A6EB-4C29-82A4-DF64AF83E1CF}"/>
              </a:ext>
            </a:extLst>
          </p:cNvPr>
          <p:cNvSpPr>
            <a:spLocks xmlns:a="http://schemas.openxmlformats.org/drawingml/2006/main" noGrp="1"/>
          </p:cNvSpPr>
          <p:nvPr/>
        </p:nvSpPr>
        <p:spPr>
          <a:xfrm xmlns:a="http://schemas.openxmlformats.org/drawingml/2006/main">
            <a:off x="685800" y="177165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Empfehlung</a:t>
            </a:r>
          </a:p>
        </p:txBody>
      </p:sp>
      <p:sp>
        <p:nvSpPr>
          <p:cNvPr id="3" name="text-2">
            <a:extLst xmlns:a="http://schemas.openxmlformats.org/drawingml/2006/main">
              <a:ext uri="{FF2B5EF4-FFF2-40B4-BE49-F238E27FC236}">
                <a16:creationId xmlns:a16="http://schemas.microsoft.com/office/drawing/2014/main" id="{73B7939E-9F6B-4AA7-93C0-A7CFEF1EA29A}"/>
              </a:ext>
            </a:extLst>
          </p:cNvPr>
          <p:cNvSpPr>
            <a:spLocks xmlns:a="http://schemas.openxmlformats.org/drawingml/2006/main" noGrp="1"/>
          </p:cNvSpPr>
          <p:nvPr/>
        </p:nvSpPr>
        <p:spPr>
          <a:xfrm xmlns:a="http://schemas.openxmlformats.org/drawingml/2006/main">
            <a:off x="3190875" y="177165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Für die synthetische Wissensbasis einen Suchpfad mit erlaubten Quellen und Modellraum begründen.</a:t>
            </a:r>
          </a:p>
        </p:txBody>
      </p:sp>
      <p:sp>
        <p:nvSpPr>
          <p:cNvPr id="4" name="text-3">
            <a:extLst xmlns:a="http://schemas.openxmlformats.org/drawingml/2006/main">
              <a:ext uri="{FF2B5EF4-FFF2-40B4-BE49-F238E27FC236}">
                <a16:creationId xmlns:a16="http://schemas.microsoft.com/office/drawing/2014/main" id="{1FAC8213-8D6D-45D1-A42D-30286EC19D4E}"/>
              </a:ext>
            </a:extLst>
          </p:cNvPr>
          <p:cNvSpPr>
            <a:spLocks xmlns:a="http://schemas.openxmlformats.org/drawingml/2006/main" noGrp="1"/>
          </p:cNvSpPr>
          <p:nvPr/>
        </p:nvSpPr>
        <p:spPr>
          <a:xfrm xmlns:a="http://schemas.openxmlformats.org/drawingml/2006/main">
            <a:off x="685800" y="3057525"/>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Gegenbeleg</a:t>
            </a:r>
          </a:p>
        </p:txBody>
      </p:sp>
      <p:sp>
        <p:nvSpPr>
          <p:cNvPr id="5" name="text-4">
            <a:extLst xmlns:a="http://schemas.openxmlformats.org/drawingml/2006/main">
              <a:ext uri="{FF2B5EF4-FFF2-40B4-BE49-F238E27FC236}">
                <a16:creationId xmlns:a16="http://schemas.microsoft.com/office/drawing/2014/main" id="{C36A451E-3E30-4310-AB37-20145CA364B7}"/>
              </a:ext>
            </a:extLst>
          </p:cNvPr>
          <p:cNvSpPr>
            <a:spLocks xmlns:a="http://schemas.openxmlformats.org/drawingml/2006/main" noGrp="1"/>
          </p:cNvSpPr>
          <p:nvPr/>
        </p:nvSpPr>
        <p:spPr>
          <a:xfrm xmlns:a="http://schemas.openxmlformats.org/drawingml/2006/main">
            <a:off x="3190875" y="3057525"/>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Recall, Kosten und aktuelle Rechte prüfen. Begrenzte Teilnachweise begründen keine Gesamtfreigabe.</a:t>
            </a:r>
          </a:p>
        </p:txBody>
      </p:sp>
      <p:sp>
        <p:nvSpPr>
          <p:cNvPr id="6" name="text-5">
            <a:extLst xmlns:a="http://schemas.openxmlformats.org/drawingml/2006/main">
              <a:ext uri="{FF2B5EF4-FFF2-40B4-BE49-F238E27FC236}">
                <a16:creationId xmlns:a16="http://schemas.microsoft.com/office/drawing/2014/main" id="{2A58B7E0-4825-4016-82BD-EEE6C2A79CB2}"/>
              </a:ext>
            </a:extLst>
          </p:cNvPr>
          <p:cNvSpPr>
            <a:spLocks xmlns:a="http://schemas.openxmlformats.org/drawingml/2006/main" noGrp="1"/>
          </p:cNvSpPr>
          <p:nvPr/>
        </p:nvSpPr>
        <p:spPr>
          <a:xfrm xmlns:a="http://schemas.openxmlformats.org/drawingml/2006/main">
            <a:off x="685800" y="4343400"/>
            <a:ext cx="2333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07A83"/>
                </a:solidFill>
                <a:latin typeface="Arial"/>
                <a:ea typeface="Arial"/>
                <a:cs typeface="Arial"/>
              </a:defRPr>
            </a:defPPr>
            <a:lvl1pPr>
              <a:defRPr sz="2100" b="1">
                <a:solidFill>
                  <a:srgbClr val="007A83"/>
                </a:solidFill>
                <a:latin typeface="Arial"/>
                <a:ea typeface="Arial"/>
                <a:cs typeface="Arial"/>
              </a:defRPr>
            </a:lvl1pPr>
            <a:lvl2pPr>
              <a:defRPr sz="2100" b="1">
                <a:solidFill>
                  <a:srgbClr val="007A83"/>
                </a:solidFill>
                <a:latin typeface="Arial"/>
                <a:ea typeface="Arial"/>
                <a:cs typeface="Arial"/>
              </a:defRPr>
            </a:lvl2pPr>
            <a:lvl3pPr>
              <a:defRPr sz="2100" b="1">
                <a:solidFill>
                  <a:srgbClr val="007A83"/>
                </a:solidFill>
                <a:latin typeface="Arial"/>
                <a:ea typeface="Arial"/>
                <a:cs typeface="Arial"/>
              </a:defRPr>
            </a:lvl3pPr>
            <a:lvl4pPr>
              <a:defRPr sz="2100" b="1">
                <a:solidFill>
                  <a:srgbClr val="007A83"/>
                </a:solidFill>
                <a:latin typeface="Arial"/>
                <a:ea typeface="Arial"/>
                <a:cs typeface="Arial"/>
              </a:defRPr>
            </a:lvl4pPr>
            <a:lvl5pPr>
              <a:defRPr sz="2100" b="1">
                <a:solidFill>
                  <a:srgbClr val="007A83"/>
                </a:solidFill>
                <a:latin typeface="Arial"/>
                <a:ea typeface="Arial"/>
                <a:cs typeface="Arial"/>
              </a:defRPr>
            </a:lvl5pPr>
            <a:lvl6pPr>
              <a:defRPr sz="2100" b="1">
                <a:solidFill>
                  <a:srgbClr val="007A83"/>
                </a:solidFill>
                <a:latin typeface="Arial"/>
                <a:ea typeface="Arial"/>
                <a:cs typeface="Arial"/>
              </a:defRPr>
            </a:lvl6pPr>
            <a:lvl7pPr>
              <a:defRPr sz="2100" b="1">
                <a:solidFill>
                  <a:srgbClr val="007A83"/>
                </a:solidFill>
                <a:latin typeface="Arial"/>
                <a:ea typeface="Arial"/>
                <a:cs typeface="Arial"/>
              </a:defRPr>
            </a:lvl7pPr>
            <a:lvl8pPr>
              <a:defRPr sz="2100" b="1">
                <a:solidFill>
                  <a:srgbClr val="007A83"/>
                </a:solidFill>
                <a:latin typeface="Arial"/>
                <a:ea typeface="Arial"/>
                <a:cs typeface="Arial"/>
              </a:defRPr>
            </a:lvl8pPr>
            <a:lvl9pPr>
              <a:defRPr sz="2100" b="1">
                <a:solidFill>
                  <a:srgbClr val="007A83"/>
                </a:solidFill>
                <a:latin typeface="Arial"/>
                <a:ea typeface="Arial"/>
                <a:cs typeface="Arial"/>
              </a:defRPr>
            </a:lvl9pPr>
          </a:lstStyle>
          <a:p xmlns:a="http://schemas.openxmlformats.org/drawingml/2006/main">
            <a:pPr>
              <a:defRPr sz="2100" b="1">
                <a:solidFill>
                  <a:srgbClr val="007A83"/>
                </a:solidFill>
                <a:latin typeface="Arial"/>
                <a:ea typeface="Arial"/>
                <a:cs typeface="Arial"/>
              </a:defRPr>
            </a:pPr>
            <a:r>
              <a:rPr sz="2100" b="1">
                <a:solidFill>
                  <a:srgbClr val="007A83"/>
                </a:solidFill>
                <a:latin typeface="Arial"/>
                <a:ea typeface="Arial"/>
                <a:cs typeface="Arial"/>
              </a:rPr>
              <a:t>Prüfauftrag</a:t>
            </a:r>
          </a:p>
        </p:txBody>
      </p:sp>
      <p:sp>
        <p:nvSpPr>
          <p:cNvPr id="7" name="text-6">
            <a:extLst xmlns:a="http://schemas.openxmlformats.org/drawingml/2006/main">
              <a:ext uri="{FF2B5EF4-FFF2-40B4-BE49-F238E27FC236}">
                <a16:creationId xmlns:a16="http://schemas.microsoft.com/office/drawing/2014/main" id="{AA8D59FC-8C33-4F89-ADC5-44D0BAC20696}"/>
              </a:ext>
            </a:extLst>
          </p:cNvPr>
          <p:cNvSpPr>
            <a:spLocks xmlns:a="http://schemas.openxmlformats.org/drawingml/2006/main" noGrp="1"/>
          </p:cNvSpPr>
          <p:nvPr/>
        </p:nvSpPr>
        <p:spPr>
          <a:xfrm xmlns:a="http://schemas.openxmlformats.org/drawingml/2006/main">
            <a:off x="3190875" y="4343400"/>
            <a:ext cx="8239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83D"/>
                </a:solidFill>
                <a:latin typeface="Arial"/>
                <a:ea typeface="Arial"/>
                <a:cs typeface="Arial"/>
              </a:defRPr>
            </a:defPPr>
            <a:lvl1pPr>
              <a:defRPr sz="2250" b="0">
                <a:solidFill>
                  <a:srgbClr val="15283D"/>
                </a:solidFill>
                <a:latin typeface="Arial"/>
                <a:ea typeface="Arial"/>
                <a:cs typeface="Arial"/>
              </a:defRPr>
            </a:lvl1pPr>
            <a:lvl2pPr>
              <a:defRPr sz="2250" b="0">
                <a:solidFill>
                  <a:srgbClr val="15283D"/>
                </a:solidFill>
                <a:latin typeface="Arial"/>
                <a:ea typeface="Arial"/>
                <a:cs typeface="Arial"/>
              </a:defRPr>
            </a:lvl2pPr>
            <a:lvl3pPr>
              <a:defRPr sz="2250" b="0">
                <a:solidFill>
                  <a:srgbClr val="15283D"/>
                </a:solidFill>
                <a:latin typeface="Arial"/>
                <a:ea typeface="Arial"/>
                <a:cs typeface="Arial"/>
              </a:defRPr>
            </a:lvl3pPr>
            <a:lvl4pPr>
              <a:defRPr sz="2250" b="0">
                <a:solidFill>
                  <a:srgbClr val="15283D"/>
                </a:solidFill>
                <a:latin typeface="Arial"/>
                <a:ea typeface="Arial"/>
                <a:cs typeface="Arial"/>
              </a:defRPr>
            </a:lvl4pPr>
            <a:lvl5pPr>
              <a:defRPr sz="2250" b="0">
                <a:solidFill>
                  <a:srgbClr val="15283D"/>
                </a:solidFill>
                <a:latin typeface="Arial"/>
                <a:ea typeface="Arial"/>
                <a:cs typeface="Arial"/>
              </a:defRPr>
            </a:lvl5pPr>
            <a:lvl6pPr>
              <a:defRPr sz="2250" b="0">
                <a:solidFill>
                  <a:srgbClr val="15283D"/>
                </a:solidFill>
                <a:latin typeface="Arial"/>
                <a:ea typeface="Arial"/>
                <a:cs typeface="Arial"/>
              </a:defRPr>
            </a:lvl6pPr>
            <a:lvl7pPr>
              <a:defRPr sz="2250" b="0">
                <a:solidFill>
                  <a:srgbClr val="15283D"/>
                </a:solidFill>
                <a:latin typeface="Arial"/>
                <a:ea typeface="Arial"/>
                <a:cs typeface="Arial"/>
              </a:defRPr>
            </a:lvl7pPr>
            <a:lvl8pPr>
              <a:defRPr sz="2250" b="0">
                <a:solidFill>
                  <a:srgbClr val="15283D"/>
                </a:solidFill>
                <a:latin typeface="Arial"/>
                <a:ea typeface="Arial"/>
                <a:cs typeface="Arial"/>
              </a:defRPr>
            </a:lvl8pPr>
            <a:lvl9pPr>
              <a:defRPr sz="2250" b="0">
                <a:solidFill>
                  <a:srgbClr val="15283D"/>
                </a:solidFill>
                <a:latin typeface="Arial"/>
                <a:ea typeface="Arial"/>
                <a:cs typeface="Arial"/>
              </a:defRPr>
            </a:lvl9pPr>
          </a:lstStyle>
          <a:p xmlns:a="http://schemas.openxmlformats.org/drawingml/2006/main">
            <a:pPr>
              <a:defRPr sz="2250" b="0">
                <a:solidFill>
                  <a:srgbClr val="15283D"/>
                </a:solidFill>
                <a:latin typeface="Arial"/>
                <a:ea typeface="Arial"/>
                <a:cs typeface="Arial"/>
              </a:defRPr>
            </a:pPr>
            <a:r>
              <a:rPr sz="2250" b="0">
                <a:solidFill>
                  <a:srgbClr val="15283D"/>
                </a:solidFill>
                <a:latin typeface="Arial"/>
                <a:ea typeface="Arial"/>
                <a:cs typeface="Arial"/>
              </a:rPr>
              <a:t>Fehlenden Nachweis mit Scope, erwartbarem Ergebnis, Abbruch und Cleanup konkret festlegen.</a:t>
            </a:r>
          </a:p>
        </p:txBody>
      </p:sp>
      <p:sp>
        <p:nvSpPr>
          <p:cNvPr id="8" name="text-7">
            <a:extLst xmlns:a="http://schemas.openxmlformats.org/drawingml/2006/main">
              <a:ext uri="{FF2B5EF4-FFF2-40B4-BE49-F238E27FC236}">
                <a16:creationId xmlns:a16="http://schemas.microsoft.com/office/drawing/2014/main" id="{3F5335E6-17A9-4263-BEF5-B27605BC5D14}"/>
              </a:ext>
            </a:extLst>
          </p:cNvPr>
          <p:cNvSpPr>
            <a:spLocks xmlns:a="http://schemas.openxmlformats.org/drawingml/2006/main" noGrp="1"/>
          </p:cNvSpPr>
          <p:nvPr/>
        </p:nvSpPr>
        <p:spPr>
          <a:xfrm xmlns:a="http://schemas.openxmlformats.org/drawingml/2006/main">
            <a:off x="685800" y="5876925"/>
            <a:ext cx="1055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47A"/>
                </a:solidFill>
                <a:latin typeface="Arial"/>
                <a:ea typeface="Arial"/>
                <a:cs typeface="Arial"/>
              </a:defRPr>
            </a:defPPr>
            <a:lvl1pPr>
              <a:defRPr sz="1800" b="0">
                <a:solidFill>
                  <a:srgbClr val="52647A"/>
                </a:solidFill>
                <a:latin typeface="Arial"/>
                <a:ea typeface="Arial"/>
                <a:cs typeface="Arial"/>
              </a:defRPr>
            </a:lvl1pPr>
            <a:lvl2pPr>
              <a:defRPr sz="1800" b="0">
                <a:solidFill>
                  <a:srgbClr val="52647A"/>
                </a:solidFill>
                <a:latin typeface="Arial"/>
                <a:ea typeface="Arial"/>
                <a:cs typeface="Arial"/>
              </a:defRPr>
            </a:lvl2pPr>
            <a:lvl3pPr>
              <a:defRPr sz="1800" b="0">
                <a:solidFill>
                  <a:srgbClr val="52647A"/>
                </a:solidFill>
                <a:latin typeface="Arial"/>
                <a:ea typeface="Arial"/>
                <a:cs typeface="Arial"/>
              </a:defRPr>
            </a:lvl3pPr>
            <a:lvl4pPr>
              <a:defRPr sz="1800" b="0">
                <a:solidFill>
                  <a:srgbClr val="52647A"/>
                </a:solidFill>
                <a:latin typeface="Arial"/>
                <a:ea typeface="Arial"/>
                <a:cs typeface="Arial"/>
              </a:defRPr>
            </a:lvl4pPr>
            <a:lvl5pPr>
              <a:defRPr sz="1800" b="0">
                <a:solidFill>
                  <a:srgbClr val="52647A"/>
                </a:solidFill>
                <a:latin typeface="Arial"/>
                <a:ea typeface="Arial"/>
                <a:cs typeface="Arial"/>
              </a:defRPr>
            </a:lvl5pPr>
            <a:lvl6pPr>
              <a:defRPr sz="1800" b="0">
                <a:solidFill>
                  <a:srgbClr val="52647A"/>
                </a:solidFill>
                <a:latin typeface="Arial"/>
                <a:ea typeface="Arial"/>
                <a:cs typeface="Arial"/>
              </a:defRPr>
            </a:lvl6pPr>
            <a:lvl7pPr>
              <a:defRPr sz="1800" b="0">
                <a:solidFill>
                  <a:srgbClr val="52647A"/>
                </a:solidFill>
                <a:latin typeface="Arial"/>
                <a:ea typeface="Arial"/>
                <a:cs typeface="Arial"/>
              </a:defRPr>
            </a:lvl7pPr>
            <a:lvl8pPr>
              <a:defRPr sz="1800" b="0">
                <a:solidFill>
                  <a:srgbClr val="52647A"/>
                </a:solidFill>
                <a:latin typeface="Arial"/>
                <a:ea typeface="Arial"/>
                <a:cs typeface="Arial"/>
              </a:defRPr>
            </a:lvl8pPr>
            <a:lvl9pPr>
              <a:defRPr sz="1800" b="0">
                <a:solidFill>
                  <a:srgbClr val="52647A"/>
                </a:solidFill>
                <a:latin typeface="Arial"/>
                <a:ea typeface="Arial"/>
                <a:cs typeface="Arial"/>
              </a:defRPr>
            </a:lvl9pPr>
          </a:lstStyle>
          <a:p xmlns:a="http://schemas.openxmlformats.org/drawingml/2006/main">
            <a:pPr>
              <a:defRPr sz="1800" b="0">
                <a:solidFill>
                  <a:srgbClr val="52647A"/>
                </a:solidFill>
                <a:latin typeface="Arial"/>
                <a:ea typeface="Arial"/>
                <a:cs typeface="Arial"/>
              </a:defRPr>
            </a:pPr>
            <a:r>
              <a:rPr sz="1800" b="0">
                <a:solidFill>
                  <a:srgbClr val="52647A"/>
                </a:solidFill>
                <a:latin typeface="Arial"/>
                <a:ea typeface="Arial"/>
                <a:cs typeface="Arial"/>
              </a:rPr>
              <a:t>Tag 2: unbewertete Beleg- und Entwurfsaufgaben. Keine Live-Provider- oder Performancefreigabe.</a:t>
            </a:r>
          </a:p>
        </p:txBody>
      </p:sp>
      <p:sp>
        <p:nvSpPr>
          <p:cNvPr id="9" name="text-8">
            <a:extLst xmlns:a="http://schemas.openxmlformats.org/drawingml/2006/main">
              <a:ext uri="{FF2B5EF4-FFF2-40B4-BE49-F238E27FC236}">
                <a16:creationId xmlns:a16="http://schemas.microsoft.com/office/drawing/2014/main" id="{62D6B653-1637-4CC3-9348-87D5509581D3}"/>
              </a:ext>
            </a:extLst>
          </p:cNvPr>
          <p:cNvSpPr>
            <a:spLocks xmlns:a="http://schemas.openxmlformats.org/drawingml/2006/main" noGrp="1"/>
          </p:cNvSpPr>
          <p:nvPr/>
        </p:nvSpPr>
        <p:spPr>
          <a:xfrm xmlns:a="http://schemas.openxmlformats.org/drawingml/2006/main">
            <a:off x="685800" y="6496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2647A"/>
                </a:solidFill>
                <a:latin typeface="Arial"/>
                <a:ea typeface="Arial"/>
                <a:cs typeface="Arial"/>
              </a:defRPr>
            </a:defPPr>
            <a:lvl1pPr>
              <a:defRPr sz="1350" b="0">
                <a:solidFill>
                  <a:srgbClr val="52647A"/>
                </a:solidFill>
                <a:latin typeface="Arial"/>
                <a:ea typeface="Arial"/>
                <a:cs typeface="Arial"/>
              </a:defRPr>
            </a:lvl1pPr>
            <a:lvl2pPr>
              <a:defRPr sz="1350" b="0">
                <a:solidFill>
                  <a:srgbClr val="52647A"/>
                </a:solidFill>
                <a:latin typeface="Arial"/>
                <a:ea typeface="Arial"/>
                <a:cs typeface="Arial"/>
              </a:defRPr>
            </a:lvl2pPr>
            <a:lvl3pPr>
              <a:defRPr sz="1350" b="0">
                <a:solidFill>
                  <a:srgbClr val="52647A"/>
                </a:solidFill>
                <a:latin typeface="Arial"/>
                <a:ea typeface="Arial"/>
                <a:cs typeface="Arial"/>
              </a:defRPr>
            </a:lvl3pPr>
            <a:lvl4pPr>
              <a:defRPr sz="1350" b="0">
                <a:solidFill>
                  <a:srgbClr val="52647A"/>
                </a:solidFill>
                <a:latin typeface="Arial"/>
                <a:ea typeface="Arial"/>
                <a:cs typeface="Arial"/>
              </a:defRPr>
            </a:lvl4pPr>
            <a:lvl5pPr>
              <a:defRPr sz="1350" b="0">
                <a:solidFill>
                  <a:srgbClr val="52647A"/>
                </a:solidFill>
                <a:latin typeface="Arial"/>
                <a:ea typeface="Arial"/>
                <a:cs typeface="Arial"/>
              </a:defRPr>
            </a:lvl5pPr>
            <a:lvl6pPr>
              <a:defRPr sz="1350" b="0">
                <a:solidFill>
                  <a:srgbClr val="52647A"/>
                </a:solidFill>
                <a:latin typeface="Arial"/>
                <a:ea typeface="Arial"/>
                <a:cs typeface="Arial"/>
              </a:defRPr>
            </a:lvl6pPr>
            <a:lvl7pPr>
              <a:defRPr sz="1350" b="0">
                <a:solidFill>
                  <a:srgbClr val="52647A"/>
                </a:solidFill>
                <a:latin typeface="Arial"/>
                <a:ea typeface="Arial"/>
                <a:cs typeface="Arial"/>
              </a:defRPr>
            </a:lvl7pPr>
            <a:lvl8pPr>
              <a:defRPr sz="1350" b="0">
                <a:solidFill>
                  <a:srgbClr val="52647A"/>
                </a:solidFill>
                <a:latin typeface="Arial"/>
                <a:ea typeface="Arial"/>
                <a:cs typeface="Arial"/>
              </a:defRPr>
            </a:lvl8pPr>
            <a:lvl9pPr>
              <a:defRPr sz="1350" b="0">
                <a:solidFill>
                  <a:srgbClr val="52647A"/>
                </a:solidFill>
                <a:latin typeface="Arial"/>
                <a:ea typeface="Arial"/>
                <a:cs typeface="Arial"/>
              </a:defRPr>
            </a:lvl9pPr>
          </a:lstStyle>
          <a:p xmlns:a="http://schemas.openxmlformats.org/drawingml/2006/main">
            <a:pPr>
              <a:defRPr sz="1350" b="0">
                <a:solidFill>
                  <a:srgbClr val="52647A"/>
                </a:solidFill>
                <a:latin typeface="Arial"/>
                <a:ea typeface="Arial"/>
                <a:cs typeface="Arial"/>
              </a:defRPr>
            </a:pPr>
            <a:r>
              <a:rPr sz="1350" b="0">
                <a:solidFill>
                  <a:srgbClr val="52647A"/>
                </a:solidFill>
                <a:latin typeface="Arial"/>
                <a:ea typeface="Arial"/>
                <a:cs typeface="Arial"/>
              </a:rPr>
              <a:t>VERTIEFUNG 61 · Quellfolie 61 · CUR-022</a:t>
            </a:r>
          </a:p>
        </p:txBody>
      </p:sp>
    </p:spTree>
    <p:extLst>
      <p:ext uri="{BB962C8B-B14F-4D97-AF65-F5344CB8AC3E}">
        <p14:creationId xmlns:p14="http://schemas.microsoft.com/office/powerpoint/2010/main" val="12113196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ep:Properties xmlns:ep="http://schemas.openxmlformats.org/officeDocument/2006/extended-properties">
  <ep:Application>Walnut Exporter</ep:Application>
  <ep:PresentationFormat>Converted Presentation</ep:PresentationFormat>
  <ep:Slides>0</ep:Slides>
  <ep:Notes>0</ep:Notes>
  <ep:HiddenSlides>0</ep:HiddenSlides>
  <ep:SharedDoc>false</ep:SharedDoc>
  <ep:DocSecurity>0</ep:DocSecurity>
</ep:Properties>
</file>

<file path=docProps/core.xml><?xml version="1.0" encoding="utf-8"?>
<cp:coreProperties xmlns:cp="http://schemas.openxmlformats.org/package/2006/metadata/core-properties" xmlns:dc="http://purl.org/dc/elements/1.1/" xmlns:dcterms="http://purl.org/dc/terms/" xmlns:xsi="http://www.w3.org/2001/XMLSchema-instance">
  <dc:creator/>
  <cp:lastModifiedBy/>
  <dc:title>Presentation</dc:title>
  <dcterms:created xsi:type="dcterms:W3CDTF">2026-10-18T18:03:04.9730000Z</dcterms:created>
  <dcterms:modified xsi:type="dcterms:W3CDTF">2026-10-18T18:03:04.9730000Z</dcterms:modified>
</cp:coreProperties>
</file>