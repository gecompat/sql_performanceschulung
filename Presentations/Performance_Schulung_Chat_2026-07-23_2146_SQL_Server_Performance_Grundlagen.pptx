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sldSz cx="12192000" cy="6858000"/>
  <p:notesSz cx="6858000" cy="9144000"/>
  <p:custShowLst>
    <p:custShow name="SQL Performance – Basis" id="0">
      <p:sldLst>
        <p:sld r:id="rId2"/>
        <p:sld r:id="rId3"/>
        <p:sld r:id="rId4"/>
        <p:sld r:id="rId5"/>
        <p:sld r:id="rId8"/>
        <p:sld r:id="rId9"/>
        <p:sld r:id="rId11"/>
        <p:sld r:id="rId15"/>
        <p:sld r:id="rId16"/>
        <p:sld r:id="rId19"/>
        <p:sld r:id="rId20"/>
        <p:sld r:id="rId21"/>
        <p:sld r:id="rId23"/>
        <p:sld r:id="rId27"/>
        <p:sld r:id="rId28"/>
        <p:sld r:id="rId36"/>
        <p:sld r:id="rId37"/>
        <p:sld r:id="rId38"/>
        <p:sld r:id="rId40"/>
        <p:sld r:id="rId48"/>
        <p:sld r:id="rId49"/>
        <p:sld r:id="rId50"/>
        <p:sld r:id="rId53"/>
        <p:sld r:id="rId57"/>
        <p:sld r:id="rId63"/>
        <p:sld r:id="rId64"/>
        <p:sld r:id="rId65"/>
        <p:sld r:id="rId67"/>
        <p:sld r:id="rId71"/>
        <p:sld r:id="rId72"/>
        <p:sld r:id="rId73"/>
        <p:sld r:id="rId76"/>
        <p:sld r:id="rId77"/>
        <p:sld r:id="rId78"/>
        <p:sld r:id="rId79"/>
        <p:sld r:id="rId80"/>
        <p:sld r:id="rId81"/>
        <p:sld r:id="rId82"/>
        <p:sld r:id="rId83"/>
        <p:sld r:id="rId84"/>
        <p:sld r:id="rId103"/>
      </p:sldLst>
    </p:custShow>
    <p:custShow name="SQL Performance – Standard" id="1">
      <p:sldLst>
        <p:sld r:id="rId2"/>
        <p:sld r:id="rId3"/>
        <p:sld r:id="rId4"/>
        <p:sld r:id="rId5"/>
        <p:sld r:id="rId6"/>
        <p:sld r:id="rId7"/>
        <p:sld r:id="rId8"/>
        <p:sld r:id="rId9"/>
        <p:sld r:id="rId10"/>
        <p:sld r:id="rId11"/>
        <p:sld r:id="rId12"/>
        <p:sld r:id="rId13"/>
        <p:sld r:id="rId15"/>
        <p:sld r:id="rId16"/>
        <p:sld r:id="rId17"/>
        <p:sld r:id="rId18"/>
        <p:sld r:id="rId19"/>
        <p:sld r:id="rId20"/>
        <p:sld r:id="rId21"/>
        <p:sld r:id="rId22"/>
        <p:sld r:id="rId23"/>
        <p:sld r:id="rId24"/>
        <p:sld r:id="rId25"/>
        <p:sld r:id="rId26"/>
        <p:sld r:id="rId27"/>
        <p:sld r:id="rId28"/>
        <p:sld r:id="rId29"/>
        <p:sld r:id="rId36"/>
        <p:sld r:id="rId37"/>
        <p:sld r:id="rId38"/>
        <p:sld r:id="rId39"/>
        <p:sld r:id="rId40"/>
        <p:sld r:id="rId42"/>
        <p:sld r:id="rId43"/>
        <p:sld r:id="rId44"/>
        <p:sld r:id="rId47"/>
        <p:sld r:id="rId48"/>
        <p:sld r:id="rId49"/>
        <p:sld r:id="rId50"/>
        <p:sld r:id="rId51"/>
        <p:sld r:id="rId52"/>
        <p:sld r:id="rId53"/>
        <p:sld r:id="rId54"/>
        <p:sld r:id="rId55"/>
        <p:sld r:id="rId56"/>
        <p:sld r:id="rId57"/>
        <p:sld r:id="rId63"/>
        <p:sld r:id="rId64"/>
        <p:sld r:id="rId65"/>
        <p:sld r:id="rId66"/>
        <p:sld r:id="rId67"/>
        <p:sld r:id="rId68"/>
        <p:sld r:id="rId71"/>
        <p:sld r:id="rId72"/>
        <p:sld r:id="rId73"/>
        <p:sld r:id="rId74"/>
        <p:sld r:id="rId76"/>
        <p:sld r:id="rId77"/>
        <p:sld r:id="rId78"/>
        <p:sld r:id="rId79"/>
        <p:sld r:id="rId80"/>
        <p:sld r:id="rId81"/>
        <p:sld r:id="rId82"/>
        <p:sld r:id="rId83"/>
        <p:sld r:id="rId84"/>
        <p:sld r:id="rId103"/>
      </p:sldLst>
    </p:custShow>
    <p:custShow name="SQL Performance – Vertiefung" id="2">
      <p:sldLst>
        <p:sld r:id="rId2"/>
        <p:sld r:id="rId3"/>
        <p:sld r:id="rId4"/>
        <p:sld r:id="rId5"/>
        <p:sld r:id="rId6"/>
        <p:sld r:id="rId7"/>
        <p:sld r:id="rId8"/>
        <p:sld r:id="rId9"/>
        <p:sld r:id="rId10"/>
        <p:sld r:id="rId11"/>
        <p:sld r:id="rId12"/>
        <p:sld r:id="rId13"/>
        <p:sld r:id="rId14"/>
        <p:sld r:id="rId15"/>
        <p:sld r:id="rId16"/>
        <p:sld r:id="rId17"/>
        <p:sld r:id="rId18"/>
        <p:sld r:id="rId19"/>
        <p:sld r:id="rId20"/>
        <p:sld r:id="rId21"/>
        <p:sld r:id="rId22"/>
        <p:sld r:id="rId23"/>
        <p:sld r:id="rId24"/>
        <p:sld r:id="rId25"/>
        <p:sld r:id="rId26"/>
        <p:sld r:id="rId27"/>
        <p:sld r:id="rId28"/>
        <p:sld r:id="rId29"/>
        <p:sld r:id="rId30"/>
        <p:sld r:id="rId31"/>
        <p:sld r:id="rId32"/>
        <p:sld r:id="rId33"/>
        <p:sld r:id="rId34"/>
        <p:sld r:id="rId35"/>
        <p:sld r:id="rId36"/>
        <p:sld r:id="rId37"/>
        <p:sld r:id="rId38"/>
        <p:sld r:id="rId39"/>
        <p:sld r:id="rId40"/>
        <p:sld r:id="rId41"/>
        <p:sld r:id="rId42"/>
        <p:sld r:id="rId43"/>
        <p:sld r:id="rId44"/>
        <p:sld r:id="rId45"/>
        <p:sld r:id="rId46"/>
        <p:sld r:id="rId47"/>
        <p:sld r:id="rId48"/>
        <p:sld r:id="rId49"/>
        <p:sld r:id="rId50"/>
        <p:sld r:id="rId51"/>
        <p:sld r:id="rId52"/>
        <p:sld r:id="rId53"/>
        <p:sld r:id="rId54"/>
        <p:sld r:id="rId55"/>
        <p:sld r:id="rId56"/>
        <p:sld r:id="rId57"/>
        <p:sld r:id="rId58"/>
        <p:sld r:id="rId59"/>
        <p:sld r:id="rId60"/>
        <p:sld r:id="rId61"/>
        <p:sld r:id="rId62"/>
        <p:sld r:id="rId63"/>
        <p:sld r:id="rId64"/>
        <p:sld r:id="rId65"/>
        <p:sld r:id="rId66"/>
        <p:sld r:id="rId67"/>
        <p:sld r:id="rId68"/>
        <p:sld r:id="rId69"/>
        <p:sld r:id="rId70"/>
        <p:sld r:id="rId71"/>
        <p:sld r:id="rId72"/>
        <p:sld r:id="rId73"/>
        <p:sld r:id="rId74"/>
        <p:sld r:id="rId75"/>
        <p:sld r:id="rId76"/>
        <p:sld r:id="rId77"/>
        <p:sld r:id="rId78"/>
        <p:sld r:id="rId79"/>
        <p:sld r:id="rId80"/>
        <p:sld r:id="rId81"/>
        <p:sld r:id="rId82"/>
        <p:sld r:id="rId83"/>
        <p:sld r:id="rId84"/>
        <p:sld r:id="rId85"/>
        <p:sld r:id="rId86"/>
        <p:sld r:id="rId87"/>
        <p:sld r:id="rId88"/>
        <p:sld r:id="rId89"/>
        <p:sld r:id="rId90"/>
        <p:sld r:id="rId91"/>
        <p:sld r:id="rId92"/>
        <p:sld r:id="rId93"/>
        <p:sld r:id="rId94"/>
        <p:sld r:id="rId95"/>
        <p:sld r:id="rId96"/>
        <p:sld r:id="rId97"/>
        <p:sld r:id="rId98"/>
        <p:sld r:id="rId99"/>
        <p:sld r:id="rId100"/>
        <p:sld r:id="rId101"/>
        <p:sld r:id="rId102"/>
        <p:sld r:id="rId103"/>
      </p:sldLst>
    </p:custShow>
  </p:custShow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SLD-M00-001] Eröffnung: Performance wird als messbares Systemverhalten behandelt. Autor: Gerhard Pisch. Der Foliensatz ist firmenneutral und verwendet ausschließlich synthetische Beispiele.</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SLD-M00-002] Die Schulung vermittelt kein Universalrezept. Eine Maßnahme ist erst belastbar, wenn ihre Wirkung unter vergleichbaren Bedingungen gemessen wurde.</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SLD-M00-003] Empirisch zu bestimmen sind mindestens Antwortzeit und Ressourcenverbrauch. Eine Verbesserung darf die Systemkapazität oder andere Sessions nicht unbeachtet verschlechtern.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SLD-M00-004] Dieser Ablauf ist der rote Faden des gesamten Decks. Änderungen ohne Hypothese und identische Vergleichsmessung erzeugen keine belastbare Evidenz.</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SLD-M00-005] Dokumentiert: Query Store speichert Query-, Plan-, Runtime- und Wait-Statistiken; DMVs sind je Objekt unterschiedlich kumulativ oder aktuell. Quelle: https://learn.microsoft.com/en-us/sql/relational-databases/performance/monitoring-performance-by-using-the-query-store?view=sql-server-ver17 | https://learn.microsoft.com/en-us/sql/relational-databases/performance/performance-monitoring-and-tuning-tools?view=sql-server-ver17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SLD-M00-006] Dokumentiert: Compatibility Level beeinflusst T-SQL- und Optimizerverhalten der Datenbank; Engine-Features können zusätzliche Voraussetzungen besitzen. Quellen: https://learn.microsoft.com/en-us/sql/relational-databases/performance/intelligent-query-processing?view=sql-server-ver17 | https://learn.microsoft.com/en-us/sql/sql-server/what-s-new-in-sql-server-2025?view=sql-server-ver17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SLD-M01-002] Logfiles arbeiten sequenziell innerhalb des aktiven VLF-Bereichs. Zusätzliche Logfiles erhöhen nicht automatisch den Logdurchsatz.</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SLD-M01-003] Korrektur gegenüber dem Altbestand: Tabellen in getrennte Filegroups zu legen garantiert keinen parallelen I/O. Physische Topologie und Workload müssen gemessen werden.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SLD-M01-004] Dokumentiert: Eine Page ist die fundamentale I/O- und Speichereinheit; acht zusammenhängende Pages bilden ein 64-KiB-Extent. Quelle: https://learn.microsoft.com/en-us/sql/relational-databases/pages-and-extents-architecture-guide?view=sql-server-ver17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SLD-M01-005] Die Darstellung ist vereinfacht und zeigt Status Bits, Fixed-Length-Anteil, NULL Bitmap, Variable-Length-Metadaten und variable Daten. Quelle: https://learn.microsoft.com/en-us/sql/relational-databases/pages-and-extents-architecture-guide?view=sql-server-ver17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SLD-M01-006] Empirisch: Die konkrete Rows-per-Page-Zahl ist vom Schema abhängig. Die Folie vermittelt die Kausalität, keinen universellen Faktor.</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SLD-M01-007] Dokumentiert: Allocation Units werden je Partition und Speichertyp geführt. Quelle: https://learn.microsoft.com/en-us/sql/relational-databases/pages-and-extents-architecture-guide?view=sql-server-ver17 |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SLD-M01-008] Logical Reads zählen Page-Zugriffe aus dem Buffer Pool. Physical Reads treten auf, wenn benötigte Pages nicht im Cache verfügbar sind. Read-ahead kann Pages vorab laden.</a:t>
            </a:r>
          </a:p>
          <a:p>
            <a:r>
              <a:t>Kennzeichnung: Dokumentierte Aussagen beruhen auf Microsoft-Learn-Primärdokumentation. Empirische Werte sind als solche zu messen und nicht als universelle Schwelle zu verwenden.</a:t>
            </a:r>
          </a:p>
          <a:p>
            <a:r>
              <a:t>Diagramm: Pfeile zeigen den Lesepfad von Data Files über den Buffer Pool zu den Query-Operatoren. Physical Read lädt eine Page in den Cache. Logical Read zählt den Page-Zugriff über den Cache und ist kein zusätzlicher physischer Read. Read-ahead bleibt separat zu interpretieren.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SLD-M01-009] Für Vorher-Nachher-Vergleiche sind identische Cache- und Warm-up-Bedingungen erforderlich.</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SLD-M01-010] Bei vollständig dauerhaften Transaktionen muss der relevante Logbereich vor der Commit-Bestätigung gehärtet sein. Delayed Durability ist eine gesonderte Trade-off-Entscheidung.</a:t>
            </a:r>
          </a:p>
          <a:p>
            <a:r>
              <a:t>Kennzeichnung: Dokumentierte Aussagen beruhen auf Microsoft-Learn-Primärdokumentation. Empirische Werte sind als solche zu messen und nicht als universelle Schwelle zu verwenden.</a:t>
            </a:r>
          </a:p>
          <a:p>
            <a:r>
              <a:t>Diagramm: Der gezeigte Commit-Pfad gilt für vollständige Durability. Ein Log Flush wartet nicht darauf, dass der Log Buffer voll ist. Checkpoint ist ein separater Vorgang und schreibt Dirty Pages unter Einhaltung von WAL, auch unabhängig von einer Commit-Bestätigung. Quelle: https://learn.microsoft.com/en-us/sql/relational-databases/logs/control-transaction-durability?view=sql-server-ver17 und https://learn.microsoft.com/en-us/sql/relational-databases/sql-server-transaction-log-architecture-and-management-guide?view=sql-server-ver17. Geprüft am 2026-10-05.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SLD-M01-011] Dokumentiert: Instant File Initialization gilt für Data Files, nicht für das Transaction Log. Prozentuelles Wachstum erschwert vorhersehbare Growth-Schritte.</a:t>
            </a:r>
          </a:p>
          <a:p>
            <a:r>
              <a:t>Kennzeichnung: Dokumentierte Aussagen beruhen auf Microsoft-Learn-Primärdokumentation. Empirische Werte sind als solche zu messen und nicht als universelle Schwelle zu verwenden.</a:t>
            </a:r>
          </a:p>
          <a:p>
            <a:r>
              <a:t>Korrektur: SQL Server 2019 bietet keine IFI für das Log. Seit SQL Server 2022 können Log-Autogrowth-Ereignisse bis einschließlich 64 MB von IFI profitieren. Größere Log-Wachstumsschritte profitieren nicht. Dies ist keine Empfehlung für häufiges kleines Autogrowth. Data-File-IFI besitzt gesonderte Sicherheits-, Plattform- und TDE-Voraussetzungen. Quelle SRC-034: https://learn.microsoft.com/en-us/sql/relational-databases/databases/database-instant-file-initialization?view=sql-server-ver17. Geprüft am 2026-10-05.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SLD-M01-012] Transfer: Der Plan beschreibt den Zugriffspfad, aber nicht allein den momentanen Zustand von Cache, Storage und Konkurrenz.</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SLD-M02-002] Dokumentiert: Der Query Processor kompiliert, optimiert und führt Statements aus; Plan Cache und Parametrisierung beeinflussen Wiederverwendung. Quelle: https://learn.microsoft.com/en-us/sql/relational-databases/query-processing-architecture-guide?view=sql-server-ver17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SLD-M02-003] Dokumentiert: Query Optimization ist kostenbasiert und time-bounded. Quelle: https://learn.microsoft.com/en-us/sql/relational-databases/query-processing-architecture-guide?view=sql-server-ver17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SLD-M02-004] Dokumentiert: CE nutzt primär Statistiken, zusätzlich Constraints, logische Umschreibungen und Modellannahmen. Quellen: https://learn.microsoft.com/en-us/sql/relational-databases/performance/cardinality-estimation-sql-server?view=sql-server-ver17 | https://learn.microsoft.com/en-us/sql/relational-databases/statistics/statistics?view=sql-server-ver17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SLD-M02-005] Dokumentiert: Das Histogramm umfasst höchstens 200 Schritte und bezieht sich auf die führende Statistikspalte. Quelle: https://learn.microsoft.com/en-us/sql/relational-databases/statistics/statistics?view=sql-server-ver17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SLD-M02-006] Quelle: https://learn.microsoft.com/en-us/sql/relational-databases/statistics/statistics?view=sql-server-ver17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SLD-M02-007] Constraints müssen vertrauenswürdig sein, damit sie als Optimizerinformation dienen. Nicht validierte Constraints sind gesondert zu prüfen.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SLD-M02-008] Actual Execution Plans verursachen Erfassungsaufwand. Bei produktionsweiter Erfassung sind Lightweight Profiling, Query Store oder gezielte XE-Pfade zu bevorzugen.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SLD-M02-009] Graphische Pläne werden häufig rechts nach links gelesen; entscheidend sind jedoch Datenfluss, Ausführungsanzahl, Actual Rows, Predicates, Warnings und Memory Grant.</a:t>
            </a:r>
          </a:p>
          <a:p>
            <a:r>
              <a:t>Kennzeichnung: Dokumentierte Aussagen beruhen auf Microsoft-Learn-Primärdokumentation. Empirische Werte sind als solche zu messen und nicht als universelle Schwelle zu verwenden.</a:t>
            </a:r>
          </a:p>
          <a:p>
            <a:r>
              <a:t>Diagramm: Vereinfachtes Lookup-Muster mit zwei Eingängen für Nested Loops. Der Nonclustered Index Seek liefert den Outer Input. Key Lookup ist der Inner Input und wird hier 100-mal aufgerufen. Beide Zeilenströme führen zum Nested-Loops-Operator und von dort zu SELECT. Die Pfeile zeigen Datenfluss. Die Pull-Aufrufe erfolgen vom Parent zu den Inputs in Gegenrichtung. Quelle: https://learn.microsoft.com/en-us/sql/relational-databases/performance/joins?view=sql-server-ver17. Geprüft am 2026-10-05.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SLD-M02-010] Kein Join ist allgemein überlegen. Kardinalität, Sortierung, Zugriffspfad und Memory bestimmen die Wahl.</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SLD-M02-011] Sorts und Hashes benötigen Query Workspace Memory. Zu kleine Grants erzeugen Spills; zu große Grants reduzieren verfügbare Concurrency.</a:t>
            </a:r>
          </a:p>
          <a:p>
            <a:r>
              <a:t>Kennzeichnung: Dokumentierte Aussagen beruhen auf Microsoft-Learn-Primärdokumentation. Empirische Werte sind als solche zu messen und nicht als universelle Schwelle zu verwenden.</a:t>
            </a:r>
          </a:p>
          <a:p>
            <a:r>
              <a:t>Diagramm: Granted Memory und Used Memory unterscheiden sich. Spill ist eine mögliche Laufzeitfolge unzureichenden Workspace und kein alternativer Messwert zu Used Memory. Overgrant bindet Workspace und kann konkurrierende Grants begrenzen. Quellen SRC-009 und SRC-010.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SLD-M02-012] Memory Grant Feedback kann wiederholte Ausführungen anpassen, ersetzt aber keine Ursachenanalyse.</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SLD-M02-013] Ein paralleler Plan verwendet Exchanges, Tasks und Workers auf Schedulern. Skew kann einzelne Worker dominieren; DOP ist kein Maß für tatsächlich gleichmäßige Arbeit.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SLD-M02-014] Dokumentiert (SQL Server 2019–2025): Beim Cache-Lookup werden Statementtext und planbeeinflussende Cacheattribute verglichen. Abweichende SET-Optionen können für denselben Batch einen zusätzlichen Cacheeintrag und Plan Handle erzeugen; dies ist nicht mit der Invalidierung eines bestehenden Plans gleichzusetzen.</a:t>
            </a:r>
          </a:p>
          <a:p>
            <a:r>
              <a:t>Schema- und Indexänderungen sowie Aktualisierungen von Statistiken, die für einen Plan verwendet wurden, können einen Plan ungültig machen oder eine statementbezogene Neukompilierung auslösen. `OPTION (RECOMPILE)` kompiliert das Statement mit den aktuellen Werten, verursacht jedoch erneut Compile-Arbeit.</a:t>
            </a:r>
          </a:p>
          <a:p>
            <a:r>
              <a:t>Query Store erfasst bei aktivierter Konfiguration eine persistente Historie von Queries, Plänen und Laufzeitstatistiken. Diese Historie ist nicht davon abhängig, dass der jeweilige Plan noch im Plan Cache liegt.</a:t>
            </a:r>
          </a:p>
          <a:p>
            <a:r>
              <a:t>Diagnosehinweis: Cache-Key-Mismatch, Eviction, Invalidierung und Recompile getrennt untersuchen. Mehrere Plan Handles bei unterschiedlichen SET-Optionen sind allein kein Recompile-Nachweis.</a:t>
            </a:r>
          </a:p>
          <a:p>
            <a:r>
              <a:t>Quellen: https://learn.microsoft.com/en-us/sql/relational-databases/query-processing-architecture-guide?view=sql-server-ver17 | https://learn.microsoft.com/en-us/sql/relational-databases/performance/monitoring-performance-by-using-the-query-store?view=sql-server-ver17</a:t>
            </a:r>
          </a:p>
          <a:p>
            <a:r>
              <a:t>Traceability: CLM-032; W2-007.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SLD-M02-015] Parameter Sniffing beschreibt das Verwenden eines Compile-time-Parameterwerts. Das Verhalten ist nützlich, solange eine Planstrategie für die Wertbereiche tragfähig bleibt.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SLD-M02-016] Dokumentiert: Intelligent Query Processing ist eine Featurefamilie und kein einzelner Schalter. Engine-Version und Compatibility Level bestimmen nur einen Teil der Voraussetzungen; Database Scoped Configurations, Query Store und die Eligibility der konkreten Query bleiben zusätzlich zu prüfen.</a:t>
            </a:r>
          </a:p>
          <a:p>
            <a:r>
              <a:t>SQL Server 2019 / CL 150: Batch Mode on Rowstore, Scalar UDF Inlining, Table Variable Deferred Compilation und Row-Mode Memory Grant Feedback. Die Funktionen greifen nur in geeigneten Queries und können teilweise datenbank- oder statementbezogen deaktiviert werden.</a:t>
            </a:r>
          </a:p>
          <a:p>
            <a:r>
              <a:t>SQL Server 2022: Memory-Grant-Feedback im Persistenz- und Perzentilmodus wurde mit Version 16.x eingeführt, ist jedoch bereits ab CL 140 verfügbar. Es wirkt nur bei aktiviertem Query Store im Modus READ_WRITE. PSP, CE Feedback und DOP Feedback setzen CL 160 voraus; Feedbackfunktionen benötigen Query Store.</a:t>
            </a:r>
          </a:p>
          <a:p>
            <a:r>
              <a:t>SQL Server 2025: CE Feedback für Ausdrücke erweitert die Feedbackfamilie. OPPO setzt CL 170 und `OPTIONAL_PARAMETER_OPTIMIZATION = ON` voraus; die Konfiguration ist bei CL 170 standardmäßig aktiviert. Eligibility ist weiterhin querybezogen.</a:t>
            </a:r>
          </a:p>
          <a:p>
            <a:r>
              <a:t>Diagnosehinweis: Nicht aus Produktversion oder Compatibility Level allein auf die tatsächliche Nutzung schließen. Datenbankkonfiguration, Query-Store-Zustand und Planattribute gemeinsam prüfen.</a:t>
            </a:r>
          </a:p>
          <a:p>
            <a:r>
              <a:t>Quellen: https://learn.microsoft.com/en-us/sql/relational-databases/performance/intelligent-query-processing?view=sql-server-ver17 | https://learn.microsoft.com/en-us/sql/relational-databases/performance/intelligent-query-processing-memory-grant-feedback?view=sql-server-ver17 | https://learn.microsoft.com/en-us/sql/relational-databases/performance/optional-parameter-optimization?view=sql-server-ver17</a:t>
            </a:r>
          </a:p>
          <a:p>
            <a:r>
              <a:t>Traceability: CLM-034; W2-007.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SLD-M02-017] Keine vorschnelle Maßnahme wie MAXDOP, Server-RAM oder Index Rebuild. Zuerst die Evidenzkette der betroffenen Ausführung aufbauen.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SLD-M03-002] SARGable bedeutet, dass ein Prädikat als Suchargument für einen Zugriffspfad verwendbar ist. Es garantiert weder einen Seek noch einen guten Gesamtplan.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SLD-M03-003] Richtung und Datentyp-Priorität bestimmen die Wirkung. Der Actual Plan kann PlanAffectingConvert-Warnings zeigen.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SLD-M03-004] Die obere Grenze ist exklusiv. Zeitzone und UTC-Konvertierung sind ein getrenntes Modellierungsthema.</a:t>
            </a:r>
          </a:p>
          <a:p>
            <a:r>
              <a:t>Kennzeichnung: Dokumentierte Aussagen beruhen auf Microsoft-Learn-Primärdokumentation. Empirische Werte sind als solche zu messen und nicht als universelle Schwelle zu verwenden.</a:t>
            </a:r>
          </a:p>
          <a:p>
            <a:r>
              <a:t>Beispielvoraussetzung: @Date ist vom Typ date oder enthält bei einem datetime-Typ exakt den Tagesbeginn. Beide Intervallgrenzen beziehen sich auf denselben Parameter. Das halboffene Intervall enthält alle Zeitpräzisionen des Tages.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SLD-M03-005] Dokumentiert: OPPO nutzt die Multiplan-Infrastruktur und ist ab SQL Server 2025 mit Compatibility Level 170 verfügbar. Quelle: https://learn.microsoft.com/en-us/sql/relational-databases/performance/intelligent-query-processing?view=sql-server-ver17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SLD-M03-006] Korrektur des Altbestands: Weder 'immer hineinkopiert' noch 'ab 2022 materialisiert' ist ein belastbarer Vertrag.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SLD-M03-007] Dokumentiert: Table Variable Deferred Compilation verschiebt bei CL 150 und höher die Kompilierung des referenzierenden Statements, sodass die bei dieser ersten Kompilierung vorhandene Zeilenzahl verwendet werden kann. Dadurch entstehen jedoch keine klassischen Spaltenstatistiken oder Histogramme.</a:t>
            </a:r>
          </a:p>
          <a:p>
            <a:r>
              <a:t>Ein gecachter Plan kann weiterhin auf der Zeilenzahl der ersten Kompilierung beruhen. Wechselnde Zeilenmengen und Datenverteilungen bleiben deshalb relevant. Deferred Compilation beseitigt weder Verteilungsblindheit noch jede Form von Parameter- oder Planempfindlichkeit.</a:t>
            </a:r>
          </a:p>
          <a:p>
            <a:r>
              <a:t>Temporäre Tabellen können Spaltenstatistiken besitzen und durch Phasengrenzen oder Statistikänderungen Neukompilierungen auslösen. Daraus folgt keine pauschale Überlegenheit; zusätzliche Statistik- und Compile-Kosten sind im konkreten Ablauf mitzubeurteilen.</a:t>
            </a:r>
          </a:p>
          <a:p>
            <a:r>
              <a:t>Empirische Entscheidung: Keine feste Zeilengrenze verwenden. Kardinalitätsvariation, Verteilungsabhängigkeit, Indexbedarf, Recompile-Kosten und der tatsächliche Plan bestimmen die geeignete Form.</a:t>
            </a:r>
          </a:p>
          <a:p>
            <a:r>
              <a:t>Validierte Runtime-Evidenz: OPT-013 zeigte auf SQL Server 2019, 2022 und 2025 bei 300.000 synthetischen Zeilen, dass querylokal deaktivierte Table Variable Deferred Compilation zu einem kleineren Grant und Sort-Spill führen kann; eine statistisch sichtbare Staging-Tabelle beseitigte den Spill. Dies belegt den Mechanismus im Laborszenario, nicht eine generelle Ablehnung von Table Variables.</a:t>
            </a:r>
          </a:p>
          <a:p>
            <a:r>
              <a:t>Quellen: https://learn.microsoft.com/en-us/sql/relational-databases/performance/intelligent-query-processing?view=sql-server-ver17 | https://learn.microsoft.com/en-us/sql/t-sql/data-types/table-transact-sql?view=sql-server-ver17</a:t>
            </a:r>
          </a:p>
          <a:p>
            <a:r>
              <a:t>Traceability: CLM-042; QRY-008; Runtime-Evidenz OPT-013; W2-007.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SLD-M03-008] Dokumentiert: Inline Table-Valued Functions bestehen aus einem relationalen SELECT-Ausdruck, der in die aufrufende Query integriert und gemeinsam optimiert werden kann.</a:t>
            </a:r>
          </a:p>
          <a:p>
            <a:r>
              <a:t>Multi-Statement Table-Valued Functions materialisieren eine Rückgabetabelle und besitzen keine klassischen Spaltenstatistiken. Ohne Interleaved Execution gilt seit SQL Server 2014 die feste Kardinalitätsannahme 100. Ab CL 140 kann Interleaved Execution bei geeigneten, lesenden Statements die MSTVF während der Optimierung materialisieren und die tatsächliche Kardinalität der ersten Ausführung für den nachgelagerten Plan verwenden. Die Funktion wird dadurch nicht zu einer Inline TVF; Eligibility und Planwiederverwendung bleiben zu prüfen.</a:t>
            </a:r>
          </a:p>
          <a:p>
            <a:r>
              <a:t>Scalar UDF Inlining ist ab SQL Server 2019 / CL 150 verfügbar. Sowohl die Funktionsdefinition als auch die Aufrufstelle müssen die Eligibility-Regeln erfüllen. `sys.sql_modules.is_inlineable = 1` beschreibt nur, dass die Definition grundsätzlich inlinebar ist; die tatsächliche Entscheidung erfolgt pro Query und UDF bei der Kompilierung.</a:t>
            </a:r>
          </a:p>
          <a:p>
            <a:r>
              <a:t>Planprüfung: Bei erfolgreichem Scalar UDF Inlining enthält die Plan-XML keinen `UserDefinedFunction`-Knoten für den Aufruf. Nicht inlinebare Scalar UDFs können iterativ ausgeführt werden, Kosten verbergen und Parallelität verhindern.</a:t>
            </a:r>
          </a:p>
          <a:p>
            <a:r>
              <a:t>Quellen: https://learn.microsoft.com/en-us/sql/relational-databases/user-defined-functions/create-user-defined-functions-database-engine?view=sql-server-ver17 | https://learn.microsoft.com/en-us/sql/relational-databases/performance/intelligent-query-processing-details?view=sql-server-ver17 | https://learn.microsoft.com/en-us/sql/relational-databases/user-defined-functions/scalar-udf-inlining?view=sql-server-ver17</a:t>
            </a:r>
          </a:p>
          <a:p>
            <a:r>
              <a:t>Traceability: CLM-043; QRY-009; W2-007.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SLD-M03-009] Korrektur des Altbestands: Partitionen werden nicht fest einzelnen Threads zugeordnet. Ein paralleler Plan kann Tasks anders verteilen.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SLD-M03-010] Linked Server und externe Quellen sind provider- und versionsabhängig. SQL Server 2025 enthält zusätzlich Breaking Changes bei Linked Servers; Upgradehinweise prüfen.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SLD-M03-011] Klein bedeutet fachlich korrekt, nicht blind minimal. Wertebereich, Präzision, Unicode und zukünftige Entwicklung bleiben Teil der Entscheidung.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SLD-M03-012] SARGability erweitert den Suchraum. Die Kostenentscheidung kann weiterhin einen Scan bevorzugen.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SLD-M04-002] Dokumentiert: Heap und Clustered Index sind alternative Base-Table-Strukturen. Quelle: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SLD-M04-003] Dokumentiert: Jede Partition besitzt eine eigene B+Tree-Struktur. Leaf Pages sind doppelt verkettet. Quelle: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a:p>
            <a:r>
              <a:t>Diagramm: Die Pfeile stellen Child-Page-Verweise und den Suchpfad vom Root über Intermediate zum Leaf Level dar. Sie zeigen keinen Execution-Plan-Datenfluss.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SLD-M04-004] Dokumentiert: Auf Heaps ist der Locator ein RID; auf Clustered Tables der Clustering Key einschließlich Uniqueifier, wenn erforderlich. Quelle: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a:p>
            <a:r>
              <a:t>Diagramm: Lookup-Navigation vom Nonclustered Index zum jeweiligen Basisobjekt. Heap verwendet RID Lookup, eine Clustered Table Key Lookup. Die beiden Zielobjekte sind Alternativen.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SLD-M04-005] Die verbreitete Regel 'selektivste Spalte zuerst' ist unvollständig. Prädikatform und benötigte Ordnung sind mindestens ebenso wichtig.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SLD-M04-006] Quelle: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SLD-M04-007] Der Tipping Point ist keine feste Zeilenzahl. Er hängt von Page-Anzahl, Row Width, Cache, Kostenmodell, Lookup-Art und benötigten Spalten ab.</a:t>
            </a:r>
          </a:p>
          <a:p>
            <a:r>
              <a:t>Kennzeichnung: Dokumentierte Aussagen beruhen auf Microsoft-Learn-Primärdokumentation. Empirische Werte sind als solche zu messen und nicht als universelle Schwelle zu verwenden.</a:t>
            </a:r>
          </a:p>
          <a:p>
            <a:r>
              <a:t>Diagramm: Schematische relative Zugriffskosten, keine gemessenen Zeiten und keine universelle Trefferschwelle. Die horizontale Achse zeigt steigende Trefferzahl. Indexbreite, Coverage, Page-Anzahl, Cache und Kostenmodell beeinflussen den Tipping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SLD-M04-008] Dokumentiert: Der Uniqueifier wird intern bei nicht eindeutigen Clustered Keys hinzugefügt, wenn erforderlich. Quelle: https://learn.microsoft.com/en-us/sql/relational-databases/sql-server-index-design-guide?view=sql-server-ver17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SLD-M04-009] Missing-Index-DMVs berücksichtigen unter anderem keine vollständige Überschneidung, DML-Kosten oder dauerhafte Workloadpriorität.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SLD-M04-010] Dokumentiert: Microsoft empfiehlt, Maintenance an messbaren Workloadfolgen auszurichten; feste Fragmentationsschwellen sind keine universelle Regel. Quelle: https://learn.microsoft.com/en-us/sql/relational-databases/indexes/reorganize-and-rebuild-indexes?view=sql-server-ver17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SLD-M04-011] Dokumentiert: REORGANIZE ist weniger ressourcenintensiv und online; REBUILD und REORGANIZE haben unterschiedliche Wirkung. Quelle: https://learn.microsoft.com/en-us/sql/relational-databases/indexes/reorganize-and-rebuild-indexes?view=sql-server-ver17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SLD-M04-012] Dokumentiert: Ein Rowgroup enthält pro Spalte ein Column Segment; Segmentmetadaten erlauben Elimination. Quelle: https://learn.microsoft.com/en-us/sql/relational-databases/indexes/columnstore-indexes-overview?view=sql-server-ver17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SLD-M04-013] Dokumentiert: Segment Elimination nutzt Segmentmetadaten; Batch Mode verarbeitet Rows gruppiert. Quelle: https://learn.microsoft.com/en-us/sql/relational-databases/indexes/columnstore-indexes-query-performance?view=sql-server-ver17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SLD-M04-014] Pauschale regelmäßige Rebuilds werden vermieden. Zuerst Rowgroup State, Größe, Deleted Rows, Overlap und konkrete Querywirkung prüfen.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SLD-M04-015] Die Antwort ist eine Workloadrechnung, keine isolierte Missing-Index-Zeile.</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SLD-M05-002] Dokumentiert: Locking und Row Versioning sind alternative Mechanismen zur Isolation. Quelle: https://learn.microsoft.com/en-us/sql/relational-databases/sql-server-transaction-locking-and-row-versioning-guide?view=sql-server-ver17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SLD-M05-003] Quelle: https://learn.microsoft.com/en-us/sql/relational-databases/sql-server-transaction-locking-and-row-versioning-guide?view=sql-server-ver17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SLD-M05-004] Nicht nur die längste wartende Session betrachten. Head Blocker, offene Transaktion, Wait Resource, Statement, Isolation und Clientstatus gemeinsam erfassen.</a:t>
            </a:r>
          </a:p>
          <a:p>
            <a:r>
              <a:t>Kennzeichnung: Dokumentierte Aussagen beruhen auf Microsoft-Learn-Primärdokumentation. Empirische Werte sind als solche zu messen und nicht als universelle Schwelle zu verwenden.</a:t>
            </a:r>
          </a:p>
          <a:p>
            <a:r>
              <a:t>Diagramm: Wartekanten sind von der wartenden Session auf die blockierende Session gerichtet. Session 62 und 73 warten auf 51, Session 84 wartet auf 62. Die vorhandene Pfeilrichtung ist korrekt und wurde bewusst erhalten.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SLD-M05-005] Quelle: https://learn.microsoft.com/en-us/sql/relational-databases/sql-server-transaction-locking-and-row-versioning-guide?view=sql-server-ver17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SLD-M05-006] TempDB-Diagnose trennt Kapazität, Dateilatenz, Allocation-Latches, Version Store und Query-Spills.</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SLD-M05-007] Dokumentiert: Optimized Locking besteht aus TID Locking und LAQ; SQL Server 2025 aktiviert es nicht standardmäßig. Quelle: https://learn.microsoft.com/en-us/sql/relational-databases/performance/optimized-locking?view=sql-server-ver17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SLD-M05-008] NOLOCK ist keine Standardantwort. Die korrekte Lösung hängt von Konsistenzanforderung und tatsächlicher Blocking-Ursache ab.</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SLD-M06-001] Sprecherhinweis: Kernaussage anhand der sichtbaren Folie herleiten.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SLD-M06-002] Bei parallelen Queries kann CPU Time größer als Elapsed Time sein. Wait-Zeiten verschiedener Tasks können parallel auftreten.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SLD-M06-003] Instanzweite kumulative Wait Stats werden als Delta eines definierten Fensters interpretiert. Startzeit, Reset und Hintergrundwaits sind zu dokumentieren.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SLD-M06-004] Memory Grant DMVs und Planattribute müssen zeitgleich erfasst werden, da wartende und laufende Grants schnell wechseln.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SLD-M06-005] Wait-Namen sind Ausgangspunkt, nicht Diagnoseabschluss. Bedeutung entsteht aus Scope, Dauer, Resource Description und Workloadkontext.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SLD-M06-006] Dokumentiert: Query Store speichert Query-, Plan-, Runtime- und Wait-Stores. Ab SQL Server 2022 ist Query Store für neue Datenbanken standardmäßig READ_WRITE. Quelle: https://learn.microsoft.com/en-us/sql/relational-databases/performance/monitoring-performance-by-using-the-query-store?view=sql-server-ver17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SLD-M06-007] Dokumentiert: Extended Events ist das bevorzugte leichtgewichtige Ereignissystem; DMVs liefern ausführungs- und systembezogene Zustände. Quelle: https://learn.microsoft.com/en-us/sql/relational-databases/performance/performance-monitoring-and-tuning-tools?view=sql-server-ver17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SLD-M06-008] Der Ablauf verhindert lokales Tuning an einer Query, wenn der Engpass außerhalb der Query oder in Concurrency liegt.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SLD-M06-009] Empirische Werte werden nicht als universelle Schwellenwerte veröffentlicht. Ergebnisbereiche und Abbruchbedingungen gehören zur Demo.</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SLD-M06-010] Die Diagnose folgt der fehlenden Zeit. Erst danach wird der Plan auf den passenden Ursachenpfad untersucht.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SLD-M07-001] Diese Prinzipien sind die verdichtete Arbeitsmethode des Decks.</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SLD-M07-002] Die Aufgabe kann auf eine reale, aber nicht in den Foliensatz übernommene Umgebung angewendet werden. Resultate bleiben lokal und werden nicht versioniert.</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SLD-M07-003] Quellenregister: https://learn.microsoft.com/en-us/sql/relational-databases/pages-and-extents-architecture-guide?view=sql-server-ver17 | https://learn.microsoft.com/en-us/sql/relational-databases/query-processing-architecture-guide?view=sql-server-ver17 | https://learn.microsoft.com/en-us/sql/relational-databases/statistics/statistics?view=sql-server-ver17 | https://learn.microsoft.com/en-us/sql/relational-databases/performance/cardinality-estimation-sql-server?view=sql-server-ver17 | https://learn.microsoft.com/en-us/sql/relational-databases/performance/intelligent-query-processing?view=sql-server-ver17 | https://learn.microsoft.com/en-us/sql/relational-databases/sql-server-index-design-guide?view=sql-server-ver17 | https://learn.microsoft.com/en-us/sql/relational-databases/indexes/columnstore-indexes-overview?view=sql-server-ver17 | https://learn.microsoft.com/en-us/sql/relational-databases/sql-server-transaction-locking-and-row-versioning-guide?view=sql-server-ver17 | https://learn.microsoft.com/en-us/sql/relational-databases/performance/monitoring-performance-by-using-the-query-store?view=sql-server-ver17 | https://learn.microsoft.com/en-us/sql/relational-databases/performance/performance-monitoring-and-tuning-tools?view=sql-server-ver17</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SLD-M03-101] Die verbreitete Formulierung „in der Anwendung langsam, in SSMS schnell“ beschreibt eine Beobachtung, keine Ursache. Wir benennen bewusst keine Clientdefaults, weil Treiber- und Werkzeugversionen unterschiedliche Vorgaben setzen. Stattdessen arbeiten wir mit zwei explizit gesetzten, neutralen Sessionprofilen. Das Ziel dieser Folie ist die Haltung: erst Kontext erheben, dann Hypothesen bilden. Die Demo QRY-013 widerlegt später genau eine solche voreilige Hypothese.</a:t>
            </a:r>
          </a:p>
          <a:p>
            <a:r>
              <a:t>Quellen: SRC-001, SRC-027, SRC-046 · Demo: QRY-013 · Claims: ADV-CLM-014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SLD-M03-102] Sichtbar wird das über sys.dm_exec_plan_attributes, insbesondere über das Attribut set_options, ausgewertet für ein einzelnes Demoobjekt. Wichtig ist die Reihenfolge der Aussagen: Der zusätzliche Cacheeintrag ist eine gesicherte Beobachtung, ein daraus abgeleiteter Laufzeitunterschied ist es nicht. In QRY-013 unterscheiden sich die beiden Profile ausschließlich in ARITHABORT; das Ergebnis bleibt bitgleich, die Anzahl der Cacheeinträge steigt von eins auf zwei. Eine pauschale Empfehlung zu einer einzelnen SET-Option leiten wir daraus nicht ab.</a:t>
            </a:r>
          </a:p>
          <a:p>
            <a:r>
              <a:t>Quellen: SRC-001, SRC-040, SRC-046 · Demo: QRY-013, OPT-007 · Claims: ADV-CLM-013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SLD-M03-103] Diese Folie ist das Gegengewicht zur vorherigen. In der Demo halten wir das Sessionprofil konstant und ändern nur den Parameterwert von einem seltenen auf einen häufigen Wert. Die logischen Lesevorgänge steigen deutlich, obwohl kein zusätzlicher Cacheeintrag entsteht. Genau hier bricht die Hypothese „es liegt an den SET-Optionen“ zusammen. Bleibt die Arbeitsmenge in einer Umgebung wider Erwarten gleich, meldet die Demo WARN_EMPIRICAL_VARIANCE statt eine Verschlechterung zu behaupten.</a:t>
            </a:r>
          </a:p>
          <a:p>
            <a:r>
              <a:t>Quellen: SRC-007, SRC-047 · Demo: QRY-013, OPT-008 · Claims: ADV-CLM-015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SLD-M03-104] Die vier Varianten sind keine Rangfolge, sondern ein Tauschverhältnis zwischen Planqualität, Wiederverwendung und Kompilierarbeit. Wer die Diagnose aus SLD-M03-101 ernst nimmt, muss wissen, welche Variante im Verdachtsfall tatsächlich vorliegt: Eine Anwendung sendet häufig parametrisierte Aufrufe, ein Werkzeugfenster häufig Literale. Damit unterscheiden sich beide bereits in der Information, die dem Optimierer zur Verfügung steht – unabhängig von jeder SET-Option. Die belastbare Bewertung von OPTION (RECOMPILE) erfolgt in QRY-004 über mehrere Ausführungen, nicht über eine einzelne schnelle Messung.</a:t>
            </a:r>
          </a:p>
          <a:p>
            <a:r>
              <a:t>Quellen: SRC-001, SRC-007, SRC-045, SRC-046 · Demo: QRY-004, OPT-008 · Claims: ADV-CLM-016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SLD-M03-105] Diese Folie leitet unmittelbar in QRY-013 über. Der Ablauf der Demo ist die Evidenzkette dieser Folie: Baseline mit Profil A, Demonstration mit Profil B, Observation mit Profil A und anderem Parameterwert, Mitigation mit Angleichung genau einer Dimension, Comparison mit erneuter Messung. Entscheidend ist die letzte Zeile: Wir vergleichen erst dann Laufzeiten, wenn alle Proben dieselbe Ergebnischecksumme liefern. Andernfalls vergleichen wir unterschiedliche Arbeiten und nicht unterschiedliche Bedingungen.</a:t>
            </a:r>
          </a:p>
          <a:p>
            <a:r>
              <a:t>Quellen: SRC-001, SRC-027, SRC-040, SRC-046 · Demo: QRY-013 · Claims: ADV-CLM-013, ADV-CLM-014, ADV-CLM-015, ADV-CLM-016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SLD-M03-111] Wichtig ist die Wortwahl: Wir nennen das Catch-all-Muster nicht falsch. Es ist wartbar, es liefert korrekte Ergebnisse und es erzeugt genau einen Cacheeintrag. Der Preis ist die fehlende Anpassung an die Selektivität. In der Demo QRY-004 messen wir das an drei Kombinationen mit 20, 19 980 und 4 000 Trefferzeilen; die Zahl der Planformen bleibt dabei bei eins. Erst diese Messung macht die anschließende Strategiediskussion belastbar.</a:t>
            </a:r>
          </a:p>
          <a:p>
            <a:r>
              <a:t>Quellen: SRC-001, SRC-045, SRC-049 · Demo: QRY-004 · Claims: –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SLD-M03-112] Diese Folie korrigiert zwei gegenläufige Vereinfachungen: „Recompile ist die Lösung“ und „Recompile ist zu teuer“. Beide sind ohne Kontext falsch. In QRY-004 prüfen wir den möglichen Nutzen für den selektiven Wert und danach den Preis anhand von 25 ungefilterten Wiederholungen je Variante bei identischer Arbeitsmenge. Die validierte 2019/2022/2025-Matrix erzeugte für den selektiven Wert keinen Read-Vorteil und meldete deshalb wahrheitsgemäß WARN_EMPIRICAL_VARIANCE. Die Demo behauptet weder eine Verbesserung noch eine Verschlechterung, die sich nicht von der Messstreuung trennen lässt.</a:t>
            </a:r>
          </a:p>
          <a:p>
            <a:r>
              <a:t>Quellen: SRC-001, SRC-045 · Demo: QRY-004 · Claims: ADV-CLM-017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SLD-M03-113] Sicherheit ist hier kein Nebenthema, sondern ein eigenständiges Abnahmekriterium. Die Demo prüft zwei Dinge unabhängig voneinander: Erstens enthält kein zwischengespeicherter Statementtext einen Filterwert – das belegt die Parameterbindung. Zweitens wird eine Filterdefinition außerhalb der Positivliste abgewiesen. Wer stattdessen Benutzereingaben in den Text konkateniert, baut eine Injektionsfläche und zusätzlich eine unbegrenzte Zahl von Statementformen. Beide Probleme entstehen aus derselben Entscheidung.</a:t>
            </a:r>
          </a:p>
          <a:p>
            <a:r>
              <a:t>Quellen: SRC-001, SRC-045 · Demo: QRY-004 · Claims: ADV-CLM-018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SLD-M03-114] In der Demo führen drei Ausführungen zu genau zwei Statementformen: zweimal Filter auf die Kategorie mit unterschiedlichen Werten, einmal Filter auf den Status. Die Prädikatsreihenfolge wird im Code normalisiert, damit Kategorie und Status in beliebiger Angabereihenfolge denselben Text ergeben. Ohne diese Normalisierung wächst die Zahl der Formen kombinatorisch. Das ist der Punkt, an dem dynamisches SQL tatsächlich teuer wird – nicht durch die Technik selbst, sondern durch unkontrollierte Textvarianten.</a:t>
            </a:r>
          </a:p>
          <a:p>
            <a:r>
              <a:t>Quellen: SRC-001, SRC-045 · Demo: QRY-004 · Claims: ADV-CLM-018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SLD-M03-115] Diese Folie leitet in QRY-004 über und schließt den Bogen. Die Demo vergleicht die drei Strategien unter identischer Datenverteilung und prüft für jede Filterkombination Zeilenzahl und Ergebnischecksumme, bevor sie über Lesevorgänge oder CPU spricht. Der Ausblick gehört ausdrücklich in die folgenden Demos: Parameter Sensitive Plan Optimization in OPT-009 und Optional Parameter Plan Optimization in OPT-010 lösen jeweils eine eigene Problemform und sind an Version, Compatibility Level und Eligibility gebunden. Sie ersetzen keine der drei hier verglichenen Strategien.</a:t>
            </a:r>
          </a:p>
          <a:p>
            <a:r>
              <a:t>Quellen: SRC-001, SRC-007, SRC-045, SRC-049 · Demo: QRY-004 · Claims: ADV-CLM-017, ADV-CLM-018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SLD-M03-121] Diese Folie räumt mit der Vorstellung auf, Parameter Sniffing lasse sich durch einen geschickt gewählten ersten Aufruf lösen. Die Demo OPT-009 misst denselben Querytext in beiden Reihenfolgen: einmal kompiliert der selektive Wert mit fünf Trefferzeilen, einmal der dominante mit 99 000. In beiden Durchläufen bleibt es bei genau einer Planform, und in beiden Durchläufen zahlt genau ein Wert drauf. Die Prüfsummen sind identisch – wir sprechen über Kosten, nicht über Ergebnisse. Erst wenn dieser Befund steht, ist die Diskussion über mehrere Planformen überhaupt sinnvoll.</a:t>
            </a:r>
          </a:p>
          <a:p>
            <a:r>
              <a:t>Quellen: SRC-001, SRC-007 · Demo: OPT-009 · Claims: –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SLD-M03-122] Der Dispatcherplan ist kein Ausführungsplan im gewohnten Sinn, sondern eine Weiche. Er trägt im Plan-XML das Element ParameterSensitivePredicate mit den Grenzen, an denen die Bänder getrennt werden. Die eigentliche Arbeit leisten die Varianten; sie werden als vorbereitete Anweisungen zwischengespeichert und tragen den vom Produkt erzeugten Hinweis PLAN PER VALUE. Diesen Hinweis kann niemand von Hand schreiben – er ist ein Erzeugnis des Optimierers und ausschließlich Evidenz. In der Demo weisen wir genau das nach: mindestens einen Dispatcherplan, mindestens zwei Varianten und die ausgewiesenen Grenzen.</a:t>
            </a:r>
          </a:p>
          <a:p>
            <a:r>
              <a:t>Quellen: SRC-007, SRC-008 · Demo: OPT-009 · Claims: ADV-CLM-019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SLD-M03-123] Hier liegt der häufigste Denkfehler im Umgang mit dieser Funktion: Sie wird eingeschaltet und danach als wirksam vorausgesetzt. Die Demo OPT-009 behandelt Eignung deshalb als Messgröße. Findet sie trotz passender Version keinen Dispatcherplan, endet die Phase kontrolliert mit SKIP_EVIDENCE_MISSING und weist aus, was beobachtet wurde. Sie erzwingt nichts über Ablaufkennzeichen oder undokumentierte Hinweise. Für die Praxis heißt das: Wer die Funktion einsetzt, prüft im Plan, ob sie für die eigene Abfrage überhaupt greift – und plant für den Fall, dass sie es nicht tut.</a:t>
            </a:r>
          </a:p>
          <a:p>
            <a:r>
              <a:t>Quellen: SRC-007, SRC-008, SRC-048 · Demo: OPT-009 · Claims: ADV-CLM-019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SLD-M03-124] Die Steuerbarkeit ist der praktische Kern dieser Folie. Eine Abfrage, die von der Weiche nicht profitiert, lässt sich einzeln abwählen, ohne die Datenbankeinstellung anzutasten – das prüft die Demo, indem sie bei eingeschalteter Datenbankeinstellung nachweist, dass für die abgewählte Abfrage kein Dispatcherplan entsteht. Umgekehrt gilt: Wer ohnehin mit OPTION (RECOMPILE) arbeitet, erhält keine Varianten, weil bei jeder Ausführung neu optimiert wird. Damit schließt sich der Bogen zu QRY-004: Parametersensitive Planoptimierung ist eine gezielte Antwort auf schiefe Gleichheitsprädikate, kein allgemeiner Beschleuniger und kein Ersatz für eine bewusste Strategiewahl. Optional Parameter Plan Optimization behandeln wir getrennt in OPT-010.</a:t>
            </a:r>
          </a:p>
          <a:p>
            <a:r>
              <a:t>Quellen: SRC-007, SRC-008 · Demo: OPT-009 · Claims: ADV-CLM-019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SLD-M03-131] Diese Folie trennt zwei Dinge, die im Alltag ständig vermischt werden. Bei OPT-009 ging es um Schiefe: dort existiert eine Suchplanform, sie passt nur nicht zu jedem Wert. Hier ist die Lage grundsätzlich anders. Die Demo OPT-010 arbeitet bewusst mit einer völlig gleichmäßigen Verteilung – 2 000 Agenten zu je genau 50 Zeilen –, damit niemand die Wirkung der Schiefe zuschreiben kann. Wir messen denselben Querytext in beiden Kompilierungsreihenfolgen und erhalten in beiden Fällen dieselbe Planform und dieselben Lesekosten für den belegten Parameter. Das ist der entscheidende Befund: Hier hilft kein günstiger Erstaufruf, weil es keine passende Planform gibt, die man treffen könnte.</a:t>
            </a:r>
          </a:p>
          <a:p>
            <a:r>
              <a:t>Quellen: SRC-001, SRC-049 · Demo: OPT-010 · Claims: –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SLD-M03-132] Technisch sitzt das Verfahren auf derselben Infrastruktur wie die parametersensitive Planoptimierung: ein Dispatcherplan als Weiche, dahinter mehrere Varianten als vorbereitete Anweisungen. Der Unterschied steckt im Prädikatelement. Bei OPT-009 steht dort ParameterSensitivePredicate mit Kardinalitätsgrenzen; hier steht OptionalParameterPredicate mit einem Ausdruck der Form [@p] IS NULL. Genau daran macht die Demo ihre Zuordnung fest – sie zählt beide Elementarten getrennt und meldet eine Warnung, falls beide zugleich auftreten. Nach der Auswahl faltet der Optimierer das Prädikat konstant; die Variante für den belegten Zustand sieht schlicht eine Gleichheitsbedingung und darf deshalb eine Suche verwenden.</a:t>
            </a:r>
          </a:p>
          <a:p>
            <a:r>
              <a:t>Quellen: SRC-026, SRC-049 · Demo: OPT-010 · Claims: ADV-CLM-020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SLD-M03-133] Die vier Ausschlussgründe sind keine Randnotiz, sondern der häufigste Grund dafür, dass die Funktion im eigenen Code nicht greift. Besonders die ersten beiden treffen bestehende Anwendungen hart: Wer optionale Suchen mit lokalen Variablen aufbaut oder sie bislang mit OPTION (RECOMPILE) entschärft hat, erhält keine Varianten. Das ist kein Fehler, sondern dokumentiertes Verhalten – und es bedeutet, dass eine Migration auf SQL Server 2025 die Funktion nicht automatisch nutzbar macht. Die Demo OPT-010 behandelt Eignung deshalb als Messgröße: Findet sie trotz passender Version keinen Dispatcherplan mit optionalem Parameterprädikat, endet die Phase kontrolliert mit SKIP_EVIDENCE_MISSING und weist aus, was beobachtet wurde.</a:t>
            </a:r>
          </a:p>
          <a:p>
            <a:r>
              <a:t>Quellen: SRC-007, SRC-026 · Demo: OPT-010 · Claims: ADV-CLM-020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SLD-M03-134] Die Steuerung ist zweistufig: die Datenbankeinstellung für die Fläche, der Abfragehinweis für den Einzelfall. Die Demo weist das nach, indem sie bei eingeschalteter Datenbankeinstellung belegt, dass für die ausdrücklich abgewählte Abfrage kein Dispatcherplan entsteht – bei identischem Ergebnis. Merken Sie sich zum Abschluss die Trennlinie: Die parametersensitive Planoptimierung entscheidet anhand geschätzter Kardinalitätsunterschiede bei Gleichheits- oder Bereichsprädikaten, die Optional Parameter Plan Optimization anhand der Frage, ob ein Parameter NULL ist. Eine Abfrage kann von beiden profitieren, von einem oder von keinem. Damit schließt sich der Bogen zu QRY-004: Wo keines der beiden Verfahren greift, bleiben die dort verglichenen Strategien die tragfähige Antwort.</a:t>
            </a:r>
          </a:p>
          <a:p>
            <a:r>
              <a:t>Quellen: SRC-026, SRC-049 · Demo: OPT-010 · Claims: ADV-CLM-020 · Tiefe: VERTIEFUNG</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[SLIDE-ID: SLD-M07-004] Abschluss ohne Kontakt-, Firmen- oder Organisationsangaben.</a:t>
            </a:r>
          </a:p>
          <a:p>
            <a:r>
              <a:t>Kennzeichnung: Dokumentierte Aussagen beruhen auf Microsoft-Learn-Primärdokumentation. Empirische Werte sind als solche zu messen und nicht als universelle Schwelle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7" name="accent-line">
            <a:extLst>
              <a:ext uri="{FF2B5EF4-FFF2-40B4-BE49-F238E27FC236}">
                <a16:creationId xmlns:a16="http://schemas.microsoft.com/office/drawing/2014/main" id="{482CB6D6-7EE7-49FD-96C2-29A8E7E97CEF}"/>
              </a:ext>
            </a:extLst>
          </p:cNvPr>
          <p:cNvSpPr>
            <a:spLocks noGrp="1"/>
          </p:cNvSpPr>
          <p:nvPr/>
        </p:nvSpPr>
        <p:spPr>
          <a:xfrm>
            <a:off x="609600" y="723900"/>
            <a:ext cx="76200" cy="4667250"/>
          </a:xfrm>
          <a:prstGeom prst="rect">
            <a:avLst/>
          </a:prstGeom>
          <a:solidFill>
            <a:srgbClr val="21B5C2"/>
          </a:solidFill>
          <a:ln w="0">
            <a:noFill/>
            <a:prstDash val="solid"/>
          </a:ln>
        </p:spPr>
        <p:txBody>
          <a:bodyPr/>
          <a:lstStyle/>
          <a:p>
            <a:endParaRPr/>
          </a:p>
        </p:txBody>
      </p:sp>
      <p:sp>
        <p:nvSpPr>
          <p:cNvPr id="2" name="eyebrow">
            <a:extLst>
              <a:ext uri="{FF2B5EF4-FFF2-40B4-BE49-F238E27FC236}">
                <a16:creationId xmlns:a16="http://schemas.microsoft.com/office/drawing/2014/main" id="{348AE86A-F8E2-4F15-A65F-714FB9D75FE9}"/>
              </a:ext>
            </a:extLst>
          </p:cNvPr>
          <p:cNvSpPr>
            <a:spLocks noGrp="1"/>
          </p:cNvSpPr>
          <p:nvPr/>
        </p:nvSpPr>
        <p:spPr>
          <a:xfrm>
            <a:off x="990600" y="723900"/>
            <a:ext cx="4762500" cy="2667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1B5C2"/>
                </a:solidFill>
                <a:latin typeface="Aptos"/>
                <a:ea typeface="Aptos"/>
                <a:cs typeface="Aptos"/>
              </a:defRPr>
            </a:pPr>
            <a:r>
              <a:rPr sz="1350" b="1" i="0">
                <a:solidFill>
                  <a:srgbClr val="21B5C2"/>
                </a:solidFill>
                <a:latin typeface="Aptos"/>
                <a:ea typeface="Aptos"/>
                <a:cs typeface="Aptos"/>
              </a:rPr>
              <a:t>SQL SERVER PERFORMANCE</a:t>
            </a:r>
          </a:p>
        </p:txBody>
      </p:sp>
      <p:sp>
        <p:nvSpPr>
          <p:cNvPr id="3" name="title">
            <a:extLst>
              <a:ext uri="{FF2B5EF4-FFF2-40B4-BE49-F238E27FC236}">
                <a16:creationId xmlns:a16="http://schemas.microsoft.com/office/drawing/2014/main" id="{A0B10994-0D51-4443-8276-E351A9059EDD}"/>
              </a:ext>
            </a:extLst>
          </p:cNvPr>
          <p:cNvSpPr>
            <a:spLocks noGrp="1"/>
          </p:cNvSpPr>
          <p:nvPr/>
        </p:nvSpPr>
        <p:spPr>
          <a:xfrm>
            <a:off x="990600" y="1562100"/>
            <a:ext cx="8858250" cy="2095500"/>
          </a:xfrm>
          <a:prstGeom prst="rect">
            <a:avLst/>
          </a:prstGeom>
          <a:noFill/>
          <a:ln w="0">
            <a:noFill/>
            <a:prstDash val="solid"/>
          </a:ln>
        </p:spPr>
        <p:txBody>
          <a:bodyPr wrap="square" lIns="0" tIns="0" rIns="0" bIns="0" anchor="t">
            <a:normAutofit/>
          </a:bodyPr>
          <a:lstStyle/>
          <a:p>
            <a:pPr algn="l">
              <a:lnSpc>
                <a:spcPct val="90000"/>
              </a:lnSpc>
              <a:buNone/>
              <a:defRPr sz="5400" b="1" i="0">
                <a:solidFill>
                  <a:srgbClr val="FFFFFF"/>
                </a:solidFill>
                <a:latin typeface="Aptos"/>
                <a:ea typeface="Aptos"/>
                <a:cs typeface="Aptos"/>
              </a:defRPr>
            </a:pPr>
            <a:r>
              <a:rPr sz="5400" b="1" i="0">
                <a:solidFill>
                  <a:srgbClr val="FFFFFF"/>
                </a:solidFill>
                <a:latin typeface="Aptos"/>
                <a:ea typeface="Aptos"/>
                <a:cs typeface="Aptos"/>
              </a:rPr>
              <a:t>Performance verstehen,</a:t>
            </a:r>
          </a:p>
          <a:p>
            <a:pPr algn="l">
              <a:lnSpc>
                <a:spcPct val="90000"/>
              </a:lnSpc>
              <a:buNone/>
              <a:defRPr sz="5400" b="1" i="0">
                <a:solidFill>
                  <a:srgbClr val="FFFFFF"/>
                </a:solidFill>
                <a:latin typeface="Aptos"/>
                <a:ea typeface="Aptos"/>
                <a:cs typeface="Aptos"/>
              </a:defRPr>
            </a:pPr>
            <a:r>
              <a:rPr sz="5400" b="1" i="0">
                <a:solidFill>
                  <a:srgbClr val="FFFFFF"/>
                </a:solidFill>
                <a:latin typeface="Aptos"/>
                <a:ea typeface="Aptos"/>
                <a:cs typeface="Aptos"/>
              </a:rPr>
              <a:t>bevor optimiert wird</a:t>
            </a:r>
          </a:p>
        </p:txBody>
      </p:sp>
      <p:sp>
        <p:nvSpPr>
          <p:cNvPr id="4" name="subtitle">
            <a:extLst>
              <a:ext uri="{FF2B5EF4-FFF2-40B4-BE49-F238E27FC236}">
                <a16:creationId xmlns:a16="http://schemas.microsoft.com/office/drawing/2014/main" id="{17D1F8A0-686E-4645-BB2D-C88A8C14B3A7}"/>
              </a:ext>
            </a:extLst>
          </p:cNvPr>
          <p:cNvSpPr>
            <a:spLocks noGrp="1"/>
          </p:cNvSpPr>
          <p:nvPr/>
        </p:nvSpPr>
        <p:spPr>
          <a:xfrm>
            <a:off x="990600" y="4114800"/>
            <a:ext cx="9239250" cy="762000"/>
          </a:xfrm>
          <a:prstGeom prst="rect">
            <a:avLst/>
          </a:prstGeom>
          <a:noFill/>
          <a:ln w="0">
            <a:noFill/>
            <a:prstDash val="solid"/>
          </a:ln>
        </p:spPr>
        <p:txBody>
          <a:bodyPr wrap="square" lIns="0" tIns="0" rIns="0" bIns="0" anchor="t">
            <a:normAutofit/>
          </a:bodyPr>
          <a:lstStyle/>
          <a:p>
            <a:pPr algn="l">
              <a:lnSpc>
                <a:spcPct val="105000"/>
              </a:lnSpc>
              <a:buNone/>
              <a:defRPr sz="2100" b="0" i="0">
                <a:solidFill>
                  <a:srgbClr val="C9D7E3"/>
                </a:solidFill>
                <a:latin typeface="Aptos"/>
                <a:ea typeface="Aptos"/>
                <a:cs typeface="Aptos"/>
              </a:defRPr>
            </a:pPr>
            <a:r>
              <a:rPr sz="2100" b="0" i="0">
                <a:solidFill>
                  <a:srgbClr val="C9D7E3"/>
                </a:solidFill>
                <a:latin typeface="Aptos"/>
                <a:ea typeface="Aptos"/>
                <a:cs typeface="Aptos"/>
              </a:rPr>
              <a:t>Storage · Optimizer · Query Patterns · Indizes · Concurrency · Diagnose</a:t>
            </a:r>
          </a:p>
        </p:txBody>
      </p:sp>
      <p:sp>
        <p:nvSpPr>
          <p:cNvPr id="5" name="author">
            <a:extLst>
              <a:ext uri="{FF2B5EF4-FFF2-40B4-BE49-F238E27FC236}">
                <a16:creationId xmlns:a16="http://schemas.microsoft.com/office/drawing/2014/main" id="{6FA91269-A1E6-4B93-ADE5-31DA5E1D05DA}"/>
              </a:ext>
            </a:extLst>
          </p:cNvPr>
          <p:cNvSpPr>
            <a:spLocks noGrp="1"/>
          </p:cNvSpPr>
          <p:nvPr/>
        </p:nvSpPr>
        <p:spPr>
          <a:xfrm>
            <a:off x="990600" y="5905500"/>
            <a:ext cx="285750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FFFFFF"/>
                </a:solidFill>
                <a:latin typeface="Aptos"/>
                <a:ea typeface="Aptos"/>
                <a:cs typeface="Aptos"/>
              </a:defRPr>
            </a:pPr>
            <a:r>
              <a:rPr sz="1350" b="1" i="0">
                <a:solidFill>
                  <a:srgbClr val="FFFFFF"/>
                </a:solidFill>
                <a:latin typeface="Aptos"/>
                <a:ea typeface="Aptos"/>
                <a:cs typeface="Aptos"/>
              </a:rPr>
              <a:t>Gerhard Pisch</a:t>
            </a:r>
          </a:p>
        </p:txBody>
      </p:sp>
      <p:sp>
        <p:nvSpPr>
          <p:cNvPr id="6" name="version">
            <a:extLst>
              <a:ext uri="{FF2B5EF4-FFF2-40B4-BE49-F238E27FC236}">
                <a16:creationId xmlns:a16="http://schemas.microsoft.com/office/drawing/2014/main" id="{1816D198-33A7-473D-B53C-1C66A914A479}"/>
              </a:ext>
            </a:extLst>
          </p:cNvPr>
          <p:cNvSpPr>
            <a:spLocks noGrp="1"/>
          </p:cNvSpPr>
          <p:nvPr/>
        </p:nvSpPr>
        <p:spPr>
          <a:xfrm>
            <a:off x="7239000" y="5905500"/>
            <a:ext cx="3810000" cy="228600"/>
          </a:xfrm>
          <a:prstGeom prst="rect">
            <a:avLst/>
          </a:prstGeom>
          <a:noFill/>
          <a:ln w="0">
            <a:noFill/>
            <a:prstDash val="solid"/>
          </a:ln>
        </p:spPr>
        <p:txBody>
          <a:bodyPr wrap="square" lIns="0" tIns="0" rIns="0" bIns="0" anchor="t">
            <a:normAutofit/>
          </a:bodyPr>
          <a:lstStyle/>
          <a:p>
            <a:pPr algn="r">
              <a:lnSpc>
                <a:spcPct val="105000"/>
              </a:lnSpc>
              <a:buNone/>
              <a:defRPr sz="1350" b="0" i="0">
                <a:solidFill>
                  <a:srgbClr val="C9D7E3"/>
                </a:solidFill>
                <a:latin typeface="Aptos"/>
                <a:ea typeface="Aptos"/>
                <a:cs typeface="Aptos"/>
              </a:defRPr>
            </a:pPr>
            <a:r>
              <a:rPr sz="1350" b="0" i="0">
                <a:solidFill>
                  <a:srgbClr val="C9D7E3"/>
                </a:solidFill>
                <a:latin typeface="Aptos"/>
                <a:ea typeface="Aptos"/>
                <a:cs typeface="Aptos"/>
              </a:rPr>
              <a:t>SQL Server 2019 · 2022 · 2025</a:t>
            </a:r>
          </a:p>
        </p:txBody>
      </p:sp>
    </p:spTree>
    <p:extLst>
      <p:ext uri="{BB962C8B-B14F-4D97-AF65-F5344CB8AC3E}">
        <p14:creationId xmlns:p14="http://schemas.microsoft.com/office/powerpoint/2010/main" val="1929482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C342DD5A-9599-40C6-A57D-2227FBBD82E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a:ext uri="{FF2B5EF4-FFF2-40B4-BE49-F238E27FC236}">
                <a16:creationId xmlns:a16="http://schemas.microsoft.com/office/drawing/2014/main" id="{EEC3C27E-3717-44DD-8C0C-F3F0039B68A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Das Lernziel ist eine belastbare Diagnose – keine Sammlung von Tuningregeln</a:t>
            </a:r>
          </a:p>
        </p:txBody>
      </p:sp>
      <p:sp>
        <p:nvSpPr>
          <p:cNvPr id="3" name="title-rule">
            <a:extLst>
              <a:ext uri="{FF2B5EF4-FFF2-40B4-BE49-F238E27FC236}">
                <a16:creationId xmlns:a16="http://schemas.microsoft.com/office/drawing/2014/main" id="{1E14C287-94A7-4FDC-802E-A7AB66EF225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2B31E5CB-1566-4C84-90B4-5FDC27C2C06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96313C7E-8AA3-4A6B-9ABB-1B1E661E480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 / 102</a:t>
            </a:r>
          </a:p>
        </p:txBody>
      </p:sp>
      <p:sp>
        <p:nvSpPr>
          <p:cNvPr id="6" name="lead">
            <a:extLst>
              <a:ext uri="{FF2B5EF4-FFF2-40B4-BE49-F238E27FC236}">
                <a16:creationId xmlns:a16="http://schemas.microsoft.com/office/drawing/2014/main" id="{D1DEF135-48B2-40BC-A41A-69D3110AD155}"/>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Eine gute Analyse verbindet Symptom, Messwert, technische Ursache, Änderung und erneute Messung.</a:t>
            </a:r>
          </a:p>
        </p:txBody>
      </p:sp>
      <p:sp>
        <p:nvSpPr>
          <p:cNvPr id="7" name="lead-accent">
            <a:extLst>
              <a:ext uri="{FF2B5EF4-FFF2-40B4-BE49-F238E27FC236}">
                <a16:creationId xmlns:a16="http://schemas.microsoft.com/office/drawing/2014/main" id="{4870772E-FF4D-4FFE-B010-74C3D1FAE37F}"/>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59BADB8A-FC5E-466A-9578-E6841506C889}"/>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Storage und Query Processing als zusammenhängendes System lesen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Execution Plans und Laufzeitmetriken gemeinsam interpretieren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Trade-offs für Reads, Writes, Memory und Concurrency erkennen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Version und Compatibility Level ausdrücklich berücksichtigen</a:t>
            </a:r>
          </a:p>
        </p:txBody>
      </p:sp>
    </p:spTree>
    <p:extLst>
      <p:ext uri="{BB962C8B-B14F-4D97-AF65-F5344CB8AC3E}">
        <p14:creationId xmlns:p14="http://schemas.microsoft.com/office/powerpoint/2010/main" val="171187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FAA0D43A-4B75-413B-A489-B12A51E41AC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a:ext uri="{FF2B5EF4-FFF2-40B4-BE49-F238E27FC236}">
                <a16:creationId xmlns:a16="http://schemas.microsoft.com/office/drawing/2014/main" id="{544DBACF-F4A8-4988-97A1-38AFF609C272}"/>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Performance hat drei gleichzeitig relevante Dimensionen</a:t>
            </a:r>
          </a:p>
        </p:txBody>
      </p:sp>
      <p:sp>
        <p:nvSpPr>
          <p:cNvPr id="3" name="title-rule">
            <a:extLst>
              <a:ext uri="{FF2B5EF4-FFF2-40B4-BE49-F238E27FC236}">
                <a16:creationId xmlns:a16="http://schemas.microsoft.com/office/drawing/2014/main" id="{6BAD1B2F-782C-4627-B91A-3D1E9C8A798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E8F9B217-5333-4AD5-B0C9-2CB39765F7A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4479A1E-797F-4D2D-BB14-0EED6D5F972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 / 102</a:t>
            </a:r>
          </a:p>
        </p:txBody>
      </p:sp>
      <p:sp>
        <p:nvSpPr>
          <p:cNvPr id="6" name="left-title">
            <a:extLst>
              <a:ext uri="{FF2B5EF4-FFF2-40B4-BE49-F238E27FC236}">
                <a16:creationId xmlns:a16="http://schemas.microsoft.com/office/drawing/2014/main" id="{6E9BFAE1-7A2E-446B-81F2-5147CEF6EE25}"/>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Antwortzeit</a:t>
            </a:r>
          </a:p>
        </p:txBody>
      </p:sp>
      <p:sp>
        <p:nvSpPr>
          <p:cNvPr id="7" name="right-title">
            <a:extLst>
              <a:ext uri="{FF2B5EF4-FFF2-40B4-BE49-F238E27FC236}">
                <a16:creationId xmlns:a16="http://schemas.microsoft.com/office/drawing/2014/main" id="{F70BC8C1-E08E-42DC-8644-46608EE07A8E}"/>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Ressourcen und Durchsatz</a:t>
            </a:r>
          </a:p>
        </p:txBody>
      </p:sp>
      <p:sp>
        <p:nvSpPr>
          <p:cNvPr id="8" name="middle-rule">
            <a:extLst>
              <a:ext uri="{FF2B5EF4-FFF2-40B4-BE49-F238E27FC236}">
                <a16:creationId xmlns:a16="http://schemas.microsoft.com/office/drawing/2014/main" id="{174CBF3D-983B-45A3-97F3-9D72A96B43EB}"/>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8B4F4899-D0AF-4F2C-9C66-5DD25982FE80}"/>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Duration und Latenz</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Verteilung statt nur Mittelwert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relevanter Zeitraum und Workload</a:t>
            </a:r>
          </a:p>
        </p:txBody>
      </p:sp>
      <p:sp>
        <p:nvSpPr>
          <p:cNvPr id="10" name="right-points">
            <a:extLst>
              <a:ext uri="{FF2B5EF4-FFF2-40B4-BE49-F238E27FC236}">
                <a16:creationId xmlns:a16="http://schemas.microsoft.com/office/drawing/2014/main" id="{7334FFA7-6E92-4290-805B-F3EC6A561DAE}"/>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Prozessorzeit (CPU), Reads, Writes und Memory</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Wartezeiten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Arbeit pro Ergebniszeile</a:t>
            </a:r>
          </a:p>
        </p:txBody>
      </p:sp>
      <p:sp>
        <p:nvSpPr>
          <p:cNvPr id="11" name="conclusion-bg">
            <a:extLst>
              <a:ext uri="{FF2B5EF4-FFF2-40B4-BE49-F238E27FC236}">
                <a16:creationId xmlns:a16="http://schemas.microsoft.com/office/drawing/2014/main" id="{897637CB-47FE-4C0A-87C1-71A56611ADC1}"/>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7C79B17E-CA70-4406-AD37-EB2CBF3ECA08}"/>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einzelne schnelle Abfrage kann dennoch unnötig viele Ressourcen verbrauchen.</a:t>
            </a:r>
          </a:p>
        </p:txBody>
      </p:sp>
    </p:spTree>
    <p:extLst>
      <p:ext uri="{BB962C8B-B14F-4D97-AF65-F5344CB8AC3E}">
        <p14:creationId xmlns:p14="http://schemas.microsoft.com/office/powerpoint/2010/main" val="1791417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 name="module-label">
            <a:extLst>
              <a:ext uri="{FF2B5EF4-FFF2-40B4-BE49-F238E27FC236}">
                <a16:creationId xmlns:a16="http://schemas.microsoft.com/office/drawing/2014/main" id="{A8DA4FEC-B4FD-4CF7-BCBC-4A1C4624089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a:ext uri="{FF2B5EF4-FFF2-40B4-BE49-F238E27FC236}">
                <a16:creationId xmlns:a16="http://schemas.microsoft.com/office/drawing/2014/main" id="{71BE99A1-EF11-4A9B-B701-986F08F3437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Diagnosezyklus bleibt über alle Module gleich</a:t>
            </a:r>
          </a:p>
        </p:txBody>
      </p:sp>
      <p:sp>
        <p:nvSpPr>
          <p:cNvPr id="3" name="title-rule">
            <a:extLst>
              <a:ext uri="{FF2B5EF4-FFF2-40B4-BE49-F238E27FC236}">
                <a16:creationId xmlns:a16="http://schemas.microsoft.com/office/drawing/2014/main" id="{CEF17C91-128A-4510-B938-223367401AB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6E764B85-865A-4B23-BA1E-6EFC0ADE3CE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F1EAB33A-9F1C-42D4-8225-A88A88B97C1A}"/>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 / 102</a:t>
            </a:r>
          </a:p>
        </p:txBody>
      </p:sp>
      <p:sp>
        <p:nvSpPr>
          <p:cNvPr id="6" name="flow-1">
            <a:extLst>
              <a:ext uri="{FF2B5EF4-FFF2-40B4-BE49-F238E27FC236}">
                <a16:creationId xmlns:a16="http://schemas.microsoft.com/office/drawing/2014/main" id="{778DE1E6-3BD4-4772-B982-9CDFF6CA892C}"/>
              </a:ext>
            </a:extLst>
          </p:cNvPr>
          <p:cNvSpPr>
            <a:spLocks noGrp="1"/>
          </p:cNvSpPr>
          <p:nvPr/>
        </p:nvSpPr>
        <p:spPr>
          <a:xfrm>
            <a:off x="609600" y="2609850"/>
            <a:ext cx="1962150"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7" name="flow-1-text">
            <a:extLst>
              <a:ext uri="{FF2B5EF4-FFF2-40B4-BE49-F238E27FC236}">
                <a16:creationId xmlns:a16="http://schemas.microsoft.com/office/drawing/2014/main" id="{4BCE2874-2906-4B43-A06C-F7B2F1C845C0}"/>
              </a:ext>
            </a:extLst>
          </p:cNvPr>
          <p:cNvSpPr>
            <a:spLocks noGrp="1"/>
          </p:cNvSpPr>
          <p:nvPr/>
        </p:nvSpPr>
        <p:spPr>
          <a:xfrm>
            <a:off x="7429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Symptom</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eingrenzen</a:t>
            </a:r>
          </a:p>
        </p:txBody>
      </p:sp>
      <p:sp>
        <p:nvSpPr>
          <p:cNvPr id="8" name="flow-2">
            <a:extLst>
              <a:ext uri="{FF2B5EF4-FFF2-40B4-BE49-F238E27FC236}">
                <a16:creationId xmlns:a16="http://schemas.microsoft.com/office/drawing/2014/main" id="{96B56C3C-F08A-4D4E-9086-750C0819440D}"/>
              </a:ext>
            </a:extLst>
          </p:cNvPr>
          <p:cNvSpPr>
            <a:spLocks noGrp="1"/>
          </p:cNvSpPr>
          <p:nvPr/>
        </p:nvSpPr>
        <p:spPr>
          <a:xfrm>
            <a:off x="27813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9" name="flow-2-text">
            <a:extLst>
              <a:ext uri="{FF2B5EF4-FFF2-40B4-BE49-F238E27FC236}">
                <a16:creationId xmlns:a16="http://schemas.microsoft.com/office/drawing/2014/main" id="{01BD865A-9EE8-421D-9782-B146BDB76EF9}"/>
              </a:ext>
            </a:extLst>
          </p:cNvPr>
          <p:cNvSpPr>
            <a:spLocks noGrp="1"/>
          </p:cNvSpPr>
          <p:nvPr/>
        </p:nvSpPr>
        <p:spPr>
          <a:xfrm>
            <a:off x="29146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Messung</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erfassen</a:t>
            </a:r>
          </a:p>
        </p:txBody>
      </p:sp>
      <p:sp>
        <p:nvSpPr>
          <p:cNvPr id="10" name="flow-3">
            <a:extLst>
              <a:ext uri="{FF2B5EF4-FFF2-40B4-BE49-F238E27FC236}">
                <a16:creationId xmlns:a16="http://schemas.microsoft.com/office/drawing/2014/main" id="{A0EE63FF-82AE-45A0-86F3-B117CC96C572}"/>
              </a:ext>
            </a:extLst>
          </p:cNvPr>
          <p:cNvSpPr>
            <a:spLocks noGrp="1"/>
          </p:cNvSpPr>
          <p:nvPr/>
        </p:nvSpPr>
        <p:spPr>
          <a:xfrm>
            <a:off x="49530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1" name="flow-3-text">
            <a:extLst>
              <a:ext uri="{FF2B5EF4-FFF2-40B4-BE49-F238E27FC236}">
                <a16:creationId xmlns:a16="http://schemas.microsoft.com/office/drawing/2014/main" id="{F2B803AF-2361-446E-A544-8046B3E58DFC}"/>
              </a:ext>
            </a:extLst>
          </p:cNvPr>
          <p:cNvSpPr>
            <a:spLocks noGrp="1"/>
          </p:cNvSpPr>
          <p:nvPr/>
        </p:nvSpPr>
        <p:spPr>
          <a:xfrm>
            <a:off x="50863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Hypothese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formulieren</a:t>
            </a:r>
          </a:p>
        </p:txBody>
      </p:sp>
      <p:sp>
        <p:nvSpPr>
          <p:cNvPr id="12" name="flow-4">
            <a:extLst>
              <a:ext uri="{FF2B5EF4-FFF2-40B4-BE49-F238E27FC236}">
                <a16:creationId xmlns:a16="http://schemas.microsoft.com/office/drawing/2014/main" id="{FE4CB4F5-60C2-44DD-BD1F-9223EC0C1ACC}"/>
              </a:ext>
            </a:extLst>
          </p:cNvPr>
          <p:cNvSpPr>
            <a:spLocks noGrp="1"/>
          </p:cNvSpPr>
          <p:nvPr/>
        </p:nvSpPr>
        <p:spPr>
          <a:xfrm>
            <a:off x="71247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3" name="flow-4-text">
            <a:extLst>
              <a:ext uri="{FF2B5EF4-FFF2-40B4-BE49-F238E27FC236}">
                <a16:creationId xmlns:a16="http://schemas.microsoft.com/office/drawing/2014/main" id="{911744B5-9F44-4C89-A043-824C226065BF}"/>
              </a:ext>
            </a:extLst>
          </p:cNvPr>
          <p:cNvSpPr>
            <a:spLocks noGrp="1"/>
          </p:cNvSpPr>
          <p:nvPr/>
        </p:nvSpPr>
        <p:spPr>
          <a:xfrm>
            <a:off x="72580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Eine Änderung</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durchführen</a:t>
            </a:r>
          </a:p>
        </p:txBody>
      </p:sp>
      <p:sp>
        <p:nvSpPr>
          <p:cNvPr id="14" name="flow-5">
            <a:extLst>
              <a:ext uri="{FF2B5EF4-FFF2-40B4-BE49-F238E27FC236}">
                <a16:creationId xmlns:a16="http://schemas.microsoft.com/office/drawing/2014/main" id="{5C63B3C2-1345-4AFC-B0D7-21598246B3E5}"/>
              </a:ext>
            </a:extLst>
          </p:cNvPr>
          <p:cNvSpPr>
            <a:spLocks noGrp="1"/>
          </p:cNvSpPr>
          <p:nvPr/>
        </p:nvSpPr>
        <p:spPr>
          <a:xfrm>
            <a:off x="92964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5" name="flow-5-text">
            <a:extLst>
              <a:ext uri="{FF2B5EF4-FFF2-40B4-BE49-F238E27FC236}">
                <a16:creationId xmlns:a16="http://schemas.microsoft.com/office/drawing/2014/main" id="{72436C09-87B9-41F3-9F25-6A471B0C060C}"/>
              </a:ext>
            </a:extLst>
          </p:cNvPr>
          <p:cNvSpPr>
            <a:spLocks noGrp="1"/>
          </p:cNvSpPr>
          <p:nvPr/>
        </p:nvSpPr>
        <p:spPr>
          <a:xfrm>
            <a:off x="94297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Vergleich</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bewerten</a:t>
            </a:r>
          </a:p>
        </p:txBody>
      </p:sp>
      <p:cxnSp>
        <p:nvCxnSpPr>
          <p:cNvPr id="132" name="Gerade Verbindung mit Pfeil 74"/>
          <p:cNvCxnSpPr>
            <a:stCxn id="6" idx="3"/>
            <a:endCxn id="8" idx="1"/>
          </p:cNvCxnSpPr>
          <p:nvPr/>
        </p:nvCxnSpPr>
        <p:spPr>
          <a:xfrm>
            <a:off x="2571750" y="3324225"/>
            <a:ext cx="209550" cy="0"/>
          </a:xfrm>
          <a:prstGeom prst="straightConnector1">
            <a:avLst/>
          </a:prstGeom>
          <a:ln w="28575">
            <a:solidFill>
              <a:srgbClr val="007C83"/>
            </a:solidFill>
            <a:prstDash val="solid"/>
            <a:tailEnd type="arrow" w="med" len="med"/>
          </a:ln>
        </p:spPr>
      </p:cxnSp>
      <p:cxnSp>
        <p:nvCxnSpPr>
          <p:cNvPr id="133" name="Gerade Verbindung mit Pfeil 75"/>
          <p:cNvCxnSpPr>
            <a:stCxn id="8" idx="3"/>
            <a:endCxn id="10" idx="1"/>
          </p:cNvCxnSpPr>
          <p:nvPr/>
        </p:nvCxnSpPr>
        <p:spPr>
          <a:xfrm>
            <a:off x="4743450" y="3324225"/>
            <a:ext cx="209550" cy="0"/>
          </a:xfrm>
          <a:prstGeom prst="straightConnector1">
            <a:avLst/>
          </a:prstGeom>
          <a:ln w="28575">
            <a:solidFill>
              <a:srgbClr val="007C83"/>
            </a:solidFill>
            <a:prstDash val="solid"/>
            <a:tailEnd type="arrow" w="med" len="med"/>
          </a:ln>
        </p:spPr>
      </p:cxnSp>
      <p:cxnSp>
        <p:nvCxnSpPr>
          <p:cNvPr id="134" name="Gerade Verbindung mit Pfeil 76"/>
          <p:cNvCxnSpPr>
            <a:stCxn id="10" idx="3"/>
            <a:endCxn id="12" idx="1"/>
          </p:cNvCxnSpPr>
          <p:nvPr/>
        </p:nvCxnSpPr>
        <p:spPr>
          <a:xfrm>
            <a:off x="6915150" y="3324225"/>
            <a:ext cx="209550" cy="0"/>
          </a:xfrm>
          <a:prstGeom prst="straightConnector1">
            <a:avLst/>
          </a:prstGeom>
          <a:ln w="28575">
            <a:solidFill>
              <a:srgbClr val="007C83"/>
            </a:solidFill>
            <a:prstDash val="solid"/>
            <a:tailEnd type="arrow" w="med" len="med"/>
          </a:ln>
        </p:spPr>
      </p:cxnSp>
      <p:cxnSp>
        <p:nvCxnSpPr>
          <p:cNvPr id="135" name="Gerade Verbindung mit Pfeil 77"/>
          <p:cNvCxnSpPr>
            <a:stCxn id="12" idx="3"/>
            <a:endCxn id="14" idx="1"/>
          </p:cNvCxnSpPr>
          <p:nvPr/>
        </p:nvCxnSpPr>
        <p:spPr>
          <a:xfrm>
            <a:off x="9086850" y="3324225"/>
            <a:ext cx="209550" cy="0"/>
          </a:xfrm>
          <a:prstGeom prst="straightConnector1">
            <a:avLst/>
          </a:prstGeom>
          <a:ln w="28575">
            <a:solidFill>
              <a:srgbClr val="007C83"/>
            </a:solidFill>
            <a:prstDash val="solid"/>
            <a:tailEnd type="arrow" w="med" len="med"/>
          </a:ln>
        </p:spPr>
      </p:cxnSp>
      <p:sp>
        <p:nvSpPr>
          <p:cNvPr id="20" name="conclusion-bg">
            <a:extLst>
              <a:ext uri="{FF2B5EF4-FFF2-40B4-BE49-F238E27FC236}">
                <a16:creationId xmlns:a16="http://schemas.microsoft.com/office/drawing/2014/main" id="{05F41477-6AE9-4E38-98DE-85C33F4816AF}"/>
              </a:ext>
            </a:extLst>
          </p:cNvPr>
          <p:cNvSpPr>
            <a:spLocks noGrp="1"/>
          </p:cNvSpPr>
          <p:nvPr/>
        </p:nvSpPr>
        <p:spPr>
          <a:xfrm>
            <a:off x="1752600" y="4762500"/>
            <a:ext cx="8382000" cy="819150"/>
          </a:xfrm>
          <a:prstGeom prst="roundRect">
            <a:avLst>
              <a:gd name="adj" fmla="val 9302"/>
            </a:avLst>
          </a:prstGeom>
          <a:solidFill>
            <a:srgbClr val="0B1F33"/>
          </a:solidFill>
          <a:ln w="9525">
            <a:solidFill>
              <a:srgbClr val="0B1F33"/>
            </a:solidFill>
            <a:prstDash val="solid"/>
          </a:ln>
        </p:spPr>
        <p:txBody>
          <a:bodyPr/>
          <a:lstStyle/>
          <a:p>
            <a:endParaRPr/>
          </a:p>
        </p:txBody>
      </p:sp>
      <p:sp>
        <p:nvSpPr>
          <p:cNvPr id="21" name="conclusion">
            <a:extLst>
              <a:ext uri="{FF2B5EF4-FFF2-40B4-BE49-F238E27FC236}">
                <a16:creationId xmlns:a16="http://schemas.microsoft.com/office/drawing/2014/main" id="{4D936723-A687-46CB-B23A-4E2D5C4118F1}"/>
              </a:ext>
            </a:extLst>
          </p:cNvPr>
          <p:cNvSpPr>
            <a:spLocks noGrp="1"/>
          </p:cNvSpPr>
          <p:nvPr/>
        </p:nvSpPr>
        <p:spPr>
          <a:xfrm>
            <a:off x="2000250" y="4933950"/>
            <a:ext cx="7886700" cy="457200"/>
          </a:xfrm>
          <a:prstGeom prst="rect">
            <a:avLst/>
          </a:prstGeom>
          <a:noFill/>
          <a:ln w="0">
            <a:noFill/>
            <a:prstDash val="solid"/>
          </a:ln>
        </p:spPr>
        <p:txBody>
          <a:bodyPr wrap="square" lIns="0" tIns="0" rIns="0" bIns="0" anchor="ctr">
            <a:normAutofit/>
          </a:bodyPr>
          <a:lstStyle/>
          <a:p>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Nebenwirkungen und Versionsgrenzen gehören zum Ergebnis.</a:t>
            </a:r>
          </a:p>
        </p:txBody>
      </p:sp>
    </p:spTree>
    <p:extLst>
      <p:ext uri="{BB962C8B-B14F-4D97-AF65-F5344CB8AC3E}">
        <p14:creationId xmlns:p14="http://schemas.microsoft.com/office/powerpoint/2010/main" val="5541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BF49B8C1-2B87-4BD2-A5D5-335E8EE248B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a:ext uri="{FF2B5EF4-FFF2-40B4-BE49-F238E27FC236}">
                <a16:creationId xmlns:a16="http://schemas.microsoft.com/office/drawing/2014/main" id="{50443562-3B93-445D-A622-EFFB6EA0EF1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Jede Evidenzquelle beantwortet eine andere Frage</a:t>
            </a:r>
          </a:p>
        </p:txBody>
      </p:sp>
      <p:sp>
        <p:nvSpPr>
          <p:cNvPr id="3" name="title-rule">
            <a:extLst>
              <a:ext uri="{FF2B5EF4-FFF2-40B4-BE49-F238E27FC236}">
                <a16:creationId xmlns:a16="http://schemas.microsoft.com/office/drawing/2014/main" id="{BC7BAA0B-7442-44CF-8601-383A6F566182}"/>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B6C5068-2909-40AB-A13F-79C78BF5D3A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D2C3909-838D-4B3C-8C18-7A44D5EF9F5C}"/>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 / 102</a:t>
            </a:r>
          </a:p>
        </p:txBody>
      </p:sp>
      <p:graphicFrame>
        <p:nvGraphicFramePr>
          <p:cNvPr id="14" name="Tabelle 13"/>
          <p:cNvGraphicFramePr/>
          <p:nvPr/>
        </p:nvGraphicFramePr>
        <p:xfrm>
          <a:off x="609600" y="2171700"/>
          <a:ext cx="10668000" cy="400050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666750">
                <a:tc>
                  <a:txBody>
                    <a:bodyPr/>
                    <a:lstStyle/>
                    <a:p>
                      <a:r>
                        <a:rPr sz="1500" b="1">
                          <a:solidFill>
                            <a:srgbClr val="FFFFFF"/>
                          </a:solidFill>
                          <a:latin typeface="Aptos"/>
                          <a:ea typeface="Aptos"/>
                          <a:cs typeface="Aptos"/>
                        </a:rPr>
                        <a:t>Quelle</a:t>
                      </a:r>
                    </a:p>
                  </a:txBody>
                  <a:tcPr>
                    <a:solidFill>
                      <a:srgbClr val="0B1F33"/>
                    </a:solidFill>
                  </a:tcPr>
                </a:tc>
                <a:tc>
                  <a:txBody>
                    <a:bodyPr/>
                    <a:lstStyle/>
                    <a:p>
                      <a:r>
                        <a:rPr sz="1500" b="1">
                          <a:solidFill>
                            <a:srgbClr val="FFFFFF"/>
                          </a:solidFill>
                          <a:latin typeface="Aptos"/>
                          <a:ea typeface="Aptos"/>
                          <a:cs typeface="Aptos"/>
                        </a:rPr>
                        <a:t>Stärke</a:t>
                      </a:r>
                    </a:p>
                  </a:txBody>
                  <a:tcPr>
                    <a:solidFill>
                      <a:srgbClr val="0B1F33"/>
                    </a:solidFill>
                  </a:tcPr>
                </a:tc>
                <a:tc>
                  <a:txBody>
                    <a:bodyPr/>
                    <a:lstStyle/>
                    <a:p>
                      <a:r>
                        <a:rPr sz="1500" b="1">
                          <a:solidFill>
                            <a:srgbClr val="FFFFFF"/>
                          </a:solidFill>
                          <a:latin typeface="Aptos"/>
                          <a:ea typeface="Aptos"/>
                          <a:cs typeface="Aptos"/>
                        </a:rPr>
                        <a:t>Grenze</a:t>
                      </a:r>
                    </a:p>
                  </a:txBody>
                  <a:tcPr>
                    <a:solidFill>
                      <a:srgbClr val="0B1F33"/>
                    </a:solidFill>
                  </a:tcPr>
                </a:tc>
                <a:extLst>
                  <a:ext uri="{0D108BD9-81ED-4DB2-BD59-A6C34878D82A}">
                    <a16:rowId xmlns:a16="http://schemas.microsoft.com/office/drawing/2014/main" val="10000"/>
                  </a:ext>
                </a:extLst>
              </a:tr>
              <a:tr h="666750">
                <a:tc>
                  <a:txBody>
                    <a:bodyPr/>
                    <a:lstStyle/>
                    <a:p>
                      <a:r>
                        <a:rPr sz="1350">
                          <a:solidFill>
                            <a:srgbClr val="243B53"/>
                          </a:solidFill>
                          <a:latin typeface="Aptos"/>
                          <a:ea typeface="Aptos"/>
                          <a:cs typeface="Aptos"/>
                        </a:rPr>
                        <a:t>Execution Plan</a:t>
                      </a:r>
                    </a:p>
                  </a:txBody>
                  <a:tcPr>
                    <a:solidFill>
                      <a:srgbClr val="FFFFFF"/>
                    </a:solidFill>
                  </a:tcPr>
                </a:tc>
                <a:tc>
                  <a:txBody>
                    <a:bodyPr/>
                    <a:lstStyle/>
                    <a:p>
                      <a:r>
                        <a:rPr sz="1350">
                          <a:solidFill>
                            <a:srgbClr val="243B53"/>
                          </a:solidFill>
                          <a:latin typeface="Aptos"/>
                          <a:ea typeface="Aptos"/>
                          <a:cs typeface="Aptos"/>
                        </a:rPr>
                        <a:t>Operatoren, Schätzungen, Laufzeitdaten</a:t>
                      </a:r>
                    </a:p>
                  </a:txBody>
                  <a:tcPr>
                    <a:solidFill>
                      <a:srgbClr val="FFFFFF"/>
                    </a:solidFill>
                  </a:tcPr>
                </a:tc>
                <a:tc>
                  <a:txBody>
                    <a:bodyPr/>
                    <a:lstStyle/>
                    <a:p>
                      <a:r>
                        <a:rPr sz="1350">
                          <a:solidFill>
                            <a:srgbClr val="243B53"/>
                          </a:solidFill>
                          <a:latin typeface="Aptos"/>
                          <a:ea typeface="Aptos"/>
                          <a:cs typeface="Aptos"/>
                        </a:rPr>
                        <a:t>Momentaufnahme; Capture kann kosten</a:t>
                      </a:r>
                    </a:p>
                  </a:txBody>
                  <a:tcPr>
                    <a:solidFill>
                      <a:srgbClr val="FFFFFF"/>
                    </a:solidFill>
                  </a:tcPr>
                </a:tc>
                <a:extLst>
                  <a:ext uri="{0D108BD9-81ED-4DB2-BD59-A6C34878D82A}">
                    <a16:rowId xmlns:a16="http://schemas.microsoft.com/office/drawing/2014/main" val="10001"/>
                  </a:ext>
                </a:extLst>
              </a:tr>
              <a:tr h="666750">
                <a:tc>
                  <a:txBody>
                    <a:bodyPr/>
                    <a:lstStyle/>
                    <a:p>
                      <a:r>
                        <a:rPr sz="1350">
                          <a:solidFill>
                            <a:srgbClr val="243B53"/>
                          </a:solidFill>
                          <a:latin typeface="Aptos"/>
                          <a:ea typeface="Aptos"/>
                          <a:cs typeface="Aptos"/>
                        </a:rPr>
                        <a:t>Dynamische Verwaltungssichten (DMVs)</a:t>
                      </a:r>
                    </a:p>
                  </a:txBody>
                  <a:tcPr>
                    <a:solidFill>
                      <a:srgbClr val="EDF2F7"/>
                    </a:solidFill>
                  </a:tcPr>
                </a:tc>
                <a:tc>
                  <a:txBody>
                    <a:bodyPr/>
                    <a:lstStyle/>
                    <a:p>
                      <a:r>
                        <a:rPr sz="1350">
                          <a:solidFill>
                            <a:srgbClr val="243B53"/>
                          </a:solidFill>
                          <a:latin typeface="Aptos"/>
                          <a:ea typeface="Aptos"/>
                          <a:cs typeface="Aptos"/>
                        </a:rPr>
                        <a:t>aktueller oder kumulierter Zustand</a:t>
                      </a:r>
                    </a:p>
                  </a:txBody>
                  <a:tcPr>
                    <a:solidFill>
                      <a:srgbClr val="EDF2F7"/>
                    </a:solidFill>
                  </a:tcPr>
                </a:tc>
                <a:tc>
                  <a:txBody>
                    <a:bodyPr/>
                    <a:lstStyle/>
                    <a:p>
                      <a:r>
                        <a:rPr sz="1350">
                          <a:solidFill>
                            <a:srgbClr val="243B53"/>
                          </a:solidFill>
                          <a:latin typeface="Aptos"/>
                          <a:ea typeface="Aptos"/>
                          <a:cs typeface="Aptos"/>
                        </a:rPr>
                        <a:t>Scope und Delta müssen stimmen</a:t>
                      </a:r>
                    </a:p>
                  </a:txBody>
                  <a:tcPr>
                    <a:solidFill>
                      <a:srgbClr val="EDF2F7"/>
                    </a:solidFill>
                  </a:tcPr>
                </a:tc>
                <a:extLst>
                  <a:ext uri="{0D108BD9-81ED-4DB2-BD59-A6C34878D82A}">
                    <a16:rowId xmlns:a16="http://schemas.microsoft.com/office/drawing/2014/main" val="10002"/>
                  </a:ext>
                </a:extLst>
              </a:tr>
              <a:tr h="666750">
                <a:tc>
                  <a:txBody>
                    <a:bodyPr/>
                    <a:lstStyle/>
                    <a:p>
                      <a:r>
                        <a:rPr sz="1350">
                          <a:solidFill>
                            <a:srgbClr val="243B53"/>
                          </a:solidFill>
                          <a:latin typeface="Aptos"/>
                          <a:ea typeface="Aptos"/>
                          <a:cs typeface="Aptos"/>
                        </a:rPr>
                        <a:t>Query Store</a:t>
                      </a:r>
                    </a:p>
                  </a:txBody>
                  <a:tcPr>
                    <a:solidFill>
                      <a:srgbClr val="FFFFFF"/>
                    </a:solidFill>
                  </a:tcPr>
                </a:tc>
                <a:tc>
                  <a:txBody>
                    <a:bodyPr/>
                    <a:lstStyle/>
                    <a:p>
                      <a:r>
                        <a:rPr sz="1350">
                          <a:solidFill>
                            <a:srgbClr val="243B53"/>
                          </a:solidFill>
                          <a:latin typeface="Aptos"/>
                          <a:ea typeface="Aptos"/>
                          <a:cs typeface="Aptos"/>
                        </a:rPr>
                        <a:t>Historie von Query, Plan, Runtime und Waits</a:t>
                      </a:r>
                    </a:p>
                  </a:txBody>
                  <a:tcPr>
                    <a:solidFill>
                      <a:srgbClr val="FFFFFF"/>
                    </a:solidFill>
                  </a:tcPr>
                </a:tc>
                <a:tc>
                  <a:txBody>
                    <a:bodyPr/>
                    <a:lstStyle/>
                    <a:p>
                      <a:r>
                        <a:rPr sz="1350">
                          <a:solidFill>
                            <a:srgbClr val="243B53"/>
                          </a:solidFill>
                          <a:latin typeface="Aptos"/>
                          <a:ea typeface="Aptos"/>
                          <a:cs typeface="Aptos"/>
                        </a:rPr>
                        <a:t>Aggregation und Retention beachten</a:t>
                      </a:r>
                    </a:p>
                  </a:txBody>
                  <a:tcPr>
                    <a:solidFill>
                      <a:srgbClr val="FFFFFF"/>
                    </a:solidFill>
                  </a:tcPr>
                </a:tc>
                <a:extLst>
                  <a:ext uri="{0D108BD9-81ED-4DB2-BD59-A6C34878D82A}">
                    <a16:rowId xmlns:a16="http://schemas.microsoft.com/office/drawing/2014/main" val="10003"/>
                  </a:ext>
                </a:extLst>
              </a:tr>
              <a:tr h="666750">
                <a:tc>
                  <a:txBody>
                    <a:bodyPr/>
                    <a:lstStyle/>
                    <a:p>
                      <a:r>
                        <a:rPr sz="1350">
                          <a:solidFill>
                            <a:srgbClr val="243B53"/>
                          </a:solidFill>
                          <a:latin typeface="Aptos"/>
                          <a:ea typeface="Aptos"/>
                          <a:cs typeface="Aptos"/>
                        </a:rPr>
                        <a:t>Extended Events</a:t>
                      </a:r>
                    </a:p>
                  </a:txBody>
                  <a:tcPr>
                    <a:solidFill>
                      <a:srgbClr val="EDF2F7"/>
                    </a:solidFill>
                  </a:tcPr>
                </a:tc>
                <a:tc>
                  <a:txBody>
                    <a:bodyPr/>
                    <a:lstStyle/>
                    <a:p>
                      <a:r>
                        <a:rPr sz="1350">
                          <a:solidFill>
                            <a:srgbClr val="243B53"/>
                          </a:solidFill>
                          <a:latin typeface="Aptos"/>
                          <a:ea typeface="Aptos"/>
                          <a:cs typeface="Aptos"/>
                        </a:rPr>
                        <a:t>gezielte Ereignisse und Korrelation</a:t>
                      </a:r>
                    </a:p>
                  </a:txBody>
                  <a:tcPr>
                    <a:solidFill>
                      <a:srgbClr val="EDF2F7"/>
                    </a:solidFill>
                  </a:tcPr>
                </a:tc>
                <a:tc>
                  <a:txBody>
                    <a:bodyPr/>
                    <a:lstStyle/>
                    <a:p>
                      <a:r>
                        <a:rPr sz="1350">
                          <a:solidFill>
                            <a:srgbClr val="243B53"/>
                          </a:solidFill>
                          <a:latin typeface="Aptos"/>
                          <a:ea typeface="Aptos"/>
                          <a:cs typeface="Aptos"/>
                        </a:rPr>
                        <a:t>Sessiondesign bestimmt Overhead</a:t>
                      </a:r>
                    </a:p>
                  </a:txBody>
                  <a:tcPr>
                    <a:solidFill>
                      <a:srgbClr val="EDF2F7"/>
                    </a:solidFill>
                  </a:tcPr>
                </a:tc>
                <a:extLst>
                  <a:ext uri="{0D108BD9-81ED-4DB2-BD59-A6C34878D82A}">
                    <a16:rowId xmlns:a16="http://schemas.microsoft.com/office/drawing/2014/main" val="10004"/>
                  </a:ext>
                </a:extLst>
              </a:tr>
              <a:tr h="666750">
                <a:tc>
                  <a:txBody>
                    <a:bodyPr/>
                    <a:lstStyle/>
                    <a:p>
                      <a:r>
                        <a:rPr sz="1350">
                          <a:solidFill>
                            <a:srgbClr val="243B53"/>
                          </a:solidFill>
                          <a:latin typeface="Aptos"/>
                          <a:ea typeface="Aptos"/>
                          <a:cs typeface="Aptos"/>
                        </a:rPr>
                        <a:t>Betriebssystem- und Speichermetriken</a:t>
                      </a:r>
                    </a:p>
                  </a:txBody>
                  <a:tcPr>
                    <a:solidFill>
                      <a:srgbClr val="FFFFFF"/>
                    </a:solidFill>
                  </a:tcPr>
                </a:tc>
                <a:tc>
                  <a:txBody>
                    <a:bodyPr/>
                    <a:lstStyle/>
                    <a:p>
                      <a:r>
                        <a:rPr sz="1350">
                          <a:solidFill>
                            <a:srgbClr val="243B53"/>
                          </a:solidFill>
                          <a:latin typeface="Aptos"/>
                          <a:ea typeface="Aptos"/>
                          <a:cs typeface="Aptos"/>
                        </a:rPr>
                        <a:t>Host- und Geräteengpässe</a:t>
                      </a:r>
                    </a:p>
                  </a:txBody>
                  <a:tcPr>
                    <a:solidFill>
                      <a:srgbClr val="FFFFFF"/>
                    </a:solidFill>
                  </a:tcPr>
                </a:tc>
                <a:tc>
                  <a:txBody>
                    <a:bodyPr/>
                    <a:lstStyle/>
                    <a:p>
                      <a:r>
                        <a:rPr sz="1350">
                          <a:solidFill>
                            <a:srgbClr val="243B53"/>
                          </a:solidFill>
                          <a:latin typeface="Aptos"/>
                          <a:ea typeface="Aptos"/>
                          <a:cs typeface="Aptos"/>
                        </a:rPr>
                        <a:t>Datenbankbezug muss hergestellt werden</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135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39845A6C-5B8C-42F0-893D-E4737BD21BB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a:ext uri="{FF2B5EF4-FFF2-40B4-BE49-F238E27FC236}">
                <a16:creationId xmlns:a16="http://schemas.microsoft.com/office/drawing/2014/main" id="{1BD11F76-780E-408E-B408-933ED63EDB83}"/>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Version und Compatibility Level steuern unterschiedliche Ebenen</a:t>
            </a:r>
          </a:p>
        </p:txBody>
      </p:sp>
      <p:sp>
        <p:nvSpPr>
          <p:cNvPr id="3" name="title-rule">
            <a:extLst>
              <a:ext uri="{FF2B5EF4-FFF2-40B4-BE49-F238E27FC236}">
                <a16:creationId xmlns:a16="http://schemas.microsoft.com/office/drawing/2014/main" id="{1EFA9199-AE9E-4738-AB4F-A2F9B6D0B409}"/>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2435C4A-7EDE-4767-9FF9-0B1E7C6026E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6744F7B-0675-449F-8A8E-0AA69786F1FA}"/>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 / 102</a:t>
            </a:r>
          </a:p>
        </p:txBody>
      </p:sp>
      <p:graphicFrame>
        <p:nvGraphicFramePr>
          <p:cNvPr id="14" name="Tabelle 13"/>
          <p:cNvGraphicFramePr/>
          <p:nvPr/>
        </p:nvGraphicFramePr>
        <p:xfrm>
          <a:off x="609600" y="2171700"/>
          <a:ext cx="10668000" cy="281940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500" b="1">
                          <a:solidFill>
                            <a:srgbClr val="FFFFFF"/>
                          </a:solidFill>
                          <a:latin typeface="Aptos"/>
                          <a:ea typeface="Aptos"/>
                          <a:cs typeface="Aptos"/>
                        </a:rPr>
                        <a:t>Engine</a:t>
                      </a:r>
                    </a:p>
                  </a:txBody>
                  <a:tcPr>
                    <a:solidFill>
                      <a:srgbClr val="0B1F33"/>
                    </a:solidFill>
                  </a:tcPr>
                </a:tc>
                <a:tc>
                  <a:txBody>
                    <a:bodyPr/>
                    <a:lstStyle/>
                    <a:p>
                      <a:r>
                        <a:rPr sz="1500" b="1">
                          <a:solidFill>
                            <a:srgbClr val="FFFFFF"/>
                          </a:solidFill>
                          <a:latin typeface="Aptos"/>
                          <a:ea typeface="Aptos"/>
                          <a:cs typeface="Aptos"/>
                        </a:rPr>
                        <a:t>typischer Compatibility Level</a:t>
                      </a:r>
                    </a:p>
                  </a:txBody>
                  <a:tcPr>
                    <a:solidFill>
                      <a:srgbClr val="0B1F33"/>
                    </a:solidFill>
                  </a:tcPr>
                </a:tc>
                <a:tc>
                  <a:txBody>
                    <a:bodyPr/>
                    <a:lstStyle/>
                    <a:p>
                      <a:r>
                        <a:rPr sz="1500" b="1">
                          <a:solidFill>
                            <a:srgbClr val="FFFFFF"/>
                          </a:solidFill>
                          <a:latin typeface="Aptos"/>
                          <a:ea typeface="Aptos"/>
                          <a:cs typeface="Aptos"/>
                        </a:rPr>
                        <a:t>Beispiele</a:t>
                      </a:r>
                    </a:p>
                  </a:txBody>
                  <a:tcPr>
                    <a:solidFill>
                      <a:srgbClr val="0B1F33"/>
                    </a:solidFill>
                  </a:tcPr>
                </a:tc>
                <a:extLst>
                  <a:ext uri="{0D108BD9-81ED-4DB2-BD59-A6C34878D82A}">
                    <a16:rowId xmlns:a16="http://schemas.microsoft.com/office/drawing/2014/main" val="10000"/>
                  </a:ext>
                </a:extLst>
              </a:tr>
              <a:tr h="704850">
                <a:tc>
                  <a:txBody>
                    <a:bodyPr/>
                    <a:lstStyle/>
                    <a:p>
                      <a:r>
                        <a:rPr sz="1350">
                          <a:solidFill>
                            <a:srgbClr val="243B53"/>
                          </a:solidFill>
                          <a:latin typeface="Aptos"/>
                          <a:ea typeface="Aptos"/>
                          <a:cs typeface="Aptos"/>
                        </a:rPr>
                        <a:t>SQL Server 2019</a:t>
                      </a:r>
                    </a:p>
                  </a:txBody>
                  <a:tcPr>
                    <a:solidFill>
                      <a:srgbClr val="FFFFFF"/>
                    </a:solidFill>
                  </a:tcPr>
                </a:tc>
                <a:tc>
                  <a:txBody>
                    <a:bodyPr/>
                    <a:lstStyle/>
                    <a:p>
                      <a:r>
                        <a:rPr sz="1350">
                          <a:solidFill>
                            <a:srgbClr val="243B53"/>
                          </a:solidFill>
                          <a:latin typeface="Aptos"/>
                          <a:ea typeface="Aptos"/>
                          <a:cs typeface="Aptos"/>
                        </a:rPr>
                        <a:t>150</a:t>
                      </a:r>
                    </a:p>
                  </a:txBody>
                  <a:tcPr>
                    <a:solidFill>
                      <a:srgbClr val="FFFFFF"/>
                    </a:solidFill>
                  </a:tcPr>
                </a:tc>
                <a:tc>
                  <a:txBody>
                    <a:bodyPr/>
                    <a:lstStyle/>
                    <a:p>
                      <a:r>
                        <a:rPr sz="1350">
                          <a:solidFill>
                            <a:srgbClr val="243B53"/>
                          </a:solidFill>
                          <a:latin typeface="Aptos"/>
                          <a:ea typeface="Aptos"/>
                          <a:cs typeface="Aptos"/>
                        </a:rPr>
                        <a:t>Table Variable Deferred Compilation, Einbetten skalarer Funktionen (UDFs), Batch Mode on Rowstore</a:t>
                      </a:r>
                    </a:p>
                  </a:txBody>
                  <a:tcPr>
                    <a:solidFill>
                      <a:srgbClr val="FFFFFF"/>
                    </a:solidFill>
                  </a:tcPr>
                </a:tc>
                <a:extLst>
                  <a:ext uri="{0D108BD9-81ED-4DB2-BD59-A6C34878D82A}">
                    <a16:rowId xmlns:a16="http://schemas.microsoft.com/office/drawing/2014/main" val="10001"/>
                  </a:ext>
                </a:extLst>
              </a:tr>
              <a:tr h="704850">
                <a:tc>
                  <a:txBody>
                    <a:bodyPr/>
                    <a:lstStyle/>
                    <a:p>
                      <a:r>
                        <a:rPr sz="1350">
                          <a:solidFill>
                            <a:srgbClr val="243B53"/>
                          </a:solidFill>
                          <a:latin typeface="Aptos"/>
                          <a:ea typeface="Aptos"/>
                          <a:cs typeface="Aptos"/>
                        </a:rPr>
                        <a:t>SQL Server 2022</a:t>
                      </a:r>
                    </a:p>
                  </a:txBody>
                  <a:tcPr>
                    <a:solidFill>
                      <a:srgbClr val="EDF2F7"/>
                    </a:solidFill>
                  </a:tcPr>
                </a:tc>
                <a:tc>
                  <a:txBody>
                    <a:bodyPr/>
                    <a:lstStyle/>
                    <a:p>
                      <a:r>
                        <a:rPr sz="1350">
                          <a:solidFill>
                            <a:srgbClr val="243B53"/>
                          </a:solidFill>
                          <a:latin typeface="Aptos"/>
                          <a:ea typeface="Aptos"/>
                          <a:cs typeface="Aptos"/>
                        </a:rPr>
                        <a:t>160</a:t>
                      </a:r>
                    </a:p>
                  </a:txBody>
                  <a:tcPr>
                    <a:solidFill>
                      <a:srgbClr val="EDF2F7"/>
                    </a:solidFill>
                  </a:tcPr>
                </a:tc>
                <a:tc>
                  <a:txBody>
                    <a:bodyPr/>
                    <a:lstStyle/>
                    <a:p>
                      <a:r>
                        <a:rPr sz="1350">
                          <a:solidFill>
                            <a:srgbClr val="243B53"/>
                          </a:solidFill>
                          <a:latin typeface="Aptos"/>
                          <a:ea typeface="Aptos"/>
                          <a:cs typeface="Aptos"/>
                        </a:rPr>
                        <a:t>Parameterabhängige Pläne (PSP), Feedback zur Zeilenschätzung (CE) und Parallelitätsgrad (DOP)</a:t>
                      </a:r>
                    </a:p>
                  </a:txBody>
                  <a:tcPr>
                    <a:solidFill>
                      <a:srgbClr val="EDF2F7"/>
                    </a:solidFill>
                  </a:tcPr>
                </a:tc>
                <a:extLst>
                  <a:ext uri="{0D108BD9-81ED-4DB2-BD59-A6C34878D82A}">
                    <a16:rowId xmlns:a16="http://schemas.microsoft.com/office/drawing/2014/main" val="10002"/>
                  </a:ext>
                </a:extLst>
              </a:tr>
              <a:tr h="704850">
                <a:tc>
                  <a:txBody>
                    <a:bodyPr/>
                    <a:lstStyle/>
                    <a:p>
                      <a:r>
                        <a:rPr sz="1350">
                          <a:solidFill>
                            <a:srgbClr val="243B53"/>
                          </a:solidFill>
                          <a:latin typeface="Aptos"/>
                          <a:ea typeface="Aptos"/>
                          <a:cs typeface="Aptos"/>
                        </a:rPr>
                        <a:t>SQL Server 2025</a:t>
                      </a:r>
                    </a:p>
                  </a:txBody>
                  <a:tcPr>
                    <a:solidFill>
                      <a:srgbClr val="FFFFFF"/>
                    </a:solidFill>
                  </a:tcPr>
                </a:tc>
                <a:tc>
                  <a:txBody>
                    <a:bodyPr/>
                    <a:lstStyle/>
                    <a:p>
                      <a:r>
                        <a:rPr sz="1350">
                          <a:solidFill>
                            <a:srgbClr val="243B53"/>
                          </a:solidFill>
                          <a:latin typeface="Aptos"/>
                          <a:ea typeface="Aptos"/>
                          <a:cs typeface="Aptos"/>
                        </a:rPr>
                        <a:t>170</a:t>
                      </a:r>
                    </a:p>
                  </a:txBody>
                  <a:tcPr>
                    <a:solidFill>
                      <a:srgbClr val="FFFFFF"/>
                    </a:solidFill>
                  </a:tcPr>
                </a:tc>
                <a:tc>
                  <a:txBody>
                    <a:bodyPr/>
                    <a:lstStyle/>
                    <a:p>
                      <a:r>
                        <a:rPr sz="1350">
                          <a:solidFill>
                            <a:srgbClr val="243B53"/>
                          </a:solidFill>
                          <a:latin typeface="Aptos"/>
                          <a:ea typeface="Aptos"/>
                          <a:cs typeface="Aptos"/>
                        </a:rPr>
                        <a:t>Optionale Parameterpläne (OPPO), PSP-Erweiterungen; Optimized Locking separat pro Datenbank</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125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30F85AA3-31CE-4303-9158-F47800087897}"/>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01</a:t>
            </a:r>
          </a:p>
        </p:txBody>
      </p:sp>
      <p:sp>
        <p:nvSpPr>
          <p:cNvPr id="2" name="section-rule">
            <a:extLst>
              <a:ext uri="{FF2B5EF4-FFF2-40B4-BE49-F238E27FC236}">
                <a16:creationId xmlns:a16="http://schemas.microsoft.com/office/drawing/2014/main" id="{632BC269-A382-4D55-A239-7D12AA335470}"/>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D0890C3E-F7A1-4AC2-91D1-204531AFD6B4}"/>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Storage und Datenlayout</a:t>
            </a:r>
          </a:p>
        </p:txBody>
      </p:sp>
      <p:sp>
        <p:nvSpPr>
          <p:cNvPr id="4" name="section-subtitle">
            <a:extLst>
              <a:ext uri="{FF2B5EF4-FFF2-40B4-BE49-F238E27FC236}">
                <a16:creationId xmlns:a16="http://schemas.microsoft.com/office/drawing/2014/main" id="{D55C9F91-6276-4582-B0F5-4E2846494098}"/>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Welche Arbeit entsteht, bevor ein Operator überhaupt eine Zeile verarbeiten kann?</a:t>
            </a:r>
          </a:p>
        </p:txBody>
      </p:sp>
      <p:sp>
        <p:nvSpPr>
          <p:cNvPr id="5" name="section-footer">
            <a:extLst>
              <a:ext uri="{FF2B5EF4-FFF2-40B4-BE49-F238E27FC236}">
                <a16:creationId xmlns:a16="http://schemas.microsoft.com/office/drawing/2014/main" id="{B3A4A92D-F2B6-4D0D-BD4D-91FCAF1D98AB}"/>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494996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ACEC39CB-9113-4191-8681-45480ACA2DE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C9D19695-0D87-4BA7-810A-2D224DE66FEE}"/>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Data Files und Transaction Log erfüllen grundverschiedene Aufgaben</a:t>
            </a:r>
          </a:p>
        </p:txBody>
      </p:sp>
      <p:sp>
        <p:nvSpPr>
          <p:cNvPr id="3" name="title-rule">
            <a:extLst>
              <a:ext uri="{FF2B5EF4-FFF2-40B4-BE49-F238E27FC236}">
                <a16:creationId xmlns:a16="http://schemas.microsoft.com/office/drawing/2014/main" id="{C7352C9B-404C-446A-976F-49D80E39C059}"/>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C5DD8AE-14CC-45E6-8858-60007EC7989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745C3B1-EEFB-4589-B3FF-5DD43CA2EFDC}"/>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 / 102</a:t>
            </a:r>
          </a:p>
        </p:txBody>
      </p:sp>
      <p:sp>
        <p:nvSpPr>
          <p:cNvPr id="6" name="left-title">
            <a:extLst>
              <a:ext uri="{FF2B5EF4-FFF2-40B4-BE49-F238E27FC236}">
                <a16:creationId xmlns:a16="http://schemas.microsoft.com/office/drawing/2014/main" id="{53CF84EC-A0DA-4BC5-8A43-4267392ABD15}"/>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Data Files</a:t>
            </a:r>
          </a:p>
        </p:txBody>
      </p:sp>
      <p:sp>
        <p:nvSpPr>
          <p:cNvPr id="7" name="right-title">
            <a:extLst>
              <a:ext uri="{FF2B5EF4-FFF2-40B4-BE49-F238E27FC236}">
                <a16:creationId xmlns:a16="http://schemas.microsoft.com/office/drawing/2014/main" id="{C42397A9-65EC-4C01-B923-BD6275162EC7}"/>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Transaction Log</a:t>
            </a:r>
          </a:p>
        </p:txBody>
      </p:sp>
      <p:sp>
        <p:nvSpPr>
          <p:cNvPr id="8" name="middle-rule">
            <a:extLst>
              <a:ext uri="{FF2B5EF4-FFF2-40B4-BE49-F238E27FC236}">
                <a16:creationId xmlns:a16="http://schemas.microsoft.com/office/drawing/2014/main" id="{DAD8E3FC-9015-4C0B-BBB4-D46B2201B269}"/>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4239C275-E575-4E7A-896D-B9459C314D1F}"/>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Pages für Tabellen und Indizes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Buffer Pool vermittelt zwischen Storage und Execution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Random und sequenzielle Zugriffsmuster möglich</a:t>
            </a:r>
          </a:p>
        </p:txBody>
      </p:sp>
      <p:sp>
        <p:nvSpPr>
          <p:cNvPr id="10" name="right-points">
            <a:extLst>
              <a:ext uri="{FF2B5EF4-FFF2-40B4-BE49-F238E27FC236}">
                <a16:creationId xmlns:a16="http://schemas.microsoft.com/office/drawing/2014/main" id="{DE15672F-E89E-49A8-84A3-82D025282925}"/>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sequenzielle Log Records für Recovery</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Write-ahead logging vor Datenpage-Schreibzugriff</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mehrere Logfiles sind kein Performance-Striping</a:t>
            </a:r>
          </a:p>
        </p:txBody>
      </p:sp>
      <p:sp>
        <p:nvSpPr>
          <p:cNvPr id="11" name="conclusion-bg">
            <a:extLst>
              <a:ext uri="{FF2B5EF4-FFF2-40B4-BE49-F238E27FC236}">
                <a16:creationId xmlns:a16="http://schemas.microsoft.com/office/drawing/2014/main" id="{32C0BB9C-6877-4996-B5BA-A32FD992BFE7}"/>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C7C92423-6D05-438B-A8FE-89F20FF8E536}"/>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Dateirollen getrennt dimensionieren und messen.</a:t>
            </a:r>
          </a:p>
        </p:txBody>
      </p:sp>
    </p:spTree>
    <p:extLst>
      <p:ext uri="{BB962C8B-B14F-4D97-AF65-F5344CB8AC3E}">
        <p14:creationId xmlns:p14="http://schemas.microsoft.com/office/powerpoint/2010/main" val="800600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64DA0543-541B-4833-B253-9CE1998E013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40F47799-062C-453F-A709-DF3417A9A2B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Filegroups organisieren Allocation – sie erzeugen keine automatische I/O-Leistung</a:t>
            </a:r>
          </a:p>
        </p:txBody>
      </p:sp>
      <p:sp>
        <p:nvSpPr>
          <p:cNvPr id="3" name="title-rule">
            <a:extLst>
              <a:ext uri="{FF2B5EF4-FFF2-40B4-BE49-F238E27FC236}">
                <a16:creationId xmlns:a16="http://schemas.microsoft.com/office/drawing/2014/main" id="{DA360922-D4B8-4597-A997-D86D5CB5AD2F}"/>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8DA8BBAA-185A-4F13-BB0C-8C872B1E656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C81D29C-75E8-41CF-8BBF-351E32C723BC}"/>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 / 102</a:t>
            </a:r>
          </a:p>
        </p:txBody>
      </p:sp>
      <p:sp>
        <p:nvSpPr>
          <p:cNvPr id="6" name="lead">
            <a:extLst>
              <a:ext uri="{FF2B5EF4-FFF2-40B4-BE49-F238E27FC236}">
                <a16:creationId xmlns:a16="http://schemas.microsoft.com/office/drawing/2014/main" id="{4425BCA6-2A82-484F-9AF6-27638C134CBA}"/>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 Objekt wird über seine Partitionen und Allocation Units einer Filegroup zugeordnet; die Filegroup verteilt Allocation auf ihre Data Files.</a:t>
            </a:r>
          </a:p>
        </p:txBody>
      </p:sp>
      <p:sp>
        <p:nvSpPr>
          <p:cNvPr id="7" name="lead-accent">
            <a:extLst>
              <a:ext uri="{FF2B5EF4-FFF2-40B4-BE49-F238E27FC236}">
                <a16:creationId xmlns:a16="http://schemas.microsoft.com/office/drawing/2014/main" id="{6DAFFFFF-1934-4CE4-9FB8-E883119B27DE}"/>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81CB1456-CAFF-4B87-A9E5-28CC0B586CBF}"/>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Mehrere Files helfen nur bei tatsächlich geeigneten Storagepfaden und gleichmäßiger Konfiguration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Filegroups unterstützen Administration, Restore-Strategien und Placement</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Parallelität entsteht im Execution Plan, nicht durch den Namen einer Filegroup</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Die PRIMARY-Filegroup muss nicht pauschal frei von Userdaten sein</a:t>
            </a:r>
          </a:p>
        </p:txBody>
      </p:sp>
    </p:spTree>
    <p:extLst>
      <p:ext uri="{BB962C8B-B14F-4D97-AF65-F5344CB8AC3E}">
        <p14:creationId xmlns:p14="http://schemas.microsoft.com/office/powerpoint/2010/main" val="436094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5" name="module-label">
            <a:extLst>
              <a:ext uri="{FF2B5EF4-FFF2-40B4-BE49-F238E27FC236}">
                <a16:creationId xmlns:a16="http://schemas.microsoft.com/office/drawing/2014/main" id="{8BA12383-24E3-4097-9E70-3D449D74491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A35B0F10-3670-4BCE-AA1D-A0B365A6B3F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SQL Server adressiert Data Files in 8-KiB-Pages</a:t>
            </a:r>
          </a:p>
        </p:txBody>
      </p:sp>
      <p:sp>
        <p:nvSpPr>
          <p:cNvPr id="3" name="title-rule">
            <a:extLst>
              <a:ext uri="{FF2B5EF4-FFF2-40B4-BE49-F238E27FC236}">
                <a16:creationId xmlns:a16="http://schemas.microsoft.com/office/drawing/2014/main" id="{387CFF48-DD04-4885-B47D-7FF403E3956F}"/>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DD37BC1-8292-4B24-BA66-F103E2EBF4B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E2DF058B-1B57-4AB3-9C17-0941169AAEA7}"/>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10 / 102</a:t>
            </a:r>
          </a:p>
        </p:txBody>
      </p:sp>
      <p:sp>
        <p:nvSpPr>
          <p:cNvPr id="6" name="hierarchy">
            <a:extLst>
              <a:ext uri="{FF2B5EF4-FFF2-40B4-BE49-F238E27FC236}">
                <a16:creationId xmlns:a16="http://schemas.microsoft.com/office/drawing/2014/main" id="{B077CBE6-1E85-4431-9D2C-CA3201FAEE87}"/>
              </a:ext>
            </a:extLst>
          </p:cNvPr>
          <p:cNvSpPr>
            <a:spLocks noGrp="1"/>
          </p:cNvSpPr>
          <p:nvPr/>
        </p:nvSpPr>
        <p:spPr>
          <a:xfrm>
            <a:off x="609600" y="2095500"/>
            <a:ext cx="10668000" cy="400050"/>
          </a:xfrm>
          <a:prstGeom prst="rect">
            <a:avLst/>
          </a:prstGeom>
          <a:noFill/>
          <a:ln w="0">
            <a:noFill/>
            <a:prstDash val="solid"/>
          </a:ln>
        </p:spPr>
        <p:txBody>
          <a:bodyPr wrap="square" lIns="0" tIns="0" rIns="0" bIns="0" anchor="t">
            <a:normAutofit/>
          </a:bodyPr>
          <a:lstStyle/>
          <a:p>
            <a:pPr algn="ctr">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Data File  →  Extent  →  Page  →  Row</a:t>
            </a:r>
          </a:p>
        </p:txBody>
      </p:sp>
      <p:sp>
        <p:nvSpPr>
          <p:cNvPr id="7" name="page-0">
            <a:extLst>
              <a:ext uri="{FF2B5EF4-FFF2-40B4-BE49-F238E27FC236}">
                <a16:creationId xmlns:a16="http://schemas.microsoft.com/office/drawing/2014/main" id="{92EF5F29-C5C3-43F2-AE35-B200F18238C5}"/>
              </a:ext>
            </a:extLst>
          </p:cNvPr>
          <p:cNvSpPr>
            <a:spLocks noGrp="1"/>
          </p:cNvSpPr>
          <p:nvPr/>
        </p:nvSpPr>
        <p:spPr>
          <a:xfrm>
            <a:off x="1028700" y="3048000"/>
            <a:ext cx="1000125" cy="1428750"/>
          </a:xfrm>
          <a:prstGeom prst="rect">
            <a:avLst/>
          </a:prstGeom>
          <a:solidFill>
            <a:srgbClr val="FFFFFF"/>
          </a:solidFill>
          <a:ln w="19050">
            <a:solidFill>
              <a:srgbClr val="D9E2EC"/>
            </a:solidFill>
            <a:prstDash val="solid"/>
          </a:ln>
        </p:spPr>
        <p:txBody>
          <a:bodyPr/>
          <a:lstStyle/>
          <a:p>
            <a:endParaRPr/>
          </a:p>
        </p:txBody>
      </p:sp>
      <p:sp>
        <p:nvSpPr>
          <p:cNvPr id="8" name="page-text-0">
            <a:extLst>
              <a:ext uri="{FF2B5EF4-FFF2-40B4-BE49-F238E27FC236}">
                <a16:creationId xmlns:a16="http://schemas.microsoft.com/office/drawing/2014/main" id="{87FE6043-DFE5-4E5D-8021-56225EFD9A5A}"/>
              </a:ext>
            </a:extLst>
          </p:cNvPr>
          <p:cNvSpPr>
            <a:spLocks noGrp="1"/>
          </p:cNvSpPr>
          <p:nvPr/>
        </p:nvSpPr>
        <p:spPr>
          <a:xfrm>
            <a:off x="1028700"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1</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9" name="page-1">
            <a:extLst>
              <a:ext uri="{FF2B5EF4-FFF2-40B4-BE49-F238E27FC236}">
                <a16:creationId xmlns:a16="http://schemas.microsoft.com/office/drawing/2014/main" id="{6FA0058D-6CFA-41FB-9C39-FB4227AABF69}"/>
              </a:ext>
            </a:extLst>
          </p:cNvPr>
          <p:cNvSpPr>
            <a:spLocks noGrp="1"/>
          </p:cNvSpPr>
          <p:nvPr/>
        </p:nvSpPr>
        <p:spPr>
          <a:xfrm>
            <a:off x="2200275" y="3048000"/>
            <a:ext cx="1000125" cy="1428750"/>
          </a:xfrm>
          <a:prstGeom prst="rect">
            <a:avLst/>
          </a:prstGeom>
          <a:solidFill>
            <a:srgbClr val="FFFFFF"/>
          </a:solidFill>
          <a:ln w="19050">
            <a:solidFill>
              <a:srgbClr val="D9E2EC"/>
            </a:solidFill>
            <a:prstDash val="solid"/>
          </a:ln>
        </p:spPr>
        <p:txBody>
          <a:bodyPr/>
          <a:lstStyle/>
          <a:p>
            <a:endParaRPr/>
          </a:p>
        </p:txBody>
      </p:sp>
      <p:sp>
        <p:nvSpPr>
          <p:cNvPr id="10" name="page-text-1">
            <a:extLst>
              <a:ext uri="{FF2B5EF4-FFF2-40B4-BE49-F238E27FC236}">
                <a16:creationId xmlns:a16="http://schemas.microsoft.com/office/drawing/2014/main" id="{E3B2827D-8EF4-4B40-B88B-65BD957CA56E}"/>
              </a:ext>
            </a:extLst>
          </p:cNvPr>
          <p:cNvSpPr>
            <a:spLocks noGrp="1"/>
          </p:cNvSpPr>
          <p:nvPr/>
        </p:nvSpPr>
        <p:spPr>
          <a:xfrm>
            <a:off x="2200275"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2</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1" name="page-2">
            <a:extLst>
              <a:ext uri="{FF2B5EF4-FFF2-40B4-BE49-F238E27FC236}">
                <a16:creationId xmlns:a16="http://schemas.microsoft.com/office/drawing/2014/main" id="{A94B5F55-FE53-45D7-9939-33E27D53E345}"/>
              </a:ext>
            </a:extLst>
          </p:cNvPr>
          <p:cNvSpPr>
            <a:spLocks noGrp="1"/>
          </p:cNvSpPr>
          <p:nvPr/>
        </p:nvSpPr>
        <p:spPr>
          <a:xfrm>
            <a:off x="3371850" y="3048000"/>
            <a:ext cx="1000125" cy="1428750"/>
          </a:xfrm>
          <a:prstGeom prst="rect">
            <a:avLst/>
          </a:prstGeom>
          <a:solidFill>
            <a:srgbClr val="FFFFFF"/>
          </a:solidFill>
          <a:ln w="19050">
            <a:solidFill>
              <a:srgbClr val="D9E2EC"/>
            </a:solidFill>
            <a:prstDash val="solid"/>
          </a:ln>
        </p:spPr>
        <p:txBody>
          <a:bodyPr/>
          <a:lstStyle/>
          <a:p>
            <a:endParaRPr/>
          </a:p>
        </p:txBody>
      </p:sp>
      <p:sp>
        <p:nvSpPr>
          <p:cNvPr id="12" name="page-text-2">
            <a:extLst>
              <a:ext uri="{FF2B5EF4-FFF2-40B4-BE49-F238E27FC236}">
                <a16:creationId xmlns:a16="http://schemas.microsoft.com/office/drawing/2014/main" id="{6F574431-F676-429C-AD25-C4932F025D32}"/>
              </a:ext>
            </a:extLst>
          </p:cNvPr>
          <p:cNvSpPr>
            <a:spLocks noGrp="1"/>
          </p:cNvSpPr>
          <p:nvPr/>
        </p:nvSpPr>
        <p:spPr>
          <a:xfrm>
            <a:off x="3371850"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3</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3" name="page-3">
            <a:extLst>
              <a:ext uri="{FF2B5EF4-FFF2-40B4-BE49-F238E27FC236}">
                <a16:creationId xmlns:a16="http://schemas.microsoft.com/office/drawing/2014/main" id="{32EFEB45-05E9-451E-A982-AAFE6D55B2BB}"/>
              </a:ext>
            </a:extLst>
          </p:cNvPr>
          <p:cNvSpPr>
            <a:spLocks noGrp="1"/>
          </p:cNvSpPr>
          <p:nvPr/>
        </p:nvSpPr>
        <p:spPr>
          <a:xfrm>
            <a:off x="4543425" y="3048000"/>
            <a:ext cx="1000125" cy="1428750"/>
          </a:xfrm>
          <a:prstGeom prst="rect">
            <a:avLst/>
          </a:prstGeom>
          <a:solidFill>
            <a:srgbClr val="F4A261"/>
          </a:solidFill>
          <a:ln w="19050">
            <a:solidFill>
              <a:srgbClr val="D9E2EC"/>
            </a:solidFill>
            <a:prstDash val="solid"/>
          </a:ln>
        </p:spPr>
        <p:txBody>
          <a:bodyPr/>
          <a:lstStyle/>
          <a:p>
            <a:endParaRPr/>
          </a:p>
        </p:txBody>
      </p:sp>
      <p:sp>
        <p:nvSpPr>
          <p:cNvPr id="14" name="page-text-3">
            <a:extLst>
              <a:ext uri="{FF2B5EF4-FFF2-40B4-BE49-F238E27FC236}">
                <a16:creationId xmlns:a16="http://schemas.microsoft.com/office/drawing/2014/main" id="{3694C2A5-24F4-40B5-829F-D4C0B09A8CF5}"/>
              </a:ext>
            </a:extLst>
          </p:cNvPr>
          <p:cNvSpPr>
            <a:spLocks noGrp="1"/>
          </p:cNvSpPr>
          <p:nvPr/>
        </p:nvSpPr>
        <p:spPr>
          <a:xfrm>
            <a:off x="4543425"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0B1F33"/>
                </a:solidFill>
                <a:latin typeface="Aptos"/>
                <a:ea typeface="Aptos"/>
                <a:cs typeface="Aptos"/>
              </a:defRPr>
            </a:pPr>
            <a:r>
              <a:rPr sz="1500" b="1" i="0">
                <a:solidFill>
                  <a:srgbClr val="0B1F33"/>
                </a:solidFill>
                <a:latin typeface="Aptos"/>
                <a:ea typeface="Aptos"/>
                <a:cs typeface="Aptos"/>
              </a:rPr>
              <a:t>Page 4</a:t>
            </a:r>
          </a:p>
          <a:p>
            <a:pPr algn="ctr">
              <a:lnSpc>
                <a:spcPct val="105000"/>
              </a:lnSpc>
              <a:buNone/>
              <a:defRPr sz="1500" b="1" i="0">
                <a:solidFill>
                  <a:srgbClr val="0B1F33"/>
                </a:solidFill>
                <a:latin typeface="Aptos"/>
                <a:ea typeface="Aptos"/>
                <a:cs typeface="Aptos"/>
              </a:defRPr>
            </a:pPr>
            <a:r>
              <a:rPr sz="1500" b="1" i="0">
                <a:solidFill>
                  <a:srgbClr val="0B1F33"/>
                </a:solidFill>
                <a:latin typeface="Aptos"/>
                <a:ea typeface="Aptos"/>
                <a:cs typeface="Aptos"/>
              </a:rPr>
              <a:t>8 KiB</a:t>
            </a:r>
          </a:p>
        </p:txBody>
      </p:sp>
      <p:sp>
        <p:nvSpPr>
          <p:cNvPr id="15" name="page-4">
            <a:extLst>
              <a:ext uri="{FF2B5EF4-FFF2-40B4-BE49-F238E27FC236}">
                <a16:creationId xmlns:a16="http://schemas.microsoft.com/office/drawing/2014/main" id="{7D64CAC5-7BD7-417C-ACF8-EBCCFB6872AB}"/>
              </a:ext>
            </a:extLst>
          </p:cNvPr>
          <p:cNvSpPr>
            <a:spLocks noGrp="1"/>
          </p:cNvSpPr>
          <p:nvPr/>
        </p:nvSpPr>
        <p:spPr>
          <a:xfrm>
            <a:off x="5715000" y="3048000"/>
            <a:ext cx="1000125" cy="1428750"/>
          </a:xfrm>
          <a:prstGeom prst="rect">
            <a:avLst/>
          </a:prstGeom>
          <a:solidFill>
            <a:srgbClr val="FFFFFF"/>
          </a:solidFill>
          <a:ln w="19050">
            <a:solidFill>
              <a:srgbClr val="D9E2EC"/>
            </a:solidFill>
            <a:prstDash val="solid"/>
          </a:ln>
        </p:spPr>
        <p:txBody>
          <a:bodyPr/>
          <a:lstStyle/>
          <a:p>
            <a:endParaRPr/>
          </a:p>
        </p:txBody>
      </p:sp>
      <p:sp>
        <p:nvSpPr>
          <p:cNvPr id="16" name="page-text-4">
            <a:extLst>
              <a:ext uri="{FF2B5EF4-FFF2-40B4-BE49-F238E27FC236}">
                <a16:creationId xmlns:a16="http://schemas.microsoft.com/office/drawing/2014/main" id="{5CD56B44-5E00-43FF-B663-51D602D57711}"/>
              </a:ext>
            </a:extLst>
          </p:cNvPr>
          <p:cNvSpPr>
            <a:spLocks noGrp="1"/>
          </p:cNvSpPr>
          <p:nvPr/>
        </p:nvSpPr>
        <p:spPr>
          <a:xfrm>
            <a:off x="5715000"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5</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7" name="page-5">
            <a:extLst>
              <a:ext uri="{FF2B5EF4-FFF2-40B4-BE49-F238E27FC236}">
                <a16:creationId xmlns:a16="http://schemas.microsoft.com/office/drawing/2014/main" id="{FAE20B43-99D6-40E7-B2D4-7B65CAE434B6}"/>
              </a:ext>
            </a:extLst>
          </p:cNvPr>
          <p:cNvSpPr>
            <a:spLocks noGrp="1"/>
          </p:cNvSpPr>
          <p:nvPr/>
        </p:nvSpPr>
        <p:spPr>
          <a:xfrm>
            <a:off x="6886575" y="3048000"/>
            <a:ext cx="1000125" cy="1428750"/>
          </a:xfrm>
          <a:prstGeom prst="rect">
            <a:avLst/>
          </a:prstGeom>
          <a:solidFill>
            <a:srgbClr val="FFFFFF"/>
          </a:solidFill>
          <a:ln w="19050">
            <a:solidFill>
              <a:srgbClr val="D9E2EC"/>
            </a:solidFill>
            <a:prstDash val="solid"/>
          </a:ln>
        </p:spPr>
        <p:txBody>
          <a:bodyPr/>
          <a:lstStyle/>
          <a:p>
            <a:endParaRPr/>
          </a:p>
        </p:txBody>
      </p:sp>
      <p:sp>
        <p:nvSpPr>
          <p:cNvPr id="18" name="page-text-5">
            <a:extLst>
              <a:ext uri="{FF2B5EF4-FFF2-40B4-BE49-F238E27FC236}">
                <a16:creationId xmlns:a16="http://schemas.microsoft.com/office/drawing/2014/main" id="{7471C3DC-EA4A-4106-B9A5-F10D75888DEC}"/>
              </a:ext>
            </a:extLst>
          </p:cNvPr>
          <p:cNvSpPr>
            <a:spLocks noGrp="1"/>
          </p:cNvSpPr>
          <p:nvPr/>
        </p:nvSpPr>
        <p:spPr>
          <a:xfrm>
            <a:off x="6886575"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6</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9" name="page-6">
            <a:extLst>
              <a:ext uri="{FF2B5EF4-FFF2-40B4-BE49-F238E27FC236}">
                <a16:creationId xmlns:a16="http://schemas.microsoft.com/office/drawing/2014/main" id="{A2A049D4-9575-401E-9CB9-F6A39437CF45}"/>
              </a:ext>
            </a:extLst>
          </p:cNvPr>
          <p:cNvSpPr>
            <a:spLocks noGrp="1"/>
          </p:cNvSpPr>
          <p:nvPr/>
        </p:nvSpPr>
        <p:spPr>
          <a:xfrm>
            <a:off x="8058150" y="3048000"/>
            <a:ext cx="1000125" cy="1428750"/>
          </a:xfrm>
          <a:prstGeom prst="rect">
            <a:avLst/>
          </a:prstGeom>
          <a:solidFill>
            <a:srgbClr val="FFFFFF"/>
          </a:solidFill>
          <a:ln w="19050">
            <a:solidFill>
              <a:srgbClr val="D9E2EC"/>
            </a:solidFill>
            <a:prstDash val="solid"/>
          </a:ln>
        </p:spPr>
        <p:txBody>
          <a:bodyPr/>
          <a:lstStyle/>
          <a:p>
            <a:endParaRPr/>
          </a:p>
        </p:txBody>
      </p:sp>
      <p:sp>
        <p:nvSpPr>
          <p:cNvPr id="20" name="page-text-6">
            <a:extLst>
              <a:ext uri="{FF2B5EF4-FFF2-40B4-BE49-F238E27FC236}">
                <a16:creationId xmlns:a16="http://schemas.microsoft.com/office/drawing/2014/main" id="{D881FB9B-8669-452C-BBB6-8578A35A457D}"/>
              </a:ext>
            </a:extLst>
          </p:cNvPr>
          <p:cNvSpPr>
            <a:spLocks noGrp="1"/>
          </p:cNvSpPr>
          <p:nvPr/>
        </p:nvSpPr>
        <p:spPr>
          <a:xfrm>
            <a:off x="8058150"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7</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21" name="page-7">
            <a:extLst>
              <a:ext uri="{FF2B5EF4-FFF2-40B4-BE49-F238E27FC236}">
                <a16:creationId xmlns:a16="http://schemas.microsoft.com/office/drawing/2014/main" id="{682D9E6B-1920-4033-90C6-54E47B62A69E}"/>
              </a:ext>
            </a:extLst>
          </p:cNvPr>
          <p:cNvSpPr>
            <a:spLocks noGrp="1"/>
          </p:cNvSpPr>
          <p:nvPr/>
        </p:nvSpPr>
        <p:spPr>
          <a:xfrm>
            <a:off x="9229725" y="3048000"/>
            <a:ext cx="1000125" cy="1428750"/>
          </a:xfrm>
          <a:prstGeom prst="rect">
            <a:avLst/>
          </a:prstGeom>
          <a:solidFill>
            <a:srgbClr val="FFFFFF"/>
          </a:solidFill>
          <a:ln w="19050">
            <a:solidFill>
              <a:srgbClr val="D9E2EC"/>
            </a:solidFill>
            <a:prstDash val="solid"/>
          </a:ln>
        </p:spPr>
        <p:txBody>
          <a:bodyPr/>
          <a:lstStyle/>
          <a:p>
            <a:endParaRPr/>
          </a:p>
        </p:txBody>
      </p:sp>
      <p:sp>
        <p:nvSpPr>
          <p:cNvPr id="22" name="page-text-7">
            <a:extLst>
              <a:ext uri="{FF2B5EF4-FFF2-40B4-BE49-F238E27FC236}">
                <a16:creationId xmlns:a16="http://schemas.microsoft.com/office/drawing/2014/main" id="{051E9C27-B9D5-4BB7-8713-AB8A5A3C7D89}"/>
              </a:ext>
            </a:extLst>
          </p:cNvPr>
          <p:cNvSpPr>
            <a:spLocks noGrp="1"/>
          </p:cNvSpPr>
          <p:nvPr/>
        </p:nvSpPr>
        <p:spPr>
          <a:xfrm>
            <a:off x="9229725" y="3429000"/>
            <a:ext cx="1000125" cy="5715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8</a:t>
            </a:r>
          </a:p>
          <a:p>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23" name="extent-bracket">
            <a:extLst>
              <a:ext uri="{FF2B5EF4-FFF2-40B4-BE49-F238E27FC236}">
                <a16:creationId xmlns:a16="http://schemas.microsoft.com/office/drawing/2014/main" id="{6FFB374E-2B6A-4222-9726-E0124FEC18C3}"/>
              </a:ext>
            </a:extLst>
          </p:cNvPr>
          <p:cNvSpPr>
            <a:spLocks noGrp="1"/>
          </p:cNvSpPr>
          <p:nvPr/>
        </p:nvSpPr>
        <p:spPr>
          <a:xfrm>
            <a:off x="952500" y="4762500"/>
            <a:ext cx="9315450" cy="57150"/>
          </a:xfrm>
          <a:prstGeom prst="rect">
            <a:avLst/>
          </a:prstGeom>
          <a:solidFill>
            <a:srgbClr val="007C83"/>
          </a:solidFill>
          <a:ln w="0">
            <a:noFill/>
            <a:prstDash val="solid"/>
          </a:ln>
        </p:spPr>
        <p:txBody>
          <a:bodyPr/>
          <a:lstStyle/>
          <a:p>
            <a:endParaRPr/>
          </a:p>
        </p:txBody>
      </p:sp>
      <p:sp>
        <p:nvSpPr>
          <p:cNvPr id="24" name="extent-label">
            <a:extLst>
              <a:ext uri="{FF2B5EF4-FFF2-40B4-BE49-F238E27FC236}">
                <a16:creationId xmlns:a16="http://schemas.microsoft.com/office/drawing/2014/main" id="{0428897B-3721-4BEC-99A2-4910A4C9F153}"/>
              </a:ext>
            </a:extLst>
          </p:cNvPr>
          <p:cNvSpPr>
            <a:spLocks noGrp="1"/>
          </p:cNvSpPr>
          <p:nvPr/>
        </p:nvSpPr>
        <p:spPr>
          <a:xfrm>
            <a:off x="2266950" y="5010150"/>
            <a:ext cx="6667500" cy="381000"/>
          </a:xfrm>
          <a:prstGeom prst="rect">
            <a:avLst/>
          </a:prstGeom>
          <a:noFill/>
          <a:ln w="0">
            <a:noFill/>
            <a:prstDash val="solid"/>
          </a:ln>
        </p:spPr>
        <p:txBody>
          <a:bodyPr wrap="square" lIns="0" tIns="0" rIns="0" bIns="0" anchor="t">
            <a:normAutofit/>
          </a:bodyPr>
          <a:lstStyle/>
          <a:p>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1 Extent = 8 physisch zusammenhängende Pages = 64 KiB</a:t>
            </a:r>
          </a:p>
        </p:txBody>
      </p:sp>
    </p:spTree>
    <p:extLst>
      <p:ext uri="{BB962C8B-B14F-4D97-AF65-F5344CB8AC3E}">
        <p14:creationId xmlns:p14="http://schemas.microsoft.com/office/powerpoint/2010/main" val="113076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7" name="module-label">
            <a:extLst>
              <a:ext uri="{FF2B5EF4-FFF2-40B4-BE49-F238E27FC236}">
                <a16:creationId xmlns:a16="http://schemas.microsoft.com/office/drawing/2014/main" id="{60676373-CF57-430D-BE08-FF4B32BCD7F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4E45BAB8-7C93-45BB-9207-818B34D8191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Row-Aufbau erklärt, warum Datentypen direkt I/O-Kosten beeinflussen</a:t>
            </a:r>
          </a:p>
        </p:txBody>
      </p:sp>
      <p:sp>
        <p:nvSpPr>
          <p:cNvPr id="3" name="title-rule">
            <a:extLst>
              <a:ext uri="{FF2B5EF4-FFF2-40B4-BE49-F238E27FC236}">
                <a16:creationId xmlns:a16="http://schemas.microsoft.com/office/drawing/2014/main" id="{5603E758-C97F-43E5-8795-6F609A605812}"/>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DCCB183-864A-4DA7-97D5-F60D99FB25B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C02AD68-800A-4778-A404-08739D1ECD8B}"/>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11 / 102</a:t>
            </a:r>
          </a:p>
        </p:txBody>
      </p:sp>
      <p:sp>
        <p:nvSpPr>
          <p:cNvPr id="6" name="row-part-0">
            <a:extLst>
              <a:ext uri="{FF2B5EF4-FFF2-40B4-BE49-F238E27FC236}">
                <a16:creationId xmlns:a16="http://schemas.microsoft.com/office/drawing/2014/main" id="{3DDB72EE-0A42-45BD-B580-9FE680F652D6}"/>
              </a:ext>
            </a:extLst>
          </p:cNvPr>
          <p:cNvSpPr>
            <a:spLocks noGrp="1"/>
          </p:cNvSpPr>
          <p:nvPr/>
        </p:nvSpPr>
        <p:spPr>
          <a:xfrm>
            <a:off x="781050" y="3028950"/>
            <a:ext cx="1190625" cy="1466850"/>
          </a:xfrm>
          <a:prstGeom prst="rect">
            <a:avLst/>
          </a:prstGeom>
          <a:solidFill>
            <a:srgbClr val="007C83"/>
          </a:solidFill>
          <a:ln w="9525">
            <a:solidFill>
              <a:srgbClr val="163A52"/>
            </a:solidFill>
            <a:prstDash val="solid"/>
          </a:ln>
        </p:spPr>
        <p:txBody>
          <a:bodyPr/>
          <a:lstStyle/>
          <a:p>
            <a:endParaRPr/>
          </a:p>
        </p:txBody>
      </p:sp>
      <p:sp>
        <p:nvSpPr>
          <p:cNvPr id="7" name="row-part-text-0">
            <a:extLst>
              <a:ext uri="{FF2B5EF4-FFF2-40B4-BE49-F238E27FC236}">
                <a16:creationId xmlns:a16="http://schemas.microsoft.com/office/drawing/2014/main" id="{686FA9B4-49BD-451E-B6BF-ED5F6877D408}"/>
              </a:ext>
            </a:extLst>
          </p:cNvPr>
          <p:cNvSpPr>
            <a:spLocks noGrp="1"/>
          </p:cNvSpPr>
          <p:nvPr/>
        </p:nvSpPr>
        <p:spPr>
          <a:xfrm>
            <a:off x="857250" y="3352800"/>
            <a:ext cx="1038225" cy="76200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Status Bits</a:t>
            </a:r>
          </a:p>
        </p:txBody>
      </p:sp>
      <p:sp>
        <p:nvSpPr>
          <p:cNvPr id="8" name="row-part-1">
            <a:extLst>
              <a:ext uri="{FF2B5EF4-FFF2-40B4-BE49-F238E27FC236}">
                <a16:creationId xmlns:a16="http://schemas.microsoft.com/office/drawing/2014/main" id="{5D2FDBC4-82E4-46AD-B52D-4AC4D3DF06FF}"/>
              </a:ext>
            </a:extLst>
          </p:cNvPr>
          <p:cNvSpPr>
            <a:spLocks noGrp="1"/>
          </p:cNvSpPr>
          <p:nvPr/>
        </p:nvSpPr>
        <p:spPr>
          <a:xfrm>
            <a:off x="1971675" y="3028950"/>
            <a:ext cx="2095500" cy="1466850"/>
          </a:xfrm>
          <a:prstGeom prst="rect">
            <a:avLst/>
          </a:prstGeom>
          <a:solidFill>
            <a:srgbClr val="B9E3E5"/>
          </a:solidFill>
          <a:ln w="9525">
            <a:solidFill>
              <a:srgbClr val="163A52"/>
            </a:solidFill>
            <a:prstDash val="solid"/>
          </a:ln>
        </p:spPr>
        <p:txBody>
          <a:bodyPr/>
          <a:lstStyle/>
          <a:p>
            <a:endParaRPr/>
          </a:p>
        </p:txBody>
      </p:sp>
      <p:sp>
        <p:nvSpPr>
          <p:cNvPr id="9" name="row-part-text-1">
            <a:extLst>
              <a:ext uri="{FF2B5EF4-FFF2-40B4-BE49-F238E27FC236}">
                <a16:creationId xmlns:a16="http://schemas.microsoft.com/office/drawing/2014/main" id="{FC99DA9D-6820-4F77-BC04-CAAFDEAA5A38}"/>
              </a:ext>
            </a:extLst>
          </p:cNvPr>
          <p:cNvSpPr>
            <a:spLocks noGrp="1"/>
          </p:cNvSpPr>
          <p:nvPr/>
        </p:nvSpPr>
        <p:spPr>
          <a:xfrm>
            <a:off x="2047875" y="3352800"/>
            <a:ext cx="1943100" cy="76200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Fixed-Length</a:t>
            </a:r>
          </a:p>
        </p:txBody>
      </p:sp>
      <p:sp>
        <p:nvSpPr>
          <p:cNvPr id="10" name="row-part-2">
            <a:extLst>
              <a:ext uri="{FF2B5EF4-FFF2-40B4-BE49-F238E27FC236}">
                <a16:creationId xmlns:a16="http://schemas.microsoft.com/office/drawing/2014/main" id="{873F220C-0EAA-49C9-A4D9-EB796EB764B2}"/>
              </a:ext>
            </a:extLst>
          </p:cNvPr>
          <p:cNvSpPr>
            <a:spLocks noGrp="1"/>
          </p:cNvSpPr>
          <p:nvPr/>
        </p:nvSpPr>
        <p:spPr>
          <a:xfrm>
            <a:off x="4067175" y="3028950"/>
            <a:ext cx="1619250" cy="1466850"/>
          </a:xfrm>
          <a:prstGeom prst="rect">
            <a:avLst/>
          </a:prstGeom>
          <a:solidFill>
            <a:srgbClr val="F4A261"/>
          </a:solidFill>
          <a:ln w="9525">
            <a:solidFill>
              <a:srgbClr val="163A52"/>
            </a:solidFill>
            <a:prstDash val="solid"/>
          </a:ln>
        </p:spPr>
        <p:txBody>
          <a:bodyPr/>
          <a:lstStyle/>
          <a:p>
            <a:endParaRPr/>
          </a:p>
        </p:txBody>
      </p:sp>
      <p:sp>
        <p:nvSpPr>
          <p:cNvPr id="11" name="row-part-text-2">
            <a:extLst>
              <a:ext uri="{FF2B5EF4-FFF2-40B4-BE49-F238E27FC236}">
                <a16:creationId xmlns:a16="http://schemas.microsoft.com/office/drawing/2014/main" id="{1CA6F851-A8CD-4B10-B787-7B1BC399D5C3}"/>
              </a:ext>
            </a:extLst>
          </p:cNvPr>
          <p:cNvSpPr>
            <a:spLocks noGrp="1"/>
          </p:cNvSpPr>
          <p:nvPr/>
        </p:nvSpPr>
        <p:spPr>
          <a:xfrm>
            <a:off x="4143375" y="3352800"/>
            <a:ext cx="1466850" cy="76200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NULL Bitmap</a:t>
            </a:r>
          </a:p>
        </p:txBody>
      </p:sp>
      <p:sp>
        <p:nvSpPr>
          <p:cNvPr id="12" name="row-part-3">
            <a:extLst>
              <a:ext uri="{FF2B5EF4-FFF2-40B4-BE49-F238E27FC236}">
                <a16:creationId xmlns:a16="http://schemas.microsoft.com/office/drawing/2014/main" id="{FAC4E424-F8A1-40E7-ADB0-5C832ED39472}"/>
              </a:ext>
            </a:extLst>
          </p:cNvPr>
          <p:cNvSpPr>
            <a:spLocks noGrp="1"/>
          </p:cNvSpPr>
          <p:nvPr/>
        </p:nvSpPr>
        <p:spPr>
          <a:xfrm>
            <a:off x="5686425" y="3028950"/>
            <a:ext cx="2095500" cy="1466850"/>
          </a:xfrm>
          <a:prstGeom prst="rect">
            <a:avLst/>
          </a:prstGeom>
          <a:solidFill>
            <a:srgbClr val="FFE5C2"/>
          </a:solidFill>
          <a:ln w="9525">
            <a:solidFill>
              <a:srgbClr val="163A52"/>
            </a:solidFill>
            <a:prstDash val="solid"/>
          </a:ln>
        </p:spPr>
        <p:txBody>
          <a:bodyPr/>
          <a:lstStyle/>
          <a:p>
            <a:endParaRPr/>
          </a:p>
        </p:txBody>
      </p:sp>
      <p:sp>
        <p:nvSpPr>
          <p:cNvPr id="13" name="row-part-text-3">
            <a:extLst>
              <a:ext uri="{FF2B5EF4-FFF2-40B4-BE49-F238E27FC236}">
                <a16:creationId xmlns:a16="http://schemas.microsoft.com/office/drawing/2014/main" id="{F017D30C-7F63-42E3-9D1A-D8020904BD53}"/>
              </a:ext>
            </a:extLst>
          </p:cNvPr>
          <p:cNvSpPr>
            <a:spLocks noGrp="1"/>
          </p:cNvSpPr>
          <p:nvPr/>
        </p:nvSpPr>
        <p:spPr>
          <a:xfrm>
            <a:off x="5762625" y="3352800"/>
            <a:ext cx="1943100" cy="76200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Variable Metadata</a:t>
            </a:r>
          </a:p>
        </p:txBody>
      </p:sp>
      <p:sp>
        <p:nvSpPr>
          <p:cNvPr id="14" name="row-part-4">
            <a:extLst>
              <a:ext uri="{FF2B5EF4-FFF2-40B4-BE49-F238E27FC236}">
                <a16:creationId xmlns:a16="http://schemas.microsoft.com/office/drawing/2014/main" id="{4D2D4504-7E69-492B-979F-05ACFD0DF9CD}"/>
              </a:ext>
            </a:extLst>
          </p:cNvPr>
          <p:cNvSpPr>
            <a:spLocks noGrp="1"/>
          </p:cNvSpPr>
          <p:nvPr/>
        </p:nvSpPr>
        <p:spPr>
          <a:xfrm>
            <a:off x="7781925" y="3028950"/>
            <a:ext cx="2714625" cy="1466850"/>
          </a:xfrm>
          <a:prstGeom prst="rect">
            <a:avLst/>
          </a:prstGeom>
          <a:solidFill>
            <a:srgbClr val="FFFFFF"/>
          </a:solidFill>
          <a:ln w="9525">
            <a:solidFill>
              <a:srgbClr val="163A52"/>
            </a:solidFill>
            <a:prstDash val="solid"/>
          </a:ln>
        </p:spPr>
        <p:txBody>
          <a:bodyPr/>
          <a:lstStyle/>
          <a:p>
            <a:endParaRPr/>
          </a:p>
        </p:txBody>
      </p:sp>
      <p:sp>
        <p:nvSpPr>
          <p:cNvPr id="15" name="row-part-text-4">
            <a:extLst>
              <a:ext uri="{FF2B5EF4-FFF2-40B4-BE49-F238E27FC236}">
                <a16:creationId xmlns:a16="http://schemas.microsoft.com/office/drawing/2014/main" id="{5E6EFB53-9F3B-41FF-8AF2-BEFE1E6A10FF}"/>
              </a:ext>
            </a:extLst>
          </p:cNvPr>
          <p:cNvSpPr>
            <a:spLocks noGrp="1"/>
          </p:cNvSpPr>
          <p:nvPr/>
        </p:nvSpPr>
        <p:spPr>
          <a:xfrm>
            <a:off x="7858125" y="3352800"/>
            <a:ext cx="2562225" cy="76200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Variable Data</a:t>
            </a:r>
          </a:p>
        </p:txBody>
      </p:sp>
      <p:sp>
        <p:nvSpPr>
          <p:cNvPr id="16" name="row-caption">
            <a:extLst>
              <a:ext uri="{FF2B5EF4-FFF2-40B4-BE49-F238E27FC236}">
                <a16:creationId xmlns:a16="http://schemas.microsoft.com/office/drawing/2014/main" id="{5A6E1248-D63C-4B58-9655-141148EC7E20}"/>
              </a:ext>
            </a:extLst>
          </p:cNvPr>
          <p:cNvSpPr>
            <a:spLocks noGrp="1"/>
          </p:cNvSpPr>
          <p:nvPr/>
        </p:nvSpPr>
        <p:spPr>
          <a:xfrm>
            <a:off x="990600" y="4972050"/>
            <a:ext cx="10210800" cy="552450"/>
          </a:xfrm>
          <a:prstGeom prst="rect">
            <a:avLst/>
          </a:prstGeom>
          <a:noFill/>
          <a:ln w="0">
            <a:noFill/>
            <a:prstDash val="solid"/>
          </a:ln>
        </p:spPr>
        <p:txBody>
          <a:bodyPr wrap="square" lIns="0" tIns="0" rIns="0" bIns="0" anchor="t">
            <a:normAutofit fontScale="95899"/>
          </a:bodyPr>
          <a:lstStyle/>
          <a:p>
            <a:pPr algn="ctr">
              <a:lnSpc>
                <a:spcPct val="105000"/>
              </a:lnSpc>
              <a:buNone/>
              <a:defRPr sz="1800" b="0" i="0">
                <a:solidFill>
                  <a:srgbClr val="52606D"/>
                </a:solidFill>
                <a:latin typeface="Aptos"/>
                <a:ea typeface="Aptos"/>
                <a:cs typeface="Aptos"/>
              </a:defRPr>
            </a:pPr>
            <a:r>
              <a:rPr sz="1800" b="0" i="0">
                <a:solidFill>
                  <a:srgbClr val="52606D"/>
                </a:solidFill>
                <a:latin typeface="Aptos"/>
                <a:ea typeface="Aptos"/>
                <a:cs typeface="Aptos"/>
              </a:rPr>
              <a:t>Die interne Row-Struktur erzeugt Metadaten- und Breitenkosten – auch bei NULL-Werten und variablen Spalten.</a:t>
            </a:r>
          </a:p>
        </p:txBody>
      </p:sp>
    </p:spTree>
    <p:extLst>
      <p:ext uri="{BB962C8B-B14F-4D97-AF65-F5344CB8AC3E}">
        <p14:creationId xmlns:p14="http://schemas.microsoft.com/office/powerpoint/2010/main" val="159178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11B6F922-8197-4698-8E29-B1891F3DEE7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6E3AD14E-DCED-44F6-AF2E-8B74F642411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Breite Zeilen erhöhen Reads, Memory und Cache-Druck gleichzeitig</a:t>
            </a:r>
          </a:p>
        </p:txBody>
      </p:sp>
      <p:sp>
        <p:nvSpPr>
          <p:cNvPr id="3" name="title-rule">
            <a:extLst>
              <a:ext uri="{FF2B5EF4-FFF2-40B4-BE49-F238E27FC236}">
                <a16:creationId xmlns:a16="http://schemas.microsoft.com/office/drawing/2014/main" id="{B3075A7A-863E-4B7C-ADD4-23BD70F16F29}"/>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CEB0E0E4-2958-4872-A229-A268081AACF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C648C903-04A6-4556-9E2D-2E538BC48CF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12 / 102</a:t>
            </a:r>
          </a:p>
        </p:txBody>
      </p:sp>
      <p:sp>
        <p:nvSpPr>
          <p:cNvPr id="6" name="lead">
            <a:extLst>
              <a:ext uri="{FF2B5EF4-FFF2-40B4-BE49-F238E27FC236}">
                <a16:creationId xmlns:a16="http://schemas.microsoft.com/office/drawing/2014/main" id="{C24576DB-764A-45D3-98B5-EB5657595932}"/>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Vereinfachtes Modell: Zehnmal breitere Zeilen bedeuten grob eine Größenordnung weniger Zeilen pro Page.</a:t>
            </a:r>
          </a:p>
        </p:txBody>
      </p:sp>
      <p:sp>
        <p:nvSpPr>
          <p:cNvPr id="7" name="lead-accent">
            <a:extLst>
              <a:ext uri="{FF2B5EF4-FFF2-40B4-BE49-F238E27FC236}">
                <a16:creationId xmlns:a16="http://schemas.microsoft.com/office/drawing/2014/main" id="{145AC1DB-2A6F-4E80-B993-2D77845A5043}"/>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0B2F5194-3EED-43BA-A697-100CA3729EF8}"/>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 Pages müssen gelesen, gecacht und verarbeitet werden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Sorts, Hashes und Exchanges transportieren mehr Bytes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Wide SELECT * verstärkt die Wirkung auch ohne zusätzliche Zeilen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Tatsächliche Dichte hängt von Headern, NULLs, Variablen und Kompression ab</a:t>
            </a:r>
          </a:p>
        </p:txBody>
      </p:sp>
    </p:spTree>
    <p:extLst>
      <p:ext uri="{BB962C8B-B14F-4D97-AF65-F5344CB8AC3E}">
        <p14:creationId xmlns:p14="http://schemas.microsoft.com/office/powerpoint/2010/main" val="1949374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4636B34C-E8DB-4F4C-A5FA-BD4698DDFDD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32256C41-9CDE-42AD-BC96-C87FAE4D04E2}"/>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Allocation Units trennen drei physische Speicherbereiche</a:t>
            </a:r>
          </a:p>
        </p:txBody>
      </p:sp>
      <p:sp>
        <p:nvSpPr>
          <p:cNvPr id="3" name="title-rule">
            <a:extLst>
              <a:ext uri="{FF2B5EF4-FFF2-40B4-BE49-F238E27FC236}">
                <a16:creationId xmlns:a16="http://schemas.microsoft.com/office/drawing/2014/main" id="{360B364B-569D-4AD5-A320-59C81436A402}"/>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AE84F98F-291C-491A-BC82-EB3BF761D97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A509C67-8D3F-48A2-B55E-10F1D95B9B5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13 / 102</a:t>
            </a:r>
          </a:p>
        </p:txBody>
      </p:sp>
      <p:sp>
        <p:nvSpPr>
          <p:cNvPr id="6" name="left-title">
            <a:extLst>
              <a:ext uri="{FF2B5EF4-FFF2-40B4-BE49-F238E27FC236}">
                <a16:creationId xmlns:a16="http://schemas.microsoft.com/office/drawing/2014/main" id="{D6167328-64FC-48EA-BC5B-A7CA792D8D54}"/>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IN_ROW_DATA</a:t>
            </a:r>
          </a:p>
        </p:txBody>
      </p:sp>
      <p:sp>
        <p:nvSpPr>
          <p:cNvPr id="7" name="right-title">
            <a:extLst>
              <a:ext uri="{FF2B5EF4-FFF2-40B4-BE49-F238E27FC236}">
                <a16:creationId xmlns:a16="http://schemas.microsoft.com/office/drawing/2014/main" id="{17468C38-A29B-43E6-9A07-CAE85B0AEEEA}"/>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ROW_OVERFLOW / LOB</a:t>
            </a:r>
          </a:p>
        </p:txBody>
      </p:sp>
      <p:sp>
        <p:nvSpPr>
          <p:cNvPr id="8" name="middle-rule">
            <a:extLst>
              <a:ext uri="{FF2B5EF4-FFF2-40B4-BE49-F238E27FC236}">
                <a16:creationId xmlns:a16="http://schemas.microsoft.com/office/drawing/2014/main" id="{9F017514-324B-48A1-B67B-A85A11FF9059}"/>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CC3F90D7-FE71-43F0-AF92-0C0EF827927E}"/>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Rowstore-Daten und B+Tree-Pages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 Partition mindestens eine Allocation Unit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Row-Grundstruktur bleibt in-row</a:t>
            </a:r>
          </a:p>
        </p:txBody>
      </p:sp>
      <p:sp>
        <p:nvSpPr>
          <p:cNvPr id="10" name="right-points">
            <a:extLst>
              <a:ext uri="{FF2B5EF4-FFF2-40B4-BE49-F238E27FC236}">
                <a16:creationId xmlns:a16="http://schemas.microsoft.com/office/drawing/2014/main" id="{FCAEF062-FCE9-4A66-BC8A-655B199F88FB}"/>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variable Spalten können ausgelagert werden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LOB_DATA für große Objekte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zusätzliche Zugriffe und Pointer möglich</a:t>
            </a:r>
          </a:p>
        </p:txBody>
      </p:sp>
      <p:sp>
        <p:nvSpPr>
          <p:cNvPr id="11" name="conclusion-bg">
            <a:extLst>
              <a:ext uri="{FF2B5EF4-FFF2-40B4-BE49-F238E27FC236}">
                <a16:creationId xmlns:a16="http://schemas.microsoft.com/office/drawing/2014/main" id="{9865FB78-C83F-40FF-89CC-86BF886F908D}"/>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6BAB9DD5-9EA9-4222-8580-8FB0C35A04ED}"/>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logische Zeile kann physisch mehrere Pages berühren.</a:t>
            </a:r>
          </a:p>
        </p:txBody>
      </p:sp>
    </p:spTree>
    <p:extLst>
      <p:ext uri="{BB962C8B-B14F-4D97-AF65-F5344CB8AC3E}">
        <p14:creationId xmlns:p14="http://schemas.microsoft.com/office/powerpoint/2010/main" val="798572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0" name="module-label">
            <a:extLst>
              <a:ext uri="{FF2B5EF4-FFF2-40B4-BE49-F238E27FC236}">
                <a16:creationId xmlns:a16="http://schemas.microsoft.com/office/drawing/2014/main" id="{181A5F9C-1D59-4D0D-ACF9-8E0ABB4F5E26}"/>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2AFF2341-4823-4A9E-80AF-C356C9421FF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Buffer Pool macht Logical Reads zum zentralen Query-Messwert</a:t>
            </a:r>
          </a:p>
        </p:txBody>
      </p:sp>
      <p:sp>
        <p:nvSpPr>
          <p:cNvPr id="3" name="title-rule">
            <a:extLst>
              <a:ext uri="{FF2B5EF4-FFF2-40B4-BE49-F238E27FC236}">
                <a16:creationId xmlns:a16="http://schemas.microsoft.com/office/drawing/2014/main" id="{27686F5A-7ACB-4C90-B313-CC69CEB5980F}"/>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AC9EE137-2F25-426A-A5C3-4A790E035D5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BC3095F1-259E-4A8C-8772-5C608A429F9B}"/>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14 / 102</a:t>
            </a:r>
          </a:p>
        </p:txBody>
      </p:sp>
      <p:sp>
        <p:nvSpPr>
          <p:cNvPr id="6" name="storage">
            <a:extLst>
              <a:ext uri="{FF2B5EF4-FFF2-40B4-BE49-F238E27FC236}">
                <a16:creationId xmlns:a16="http://schemas.microsoft.com/office/drawing/2014/main" id="{8D3D3D40-7369-4A4E-9436-F25FFDAF68D6}"/>
              </a:ext>
            </a:extLst>
          </p:cNvPr>
          <p:cNvSpPr>
            <a:spLocks noGrp="1"/>
          </p:cNvSpPr>
          <p:nvPr/>
        </p:nvSpPr>
        <p:spPr>
          <a:xfrm>
            <a:off x="723900" y="3105150"/>
            <a:ext cx="209550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7" name="storage-text">
            <a:extLst>
              <a:ext uri="{FF2B5EF4-FFF2-40B4-BE49-F238E27FC236}">
                <a16:creationId xmlns:a16="http://schemas.microsoft.com/office/drawing/2014/main" id="{7BAC920B-9FAA-4FEA-AEB9-1DB5895AEC76}"/>
              </a:ext>
            </a:extLst>
          </p:cNvPr>
          <p:cNvSpPr>
            <a:spLocks noGrp="1"/>
          </p:cNvSpPr>
          <p:nvPr/>
        </p:nvSpPr>
        <p:spPr>
          <a:xfrm>
            <a:off x="857250" y="3219450"/>
            <a:ext cx="18288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Data Files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Storage</a:t>
            </a:r>
          </a:p>
        </p:txBody>
      </p:sp>
      <p:sp>
        <p:nvSpPr>
          <p:cNvPr id="8" name="buffer">
            <a:extLst>
              <a:ext uri="{FF2B5EF4-FFF2-40B4-BE49-F238E27FC236}">
                <a16:creationId xmlns:a16="http://schemas.microsoft.com/office/drawing/2014/main" id="{31166FB3-3D7B-4CB5-8612-81ABA160A957}"/>
              </a:ext>
            </a:extLst>
          </p:cNvPr>
          <p:cNvSpPr>
            <a:spLocks noGrp="1"/>
          </p:cNvSpPr>
          <p:nvPr/>
        </p:nvSpPr>
        <p:spPr>
          <a:xfrm>
            <a:off x="4876800" y="2724150"/>
            <a:ext cx="2476500" cy="2000250"/>
          </a:xfrm>
          <a:prstGeom prst="roundRect">
            <a:avLst>
              <a:gd name="adj" fmla="val 3810"/>
            </a:avLst>
          </a:prstGeom>
          <a:solidFill>
            <a:srgbClr val="EAF4F4"/>
          </a:solidFill>
          <a:ln w="9525">
            <a:solidFill>
              <a:srgbClr val="D9E2EC"/>
            </a:solidFill>
            <a:prstDash val="solid"/>
          </a:ln>
        </p:spPr>
        <p:txBody>
          <a:bodyPr/>
          <a:lstStyle/>
          <a:p>
            <a:endParaRPr/>
          </a:p>
        </p:txBody>
      </p:sp>
      <p:sp>
        <p:nvSpPr>
          <p:cNvPr id="9" name="buffer-text">
            <a:extLst>
              <a:ext uri="{FF2B5EF4-FFF2-40B4-BE49-F238E27FC236}">
                <a16:creationId xmlns:a16="http://schemas.microsoft.com/office/drawing/2014/main" id="{45F47389-5D78-4FCD-8314-2081CE705E2A}"/>
              </a:ext>
            </a:extLst>
          </p:cNvPr>
          <p:cNvSpPr>
            <a:spLocks noGrp="1"/>
          </p:cNvSpPr>
          <p:nvPr/>
        </p:nvSpPr>
        <p:spPr>
          <a:xfrm>
            <a:off x="5010150" y="2838450"/>
            <a:ext cx="2209800" cy="1771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Buffer Pool</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8-KiB-Pages</a:t>
            </a:r>
          </a:p>
        </p:txBody>
      </p:sp>
      <p:sp>
        <p:nvSpPr>
          <p:cNvPr id="10" name="query">
            <a:extLst>
              <a:ext uri="{FF2B5EF4-FFF2-40B4-BE49-F238E27FC236}">
                <a16:creationId xmlns:a16="http://schemas.microsoft.com/office/drawing/2014/main" id="{6A87A621-9CEE-43F4-9540-15E8159947C2}"/>
              </a:ext>
            </a:extLst>
          </p:cNvPr>
          <p:cNvSpPr>
            <a:spLocks noGrp="1"/>
          </p:cNvSpPr>
          <p:nvPr/>
        </p:nvSpPr>
        <p:spPr>
          <a:xfrm>
            <a:off x="9220200" y="3105150"/>
            <a:ext cx="209550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11" name="query-text">
            <a:extLst>
              <a:ext uri="{FF2B5EF4-FFF2-40B4-BE49-F238E27FC236}">
                <a16:creationId xmlns:a16="http://schemas.microsoft.com/office/drawing/2014/main" id="{D31A4CB2-38ED-46B6-B1EE-E2CB57947442}"/>
              </a:ext>
            </a:extLst>
          </p:cNvPr>
          <p:cNvSpPr>
            <a:spLocks noGrp="1"/>
          </p:cNvSpPr>
          <p:nvPr/>
        </p:nvSpPr>
        <p:spPr>
          <a:xfrm>
            <a:off x="9353550" y="3219450"/>
            <a:ext cx="18288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Query</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Operatoren</a:t>
            </a:r>
          </a:p>
        </p:txBody>
      </p:sp>
      <p:cxnSp>
        <p:nvCxnSpPr>
          <p:cNvPr id="93" name="Gerade Verbindung mit Pfeil 53"/>
          <p:cNvCxnSpPr>
            <a:stCxn id="6" idx="3"/>
            <a:endCxn id="8" idx="1"/>
          </p:cNvCxnSpPr>
          <p:nvPr/>
        </p:nvCxnSpPr>
        <p:spPr>
          <a:xfrm>
            <a:off x="2819400" y="3724275"/>
            <a:ext cx="2057400" cy="0"/>
          </a:xfrm>
          <a:prstGeom prst="straightConnector1">
            <a:avLst/>
          </a:prstGeom>
          <a:ln w="28575">
            <a:solidFill>
              <a:srgbClr val="F4A261"/>
            </a:solidFill>
            <a:prstDash val="solid"/>
            <a:tailEnd type="arrow" w="med" len="med"/>
          </a:ln>
        </p:spPr>
      </p:cxnSp>
      <p:cxnSp>
        <p:nvCxnSpPr>
          <p:cNvPr id="94" name="Gerade Verbindung mit Pfeil 54"/>
          <p:cNvCxnSpPr>
            <a:stCxn id="8" idx="3"/>
            <a:endCxn id="10" idx="1"/>
          </p:cNvCxnSpPr>
          <p:nvPr/>
        </p:nvCxnSpPr>
        <p:spPr>
          <a:xfrm>
            <a:off x="7353300" y="3724275"/>
            <a:ext cx="1866900" cy="0"/>
          </a:xfrm>
          <a:prstGeom prst="straightConnector1">
            <a:avLst/>
          </a:prstGeom>
          <a:ln w="28575">
            <a:solidFill>
              <a:srgbClr val="007C83"/>
            </a:solidFill>
            <a:prstDash val="solid"/>
            <a:tailEnd type="arrow" w="med" len="med"/>
          </a:ln>
        </p:spPr>
      </p:cxnSp>
      <p:sp>
        <p:nvSpPr>
          <p:cNvPr id="14" name="physical-label">
            <a:extLst>
              <a:ext uri="{FF2B5EF4-FFF2-40B4-BE49-F238E27FC236}">
                <a16:creationId xmlns:a16="http://schemas.microsoft.com/office/drawing/2014/main" id="{7FE335FF-7E5F-45D7-9E10-6793BB714519}"/>
              </a:ext>
            </a:extLst>
          </p:cNvPr>
          <p:cNvSpPr>
            <a:spLocks noGrp="1"/>
          </p:cNvSpPr>
          <p:nvPr/>
        </p:nvSpPr>
        <p:spPr>
          <a:xfrm>
            <a:off x="2933700" y="2647950"/>
            <a:ext cx="1714500" cy="5715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F4A261"/>
                </a:solidFill>
                <a:latin typeface="Aptos"/>
                <a:ea typeface="Aptos"/>
                <a:cs typeface="Aptos"/>
              </a:defRPr>
            </a:pPr>
            <a:r>
              <a:rPr sz="1500" b="1" i="0">
                <a:solidFill>
                  <a:srgbClr val="F4A261"/>
                </a:solidFill>
                <a:latin typeface="Aptos"/>
                <a:ea typeface="Aptos"/>
                <a:cs typeface="Aptos"/>
              </a:rPr>
              <a:t>Physical Read</a:t>
            </a:r>
          </a:p>
          <a:p>
            <a:pPr algn="ctr">
              <a:lnSpc>
                <a:spcPct val="105000"/>
              </a:lnSpc>
              <a:buNone/>
              <a:defRPr sz="1500" b="1" i="0">
                <a:solidFill>
                  <a:srgbClr val="F4A261"/>
                </a:solidFill>
                <a:latin typeface="Aptos"/>
                <a:ea typeface="Aptos"/>
                <a:cs typeface="Aptos"/>
              </a:defRPr>
            </a:pPr>
            <a:r>
              <a:rPr sz="1500" b="1" i="0">
                <a:solidFill>
                  <a:srgbClr val="F4A261"/>
                </a:solidFill>
                <a:latin typeface="Aptos"/>
                <a:ea typeface="Aptos"/>
                <a:cs typeface="Aptos"/>
              </a:rPr>
              <a:t>lädt Page in Cache</a:t>
            </a:r>
          </a:p>
        </p:txBody>
      </p:sp>
      <p:sp>
        <p:nvSpPr>
          <p:cNvPr id="15" name="logical-label">
            <a:extLst>
              <a:ext uri="{FF2B5EF4-FFF2-40B4-BE49-F238E27FC236}">
                <a16:creationId xmlns:a16="http://schemas.microsoft.com/office/drawing/2014/main" id="{E21B723F-E1DF-4480-BDF1-42EDFACD4712}"/>
              </a:ext>
            </a:extLst>
          </p:cNvPr>
          <p:cNvSpPr>
            <a:spLocks noGrp="1"/>
          </p:cNvSpPr>
          <p:nvPr/>
        </p:nvSpPr>
        <p:spPr>
          <a:xfrm>
            <a:off x="7486650" y="2647950"/>
            <a:ext cx="1619250" cy="8000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007C83"/>
                </a:solidFill>
                <a:latin typeface="Aptos"/>
                <a:ea typeface="Aptos"/>
                <a:cs typeface="Aptos"/>
              </a:defRPr>
            </a:pPr>
            <a:r>
              <a:rPr sz="1500" b="1" i="0">
                <a:solidFill>
                  <a:srgbClr val="007C83"/>
                </a:solidFill>
                <a:latin typeface="Aptos"/>
                <a:ea typeface="Aptos"/>
                <a:cs typeface="Aptos"/>
              </a:rPr>
              <a:t>Logical Read</a:t>
            </a:r>
          </a:p>
          <a:p>
            <a:pPr algn="ctr">
              <a:lnSpc>
                <a:spcPct val="105000"/>
              </a:lnSpc>
              <a:buNone/>
              <a:defRPr sz="1500" b="1" i="0">
                <a:solidFill>
                  <a:srgbClr val="007C83"/>
                </a:solidFill>
                <a:latin typeface="Aptos"/>
                <a:ea typeface="Aptos"/>
                <a:cs typeface="Aptos"/>
              </a:defRPr>
            </a:pPr>
            <a:r>
              <a:rPr sz="1500" b="1" i="0">
                <a:solidFill>
                  <a:srgbClr val="007C83"/>
                </a:solidFill>
                <a:latin typeface="Aptos"/>
                <a:ea typeface="Aptos"/>
                <a:cs typeface="Aptos"/>
              </a:rPr>
              <a:t>nutzt Page im Cache</a:t>
            </a:r>
          </a:p>
        </p:txBody>
      </p:sp>
      <p:sp>
        <p:nvSpPr>
          <p:cNvPr id="16" name="buffer-caption">
            <a:extLst>
              <a:ext uri="{FF2B5EF4-FFF2-40B4-BE49-F238E27FC236}">
                <a16:creationId xmlns:a16="http://schemas.microsoft.com/office/drawing/2014/main" id="{B9B16092-81B6-4711-8203-8C74F286F496}"/>
              </a:ext>
            </a:extLst>
          </p:cNvPr>
          <p:cNvSpPr>
            <a:spLocks noGrp="1"/>
          </p:cNvSpPr>
          <p:nvPr/>
        </p:nvSpPr>
        <p:spPr>
          <a:xfrm>
            <a:off x="1676400" y="5219700"/>
            <a:ext cx="8839200" cy="419100"/>
          </a:xfrm>
          <a:prstGeom prst="rect">
            <a:avLst/>
          </a:prstGeom>
          <a:noFill/>
          <a:ln w="0">
            <a:noFill/>
            <a:prstDash val="solid"/>
          </a:ln>
        </p:spPr>
        <p:txBody>
          <a:bodyPr wrap="square" lIns="0" tIns="0" rIns="0" bIns="0" anchor="t">
            <a:normAutofit fontScale="95924"/>
          </a:bodyPr>
          <a:lstStyle/>
          <a:p>
            <a:pPr algn="ctr">
              <a:lnSpc>
                <a:spcPct val="105000"/>
              </a:lnSpc>
              <a:buNone/>
              <a:defRPr sz="1725" b="0" i="0">
                <a:solidFill>
                  <a:srgbClr val="52606D"/>
                </a:solidFill>
                <a:latin typeface="Aptos"/>
                <a:ea typeface="Aptos"/>
                <a:cs typeface="Aptos"/>
              </a:defRPr>
            </a:pPr>
            <a:r>
              <a:rPr sz="1725" b="0" i="0">
                <a:solidFill>
                  <a:srgbClr val="52606D"/>
                </a:solidFill>
                <a:latin typeface="Aptos"/>
                <a:ea typeface="Aptos"/>
                <a:cs typeface="Aptos"/>
              </a:rPr>
              <a:t>Dirty Pages werden später geschrieben; Read-ahead kann Pages vor dem Operator anfordern.</a:t>
            </a:r>
          </a:p>
        </p:txBody>
      </p:sp>
    </p:spTree>
    <p:extLst>
      <p:ext uri="{BB962C8B-B14F-4D97-AF65-F5344CB8AC3E}">
        <p14:creationId xmlns:p14="http://schemas.microsoft.com/office/powerpoint/2010/main" val="749645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E5D7A7F1-6DA3-41F8-A7DD-0A2E5989A4E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0B0BD848-889D-4ACD-B375-492782A1209B}"/>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Logical und Physical Reads beantworten verschiedene Fragen</a:t>
            </a:r>
          </a:p>
        </p:txBody>
      </p:sp>
      <p:sp>
        <p:nvSpPr>
          <p:cNvPr id="3" name="title-rule">
            <a:extLst>
              <a:ext uri="{FF2B5EF4-FFF2-40B4-BE49-F238E27FC236}">
                <a16:creationId xmlns:a16="http://schemas.microsoft.com/office/drawing/2014/main" id="{EB441F1B-C578-421A-B316-0DC0F6ECFC8C}"/>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EE3D26A5-C8CF-4D63-BE8B-E2B4F319198E}"/>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36769F63-3EBD-468A-B179-631ED45C31F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15 / 102</a:t>
            </a:r>
          </a:p>
        </p:txBody>
      </p:sp>
      <p:sp>
        <p:nvSpPr>
          <p:cNvPr id="6" name="left-title">
            <a:extLst>
              <a:ext uri="{FF2B5EF4-FFF2-40B4-BE49-F238E27FC236}">
                <a16:creationId xmlns:a16="http://schemas.microsoft.com/office/drawing/2014/main" id="{F7F34F8C-2A39-4F95-9E90-3F963324EC07}"/>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Logical Reads</a:t>
            </a:r>
          </a:p>
        </p:txBody>
      </p:sp>
      <p:sp>
        <p:nvSpPr>
          <p:cNvPr id="7" name="right-title">
            <a:extLst>
              <a:ext uri="{FF2B5EF4-FFF2-40B4-BE49-F238E27FC236}">
                <a16:creationId xmlns:a16="http://schemas.microsoft.com/office/drawing/2014/main" id="{020222CE-4033-4A05-8A56-25FED116E4EA}"/>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Physical Reads</a:t>
            </a:r>
          </a:p>
        </p:txBody>
      </p:sp>
      <p:sp>
        <p:nvSpPr>
          <p:cNvPr id="8" name="middle-rule">
            <a:extLst>
              <a:ext uri="{FF2B5EF4-FFF2-40B4-BE49-F238E27FC236}">
                <a16:creationId xmlns:a16="http://schemas.microsoft.com/office/drawing/2014/main" id="{E124A4C4-70E3-4681-9065-CEF31B155F9E}"/>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B2F9B8D5-302C-4879-BEF6-693FC81727DD}"/>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Arbeit des Operators auf Page-Ebene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auch bei warmem Cache sichtbar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gut für Query-Vergleiche bei gleichem Datenstand</a:t>
            </a:r>
          </a:p>
        </p:txBody>
      </p:sp>
      <p:sp>
        <p:nvSpPr>
          <p:cNvPr id="10" name="right-points">
            <a:extLst>
              <a:ext uri="{FF2B5EF4-FFF2-40B4-BE49-F238E27FC236}">
                <a16:creationId xmlns:a16="http://schemas.microsoft.com/office/drawing/2014/main" id="{6ACFD08B-D4A3-4CCC-A80F-2C512177514D}"/>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tatsächlicher Storagezugriff</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stark vom Cachezustand abhängig</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Latenz und Read-ahead zusätzlich prüfen</a:t>
            </a:r>
          </a:p>
        </p:txBody>
      </p:sp>
      <p:sp>
        <p:nvSpPr>
          <p:cNvPr id="11" name="conclusion-bg">
            <a:extLst>
              <a:ext uri="{FF2B5EF4-FFF2-40B4-BE49-F238E27FC236}">
                <a16:creationId xmlns:a16="http://schemas.microsoft.com/office/drawing/2014/main" id="{1CE39866-B0CD-471E-9DF5-E1325D2A3176}"/>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3A09EAD3-9514-4E85-B6B1-8A27BCADC4E5}"/>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 Cold-Cache-Einzellauf ist kein allgemeingültiger Benchmark.</a:t>
            </a:r>
          </a:p>
        </p:txBody>
      </p:sp>
    </p:spTree>
    <p:extLst>
      <p:ext uri="{BB962C8B-B14F-4D97-AF65-F5344CB8AC3E}">
        <p14:creationId xmlns:p14="http://schemas.microsoft.com/office/powerpoint/2010/main" val="2039852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 name="module-label">
            <a:extLst>
              <a:ext uri="{FF2B5EF4-FFF2-40B4-BE49-F238E27FC236}">
                <a16:creationId xmlns:a16="http://schemas.microsoft.com/office/drawing/2014/main" id="{AFF9EF2F-7C34-46D3-A175-115FD899B8F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EA4D09D2-9DF3-4159-87A7-47296A7E7F0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Commit, Log Flush und Checkpoint sind getrennte Vorgänge</a:t>
            </a:r>
          </a:p>
        </p:txBody>
      </p:sp>
      <p:sp>
        <p:nvSpPr>
          <p:cNvPr id="3" name="title-rule">
            <a:extLst>
              <a:ext uri="{FF2B5EF4-FFF2-40B4-BE49-F238E27FC236}">
                <a16:creationId xmlns:a16="http://schemas.microsoft.com/office/drawing/2014/main" id="{A2B29517-D2F8-42D3-A1D4-F6C83941F6D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1FD1AF6-CC62-43FA-8699-1251313C7DA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1740EA7-FBD3-4940-9B60-433E1A07FF78}"/>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16 / 102</a:t>
            </a:r>
          </a:p>
        </p:txBody>
      </p:sp>
      <p:sp>
        <p:nvSpPr>
          <p:cNvPr id="6" name="flow-1">
            <a:extLst>
              <a:ext uri="{FF2B5EF4-FFF2-40B4-BE49-F238E27FC236}">
                <a16:creationId xmlns:a16="http://schemas.microsoft.com/office/drawing/2014/main" id="{96E676F5-F153-43D9-A7C7-5E2C454B1E52}"/>
              </a:ext>
            </a:extLst>
          </p:cNvPr>
          <p:cNvSpPr>
            <a:spLocks noGrp="1"/>
          </p:cNvSpPr>
          <p:nvPr/>
        </p:nvSpPr>
        <p:spPr>
          <a:xfrm>
            <a:off x="609600" y="2609850"/>
            <a:ext cx="2500000"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7" name="flow-1-text">
            <a:extLst>
              <a:ext uri="{FF2B5EF4-FFF2-40B4-BE49-F238E27FC236}">
                <a16:creationId xmlns:a16="http://schemas.microsoft.com/office/drawing/2014/main" id="{64BEA717-9DAC-47C6-9B23-BD94657FCEBA}"/>
              </a:ext>
            </a:extLst>
          </p:cNvPr>
          <p:cNvSpPr>
            <a:spLocks noGrp="1"/>
          </p:cNvSpPr>
          <p:nvPr/>
        </p:nvSpPr>
        <p:spPr>
          <a:xfrm>
            <a:off x="742950" y="2724150"/>
            <a:ext cx="22333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Änderung erzeugt</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Record</a:t>
            </a:r>
          </a:p>
        </p:txBody>
      </p:sp>
      <p:sp>
        <p:nvSpPr>
          <p:cNvPr id="8" name="flow-2">
            <a:extLst>
              <a:ext uri="{FF2B5EF4-FFF2-40B4-BE49-F238E27FC236}">
                <a16:creationId xmlns:a16="http://schemas.microsoft.com/office/drawing/2014/main" id="{58B57872-8294-435B-A3E4-9F498A65C673}"/>
              </a:ext>
            </a:extLst>
          </p:cNvPr>
          <p:cNvSpPr>
            <a:spLocks noGrp="1"/>
          </p:cNvSpPr>
          <p:nvPr/>
        </p:nvSpPr>
        <p:spPr>
          <a:xfrm>
            <a:off x="3324225" y="2609850"/>
            <a:ext cx="250000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9" name="flow-2-text">
            <a:extLst>
              <a:ext uri="{FF2B5EF4-FFF2-40B4-BE49-F238E27FC236}">
                <a16:creationId xmlns:a16="http://schemas.microsoft.com/office/drawing/2014/main" id="{F960F42E-5B38-46DF-8BC5-E28B3BDF5B65}"/>
              </a:ext>
            </a:extLst>
          </p:cNvPr>
          <p:cNvSpPr>
            <a:spLocks noGrp="1"/>
          </p:cNvSpPr>
          <p:nvPr/>
        </p:nvSpPr>
        <p:spPr>
          <a:xfrm>
            <a:off x="3457575" y="2724150"/>
            <a:ext cx="22333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Buffer</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nimmt Records auf</a:t>
            </a:r>
          </a:p>
        </p:txBody>
      </p:sp>
      <p:sp>
        <p:nvSpPr>
          <p:cNvPr id="10" name="flow-3">
            <a:extLst>
              <a:ext uri="{FF2B5EF4-FFF2-40B4-BE49-F238E27FC236}">
                <a16:creationId xmlns:a16="http://schemas.microsoft.com/office/drawing/2014/main" id="{B9F6A020-06E9-43F0-8B48-D3DD440E93C0}"/>
              </a:ext>
            </a:extLst>
          </p:cNvPr>
          <p:cNvSpPr>
            <a:spLocks noGrp="1"/>
          </p:cNvSpPr>
          <p:nvPr/>
        </p:nvSpPr>
        <p:spPr>
          <a:xfrm>
            <a:off x="6038850" y="2609850"/>
            <a:ext cx="250000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1" name="flow-3-text">
            <a:extLst>
              <a:ext uri="{FF2B5EF4-FFF2-40B4-BE49-F238E27FC236}">
                <a16:creationId xmlns:a16="http://schemas.microsoft.com/office/drawing/2014/main" id="{C13EA7CB-FCFF-4E66-9147-6320662CC93B}"/>
              </a:ext>
            </a:extLst>
          </p:cNvPr>
          <p:cNvSpPr>
            <a:spLocks noGrp="1"/>
          </p:cNvSpPr>
          <p:nvPr/>
        </p:nvSpPr>
        <p:spPr>
          <a:xfrm>
            <a:off x="6172200" y="2724150"/>
            <a:ext cx="22333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wird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gehärtet</a:t>
            </a:r>
          </a:p>
        </p:txBody>
      </p:sp>
      <p:sp>
        <p:nvSpPr>
          <p:cNvPr id="12" name="flow-4">
            <a:extLst>
              <a:ext uri="{FF2B5EF4-FFF2-40B4-BE49-F238E27FC236}">
                <a16:creationId xmlns:a16="http://schemas.microsoft.com/office/drawing/2014/main" id="{90A69A97-231D-4E99-BF5C-5D29B8B25BD6}"/>
              </a:ext>
            </a:extLst>
          </p:cNvPr>
          <p:cNvSpPr>
            <a:spLocks noGrp="1"/>
          </p:cNvSpPr>
          <p:nvPr/>
        </p:nvSpPr>
        <p:spPr>
          <a:xfrm>
            <a:off x="8753475" y="2609850"/>
            <a:ext cx="250000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3" name="flow-4-text">
            <a:extLst>
              <a:ext uri="{FF2B5EF4-FFF2-40B4-BE49-F238E27FC236}">
                <a16:creationId xmlns:a16="http://schemas.microsoft.com/office/drawing/2014/main" id="{7637D768-295B-4D54-8B29-613811C5C9E1}"/>
              </a:ext>
            </a:extLst>
          </p:cNvPr>
          <p:cNvSpPr>
            <a:spLocks noGrp="1"/>
          </p:cNvSpPr>
          <p:nvPr/>
        </p:nvSpPr>
        <p:spPr>
          <a:xfrm>
            <a:off x="8886825" y="2724150"/>
            <a:ext cx="22333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Commit wird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bestätigt</a:t>
            </a:r>
          </a:p>
        </p:txBody>
      </p:sp>
      <p:sp>
        <p:nvSpPr>
          <p:cNvPr id="14" name="flow-5">
            <a:extLst>
              <a:ext uri="{FF2B5EF4-FFF2-40B4-BE49-F238E27FC236}">
                <a16:creationId xmlns:a16="http://schemas.microsoft.com/office/drawing/2014/main" id="{912AAB0A-48B9-4C33-9FFB-C19513E79C1D}"/>
              </a:ext>
            </a:extLst>
          </p:cNvPr>
          <p:cNvSpPr>
            <a:spLocks noGrp="1"/>
          </p:cNvSpPr>
          <p:nvPr/>
        </p:nvSpPr>
        <p:spPr>
          <a:xfrm>
            <a:off x="3950000" y="4380000"/>
            <a:ext cx="4200000" cy="80000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5" name="flow-5-text">
            <a:extLst>
              <a:ext uri="{FF2B5EF4-FFF2-40B4-BE49-F238E27FC236}">
                <a16:creationId xmlns:a16="http://schemas.microsoft.com/office/drawing/2014/main" id="{34124599-191C-4F57-A3C6-4FDD7DE82CAD}"/>
              </a:ext>
            </a:extLst>
          </p:cNvPr>
          <p:cNvSpPr>
            <a:spLocks noGrp="1"/>
          </p:cNvSpPr>
          <p:nvPr/>
        </p:nvSpPr>
        <p:spPr>
          <a:xfrm>
            <a:off x="4083350" y="4494300"/>
            <a:ext cx="3933300" cy="5714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Separat: Checkpoint</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schreibt Dirty Pages</a:t>
            </a:r>
          </a:p>
        </p:txBody>
      </p:sp>
      <p:cxnSp>
        <p:nvCxnSpPr>
          <p:cNvPr id="132" name="Gerade Verbindung mit Pfeil 74"/>
          <p:cNvCxnSpPr>
            <a:stCxn id="6" idx="3"/>
            <a:endCxn id="8" idx="1"/>
          </p:cNvCxnSpPr>
          <p:nvPr/>
        </p:nvCxnSpPr>
        <p:spPr>
          <a:xfrm>
            <a:off x="3109600" y="3324225"/>
            <a:ext cx="214625" cy="0"/>
          </a:xfrm>
          <a:prstGeom prst="straightConnector1">
            <a:avLst/>
          </a:prstGeom>
          <a:ln w="28575">
            <a:solidFill>
              <a:srgbClr val="007C83"/>
            </a:solidFill>
            <a:prstDash val="solid"/>
            <a:tailEnd type="arrow" w="med" len="med"/>
          </a:ln>
        </p:spPr>
      </p:cxnSp>
      <p:cxnSp>
        <p:nvCxnSpPr>
          <p:cNvPr id="133" name="Gerade Verbindung mit Pfeil 75"/>
          <p:cNvCxnSpPr>
            <a:stCxn id="8" idx="3"/>
            <a:endCxn id="10" idx="1"/>
          </p:cNvCxnSpPr>
          <p:nvPr/>
        </p:nvCxnSpPr>
        <p:spPr>
          <a:xfrm>
            <a:off x="5824225" y="3324225"/>
            <a:ext cx="214625" cy="0"/>
          </a:xfrm>
          <a:prstGeom prst="straightConnector1">
            <a:avLst/>
          </a:prstGeom>
          <a:ln w="28575">
            <a:solidFill>
              <a:srgbClr val="007C83"/>
            </a:solidFill>
            <a:prstDash val="solid"/>
            <a:tailEnd type="arrow" w="med" len="med"/>
          </a:ln>
        </p:spPr>
      </p:cxnSp>
      <p:cxnSp>
        <p:nvCxnSpPr>
          <p:cNvPr id="134" name="Gerade Verbindung mit Pfeil 76"/>
          <p:cNvCxnSpPr>
            <a:stCxn id="10" idx="3"/>
            <a:endCxn id="12" idx="1"/>
          </p:cNvCxnSpPr>
          <p:nvPr/>
        </p:nvCxnSpPr>
        <p:spPr>
          <a:xfrm>
            <a:off x="8538850" y="3324225"/>
            <a:ext cx="214625" cy="0"/>
          </a:xfrm>
          <a:prstGeom prst="straightConnector1">
            <a:avLst/>
          </a:prstGeom>
          <a:ln w="28575">
            <a:solidFill>
              <a:srgbClr val="007C83"/>
            </a:solidFill>
            <a:prstDash val="solid"/>
            <a:tailEnd type="arrow" w="med" len="med"/>
          </a:ln>
        </p:spPr>
      </p:cxnSp>
      <p:sp>
        <p:nvSpPr>
          <p:cNvPr id="20" name="conclusion-bg">
            <a:extLst>
              <a:ext uri="{FF2B5EF4-FFF2-40B4-BE49-F238E27FC236}">
                <a16:creationId xmlns:a16="http://schemas.microsoft.com/office/drawing/2014/main" id="{9B860B85-4B96-45C7-80CE-5001CA89515F}"/>
              </a:ext>
            </a:extLst>
          </p:cNvPr>
          <p:cNvSpPr>
            <a:spLocks noGrp="1"/>
          </p:cNvSpPr>
          <p:nvPr/>
        </p:nvSpPr>
        <p:spPr>
          <a:xfrm>
            <a:off x="1000000" y="5490000"/>
            <a:ext cx="10100000" cy="819150"/>
          </a:xfrm>
          <a:prstGeom prst="roundRect">
            <a:avLst>
              <a:gd name="adj" fmla="val 9302"/>
            </a:avLst>
          </a:prstGeom>
          <a:solidFill>
            <a:srgbClr val="0B1F33"/>
          </a:solidFill>
          <a:ln w="9525">
            <a:solidFill>
              <a:srgbClr val="0B1F33"/>
            </a:solidFill>
            <a:prstDash val="solid"/>
          </a:ln>
        </p:spPr>
        <p:txBody>
          <a:bodyPr/>
          <a:lstStyle/>
          <a:p>
            <a:endParaRPr/>
          </a:p>
        </p:txBody>
      </p:sp>
      <p:sp>
        <p:nvSpPr>
          <p:cNvPr id="21" name="conclusion">
            <a:extLst>
              <a:ext uri="{FF2B5EF4-FFF2-40B4-BE49-F238E27FC236}">
                <a16:creationId xmlns:a16="http://schemas.microsoft.com/office/drawing/2014/main" id="{0B2E8CC5-C544-4321-A02A-BA8BE5FC78BE}"/>
              </a:ext>
            </a:extLst>
          </p:cNvPr>
          <p:cNvSpPr>
            <a:spLocks noGrp="1"/>
          </p:cNvSpPr>
          <p:nvPr/>
        </p:nvSpPr>
        <p:spPr>
          <a:xfrm>
            <a:off x="1247650" y="5661450"/>
            <a:ext cx="9604700" cy="457200"/>
          </a:xfrm>
          <a:prstGeom prst="rect">
            <a:avLst/>
          </a:prstGeom>
          <a:noFill/>
          <a:ln w="0">
            <a:noFill/>
            <a:prstDash val="solid"/>
          </a:ln>
        </p:spPr>
        <p:txBody>
          <a:bodyPr wrap="square" lIns="0" tIns="0" rIns="0" bIns="0" anchor="ctr">
            <a:normAutofit/>
          </a:bodyPr>
          <a:lstStyle/>
          <a:p>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Commit wartet bei vollständiger Durability auf Log Flush, nicht auf Checkpoint.</a:t>
            </a:r>
          </a:p>
        </p:txBody>
      </p:sp>
      <p:sp>
        <p:nvSpPr>
          <p:cNvPr id="201" name="durability-label"/>
          <p:cNvSpPr>
            <a:spLocks noGrp="1"/>
          </p:cNvSpPr>
          <p:nvPr/>
        </p:nvSpPr>
        <p:spPr>
          <a:xfrm>
            <a:off x="1000000" y="2130000"/>
            <a:ext cx="10100000" cy="3000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526777"/>
                </a:solidFill>
                <a:latin typeface="Aptos"/>
                <a:ea typeface="Aptos"/>
                <a:cs typeface="Aptos"/>
              </a:defRPr>
            </a:pPr>
            <a:r>
              <a:rPr sz="1500" b="1" i="0">
                <a:solidFill>
                  <a:srgbClr val="526777"/>
                </a:solidFill>
                <a:latin typeface="Aptos"/>
                <a:ea typeface="Aptos"/>
                <a:cs typeface="Aptos"/>
              </a:rPr>
              <a:t>Commit-Pfad bei vollständiger Durability</a:t>
            </a:r>
          </a:p>
        </p:txBody>
      </p:sp>
    </p:spTree>
    <p:extLst>
      <p:ext uri="{BB962C8B-B14F-4D97-AF65-F5344CB8AC3E}">
        <p14:creationId xmlns:p14="http://schemas.microsoft.com/office/powerpoint/2010/main" val="1149130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40F282FB-4345-46B3-8BF2-B35189954AF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a:ext uri="{FF2B5EF4-FFF2-40B4-BE49-F238E27FC236}">
                <a16:creationId xmlns:a16="http://schemas.microsoft.com/office/drawing/2014/main" id="{0DB841B6-2269-4F7A-B429-7F5A37E16F9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Autogrowth ist ein Sicherheitsnetz – keine Kapazitätsplanung</a:t>
            </a:r>
          </a:p>
        </p:txBody>
      </p:sp>
      <p:sp>
        <p:nvSpPr>
          <p:cNvPr id="3" name="title-rule">
            <a:extLst>
              <a:ext uri="{FF2B5EF4-FFF2-40B4-BE49-F238E27FC236}">
                <a16:creationId xmlns:a16="http://schemas.microsoft.com/office/drawing/2014/main" id="{D23F911C-F002-4AC4-945F-780DD8674473}"/>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337343CA-A8B4-4A7E-A7C7-D6D227599518}"/>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5C9E046-D02F-4DE8-943E-DDC96BD7EB8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17 / 102</a:t>
            </a:r>
          </a:p>
        </p:txBody>
      </p:sp>
      <p:sp>
        <p:nvSpPr>
          <p:cNvPr id="6" name="lead">
            <a:extLst>
              <a:ext uri="{FF2B5EF4-FFF2-40B4-BE49-F238E27FC236}">
                <a16:creationId xmlns:a16="http://schemas.microsoft.com/office/drawing/2014/main" id="{DB698761-71F7-4693-ADC6-623B11C1C9E0}"/>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Dateien werden vorab dimensioniert; Wachstum wird als erwartbares Betriebsereignis überwacht.</a:t>
            </a:r>
          </a:p>
        </p:txBody>
      </p:sp>
      <p:sp>
        <p:nvSpPr>
          <p:cNvPr id="7" name="lead-accent">
            <a:extLst>
              <a:ext uri="{FF2B5EF4-FFF2-40B4-BE49-F238E27FC236}">
                <a16:creationId xmlns:a16="http://schemas.microsoft.com/office/drawing/2014/main" id="{B1D07F72-E486-475B-84BE-6368CDF03E8D}"/>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9FC728C3-4C58-40A3-AD59-93F3C36DDD19}"/>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Data Files: passende feste Growth-Schritte und freier Storage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Log: VLF-Struktur, Recovery Model und Log-Backup-Kette berücksichtigen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IFI: Data Files unter Voraussetzungen. Log-Autogrowth bis 64 MB ab SQL Server 2022.</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Wachstumsdauer und Blockierung empirisch prüfen</a:t>
            </a:r>
          </a:p>
        </p:txBody>
      </p:sp>
    </p:spTree>
    <p:extLst>
      <p:ext uri="{BB962C8B-B14F-4D97-AF65-F5344CB8AC3E}">
        <p14:creationId xmlns:p14="http://schemas.microsoft.com/office/powerpoint/2010/main" val="2087434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030C3114-304B-4D1B-A72E-415A8D9CBE9B}"/>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1 · WISSENSKONTROLLE</a:t>
            </a:r>
          </a:p>
        </p:txBody>
      </p:sp>
      <p:sp>
        <p:nvSpPr>
          <p:cNvPr id="2" name="question">
            <a:extLst>
              <a:ext uri="{FF2B5EF4-FFF2-40B4-BE49-F238E27FC236}">
                <a16:creationId xmlns:a16="http://schemas.microsoft.com/office/drawing/2014/main" id="{A8C832E7-AF90-4751-BD6A-138294B5DD91}"/>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fontScale="97468" lnSpcReduction="10000"/>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Warum kann eine Abfrage trotz unverändertem Plan plötzlich mehr I/O-Zeit benötigen?</a:t>
            </a:r>
          </a:p>
        </p:txBody>
      </p:sp>
      <p:sp>
        <p:nvSpPr>
          <p:cNvPr id="3" name="question-rule">
            <a:extLst>
              <a:ext uri="{FF2B5EF4-FFF2-40B4-BE49-F238E27FC236}">
                <a16:creationId xmlns:a16="http://schemas.microsoft.com/office/drawing/2014/main" id="{1AB94CF6-0EDF-496B-A18F-20B82820AB38}"/>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5E678454-E8E4-437F-B58B-36FA643E102B}"/>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E36587A1-E6C9-4AE0-B92C-6F0BD1027379}"/>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Cachezustand und Read-ahead</a:t>
            </a:r>
          </a:p>
        </p:txBody>
      </p:sp>
      <p:sp>
        <p:nvSpPr>
          <p:cNvPr id="6" name="prompt-num-1">
            <a:extLst>
              <a:ext uri="{FF2B5EF4-FFF2-40B4-BE49-F238E27FC236}">
                <a16:creationId xmlns:a16="http://schemas.microsoft.com/office/drawing/2014/main" id="{3ECFC933-B231-414C-BF30-E6A3701FC25D}"/>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C52599F2-1C2E-420A-85F5-E1C7B6E2BA24}"/>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Page-Anzahl und Zeilenbreite</a:t>
            </a:r>
          </a:p>
        </p:txBody>
      </p:sp>
      <p:sp>
        <p:nvSpPr>
          <p:cNvPr id="8" name="prompt-num-2">
            <a:extLst>
              <a:ext uri="{FF2B5EF4-FFF2-40B4-BE49-F238E27FC236}">
                <a16:creationId xmlns:a16="http://schemas.microsoft.com/office/drawing/2014/main" id="{CB592791-8929-46D1-9C80-BA5D16CA209F}"/>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736C7A5C-31D5-4FC2-9537-FB06C23E2F45}"/>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fontScale="99206"/>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Storage-Latenz und konkurrierende Workload</a:t>
            </a:r>
          </a:p>
        </p:txBody>
      </p:sp>
      <p:sp>
        <p:nvSpPr>
          <p:cNvPr id="10" name="prompt-num-3">
            <a:extLst>
              <a:ext uri="{FF2B5EF4-FFF2-40B4-BE49-F238E27FC236}">
                <a16:creationId xmlns:a16="http://schemas.microsoft.com/office/drawing/2014/main" id="{46DDC352-7A97-46FA-A856-0E36F45FE086}"/>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756E9EE6-EF21-4EA0-BD73-317DAF1C86AB}"/>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Autogrowth oder Log Flush</a:t>
            </a:r>
          </a:p>
        </p:txBody>
      </p:sp>
      <p:sp>
        <p:nvSpPr>
          <p:cNvPr id="12" name="question-footer">
            <a:extLst>
              <a:ext uri="{FF2B5EF4-FFF2-40B4-BE49-F238E27FC236}">
                <a16:creationId xmlns:a16="http://schemas.microsoft.com/office/drawing/2014/main" id="{6386A445-9209-4F37-9D59-5B570BBCF9A2}"/>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18 / 102</a:t>
            </a:r>
          </a:p>
        </p:txBody>
      </p:sp>
    </p:spTree>
    <p:extLst>
      <p:ext uri="{BB962C8B-B14F-4D97-AF65-F5344CB8AC3E}">
        <p14:creationId xmlns:p14="http://schemas.microsoft.com/office/powerpoint/2010/main" val="1708587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28C841A3-5C9F-4FE9-B647-7B3CD5A10200}"/>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02</a:t>
            </a:r>
          </a:p>
        </p:txBody>
      </p:sp>
      <p:sp>
        <p:nvSpPr>
          <p:cNvPr id="2" name="section-rule">
            <a:extLst>
              <a:ext uri="{FF2B5EF4-FFF2-40B4-BE49-F238E27FC236}">
                <a16:creationId xmlns:a16="http://schemas.microsoft.com/office/drawing/2014/main" id="{12765462-9231-4950-8D23-4FC65E250F55}"/>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BBA32941-D3DC-428B-A719-ACA37B9089DC}"/>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Query Processing</a:t>
            </a:r>
          </a:p>
        </p:txBody>
      </p:sp>
      <p:sp>
        <p:nvSpPr>
          <p:cNvPr id="4" name="section-subtitle">
            <a:extLst>
              <a:ext uri="{FF2B5EF4-FFF2-40B4-BE49-F238E27FC236}">
                <a16:creationId xmlns:a16="http://schemas.microsoft.com/office/drawing/2014/main" id="{E52933A3-1D74-4AB0-9964-B50F058F7F39}"/>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werden aus SQL-Text Kardinalitäten, Kosten und ein ausführbarer Plan?</a:t>
            </a:r>
          </a:p>
        </p:txBody>
      </p:sp>
      <p:sp>
        <p:nvSpPr>
          <p:cNvPr id="5" name="section-footer">
            <a:extLst>
              <a:ext uri="{FF2B5EF4-FFF2-40B4-BE49-F238E27FC236}">
                <a16:creationId xmlns:a16="http://schemas.microsoft.com/office/drawing/2014/main" id="{A5E47BF0-A2C1-4036-9AD5-F8B826F47A10}"/>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904714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5" name="module-label">
            <a:extLst>
              <a:ext uri="{FF2B5EF4-FFF2-40B4-BE49-F238E27FC236}">
                <a16:creationId xmlns:a16="http://schemas.microsoft.com/office/drawing/2014/main" id="{190005A9-CB41-4964-AD14-7A3FA1F8D0F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FAA3F878-0109-4E12-A7A3-0FAD8ED3EDA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Query durchläuft vier fachlich unterscheidbare Phasen</a:t>
            </a:r>
          </a:p>
        </p:txBody>
      </p:sp>
      <p:sp>
        <p:nvSpPr>
          <p:cNvPr id="3" name="title-rule">
            <a:extLst>
              <a:ext uri="{FF2B5EF4-FFF2-40B4-BE49-F238E27FC236}">
                <a16:creationId xmlns:a16="http://schemas.microsoft.com/office/drawing/2014/main" id="{2A78D55D-2025-4ACD-ADC7-BEFA3596D91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0EFB4B43-E621-4397-A82F-DDD28129985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7E15A68-D696-4D27-846B-8A9EEF269D6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20 / 102</a:t>
            </a:r>
          </a:p>
        </p:txBody>
      </p:sp>
      <p:sp>
        <p:nvSpPr>
          <p:cNvPr id="6" name="flow-1">
            <a:extLst>
              <a:ext uri="{FF2B5EF4-FFF2-40B4-BE49-F238E27FC236}">
                <a16:creationId xmlns:a16="http://schemas.microsoft.com/office/drawing/2014/main" id="{0C409208-CA35-4278-9E16-2EA7B53AEE36}"/>
              </a:ext>
            </a:extLst>
          </p:cNvPr>
          <p:cNvSpPr>
            <a:spLocks noGrp="1"/>
          </p:cNvSpPr>
          <p:nvPr/>
        </p:nvSpPr>
        <p:spPr>
          <a:xfrm>
            <a:off x="609600" y="2609850"/>
            <a:ext cx="2505075"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7" name="flow-1-text">
            <a:extLst>
              <a:ext uri="{FF2B5EF4-FFF2-40B4-BE49-F238E27FC236}">
                <a16:creationId xmlns:a16="http://schemas.microsoft.com/office/drawing/2014/main" id="{EB86B69D-E94D-459E-A576-528EE30E53B7}"/>
              </a:ext>
            </a:extLst>
          </p:cNvPr>
          <p:cNvSpPr>
            <a:spLocks noGrp="1"/>
          </p:cNvSpPr>
          <p:nvPr/>
        </p:nvSpPr>
        <p:spPr>
          <a:xfrm>
            <a:off x="742950" y="2724150"/>
            <a:ext cx="2238375"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Parse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Syntax</a:t>
            </a:r>
          </a:p>
        </p:txBody>
      </p:sp>
      <p:sp>
        <p:nvSpPr>
          <p:cNvPr id="8" name="flow-2">
            <a:extLst>
              <a:ext uri="{FF2B5EF4-FFF2-40B4-BE49-F238E27FC236}">
                <a16:creationId xmlns:a16="http://schemas.microsoft.com/office/drawing/2014/main" id="{84BB61AF-AF18-4E05-9909-95885E781554}"/>
              </a:ext>
            </a:extLst>
          </p:cNvPr>
          <p:cNvSpPr>
            <a:spLocks noGrp="1"/>
          </p:cNvSpPr>
          <p:nvPr/>
        </p:nvSpPr>
        <p:spPr>
          <a:xfrm>
            <a:off x="3324225" y="2609850"/>
            <a:ext cx="2505075"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9" name="flow-2-text">
            <a:extLst>
              <a:ext uri="{FF2B5EF4-FFF2-40B4-BE49-F238E27FC236}">
                <a16:creationId xmlns:a16="http://schemas.microsoft.com/office/drawing/2014/main" id="{36E4EB0F-CD1A-43A1-9B5F-4F7D6F2C2218}"/>
              </a:ext>
            </a:extLst>
          </p:cNvPr>
          <p:cNvSpPr>
            <a:spLocks noGrp="1"/>
          </p:cNvSpPr>
          <p:nvPr/>
        </p:nvSpPr>
        <p:spPr>
          <a:xfrm>
            <a:off x="3457575" y="2724150"/>
            <a:ext cx="2238375"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Bind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Objekte &amp; Typen</a:t>
            </a:r>
          </a:p>
        </p:txBody>
      </p:sp>
      <p:sp>
        <p:nvSpPr>
          <p:cNvPr id="10" name="flow-3">
            <a:extLst>
              <a:ext uri="{FF2B5EF4-FFF2-40B4-BE49-F238E27FC236}">
                <a16:creationId xmlns:a16="http://schemas.microsoft.com/office/drawing/2014/main" id="{BAA9AF21-FFEE-48E0-BF2C-751A1A287ED9}"/>
              </a:ext>
            </a:extLst>
          </p:cNvPr>
          <p:cNvSpPr>
            <a:spLocks noGrp="1"/>
          </p:cNvSpPr>
          <p:nvPr/>
        </p:nvSpPr>
        <p:spPr>
          <a:xfrm>
            <a:off x="6038850" y="2609850"/>
            <a:ext cx="2505075"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1" name="flow-3-text">
            <a:extLst>
              <a:ext uri="{FF2B5EF4-FFF2-40B4-BE49-F238E27FC236}">
                <a16:creationId xmlns:a16="http://schemas.microsoft.com/office/drawing/2014/main" id="{26B34F9B-6169-437C-AC13-888C36D644EF}"/>
              </a:ext>
            </a:extLst>
          </p:cNvPr>
          <p:cNvSpPr>
            <a:spLocks noGrp="1"/>
          </p:cNvSpPr>
          <p:nvPr/>
        </p:nvSpPr>
        <p:spPr>
          <a:xfrm>
            <a:off x="6172200" y="2724150"/>
            <a:ext cx="2238375"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Optimize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Alternativen</a:t>
            </a:r>
          </a:p>
        </p:txBody>
      </p:sp>
      <p:sp>
        <p:nvSpPr>
          <p:cNvPr id="12" name="flow-4">
            <a:extLst>
              <a:ext uri="{FF2B5EF4-FFF2-40B4-BE49-F238E27FC236}">
                <a16:creationId xmlns:a16="http://schemas.microsoft.com/office/drawing/2014/main" id="{F8638203-51B2-480A-B165-B2018AA74458}"/>
              </a:ext>
            </a:extLst>
          </p:cNvPr>
          <p:cNvSpPr>
            <a:spLocks noGrp="1"/>
          </p:cNvSpPr>
          <p:nvPr/>
        </p:nvSpPr>
        <p:spPr>
          <a:xfrm>
            <a:off x="8753475" y="2609850"/>
            <a:ext cx="2505075"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3" name="flow-4-text">
            <a:extLst>
              <a:ext uri="{FF2B5EF4-FFF2-40B4-BE49-F238E27FC236}">
                <a16:creationId xmlns:a16="http://schemas.microsoft.com/office/drawing/2014/main" id="{4704A370-89AA-476A-A772-BF877B8BEBCA}"/>
              </a:ext>
            </a:extLst>
          </p:cNvPr>
          <p:cNvSpPr>
            <a:spLocks noGrp="1"/>
          </p:cNvSpPr>
          <p:nvPr/>
        </p:nvSpPr>
        <p:spPr>
          <a:xfrm>
            <a:off x="8886825" y="2724150"/>
            <a:ext cx="2238375"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Execute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Operatoren</a:t>
            </a:r>
          </a:p>
        </p:txBody>
      </p:sp>
      <p:cxnSp>
        <p:nvCxnSpPr>
          <p:cNvPr id="112" name="Gerade Verbindung mit Pfeil 63"/>
          <p:cNvCxnSpPr>
            <a:stCxn id="6" idx="3"/>
            <a:endCxn id="8" idx="1"/>
          </p:cNvCxnSpPr>
          <p:nvPr/>
        </p:nvCxnSpPr>
        <p:spPr>
          <a:xfrm>
            <a:off x="3114675" y="3324225"/>
            <a:ext cx="209550" cy="0"/>
          </a:xfrm>
          <a:prstGeom prst="straightConnector1">
            <a:avLst/>
          </a:prstGeom>
          <a:ln w="28575">
            <a:solidFill>
              <a:srgbClr val="007C83"/>
            </a:solidFill>
            <a:prstDash val="solid"/>
            <a:tailEnd type="arrow" w="med" len="med"/>
          </a:ln>
        </p:spPr>
      </p:cxnSp>
      <p:cxnSp>
        <p:nvCxnSpPr>
          <p:cNvPr id="113" name="Gerade Verbindung mit Pfeil 64"/>
          <p:cNvCxnSpPr>
            <a:stCxn id="8" idx="3"/>
            <a:endCxn id="10" idx="1"/>
          </p:cNvCxnSpPr>
          <p:nvPr/>
        </p:nvCxnSpPr>
        <p:spPr>
          <a:xfrm>
            <a:off x="5829300" y="3324225"/>
            <a:ext cx="209550" cy="0"/>
          </a:xfrm>
          <a:prstGeom prst="straightConnector1">
            <a:avLst/>
          </a:prstGeom>
          <a:ln w="28575">
            <a:solidFill>
              <a:srgbClr val="007C83"/>
            </a:solidFill>
            <a:prstDash val="solid"/>
            <a:tailEnd type="arrow" w="med" len="med"/>
          </a:ln>
        </p:spPr>
      </p:cxnSp>
      <p:cxnSp>
        <p:nvCxnSpPr>
          <p:cNvPr id="114" name="Gerade Verbindung mit Pfeil 65"/>
          <p:cNvCxnSpPr>
            <a:stCxn id="10" idx="3"/>
            <a:endCxn id="12" idx="1"/>
          </p:cNvCxnSpPr>
          <p:nvPr/>
        </p:nvCxnSpPr>
        <p:spPr>
          <a:xfrm>
            <a:off x="8543925" y="3324225"/>
            <a:ext cx="209550" cy="0"/>
          </a:xfrm>
          <a:prstGeom prst="straightConnector1">
            <a:avLst/>
          </a:prstGeom>
          <a:ln w="28575">
            <a:solidFill>
              <a:srgbClr val="007C83"/>
            </a:solidFill>
            <a:prstDash val="solid"/>
            <a:tailEnd type="arrow" w="med" len="med"/>
          </a:ln>
        </p:spPr>
      </p:cxnSp>
      <p:sp>
        <p:nvSpPr>
          <p:cNvPr id="17" name="conclusion-bg">
            <a:extLst>
              <a:ext uri="{FF2B5EF4-FFF2-40B4-BE49-F238E27FC236}">
                <a16:creationId xmlns:a16="http://schemas.microsoft.com/office/drawing/2014/main" id="{906145E5-F342-40D3-A305-16E658E0BFD3}"/>
              </a:ext>
            </a:extLst>
          </p:cNvPr>
          <p:cNvSpPr>
            <a:spLocks noGrp="1"/>
          </p:cNvSpPr>
          <p:nvPr/>
        </p:nvSpPr>
        <p:spPr>
          <a:xfrm>
            <a:off x="1752600" y="4762500"/>
            <a:ext cx="8382000" cy="819150"/>
          </a:xfrm>
          <a:prstGeom prst="roundRect">
            <a:avLst>
              <a:gd name="adj" fmla="val 9302"/>
            </a:avLst>
          </a:prstGeom>
          <a:solidFill>
            <a:srgbClr val="0B1F33"/>
          </a:solidFill>
          <a:ln w="9525">
            <a:solidFill>
              <a:srgbClr val="0B1F33"/>
            </a:solidFill>
            <a:prstDash val="solid"/>
          </a:ln>
        </p:spPr>
        <p:txBody>
          <a:bodyPr/>
          <a:lstStyle/>
          <a:p>
            <a:endParaRPr/>
          </a:p>
        </p:txBody>
      </p:sp>
      <p:sp>
        <p:nvSpPr>
          <p:cNvPr id="18" name="conclusion">
            <a:extLst>
              <a:ext uri="{FF2B5EF4-FFF2-40B4-BE49-F238E27FC236}">
                <a16:creationId xmlns:a16="http://schemas.microsoft.com/office/drawing/2014/main" id="{CB890CDC-5F2D-42E8-82DD-A51AC48F1D52}"/>
              </a:ext>
            </a:extLst>
          </p:cNvPr>
          <p:cNvSpPr>
            <a:spLocks noGrp="1"/>
          </p:cNvSpPr>
          <p:nvPr/>
        </p:nvSpPr>
        <p:spPr>
          <a:xfrm>
            <a:off x="2000250" y="4933950"/>
            <a:ext cx="7886700" cy="457200"/>
          </a:xfrm>
          <a:prstGeom prst="rect">
            <a:avLst/>
          </a:prstGeom>
          <a:noFill/>
          <a:ln w="0">
            <a:noFill/>
            <a:prstDash val="solid"/>
          </a:ln>
        </p:spPr>
        <p:txBody>
          <a:bodyPr wrap="square" lIns="0" tIns="0" rIns="0" bIns="0" anchor="ctr">
            <a:normAutofit/>
          </a:bodyPr>
          <a:lstStyle/>
          <a:p>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Fehler in Datentypen oder Metadaten wirken bereits vor der Ausführung.</a:t>
            </a:r>
          </a:p>
        </p:txBody>
      </p:sp>
    </p:spTree>
    <p:extLst>
      <p:ext uri="{BB962C8B-B14F-4D97-AF65-F5344CB8AC3E}">
        <p14:creationId xmlns:p14="http://schemas.microsoft.com/office/powerpoint/2010/main" val="109409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8947D279-BCB2-4516-9FBE-496613D9E23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1EF6BE94-E1EF-442A-B01E-1E2C32F4EF1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Optimizer sucht einen ausreichend günstigen Plan – nicht den mathematisch besten</a:t>
            </a:r>
          </a:p>
        </p:txBody>
      </p:sp>
      <p:sp>
        <p:nvSpPr>
          <p:cNvPr id="3" name="title-rule">
            <a:extLst>
              <a:ext uri="{FF2B5EF4-FFF2-40B4-BE49-F238E27FC236}">
                <a16:creationId xmlns:a16="http://schemas.microsoft.com/office/drawing/2014/main" id="{59C76B92-3385-4C77-9397-B1980735B3C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D27CBFA-04D1-438F-815E-19AB5D9782E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7C982AFA-F68A-403A-9454-288AA19DEED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21 / 102</a:t>
            </a:r>
          </a:p>
        </p:txBody>
      </p:sp>
      <p:sp>
        <p:nvSpPr>
          <p:cNvPr id="6" name="lead">
            <a:extLst>
              <a:ext uri="{FF2B5EF4-FFF2-40B4-BE49-F238E27FC236}">
                <a16:creationId xmlns:a16="http://schemas.microsoft.com/office/drawing/2014/main" id="{41FD7ED2-BCE1-49C8-A468-828C0871B598}"/>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Suchraum wächst kombinatorisch. Deshalb begrenzen Transformationen, Heuristiken und Optimierungsphasen die Suche.</a:t>
            </a:r>
          </a:p>
        </p:txBody>
      </p:sp>
      <p:sp>
        <p:nvSpPr>
          <p:cNvPr id="7" name="lead-accent">
            <a:extLst>
              <a:ext uri="{FF2B5EF4-FFF2-40B4-BE49-F238E27FC236}">
                <a16:creationId xmlns:a16="http://schemas.microsoft.com/office/drawing/2014/main" id="{444F96E5-8297-4545-AF35-EEA45AA5D7E7}"/>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7E9CB950-C41F-48A7-B70C-CE67FE2A7486}"/>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Operatoren erhalten modellierte CPU- und I/O-Kosten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Kardinalitäten beeinflussen fast jede Kostenkomponente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Time-out bedeutet Abbruch der Suche, nicht zwingend einen schlechten Plan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Runtime-Zustände können vom Kostenmodell abweichen</a:t>
            </a:r>
          </a:p>
        </p:txBody>
      </p:sp>
    </p:spTree>
    <p:extLst>
      <p:ext uri="{BB962C8B-B14F-4D97-AF65-F5344CB8AC3E}">
        <p14:creationId xmlns:p14="http://schemas.microsoft.com/office/powerpoint/2010/main" val="165879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 name="module-label">
            <a:extLst>
              <a:ext uri="{FF2B5EF4-FFF2-40B4-BE49-F238E27FC236}">
                <a16:creationId xmlns:a16="http://schemas.microsoft.com/office/drawing/2014/main" id="{0603BBC4-2E55-4FD1-B2A8-54AF6D0A987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0CD5EECB-D44D-405D-A87B-21FDDC3EFCEF}"/>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Kardinalität verbindet Datenverteilung mit Planwahl</a:t>
            </a:r>
          </a:p>
        </p:txBody>
      </p:sp>
      <p:sp>
        <p:nvSpPr>
          <p:cNvPr id="3" name="title-rule">
            <a:extLst>
              <a:ext uri="{FF2B5EF4-FFF2-40B4-BE49-F238E27FC236}">
                <a16:creationId xmlns:a16="http://schemas.microsoft.com/office/drawing/2014/main" id="{3D356BD4-9445-4F60-9566-6DF4681267C2}"/>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8D9C6946-143E-4DBB-960A-10EA905E3607}"/>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C3C7B820-796A-4C45-9E28-0FF5F521001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22 / 102</a:t>
            </a:r>
          </a:p>
        </p:txBody>
      </p:sp>
      <p:sp>
        <p:nvSpPr>
          <p:cNvPr id="6" name="data-dist">
            <a:extLst>
              <a:ext uri="{FF2B5EF4-FFF2-40B4-BE49-F238E27FC236}">
                <a16:creationId xmlns:a16="http://schemas.microsoft.com/office/drawing/2014/main" id="{AAF4087B-C6BE-4BF0-AF13-F1FEE8E23034}"/>
              </a:ext>
            </a:extLst>
          </p:cNvPr>
          <p:cNvSpPr>
            <a:spLocks noGrp="1"/>
          </p:cNvSpPr>
          <p:nvPr/>
        </p:nvSpPr>
        <p:spPr>
          <a:xfrm>
            <a:off x="723900" y="3000375"/>
            <a:ext cx="209550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7" name="data-dist-text">
            <a:extLst>
              <a:ext uri="{FF2B5EF4-FFF2-40B4-BE49-F238E27FC236}">
                <a16:creationId xmlns:a16="http://schemas.microsoft.com/office/drawing/2014/main" id="{DFEA92E1-6386-463E-99DB-E90437B8827D}"/>
              </a:ext>
            </a:extLst>
          </p:cNvPr>
          <p:cNvSpPr>
            <a:spLocks noGrp="1"/>
          </p:cNvSpPr>
          <p:nvPr/>
        </p:nvSpPr>
        <p:spPr>
          <a:xfrm>
            <a:off x="857250" y="3114675"/>
            <a:ext cx="18288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Datenverteilung</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&amp; Parameter</a:t>
            </a:r>
          </a:p>
        </p:txBody>
      </p:sp>
      <p:sp>
        <p:nvSpPr>
          <p:cNvPr id="8" name="statistics">
            <a:extLst>
              <a:ext uri="{FF2B5EF4-FFF2-40B4-BE49-F238E27FC236}">
                <a16:creationId xmlns:a16="http://schemas.microsoft.com/office/drawing/2014/main" id="{357C2971-8FB5-4259-B6EC-814FB5EB124E}"/>
              </a:ext>
            </a:extLst>
          </p:cNvPr>
          <p:cNvSpPr>
            <a:spLocks noGrp="1"/>
          </p:cNvSpPr>
          <p:nvPr/>
        </p:nvSpPr>
        <p:spPr>
          <a:xfrm>
            <a:off x="3638550" y="2743200"/>
            <a:ext cx="2286000" cy="1752600"/>
          </a:xfrm>
          <a:prstGeom prst="roundRect">
            <a:avLst>
              <a:gd name="adj" fmla="val 4348"/>
            </a:avLst>
          </a:prstGeom>
          <a:solidFill>
            <a:srgbClr val="EAF4F4"/>
          </a:solidFill>
          <a:ln w="9525">
            <a:solidFill>
              <a:srgbClr val="D9E2EC"/>
            </a:solidFill>
            <a:prstDash val="solid"/>
          </a:ln>
        </p:spPr>
        <p:txBody>
          <a:bodyPr/>
          <a:lstStyle/>
          <a:p>
            <a:endParaRPr/>
          </a:p>
        </p:txBody>
      </p:sp>
      <p:sp>
        <p:nvSpPr>
          <p:cNvPr id="9" name="statistics-text">
            <a:extLst>
              <a:ext uri="{FF2B5EF4-FFF2-40B4-BE49-F238E27FC236}">
                <a16:creationId xmlns:a16="http://schemas.microsoft.com/office/drawing/2014/main" id="{D49F1485-01A2-4796-B1A3-C34CA9407362}"/>
              </a:ext>
            </a:extLst>
          </p:cNvPr>
          <p:cNvSpPr>
            <a:spLocks noGrp="1"/>
          </p:cNvSpPr>
          <p:nvPr/>
        </p:nvSpPr>
        <p:spPr>
          <a:xfrm>
            <a:off x="3771900" y="2857500"/>
            <a:ext cx="2019300" cy="1524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Statistiken,</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Constraints,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Heuristiken</a:t>
            </a:r>
          </a:p>
        </p:txBody>
      </p:sp>
      <p:sp>
        <p:nvSpPr>
          <p:cNvPr id="10" name="estimate">
            <a:extLst>
              <a:ext uri="{FF2B5EF4-FFF2-40B4-BE49-F238E27FC236}">
                <a16:creationId xmlns:a16="http://schemas.microsoft.com/office/drawing/2014/main" id="{806D1034-B21D-4BC7-888E-A92987A5251D}"/>
              </a:ext>
            </a:extLst>
          </p:cNvPr>
          <p:cNvSpPr>
            <a:spLocks noGrp="1"/>
          </p:cNvSpPr>
          <p:nvPr/>
        </p:nvSpPr>
        <p:spPr>
          <a:xfrm>
            <a:off x="6762750" y="3000375"/>
            <a:ext cx="1905000" cy="1238250"/>
          </a:xfrm>
          <a:prstGeom prst="roundRect">
            <a:avLst>
              <a:gd name="adj" fmla="val 6154"/>
            </a:avLst>
          </a:prstGeom>
          <a:solidFill>
            <a:srgbClr val="FFF3E4"/>
          </a:solidFill>
          <a:ln w="9525">
            <a:solidFill>
              <a:srgbClr val="D9E2EC"/>
            </a:solidFill>
            <a:prstDash val="solid"/>
          </a:ln>
        </p:spPr>
        <p:txBody>
          <a:bodyPr/>
          <a:lstStyle/>
          <a:p>
            <a:endParaRPr/>
          </a:p>
        </p:txBody>
      </p:sp>
      <p:sp>
        <p:nvSpPr>
          <p:cNvPr id="11" name="estimate-text">
            <a:extLst>
              <a:ext uri="{FF2B5EF4-FFF2-40B4-BE49-F238E27FC236}">
                <a16:creationId xmlns:a16="http://schemas.microsoft.com/office/drawing/2014/main" id="{86EA7E81-5BB3-4FE2-BB0D-0A11724AFBE8}"/>
              </a:ext>
            </a:extLst>
          </p:cNvPr>
          <p:cNvSpPr>
            <a:spLocks noGrp="1"/>
          </p:cNvSpPr>
          <p:nvPr/>
        </p:nvSpPr>
        <p:spPr>
          <a:xfrm>
            <a:off x="6896100" y="3114675"/>
            <a:ext cx="16383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Estimated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Rows</a:t>
            </a:r>
          </a:p>
        </p:txBody>
      </p:sp>
      <p:sp>
        <p:nvSpPr>
          <p:cNvPr id="12" name="plan-choice">
            <a:extLst>
              <a:ext uri="{FF2B5EF4-FFF2-40B4-BE49-F238E27FC236}">
                <a16:creationId xmlns:a16="http://schemas.microsoft.com/office/drawing/2014/main" id="{24CC5641-F667-45AF-908A-BECA73A7DB67}"/>
              </a:ext>
            </a:extLst>
          </p:cNvPr>
          <p:cNvSpPr>
            <a:spLocks noGrp="1"/>
          </p:cNvSpPr>
          <p:nvPr/>
        </p:nvSpPr>
        <p:spPr>
          <a:xfrm>
            <a:off x="9486900" y="3000375"/>
            <a:ext cx="200025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13" name="plan-choice-text">
            <a:extLst>
              <a:ext uri="{FF2B5EF4-FFF2-40B4-BE49-F238E27FC236}">
                <a16:creationId xmlns:a16="http://schemas.microsoft.com/office/drawing/2014/main" id="{FC32C745-7A5F-4A0D-870E-AE84950FE443}"/>
              </a:ext>
            </a:extLst>
          </p:cNvPr>
          <p:cNvSpPr>
            <a:spLocks noGrp="1"/>
          </p:cNvSpPr>
          <p:nvPr/>
        </p:nvSpPr>
        <p:spPr>
          <a:xfrm>
            <a:off x="9620250" y="3114675"/>
            <a:ext cx="173355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Join · Grant</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DOP · Access</a:t>
            </a:r>
          </a:p>
        </p:txBody>
      </p:sp>
      <p:cxnSp>
        <p:nvCxnSpPr>
          <p:cNvPr id="111" name="Gerade Verbindung mit Pfeil 62"/>
          <p:cNvCxnSpPr>
            <a:stCxn id="6" idx="3"/>
            <a:endCxn id="8" idx="1"/>
          </p:cNvCxnSpPr>
          <p:nvPr/>
        </p:nvCxnSpPr>
        <p:spPr>
          <a:xfrm>
            <a:off x="2819400" y="3619500"/>
            <a:ext cx="819150" cy="0"/>
          </a:xfrm>
          <a:prstGeom prst="straightConnector1">
            <a:avLst/>
          </a:prstGeom>
          <a:ln w="28575">
            <a:solidFill>
              <a:srgbClr val="007C83"/>
            </a:solidFill>
            <a:prstDash val="solid"/>
            <a:tailEnd type="arrow" w="med" len="med"/>
          </a:ln>
        </p:spPr>
      </p:cxnSp>
      <p:cxnSp>
        <p:nvCxnSpPr>
          <p:cNvPr id="112" name="Gerade Verbindung mit Pfeil 63"/>
          <p:cNvCxnSpPr>
            <a:stCxn id="8" idx="3"/>
            <a:endCxn id="10" idx="1"/>
          </p:cNvCxnSpPr>
          <p:nvPr/>
        </p:nvCxnSpPr>
        <p:spPr>
          <a:xfrm>
            <a:off x="5924550" y="3619500"/>
            <a:ext cx="838200" cy="0"/>
          </a:xfrm>
          <a:prstGeom prst="straightConnector1">
            <a:avLst/>
          </a:prstGeom>
          <a:ln w="28575">
            <a:solidFill>
              <a:srgbClr val="007C83"/>
            </a:solidFill>
            <a:prstDash val="solid"/>
            <a:tailEnd type="arrow" w="med" len="med"/>
          </a:ln>
        </p:spPr>
      </p:cxnSp>
      <p:cxnSp>
        <p:nvCxnSpPr>
          <p:cNvPr id="113" name="Gerade Verbindung mit Pfeil 64"/>
          <p:cNvCxnSpPr>
            <a:stCxn id="10" idx="3"/>
            <a:endCxn id="12" idx="1"/>
          </p:cNvCxnSpPr>
          <p:nvPr/>
        </p:nvCxnSpPr>
        <p:spPr>
          <a:xfrm>
            <a:off x="8667750" y="3619500"/>
            <a:ext cx="819150" cy="0"/>
          </a:xfrm>
          <a:prstGeom prst="straightConnector1">
            <a:avLst/>
          </a:prstGeom>
          <a:ln w="28575">
            <a:solidFill>
              <a:srgbClr val="007C83"/>
            </a:solidFill>
            <a:prstDash val="solid"/>
            <a:tailEnd type="arrow" w="med" len="med"/>
          </a:ln>
        </p:spPr>
      </p:cxnSp>
      <p:sp>
        <p:nvSpPr>
          <p:cNvPr id="17" name="cardinality-caption">
            <a:extLst>
              <a:ext uri="{FF2B5EF4-FFF2-40B4-BE49-F238E27FC236}">
                <a16:creationId xmlns:a16="http://schemas.microsoft.com/office/drawing/2014/main" id="{86903D88-181D-4998-9041-D363C048AC5A}"/>
              </a:ext>
            </a:extLst>
          </p:cNvPr>
          <p:cNvSpPr>
            <a:spLocks noGrp="1"/>
          </p:cNvSpPr>
          <p:nvPr/>
        </p:nvSpPr>
        <p:spPr>
          <a:xfrm>
            <a:off x="2209800" y="5048250"/>
            <a:ext cx="7772400" cy="457200"/>
          </a:xfrm>
          <a:prstGeom prst="rect">
            <a:avLst/>
          </a:prstGeom>
          <a:noFill/>
          <a:ln w="0">
            <a:noFill/>
            <a:prstDash val="solid"/>
          </a:ln>
        </p:spPr>
        <p:txBody>
          <a:bodyPr wrap="square" lIns="0" tIns="0" rIns="0" bIns="0" anchor="t">
            <a:normAutofit fontScale="98256"/>
          </a:bodyPr>
          <a:lstStyle/>
          <a:p>
            <a:pPr algn="ctr">
              <a:lnSpc>
                <a:spcPct val="105000"/>
              </a:lnSpc>
              <a:buNone/>
              <a:defRPr sz="1950" b="1" i="0">
                <a:solidFill>
                  <a:srgbClr val="102A43"/>
                </a:solidFill>
                <a:latin typeface="Aptos"/>
                <a:ea typeface="Aptos"/>
                <a:cs typeface="Aptos"/>
              </a:defRPr>
            </a:pPr>
            <a:r>
              <a:rPr sz="1950" b="1" i="0">
                <a:solidFill>
                  <a:srgbClr val="102A43"/>
                </a:solidFill>
                <a:latin typeface="Aptos"/>
                <a:ea typeface="Aptos"/>
                <a:cs typeface="Aptos"/>
              </a:rPr>
              <a:t>Ein Schätzfehler kann sich über mehrere Operatoren vervielfachen.</a:t>
            </a:r>
          </a:p>
        </p:txBody>
      </p:sp>
    </p:spTree>
    <p:extLst>
      <p:ext uri="{BB962C8B-B14F-4D97-AF65-F5344CB8AC3E}">
        <p14:creationId xmlns:p14="http://schemas.microsoft.com/office/powerpoint/2010/main" val="1332796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4" name="module-label">
            <a:extLst>
              <a:ext uri="{FF2B5EF4-FFF2-40B4-BE49-F238E27FC236}">
                <a16:creationId xmlns:a16="http://schemas.microsoft.com/office/drawing/2014/main" id="{56E95186-3376-4D77-91CC-90EDF26EB446}"/>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79753535-2DD8-4136-814D-EEA9396F693B}"/>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Statistik beschreibt Verteilung – aber nur in begrenzter Auflösung</a:t>
            </a:r>
          </a:p>
        </p:txBody>
      </p:sp>
      <p:sp>
        <p:nvSpPr>
          <p:cNvPr id="3" name="title-rule">
            <a:extLst>
              <a:ext uri="{FF2B5EF4-FFF2-40B4-BE49-F238E27FC236}">
                <a16:creationId xmlns:a16="http://schemas.microsoft.com/office/drawing/2014/main" id="{64070C62-6201-443C-A9D6-995B8E05EFF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F6638BE1-1F71-4B6F-A945-2B09CC49FA7F}"/>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09BBE4D2-A56A-4991-9A4A-FFAC0C517D07}"/>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23 / 102</a:t>
            </a:r>
          </a:p>
        </p:txBody>
      </p:sp>
      <p:sp>
        <p:nvSpPr>
          <p:cNvPr id="6" name="hist-axis-x">
            <a:extLst>
              <a:ext uri="{FF2B5EF4-FFF2-40B4-BE49-F238E27FC236}">
                <a16:creationId xmlns:a16="http://schemas.microsoft.com/office/drawing/2014/main" id="{2388F43D-406D-4E39-98C7-3D6F9E6F48CD}"/>
              </a:ext>
            </a:extLst>
          </p:cNvPr>
          <p:cNvSpPr>
            <a:spLocks noGrp="1"/>
          </p:cNvSpPr>
          <p:nvPr/>
        </p:nvSpPr>
        <p:spPr>
          <a:xfrm>
            <a:off x="1143000" y="4953000"/>
            <a:ext cx="8001000" cy="28575"/>
          </a:xfrm>
          <a:prstGeom prst="rect">
            <a:avLst/>
          </a:prstGeom>
          <a:solidFill>
            <a:srgbClr val="102A43"/>
          </a:solidFill>
          <a:ln w="0">
            <a:noFill/>
            <a:prstDash val="solid"/>
          </a:ln>
        </p:spPr>
        <p:txBody>
          <a:bodyPr/>
          <a:lstStyle/>
          <a:p>
            <a:endParaRPr/>
          </a:p>
        </p:txBody>
      </p:sp>
      <p:sp>
        <p:nvSpPr>
          <p:cNvPr id="7" name="hist-axis-y">
            <a:extLst>
              <a:ext uri="{FF2B5EF4-FFF2-40B4-BE49-F238E27FC236}">
                <a16:creationId xmlns:a16="http://schemas.microsoft.com/office/drawing/2014/main" id="{5D5C8341-DFBB-4180-93B6-1FC68B8AB438}"/>
              </a:ext>
            </a:extLst>
          </p:cNvPr>
          <p:cNvSpPr>
            <a:spLocks noGrp="1"/>
          </p:cNvSpPr>
          <p:nvPr/>
        </p:nvSpPr>
        <p:spPr>
          <a:xfrm>
            <a:off x="1143000" y="2476500"/>
            <a:ext cx="28575" cy="2505075"/>
          </a:xfrm>
          <a:prstGeom prst="rect">
            <a:avLst/>
          </a:prstGeom>
          <a:solidFill>
            <a:srgbClr val="102A43"/>
          </a:solidFill>
          <a:ln w="0">
            <a:noFill/>
            <a:prstDash val="solid"/>
          </a:ln>
        </p:spPr>
        <p:txBody>
          <a:bodyPr/>
          <a:lstStyle/>
          <a:p>
            <a:endParaRPr/>
          </a:p>
        </p:txBody>
      </p:sp>
      <p:sp>
        <p:nvSpPr>
          <p:cNvPr id="8" name="hist-bar-0">
            <a:extLst>
              <a:ext uri="{FF2B5EF4-FFF2-40B4-BE49-F238E27FC236}">
                <a16:creationId xmlns:a16="http://schemas.microsoft.com/office/drawing/2014/main" id="{CD4F3146-8A4D-495F-97E7-483F2B5B2840}"/>
              </a:ext>
            </a:extLst>
          </p:cNvPr>
          <p:cNvSpPr>
            <a:spLocks noGrp="1"/>
          </p:cNvSpPr>
          <p:nvPr/>
        </p:nvSpPr>
        <p:spPr>
          <a:xfrm>
            <a:off x="1381125" y="4533900"/>
            <a:ext cx="361950" cy="400050"/>
          </a:xfrm>
          <a:prstGeom prst="rect">
            <a:avLst/>
          </a:prstGeom>
          <a:solidFill>
            <a:srgbClr val="007C83"/>
          </a:solidFill>
          <a:ln w="0">
            <a:noFill/>
            <a:prstDash val="solid"/>
          </a:ln>
        </p:spPr>
        <p:txBody>
          <a:bodyPr/>
          <a:lstStyle/>
          <a:p>
            <a:endParaRPr/>
          </a:p>
        </p:txBody>
      </p:sp>
      <p:sp>
        <p:nvSpPr>
          <p:cNvPr id="9" name="hist-bar-1">
            <a:extLst>
              <a:ext uri="{FF2B5EF4-FFF2-40B4-BE49-F238E27FC236}">
                <a16:creationId xmlns:a16="http://schemas.microsoft.com/office/drawing/2014/main" id="{9D194A8D-C35B-43CA-8D81-F5EFD2A0BC15}"/>
              </a:ext>
            </a:extLst>
          </p:cNvPr>
          <p:cNvSpPr>
            <a:spLocks noGrp="1"/>
          </p:cNvSpPr>
          <p:nvPr/>
        </p:nvSpPr>
        <p:spPr>
          <a:xfrm>
            <a:off x="1990725" y="4114800"/>
            <a:ext cx="361950" cy="819150"/>
          </a:xfrm>
          <a:prstGeom prst="rect">
            <a:avLst/>
          </a:prstGeom>
          <a:solidFill>
            <a:srgbClr val="007C83"/>
          </a:solidFill>
          <a:ln w="0">
            <a:noFill/>
            <a:prstDash val="solid"/>
          </a:ln>
        </p:spPr>
        <p:txBody>
          <a:bodyPr/>
          <a:lstStyle/>
          <a:p>
            <a:endParaRPr/>
          </a:p>
        </p:txBody>
      </p:sp>
      <p:sp>
        <p:nvSpPr>
          <p:cNvPr id="10" name="hist-bar-2">
            <a:extLst>
              <a:ext uri="{FF2B5EF4-FFF2-40B4-BE49-F238E27FC236}">
                <a16:creationId xmlns:a16="http://schemas.microsoft.com/office/drawing/2014/main" id="{580F1405-12FB-4096-AC80-E904E3F184E1}"/>
              </a:ext>
            </a:extLst>
          </p:cNvPr>
          <p:cNvSpPr>
            <a:spLocks noGrp="1"/>
          </p:cNvSpPr>
          <p:nvPr/>
        </p:nvSpPr>
        <p:spPr>
          <a:xfrm>
            <a:off x="2600325" y="4419600"/>
            <a:ext cx="361950" cy="514350"/>
          </a:xfrm>
          <a:prstGeom prst="rect">
            <a:avLst/>
          </a:prstGeom>
          <a:solidFill>
            <a:srgbClr val="007C83"/>
          </a:solidFill>
          <a:ln w="0">
            <a:noFill/>
            <a:prstDash val="solid"/>
          </a:ln>
        </p:spPr>
        <p:txBody>
          <a:bodyPr/>
          <a:lstStyle/>
          <a:p>
            <a:endParaRPr/>
          </a:p>
        </p:txBody>
      </p:sp>
      <p:sp>
        <p:nvSpPr>
          <p:cNvPr id="11" name="hist-bar-3">
            <a:extLst>
              <a:ext uri="{FF2B5EF4-FFF2-40B4-BE49-F238E27FC236}">
                <a16:creationId xmlns:a16="http://schemas.microsoft.com/office/drawing/2014/main" id="{DA9C27A4-DFE9-4455-A781-5DD67A427706}"/>
              </a:ext>
            </a:extLst>
          </p:cNvPr>
          <p:cNvSpPr>
            <a:spLocks noGrp="1"/>
          </p:cNvSpPr>
          <p:nvPr/>
        </p:nvSpPr>
        <p:spPr>
          <a:xfrm>
            <a:off x="3209925" y="3552825"/>
            <a:ext cx="361950" cy="1381125"/>
          </a:xfrm>
          <a:prstGeom prst="rect">
            <a:avLst/>
          </a:prstGeom>
          <a:solidFill>
            <a:srgbClr val="007C83"/>
          </a:solidFill>
          <a:ln w="0">
            <a:noFill/>
            <a:prstDash val="solid"/>
          </a:ln>
        </p:spPr>
        <p:txBody>
          <a:bodyPr/>
          <a:lstStyle/>
          <a:p>
            <a:endParaRPr/>
          </a:p>
        </p:txBody>
      </p:sp>
      <p:sp>
        <p:nvSpPr>
          <p:cNvPr id="12" name="hist-bar-4">
            <a:extLst>
              <a:ext uri="{FF2B5EF4-FFF2-40B4-BE49-F238E27FC236}">
                <a16:creationId xmlns:a16="http://schemas.microsoft.com/office/drawing/2014/main" id="{288B5840-32DE-43FF-888F-03108D509286}"/>
              </a:ext>
            </a:extLst>
          </p:cNvPr>
          <p:cNvSpPr>
            <a:spLocks noGrp="1"/>
          </p:cNvSpPr>
          <p:nvPr/>
        </p:nvSpPr>
        <p:spPr>
          <a:xfrm>
            <a:off x="3819525" y="4229100"/>
            <a:ext cx="361950" cy="704850"/>
          </a:xfrm>
          <a:prstGeom prst="rect">
            <a:avLst/>
          </a:prstGeom>
          <a:solidFill>
            <a:srgbClr val="007C83"/>
          </a:solidFill>
          <a:ln w="0">
            <a:noFill/>
            <a:prstDash val="solid"/>
          </a:ln>
        </p:spPr>
        <p:txBody>
          <a:bodyPr/>
          <a:lstStyle/>
          <a:p>
            <a:endParaRPr/>
          </a:p>
        </p:txBody>
      </p:sp>
      <p:sp>
        <p:nvSpPr>
          <p:cNvPr id="13" name="hist-bar-5">
            <a:extLst>
              <a:ext uri="{FF2B5EF4-FFF2-40B4-BE49-F238E27FC236}">
                <a16:creationId xmlns:a16="http://schemas.microsoft.com/office/drawing/2014/main" id="{DEE3FFB4-622C-4C2C-AA88-BBA9568CCB61}"/>
              </a:ext>
            </a:extLst>
          </p:cNvPr>
          <p:cNvSpPr>
            <a:spLocks noGrp="1"/>
          </p:cNvSpPr>
          <p:nvPr/>
        </p:nvSpPr>
        <p:spPr>
          <a:xfrm>
            <a:off x="4429125" y="3048000"/>
            <a:ext cx="361950" cy="1885950"/>
          </a:xfrm>
          <a:prstGeom prst="rect">
            <a:avLst/>
          </a:prstGeom>
          <a:solidFill>
            <a:srgbClr val="F4A261"/>
          </a:solidFill>
          <a:ln w="0">
            <a:noFill/>
            <a:prstDash val="solid"/>
          </a:ln>
        </p:spPr>
        <p:txBody>
          <a:bodyPr/>
          <a:lstStyle/>
          <a:p>
            <a:endParaRPr/>
          </a:p>
        </p:txBody>
      </p:sp>
      <p:sp>
        <p:nvSpPr>
          <p:cNvPr id="14" name="hist-bar-6">
            <a:extLst>
              <a:ext uri="{FF2B5EF4-FFF2-40B4-BE49-F238E27FC236}">
                <a16:creationId xmlns:a16="http://schemas.microsoft.com/office/drawing/2014/main" id="{EC1BD889-87A5-47A7-A093-A47AD51728A2}"/>
              </a:ext>
            </a:extLst>
          </p:cNvPr>
          <p:cNvSpPr>
            <a:spLocks noGrp="1"/>
          </p:cNvSpPr>
          <p:nvPr/>
        </p:nvSpPr>
        <p:spPr>
          <a:xfrm>
            <a:off x="5038725" y="4000500"/>
            <a:ext cx="361950" cy="933450"/>
          </a:xfrm>
          <a:prstGeom prst="rect">
            <a:avLst/>
          </a:prstGeom>
          <a:solidFill>
            <a:srgbClr val="007C83"/>
          </a:solidFill>
          <a:ln w="0">
            <a:noFill/>
            <a:prstDash val="solid"/>
          </a:ln>
        </p:spPr>
        <p:txBody>
          <a:bodyPr/>
          <a:lstStyle/>
          <a:p>
            <a:endParaRPr/>
          </a:p>
        </p:txBody>
      </p:sp>
      <p:sp>
        <p:nvSpPr>
          <p:cNvPr id="15" name="hist-bar-7">
            <a:extLst>
              <a:ext uri="{FF2B5EF4-FFF2-40B4-BE49-F238E27FC236}">
                <a16:creationId xmlns:a16="http://schemas.microsoft.com/office/drawing/2014/main" id="{2CAD4279-0553-413F-A58B-E331CE1E6D84}"/>
              </a:ext>
            </a:extLst>
          </p:cNvPr>
          <p:cNvSpPr>
            <a:spLocks noGrp="1"/>
          </p:cNvSpPr>
          <p:nvPr/>
        </p:nvSpPr>
        <p:spPr>
          <a:xfrm>
            <a:off x="5648325" y="4343400"/>
            <a:ext cx="361950" cy="590550"/>
          </a:xfrm>
          <a:prstGeom prst="rect">
            <a:avLst/>
          </a:prstGeom>
          <a:solidFill>
            <a:srgbClr val="007C83"/>
          </a:solidFill>
          <a:ln w="0">
            <a:noFill/>
            <a:prstDash val="solid"/>
          </a:ln>
        </p:spPr>
        <p:txBody>
          <a:bodyPr/>
          <a:lstStyle/>
          <a:p>
            <a:endParaRPr/>
          </a:p>
        </p:txBody>
      </p:sp>
      <p:sp>
        <p:nvSpPr>
          <p:cNvPr id="16" name="hist-bar-8">
            <a:extLst>
              <a:ext uri="{FF2B5EF4-FFF2-40B4-BE49-F238E27FC236}">
                <a16:creationId xmlns:a16="http://schemas.microsoft.com/office/drawing/2014/main" id="{A05C831E-9AC5-4DCA-B588-A4265C07B210}"/>
              </a:ext>
            </a:extLst>
          </p:cNvPr>
          <p:cNvSpPr>
            <a:spLocks noGrp="1"/>
          </p:cNvSpPr>
          <p:nvPr/>
        </p:nvSpPr>
        <p:spPr>
          <a:xfrm>
            <a:off x="6257925" y="3714750"/>
            <a:ext cx="361950" cy="1219200"/>
          </a:xfrm>
          <a:prstGeom prst="rect">
            <a:avLst/>
          </a:prstGeom>
          <a:solidFill>
            <a:srgbClr val="007C83"/>
          </a:solidFill>
          <a:ln w="0">
            <a:noFill/>
            <a:prstDash val="solid"/>
          </a:ln>
        </p:spPr>
        <p:txBody>
          <a:bodyPr/>
          <a:lstStyle/>
          <a:p>
            <a:endParaRPr/>
          </a:p>
        </p:txBody>
      </p:sp>
      <p:sp>
        <p:nvSpPr>
          <p:cNvPr id="17" name="hist-bar-9">
            <a:extLst>
              <a:ext uri="{FF2B5EF4-FFF2-40B4-BE49-F238E27FC236}">
                <a16:creationId xmlns:a16="http://schemas.microsoft.com/office/drawing/2014/main" id="{FB84E831-2DF9-4215-9C4F-7E7D714764CE}"/>
              </a:ext>
            </a:extLst>
          </p:cNvPr>
          <p:cNvSpPr>
            <a:spLocks noGrp="1"/>
          </p:cNvSpPr>
          <p:nvPr/>
        </p:nvSpPr>
        <p:spPr>
          <a:xfrm>
            <a:off x="6867525" y="4476750"/>
            <a:ext cx="361950" cy="457200"/>
          </a:xfrm>
          <a:prstGeom prst="rect">
            <a:avLst/>
          </a:prstGeom>
          <a:solidFill>
            <a:srgbClr val="007C83"/>
          </a:solidFill>
          <a:ln w="0">
            <a:noFill/>
            <a:prstDash val="solid"/>
          </a:ln>
        </p:spPr>
        <p:txBody>
          <a:bodyPr/>
          <a:lstStyle/>
          <a:p>
            <a:endParaRPr/>
          </a:p>
        </p:txBody>
      </p:sp>
      <p:sp>
        <p:nvSpPr>
          <p:cNvPr id="18" name="hist-bar-10">
            <a:extLst>
              <a:ext uri="{FF2B5EF4-FFF2-40B4-BE49-F238E27FC236}">
                <a16:creationId xmlns:a16="http://schemas.microsoft.com/office/drawing/2014/main" id="{58B0A822-3758-4B46-B111-E0B8F24F7B91}"/>
              </a:ext>
            </a:extLst>
          </p:cNvPr>
          <p:cNvSpPr>
            <a:spLocks noGrp="1"/>
          </p:cNvSpPr>
          <p:nvPr/>
        </p:nvSpPr>
        <p:spPr>
          <a:xfrm>
            <a:off x="7477125" y="3200400"/>
            <a:ext cx="361950" cy="1733550"/>
          </a:xfrm>
          <a:prstGeom prst="rect">
            <a:avLst/>
          </a:prstGeom>
          <a:solidFill>
            <a:srgbClr val="F4A261"/>
          </a:solidFill>
          <a:ln w="0">
            <a:noFill/>
            <a:prstDash val="solid"/>
          </a:ln>
        </p:spPr>
        <p:txBody>
          <a:bodyPr/>
          <a:lstStyle/>
          <a:p>
            <a:endParaRPr/>
          </a:p>
        </p:txBody>
      </p:sp>
      <p:sp>
        <p:nvSpPr>
          <p:cNvPr id="19" name="hist-bar-11">
            <a:extLst>
              <a:ext uri="{FF2B5EF4-FFF2-40B4-BE49-F238E27FC236}">
                <a16:creationId xmlns:a16="http://schemas.microsoft.com/office/drawing/2014/main" id="{4994C2F4-21A8-4FC7-A13D-80670BC3ED7C}"/>
              </a:ext>
            </a:extLst>
          </p:cNvPr>
          <p:cNvSpPr>
            <a:spLocks noGrp="1"/>
          </p:cNvSpPr>
          <p:nvPr/>
        </p:nvSpPr>
        <p:spPr>
          <a:xfrm>
            <a:off x="8086725" y="4305300"/>
            <a:ext cx="361950" cy="628650"/>
          </a:xfrm>
          <a:prstGeom prst="rect">
            <a:avLst/>
          </a:prstGeom>
          <a:solidFill>
            <a:srgbClr val="007C83"/>
          </a:solidFill>
          <a:ln w="0">
            <a:noFill/>
            <a:prstDash val="solid"/>
          </a:ln>
        </p:spPr>
        <p:txBody>
          <a:bodyPr/>
          <a:lstStyle/>
          <a:p>
            <a:endParaRPr/>
          </a:p>
        </p:txBody>
      </p:sp>
      <p:sp>
        <p:nvSpPr>
          <p:cNvPr id="20" name="hist-y">
            <a:extLst>
              <a:ext uri="{FF2B5EF4-FFF2-40B4-BE49-F238E27FC236}">
                <a16:creationId xmlns:a16="http://schemas.microsoft.com/office/drawing/2014/main" id="{66BADCF5-3949-4203-BCD1-F841BC29350B}"/>
              </a:ext>
            </a:extLst>
          </p:cNvPr>
          <p:cNvSpPr>
            <a:spLocks noGrp="1"/>
          </p:cNvSpPr>
          <p:nvPr/>
        </p:nvSpPr>
        <p:spPr>
          <a:xfrm>
            <a:off x="342900" y="3429000"/>
            <a:ext cx="857250" cy="28575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52606D"/>
                </a:solidFill>
                <a:latin typeface="Aptos"/>
                <a:ea typeface="Aptos"/>
                <a:cs typeface="Aptos"/>
              </a:defRPr>
            </a:pPr>
            <a:r>
              <a:rPr sz="1350" b="1" i="0">
                <a:solidFill>
                  <a:srgbClr val="52606D"/>
                </a:solidFill>
                <a:latin typeface="Aptos"/>
                <a:ea typeface="Aptos"/>
                <a:cs typeface="Aptos"/>
              </a:rPr>
              <a:t>Häufigkeit</a:t>
            </a:r>
          </a:p>
        </p:txBody>
      </p:sp>
      <p:sp>
        <p:nvSpPr>
          <p:cNvPr id="21" name="hist-x">
            <a:extLst>
              <a:ext uri="{FF2B5EF4-FFF2-40B4-BE49-F238E27FC236}">
                <a16:creationId xmlns:a16="http://schemas.microsoft.com/office/drawing/2014/main" id="{E23C5EDD-3ED7-4525-A13B-5D6B0B700B73}"/>
              </a:ext>
            </a:extLst>
          </p:cNvPr>
          <p:cNvSpPr>
            <a:spLocks noGrp="1"/>
          </p:cNvSpPr>
          <p:nvPr/>
        </p:nvSpPr>
        <p:spPr>
          <a:xfrm>
            <a:off x="3200400" y="5219700"/>
            <a:ext cx="4095750" cy="2667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52606D"/>
                </a:solidFill>
                <a:latin typeface="Aptos"/>
                <a:ea typeface="Aptos"/>
                <a:cs typeface="Aptos"/>
              </a:defRPr>
            </a:pPr>
            <a:r>
              <a:rPr sz="1500" b="1" i="0">
                <a:solidFill>
                  <a:srgbClr val="52606D"/>
                </a:solidFill>
                <a:latin typeface="Aptos"/>
                <a:ea typeface="Aptos"/>
                <a:cs typeface="Aptos"/>
              </a:rPr>
              <a:t>Wertebereich der führenden Spalte</a:t>
            </a:r>
          </a:p>
        </p:txBody>
      </p:sp>
      <p:sp>
        <p:nvSpPr>
          <p:cNvPr id="22" name="hist-note-bg">
            <a:extLst>
              <a:ext uri="{FF2B5EF4-FFF2-40B4-BE49-F238E27FC236}">
                <a16:creationId xmlns:a16="http://schemas.microsoft.com/office/drawing/2014/main" id="{D71B80E7-A4F1-4971-BF1F-D4DE41F1B39F}"/>
              </a:ext>
            </a:extLst>
          </p:cNvPr>
          <p:cNvSpPr>
            <a:spLocks noGrp="1"/>
          </p:cNvSpPr>
          <p:nvPr/>
        </p:nvSpPr>
        <p:spPr>
          <a:xfrm>
            <a:off x="9486900" y="2705100"/>
            <a:ext cx="1809750" cy="2095500"/>
          </a:xfrm>
          <a:prstGeom prst="roundRect">
            <a:avLst>
              <a:gd name="adj" fmla="val 4211"/>
            </a:avLst>
          </a:prstGeom>
          <a:solidFill>
            <a:srgbClr val="0B1F33"/>
          </a:solidFill>
          <a:ln w="9525">
            <a:solidFill>
              <a:srgbClr val="0B1F33"/>
            </a:solidFill>
            <a:prstDash val="solid"/>
          </a:ln>
        </p:spPr>
        <p:txBody>
          <a:bodyPr/>
          <a:lstStyle/>
          <a:p>
            <a:endParaRPr/>
          </a:p>
        </p:txBody>
      </p:sp>
      <p:sp>
        <p:nvSpPr>
          <p:cNvPr id="23" name="hist-note">
            <a:extLst>
              <a:ext uri="{FF2B5EF4-FFF2-40B4-BE49-F238E27FC236}">
                <a16:creationId xmlns:a16="http://schemas.microsoft.com/office/drawing/2014/main" id="{2225E35D-ACA1-4CE3-A010-EF14C587F868}"/>
              </a:ext>
            </a:extLst>
          </p:cNvPr>
          <p:cNvSpPr>
            <a:spLocks noGrp="1"/>
          </p:cNvSpPr>
          <p:nvPr/>
        </p:nvSpPr>
        <p:spPr>
          <a:xfrm>
            <a:off x="9658350" y="3028950"/>
            <a:ext cx="1466850" cy="1428750"/>
          </a:xfrm>
          <a:prstGeom prst="rect">
            <a:avLst/>
          </a:prstGeom>
          <a:noFill/>
          <a:ln w="0">
            <a:noFill/>
            <a:prstDash val="solid"/>
          </a:ln>
        </p:spPr>
        <p:txBody>
          <a:bodyPr wrap="square" lIns="0" tIns="0" rIns="0" bIns="0" anchor="ctr">
            <a:normAutofit fontScale="89031"/>
          </a:bodyPr>
          <a:lstStyle/>
          <a:p>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 200</a:t>
            </a:r>
          </a:p>
          <a:p>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Schritte</a:t>
            </a:r>
          </a:p>
          <a:p>
            <a:endParaRPr sz="2025" b="1" i="0">
              <a:solidFill>
                <a:srgbClr val="FFFFFF"/>
              </a:solidFill>
              <a:latin typeface="Aptos"/>
              <a:ea typeface="Aptos"/>
              <a:cs typeface="Aptos"/>
            </a:endParaRPr>
          </a:p>
          <a:p>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nur führende</a:t>
            </a:r>
          </a:p>
          <a:p>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Spalte</a:t>
            </a:r>
          </a:p>
        </p:txBody>
      </p:sp>
    </p:spTree>
    <p:extLst>
      <p:ext uri="{BB962C8B-B14F-4D97-AF65-F5344CB8AC3E}">
        <p14:creationId xmlns:p14="http://schemas.microsoft.com/office/powerpoint/2010/main" val="847194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EF743995-2053-403D-8149-DB30952A8E5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10A7D246-0F04-4743-9581-E25DE10958F9}"/>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Histogramm und Density Vector liefern unterschiedliche Evidenz</a:t>
            </a:r>
          </a:p>
        </p:txBody>
      </p:sp>
      <p:sp>
        <p:nvSpPr>
          <p:cNvPr id="3" name="title-rule">
            <a:extLst>
              <a:ext uri="{FF2B5EF4-FFF2-40B4-BE49-F238E27FC236}">
                <a16:creationId xmlns:a16="http://schemas.microsoft.com/office/drawing/2014/main" id="{06A70217-AE5C-4FD8-B111-4204217D3C8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5061FACE-C8A2-459A-8BBE-DB17C388F1C8}"/>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12CF71B-ADDD-4AFB-BF99-02A809D8D6C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24 / 102</a:t>
            </a:r>
          </a:p>
        </p:txBody>
      </p:sp>
      <p:sp>
        <p:nvSpPr>
          <p:cNvPr id="6" name="left-title">
            <a:extLst>
              <a:ext uri="{FF2B5EF4-FFF2-40B4-BE49-F238E27FC236}">
                <a16:creationId xmlns:a16="http://schemas.microsoft.com/office/drawing/2014/main" id="{1F2D4D76-DD71-4B34-A1FB-DDEDFF07FBDE}"/>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Histogramm</a:t>
            </a:r>
          </a:p>
        </p:txBody>
      </p:sp>
      <p:sp>
        <p:nvSpPr>
          <p:cNvPr id="7" name="right-title">
            <a:extLst>
              <a:ext uri="{FF2B5EF4-FFF2-40B4-BE49-F238E27FC236}">
                <a16:creationId xmlns:a16="http://schemas.microsoft.com/office/drawing/2014/main" id="{8ADED338-1081-405D-90FD-46253DF63C51}"/>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Density Vector</a:t>
            </a:r>
          </a:p>
        </p:txBody>
      </p:sp>
      <p:sp>
        <p:nvSpPr>
          <p:cNvPr id="8" name="middle-rule">
            <a:extLst>
              <a:ext uri="{FF2B5EF4-FFF2-40B4-BE49-F238E27FC236}">
                <a16:creationId xmlns:a16="http://schemas.microsoft.com/office/drawing/2014/main" id="{D39339DA-27A8-458B-A495-EA3D49EE47F2}"/>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F803DE2C-7256-4AEA-940F-8901D8A7D62C}"/>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führende Statistikspalte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Wertebereiche und Häufigkeiten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maximal 200 Schritte</a:t>
            </a:r>
          </a:p>
        </p:txBody>
      </p:sp>
      <p:sp>
        <p:nvSpPr>
          <p:cNvPr id="10" name="right-points">
            <a:extLst>
              <a:ext uri="{FF2B5EF4-FFF2-40B4-BE49-F238E27FC236}">
                <a16:creationId xmlns:a16="http://schemas.microsoft.com/office/drawing/2014/main" id="{DE5D0826-E443-4B65-803E-8AB483177E60}"/>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kombinierte Präfixe mehrerer Spalten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durchschnittliche Eindeutigkeit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vollständige Korrelationsbeschreibung</a:t>
            </a:r>
          </a:p>
        </p:txBody>
      </p:sp>
      <p:sp>
        <p:nvSpPr>
          <p:cNvPr id="11" name="conclusion-bg">
            <a:extLst>
              <a:ext uri="{FF2B5EF4-FFF2-40B4-BE49-F238E27FC236}">
                <a16:creationId xmlns:a16="http://schemas.microsoft.com/office/drawing/2014/main" id="{2843CF9F-46AF-44C2-A73E-B495E4C485F0}"/>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EC6FBC04-763F-4E82-BEBE-998350F7F314}"/>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Mehrspaltige Korrelation bleibt eine zentrale Schätzgrenze.</a:t>
            </a:r>
          </a:p>
        </p:txBody>
      </p:sp>
    </p:spTree>
    <p:extLst>
      <p:ext uri="{BB962C8B-B14F-4D97-AF65-F5344CB8AC3E}">
        <p14:creationId xmlns:p14="http://schemas.microsoft.com/office/powerpoint/2010/main" val="620103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D25822BB-95C6-4E28-8B45-82B7584BA54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E734FAFC-2F62-4C00-BCD5-3CFCE4FBAF0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Constraints und Eindeutigkeit sind Optimizerwissen – nicht nur Datenqualität</a:t>
            </a:r>
          </a:p>
        </p:txBody>
      </p:sp>
      <p:sp>
        <p:nvSpPr>
          <p:cNvPr id="3" name="title-rule">
            <a:extLst>
              <a:ext uri="{FF2B5EF4-FFF2-40B4-BE49-F238E27FC236}">
                <a16:creationId xmlns:a16="http://schemas.microsoft.com/office/drawing/2014/main" id="{AE260D53-DB3D-453F-B434-26FAAAECCBD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6486F68-3A44-49E1-B557-393D502A1B3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FC831FD8-9A6A-40FA-B4B3-5B305A86573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25 / 102</a:t>
            </a:r>
          </a:p>
        </p:txBody>
      </p:sp>
      <p:sp>
        <p:nvSpPr>
          <p:cNvPr id="6" name="lead">
            <a:extLst>
              <a:ext uri="{FF2B5EF4-FFF2-40B4-BE49-F238E27FC236}">
                <a16:creationId xmlns:a16="http://schemas.microsoft.com/office/drawing/2014/main" id="{60B0DD6B-24B2-4F7A-BB2B-18C91D904D63}"/>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Verlässliche Metadaten können Kardinalitäten begrenzen und unnötige Operatoren vermeiden.</a:t>
            </a:r>
          </a:p>
        </p:txBody>
      </p:sp>
      <p:sp>
        <p:nvSpPr>
          <p:cNvPr id="7" name="lead-accent">
            <a:extLst>
              <a:ext uri="{FF2B5EF4-FFF2-40B4-BE49-F238E27FC236}">
                <a16:creationId xmlns:a16="http://schemas.microsoft.com/office/drawing/2014/main" id="{81692211-C340-4014-B264-A761C9EABADD}"/>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07C1FA21-A7D2-41F9-941D-4454DAC6F7BC}"/>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PRIMARY KEY und UNIQUE liefern Eindeutigkeitsinformation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FOREIGN KEY kann Join-Beziehungen beschreiben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CHECK Constraints begrenzen Wertebereiche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Korrelation ohne Metadaten bleibt häufig eine Modellannahme</a:t>
            </a:r>
          </a:p>
        </p:txBody>
      </p:sp>
    </p:spTree>
    <p:extLst>
      <p:ext uri="{BB962C8B-B14F-4D97-AF65-F5344CB8AC3E}">
        <p14:creationId xmlns:p14="http://schemas.microsoft.com/office/powerpoint/2010/main" val="1519379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32C6B43E-0B42-4982-8B41-F96E892218D4}"/>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F91162E6-5FA5-4099-94A3-098977F96FF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Estimated und Actual Rows werden auf jedem relevanten Operator verglichen</a:t>
            </a:r>
          </a:p>
        </p:txBody>
      </p:sp>
      <p:sp>
        <p:nvSpPr>
          <p:cNvPr id="3" name="title-rule">
            <a:extLst>
              <a:ext uri="{FF2B5EF4-FFF2-40B4-BE49-F238E27FC236}">
                <a16:creationId xmlns:a16="http://schemas.microsoft.com/office/drawing/2014/main" id="{85DBEF92-BA01-4312-8709-FDB034E8C48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A7E43511-51C2-4AD0-9A64-D98FFD733E8E}"/>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351053D-0067-4E5B-9E1F-901A1051E70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26 / 102</a:t>
            </a:r>
          </a:p>
        </p:txBody>
      </p:sp>
      <p:sp>
        <p:nvSpPr>
          <p:cNvPr id="6" name="left-title">
            <a:extLst>
              <a:ext uri="{FF2B5EF4-FFF2-40B4-BE49-F238E27FC236}">
                <a16:creationId xmlns:a16="http://schemas.microsoft.com/office/drawing/2014/main" id="{2659700C-9874-45B2-B69B-545D8463CEF9}"/>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Estimated</a:t>
            </a:r>
          </a:p>
        </p:txBody>
      </p:sp>
      <p:sp>
        <p:nvSpPr>
          <p:cNvPr id="7" name="right-title">
            <a:extLst>
              <a:ext uri="{FF2B5EF4-FFF2-40B4-BE49-F238E27FC236}">
                <a16:creationId xmlns:a16="http://schemas.microsoft.com/office/drawing/2014/main" id="{354AD5D6-B5DF-4CC6-84B8-9A5242DDDD5E}"/>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Actual</a:t>
            </a:r>
          </a:p>
        </p:txBody>
      </p:sp>
      <p:sp>
        <p:nvSpPr>
          <p:cNvPr id="8" name="middle-rule">
            <a:extLst>
              <a:ext uri="{FF2B5EF4-FFF2-40B4-BE49-F238E27FC236}">
                <a16:creationId xmlns:a16="http://schemas.microsoft.com/office/drawing/2014/main" id="{1FB75557-1E66-4CFF-BADA-B922EEDE4A10}"/>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C14A2E90-091B-4D3E-9DF7-DCEC49808BFA}"/>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Compile-time-Schätzung</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Grundlage für Join, Grant und DOP</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abhängig von Parametern und Statistiken</a:t>
            </a:r>
          </a:p>
        </p:txBody>
      </p:sp>
      <p:sp>
        <p:nvSpPr>
          <p:cNvPr id="10" name="right-points">
            <a:extLst>
              <a:ext uri="{FF2B5EF4-FFF2-40B4-BE49-F238E27FC236}">
                <a16:creationId xmlns:a16="http://schemas.microsoft.com/office/drawing/2014/main" id="{D1296467-1E1C-461A-BA9D-50B63878E3F3}"/>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Runtime-Zeilen und Ausführungsanzahl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nur im Actual Plan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durch frühe Abbrüche beeinflusst sein</a:t>
            </a:r>
          </a:p>
        </p:txBody>
      </p:sp>
      <p:sp>
        <p:nvSpPr>
          <p:cNvPr id="11" name="conclusion-bg">
            <a:extLst>
              <a:ext uri="{FF2B5EF4-FFF2-40B4-BE49-F238E27FC236}">
                <a16:creationId xmlns:a16="http://schemas.microsoft.com/office/drawing/2014/main" id="{7B66A06E-82B2-4E5E-8F08-60B38483B9B6}"/>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38433C2E-3BF8-4A7B-B9A1-27D4C5C68D73}"/>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Große Abweichung ist ein Diagnosehinweis, noch keine Ursache.</a:t>
            </a:r>
          </a:p>
        </p:txBody>
      </p:sp>
    </p:spTree>
    <p:extLst>
      <p:ext uri="{BB962C8B-B14F-4D97-AF65-F5344CB8AC3E}">
        <p14:creationId xmlns:p14="http://schemas.microsoft.com/office/powerpoint/2010/main" val="697659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 name="module-label">
            <a:extLst>
              <a:ext uri="{FF2B5EF4-FFF2-40B4-BE49-F238E27FC236}">
                <a16:creationId xmlns:a16="http://schemas.microsoft.com/office/drawing/2014/main" id="{55AABBD3-9C69-4CBD-9DAF-5094DE7EAA27}"/>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21E30B42-A142-438A-81E6-36D711B2F962}"/>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Plan wird entlang des Datenflusses und der Operatorausführung gelesen</a:t>
            </a:r>
          </a:p>
        </p:txBody>
      </p:sp>
      <p:sp>
        <p:nvSpPr>
          <p:cNvPr id="3" name="title-rule">
            <a:extLst>
              <a:ext uri="{FF2B5EF4-FFF2-40B4-BE49-F238E27FC236}">
                <a16:creationId xmlns:a16="http://schemas.microsoft.com/office/drawing/2014/main" id="{4A7ABE4A-CACC-4B92-9534-4700DA6B0F92}"/>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DDDA3BDC-64B5-4F4F-BF04-15365F5FE28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7762919-FB4C-4A81-BB0A-7BDCE547661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27 / 102</a:t>
            </a:r>
          </a:p>
        </p:txBody>
      </p:sp>
      <p:sp>
        <p:nvSpPr>
          <p:cNvPr id="6" name="plan-scan">
            <a:extLst>
              <a:ext uri="{FF2B5EF4-FFF2-40B4-BE49-F238E27FC236}">
                <a16:creationId xmlns:a16="http://schemas.microsoft.com/office/drawing/2014/main" id="{13B4D54C-8C04-4671-B7BC-8C10717CA212}"/>
              </a:ext>
            </a:extLst>
          </p:cNvPr>
          <p:cNvSpPr>
            <a:spLocks noGrp="1"/>
          </p:cNvSpPr>
          <p:nvPr/>
        </p:nvSpPr>
        <p:spPr>
          <a:xfrm>
            <a:off x="8286750" y="2514600"/>
            <a:ext cx="200025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7" name="plan-scan-text">
            <a:extLst>
              <a:ext uri="{FF2B5EF4-FFF2-40B4-BE49-F238E27FC236}">
                <a16:creationId xmlns:a16="http://schemas.microsoft.com/office/drawing/2014/main" id="{835942EF-385F-46E1-AF5A-275F315EEDEE}"/>
              </a:ext>
            </a:extLst>
          </p:cNvPr>
          <p:cNvSpPr>
            <a:spLocks noGrp="1"/>
          </p:cNvSpPr>
          <p:nvPr/>
        </p:nvSpPr>
        <p:spPr>
          <a:xfrm>
            <a:off x="8420100" y="2628900"/>
            <a:ext cx="173355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Index Seek</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Outer: 100 Rows</a:t>
            </a:r>
          </a:p>
        </p:txBody>
      </p:sp>
      <p:sp>
        <p:nvSpPr>
          <p:cNvPr id="8" name="plan-lookup">
            <a:extLst>
              <a:ext uri="{FF2B5EF4-FFF2-40B4-BE49-F238E27FC236}">
                <a16:creationId xmlns:a16="http://schemas.microsoft.com/office/drawing/2014/main" id="{6ACCE3AE-054B-4152-B3A3-E2B15E504B61}"/>
              </a:ext>
            </a:extLst>
          </p:cNvPr>
          <p:cNvSpPr>
            <a:spLocks noGrp="1"/>
          </p:cNvSpPr>
          <p:nvPr/>
        </p:nvSpPr>
        <p:spPr>
          <a:xfrm>
            <a:off x="8286750" y="4229100"/>
            <a:ext cx="2000250" cy="1066800"/>
          </a:xfrm>
          <a:prstGeom prst="roundRect">
            <a:avLst>
              <a:gd name="adj" fmla="val 7143"/>
            </a:avLst>
          </a:prstGeom>
          <a:solidFill>
            <a:srgbClr val="FFF3E4"/>
          </a:solidFill>
          <a:ln w="9525">
            <a:solidFill>
              <a:srgbClr val="D9E2EC"/>
            </a:solidFill>
            <a:prstDash val="solid"/>
          </a:ln>
        </p:spPr>
        <p:txBody>
          <a:bodyPr/>
          <a:lstStyle/>
          <a:p>
            <a:endParaRPr/>
          </a:p>
        </p:txBody>
      </p:sp>
      <p:sp>
        <p:nvSpPr>
          <p:cNvPr id="9" name="plan-lookup-text">
            <a:extLst>
              <a:ext uri="{FF2B5EF4-FFF2-40B4-BE49-F238E27FC236}">
                <a16:creationId xmlns:a16="http://schemas.microsoft.com/office/drawing/2014/main" id="{7E8F5652-7DED-4D15-A4D7-40B9F9599526}"/>
              </a:ext>
            </a:extLst>
          </p:cNvPr>
          <p:cNvSpPr>
            <a:spLocks noGrp="1"/>
          </p:cNvSpPr>
          <p:nvPr/>
        </p:nvSpPr>
        <p:spPr>
          <a:xfrm>
            <a:off x="8420100" y="4343400"/>
            <a:ext cx="173355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Key Lookup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Inner: 100 ×</a:t>
            </a:r>
          </a:p>
        </p:txBody>
      </p:sp>
      <p:sp>
        <p:nvSpPr>
          <p:cNvPr id="10" name="plan-loops">
            <a:extLst>
              <a:ext uri="{FF2B5EF4-FFF2-40B4-BE49-F238E27FC236}">
                <a16:creationId xmlns:a16="http://schemas.microsoft.com/office/drawing/2014/main" id="{B293A84F-EBB7-47CE-A407-213BA4A8FED8}"/>
              </a:ext>
            </a:extLst>
          </p:cNvPr>
          <p:cNvSpPr>
            <a:spLocks noGrp="1"/>
          </p:cNvSpPr>
          <p:nvPr/>
        </p:nvSpPr>
        <p:spPr>
          <a:xfrm>
            <a:off x="4000500" y="3371850"/>
            <a:ext cx="2000250" cy="1066800"/>
          </a:xfrm>
          <a:prstGeom prst="roundRect">
            <a:avLst>
              <a:gd name="adj" fmla="val 7143"/>
            </a:avLst>
          </a:prstGeom>
          <a:solidFill>
            <a:srgbClr val="EAF4F4"/>
          </a:solidFill>
          <a:ln w="9525">
            <a:solidFill>
              <a:srgbClr val="D9E2EC"/>
            </a:solidFill>
            <a:prstDash val="solid"/>
          </a:ln>
        </p:spPr>
        <p:txBody>
          <a:bodyPr/>
          <a:lstStyle/>
          <a:p>
            <a:endParaRPr/>
          </a:p>
        </p:txBody>
      </p:sp>
      <p:sp>
        <p:nvSpPr>
          <p:cNvPr id="11" name="plan-loops-text">
            <a:extLst>
              <a:ext uri="{FF2B5EF4-FFF2-40B4-BE49-F238E27FC236}">
                <a16:creationId xmlns:a16="http://schemas.microsoft.com/office/drawing/2014/main" id="{FCF96E47-F317-486B-85E8-6AF85725C3F1}"/>
              </a:ext>
            </a:extLst>
          </p:cNvPr>
          <p:cNvSpPr>
            <a:spLocks noGrp="1"/>
          </p:cNvSpPr>
          <p:nvPr/>
        </p:nvSpPr>
        <p:spPr>
          <a:xfrm>
            <a:off x="4133850" y="3486150"/>
            <a:ext cx="173355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Nested Loops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Actual 100</a:t>
            </a:r>
          </a:p>
        </p:txBody>
      </p:sp>
      <p:sp>
        <p:nvSpPr>
          <p:cNvPr id="12" name="plan-select">
            <a:extLst>
              <a:ext uri="{FF2B5EF4-FFF2-40B4-BE49-F238E27FC236}">
                <a16:creationId xmlns:a16="http://schemas.microsoft.com/office/drawing/2014/main" id="{4D715437-B58E-4C1C-958F-AB015403220C}"/>
              </a:ext>
            </a:extLst>
          </p:cNvPr>
          <p:cNvSpPr>
            <a:spLocks noGrp="1"/>
          </p:cNvSpPr>
          <p:nvPr/>
        </p:nvSpPr>
        <p:spPr>
          <a:xfrm>
            <a:off x="1028700" y="3371850"/>
            <a:ext cx="200025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13" name="plan-select-text">
            <a:extLst>
              <a:ext uri="{FF2B5EF4-FFF2-40B4-BE49-F238E27FC236}">
                <a16:creationId xmlns:a16="http://schemas.microsoft.com/office/drawing/2014/main" id="{CA6C2600-099F-4887-A50F-6CEFD4F3DB35}"/>
              </a:ext>
            </a:extLst>
          </p:cNvPr>
          <p:cNvSpPr>
            <a:spLocks noGrp="1"/>
          </p:cNvSpPr>
          <p:nvPr/>
        </p:nvSpPr>
        <p:spPr>
          <a:xfrm>
            <a:off x="1162050" y="3486150"/>
            <a:ext cx="173355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SELECT</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Resultset</a:t>
            </a:r>
          </a:p>
        </p:txBody>
      </p:sp>
      <p:cxnSp>
        <p:nvCxnSpPr>
          <p:cNvPr id="111" name="Gerade Verbindung mit Pfeil 62"/>
          <p:cNvCxnSpPr>
            <a:stCxn id="6" idx="1"/>
            <a:endCxn id="10" idx="3"/>
          </p:cNvCxnSpPr>
          <p:nvPr/>
        </p:nvCxnSpPr>
        <p:spPr>
          <a:xfrm flipH="1">
            <a:off x="6000750" y="3048000"/>
            <a:ext cx="2286000" cy="857250"/>
          </a:xfrm>
          <a:prstGeom prst="straightConnector1">
            <a:avLst/>
          </a:prstGeom>
          <a:ln w="28575">
            <a:solidFill>
              <a:srgbClr val="007C83"/>
            </a:solidFill>
            <a:prstDash val="solid"/>
            <a:tailEnd type="arrow" w="med" len="med"/>
          </a:ln>
        </p:spPr>
      </p:cxnSp>
      <p:cxnSp>
        <p:nvCxnSpPr>
          <p:cNvPr id="112" name="Gerade Verbindung mit Pfeil 63"/>
          <p:cNvCxnSpPr>
            <a:stCxn id="8" idx="1"/>
            <a:endCxn id="10" idx="3"/>
          </p:cNvCxnSpPr>
          <p:nvPr/>
        </p:nvCxnSpPr>
        <p:spPr>
          <a:xfrm flipH="1" flipV="1">
            <a:off x="6000750" y="3905250"/>
            <a:ext cx="2286000" cy="857250"/>
          </a:xfrm>
          <a:prstGeom prst="straightConnector1">
            <a:avLst/>
          </a:prstGeom>
          <a:ln w="28575">
            <a:solidFill>
              <a:srgbClr val="007C83"/>
            </a:solidFill>
            <a:prstDash val="solid"/>
            <a:tailEnd type="arrow" w="med" len="med"/>
          </a:ln>
        </p:spPr>
      </p:cxnSp>
      <p:cxnSp>
        <p:nvCxnSpPr>
          <p:cNvPr id="113" name="Gerade Verbindung mit Pfeil 64"/>
          <p:cNvCxnSpPr>
            <a:stCxn id="10" idx="1"/>
            <a:endCxn id="12" idx="3"/>
          </p:cNvCxnSpPr>
          <p:nvPr/>
        </p:nvCxnSpPr>
        <p:spPr>
          <a:xfrm flipH="1">
            <a:off x="3028950" y="3905250"/>
            <a:ext cx="971550" cy="0"/>
          </a:xfrm>
          <a:prstGeom prst="straightConnector1">
            <a:avLst/>
          </a:prstGeom>
          <a:ln w="28575">
            <a:solidFill>
              <a:srgbClr val="007C83"/>
            </a:solidFill>
            <a:prstDash val="solid"/>
            <a:tailEnd type="arrow" w="med" len="med"/>
          </a:ln>
        </p:spPr>
      </p:cxnSp>
      <p:sp>
        <p:nvSpPr>
          <p:cNvPr id="17" name="plan-caption">
            <a:extLst>
              <a:ext uri="{FF2B5EF4-FFF2-40B4-BE49-F238E27FC236}">
                <a16:creationId xmlns:a16="http://schemas.microsoft.com/office/drawing/2014/main" id="{807519F1-7055-4F5E-840D-6D93B66278DC}"/>
              </a:ext>
            </a:extLst>
          </p:cNvPr>
          <p:cNvSpPr>
            <a:spLocks noGrp="1"/>
          </p:cNvSpPr>
          <p:nvPr/>
        </p:nvSpPr>
        <p:spPr>
          <a:xfrm>
            <a:off x="1000000" y="5570000"/>
            <a:ext cx="10100000" cy="457200"/>
          </a:xfrm>
          <a:prstGeom prst="rect">
            <a:avLst/>
          </a:prstGeom>
          <a:noFill/>
          <a:ln w="0">
            <a:noFill/>
            <a:prstDash val="solid"/>
          </a:ln>
        </p:spPr>
        <p:txBody>
          <a:bodyPr wrap="square" lIns="0" tIns="0" rIns="0" bIns="0" anchor="t">
            <a:normAutofit fontScale="95626"/>
          </a:bodyPr>
          <a:lstStyle/>
          <a:p>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Datenfluss rechts → links. Outer Rows steuern die Inner-Aufrufe.</a:t>
            </a:r>
          </a:p>
        </p:txBody>
      </p:sp>
    </p:spTree>
    <p:extLst>
      <p:ext uri="{BB962C8B-B14F-4D97-AF65-F5344CB8AC3E}">
        <p14:creationId xmlns:p14="http://schemas.microsoft.com/office/powerpoint/2010/main" val="1551802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83CE5FB7-EC6D-499C-84A8-13ACAA8E29B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CF72EA3B-4429-4931-956B-B5205161E36D}"/>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Join-Algorithmen lösen dasselbe Problem mit unterschiedlichen Kostenprofilen</a:t>
            </a:r>
          </a:p>
        </p:txBody>
      </p:sp>
      <p:sp>
        <p:nvSpPr>
          <p:cNvPr id="3" name="title-rule">
            <a:extLst>
              <a:ext uri="{FF2B5EF4-FFF2-40B4-BE49-F238E27FC236}">
                <a16:creationId xmlns:a16="http://schemas.microsoft.com/office/drawing/2014/main" id="{6B2BFE38-CCA8-4F12-B4B7-3D90E65FD4C6}"/>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24309DA9-37BE-4A62-92C8-20BAB672044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3BFAB4B-967F-41DC-B9F1-98DEDD9A4083}"/>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28 / 102</a:t>
            </a:r>
          </a:p>
        </p:txBody>
      </p:sp>
      <p:graphicFrame>
        <p:nvGraphicFramePr>
          <p:cNvPr id="14" name="Tabelle 13"/>
          <p:cNvGraphicFramePr/>
          <p:nvPr/>
        </p:nvGraphicFramePr>
        <p:xfrm>
          <a:off x="609600" y="2171700"/>
          <a:ext cx="10668000" cy="352425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500" b="1">
                          <a:solidFill>
                            <a:srgbClr val="FFFFFF"/>
                          </a:solidFill>
                          <a:latin typeface="Aptos"/>
                          <a:ea typeface="Aptos"/>
                          <a:cs typeface="Aptos"/>
                        </a:rPr>
                        <a:t>Join</a:t>
                      </a:r>
                    </a:p>
                  </a:txBody>
                  <a:tcPr>
                    <a:solidFill>
                      <a:srgbClr val="0B1F33"/>
                    </a:solidFill>
                  </a:tcPr>
                </a:tc>
                <a:tc>
                  <a:txBody>
                    <a:bodyPr/>
                    <a:lstStyle/>
                    <a:p>
                      <a:r>
                        <a:rPr sz="1500" b="1">
                          <a:solidFill>
                            <a:srgbClr val="FFFFFF"/>
                          </a:solidFill>
                          <a:latin typeface="Aptos"/>
                          <a:ea typeface="Aptos"/>
                          <a:cs typeface="Aptos"/>
                        </a:rPr>
                        <a:t>stark bei</a:t>
                      </a:r>
                    </a:p>
                  </a:txBody>
                  <a:tcPr>
                    <a:solidFill>
                      <a:srgbClr val="0B1F33"/>
                    </a:solidFill>
                  </a:tcPr>
                </a:tc>
                <a:tc>
                  <a:txBody>
                    <a:bodyPr/>
                    <a:lstStyle/>
                    <a:p>
                      <a:r>
                        <a:rPr sz="1500" b="1">
                          <a:solidFill>
                            <a:srgbClr val="FFFFFF"/>
                          </a:solidFill>
                          <a:latin typeface="Aptos"/>
                          <a:ea typeface="Aptos"/>
                          <a:cs typeface="Aptos"/>
                        </a:rPr>
                        <a:t>typisches Risiko</a:t>
                      </a:r>
                    </a:p>
                  </a:txBody>
                  <a:tcPr>
                    <a:solidFill>
                      <a:srgbClr val="0B1F33"/>
                    </a:solidFill>
                  </a:tcPr>
                </a:tc>
                <a:extLst>
                  <a:ext uri="{0D108BD9-81ED-4DB2-BD59-A6C34878D82A}">
                    <a16:rowId xmlns:a16="http://schemas.microsoft.com/office/drawing/2014/main" val="10000"/>
                  </a:ext>
                </a:extLst>
              </a:tr>
              <a:tr h="704850">
                <a:tc>
                  <a:txBody>
                    <a:bodyPr/>
                    <a:lstStyle/>
                    <a:p>
                      <a:r>
                        <a:rPr sz="1350">
                          <a:solidFill>
                            <a:srgbClr val="243B53"/>
                          </a:solidFill>
                          <a:latin typeface="Aptos"/>
                          <a:ea typeface="Aptos"/>
                          <a:cs typeface="Aptos"/>
                        </a:rPr>
                        <a:t>Nested Loops</a:t>
                      </a:r>
                    </a:p>
                  </a:txBody>
                  <a:tcPr>
                    <a:solidFill>
                      <a:srgbClr val="FFFFFF"/>
                    </a:solidFill>
                  </a:tcPr>
                </a:tc>
                <a:tc>
                  <a:txBody>
                    <a:bodyPr/>
                    <a:lstStyle/>
                    <a:p>
                      <a:r>
                        <a:rPr sz="1350">
                          <a:solidFill>
                            <a:srgbClr val="243B53"/>
                          </a:solidFill>
                          <a:latin typeface="Aptos"/>
                          <a:ea typeface="Aptos"/>
                          <a:cs typeface="Aptos"/>
                        </a:rPr>
                        <a:t>kleinem Outer Input und günstigem Inner Lookup</a:t>
                      </a:r>
                    </a:p>
                  </a:txBody>
                  <a:tcPr>
                    <a:solidFill>
                      <a:srgbClr val="FFFFFF"/>
                    </a:solidFill>
                  </a:tcPr>
                </a:tc>
                <a:tc>
                  <a:txBody>
                    <a:bodyPr/>
                    <a:lstStyle/>
                    <a:p>
                      <a:r>
                        <a:rPr sz="1350">
                          <a:solidFill>
                            <a:srgbClr val="243B53"/>
                          </a:solidFill>
                          <a:latin typeface="Aptos"/>
                          <a:ea typeface="Aptos"/>
                          <a:cs typeface="Aptos"/>
                        </a:rPr>
                        <a:t>viele wiederholte Zugriffe</a:t>
                      </a:r>
                    </a:p>
                  </a:txBody>
                  <a:tcPr>
                    <a:solidFill>
                      <a:srgbClr val="FFFFFF"/>
                    </a:solidFill>
                  </a:tcPr>
                </a:tc>
                <a:extLst>
                  <a:ext uri="{0D108BD9-81ED-4DB2-BD59-A6C34878D82A}">
                    <a16:rowId xmlns:a16="http://schemas.microsoft.com/office/drawing/2014/main" val="10001"/>
                  </a:ext>
                </a:extLst>
              </a:tr>
              <a:tr h="704850">
                <a:tc>
                  <a:txBody>
                    <a:bodyPr/>
                    <a:lstStyle/>
                    <a:p>
                      <a:r>
                        <a:rPr sz="1350">
                          <a:solidFill>
                            <a:srgbClr val="243B53"/>
                          </a:solidFill>
                          <a:latin typeface="Aptos"/>
                          <a:ea typeface="Aptos"/>
                          <a:cs typeface="Aptos"/>
                        </a:rPr>
                        <a:t>Hash Match</a:t>
                      </a:r>
                    </a:p>
                  </a:txBody>
                  <a:tcPr>
                    <a:solidFill>
                      <a:srgbClr val="EDF2F7"/>
                    </a:solidFill>
                  </a:tcPr>
                </a:tc>
                <a:tc>
                  <a:txBody>
                    <a:bodyPr/>
                    <a:lstStyle/>
                    <a:p>
                      <a:r>
                        <a:rPr sz="1350">
                          <a:solidFill>
                            <a:srgbClr val="243B53"/>
                          </a:solidFill>
                          <a:latin typeface="Aptos"/>
                          <a:ea typeface="Aptos"/>
                          <a:cs typeface="Aptos"/>
                        </a:rPr>
                        <a:t>großen unsortierten Inputs und Gleichheit</a:t>
                      </a:r>
                    </a:p>
                  </a:txBody>
                  <a:tcPr>
                    <a:solidFill>
                      <a:srgbClr val="EDF2F7"/>
                    </a:solidFill>
                  </a:tcPr>
                </a:tc>
                <a:tc>
                  <a:txBody>
                    <a:bodyPr/>
                    <a:lstStyle/>
                    <a:p>
                      <a:r>
                        <a:rPr sz="1350">
                          <a:solidFill>
                            <a:srgbClr val="243B53"/>
                          </a:solidFill>
                          <a:latin typeface="Aptos"/>
                          <a:ea typeface="Aptos"/>
                          <a:cs typeface="Aptos"/>
                        </a:rPr>
                        <a:t>Memory Grant und Spill</a:t>
                      </a:r>
                    </a:p>
                  </a:txBody>
                  <a:tcPr>
                    <a:solidFill>
                      <a:srgbClr val="EDF2F7"/>
                    </a:solidFill>
                  </a:tcPr>
                </a:tc>
                <a:extLst>
                  <a:ext uri="{0D108BD9-81ED-4DB2-BD59-A6C34878D82A}">
                    <a16:rowId xmlns:a16="http://schemas.microsoft.com/office/drawing/2014/main" val="10002"/>
                  </a:ext>
                </a:extLst>
              </a:tr>
              <a:tr h="704850">
                <a:tc>
                  <a:txBody>
                    <a:bodyPr/>
                    <a:lstStyle/>
                    <a:p>
                      <a:r>
                        <a:rPr sz="1350">
                          <a:solidFill>
                            <a:srgbClr val="243B53"/>
                          </a:solidFill>
                          <a:latin typeface="Aptos"/>
                          <a:ea typeface="Aptos"/>
                          <a:cs typeface="Aptos"/>
                        </a:rPr>
                        <a:t>Merge Join</a:t>
                      </a:r>
                    </a:p>
                  </a:txBody>
                  <a:tcPr>
                    <a:solidFill>
                      <a:srgbClr val="FFFFFF"/>
                    </a:solidFill>
                  </a:tcPr>
                </a:tc>
                <a:tc>
                  <a:txBody>
                    <a:bodyPr/>
                    <a:lstStyle/>
                    <a:p>
                      <a:r>
                        <a:rPr sz="1350">
                          <a:solidFill>
                            <a:srgbClr val="243B53"/>
                          </a:solidFill>
                          <a:latin typeface="Aptos"/>
                          <a:ea typeface="Aptos"/>
                          <a:cs typeface="Aptos"/>
                        </a:rPr>
                        <a:t>sortierten Inputs und Gleichheit/Ranges</a:t>
                      </a:r>
                    </a:p>
                  </a:txBody>
                  <a:tcPr>
                    <a:solidFill>
                      <a:srgbClr val="FFFFFF"/>
                    </a:solidFill>
                  </a:tcPr>
                </a:tc>
                <a:tc>
                  <a:txBody>
                    <a:bodyPr/>
                    <a:lstStyle/>
                    <a:p>
                      <a:r>
                        <a:rPr sz="1350">
                          <a:solidFill>
                            <a:srgbClr val="243B53"/>
                          </a:solidFill>
                          <a:latin typeface="Aptos"/>
                          <a:ea typeface="Aptos"/>
                          <a:cs typeface="Aptos"/>
                        </a:rPr>
                        <a:t>Sortkosten oder große Streams</a:t>
                      </a:r>
                    </a:p>
                  </a:txBody>
                  <a:tcPr>
                    <a:solidFill>
                      <a:srgbClr val="FFFFFF"/>
                    </a:solidFill>
                  </a:tcPr>
                </a:tc>
                <a:extLst>
                  <a:ext uri="{0D108BD9-81ED-4DB2-BD59-A6C34878D82A}">
                    <a16:rowId xmlns:a16="http://schemas.microsoft.com/office/drawing/2014/main" val="10003"/>
                  </a:ext>
                </a:extLst>
              </a:tr>
              <a:tr h="704850">
                <a:tc>
                  <a:txBody>
                    <a:bodyPr/>
                    <a:lstStyle/>
                    <a:p>
                      <a:r>
                        <a:rPr sz="1350">
                          <a:solidFill>
                            <a:srgbClr val="243B53"/>
                          </a:solidFill>
                          <a:latin typeface="Aptos"/>
                          <a:ea typeface="Aptos"/>
                          <a:cs typeface="Aptos"/>
                        </a:rPr>
                        <a:t>Adaptive Join</a:t>
                      </a:r>
                    </a:p>
                  </a:txBody>
                  <a:tcPr>
                    <a:solidFill>
                      <a:srgbClr val="EDF2F7"/>
                    </a:solidFill>
                  </a:tcPr>
                </a:tc>
                <a:tc>
                  <a:txBody>
                    <a:bodyPr/>
                    <a:lstStyle/>
                    <a:p>
                      <a:r>
                        <a:rPr sz="1350">
                          <a:solidFill>
                            <a:srgbClr val="243B53"/>
                          </a:solidFill>
                          <a:latin typeface="Aptos"/>
                          <a:ea typeface="Aptos"/>
                          <a:cs typeface="Aptos"/>
                        </a:rPr>
                        <a:t>unsicherer Build-Kardinalität im geeigneten Batch-Mode-Szenario</a:t>
                      </a:r>
                    </a:p>
                  </a:txBody>
                  <a:tcPr>
                    <a:solidFill>
                      <a:srgbClr val="EDF2F7"/>
                    </a:solidFill>
                  </a:tcPr>
                </a:tc>
                <a:tc>
                  <a:txBody>
                    <a:bodyPr/>
                    <a:lstStyle/>
                    <a:p>
                      <a:r>
                        <a:rPr sz="1350">
                          <a:solidFill>
                            <a:srgbClr val="243B53"/>
                          </a:solidFill>
                          <a:latin typeface="Aptos"/>
                          <a:ea typeface="Aptos"/>
                          <a:cs typeface="Aptos"/>
                        </a:rPr>
                        <a:t>versions- und planabhängig</a:t>
                      </a:r>
                    </a:p>
                  </a:txBody>
                  <a:tcPr>
                    <a:solidFill>
                      <a:srgbClr val="EDF2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043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 name="module-label">
            <a:extLst>
              <a:ext uri="{FF2B5EF4-FFF2-40B4-BE49-F238E27FC236}">
                <a16:creationId xmlns:a16="http://schemas.microsoft.com/office/drawing/2014/main" id="{B509F50B-13C1-4082-AEBB-4D29C351047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6F5414A9-381E-493A-A8BD-8EEE69FD5E7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Memory Grants koppeln Planqualität an Workload-Concurrency</a:t>
            </a:r>
          </a:p>
        </p:txBody>
      </p:sp>
      <p:sp>
        <p:nvSpPr>
          <p:cNvPr id="3" name="title-rule">
            <a:extLst>
              <a:ext uri="{FF2B5EF4-FFF2-40B4-BE49-F238E27FC236}">
                <a16:creationId xmlns:a16="http://schemas.microsoft.com/office/drawing/2014/main" id="{F05A747B-B1AF-4A81-9DCD-23C74C122C16}"/>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16266DE-ACA0-43C1-865D-42F10157EFE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A677FEE-726E-491E-9B50-DD15ABD6927B}"/>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29 / 102</a:t>
            </a:r>
          </a:p>
        </p:txBody>
      </p:sp>
      <p:sp>
        <p:nvSpPr>
          <p:cNvPr id="6" name="grant-est">
            <a:extLst>
              <a:ext uri="{FF2B5EF4-FFF2-40B4-BE49-F238E27FC236}">
                <a16:creationId xmlns:a16="http://schemas.microsoft.com/office/drawing/2014/main" id="{A44BE730-2201-4A83-9092-813D14374711}"/>
              </a:ext>
            </a:extLst>
          </p:cNvPr>
          <p:cNvSpPr>
            <a:spLocks noGrp="1"/>
          </p:cNvSpPr>
          <p:nvPr/>
        </p:nvSpPr>
        <p:spPr>
          <a:xfrm>
            <a:off x="819150" y="3067050"/>
            <a:ext cx="209550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7" name="grant-est-text">
            <a:extLst>
              <a:ext uri="{FF2B5EF4-FFF2-40B4-BE49-F238E27FC236}">
                <a16:creationId xmlns:a16="http://schemas.microsoft.com/office/drawing/2014/main" id="{38C7191F-2FA0-4D97-85DE-E22661A209A2}"/>
              </a:ext>
            </a:extLst>
          </p:cNvPr>
          <p:cNvSpPr>
            <a:spLocks noGrp="1"/>
          </p:cNvSpPr>
          <p:nvPr/>
        </p:nvSpPr>
        <p:spPr>
          <a:xfrm>
            <a:off x="952500" y="3181350"/>
            <a:ext cx="18288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Estimated Rows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 Row Width</a:t>
            </a:r>
          </a:p>
        </p:txBody>
      </p:sp>
      <p:sp>
        <p:nvSpPr>
          <p:cNvPr id="8" name="grant-req">
            <a:extLst>
              <a:ext uri="{FF2B5EF4-FFF2-40B4-BE49-F238E27FC236}">
                <a16:creationId xmlns:a16="http://schemas.microsoft.com/office/drawing/2014/main" id="{2B537531-5C8A-43CB-8FD9-3716B0A5A599}"/>
              </a:ext>
            </a:extLst>
          </p:cNvPr>
          <p:cNvSpPr>
            <a:spLocks noGrp="1"/>
          </p:cNvSpPr>
          <p:nvPr/>
        </p:nvSpPr>
        <p:spPr>
          <a:xfrm>
            <a:off x="3657600" y="3067050"/>
            <a:ext cx="2000250" cy="1238250"/>
          </a:xfrm>
          <a:prstGeom prst="roundRect">
            <a:avLst>
              <a:gd name="adj" fmla="val 6154"/>
            </a:avLst>
          </a:prstGeom>
          <a:solidFill>
            <a:srgbClr val="EAF4F4"/>
          </a:solidFill>
          <a:ln w="9525">
            <a:solidFill>
              <a:srgbClr val="D9E2EC"/>
            </a:solidFill>
            <a:prstDash val="solid"/>
          </a:ln>
        </p:spPr>
        <p:txBody>
          <a:bodyPr/>
          <a:lstStyle/>
          <a:p>
            <a:endParaRPr/>
          </a:p>
        </p:txBody>
      </p:sp>
      <p:sp>
        <p:nvSpPr>
          <p:cNvPr id="9" name="grant-req-text">
            <a:extLst>
              <a:ext uri="{FF2B5EF4-FFF2-40B4-BE49-F238E27FC236}">
                <a16:creationId xmlns:a16="http://schemas.microsoft.com/office/drawing/2014/main" id="{704D29AB-5179-425A-8B18-7B4691F10089}"/>
              </a:ext>
            </a:extLst>
          </p:cNvPr>
          <p:cNvSpPr>
            <a:spLocks noGrp="1"/>
          </p:cNvSpPr>
          <p:nvPr/>
        </p:nvSpPr>
        <p:spPr>
          <a:xfrm>
            <a:off x="3790950" y="3181350"/>
            <a:ext cx="173355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Requested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Memory</a:t>
            </a:r>
          </a:p>
        </p:txBody>
      </p:sp>
      <p:sp>
        <p:nvSpPr>
          <p:cNvPr id="10" name="grant-got">
            <a:extLst>
              <a:ext uri="{FF2B5EF4-FFF2-40B4-BE49-F238E27FC236}">
                <a16:creationId xmlns:a16="http://schemas.microsoft.com/office/drawing/2014/main" id="{05EFBC7D-0AAF-4B7E-9E4A-A1BBC8D94BD0}"/>
              </a:ext>
            </a:extLst>
          </p:cNvPr>
          <p:cNvSpPr>
            <a:spLocks noGrp="1"/>
          </p:cNvSpPr>
          <p:nvPr/>
        </p:nvSpPr>
        <p:spPr>
          <a:xfrm>
            <a:off x="6400800" y="3067050"/>
            <a:ext cx="2000250" cy="1238250"/>
          </a:xfrm>
          <a:prstGeom prst="roundRect">
            <a:avLst>
              <a:gd name="adj" fmla="val 6154"/>
            </a:avLst>
          </a:prstGeom>
          <a:solidFill>
            <a:srgbClr val="FFF3E4"/>
          </a:solidFill>
          <a:ln w="9525">
            <a:solidFill>
              <a:srgbClr val="D9E2EC"/>
            </a:solidFill>
            <a:prstDash val="solid"/>
          </a:ln>
        </p:spPr>
        <p:txBody>
          <a:bodyPr/>
          <a:lstStyle/>
          <a:p>
            <a:endParaRPr/>
          </a:p>
        </p:txBody>
      </p:sp>
      <p:sp>
        <p:nvSpPr>
          <p:cNvPr id="11" name="grant-got-text">
            <a:extLst>
              <a:ext uri="{FF2B5EF4-FFF2-40B4-BE49-F238E27FC236}">
                <a16:creationId xmlns:a16="http://schemas.microsoft.com/office/drawing/2014/main" id="{21AF39C2-01EB-49B3-95AE-2B1F36243E2F}"/>
              </a:ext>
            </a:extLst>
          </p:cNvPr>
          <p:cNvSpPr>
            <a:spLocks noGrp="1"/>
          </p:cNvSpPr>
          <p:nvPr/>
        </p:nvSpPr>
        <p:spPr>
          <a:xfrm>
            <a:off x="6534150" y="3181350"/>
            <a:ext cx="173355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Granted</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Memory</a:t>
            </a:r>
          </a:p>
        </p:txBody>
      </p:sp>
      <p:sp>
        <p:nvSpPr>
          <p:cNvPr id="12" name="grant-run">
            <a:extLst>
              <a:ext uri="{FF2B5EF4-FFF2-40B4-BE49-F238E27FC236}">
                <a16:creationId xmlns:a16="http://schemas.microsoft.com/office/drawing/2014/main" id="{78F69084-4A50-45B8-9326-2A0B1E2E2579}"/>
              </a:ext>
            </a:extLst>
          </p:cNvPr>
          <p:cNvSpPr>
            <a:spLocks noGrp="1"/>
          </p:cNvSpPr>
          <p:nvPr/>
        </p:nvSpPr>
        <p:spPr>
          <a:xfrm>
            <a:off x="9144000" y="3067050"/>
            <a:ext cx="2095500" cy="1238250"/>
          </a:xfrm>
          <a:prstGeom prst="roundRect">
            <a:avLst>
              <a:gd name="adj" fmla="val 6154"/>
            </a:avLst>
          </a:prstGeom>
          <a:solidFill>
            <a:srgbClr val="FFFFFF"/>
          </a:solidFill>
          <a:ln w="9525">
            <a:solidFill>
              <a:srgbClr val="D9E2EC"/>
            </a:solidFill>
            <a:prstDash val="solid"/>
          </a:ln>
        </p:spPr>
        <p:txBody>
          <a:bodyPr/>
          <a:lstStyle/>
          <a:p>
            <a:endParaRPr/>
          </a:p>
        </p:txBody>
      </p:sp>
      <p:sp>
        <p:nvSpPr>
          <p:cNvPr id="13" name="grant-run-text">
            <a:extLst>
              <a:ext uri="{FF2B5EF4-FFF2-40B4-BE49-F238E27FC236}">
                <a16:creationId xmlns:a16="http://schemas.microsoft.com/office/drawing/2014/main" id="{338BC4DA-97E5-4691-A7B8-52E98087D8EB}"/>
              </a:ext>
            </a:extLst>
          </p:cNvPr>
          <p:cNvSpPr>
            <a:spLocks noGrp="1"/>
          </p:cNvSpPr>
          <p:nvPr/>
        </p:nvSpPr>
        <p:spPr>
          <a:xfrm>
            <a:off x="9277350" y="3181350"/>
            <a:ext cx="1828800" cy="10096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Used Memory</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Spill prüfen</a:t>
            </a:r>
          </a:p>
        </p:txBody>
      </p:sp>
      <p:cxnSp>
        <p:nvCxnSpPr>
          <p:cNvPr id="111" name="Gerade Verbindung mit Pfeil 62"/>
          <p:cNvCxnSpPr>
            <a:stCxn id="6" idx="3"/>
            <a:endCxn id="8" idx="1"/>
          </p:cNvCxnSpPr>
          <p:nvPr/>
        </p:nvCxnSpPr>
        <p:spPr>
          <a:xfrm>
            <a:off x="2914650" y="3686175"/>
            <a:ext cx="742950" cy="0"/>
          </a:xfrm>
          <a:prstGeom prst="straightConnector1">
            <a:avLst/>
          </a:prstGeom>
          <a:ln w="28575">
            <a:solidFill>
              <a:srgbClr val="007C83"/>
            </a:solidFill>
            <a:prstDash val="solid"/>
            <a:tailEnd type="arrow" w="med" len="med"/>
          </a:ln>
        </p:spPr>
      </p:cxnSp>
      <p:cxnSp>
        <p:nvCxnSpPr>
          <p:cNvPr id="112" name="Gerade Verbindung mit Pfeil 63"/>
          <p:cNvCxnSpPr>
            <a:stCxn id="8" idx="3"/>
            <a:endCxn id="10" idx="1"/>
          </p:cNvCxnSpPr>
          <p:nvPr/>
        </p:nvCxnSpPr>
        <p:spPr>
          <a:xfrm>
            <a:off x="5657850" y="3686175"/>
            <a:ext cx="742950" cy="0"/>
          </a:xfrm>
          <a:prstGeom prst="straightConnector1">
            <a:avLst/>
          </a:prstGeom>
          <a:ln w="28575">
            <a:solidFill>
              <a:srgbClr val="007C83"/>
            </a:solidFill>
            <a:prstDash val="solid"/>
            <a:tailEnd type="arrow" w="med" len="med"/>
          </a:ln>
        </p:spPr>
      </p:cxnSp>
      <p:cxnSp>
        <p:nvCxnSpPr>
          <p:cNvPr id="113" name="Gerade Verbindung mit Pfeil 64"/>
          <p:cNvCxnSpPr>
            <a:stCxn id="10" idx="3"/>
            <a:endCxn id="12" idx="1"/>
          </p:cNvCxnSpPr>
          <p:nvPr/>
        </p:nvCxnSpPr>
        <p:spPr>
          <a:xfrm>
            <a:off x="8401050" y="3686175"/>
            <a:ext cx="742950" cy="0"/>
          </a:xfrm>
          <a:prstGeom prst="straightConnector1">
            <a:avLst/>
          </a:prstGeom>
          <a:ln w="28575">
            <a:solidFill>
              <a:srgbClr val="007C83"/>
            </a:solidFill>
            <a:prstDash val="solid"/>
            <a:tailEnd type="arrow" w="med" len="med"/>
          </a:ln>
        </p:spPr>
      </p:cxnSp>
      <p:sp>
        <p:nvSpPr>
          <p:cNvPr id="17" name="grant-caption">
            <a:extLst>
              <a:ext uri="{FF2B5EF4-FFF2-40B4-BE49-F238E27FC236}">
                <a16:creationId xmlns:a16="http://schemas.microsoft.com/office/drawing/2014/main" id="{CDDC899C-B9CA-4C7E-ACBE-FD0CD3E3792A}"/>
              </a:ext>
            </a:extLst>
          </p:cNvPr>
          <p:cNvSpPr>
            <a:spLocks noGrp="1"/>
          </p:cNvSpPr>
          <p:nvPr/>
        </p:nvSpPr>
        <p:spPr>
          <a:xfrm>
            <a:off x="2095500" y="4953000"/>
            <a:ext cx="8001000" cy="457200"/>
          </a:xfrm>
          <a:prstGeom prst="rect">
            <a:avLst/>
          </a:prstGeom>
          <a:noFill/>
          <a:ln w="0">
            <a:noFill/>
            <a:prstDash val="solid"/>
          </a:ln>
        </p:spPr>
        <p:txBody>
          <a:bodyPr wrap="square" lIns="0" tIns="0" rIns="0" bIns="0" anchor="t">
            <a:normAutofit/>
          </a:bodyPr>
          <a:lstStyle/>
          <a:p>
            <a:pPr algn="ctr">
              <a:lnSpc>
                <a:spcPct val="105000"/>
              </a:lnSpc>
              <a:buNone/>
              <a:defRPr sz="1950" b="1" i="0">
                <a:solidFill>
                  <a:srgbClr val="102A43"/>
                </a:solidFill>
                <a:latin typeface="Aptos"/>
                <a:ea typeface="Aptos"/>
                <a:cs typeface="Aptos"/>
              </a:defRPr>
            </a:pPr>
            <a:r>
              <a:rPr sz="1950" b="1" i="0">
                <a:solidFill>
                  <a:srgbClr val="102A43"/>
                </a:solidFill>
                <a:latin typeface="Aptos"/>
                <a:ea typeface="Aptos"/>
                <a:cs typeface="Aptos"/>
              </a:rPr>
              <a:t>Undergrant erhöht Spill-Risiko. Overgrant bindet Workspace.</a:t>
            </a:r>
          </a:p>
        </p:txBody>
      </p:sp>
    </p:spTree>
    <p:extLst>
      <p:ext uri="{BB962C8B-B14F-4D97-AF65-F5344CB8AC3E}">
        <p14:creationId xmlns:p14="http://schemas.microsoft.com/office/powerpoint/2010/main" val="1802561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C5E89F65-68ED-4B27-A5C9-FB7D1C1FBB58}"/>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33E20F11-7098-41BE-9258-87BA48570CB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fontScale="88966"/>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Spill ist Evidenz für zu wenig nutzbaren Workspace – nicht automatisch für zu wenig Server-RAM</a:t>
            </a:r>
          </a:p>
        </p:txBody>
      </p:sp>
      <p:sp>
        <p:nvSpPr>
          <p:cNvPr id="3" name="title-rule">
            <a:extLst>
              <a:ext uri="{FF2B5EF4-FFF2-40B4-BE49-F238E27FC236}">
                <a16:creationId xmlns:a16="http://schemas.microsoft.com/office/drawing/2014/main" id="{39B59627-A123-4344-8A23-47BFFED43E3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894B79D-C024-4B03-9A7F-8CBC89CCD8A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CE184359-864F-45CA-B625-4A67FF34338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30 / 102</a:t>
            </a:r>
          </a:p>
        </p:txBody>
      </p:sp>
      <p:sp>
        <p:nvSpPr>
          <p:cNvPr id="6" name="left-title">
            <a:extLst>
              <a:ext uri="{FF2B5EF4-FFF2-40B4-BE49-F238E27FC236}">
                <a16:creationId xmlns:a16="http://schemas.microsoft.com/office/drawing/2014/main" id="{7999DE31-ABAC-46F8-A6EB-4171D98C711C}"/>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Mögliche Ursache</a:t>
            </a:r>
          </a:p>
        </p:txBody>
      </p:sp>
      <p:sp>
        <p:nvSpPr>
          <p:cNvPr id="7" name="right-title">
            <a:extLst>
              <a:ext uri="{FF2B5EF4-FFF2-40B4-BE49-F238E27FC236}">
                <a16:creationId xmlns:a16="http://schemas.microsoft.com/office/drawing/2014/main" id="{D09C7888-2139-440C-93D5-9962E67147CB}"/>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Zu prüfen</a:t>
            </a:r>
          </a:p>
        </p:txBody>
      </p:sp>
      <p:sp>
        <p:nvSpPr>
          <p:cNvPr id="8" name="middle-rule">
            <a:extLst>
              <a:ext uri="{FF2B5EF4-FFF2-40B4-BE49-F238E27FC236}">
                <a16:creationId xmlns:a16="http://schemas.microsoft.com/office/drawing/2014/main" id="{827A0679-F525-4176-B14D-22E47661FD62}"/>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C1CDD21C-DCED-4008-B8EB-4C1F7FD38E75}"/>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Kardinalität unterschätzt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Grant gedeckelt oder konkurrierend</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breitere Rows als erwartet</a:t>
            </a:r>
          </a:p>
        </p:txBody>
      </p:sp>
      <p:sp>
        <p:nvSpPr>
          <p:cNvPr id="10" name="right-points">
            <a:extLst>
              <a:ext uri="{FF2B5EF4-FFF2-40B4-BE49-F238E27FC236}">
                <a16:creationId xmlns:a16="http://schemas.microsoft.com/office/drawing/2014/main" id="{739BA656-EDC8-4231-A298-4FE85C07D7EE}"/>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Plan Warning und Spill Level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Requested, Granted und Used Memory</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RESOURCE_SEMAPHORE und TempDB-I/O</a:t>
            </a:r>
          </a:p>
        </p:txBody>
      </p:sp>
      <p:sp>
        <p:nvSpPr>
          <p:cNvPr id="11" name="conclusion-bg">
            <a:extLst>
              <a:ext uri="{FF2B5EF4-FFF2-40B4-BE49-F238E27FC236}">
                <a16:creationId xmlns:a16="http://schemas.microsoft.com/office/drawing/2014/main" id="{F86B3877-F49B-4C9A-A291-306BE07233B8}"/>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D74ECCE6-CC8F-4D7D-9D04-EA232149A4E0}"/>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Zuerst Schätzung und Planursache prüfen, dann Kapazität.</a:t>
            </a:r>
          </a:p>
        </p:txBody>
      </p:sp>
    </p:spTree>
    <p:extLst>
      <p:ext uri="{BB962C8B-B14F-4D97-AF65-F5344CB8AC3E}">
        <p14:creationId xmlns:p14="http://schemas.microsoft.com/office/powerpoint/2010/main" val="799338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56" name="module-label">
            <a:extLst>
              <a:ext uri="{FF2B5EF4-FFF2-40B4-BE49-F238E27FC236}">
                <a16:creationId xmlns:a16="http://schemas.microsoft.com/office/drawing/2014/main" id="{34B75420-D339-4EE4-A24D-1A2B1E39BE8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992806DE-9367-4F7C-BCC0-2C4A8F8F629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Parallelität verteilt Tasks – nicht automatisch gleich viel Arbeit</a:t>
            </a:r>
          </a:p>
        </p:txBody>
      </p:sp>
      <p:sp>
        <p:nvSpPr>
          <p:cNvPr id="3" name="title-rule">
            <a:extLst>
              <a:ext uri="{FF2B5EF4-FFF2-40B4-BE49-F238E27FC236}">
                <a16:creationId xmlns:a16="http://schemas.microsoft.com/office/drawing/2014/main" id="{01EB6E15-9E60-464E-8DF1-0C784326AC2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C66AF756-135D-401A-9D25-2FB1B31BB21F}"/>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9F10032-F71F-4E5C-ABDE-D25AFFCEA60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31 / 102</a:t>
            </a:r>
          </a:p>
        </p:txBody>
      </p:sp>
      <p:sp>
        <p:nvSpPr>
          <p:cNvPr id="6" name="par-source">
            <a:extLst>
              <a:ext uri="{FF2B5EF4-FFF2-40B4-BE49-F238E27FC236}">
                <a16:creationId xmlns:a16="http://schemas.microsoft.com/office/drawing/2014/main" id="{BD89391E-662C-445F-9CFD-E2CBC391BE17}"/>
              </a:ext>
            </a:extLst>
          </p:cNvPr>
          <p:cNvSpPr>
            <a:spLocks noGrp="1"/>
          </p:cNvSpPr>
          <p:nvPr/>
        </p:nvSpPr>
        <p:spPr>
          <a:xfrm>
            <a:off x="819150" y="3190875"/>
            <a:ext cx="1714500" cy="1047750"/>
          </a:xfrm>
          <a:prstGeom prst="roundRect">
            <a:avLst>
              <a:gd name="adj" fmla="val 7273"/>
            </a:avLst>
          </a:prstGeom>
          <a:solidFill>
            <a:srgbClr val="FFFFFF"/>
          </a:solidFill>
          <a:ln w="9525">
            <a:solidFill>
              <a:srgbClr val="D9E2EC"/>
            </a:solidFill>
            <a:prstDash val="solid"/>
          </a:ln>
        </p:spPr>
        <p:txBody>
          <a:bodyPr/>
          <a:lstStyle/>
          <a:p>
            <a:endParaRPr/>
          </a:p>
        </p:txBody>
      </p:sp>
      <p:sp>
        <p:nvSpPr>
          <p:cNvPr id="7" name="par-source-text">
            <a:extLst>
              <a:ext uri="{FF2B5EF4-FFF2-40B4-BE49-F238E27FC236}">
                <a16:creationId xmlns:a16="http://schemas.microsoft.com/office/drawing/2014/main" id="{3D02F89F-4DEC-4D03-A457-DC3B11F2697C}"/>
              </a:ext>
            </a:extLst>
          </p:cNvPr>
          <p:cNvSpPr>
            <a:spLocks noGrp="1"/>
          </p:cNvSpPr>
          <p:nvPr/>
        </p:nvSpPr>
        <p:spPr>
          <a:xfrm>
            <a:off x="952500" y="3305175"/>
            <a:ext cx="1447800" cy="819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Scan / Join</a:t>
            </a:r>
          </a:p>
        </p:txBody>
      </p:sp>
      <p:sp>
        <p:nvSpPr>
          <p:cNvPr id="8" name="par-ex1">
            <a:extLst>
              <a:ext uri="{FF2B5EF4-FFF2-40B4-BE49-F238E27FC236}">
                <a16:creationId xmlns:a16="http://schemas.microsoft.com/office/drawing/2014/main" id="{729911C2-384A-44A3-8359-798501FE2261}"/>
              </a:ext>
            </a:extLst>
          </p:cNvPr>
          <p:cNvSpPr>
            <a:spLocks noGrp="1"/>
          </p:cNvSpPr>
          <p:nvPr/>
        </p:nvSpPr>
        <p:spPr>
          <a:xfrm>
            <a:off x="3238500" y="3000375"/>
            <a:ext cx="1714500"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9" name="par-ex1-text">
            <a:extLst>
              <a:ext uri="{FF2B5EF4-FFF2-40B4-BE49-F238E27FC236}">
                <a16:creationId xmlns:a16="http://schemas.microsoft.com/office/drawing/2014/main" id="{85AE8BA3-6ABF-4E1E-B3B8-1521F8BA1D87}"/>
              </a:ext>
            </a:extLst>
          </p:cNvPr>
          <p:cNvSpPr>
            <a:spLocks noGrp="1"/>
          </p:cNvSpPr>
          <p:nvPr/>
        </p:nvSpPr>
        <p:spPr>
          <a:xfrm>
            <a:off x="3371850" y="3114675"/>
            <a:ext cx="14478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Distribute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Streams</a:t>
            </a:r>
          </a:p>
        </p:txBody>
      </p:sp>
      <p:sp>
        <p:nvSpPr>
          <p:cNvPr id="10" name="par-worker-0">
            <a:extLst>
              <a:ext uri="{FF2B5EF4-FFF2-40B4-BE49-F238E27FC236}">
                <a16:creationId xmlns:a16="http://schemas.microsoft.com/office/drawing/2014/main" id="{EA53F6F4-54B5-4A91-83CE-157ADC33F3D3}"/>
              </a:ext>
            </a:extLst>
          </p:cNvPr>
          <p:cNvSpPr>
            <a:spLocks noGrp="1"/>
          </p:cNvSpPr>
          <p:nvPr/>
        </p:nvSpPr>
        <p:spPr>
          <a:xfrm>
            <a:off x="5905500" y="2381250"/>
            <a:ext cx="1809750" cy="685800"/>
          </a:xfrm>
          <a:prstGeom prst="roundRect">
            <a:avLst>
              <a:gd name="adj" fmla="val 11111"/>
            </a:avLst>
          </a:prstGeom>
          <a:solidFill>
            <a:srgbClr val="FFFFFF"/>
          </a:solidFill>
          <a:ln w="9525">
            <a:solidFill>
              <a:srgbClr val="D9E2EC"/>
            </a:solidFill>
            <a:prstDash val="solid"/>
          </a:ln>
        </p:spPr>
        <p:txBody>
          <a:bodyPr/>
          <a:lstStyle/>
          <a:p>
            <a:endParaRPr/>
          </a:p>
        </p:txBody>
      </p:sp>
      <p:sp>
        <p:nvSpPr>
          <p:cNvPr id="11" name="par-worker-0-text">
            <a:extLst>
              <a:ext uri="{FF2B5EF4-FFF2-40B4-BE49-F238E27FC236}">
                <a16:creationId xmlns:a16="http://schemas.microsoft.com/office/drawing/2014/main" id="{084D576E-3C32-4EA8-BAE4-1C198FC87761}"/>
              </a:ext>
            </a:extLst>
          </p:cNvPr>
          <p:cNvSpPr>
            <a:spLocks noGrp="1"/>
          </p:cNvSpPr>
          <p:nvPr/>
        </p:nvSpPr>
        <p:spPr>
          <a:xfrm>
            <a:off x="6038850" y="2495550"/>
            <a:ext cx="1543050" cy="457200"/>
          </a:xfrm>
          <a:prstGeom prst="rect">
            <a:avLst/>
          </a:prstGeom>
          <a:noFill/>
          <a:ln w="0">
            <a:noFill/>
            <a:prstDash val="solid"/>
          </a:ln>
        </p:spPr>
        <p:txBody>
          <a:bodyPr wrap="square" lIns="0" tIns="0" rIns="0" bIns="0" anchor="ctr">
            <a:normAutofit fontScale="86580"/>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1</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weniger Rows</a:t>
            </a:r>
          </a:p>
        </p:txBody>
      </p:sp>
      <p:sp>
        <p:nvSpPr>
          <p:cNvPr id="12" name="par-worker-1">
            <a:extLst>
              <a:ext uri="{FF2B5EF4-FFF2-40B4-BE49-F238E27FC236}">
                <a16:creationId xmlns:a16="http://schemas.microsoft.com/office/drawing/2014/main" id="{A874F2D4-4AAC-4BC1-A0A6-DAA5EEAACF3F}"/>
              </a:ext>
            </a:extLst>
          </p:cNvPr>
          <p:cNvSpPr>
            <a:spLocks noGrp="1"/>
          </p:cNvSpPr>
          <p:nvPr/>
        </p:nvSpPr>
        <p:spPr>
          <a:xfrm>
            <a:off x="5905500" y="3190875"/>
            <a:ext cx="1809750" cy="685800"/>
          </a:xfrm>
          <a:prstGeom prst="roundRect">
            <a:avLst>
              <a:gd name="adj" fmla="val 11111"/>
            </a:avLst>
          </a:prstGeom>
          <a:solidFill>
            <a:srgbClr val="FFF3E4"/>
          </a:solidFill>
          <a:ln w="9525">
            <a:solidFill>
              <a:srgbClr val="D9E2EC"/>
            </a:solidFill>
            <a:prstDash val="solid"/>
          </a:ln>
        </p:spPr>
        <p:txBody>
          <a:bodyPr/>
          <a:lstStyle/>
          <a:p>
            <a:endParaRPr/>
          </a:p>
        </p:txBody>
      </p:sp>
      <p:sp>
        <p:nvSpPr>
          <p:cNvPr id="13" name="par-worker-1-text">
            <a:extLst>
              <a:ext uri="{FF2B5EF4-FFF2-40B4-BE49-F238E27FC236}">
                <a16:creationId xmlns:a16="http://schemas.microsoft.com/office/drawing/2014/main" id="{323F099D-6A6B-4CDA-8D79-C0B3065627A3}"/>
              </a:ext>
            </a:extLst>
          </p:cNvPr>
          <p:cNvSpPr>
            <a:spLocks noGrp="1"/>
          </p:cNvSpPr>
          <p:nvPr/>
        </p:nvSpPr>
        <p:spPr>
          <a:xfrm>
            <a:off x="6038850" y="3305175"/>
            <a:ext cx="1543050" cy="457200"/>
          </a:xfrm>
          <a:prstGeom prst="rect">
            <a:avLst/>
          </a:prstGeom>
          <a:noFill/>
          <a:ln w="0">
            <a:noFill/>
            <a:prstDash val="solid"/>
          </a:ln>
        </p:spPr>
        <p:txBody>
          <a:bodyPr wrap="square" lIns="0" tIns="0" rIns="0" bIns="0" anchor="ctr">
            <a:normAutofit fontScale="86580"/>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2</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mehr Rows</a:t>
            </a:r>
          </a:p>
        </p:txBody>
      </p:sp>
      <p:sp>
        <p:nvSpPr>
          <p:cNvPr id="14" name="par-worker-2">
            <a:extLst>
              <a:ext uri="{FF2B5EF4-FFF2-40B4-BE49-F238E27FC236}">
                <a16:creationId xmlns:a16="http://schemas.microsoft.com/office/drawing/2014/main" id="{DD868463-8608-489B-B0E8-4B0996977318}"/>
              </a:ext>
            </a:extLst>
          </p:cNvPr>
          <p:cNvSpPr>
            <a:spLocks noGrp="1"/>
          </p:cNvSpPr>
          <p:nvPr/>
        </p:nvSpPr>
        <p:spPr>
          <a:xfrm>
            <a:off x="5905500" y="4000500"/>
            <a:ext cx="1809750" cy="685800"/>
          </a:xfrm>
          <a:prstGeom prst="roundRect">
            <a:avLst>
              <a:gd name="adj" fmla="val 11111"/>
            </a:avLst>
          </a:prstGeom>
          <a:solidFill>
            <a:srgbClr val="FFFFFF"/>
          </a:solidFill>
          <a:ln w="9525">
            <a:solidFill>
              <a:srgbClr val="D9E2EC"/>
            </a:solidFill>
            <a:prstDash val="solid"/>
          </a:ln>
        </p:spPr>
        <p:txBody>
          <a:bodyPr/>
          <a:lstStyle/>
          <a:p>
            <a:endParaRPr/>
          </a:p>
        </p:txBody>
      </p:sp>
      <p:sp>
        <p:nvSpPr>
          <p:cNvPr id="15" name="par-worker-2-text">
            <a:extLst>
              <a:ext uri="{FF2B5EF4-FFF2-40B4-BE49-F238E27FC236}">
                <a16:creationId xmlns:a16="http://schemas.microsoft.com/office/drawing/2014/main" id="{A691888E-C511-4B28-B99D-38BDB92CCB2E}"/>
              </a:ext>
            </a:extLst>
          </p:cNvPr>
          <p:cNvSpPr>
            <a:spLocks noGrp="1"/>
          </p:cNvSpPr>
          <p:nvPr/>
        </p:nvSpPr>
        <p:spPr>
          <a:xfrm>
            <a:off x="6038850" y="4114800"/>
            <a:ext cx="1543050" cy="457200"/>
          </a:xfrm>
          <a:prstGeom prst="rect">
            <a:avLst/>
          </a:prstGeom>
          <a:noFill/>
          <a:ln w="0">
            <a:noFill/>
            <a:prstDash val="solid"/>
          </a:ln>
        </p:spPr>
        <p:txBody>
          <a:bodyPr wrap="square" lIns="0" tIns="0" rIns="0" bIns="0" anchor="ctr">
            <a:normAutofit fontScale="86580"/>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3</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weniger Rows</a:t>
            </a:r>
          </a:p>
        </p:txBody>
      </p:sp>
      <p:sp>
        <p:nvSpPr>
          <p:cNvPr id="16" name="par-ex2">
            <a:extLst>
              <a:ext uri="{FF2B5EF4-FFF2-40B4-BE49-F238E27FC236}">
                <a16:creationId xmlns:a16="http://schemas.microsoft.com/office/drawing/2014/main" id="{5795CF89-D832-45C7-AEF3-7286CCA33758}"/>
              </a:ext>
            </a:extLst>
          </p:cNvPr>
          <p:cNvSpPr>
            <a:spLocks noGrp="1"/>
          </p:cNvSpPr>
          <p:nvPr/>
        </p:nvSpPr>
        <p:spPr>
          <a:xfrm>
            <a:off x="8591550" y="3000375"/>
            <a:ext cx="1714500"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17" name="par-ex2-text">
            <a:extLst>
              <a:ext uri="{FF2B5EF4-FFF2-40B4-BE49-F238E27FC236}">
                <a16:creationId xmlns:a16="http://schemas.microsoft.com/office/drawing/2014/main" id="{A1D36930-27F2-4E78-BAE4-E00FB6A57BBC}"/>
              </a:ext>
            </a:extLst>
          </p:cNvPr>
          <p:cNvSpPr>
            <a:spLocks noGrp="1"/>
          </p:cNvSpPr>
          <p:nvPr/>
        </p:nvSpPr>
        <p:spPr>
          <a:xfrm>
            <a:off x="8724900" y="3114675"/>
            <a:ext cx="14478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Gather</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Streams</a:t>
            </a:r>
          </a:p>
        </p:txBody>
      </p:sp>
      <p:sp>
        <p:nvSpPr>
          <p:cNvPr id="18" name="par-result">
            <a:extLst>
              <a:ext uri="{FF2B5EF4-FFF2-40B4-BE49-F238E27FC236}">
                <a16:creationId xmlns:a16="http://schemas.microsoft.com/office/drawing/2014/main" id="{70C78CD3-C229-460A-9181-26A9FA0B0BA2}"/>
              </a:ext>
            </a:extLst>
          </p:cNvPr>
          <p:cNvSpPr>
            <a:spLocks noGrp="1"/>
          </p:cNvSpPr>
          <p:nvPr/>
        </p:nvSpPr>
        <p:spPr>
          <a:xfrm>
            <a:off x="10763250" y="3190875"/>
            <a:ext cx="952500" cy="1047750"/>
          </a:xfrm>
          <a:prstGeom prst="roundRect">
            <a:avLst>
              <a:gd name="adj" fmla="val 8000"/>
            </a:avLst>
          </a:prstGeom>
          <a:solidFill>
            <a:srgbClr val="FFFFFF"/>
          </a:solidFill>
          <a:ln w="9525">
            <a:solidFill>
              <a:srgbClr val="D9E2EC"/>
            </a:solidFill>
            <a:prstDash val="solid"/>
          </a:ln>
        </p:spPr>
        <p:txBody>
          <a:bodyPr/>
          <a:lstStyle/>
          <a:p>
            <a:endParaRPr/>
          </a:p>
        </p:txBody>
      </p:sp>
      <p:sp>
        <p:nvSpPr>
          <p:cNvPr id="19" name="par-result-text">
            <a:extLst>
              <a:ext uri="{FF2B5EF4-FFF2-40B4-BE49-F238E27FC236}">
                <a16:creationId xmlns:a16="http://schemas.microsoft.com/office/drawing/2014/main" id="{B49E4FDD-4860-4E3F-8553-ACB2434D4CE9}"/>
              </a:ext>
            </a:extLst>
          </p:cNvPr>
          <p:cNvSpPr>
            <a:spLocks noGrp="1"/>
          </p:cNvSpPr>
          <p:nvPr/>
        </p:nvSpPr>
        <p:spPr>
          <a:xfrm>
            <a:off x="10896600" y="3305175"/>
            <a:ext cx="685800" cy="819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Result</a:t>
            </a:r>
          </a:p>
        </p:txBody>
      </p:sp>
      <p:cxnSp>
        <p:nvCxnSpPr>
          <p:cNvPr id="183" name="Gerade Verbindung mit Pfeil 101"/>
          <p:cNvCxnSpPr>
            <a:stCxn id="6" idx="3"/>
            <a:endCxn id="8" idx="1"/>
          </p:cNvCxnSpPr>
          <p:nvPr/>
        </p:nvCxnSpPr>
        <p:spPr>
          <a:xfrm>
            <a:off x="2533650" y="3714750"/>
            <a:ext cx="704850" cy="0"/>
          </a:xfrm>
          <a:prstGeom prst="straightConnector1">
            <a:avLst/>
          </a:prstGeom>
          <a:ln w="28575">
            <a:solidFill>
              <a:srgbClr val="007C83"/>
            </a:solidFill>
            <a:prstDash val="solid"/>
            <a:tailEnd type="arrow" w="med" len="med"/>
          </a:ln>
        </p:spPr>
      </p:cxnSp>
      <p:cxnSp>
        <p:nvCxnSpPr>
          <p:cNvPr id="184" name="Gerade Verbindung mit Pfeil 102"/>
          <p:cNvCxnSpPr>
            <a:stCxn id="8" idx="3"/>
            <a:endCxn id="10" idx="1"/>
          </p:cNvCxnSpPr>
          <p:nvPr/>
        </p:nvCxnSpPr>
        <p:spPr>
          <a:xfrm flipV="1">
            <a:off x="4953000" y="2724150"/>
            <a:ext cx="952500" cy="990600"/>
          </a:xfrm>
          <a:prstGeom prst="straightConnector1">
            <a:avLst/>
          </a:prstGeom>
          <a:ln w="28575">
            <a:solidFill>
              <a:srgbClr val="007C83"/>
            </a:solidFill>
            <a:prstDash val="solid"/>
            <a:tailEnd type="arrow" w="med" len="med"/>
          </a:ln>
        </p:spPr>
      </p:cxnSp>
      <p:cxnSp>
        <p:nvCxnSpPr>
          <p:cNvPr id="185" name="Gerade Verbindung mit Pfeil 103"/>
          <p:cNvCxnSpPr>
            <a:stCxn id="10" idx="3"/>
            <a:endCxn id="16" idx="1"/>
          </p:cNvCxnSpPr>
          <p:nvPr/>
        </p:nvCxnSpPr>
        <p:spPr>
          <a:xfrm>
            <a:off x="7715250" y="2724150"/>
            <a:ext cx="876300" cy="990600"/>
          </a:xfrm>
          <a:prstGeom prst="straightConnector1">
            <a:avLst/>
          </a:prstGeom>
          <a:ln w="28575">
            <a:solidFill>
              <a:srgbClr val="007C83"/>
            </a:solidFill>
            <a:prstDash val="solid"/>
            <a:tailEnd type="arrow" w="med" len="med"/>
          </a:ln>
        </p:spPr>
      </p:cxnSp>
      <p:cxnSp>
        <p:nvCxnSpPr>
          <p:cNvPr id="186" name="Gerade Verbindung mit Pfeil 104"/>
          <p:cNvCxnSpPr>
            <a:stCxn id="8" idx="3"/>
            <a:endCxn id="12" idx="1"/>
          </p:cNvCxnSpPr>
          <p:nvPr/>
        </p:nvCxnSpPr>
        <p:spPr>
          <a:xfrm flipV="1">
            <a:off x="4953000" y="3533775"/>
            <a:ext cx="952500" cy="180975"/>
          </a:xfrm>
          <a:prstGeom prst="straightConnector1">
            <a:avLst/>
          </a:prstGeom>
          <a:ln w="28575">
            <a:solidFill>
              <a:srgbClr val="007C83"/>
            </a:solidFill>
            <a:prstDash val="solid"/>
            <a:tailEnd type="arrow" w="med" len="med"/>
          </a:ln>
        </p:spPr>
      </p:cxnSp>
      <p:cxnSp>
        <p:nvCxnSpPr>
          <p:cNvPr id="187" name="Gerade Verbindung mit Pfeil 105"/>
          <p:cNvCxnSpPr>
            <a:stCxn id="12" idx="3"/>
            <a:endCxn id="16" idx="1"/>
          </p:cNvCxnSpPr>
          <p:nvPr/>
        </p:nvCxnSpPr>
        <p:spPr>
          <a:xfrm>
            <a:off x="7715250" y="3533775"/>
            <a:ext cx="876300" cy="180975"/>
          </a:xfrm>
          <a:prstGeom prst="straightConnector1">
            <a:avLst/>
          </a:prstGeom>
          <a:ln w="28575">
            <a:solidFill>
              <a:srgbClr val="007C83"/>
            </a:solidFill>
            <a:prstDash val="solid"/>
            <a:tailEnd type="arrow" w="med" len="med"/>
          </a:ln>
        </p:spPr>
      </p:cxnSp>
      <p:cxnSp>
        <p:nvCxnSpPr>
          <p:cNvPr id="188" name="Gerade Verbindung mit Pfeil 106"/>
          <p:cNvCxnSpPr>
            <a:stCxn id="8" idx="3"/>
            <a:endCxn id="14" idx="1"/>
          </p:cNvCxnSpPr>
          <p:nvPr/>
        </p:nvCxnSpPr>
        <p:spPr>
          <a:xfrm>
            <a:off x="4953000" y="3714750"/>
            <a:ext cx="952500" cy="628650"/>
          </a:xfrm>
          <a:prstGeom prst="straightConnector1">
            <a:avLst/>
          </a:prstGeom>
          <a:ln w="28575">
            <a:solidFill>
              <a:srgbClr val="007C83"/>
            </a:solidFill>
            <a:prstDash val="solid"/>
            <a:tailEnd type="arrow" w="med" len="med"/>
          </a:ln>
        </p:spPr>
      </p:cxnSp>
      <p:cxnSp>
        <p:nvCxnSpPr>
          <p:cNvPr id="189" name="Gerade Verbindung mit Pfeil 107"/>
          <p:cNvCxnSpPr>
            <a:stCxn id="14" idx="3"/>
            <a:endCxn id="16" idx="1"/>
          </p:cNvCxnSpPr>
          <p:nvPr/>
        </p:nvCxnSpPr>
        <p:spPr>
          <a:xfrm flipV="1">
            <a:off x="7715250" y="3714750"/>
            <a:ext cx="876300" cy="628650"/>
          </a:xfrm>
          <a:prstGeom prst="straightConnector1">
            <a:avLst/>
          </a:prstGeom>
          <a:ln w="28575">
            <a:solidFill>
              <a:srgbClr val="007C83"/>
            </a:solidFill>
            <a:prstDash val="solid"/>
            <a:tailEnd type="arrow" w="med" len="med"/>
          </a:ln>
        </p:spPr>
      </p:cxnSp>
      <p:cxnSp>
        <p:nvCxnSpPr>
          <p:cNvPr id="190" name="Gerade Verbindung mit Pfeil 108"/>
          <p:cNvCxnSpPr>
            <a:stCxn id="16" idx="3"/>
            <a:endCxn id="18" idx="1"/>
          </p:cNvCxnSpPr>
          <p:nvPr/>
        </p:nvCxnSpPr>
        <p:spPr>
          <a:xfrm>
            <a:off x="10306050" y="3714750"/>
            <a:ext cx="457200" cy="0"/>
          </a:xfrm>
          <a:prstGeom prst="straightConnector1">
            <a:avLst/>
          </a:prstGeom>
          <a:ln w="28575">
            <a:solidFill>
              <a:srgbClr val="007C83"/>
            </a:solidFill>
            <a:prstDash val="solid"/>
            <a:tailEnd type="arrow" w="med" len="med"/>
          </a:ln>
        </p:spPr>
      </p:cxnSp>
      <p:sp>
        <p:nvSpPr>
          <p:cNvPr id="28" name="par-caption">
            <a:extLst>
              <a:ext uri="{FF2B5EF4-FFF2-40B4-BE49-F238E27FC236}">
                <a16:creationId xmlns:a16="http://schemas.microsoft.com/office/drawing/2014/main" id="{B1493785-CB6A-4931-8090-5A092E186D10}"/>
              </a:ext>
            </a:extLst>
          </p:cNvPr>
          <p:cNvSpPr>
            <a:spLocks noGrp="1"/>
          </p:cNvSpPr>
          <p:nvPr/>
        </p:nvSpPr>
        <p:spPr>
          <a:xfrm>
            <a:off x="1828800" y="5219700"/>
            <a:ext cx="8534400" cy="419100"/>
          </a:xfrm>
          <a:prstGeom prst="rect">
            <a:avLst/>
          </a:prstGeom>
          <a:noFill/>
          <a:ln w="0">
            <a:noFill/>
            <a:prstDash val="solid"/>
          </a:ln>
        </p:spPr>
        <p:txBody>
          <a:bodyPr wrap="square" lIns="0" tIns="0" rIns="0" bIns="0" anchor="t">
            <a:normAutofit fontScale="91798"/>
          </a:bodyPr>
          <a:lstStyle/>
          <a:p>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Skew: der langsamste Worker bestimmt häufig die Laufzeit des parallelen Abschnitts.</a:t>
            </a:r>
          </a:p>
        </p:txBody>
      </p:sp>
    </p:spTree>
    <p:extLst>
      <p:ext uri="{BB962C8B-B14F-4D97-AF65-F5344CB8AC3E}">
        <p14:creationId xmlns:p14="http://schemas.microsoft.com/office/powerpoint/2010/main" val="1974281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6E222C32-400F-4971-8C74-D86BF514FA8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2A115889-E8BB-4AEC-B328-CE7B5A81FCF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Plan Cache: Cache-Schlüssel und Invalidierung sind zu trennen</a:t>
            </a:r>
          </a:p>
        </p:txBody>
      </p:sp>
      <p:sp>
        <p:nvSpPr>
          <p:cNvPr id="3" name="title-rule">
            <a:extLst>
              <a:ext uri="{FF2B5EF4-FFF2-40B4-BE49-F238E27FC236}">
                <a16:creationId xmlns:a16="http://schemas.microsoft.com/office/drawing/2014/main" id="{5DA8EF09-F184-43ED-80A1-A73EA45FBBE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64641B53-6C4B-442E-93A7-7F04717FF8F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3EB24C4-C80B-49F8-BC9D-DF767792C6FA}"/>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32 / 102</a:t>
            </a:r>
          </a:p>
        </p:txBody>
      </p:sp>
      <p:sp>
        <p:nvSpPr>
          <p:cNvPr id="6" name="lead">
            <a:extLst>
              <a:ext uri="{FF2B5EF4-FFF2-40B4-BE49-F238E27FC236}">
                <a16:creationId xmlns:a16="http://schemas.microsoft.com/office/drawing/2014/main" id="{63216E2B-3843-465A-8CDD-BAD4CC1DFE8E}"/>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Planwiederverwendung setzt einen passenden Cache-Schlüssel voraus. Abweichende SET-Optionen können zusätzliche Cacheeinträge erzeugen, ohne einen vorhandenen Plan zu invalidieren.</a:t>
            </a:r>
          </a:p>
        </p:txBody>
      </p:sp>
      <p:sp>
        <p:nvSpPr>
          <p:cNvPr id="7" name="lead-accent">
            <a:extLst>
              <a:ext uri="{FF2B5EF4-FFF2-40B4-BE49-F238E27FC236}">
                <a16:creationId xmlns:a16="http://schemas.microsoft.com/office/drawing/2014/main" id="{D55FED95-F329-47E2-9090-74EB6E6241EF}"/>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8DB82BDF-36AD-437C-A1B3-ECCDBB76B248}"/>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Ad-hoc-Literalvielfalt kann viele Cacheeinträge und zusätzliche Compilations erzeugen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Schema-, Index- oder verwendete Statistikänderungen können Recompile oder Invalidierung auslösen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OPTION (RECOMPILE) erzeugt statementbezogen einen aktuellen Plan – mit Compile-Kosten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Query Store hält Plan- und Laufzeithistorie über Cache-Eviction hinaus, wenn er aktiviert ist</a:t>
            </a:r>
          </a:p>
        </p:txBody>
      </p:sp>
    </p:spTree>
    <p:extLst>
      <p:ext uri="{BB962C8B-B14F-4D97-AF65-F5344CB8AC3E}">
        <p14:creationId xmlns:p14="http://schemas.microsoft.com/office/powerpoint/2010/main" val="1772861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BC05A4C2-8F94-494E-B2B0-99BD126B8738}"/>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584F2807-853F-4DF3-8274-BB396F681F22}"/>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Parameter Sensitivity ist ein Verteilungsproblem, kein pauschaler Fehler</a:t>
            </a:r>
          </a:p>
        </p:txBody>
      </p:sp>
      <p:sp>
        <p:nvSpPr>
          <p:cNvPr id="3" name="title-rule">
            <a:extLst>
              <a:ext uri="{FF2B5EF4-FFF2-40B4-BE49-F238E27FC236}">
                <a16:creationId xmlns:a16="http://schemas.microsoft.com/office/drawing/2014/main" id="{B825F200-5E27-4789-9EF5-509E08358E3D}"/>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7B4A0AA-DC28-4DF0-9F32-71DE6C85B2E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B0CE807A-3717-4B0E-AABA-D8059286289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33 / 102</a:t>
            </a:r>
          </a:p>
        </p:txBody>
      </p:sp>
      <p:sp>
        <p:nvSpPr>
          <p:cNvPr id="6" name="left-title">
            <a:extLst>
              <a:ext uri="{FF2B5EF4-FFF2-40B4-BE49-F238E27FC236}">
                <a16:creationId xmlns:a16="http://schemas.microsoft.com/office/drawing/2014/main" id="{CCCA48D8-C0F4-4F0C-945E-26719EF7F0CC}"/>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Ein Plan passt</a:t>
            </a:r>
          </a:p>
        </p:txBody>
      </p:sp>
      <p:sp>
        <p:nvSpPr>
          <p:cNvPr id="7" name="right-title">
            <a:extLst>
              <a:ext uri="{FF2B5EF4-FFF2-40B4-BE49-F238E27FC236}">
                <a16:creationId xmlns:a16="http://schemas.microsoft.com/office/drawing/2014/main" id="{16981B79-1267-4800-AB46-B48137A3ED32}"/>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Mehrere Strategien nötig</a:t>
            </a:r>
          </a:p>
        </p:txBody>
      </p:sp>
      <p:sp>
        <p:nvSpPr>
          <p:cNvPr id="8" name="middle-rule">
            <a:extLst>
              <a:ext uri="{FF2B5EF4-FFF2-40B4-BE49-F238E27FC236}">
                <a16:creationId xmlns:a16="http://schemas.microsoft.com/office/drawing/2014/main" id="{3A59C1B1-1172-4C4C-B70D-2E0F8943D4FE}"/>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3BA1C45C-BE98-4811-961C-910D63E52E2D}"/>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ähnliche Selektivität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stabile Zugriffskosten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repräsentativer Compile-Wert</a:t>
            </a:r>
          </a:p>
        </p:txBody>
      </p:sp>
      <p:sp>
        <p:nvSpPr>
          <p:cNvPr id="10" name="right-points">
            <a:extLst>
              <a:ext uri="{FF2B5EF4-FFF2-40B4-BE49-F238E27FC236}">
                <a16:creationId xmlns:a16="http://schemas.microsoft.com/office/drawing/2014/main" id="{4702991C-27A0-46FA-B650-CB938F654A4A}"/>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stark ungleich verteilte Werte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 plus Lookup versus Scan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unterschiedliche Grants oder Joins</a:t>
            </a:r>
          </a:p>
        </p:txBody>
      </p:sp>
      <p:sp>
        <p:nvSpPr>
          <p:cNvPr id="11" name="conclusion-bg">
            <a:extLst>
              <a:ext uri="{FF2B5EF4-FFF2-40B4-BE49-F238E27FC236}">
                <a16:creationId xmlns:a16="http://schemas.microsoft.com/office/drawing/2014/main" id="{BFBF920E-F360-415B-AB35-7C9263B07836}"/>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B120A7AE-24A8-40DC-8FDA-F193BBF18095}"/>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Mitigations reichen von Querydesign bis PSP – jeweils versionsabhängig.</a:t>
            </a:r>
          </a:p>
        </p:txBody>
      </p:sp>
    </p:spTree>
    <p:extLst>
      <p:ext uri="{BB962C8B-B14F-4D97-AF65-F5344CB8AC3E}">
        <p14:creationId xmlns:p14="http://schemas.microsoft.com/office/powerpoint/2010/main" val="1241126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DD7BF00F-BDE4-42DD-AF68-9A561F23F9B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a:ext uri="{FF2B5EF4-FFF2-40B4-BE49-F238E27FC236}">
                <a16:creationId xmlns:a16="http://schemas.microsoft.com/office/drawing/2014/main" id="{74B6740B-140E-4777-A499-130908D4B42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Intelligent Query Processing erweitert den Werkzeugkasten stufenweise</a:t>
            </a:r>
          </a:p>
        </p:txBody>
      </p:sp>
      <p:sp>
        <p:nvSpPr>
          <p:cNvPr id="3" name="title-rule">
            <a:extLst>
              <a:ext uri="{FF2B5EF4-FFF2-40B4-BE49-F238E27FC236}">
                <a16:creationId xmlns:a16="http://schemas.microsoft.com/office/drawing/2014/main" id="{3A65B89E-0338-4EFD-AAE5-2647B681B37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E38F2C4C-C0E3-4FE9-B695-11C75DEADDDB}"/>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4024DA0A-95D8-41F9-A9BC-3C8073389AF7}"/>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34 / 102</a:t>
            </a:r>
          </a:p>
        </p:txBody>
      </p:sp>
      <p:graphicFrame>
        <p:nvGraphicFramePr>
          <p:cNvPr id="14" name="Tabelle 13"/>
          <p:cNvGraphicFramePr/>
          <p:nvPr/>
        </p:nvGraphicFramePr>
        <p:xfrm>
          <a:off x="609600" y="2171700"/>
          <a:ext cx="10668000" cy="281940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400" b="1">
                          <a:solidFill>
                            <a:srgbClr val="FFFFFF"/>
                          </a:solidFill>
                          <a:latin typeface="Aptos"/>
                          <a:ea typeface="Aptos"/>
                          <a:cs typeface="Aptos"/>
                        </a:rPr>
                        <a:t>Version / CL</a:t>
                      </a:r>
                    </a:p>
                  </a:txBody>
                  <a:tcPr>
                    <a:solidFill>
                      <a:srgbClr val="0B1F33"/>
                    </a:solidFill>
                  </a:tcPr>
                </a:tc>
                <a:tc>
                  <a:txBody>
                    <a:bodyPr/>
                    <a:lstStyle/>
                    <a:p>
                      <a:r>
                        <a:rPr sz="1400" b="1">
                          <a:solidFill>
                            <a:srgbClr val="FFFFFF"/>
                          </a:solidFill>
                          <a:latin typeface="Aptos"/>
                          <a:ea typeface="Aptos"/>
                          <a:cs typeface="Aptos"/>
                        </a:rPr>
                        <a:t>Beispiele</a:t>
                      </a:r>
                    </a:p>
                  </a:txBody>
                  <a:tcPr>
                    <a:solidFill>
                      <a:srgbClr val="0B1F33"/>
                    </a:solidFill>
                  </a:tcPr>
                </a:tc>
                <a:tc>
                  <a:txBody>
                    <a:bodyPr/>
                    <a:lstStyle/>
                    <a:p>
                      <a:r>
                        <a:rPr sz="1400" b="1">
                          <a:solidFill>
                            <a:srgbClr val="FFFFFF"/>
                          </a:solidFill>
                          <a:latin typeface="Aptos"/>
                          <a:ea typeface="Aptos"/>
                          <a:cs typeface="Aptos"/>
                        </a:rPr>
                        <a:t>zusätzliche Voraussetzungen</a:t>
                      </a:r>
                    </a:p>
                  </a:txBody>
                  <a:tcPr>
                    <a:solidFill>
                      <a:srgbClr val="0B1F33"/>
                    </a:solidFill>
                  </a:tcPr>
                </a:tc>
                <a:extLst>
                  <a:ext uri="{0D108BD9-81ED-4DB2-BD59-A6C34878D82A}">
                    <a16:rowId xmlns:a16="http://schemas.microsoft.com/office/drawing/2014/main" val="10000"/>
                  </a:ext>
                </a:extLst>
              </a:tr>
              <a:tr h="704850">
                <a:tc>
                  <a:txBody>
                    <a:bodyPr/>
                    <a:lstStyle/>
                    <a:p>
                      <a:r>
                        <a:rPr sz="1200">
                          <a:solidFill>
                            <a:srgbClr val="243B53"/>
                          </a:solidFill>
                          <a:latin typeface="Aptos"/>
                          <a:ea typeface="Aptos"/>
                          <a:cs typeface="Aptos"/>
                        </a:rPr>
                        <a:t>2019 / CL 150</a:t>
                      </a:r>
                    </a:p>
                  </a:txBody>
                  <a:tcPr>
                    <a:solidFill>
                      <a:srgbClr val="FFFFFF"/>
                    </a:solidFill>
                  </a:tcPr>
                </a:tc>
                <a:tc>
                  <a:txBody>
                    <a:bodyPr/>
                    <a:lstStyle/>
                    <a:p>
                      <a:r>
                        <a:rPr sz="1200">
                          <a:solidFill>
                            <a:srgbClr val="243B53"/>
                          </a:solidFill>
                          <a:latin typeface="Aptos"/>
                          <a:ea typeface="Aptos"/>
                          <a:cs typeface="Aptos"/>
                        </a:rPr>
                        <a:t>Batch Mode on Rowstore; Scalar UDF Inlining; Table Variable Deferred Compilation; Row-Mode-MGF</a:t>
                      </a:r>
                    </a:p>
                  </a:txBody>
                  <a:tcPr>
                    <a:solidFill>
                      <a:srgbClr val="FFFFFF"/>
                    </a:solidFill>
                  </a:tcPr>
                </a:tc>
                <a:tc>
                  <a:txBody>
                    <a:bodyPr/>
                    <a:lstStyle/>
                    <a:p>
                      <a:r>
                        <a:rPr sz="1200">
                          <a:solidFill>
                            <a:srgbClr val="243B53"/>
                          </a:solidFill>
                          <a:latin typeface="Aptos"/>
                          <a:ea typeface="Aptos"/>
                          <a:cs typeface="Aptos"/>
                        </a:rPr>
                        <a:t>Query-/Feature-Eligibility; DB-scoped Configs</a:t>
                      </a:r>
                    </a:p>
                  </a:txBody>
                  <a:tcPr>
                    <a:solidFill>
                      <a:srgbClr val="FFFFFF"/>
                    </a:solidFill>
                  </a:tcPr>
                </a:tc>
                <a:extLst>
                  <a:ext uri="{0D108BD9-81ED-4DB2-BD59-A6C34878D82A}">
                    <a16:rowId xmlns:a16="http://schemas.microsoft.com/office/drawing/2014/main" val="10001"/>
                  </a:ext>
                </a:extLst>
              </a:tr>
              <a:tr h="704850">
                <a:tc>
                  <a:txBody>
                    <a:bodyPr/>
                    <a:lstStyle/>
                    <a:p>
                      <a:r>
                        <a:rPr sz="1200">
                          <a:solidFill>
                            <a:srgbClr val="243B53"/>
                          </a:solidFill>
                          <a:latin typeface="Aptos"/>
                          <a:ea typeface="Aptos"/>
                          <a:cs typeface="Aptos"/>
                        </a:rPr>
                        <a:t>2022 / CL 140–160</a:t>
                      </a:r>
                    </a:p>
                  </a:txBody>
                  <a:tcPr>
                    <a:solidFill>
                      <a:srgbClr val="EDF2F7"/>
                    </a:solidFill>
                  </a:tcPr>
                </a:tc>
                <a:tc>
                  <a:txBody>
                    <a:bodyPr/>
                    <a:lstStyle/>
                    <a:p>
                      <a:r>
                        <a:rPr sz="1200">
                          <a:solidFill>
                            <a:srgbClr val="243B53"/>
                          </a:solidFill>
                          <a:latin typeface="Aptos"/>
                          <a:ea typeface="Aptos"/>
                          <a:cs typeface="Aptos"/>
                        </a:rPr>
                        <a:t>CL 140: MGF-Persistenz/Perzentil; CL 160: PSP, CE- und DOP-Feedback</a:t>
                      </a:r>
                    </a:p>
                  </a:txBody>
                  <a:tcPr>
                    <a:solidFill>
                      <a:srgbClr val="EDF2F7"/>
                    </a:solidFill>
                  </a:tcPr>
                </a:tc>
                <a:tc>
                  <a:txBody>
                    <a:bodyPr/>
                    <a:lstStyle/>
                    <a:p>
                      <a:r>
                        <a:rPr sz="1200">
                          <a:solidFill>
                            <a:srgbClr val="243B53"/>
                          </a:solidFill>
                          <a:latin typeface="Aptos"/>
                          <a:ea typeface="Aptos"/>
                          <a:cs typeface="Aptos"/>
                        </a:rPr>
                        <a:t>Query Store READ_WRITE für Feedback und Persistenz</a:t>
                      </a:r>
                    </a:p>
                  </a:txBody>
                  <a:tcPr>
                    <a:solidFill>
                      <a:srgbClr val="EDF2F7"/>
                    </a:solidFill>
                  </a:tcPr>
                </a:tc>
                <a:extLst>
                  <a:ext uri="{0D108BD9-81ED-4DB2-BD59-A6C34878D82A}">
                    <a16:rowId xmlns:a16="http://schemas.microsoft.com/office/drawing/2014/main" val="10002"/>
                  </a:ext>
                </a:extLst>
              </a:tr>
              <a:tr h="704850">
                <a:tc>
                  <a:txBody>
                    <a:bodyPr/>
                    <a:lstStyle/>
                    <a:p>
                      <a:r>
                        <a:rPr sz="1200">
                          <a:solidFill>
                            <a:srgbClr val="243B53"/>
                          </a:solidFill>
                          <a:latin typeface="Aptos"/>
                          <a:ea typeface="Aptos"/>
                          <a:cs typeface="Aptos"/>
                        </a:rPr>
                        <a:t>2025 / CL 160–170</a:t>
                      </a:r>
                    </a:p>
                  </a:txBody>
                  <a:tcPr>
                    <a:solidFill>
                      <a:srgbClr val="FFFFFF"/>
                    </a:solidFill>
                  </a:tcPr>
                </a:tc>
                <a:tc>
                  <a:txBody>
                    <a:bodyPr/>
                    <a:lstStyle/>
                    <a:p>
                      <a:r>
                        <a:rPr sz="1200">
                          <a:solidFill>
                            <a:srgbClr val="243B53"/>
                          </a:solidFill>
                          <a:latin typeface="Aptos"/>
                          <a:ea typeface="Aptos"/>
                          <a:cs typeface="Aptos"/>
                        </a:rPr>
                        <a:t>CL 160: CE-Feedback für Ausdrücke; CL 170: OPPO</a:t>
                      </a:r>
                    </a:p>
                  </a:txBody>
                  <a:tcPr>
                    <a:solidFill>
                      <a:srgbClr val="FFFFFF"/>
                    </a:solidFill>
                  </a:tcPr>
                </a:tc>
                <a:tc>
                  <a:txBody>
                    <a:bodyPr/>
                    <a:lstStyle/>
                    <a:p>
                      <a:r>
                        <a:rPr sz="1200">
                          <a:solidFill>
                            <a:srgbClr val="243B53"/>
                          </a:solidFill>
                          <a:latin typeface="Aptos"/>
                          <a:ea typeface="Aptos"/>
                          <a:cs typeface="Aptos"/>
                        </a:rPr>
                        <a:t>OPPO-Konfiguration ON; Eligibility je Query</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52912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08653666-71E5-4CE0-8812-ED55439045EB}"/>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2 · WISSENSKONTROLLE</a:t>
            </a:r>
          </a:p>
        </p:txBody>
      </p:sp>
      <p:sp>
        <p:nvSpPr>
          <p:cNvPr id="2" name="question">
            <a:extLst>
              <a:ext uri="{FF2B5EF4-FFF2-40B4-BE49-F238E27FC236}">
                <a16:creationId xmlns:a16="http://schemas.microsoft.com/office/drawing/2014/main" id="{30566BED-1815-4A8F-80AD-156D8FC6BF32}"/>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Eine Hash-Join-Abfrage spillt: Welche Hypothese wird zuerst geprüft?</a:t>
            </a:r>
          </a:p>
        </p:txBody>
      </p:sp>
      <p:sp>
        <p:nvSpPr>
          <p:cNvPr id="3" name="question-rule">
            <a:extLst>
              <a:ext uri="{FF2B5EF4-FFF2-40B4-BE49-F238E27FC236}">
                <a16:creationId xmlns:a16="http://schemas.microsoft.com/office/drawing/2014/main" id="{88361225-A8E7-43F6-8B8B-CB66A392FE50}"/>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AC1F9EDE-BF18-4206-9E8B-5FA70BAE4DA3}"/>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E65AE3B8-97E8-4D6E-B261-547B632BADEA}"/>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Estimated versus Actual Rows</a:t>
            </a:r>
          </a:p>
        </p:txBody>
      </p:sp>
      <p:sp>
        <p:nvSpPr>
          <p:cNvPr id="6" name="prompt-num-1">
            <a:extLst>
              <a:ext uri="{FF2B5EF4-FFF2-40B4-BE49-F238E27FC236}">
                <a16:creationId xmlns:a16="http://schemas.microsoft.com/office/drawing/2014/main" id="{994D3DE5-AB53-410E-957E-72CD2B71613C}"/>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08456757-9840-4F84-8579-4D6F4EFA007C}"/>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Requested, Granted und Used Memory</a:t>
            </a:r>
          </a:p>
        </p:txBody>
      </p:sp>
      <p:sp>
        <p:nvSpPr>
          <p:cNvPr id="8" name="prompt-num-2">
            <a:extLst>
              <a:ext uri="{FF2B5EF4-FFF2-40B4-BE49-F238E27FC236}">
                <a16:creationId xmlns:a16="http://schemas.microsoft.com/office/drawing/2014/main" id="{5261AE5F-4BBC-4DCA-83D3-1316A3C94CCB}"/>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A41BD706-2F62-40BA-A644-8833FDE17256}"/>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konkurrierende Grants</a:t>
            </a:r>
          </a:p>
        </p:txBody>
      </p:sp>
      <p:sp>
        <p:nvSpPr>
          <p:cNvPr id="10" name="prompt-num-3">
            <a:extLst>
              <a:ext uri="{FF2B5EF4-FFF2-40B4-BE49-F238E27FC236}">
                <a16:creationId xmlns:a16="http://schemas.microsoft.com/office/drawing/2014/main" id="{7D6068E1-F7C3-4009-9ED4-7698546D50A5}"/>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40DDD7AD-EDDC-4C41-8D4F-78E14F6CEBEA}"/>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Row Width und TempDB-I/O</a:t>
            </a:r>
          </a:p>
        </p:txBody>
      </p:sp>
      <p:sp>
        <p:nvSpPr>
          <p:cNvPr id="12" name="question-footer">
            <a:extLst>
              <a:ext uri="{FF2B5EF4-FFF2-40B4-BE49-F238E27FC236}">
                <a16:creationId xmlns:a16="http://schemas.microsoft.com/office/drawing/2014/main" id="{214E1337-7CE2-467A-AE0B-C1ADECC125B3}"/>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35 / 102</a:t>
            </a:r>
          </a:p>
        </p:txBody>
      </p:sp>
    </p:spTree>
    <p:extLst>
      <p:ext uri="{BB962C8B-B14F-4D97-AF65-F5344CB8AC3E}">
        <p14:creationId xmlns:p14="http://schemas.microsoft.com/office/powerpoint/2010/main" val="1300978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39C4A880-5ED6-40A8-B350-B31CCBA60975}"/>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03</a:t>
            </a:r>
          </a:p>
        </p:txBody>
      </p:sp>
      <p:sp>
        <p:nvSpPr>
          <p:cNvPr id="2" name="section-rule">
            <a:extLst>
              <a:ext uri="{FF2B5EF4-FFF2-40B4-BE49-F238E27FC236}">
                <a16:creationId xmlns:a16="http://schemas.microsoft.com/office/drawing/2014/main" id="{44940723-1C2C-430D-B094-A0C2147AC055}"/>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B24C2822-C929-4C49-9C9C-38037C730A86}"/>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Query Patterns</a:t>
            </a:r>
          </a:p>
        </p:txBody>
      </p:sp>
      <p:sp>
        <p:nvSpPr>
          <p:cNvPr id="4" name="section-subtitle">
            <a:extLst>
              <a:ext uri="{FF2B5EF4-FFF2-40B4-BE49-F238E27FC236}">
                <a16:creationId xmlns:a16="http://schemas.microsoft.com/office/drawing/2014/main" id="{0B7FE5A0-7CC0-4E71-ACA7-08C1EB16A4C6}"/>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erweitert oder begrenzt T-SQL die möglichen Zugriffspfade?</a:t>
            </a:r>
          </a:p>
        </p:txBody>
      </p:sp>
      <p:sp>
        <p:nvSpPr>
          <p:cNvPr id="5" name="section-footer">
            <a:extLst>
              <a:ext uri="{FF2B5EF4-FFF2-40B4-BE49-F238E27FC236}">
                <a16:creationId xmlns:a16="http://schemas.microsoft.com/office/drawing/2014/main" id="{DCFA4FD3-8C9B-44B3-AE3F-5A66A6D7C8B7}"/>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661615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DB634BA2-04FF-48AA-9E4D-069E15371A54}"/>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8343DC88-FE14-42CF-909A-289BAFD9401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SARGability hält die Indexspalte als Suchargument verfügbar</a:t>
            </a:r>
          </a:p>
        </p:txBody>
      </p:sp>
      <p:sp>
        <p:nvSpPr>
          <p:cNvPr id="3" name="title-rule">
            <a:extLst>
              <a:ext uri="{FF2B5EF4-FFF2-40B4-BE49-F238E27FC236}">
                <a16:creationId xmlns:a16="http://schemas.microsoft.com/office/drawing/2014/main" id="{D7A8AD02-1894-4CBE-9BFA-436935FBFC63}"/>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0E5FA08E-4A75-4E4F-8D0B-F1E10AFC448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7FB0D76-BF64-47D8-8046-0C2B0A01A17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37 / 102</a:t>
            </a:r>
          </a:p>
        </p:txBody>
      </p:sp>
      <p:sp>
        <p:nvSpPr>
          <p:cNvPr id="6" name="bad-label">
            <a:extLst>
              <a:ext uri="{FF2B5EF4-FFF2-40B4-BE49-F238E27FC236}">
                <a16:creationId xmlns:a16="http://schemas.microsoft.com/office/drawing/2014/main" id="{043BC21B-806D-4135-984A-463D99ABE224}"/>
              </a:ext>
            </a:extLst>
          </p:cNvPr>
          <p:cNvSpPr>
            <a:spLocks noGrp="1"/>
          </p:cNvSpPr>
          <p:nvPr/>
        </p:nvSpPr>
        <p:spPr>
          <a:xfrm>
            <a:off x="609600" y="2133600"/>
            <a:ext cx="4762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C94C4C"/>
                </a:solidFill>
                <a:latin typeface="Aptos"/>
                <a:ea typeface="Aptos"/>
                <a:cs typeface="Aptos"/>
              </a:defRPr>
            </a:pPr>
            <a:r>
              <a:rPr sz="1200" b="1" i="0">
                <a:solidFill>
                  <a:srgbClr val="C94C4C"/>
                </a:solidFill>
                <a:latin typeface="Aptos"/>
                <a:ea typeface="Aptos"/>
                <a:cs typeface="Aptos"/>
              </a:rPr>
              <a:t>UNGÜNSTIGES MUSTER</a:t>
            </a:r>
          </a:p>
        </p:txBody>
      </p:sp>
      <p:sp>
        <p:nvSpPr>
          <p:cNvPr id="7" name="bad-code-bg">
            <a:extLst>
              <a:ext uri="{FF2B5EF4-FFF2-40B4-BE49-F238E27FC236}">
                <a16:creationId xmlns:a16="http://schemas.microsoft.com/office/drawing/2014/main" id="{1905E72D-88C5-48DA-AA55-9CB83A2FE5BE}"/>
              </a:ext>
            </a:extLst>
          </p:cNvPr>
          <p:cNvSpPr>
            <a:spLocks noGrp="1"/>
          </p:cNvSpPr>
          <p:nvPr/>
        </p:nvSpPr>
        <p:spPr>
          <a:xfrm>
            <a:off x="609600" y="2495550"/>
            <a:ext cx="4762500" cy="1143000"/>
          </a:xfrm>
          <a:prstGeom prst="roundRect">
            <a:avLst>
              <a:gd name="adj" fmla="val 6667"/>
            </a:avLst>
          </a:prstGeom>
          <a:solidFill>
            <a:srgbClr val="FFF1F1"/>
          </a:solidFill>
          <a:ln w="9525">
            <a:solidFill>
              <a:srgbClr val="F4C7C7"/>
            </a:solidFill>
            <a:prstDash val="solid"/>
          </a:ln>
        </p:spPr>
        <p:txBody>
          <a:bodyPr/>
          <a:lstStyle/>
          <a:p>
            <a:endParaRPr/>
          </a:p>
        </p:txBody>
      </p:sp>
      <p:sp>
        <p:nvSpPr>
          <p:cNvPr id="8" name="bad-code">
            <a:extLst>
              <a:ext uri="{FF2B5EF4-FFF2-40B4-BE49-F238E27FC236}">
                <a16:creationId xmlns:a16="http://schemas.microsoft.com/office/drawing/2014/main" id="{9390437C-C287-4ED2-B132-E243DAC6389C}"/>
              </a:ext>
            </a:extLst>
          </p:cNvPr>
          <p:cNvSpPr>
            <a:spLocks noGrp="1"/>
          </p:cNvSpPr>
          <p:nvPr/>
        </p:nvSpPr>
        <p:spPr>
          <a:xfrm>
            <a:off x="838200" y="2724150"/>
            <a:ext cx="4305300" cy="6858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8A2C2C"/>
                </a:solidFill>
                <a:latin typeface="Consolas"/>
                <a:ea typeface="Consolas"/>
                <a:cs typeface="Consolas"/>
              </a:defRPr>
            </a:pPr>
            <a:r>
              <a:rPr sz="1725" b="1" i="0">
                <a:solidFill>
                  <a:srgbClr val="8A2C2C"/>
                </a:solidFill>
                <a:latin typeface="Consolas"/>
                <a:ea typeface="Consolas"/>
                <a:cs typeface="Consolas"/>
              </a:rPr>
              <a:t>WHERE YEAR(OrderDate) = 2026</a:t>
            </a:r>
          </a:p>
        </p:txBody>
      </p:sp>
      <p:sp>
        <p:nvSpPr>
          <p:cNvPr id="9" name="good-label">
            <a:extLst>
              <a:ext uri="{FF2B5EF4-FFF2-40B4-BE49-F238E27FC236}">
                <a16:creationId xmlns:a16="http://schemas.microsoft.com/office/drawing/2014/main" id="{82BB084B-E574-45C4-8141-BC1D182850AB}"/>
              </a:ext>
            </a:extLst>
          </p:cNvPr>
          <p:cNvSpPr>
            <a:spLocks noGrp="1"/>
          </p:cNvSpPr>
          <p:nvPr/>
        </p:nvSpPr>
        <p:spPr>
          <a:xfrm>
            <a:off x="609600" y="3962400"/>
            <a:ext cx="4762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A9D8F"/>
                </a:solidFill>
                <a:latin typeface="Aptos"/>
                <a:ea typeface="Aptos"/>
                <a:cs typeface="Aptos"/>
              </a:defRPr>
            </a:pPr>
            <a:r>
              <a:rPr sz="1200" b="1" i="0">
                <a:solidFill>
                  <a:srgbClr val="2A9D8F"/>
                </a:solidFill>
                <a:latin typeface="Aptos"/>
                <a:ea typeface="Aptos"/>
                <a:cs typeface="Aptos"/>
              </a:rPr>
              <a:t>BEVORZUGTES MUSTER</a:t>
            </a:r>
          </a:p>
        </p:txBody>
      </p:sp>
      <p:sp>
        <p:nvSpPr>
          <p:cNvPr id="10" name="good-code-bg">
            <a:extLst>
              <a:ext uri="{FF2B5EF4-FFF2-40B4-BE49-F238E27FC236}">
                <a16:creationId xmlns:a16="http://schemas.microsoft.com/office/drawing/2014/main" id="{60E98318-3AC2-4C2A-98EE-231CE4AACA14}"/>
              </a:ext>
            </a:extLst>
          </p:cNvPr>
          <p:cNvSpPr>
            <a:spLocks noGrp="1"/>
          </p:cNvSpPr>
          <p:nvPr/>
        </p:nvSpPr>
        <p:spPr>
          <a:xfrm>
            <a:off x="609600" y="4324350"/>
            <a:ext cx="4762500" cy="1352550"/>
          </a:xfrm>
          <a:prstGeom prst="roundRect">
            <a:avLst>
              <a:gd name="adj" fmla="val 5634"/>
            </a:avLst>
          </a:prstGeom>
          <a:solidFill>
            <a:srgbClr val="EAF8F2"/>
          </a:solidFill>
          <a:ln w="9525">
            <a:solidFill>
              <a:srgbClr val="B5DECE"/>
            </a:solidFill>
            <a:prstDash val="solid"/>
          </a:ln>
        </p:spPr>
        <p:txBody>
          <a:bodyPr/>
          <a:lstStyle/>
          <a:p>
            <a:endParaRPr/>
          </a:p>
        </p:txBody>
      </p:sp>
      <p:sp>
        <p:nvSpPr>
          <p:cNvPr id="11" name="good-code">
            <a:extLst>
              <a:ext uri="{FF2B5EF4-FFF2-40B4-BE49-F238E27FC236}">
                <a16:creationId xmlns:a16="http://schemas.microsoft.com/office/drawing/2014/main" id="{10C56CEA-C9F8-4AA7-8F93-EF6B11308C52}"/>
              </a:ext>
            </a:extLst>
          </p:cNvPr>
          <p:cNvSpPr>
            <a:spLocks noGrp="1"/>
          </p:cNvSpPr>
          <p:nvPr/>
        </p:nvSpPr>
        <p:spPr>
          <a:xfrm>
            <a:off x="838200" y="4514850"/>
            <a:ext cx="4305300" cy="9906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WHERE OrderDate &gt;= '20260101'</a:t>
            </a:r>
          </a:p>
          <a:p>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  AND OrderDate &lt;  '20270101'</a:t>
            </a:r>
          </a:p>
        </p:txBody>
      </p:sp>
      <p:sp>
        <p:nvSpPr>
          <p:cNvPr id="12" name="code-points">
            <a:extLst>
              <a:ext uri="{FF2B5EF4-FFF2-40B4-BE49-F238E27FC236}">
                <a16:creationId xmlns:a16="http://schemas.microsoft.com/office/drawing/2014/main" id="{1435D143-8561-4C80-BE9C-9A6BD7302B39}"/>
              </a:ext>
            </a:extLst>
          </p:cNvPr>
          <p:cNvSpPr>
            <a:spLocks noGrp="1"/>
          </p:cNvSpPr>
          <p:nvPr/>
        </p:nvSpPr>
        <p:spPr>
          <a:xfrm>
            <a:off x="6057900" y="2419350"/>
            <a:ext cx="5219700" cy="3143250"/>
          </a:xfrm>
          <a:prstGeom prst="rect">
            <a:avLst/>
          </a:prstGeom>
          <a:noFill/>
          <a:ln w="0">
            <a:noFill/>
            <a:prstDash val="solid"/>
          </a:ln>
        </p:spPr>
        <p:txBody>
          <a:bodyPr wrap="square" lIns="0" tIns="0" rIns="0" bIns="0">
            <a:normAutofit/>
          </a:bodyPr>
          <a:lstStyle/>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Funktion auf der Indexspalte kann einen Seek verhindern</a:t>
            </a:r>
          </a:p>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Bereichsgrenzen sind typstabil und eindeutig</a:t>
            </a:r>
          </a:p>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Seek ist trotzdem nur bei passender Selektivität sinnvoll</a:t>
            </a:r>
          </a:p>
        </p:txBody>
      </p:sp>
    </p:spTree>
    <p:extLst>
      <p:ext uri="{BB962C8B-B14F-4D97-AF65-F5344CB8AC3E}">
        <p14:creationId xmlns:p14="http://schemas.microsoft.com/office/powerpoint/2010/main" val="1159552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F408DFA5-325F-4087-ABA4-38EB2DEEE8A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0343219B-8A24-4009-94A0-6A3DC19893A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Implicit Conversion wird kritisch, wenn die Indexseite konvertiert werden muss</a:t>
            </a:r>
          </a:p>
        </p:txBody>
      </p:sp>
      <p:sp>
        <p:nvSpPr>
          <p:cNvPr id="3" name="title-rule">
            <a:extLst>
              <a:ext uri="{FF2B5EF4-FFF2-40B4-BE49-F238E27FC236}">
                <a16:creationId xmlns:a16="http://schemas.microsoft.com/office/drawing/2014/main" id="{F136CFCE-1B95-4DC0-B77B-021077C5219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3F155820-E2ED-4144-95DA-921F3D80E95E}"/>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F034E97-B3C1-4B0B-83D4-B764D57A2F1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38 / 102</a:t>
            </a:r>
          </a:p>
        </p:txBody>
      </p:sp>
      <p:sp>
        <p:nvSpPr>
          <p:cNvPr id="6" name="left-title">
            <a:extLst>
              <a:ext uri="{FF2B5EF4-FFF2-40B4-BE49-F238E27FC236}">
                <a16:creationId xmlns:a16="http://schemas.microsoft.com/office/drawing/2014/main" id="{4B1B8859-2DEA-42CB-A1DF-EFB57B9F7B66}"/>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günstiger</a:t>
            </a:r>
          </a:p>
        </p:txBody>
      </p:sp>
      <p:sp>
        <p:nvSpPr>
          <p:cNvPr id="7" name="right-title">
            <a:extLst>
              <a:ext uri="{FF2B5EF4-FFF2-40B4-BE49-F238E27FC236}">
                <a16:creationId xmlns:a16="http://schemas.microsoft.com/office/drawing/2014/main" id="{1E255F50-804D-4BAE-BE4B-625ADB9730B7}"/>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kritischer</a:t>
            </a:r>
          </a:p>
        </p:txBody>
      </p:sp>
      <p:sp>
        <p:nvSpPr>
          <p:cNvPr id="8" name="middle-rule">
            <a:extLst>
              <a:ext uri="{FF2B5EF4-FFF2-40B4-BE49-F238E27FC236}">
                <a16:creationId xmlns:a16="http://schemas.microsoft.com/office/drawing/2014/main" id="{9FF10BB4-2DED-41E6-858F-482895101EF7}"/>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69F60D6D-F3D5-4653-BD62-367A6AE3C1FF}"/>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 zum Spaltentyp konvertierbar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Funktion auf dem Indexschlüssel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Plan Warning fehlt</a:t>
            </a:r>
          </a:p>
        </p:txBody>
      </p:sp>
      <p:sp>
        <p:nvSpPr>
          <p:cNvPr id="10" name="right-points">
            <a:extLst>
              <a:ext uri="{FF2B5EF4-FFF2-40B4-BE49-F238E27FC236}">
                <a16:creationId xmlns:a16="http://schemas.microsoft.com/office/drawing/2014/main" id="{B2CE8EFB-9CC7-48B0-B5A1-5C92F88A1147}"/>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Spalte wird pro Row konvertiert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Seek-Prädikat wird unbrauchbar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Schätzung und CPU können leiden</a:t>
            </a:r>
          </a:p>
        </p:txBody>
      </p:sp>
      <p:sp>
        <p:nvSpPr>
          <p:cNvPr id="11" name="conclusion-bg">
            <a:extLst>
              <a:ext uri="{FF2B5EF4-FFF2-40B4-BE49-F238E27FC236}">
                <a16:creationId xmlns:a16="http://schemas.microsoft.com/office/drawing/2014/main" id="{DB778CF3-06DD-4D7A-9122-9FCCC7A9336C}"/>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68892F92-1F1B-43FA-87F3-76E7441429C3}"/>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Datentypen über Tabellen-, Parameter- und Anwendungsschicht ausrichten.</a:t>
            </a:r>
          </a:p>
        </p:txBody>
      </p:sp>
    </p:spTree>
    <p:extLst>
      <p:ext uri="{BB962C8B-B14F-4D97-AF65-F5344CB8AC3E}">
        <p14:creationId xmlns:p14="http://schemas.microsoft.com/office/powerpoint/2010/main" val="1100193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8860D52F-EC18-4C3F-9D59-EA79F436B1E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11E8BE10-528C-40A2-A03D-4E588C8E901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Halboffene Datumsintervalle vermeiden Präzisions- und Tagesendefehler</a:t>
            </a:r>
          </a:p>
        </p:txBody>
      </p:sp>
      <p:sp>
        <p:nvSpPr>
          <p:cNvPr id="3" name="title-rule">
            <a:extLst>
              <a:ext uri="{FF2B5EF4-FFF2-40B4-BE49-F238E27FC236}">
                <a16:creationId xmlns:a16="http://schemas.microsoft.com/office/drawing/2014/main" id="{3C7A979E-C1FA-48FB-B04F-512CE1DC42F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D956BE6E-035F-4A16-98D2-72B28A2D63C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CA678E0-2414-409C-9D2D-C9A1E58C39F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39 / 102</a:t>
            </a:r>
          </a:p>
        </p:txBody>
      </p:sp>
      <p:sp>
        <p:nvSpPr>
          <p:cNvPr id="6" name="bad-label">
            <a:extLst>
              <a:ext uri="{FF2B5EF4-FFF2-40B4-BE49-F238E27FC236}">
                <a16:creationId xmlns:a16="http://schemas.microsoft.com/office/drawing/2014/main" id="{B9E9FEE7-A217-4691-95A8-F2EAA1417F3B}"/>
              </a:ext>
            </a:extLst>
          </p:cNvPr>
          <p:cNvSpPr>
            <a:spLocks noGrp="1"/>
          </p:cNvSpPr>
          <p:nvPr/>
        </p:nvSpPr>
        <p:spPr>
          <a:xfrm>
            <a:off x="609600" y="2133600"/>
            <a:ext cx="4762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C94C4C"/>
                </a:solidFill>
                <a:latin typeface="Aptos"/>
                <a:ea typeface="Aptos"/>
                <a:cs typeface="Aptos"/>
              </a:defRPr>
            </a:pPr>
            <a:r>
              <a:rPr sz="1200" b="1" i="0">
                <a:solidFill>
                  <a:srgbClr val="C94C4C"/>
                </a:solidFill>
                <a:latin typeface="Aptos"/>
                <a:ea typeface="Aptos"/>
                <a:cs typeface="Aptos"/>
              </a:rPr>
              <a:t>UNGÜNSTIGES MUSTER</a:t>
            </a:r>
          </a:p>
        </p:txBody>
      </p:sp>
      <p:sp>
        <p:nvSpPr>
          <p:cNvPr id="7" name="bad-code-bg">
            <a:extLst>
              <a:ext uri="{FF2B5EF4-FFF2-40B4-BE49-F238E27FC236}">
                <a16:creationId xmlns:a16="http://schemas.microsoft.com/office/drawing/2014/main" id="{8BAA2FA0-4B95-4C1A-8596-E318CCD132E1}"/>
              </a:ext>
            </a:extLst>
          </p:cNvPr>
          <p:cNvSpPr>
            <a:spLocks noGrp="1"/>
          </p:cNvSpPr>
          <p:nvPr/>
        </p:nvSpPr>
        <p:spPr>
          <a:xfrm>
            <a:off x="609600" y="2495550"/>
            <a:ext cx="4762500" cy="1143000"/>
          </a:xfrm>
          <a:prstGeom prst="roundRect">
            <a:avLst>
              <a:gd name="adj" fmla="val 6667"/>
            </a:avLst>
          </a:prstGeom>
          <a:solidFill>
            <a:srgbClr val="FFF1F1"/>
          </a:solidFill>
          <a:ln w="9525">
            <a:solidFill>
              <a:srgbClr val="F4C7C7"/>
            </a:solidFill>
            <a:prstDash val="solid"/>
          </a:ln>
        </p:spPr>
        <p:txBody>
          <a:bodyPr/>
          <a:lstStyle/>
          <a:p>
            <a:endParaRPr/>
          </a:p>
        </p:txBody>
      </p:sp>
      <p:sp>
        <p:nvSpPr>
          <p:cNvPr id="8" name="bad-code">
            <a:extLst>
              <a:ext uri="{FF2B5EF4-FFF2-40B4-BE49-F238E27FC236}">
                <a16:creationId xmlns:a16="http://schemas.microsoft.com/office/drawing/2014/main" id="{18D04D14-8AEF-404E-ABC4-C4223047808B}"/>
              </a:ext>
            </a:extLst>
          </p:cNvPr>
          <p:cNvSpPr>
            <a:spLocks noGrp="1"/>
          </p:cNvSpPr>
          <p:nvPr/>
        </p:nvSpPr>
        <p:spPr>
          <a:xfrm>
            <a:off x="838200" y="2724150"/>
            <a:ext cx="4305300" cy="6858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8A2C2C"/>
                </a:solidFill>
                <a:latin typeface="Consolas"/>
                <a:ea typeface="Consolas"/>
                <a:cs typeface="Consolas"/>
              </a:defRPr>
            </a:pPr>
            <a:r>
              <a:rPr sz="1725" b="1" i="0">
                <a:solidFill>
                  <a:srgbClr val="8A2C2C"/>
                </a:solidFill>
                <a:latin typeface="Consolas"/>
                <a:ea typeface="Consolas"/>
                <a:cs typeface="Consolas"/>
              </a:rPr>
              <a:t>WHERE EventTime BETWEEN @From AND '2026-07-23 23:59:59.997'</a:t>
            </a:r>
          </a:p>
        </p:txBody>
      </p:sp>
      <p:sp>
        <p:nvSpPr>
          <p:cNvPr id="9" name="good-label">
            <a:extLst>
              <a:ext uri="{FF2B5EF4-FFF2-40B4-BE49-F238E27FC236}">
                <a16:creationId xmlns:a16="http://schemas.microsoft.com/office/drawing/2014/main" id="{C72835AC-E14D-4B86-8FEA-15E2A6918AAE}"/>
              </a:ext>
            </a:extLst>
          </p:cNvPr>
          <p:cNvSpPr>
            <a:spLocks noGrp="1"/>
          </p:cNvSpPr>
          <p:nvPr/>
        </p:nvSpPr>
        <p:spPr>
          <a:xfrm>
            <a:off x="609600" y="3962400"/>
            <a:ext cx="4762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A9D8F"/>
                </a:solidFill>
                <a:latin typeface="Aptos"/>
                <a:ea typeface="Aptos"/>
                <a:cs typeface="Aptos"/>
              </a:defRPr>
            </a:pPr>
            <a:r>
              <a:rPr sz="1200" b="1" i="0">
                <a:solidFill>
                  <a:srgbClr val="2A9D8F"/>
                </a:solidFill>
                <a:latin typeface="Aptos"/>
                <a:ea typeface="Aptos"/>
                <a:cs typeface="Aptos"/>
              </a:rPr>
              <a:t>BEVORZUGTES MUSTER</a:t>
            </a:r>
          </a:p>
        </p:txBody>
      </p:sp>
      <p:sp>
        <p:nvSpPr>
          <p:cNvPr id="10" name="good-code-bg">
            <a:extLst>
              <a:ext uri="{FF2B5EF4-FFF2-40B4-BE49-F238E27FC236}">
                <a16:creationId xmlns:a16="http://schemas.microsoft.com/office/drawing/2014/main" id="{F75A8646-5D50-4C2B-A50E-99997A81F199}"/>
              </a:ext>
            </a:extLst>
          </p:cNvPr>
          <p:cNvSpPr>
            <a:spLocks noGrp="1"/>
          </p:cNvSpPr>
          <p:nvPr/>
        </p:nvSpPr>
        <p:spPr>
          <a:xfrm>
            <a:off x="609600" y="4324350"/>
            <a:ext cx="4762500" cy="1352550"/>
          </a:xfrm>
          <a:prstGeom prst="roundRect">
            <a:avLst>
              <a:gd name="adj" fmla="val 5634"/>
            </a:avLst>
          </a:prstGeom>
          <a:solidFill>
            <a:srgbClr val="EAF8F2"/>
          </a:solidFill>
          <a:ln w="9525">
            <a:solidFill>
              <a:srgbClr val="B5DECE"/>
            </a:solidFill>
            <a:prstDash val="solid"/>
          </a:ln>
        </p:spPr>
        <p:txBody>
          <a:bodyPr/>
          <a:lstStyle/>
          <a:p>
            <a:endParaRPr/>
          </a:p>
        </p:txBody>
      </p:sp>
      <p:sp>
        <p:nvSpPr>
          <p:cNvPr id="11" name="good-code">
            <a:extLst>
              <a:ext uri="{FF2B5EF4-FFF2-40B4-BE49-F238E27FC236}">
                <a16:creationId xmlns:a16="http://schemas.microsoft.com/office/drawing/2014/main" id="{728949F2-5844-4284-8C33-D6ACDB9B79A1}"/>
              </a:ext>
            </a:extLst>
          </p:cNvPr>
          <p:cNvSpPr>
            <a:spLocks noGrp="1"/>
          </p:cNvSpPr>
          <p:nvPr/>
        </p:nvSpPr>
        <p:spPr>
          <a:xfrm>
            <a:off x="838200" y="4514850"/>
            <a:ext cx="4305300" cy="9906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WHERE EventTime &gt;= @Date</a:t>
            </a:r>
          </a:p>
          <a:p>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  AND EventTime &lt;  DATEADD(day, 1, @Date)</a:t>
            </a:r>
          </a:p>
        </p:txBody>
      </p:sp>
      <p:sp>
        <p:nvSpPr>
          <p:cNvPr id="12" name="code-points">
            <a:extLst>
              <a:ext uri="{FF2B5EF4-FFF2-40B4-BE49-F238E27FC236}">
                <a16:creationId xmlns:a16="http://schemas.microsoft.com/office/drawing/2014/main" id="{003FE4F2-ABF8-4D79-9211-C084A7DC4C0D}"/>
              </a:ext>
            </a:extLst>
          </p:cNvPr>
          <p:cNvSpPr>
            <a:spLocks noGrp="1"/>
          </p:cNvSpPr>
          <p:nvPr/>
        </p:nvSpPr>
        <p:spPr>
          <a:xfrm>
            <a:off x="6057900" y="2419350"/>
            <a:ext cx="5219700" cy="3143250"/>
          </a:xfrm>
          <a:prstGeom prst="rect">
            <a:avLst/>
          </a:prstGeom>
          <a:noFill/>
          <a:ln w="0">
            <a:noFill/>
            <a:prstDash val="solid"/>
          </a:ln>
        </p:spPr>
        <p:txBody>
          <a:bodyPr wrap="square" lIns="0" tIns="0" rIns="0" bIns="0">
            <a:normAutofit/>
          </a:bodyPr>
          <a:lstStyle/>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funktioniert über unterschiedliche Zeitpräzisionen</a:t>
            </a:r>
          </a:p>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vermeidet versteckte letzte Millisekunden</a:t>
            </a:r>
          </a:p>
          <a:p>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bleibt als Range Predicate nutzbar</a:t>
            </a:r>
          </a:p>
        </p:txBody>
      </p:sp>
    </p:spTree>
    <p:extLst>
      <p:ext uri="{BB962C8B-B14F-4D97-AF65-F5344CB8AC3E}">
        <p14:creationId xmlns:p14="http://schemas.microsoft.com/office/powerpoint/2010/main" val="20650565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F993E43C-F304-4E8D-BC5D-626F700348D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11390F30-BEBA-4340-9CB9-7D4E97313727}"/>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Optionale Parameter benötigen eine Strategie für unterschiedliche Selektivität</a:t>
            </a:r>
          </a:p>
        </p:txBody>
      </p:sp>
      <p:sp>
        <p:nvSpPr>
          <p:cNvPr id="3" name="title-rule">
            <a:extLst>
              <a:ext uri="{FF2B5EF4-FFF2-40B4-BE49-F238E27FC236}">
                <a16:creationId xmlns:a16="http://schemas.microsoft.com/office/drawing/2014/main" id="{5EA694E9-4D56-4969-A3F6-37947FDEA698}"/>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2E44F11E-B426-4031-A7B3-66AF0CB363B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854E8F9-5AAD-400F-9FAE-71F47A2B534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40 / 102</a:t>
            </a:r>
          </a:p>
        </p:txBody>
      </p:sp>
      <p:sp>
        <p:nvSpPr>
          <p:cNvPr id="6" name="left-title">
            <a:extLst>
              <a:ext uri="{FF2B5EF4-FFF2-40B4-BE49-F238E27FC236}">
                <a16:creationId xmlns:a16="http://schemas.microsoft.com/office/drawing/2014/main" id="{444C9187-4BEA-436A-8671-6E8A3DA86E4F}"/>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klassisches Muster</a:t>
            </a:r>
          </a:p>
        </p:txBody>
      </p:sp>
      <p:sp>
        <p:nvSpPr>
          <p:cNvPr id="7" name="right-title">
            <a:extLst>
              <a:ext uri="{FF2B5EF4-FFF2-40B4-BE49-F238E27FC236}">
                <a16:creationId xmlns:a16="http://schemas.microsoft.com/office/drawing/2014/main" id="{32D84F2D-1A1A-4363-ABDB-3C5D5E6BE1D1}"/>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Optionen</a:t>
            </a:r>
          </a:p>
        </p:txBody>
      </p:sp>
      <p:sp>
        <p:nvSpPr>
          <p:cNvPr id="8" name="middle-rule">
            <a:extLst>
              <a:ext uri="{FF2B5EF4-FFF2-40B4-BE49-F238E27FC236}">
                <a16:creationId xmlns:a16="http://schemas.microsoft.com/office/drawing/2014/main" id="{0F8A3406-3017-4BB9-8141-CC70D528321B}"/>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DB91CB32-E66F-4298-B968-AF784DB5B0A2}"/>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WHERE Col = @p OR @p IS NULL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eine Form muss Seek und Scan abdecken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 Sensitivity möglich</a:t>
            </a:r>
          </a:p>
        </p:txBody>
      </p:sp>
      <p:sp>
        <p:nvSpPr>
          <p:cNvPr id="10" name="right-points">
            <a:extLst>
              <a:ext uri="{FF2B5EF4-FFF2-40B4-BE49-F238E27FC236}">
                <a16:creationId xmlns:a16="http://schemas.microsoft.com/office/drawing/2014/main" id="{6E5A29D8-C16E-4EFA-8135-1F0112BDB8D8}"/>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parameterisierte Dynamic SQL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gezieltes RECOMPILE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SQL Server 2025: OPPO bei CL 170</a:t>
            </a:r>
          </a:p>
        </p:txBody>
      </p:sp>
      <p:sp>
        <p:nvSpPr>
          <p:cNvPr id="11" name="conclusion-bg">
            <a:extLst>
              <a:ext uri="{FF2B5EF4-FFF2-40B4-BE49-F238E27FC236}">
                <a16:creationId xmlns:a16="http://schemas.microsoft.com/office/drawing/2014/main" id="{C59B679E-664B-4DF6-A20A-952A4C2278E7}"/>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CEF8F979-57C8-4A09-ADBD-653453189C88}"/>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OPPO erzeugt Varianten für geeignete optionale Prädikate – nicht für jedes dynamische Suchproblem.</a:t>
            </a:r>
          </a:p>
        </p:txBody>
      </p:sp>
    </p:spTree>
    <p:extLst>
      <p:ext uri="{BB962C8B-B14F-4D97-AF65-F5344CB8AC3E}">
        <p14:creationId xmlns:p14="http://schemas.microsoft.com/office/powerpoint/2010/main" val="327382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4769B3DD-2737-41F9-9FE1-B5012807E59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158154DD-E08E-40D8-B0FC-1063EDB55EF0}"/>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fontScale="97232"/>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CTE ist eine Namens- und Strukturierungshilfe – keine Materialisierungsgarantie</a:t>
            </a:r>
          </a:p>
        </p:txBody>
      </p:sp>
      <p:sp>
        <p:nvSpPr>
          <p:cNvPr id="3" name="title-rule">
            <a:extLst>
              <a:ext uri="{FF2B5EF4-FFF2-40B4-BE49-F238E27FC236}">
                <a16:creationId xmlns:a16="http://schemas.microsoft.com/office/drawing/2014/main" id="{80E600C7-33C3-4379-8C40-B870CC07726A}"/>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D462FE3F-C400-4819-913F-9224A154A1A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DD801D5-CDF0-48CC-B053-FB6B394CECB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41 / 102</a:t>
            </a:r>
          </a:p>
        </p:txBody>
      </p:sp>
      <p:sp>
        <p:nvSpPr>
          <p:cNvPr id="6" name="lead">
            <a:extLst>
              <a:ext uri="{FF2B5EF4-FFF2-40B4-BE49-F238E27FC236}">
                <a16:creationId xmlns:a16="http://schemas.microsoft.com/office/drawing/2014/main" id="{554C448B-F9DE-4FA8-8482-F558E3998CCA}"/>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Optimizer kann die Definition einbetten, mehrfach auswerten oder über Spool/Worktable zwischenspeichern.</a:t>
            </a:r>
          </a:p>
        </p:txBody>
      </p:sp>
      <p:sp>
        <p:nvSpPr>
          <p:cNvPr id="7" name="lead-accent">
            <a:extLst>
              <a:ext uri="{FF2B5EF4-FFF2-40B4-BE49-F238E27FC236}">
                <a16:creationId xmlns:a16="http://schemas.microsoft.com/office/drawing/2014/main" id="{EC7111C4-83F2-430B-8F76-4418D727A7F8}"/>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8EF64665-C41B-43EC-923A-05A572EF1542}"/>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Plan und tatsächliche Ausführungsanzahl entscheiden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Mehrfachreferenzen können wiederholte Arbeit verursachen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Temp Table trennt Phasen und erzeugt Statistiken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Rekursion benötigt Abbruch, Wachstumskontrolle und geeignete Evidenz</a:t>
            </a:r>
          </a:p>
        </p:txBody>
      </p:sp>
    </p:spTree>
    <p:extLst>
      <p:ext uri="{BB962C8B-B14F-4D97-AF65-F5344CB8AC3E}">
        <p14:creationId xmlns:p14="http://schemas.microsoft.com/office/powerpoint/2010/main" val="885801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2FAB78BF-526B-46D0-B3FE-8FFC4851F58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965E804C-62E0-4E14-81F1-956F56F6EA4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Temp Table und Table Variable haben unterschiedliche Optimizer-Eigenschaften</a:t>
            </a:r>
          </a:p>
        </p:txBody>
      </p:sp>
      <p:sp>
        <p:nvSpPr>
          <p:cNvPr id="3" name="title-rule">
            <a:extLst>
              <a:ext uri="{FF2B5EF4-FFF2-40B4-BE49-F238E27FC236}">
                <a16:creationId xmlns:a16="http://schemas.microsoft.com/office/drawing/2014/main" id="{AE933AAB-96B7-4C19-8EA3-FD73C883464D}"/>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4232FD0-7BD5-497A-ADDB-7C430D90F9A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36BBA92-95FA-4285-B261-1024D499A521}"/>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42 / 102</a:t>
            </a:r>
          </a:p>
        </p:txBody>
      </p:sp>
      <p:graphicFrame>
        <p:nvGraphicFramePr>
          <p:cNvPr id="14" name="Tabelle 13"/>
          <p:cNvGraphicFramePr/>
          <p:nvPr/>
        </p:nvGraphicFramePr>
        <p:xfrm>
          <a:off x="609600" y="2171700"/>
          <a:ext cx="10668000" cy="352425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400" b="1">
                          <a:solidFill>
                            <a:srgbClr val="FFFFFF"/>
                          </a:solidFill>
                          <a:latin typeface="Aptos"/>
                          <a:ea typeface="Aptos"/>
                          <a:cs typeface="Aptos"/>
                        </a:rPr>
                        <a:t>Eigenschaft</a:t>
                      </a:r>
                    </a:p>
                  </a:txBody>
                  <a:tcPr>
                    <a:solidFill>
                      <a:srgbClr val="0B1F33"/>
                    </a:solidFill>
                  </a:tcPr>
                </a:tc>
                <a:tc>
                  <a:txBody>
                    <a:bodyPr/>
                    <a:lstStyle/>
                    <a:p>
                      <a:r>
                        <a:rPr sz="1400" b="1">
                          <a:solidFill>
                            <a:srgbClr val="FFFFFF"/>
                          </a:solidFill>
                          <a:latin typeface="Aptos"/>
                          <a:ea typeface="Aptos"/>
                          <a:cs typeface="Aptos"/>
                        </a:rPr>
                        <a:t>#Temp Table</a:t>
                      </a:r>
                    </a:p>
                  </a:txBody>
                  <a:tcPr>
                    <a:solidFill>
                      <a:srgbClr val="0B1F33"/>
                    </a:solidFill>
                  </a:tcPr>
                </a:tc>
                <a:tc>
                  <a:txBody>
                    <a:bodyPr/>
                    <a:lstStyle/>
                    <a:p>
                      <a:r>
                        <a:rPr sz="1400" b="1">
                          <a:solidFill>
                            <a:srgbClr val="FFFFFF"/>
                          </a:solidFill>
                          <a:latin typeface="Aptos"/>
                          <a:ea typeface="Aptos"/>
                          <a:cs typeface="Aptos"/>
                        </a:rPr>
                        <a:t>@Table Variable</a:t>
                      </a:r>
                    </a:p>
                  </a:txBody>
                  <a:tcPr>
                    <a:solidFill>
                      <a:srgbClr val="0B1F33"/>
                    </a:solidFill>
                  </a:tcPr>
                </a:tc>
                <a:extLst>
                  <a:ext uri="{0D108BD9-81ED-4DB2-BD59-A6C34878D82A}">
                    <a16:rowId xmlns:a16="http://schemas.microsoft.com/office/drawing/2014/main" val="10000"/>
                  </a:ext>
                </a:extLst>
              </a:tr>
              <a:tr h="704850">
                <a:tc>
                  <a:txBody>
                    <a:bodyPr/>
                    <a:lstStyle/>
                    <a:p>
                      <a:r>
                        <a:rPr sz="1230">
                          <a:solidFill>
                            <a:srgbClr val="243B53"/>
                          </a:solidFill>
                          <a:latin typeface="Aptos"/>
                          <a:ea typeface="Aptos"/>
                          <a:cs typeface="Aptos"/>
                        </a:rPr>
                        <a:t>Statistiken</a:t>
                      </a:r>
                    </a:p>
                  </a:txBody>
                  <a:tcPr>
                    <a:solidFill>
                      <a:srgbClr val="FFFFFF"/>
                    </a:solidFill>
                  </a:tcPr>
                </a:tc>
                <a:tc>
                  <a:txBody>
                    <a:bodyPr/>
                    <a:lstStyle/>
                    <a:p>
                      <a:r>
                        <a:rPr sz="1230">
                          <a:solidFill>
                            <a:srgbClr val="243B53"/>
                          </a:solidFill>
                          <a:latin typeface="Aptos"/>
                          <a:ea typeface="Aptos"/>
                          <a:cs typeface="Aptos"/>
                        </a:rPr>
                        <a:t>Spaltenstatistiken und Histogramme möglich</a:t>
                      </a:r>
                    </a:p>
                  </a:txBody>
                  <a:tcPr>
                    <a:solidFill>
                      <a:srgbClr val="FFFFFF"/>
                    </a:solidFill>
                  </a:tcPr>
                </a:tc>
                <a:tc>
                  <a:txBody>
                    <a:bodyPr/>
                    <a:lstStyle/>
                    <a:p>
                      <a:r>
                        <a:rPr sz="1230">
                          <a:solidFill>
                            <a:srgbClr val="243B53"/>
                          </a:solidFill>
                          <a:latin typeface="Aptos"/>
                          <a:ea typeface="Aptos"/>
                          <a:cs typeface="Aptos"/>
                        </a:rPr>
                        <a:t>keine klassischen Spaltenstatistiken oder Histogramme</a:t>
                      </a:r>
                    </a:p>
                  </a:txBody>
                  <a:tcPr>
                    <a:solidFill>
                      <a:srgbClr val="FFFFFF"/>
                    </a:solidFill>
                  </a:tcPr>
                </a:tc>
                <a:extLst>
                  <a:ext uri="{0D108BD9-81ED-4DB2-BD59-A6C34878D82A}">
                    <a16:rowId xmlns:a16="http://schemas.microsoft.com/office/drawing/2014/main" val="10001"/>
                  </a:ext>
                </a:extLst>
              </a:tr>
              <a:tr h="704850">
                <a:tc>
                  <a:txBody>
                    <a:bodyPr/>
                    <a:lstStyle/>
                    <a:p>
                      <a:r>
                        <a:rPr sz="1230">
                          <a:solidFill>
                            <a:srgbClr val="243B53"/>
                          </a:solidFill>
                          <a:latin typeface="Aptos"/>
                          <a:ea typeface="Aptos"/>
                          <a:cs typeface="Aptos"/>
                        </a:rPr>
                        <a:t>Erstkompilierung</a:t>
                      </a:r>
                    </a:p>
                  </a:txBody>
                  <a:tcPr>
                    <a:solidFill>
                      <a:srgbClr val="EDF2F7"/>
                    </a:solidFill>
                  </a:tcPr>
                </a:tc>
                <a:tc>
                  <a:txBody>
                    <a:bodyPr/>
                    <a:lstStyle/>
                    <a:p>
                      <a:r>
                        <a:rPr sz="1230">
                          <a:solidFill>
                            <a:srgbClr val="243B53"/>
                          </a:solidFill>
                          <a:latin typeface="Aptos"/>
                          <a:ea typeface="Aptos"/>
                          <a:cs typeface="Aptos"/>
                        </a:rPr>
                        <a:t>nach Befüllungsphase oder Recompile mit aktueller Kardinalität möglich</a:t>
                      </a:r>
                    </a:p>
                  </a:txBody>
                  <a:tcPr>
                    <a:solidFill>
                      <a:srgbClr val="EDF2F7"/>
                    </a:solidFill>
                  </a:tcPr>
                </a:tc>
                <a:tc>
                  <a:txBody>
                    <a:bodyPr/>
                    <a:lstStyle/>
                    <a:p>
                      <a:r>
                        <a:rPr sz="1230">
                          <a:solidFill>
                            <a:srgbClr val="243B53"/>
                          </a:solidFill>
                          <a:latin typeface="Aptos"/>
                          <a:ea typeface="Aptos"/>
                          <a:cs typeface="Aptos"/>
                        </a:rPr>
                        <a:t>ab CL 150: Zeilenzahl bei erster Kompilierung</a:t>
                      </a:r>
                    </a:p>
                  </a:txBody>
                  <a:tcPr>
                    <a:solidFill>
                      <a:srgbClr val="EDF2F7"/>
                    </a:solidFill>
                  </a:tcPr>
                </a:tc>
                <a:extLst>
                  <a:ext uri="{0D108BD9-81ED-4DB2-BD59-A6C34878D82A}">
                    <a16:rowId xmlns:a16="http://schemas.microsoft.com/office/drawing/2014/main" val="10002"/>
                  </a:ext>
                </a:extLst>
              </a:tr>
              <a:tr h="704850">
                <a:tc>
                  <a:txBody>
                    <a:bodyPr/>
                    <a:lstStyle/>
                    <a:p>
                      <a:r>
                        <a:rPr sz="1230">
                          <a:solidFill>
                            <a:srgbClr val="243B53"/>
                          </a:solidFill>
                          <a:latin typeface="Aptos"/>
                          <a:ea typeface="Aptos"/>
                          <a:cs typeface="Aptos"/>
                        </a:rPr>
                        <a:t>Planwiederverwendung</a:t>
                      </a:r>
                    </a:p>
                  </a:txBody>
                  <a:tcPr>
                    <a:solidFill>
                      <a:srgbClr val="FFFFFF"/>
                    </a:solidFill>
                  </a:tcPr>
                </a:tc>
                <a:tc>
                  <a:txBody>
                    <a:bodyPr/>
                    <a:lstStyle/>
                    <a:p>
                      <a:r>
                        <a:rPr sz="1230">
                          <a:solidFill>
                            <a:srgbClr val="243B53"/>
                          </a:solidFill>
                          <a:latin typeface="Aptos"/>
                          <a:ea typeface="Aptos"/>
                          <a:cs typeface="Aptos"/>
                        </a:rPr>
                        <a:t>Statistik- oder Schemaänderung kann Recompile auslösen</a:t>
                      </a:r>
                    </a:p>
                  </a:txBody>
                  <a:tcPr>
                    <a:solidFill>
                      <a:srgbClr val="FFFFFF"/>
                    </a:solidFill>
                  </a:tcPr>
                </a:tc>
                <a:tc>
                  <a:txBody>
                    <a:bodyPr/>
                    <a:lstStyle/>
                    <a:p>
                      <a:r>
                        <a:rPr sz="1230">
                          <a:solidFill>
                            <a:srgbClr val="243B53"/>
                          </a:solidFill>
                          <a:latin typeface="Aptos"/>
                          <a:ea typeface="Aptos"/>
                          <a:cs typeface="Aptos"/>
                        </a:rPr>
                        <a:t>Plan kann auf erster Zeilenzahl beruhen; Verteilung bleibt unsichtbar</a:t>
                      </a:r>
                    </a:p>
                  </a:txBody>
                  <a:tcPr>
                    <a:solidFill>
                      <a:srgbClr val="FFFFFF"/>
                    </a:solidFill>
                  </a:tcPr>
                </a:tc>
                <a:extLst>
                  <a:ext uri="{0D108BD9-81ED-4DB2-BD59-A6C34878D82A}">
                    <a16:rowId xmlns:a16="http://schemas.microsoft.com/office/drawing/2014/main" val="10003"/>
                  </a:ext>
                </a:extLst>
              </a:tr>
              <a:tr h="704850">
                <a:tc>
                  <a:txBody>
                    <a:bodyPr/>
                    <a:lstStyle/>
                    <a:p>
                      <a:r>
                        <a:rPr sz="1230">
                          <a:solidFill>
                            <a:srgbClr val="243B53"/>
                          </a:solidFill>
                          <a:latin typeface="Aptos"/>
                          <a:ea typeface="Aptos"/>
                          <a:cs typeface="Aptos"/>
                        </a:rPr>
                        <a:t>Entscheidung</a:t>
                      </a:r>
                    </a:p>
                  </a:txBody>
                  <a:tcPr>
                    <a:solidFill>
                      <a:srgbClr val="EDF2F7"/>
                    </a:solidFill>
                  </a:tcPr>
                </a:tc>
                <a:tc>
                  <a:txBody>
                    <a:bodyPr/>
                    <a:lstStyle/>
                    <a:p>
                      <a:r>
                        <a:rPr sz="1230">
                          <a:solidFill>
                            <a:srgbClr val="243B53"/>
                          </a:solidFill>
                          <a:latin typeface="Aptos"/>
                          <a:ea typeface="Aptos"/>
                          <a:cs typeface="Aptos"/>
                        </a:rPr>
                        <a:t>bei schwankender Menge oder verteilungsabhängiger Optimierung prüfen</a:t>
                      </a:r>
                    </a:p>
                  </a:txBody>
                  <a:tcPr>
                    <a:solidFill>
                      <a:srgbClr val="EDF2F7"/>
                    </a:solidFill>
                  </a:tcPr>
                </a:tc>
                <a:tc>
                  <a:txBody>
                    <a:bodyPr/>
                    <a:lstStyle/>
                    <a:p>
                      <a:r>
                        <a:rPr sz="1230">
                          <a:solidFill>
                            <a:srgbClr val="243B53"/>
                          </a:solidFill>
                          <a:latin typeface="Aptos"/>
                          <a:ea typeface="Aptos"/>
                          <a:cs typeface="Aptos"/>
                        </a:rPr>
                        <a:t>nicht pauschal „klein“; Plan und Messung entscheiden</a:t>
                      </a:r>
                    </a:p>
                  </a:txBody>
                  <a:tcPr>
                    <a:solidFill>
                      <a:srgbClr val="EDF2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72808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8A76BCB8-FA34-473A-8575-89F0A139191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D82EDB75-7E75-4CD1-AA0E-9484AF7BE9D3}"/>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Optimizer-Integration hängt von Funktionsform und Eligibility ab</a:t>
            </a:r>
          </a:p>
        </p:txBody>
      </p:sp>
      <p:sp>
        <p:nvSpPr>
          <p:cNvPr id="3" name="title-rule">
            <a:extLst>
              <a:ext uri="{FF2B5EF4-FFF2-40B4-BE49-F238E27FC236}">
                <a16:creationId xmlns:a16="http://schemas.microsoft.com/office/drawing/2014/main" id="{DFCE9B76-E04B-4C3F-8159-3BC041694248}"/>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084BFC0E-637B-4F86-B7F7-5EE70577450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FB4E9EB-CA41-428C-8BB0-FD5E9097C7D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43 / 102</a:t>
            </a:r>
          </a:p>
        </p:txBody>
      </p:sp>
      <p:sp>
        <p:nvSpPr>
          <p:cNvPr id="6" name="left-title">
            <a:extLst>
              <a:ext uri="{FF2B5EF4-FFF2-40B4-BE49-F238E27FC236}">
                <a16:creationId xmlns:a16="http://schemas.microsoft.com/office/drawing/2014/main" id="{4C2E4754-39EC-4012-962D-8DA31AB6D881}"/>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000" b="1" i="0">
                <a:solidFill>
                  <a:srgbClr val="007C83"/>
                </a:solidFill>
                <a:latin typeface="Aptos"/>
                <a:ea typeface="Aptos"/>
                <a:cs typeface="Aptos"/>
              </a:defRPr>
            </a:pPr>
            <a:r>
              <a:rPr sz="2000" b="1" i="0">
                <a:solidFill>
                  <a:srgbClr val="007C83"/>
                </a:solidFill>
                <a:latin typeface="Aptos"/>
                <a:ea typeface="Aptos"/>
                <a:cs typeface="Aptos"/>
              </a:rPr>
              <a:t>relational sichtbar</a:t>
            </a:r>
          </a:p>
        </p:txBody>
      </p:sp>
      <p:sp>
        <p:nvSpPr>
          <p:cNvPr id="7" name="right-title">
            <a:extLst>
              <a:ext uri="{FF2B5EF4-FFF2-40B4-BE49-F238E27FC236}">
                <a16:creationId xmlns:a16="http://schemas.microsoft.com/office/drawing/2014/main" id="{52CF9F54-78AB-49B2-BD48-CD6F0312E5BE}"/>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000" b="1" i="0">
                <a:solidFill>
                  <a:srgbClr val="F4A261"/>
                </a:solidFill>
                <a:latin typeface="Aptos"/>
                <a:ea typeface="Aptos"/>
                <a:cs typeface="Aptos"/>
              </a:defRPr>
            </a:pPr>
            <a:r>
              <a:rPr sz="2000" b="1" i="0">
                <a:solidFill>
                  <a:srgbClr val="F4A261"/>
                </a:solidFill>
                <a:latin typeface="Aptos"/>
                <a:ea typeface="Aptos"/>
                <a:cs typeface="Aptos"/>
              </a:rPr>
              <a:t>begrenzte Sichtbarkeit</a:t>
            </a:r>
          </a:p>
        </p:txBody>
      </p:sp>
      <p:sp>
        <p:nvSpPr>
          <p:cNvPr id="8" name="middle-rule">
            <a:extLst>
              <a:ext uri="{FF2B5EF4-FFF2-40B4-BE49-F238E27FC236}">
                <a16:creationId xmlns:a16="http://schemas.microsoft.com/office/drawing/2014/main" id="{C4DF8C46-7F68-410B-ADE9-6BF8149CFFC8}"/>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3BD39BB9-E2EE-489F-B22B-32E6D96B1D61}"/>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Inline TVF: Ausdruck wird in die aufrufende Query integriert</a:t>
            </a:r>
          </a:p>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Scalar UDF Inlining ab CL 150 – nur bei geeigneter Definition und Aufrufstelle</a:t>
            </a:r>
          </a:p>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Bei erfolgreichem Inlining enthält der Plan keinen UDF-Operator</a:t>
            </a:r>
          </a:p>
        </p:txBody>
      </p:sp>
      <p:sp>
        <p:nvSpPr>
          <p:cNvPr id="10" name="right-points">
            <a:extLst>
              <a:ext uri="{FF2B5EF4-FFF2-40B4-BE49-F238E27FC236}">
                <a16:creationId xmlns:a16="http://schemas.microsoft.com/office/drawing/2014/main" id="{6BD131CA-2E2D-4D56-A07D-C59D682357EA}"/>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MSTVF materialisiert eine Rückgabetabelle ohne Spaltenstatistiken</a:t>
            </a:r>
          </a:p>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Interleaved Execution ab CL 140 kann bei geeigneten Leseabfragen die erste Kardinalität übernehmen</a:t>
            </a:r>
          </a:p>
          <a:p>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Nicht inlinebare Scalar UDF: iterative Ausführung und verborgene Kosten möglich</a:t>
            </a:r>
          </a:p>
        </p:txBody>
      </p:sp>
      <p:sp>
        <p:nvSpPr>
          <p:cNvPr id="11" name="conclusion-bg">
            <a:extLst>
              <a:ext uri="{FF2B5EF4-FFF2-40B4-BE49-F238E27FC236}">
                <a16:creationId xmlns:a16="http://schemas.microsoft.com/office/drawing/2014/main" id="{64575AE0-9248-40A5-B2EC-4136109AF8B3}"/>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A74B05CE-0847-4C40-B4B8-CA21587E6E0D}"/>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550" b="1" i="0">
                <a:solidFill>
                  <a:srgbClr val="FFFFFF"/>
                </a:solidFill>
                <a:latin typeface="Aptos"/>
                <a:ea typeface="Aptos"/>
                <a:cs typeface="Aptos"/>
              </a:defRPr>
            </a:pPr>
            <a:r>
              <a:rPr sz="1550" b="1" i="0">
                <a:solidFill>
                  <a:srgbClr val="FFFFFF"/>
                </a:solidFill>
                <a:latin typeface="Aptos"/>
                <a:ea typeface="Aptos"/>
                <a:cs typeface="Aptos"/>
              </a:rPr>
              <a:t>is_inlineable ist nur ein Hinweis: Actual Plan und Voraussetzungen entscheiden.</a:t>
            </a:r>
          </a:p>
        </p:txBody>
      </p:sp>
    </p:spTree>
    <p:extLst>
      <p:ext uri="{BB962C8B-B14F-4D97-AF65-F5344CB8AC3E}">
        <p14:creationId xmlns:p14="http://schemas.microsoft.com/office/powerpoint/2010/main" val="1267954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62601014-A6B7-4A28-AA39-06705BDE227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00D61008-1C3D-4B37-A839-5C55999D3C0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Partition Elimination reduziert nur dann Arbeit, wenn der Partition Key ableitbar ist</a:t>
            </a:r>
          </a:p>
        </p:txBody>
      </p:sp>
      <p:sp>
        <p:nvSpPr>
          <p:cNvPr id="3" name="title-rule">
            <a:extLst>
              <a:ext uri="{FF2B5EF4-FFF2-40B4-BE49-F238E27FC236}">
                <a16:creationId xmlns:a16="http://schemas.microsoft.com/office/drawing/2014/main" id="{21FD100E-DB40-4A04-82B3-E12DC4C4AAA6}"/>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02D33CFB-CD4F-40CD-AED6-2D48889807DB}"/>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07BA86C-5C07-4E00-83DC-BEF48F27187B}"/>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44 / 102</a:t>
            </a:r>
          </a:p>
        </p:txBody>
      </p:sp>
      <p:sp>
        <p:nvSpPr>
          <p:cNvPr id="6" name="lead">
            <a:extLst>
              <a:ext uri="{FF2B5EF4-FFF2-40B4-BE49-F238E27FC236}">
                <a16:creationId xmlns:a16="http://schemas.microsoft.com/office/drawing/2014/main" id="{EE2427C4-987C-46D2-932D-D6D59726A3AA}"/>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Die Query muss statisch oder dynamisch erkennen lassen, welche Partitionen relevant sind.</a:t>
            </a:r>
          </a:p>
        </p:txBody>
      </p:sp>
      <p:sp>
        <p:nvSpPr>
          <p:cNvPr id="7" name="lead-accent">
            <a:extLst>
              <a:ext uri="{FF2B5EF4-FFF2-40B4-BE49-F238E27FC236}">
                <a16:creationId xmlns:a16="http://schemas.microsoft.com/office/drawing/2014/main" id="{9AE2E6F1-1A36-4F7E-924C-62545D2192D6}"/>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4A0CA832-E657-4AA4-89BF-2DDCA501B2E5}"/>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Prädikat auf kompatiblem Partition Key</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keine verdeckende Konvertierung oder ungeeignete Funktion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Actual Plan und Partition-Range-Eigenschaften prüfen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Partitionierung bleibt primär Management und Datenlebenszyklus</a:t>
            </a:r>
          </a:p>
        </p:txBody>
      </p:sp>
    </p:spTree>
    <p:extLst>
      <p:ext uri="{BB962C8B-B14F-4D97-AF65-F5344CB8AC3E}">
        <p14:creationId xmlns:p14="http://schemas.microsoft.com/office/powerpoint/2010/main" val="1099886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DE01ACB0-F582-467A-945D-ECE839D61EA7}"/>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86D8BC28-8C00-417B-A0D2-A2BF0FFD2B1B}"/>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fontScale="95443"/>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Remote Queries sind nur dann effizient, wenn Filter und Joins tatsächlich remote ausgeführt werden</a:t>
            </a:r>
          </a:p>
        </p:txBody>
      </p:sp>
      <p:sp>
        <p:nvSpPr>
          <p:cNvPr id="3" name="title-rule">
            <a:extLst>
              <a:ext uri="{FF2B5EF4-FFF2-40B4-BE49-F238E27FC236}">
                <a16:creationId xmlns:a16="http://schemas.microsoft.com/office/drawing/2014/main" id="{3DA07C60-9161-4708-8C3C-E1DD0422445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71D24BC-14C3-43DD-8B1E-48D0877D828A}"/>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E25C07B2-ADA3-42D9-8DC5-88DA040EEB2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45 / 102</a:t>
            </a:r>
          </a:p>
        </p:txBody>
      </p:sp>
      <p:sp>
        <p:nvSpPr>
          <p:cNvPr id="6" name="left-title">
            <a:extLst>
              <a:ext uri="{FF2B5EF4-FFF2-40B4-BE49-F238E27FC236}">
                <a16:creationId xmlns:a16="http://schemas.microsoft.com/office/drawing/2014/main" id="{8AEB363C-531A-41D2-B12E-DDFC4F2FCF76}"/>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gewünschtes Verhalten</a:t>
            </a:r>
          </a:p>
        </p:txBody>
      </p:sp>
      <p:sp>
        <p:nvSpPr>
          <p:cNvPr id="7" name="right-title">
            <a:extLst>
              <a:ext uri="{FF2B5EF4-FFF2-40B4-BE49-F238E27FC236}">
                <a16:creationId xmlns:a16="http://schemas.microsoft.com/office/drawing/2014/main" id="{E649336A-59A8-48FF-B422-C67BD4A0413F}"/>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Risiko</a:t>
            </a:r>
          </a:p>
        </p:txBody>
      </p:sp>
      <p:sp>
        <p:nvSpPr>
          <p:cNvPr id="8" name="middle-rule">
            <a:extLst>
              <a:ext uri="{FF2B5EF4-FFF2-40B4-BE49-F238E27FC236}">
                <a16:creationId xmlns:a16="http://schemas.microsoft.com/office/drawing/2014/main" id="{C14E7CE4-1B1E-4684-A234-5121ED9D0CB6}"/>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10DEDA05-DD6E-4DC6-BB6D-DDB1B5C1E5D5}"/>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Predicate Pushdown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kleines Resultset über das Netzwerk</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Remote Query im Plan nachvollziehbar</a:t>
            </a:r>
          </a:p>
        </p:txBody>
      </p:sp>
      <p:sp>
        <p:nvSpPr>
          <p:cNvPr id="10" name="right-points">
            <a:extLst>
              <a:ext uri="{FF2B5EF4-FFF2-40B4-BE49-F238E27FC236}">
                <a16:creationId xmlns:a16="http://schemas.microsoft.com/office/drawing/2014/main" id="{9543A1E3-40F0-4F5F-BB68-637216AF765B}"/>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große Datenmenge lokal gefiltert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Provider- und Collationgrenzen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zeilenweiser Roundtrip</a:t>
            </a:r>
          </a:p>
        </p:txBody>
      </p:sp>
      <p:sp>
        <p:nvSpPr>
          <p:cNvPr id="11" name="conclusion-bg">
            <a:extLst>
              <a:ext uri="{FF2B5EF4-FFF2-40B4-BE49-F238E27FC236}">
                <a16:creationId xmlns:a16="http://schemas.microsoft.com/office/drawing/2014/main" id="{EE552A24-B0B9-4006-BFE2-C4CF4B5360A5}"/>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C684A994-5B68-4B3D-A7D6-E07EBA11CA05}"/>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Nicht aus Syntax auf Pushdown schließen – Plan und Netzwerkmengen messen.</a:t>
            </a:r>
          </a:p>
        </p:txBody>
      </p:sp>
    </p:spTree>
    <p:extLst>
      <p:ext uri="{BB962C8B-B14F-4D97-AF65-F5344CB8AC3E}">
        <p14:creationId xmlns:p14="http://schemas.microsoft.com/office/powerpoint/2010/main" val="349744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C491C796-9C3E-4560-B5EA-73661663406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a:ext uri="{FF2B5EF4-FFF2-40B4-BE49-F238E27FC236}">
                <a16:creationId xmlns:a16="http://schemas.microsoft.com/office/drawing/2014/main" id="{BBCB976E-8832-4B71-8B44-942B12B0BF8E}"/>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Datenmodell und Datentypen bestimmen die Obergrenze jeder späteren Optimierung</a:t>
            </a:r>
          </a:p>
        </p:txBody>
      </p:sp>
      <p:sp>
        <p:nvSpPr>
          <p:cNvPr id="3" name="title-rule">
            <a:extLst>
              <a:ext uri="{FF2B5EF4-FFF2-40B4-BE49-F238E27FC236}">
                <a16:creationId xmlns:a16="http://schemas.microsoft.com/office/drawing/2014/main" id="{0B546083-ECDA-4273-A893-69BA148376AF}"/>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0BBCD30B-1C00-44DC-BCA0-8869F927AA3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9D8F02D-94EE-45A8-8176-FB8C7B54A56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46 / 102</a:t>
            </a:r>
          </a:p>
        </p:txBody>
      </p:sp>
      <p:sp>
        <p:nvSpPr>
          <p:cNvPr id="6" name="lead">
            <a:extLst>
              <a:ext uri="{FF2B5EF4-FFF2-40B4-BE49-F238E27FC236}">
                <a16:creationId xmlns:a16="http://schemas.microsoft.com/office/drawing/2014/main" id="{FCF7A621-C761-4B98-AEE4-2027322A7066}"/>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Schlüsselbreite, NULLability, Stringtypen und Normalisierung wirken auf Rows, Indizes, Joins und Grants.</a:t>
            </a:r>
          </a:p>
        </p:txBody>
      </p:sp>
      <p:sp>
        <p:nvSpPr>
          <p:cNvPr id="7" name="lead-accent">
            <a:extLst>
              <a:ext uri="{FF2B5EF4-FFF2-40B4-BE49-F238E27FC236}">
                <a16:creationId xmlns:a16="http://schemas.microsoft.com/office/drawing/2014/main" id="{DD221E6A-2348-49B2-A76A-00845CD4F1B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A3A43633-0AE1-4FDF-B411-735DEA3029BE}"/>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kleinster fachlich korrekter Datentyp</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gleiche Typen an Join- und Filtergrenzen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Constraints als Daten- und Optimizervertrag</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berechnete Werte nur mit klarer Persistenz- und Indexstrategie</a:t>
            </a:r>
          </a:p>
        </p:txBody>
      </p:sp>
    </p:spTree>
    <p:extLst>
      <p:ext uri="{BB962C8B-B14F-4D97-AF65-F5344CB8AC3E}">
        <p14:creationId xmlns:p14="http://schemas.microsoft.com/office/powerpoint/2010/main" val="20414646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A662741A-CF77-4BBA-A890-77A86041DBFD}"/>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3 · WISSENSKONTROLLE</a:t>
            </a:r>
          </a:p>
        </p:txBody>
      </p:sp>
      <p:sp>
        <p:nvSpPr>
          <p:cNvPr id="2" name="question">
            <a:extLst>
              <a:ext uri="{FF2B5EF4-FFF2-40B4-BE49-F238E27FC236}">
                <a16:creationId xmlns:a16="http://schemas.microsoft.com/office/drawing/2014/main" id="{C5C7477D-29D0-4297-926A-9626D633C2CB}"/>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Warum kann ein 'sargables' Prädikat trotzdem zu einem Scan führen?</a:t>
            </a:r>
          </a:p>
        </p:txBody>
      </p:sp>
      <p:sp>
        <p:nvSpPr>
          <p:cNvPr id="3" name="question-rule">
            <a:extLst>
              <a:ext uri="{FF2B5EF4-FFF2-40B4-BE49-F238E27FC236}">
                <a16:creationId xmlns:a16="http://schemas.microsoft.com/office/drawing/2014/main" id="{9042CC7E-F7CC-4F46-80A8-BFB7A0C74FA4}"/>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B984CCD8-F78F-4B27-9081-001BFC544B8B}"/>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533D639C-D006-4DCC-918B-872CBB190BD5}"/>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geringe Selektivität</a:t>
            </a:r>
          </a:p>
        </p:txBody>
      </p:sp>
      <p:sp>
        <p:nvSpPr>
          <p:cNvPr id="6" name="prompt-num-1">
            <a:extLst>
              <a:ext uri="{FF2B5EF4-FFF2-40B4-BE49-F238E27FC236}">
                <a16:creationId xmlns:a16="http://schemas.microsoft.com/office/drawing/2014/main" id="{8C06E1AD-8B43-43CE-82F8-002698C258D6}"/>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798BB786-9C21-492A-B0EA-16B7CDE86DF1}"/>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Lookup-Kosten</a:t>
            </a:r>
          </a:p>
        </p:txBody>
      </p:sp>
      <p:sp>
        <p:nvSpPr>
          <p:cNvPr id="8" name="prompt-num-2">
            <a:extLst>
              <a:ext uri="{FF2B5EF4-FFF2-40B4-BE49-F238E27FC236}">
                <a16:creationId xmlns:a16="http://schemas.microsoft.com/office/drawing/2014/main" id="{8AA5D672-48E9-4233-BD8F-9C20F209D877}"/>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3A429B29-A273-4A8D-8CDC-FCAC0C14785D}"/>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fehlende Coverage</a:t>
            </a:r>
          </a:p>
        </p:txBody>
      </p:sp>
      <p:sp>
        <p:nvSpPr>
          <p:cNvPr id="10" name="prompt-num-3">
            <a:extLst>
              <a:ext uri="{FF2B5EF4-FFF2-40B4-BE49-F238E27FC236}">
                <a16:creationId xmlns:a16="http://schemas.microsoft.com/office/drawing/2014/main" id="{3C624CDE-6AAA-4196-815E-71CFE9041D3A}"/>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95539D6A-585F-461C-B809-C64D7843E42B}"/>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Kardinalitäts- oder Kostenentscheidung</a:t>
            </a:r>
          </a:p>
        </p:txBody>
      </p:sp>
      <p:sp>
        <p:nvSpPr>
          <p:cNvPr id="12" name="question-footer">
            <a:extLst>
              <a:ext uri="{FF2B5EF4-FFF2-40B4-BE49-F238E27FC236}">
                <a16:creationId xmlns:a16="http://schemas.microsoft.com/office/drawing/2014/main" id="{CE185D9E-93EC-44CC-B022-0DC6F327CA5E}"/>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47 / 102</a:t>
            </a:r>
          </a:p>
        </p:txBody>
      </p:sp>
    </p:spTree>
    <p:extLst>
      <p:ext uri="{BB962C8B-B14F-4D97-AF65-F5344CB8AC3E}">
        <p14:creationId xmlns:p14="http://schemas.microsoft.com/office/powerpoint/2010/main" val="904239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790A064D-EFD1-40A0-A3D0-28B5967C3415}"/>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04</a:t>
            </a:r>
          </a:p>
        </p:txBody>
      </p:sp>
      <p:sp>
        <p:nvSpPr>
          <p:cNvPr id="2" name="section-rule">
            <a:extLst>
              <a:ext uri="{FF2B5EF4-FFF2-40B4-BE49-F238E27FC236}">
                <a16:creationId xmlns:a16="http://schemas.microsoft.com/office/drawing/2014/main" id="{AF111ABC-0789-4C8B-AAFE-104C73F3BCA4}"/>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074F93B1-9A2E-4B0D-A378-D1A8A89A26F6}"/>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fontScale="95582"/>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Rowstore- und Columnstore-Indizes</a:t>
            </a:r>
          </a:p>
        </p:txBody>
      </p:sp>
      <p:sp>
        <p:nvSpPr>
          <p:cNvPr id="4" name="section-subtitle">
            <a:extLst>
              <a:ext uri="{FF2B5EF4-FFF2-40B4-BE49-F238E27FC236}">
                <a16:creationId xmlns:a16="http://schemas.microsoft.com/office/drawing/2014/main" id="{034E8374-5A04-473E-A9D5-9609D290D780}"/>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Welche Zugriffspfade beschleunigen Reads, ohne Writes und Betriebskosten zu ignorieren?</a:t>
            </a:r>
          </a:p>
        </p:txBody>
      </p:sp>
      <p:sp>
        <p:nvSpPr>
          <p:cNvPr id="5" name="section-footer">
            <a:extLst>
              <a:ext uri="{FF2B5EF4-FFF2-40B4-BE49-F238E27FC236}">
                <a16:creationId xmlns:a16="http://schemas.microsoft.com/office/drawing/2014/main" id="{50B11077-7390-46EE-A8AF-29D475163B90}"/>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617304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8EAC4242-642F-4D19-8980-DFCF447EC74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7DD274DD-1F99-46C2-81AA-BBF34488A05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Heap und Clustered Index unterscheiden sich im Row Locator und in der Ordnung</a:t>
            </a:r>
          </a:p>
        </p:txBody>
      </p:sp>
      <p:sp>
        <p:nvSpPr>
          <p:cNvPr id="3" name="title-rule">
            <a:extLst>
              <a:ext uri="{FF2B5EF4-FFF2-40B4-BE49-F238E27FC236}">
                <a16:creationId xmlns:a16="http://schemas.microsoft.com/office/drawing/2014/main" id="{FBA4FC7A-1A43-4D57-9067-6D73FF888D4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739E957-9E79-4A0F-9153-DDFF7DE5B51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757E0F5B-BC79-49FC-986A-30C1852485B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49 / 102</a:t>
            </a:r>
          </a:p>
        </p:txBody>
      </p:sp>
      <p:sp>
        <p:nvSpPr>
          <p:cNvPr id="6" name="left-title">
            <a:extLst>
              <a:ext uri="{FF2B5EF4-FFF2-40B4-BE49-F238E27FC236}">
                <a16:creationId xmlns:a16="http://schemas.microsoft.com/office/drawing/2014/main" id="{AD015E3E-755B-48C2-B7A5-BC26A920BEF3}"/>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Heap</a:t>
            </a:r>
          </a:p>
        </p:txBody>
      </p:sp>
      <p:sp>
        <p:nvSpPr>
          <p:cNvPr id="7" name="right-title">
            <a:extLst>
              <a:ext uri="{FF2B5EF4-FFF2-40B4-BE49-F238E27FC236}">
                <a16:creationId xmlns:a16="http://schemas.microsoft.com/office/drawing/2014/main" id="{7D949FB4-F674-4F7C-A013-133FE193F277}"/>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Clustered Index</a:t>
            </a:r>
          </a:p>
        </p:txBody>
      </p:sp>
      <p:sp>
        <p:nvSpPr>
          <p:cNvPr id="8" name="middle-rule">
            <a:extLst>
              <a:ext uri="{FF2B5EF4-FFF2-40B4-BE49-F238E27FC236}">
                <a16:creationId xmlns:a16="http://schemas.microsoft.com/office/drawing/2014/main" id="{6C83C2D0-7830-4079-BA3C-7D94506C39D0}"/>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00BDA715-05FB-4FCC-B26F-B75AB4A05686}"/>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B+Tree-Ordnung der Datenpages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RID als Locator für Nonclustered Index</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Forwarded Records bei Row-Vergrößerung möglich</a:t>
            </a:r>
          </a:p>
        </p:txBody>
      </p:sp>
      <p:sp>
        <p:nvSpPr>
          <p:cNvPr id="10" name="right-points">
            <a:extLst>
              <a:ext uri="{FF2B5EF4-FFF2-40B4-BE49-F238E27FC236}">
                <a16:creationId xmlns:a16="http://schemas.microsoft.com/office/drawing/2014/main" id="{E9E62343-97C1-46C4-BDAD-6FC33BD380FE}"/>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Leaf Level enthält alle Datenzeilen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Clustering Key ist Locator in Nonclustered Indexes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genau ein Clustered Index je Tabelle</a:t>
            </a:r>
          </a:p>
        </p:txBody>
      </p:sp>
      <p:sp>
        <p:nvSpPr>
          <p:cNvPr id="11" name="conclusion-bg">
            <a:extLst>
              <a:ext uri="{FF2B5EF4-FFF2-40B4-BE49-F238E27FC236}">
                <a16:creationId xmlns:a16="http://schemas.microsoft.com/office/drawing/2014/main" id="{8350A813-4A12-46CE-B2EC-07A1682356C5}"/>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313EC871-A90C-428B-8FF1-BE7F34486CEC}"/>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 Heap ist nicht automatisch langsam; Zugriffsmuster und DML-Verhalten entscheiden.</a:t>
            </a:r>
          </a:p>
        </p:txBody>
      </p:sp>
    </p:spTree>
    <p:extLst>
      <p:ext uri="{BB962C8B-B14F-4D97-AF65-F5344CB8AC3E}">
        <p14:creationId xmlns:p14="http://schemas.microsoft.com/office/powerpoint/2010/main" val="1965428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51" name="module-label">
            <a:extLst>
              <a:ext uri="{FF2B5EF4-FFF2-40B4-BE49-F238E27FC236}">
                <a16:creationId xmlns:a16="http://schemas.microsoft.com/office/drawing/2014/main" id="{2AE37653-A24A-407A-86BC-41DFC97227D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6ECFB4F8-E6CD-493A-A2A9-40070BCB625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Rowstore-Indizes sind B+Trees mit Root, Intermediate und Leaf Level</a:t>
            </a:r>
          </a:p>
        </p:txBody>
      </p:sp>
      <p:sp>
        <p:nvSpPr>
          <p:cNvPr id="3" name="title-rule">
            <a:extLst>
              <a:ext uri="{FF2B5EF4-FFF2-40B4-BE49-F238E27FC236}">
                <a16:creationId xmlns:a16="http://schemas.microsoft.com/office/drawing/2014/main" id="{75FB8E5D-FA5A-4720-BD62-86DB96A7BB75}"/>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5D6C55C6-F875-46B6-922C-65B243FE1662}"/>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4E411061-1A86-45DD-8326-410EA8F6775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50 / 102</a:t>
            </a:r>
          </a:p>
        </p:txBody>
      </p:sp>
      <p:sp>
        <p:nvSpPr>
          <p:cNvPr id="6" name="bt-root">
            <a:extLst>
              <a:ext uri="{FF2B5EF4-FFF2-40B4-BE49-F238E27FC236}">
                <a16:creationId xmlns:a16="http://schemas.microsoft.com/office/drawing/2014/main" id="{CB6E1BBC-0AC4-4F25-895B-C22886B14BB8}"/>
              </a:ext>
            </a:extLst>
          </p:cNvPr>
          <p:cNvSpPr>
            <a:spLocks noGrp="1"/>
          </p:cNvSpPr>
          <p:nvPr/>
        </p:nvSpPr>
        <p:spPr>
          <a:xfrm>
            <a:off x="4953000" y="2209800"/>
            <a:ext cx="2286000" cy="704850"/>
          </a:xfrm>
          <a:prstGeom prst="roundRect">
            <a:avLst>
              <a:gd name="adj" fmla="val 10811"/>
            </a:avLst>
          </a:prstGeom>
          <a:solidFill>
            <a:srgbClr val="0B1F33"/>
          </a:solidFill>
          <a:ln w="9525">
            <a:solidFill>
              <a:srgbClr val="D9E2EC"/>
            </a:solidFill>
            <a:prstDash val="solid"/>
          </a:ln>
        </p:spPr>
        <p:txBody>
          <a:bodyPr/>
          <a:lstStyle/>
          <a:p>
            <a:endParaRPr/>
          </a:p>
        </p:txBody>
      </p:sp>
      <p:sp>
        <p:nvSpPr>
          <p:cNvPr id="7" name="bt-root-text">
            <a:extLst>
              <a:ext uri="{FF2B5EF4-FFF2-40B4-BE49-F238E27FC236}">
                <a16:creationId xmlns:a16="http://schemas.microsoft.com/office/drawing/2014/main" id="{227AFA28-93A2-4282-B549-3A7BAAD083FD}"/>
              </a:ext>
            </a:extLst>
          </p:cNvPr>
          <p:cNvSpPr>
            <a:spLocks noGrp="1"/>
          </p:cNvSpPr>
          <p:nvPr/>
        </p:nvSpPr>
        <p:spPr>
          <a:xfrm>
            <a:off x="5086350" y="2324100"/>
            <a:ext cx="201930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Root</a:t>
            </a:r>
          </a:p>
        </p:txBody>
      </p:sp>
      <p:sp>
        <p:nvSpPr>
          <p:cNvPr id="8" name="bt-mid1">
            <a:extLst>
              <a:ext uri="{FF2B5EF4-FFF2-40B4-BE49-F238E27FC236}">
                <a16:creationId xmlns:a16="http://schemas.microsoft.com/office/drawing/2014/main" id="{9D9680D0-6993-4A8D-B5C1-4F991C2A70FF}"/>
              </a:ext>
            </a:extLst>
          </p:cNvPr>
          <p:cNvSpPr>
            <a:spLocks noGrp="1"/>
          </p:cNvSpPr>
          <p:nvPr/>
        </p:nvSpPr>
        <p:spPr>
          <a:xfrm>
            <a:off x="2457450" y="3429000"/>
            <a:ext cx="2095500" cy="704850"/>
          </a:xfrm>
          <a:prstGeom prst="roundRect">
            <a:avLst>
              <a:gd name="adj" fmla="val 10811"/>
            </a:avLst>
          </a:prstGeom>
          <a:solidFill>
            <a:srgbClr val="EAF4F4"/>
          </a:solidFill>
          <a:ln w="9525">
            <a:solidFill>
              <a:srgbClr val="D9E2EC"/>
            </a:solidFill>
            <a:prstDash val="solid"/>
          </a:ln>
        </p:spPr>
        <p:txBody>
          <a:bodyPr/>
          <a:lstStyle/>
          <a:p>
            <a:endParaRPr/>
          </a:p>
        </p:txBody>
      </p:sp>
      <p:sp>
        <p:nvSpPr>
          <p:cNvPr id="9" name="bt-mid1-text">
            <a:extLst>
              <a:ext uri="{FF2B5EF4-FFF2-40B4-BE49-F238E27FC236}">
                <a16:creationId xmlns:a16="http://schemas.microsoft.com/office/drawing/2014/main" id="{555C035E-52CF-4A24-A991-77F946FB6A44}"/>
              </a:ext>
            </a:extLst>
          </p:cNvPr>
          <p:cNvSpPr>
            <a:spLocks noGrp="1"/>
          </p:cNvSpPr>
          <p:nvPr/>
        </p:nvSpPr>
        <p:spPr>
          <a:xfrm>
            <a:off x="2590800" y="3543300"/>
            <a:ext cx="182880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Intermediate</a:t>
            </a:r>
          </a:p>
        </p:txBody>
      </p:sp>
      <p:sp>
        <p:nvSpPr>
          <p:cNvPr id="10" name="bt-mid2">
            <a:extLst>
              <a:ext uri="{FF2B5EF4-FFF2-40B4-BE49-F238E27FC236}">
                <a16:creationId xmlns:a16="http://schemas.microsoft.com/office/drawing/2014/main" id="{3C14E36F-036E-4940-808D-B835005967F4}"/>
              </a:ext>
            </a:extLst>
          </p:cNvPr>
          <p:cNvSpPr>
            <a:spLocks noGrp="1"/>
          </p:cNvSpPr>
          <p:nvPr/>
        </p:nvSpPr>
        <p:spPr>
          <a:xfrm>
            <a:off x="7639050" y="3429000"/>
            <a:ext cx="2095500" cy="704850"/>
          </a:xfrm>
          <a:prstGeom prst="roundRect">
            <a:avLst>
              <a:gd name="adj" fmla="val 10811"/>
            </a:avLst>
          </a:prstGeom>
          <a:solidFill>
            <a:srgbClr val="EAF4F4"/>
          </a:solidFill>
          <a:ln w="9525">
            <a:solidFill>
              <a:srgbClr val="D9E2EC"/>
            </a:solidFill>
            <a:prstDash val="solid"/>
          </a:ln>
        </p:spPr>
        <p:txBody>
          <a:bodyPr/>
          <a:lstStyle/>
          <a:p>
            <a:endParaRPr/>
          </a:p>
        </p:txBody>
      </p:sp>
      <p:sp>
        <p:nvSpPr>
          <p:cNvPr id="11" name="bt-mid2-text">
            <a:extLst>
              <a:ext uri="{FF2B5EF4-FFF2-40B4-BE49-F238E27FC236}">
                <a16:creationId xmlns:a16="http://schemas.microsoft.com/office/drawing/2014/main" id="{ED4AD514-004B-43B0-B7ED-F0CBE820E4E8}"/>
              </a:ext>
            </a:extLst>
          </p:cNvPr>
          <p:cNvSpPr>
            <a:spLocks noGrp="1"/>
          </p:cNvSpPr>
          <p:nvPr/>
        </p:nvSpPr>
        <p:spPr>
          <a:xfrm>
            <a:off x="7772400" y="3543300"/>
            <a:ext cx="182880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Intermediate</a:t>
            </a:r>
          </a:p>
        </p:txBody>
      </p:sp>
      <p:sp>
        <p:nvSpPr>
          <p:cNvPr id="12" name="bt-leaf1">
            <a:extLst>
              <a:ext uri="{FF2B5EF4-FFF2-40B4-BE49-F238E27FC236}">
                <a16:creationId xmlns:a16="http://schemas.microsoft.com/office/drawing/2014/main" id="{3EF30927-58CB-414E-9E3E-9216721D16BB}"/>
              </a:ext>
            </a:extLst>
          </p:cNvPr>
          <p:cNvSpPr>
            <a:spLocks noGrp="1"/>
          </p:cNvSpPr>
          <p:nvPr/>
        </p:nvSpPr>
        <p:spPr>
          <a:xfrm>
            <a:off x="876300" y="4762500"/>
            <a:ext cx="1809750" cy="704850"/>
          </a:xfrm>
          <a:prstGeom prst="roundRect">
            <a:avLst>
              <a:gd name="adj" fmla="val 10811"/>
            </a:avLst>
          </a:prstGeom>
          <a:solidFill>
            <a:srgbClr val="FFFFFF"/>
          </a:solidFill>
          <a:ln w="9525">
            <a:solidFill>
              <a:srgbClr val="D9E2EC"/>
            </a:solidFill>
            <a:prstDash val="solid"/>
          </a:ln>
        </p:spPr>
        <p:txBody>
          <a:bodyPr/>
          <a:lstStyle/>
          <a:p>
            <a:endParaRPr/>
          </a:p>
        </p:txBody>
      </p:sp>
      <p:sp>
        <p:nvSpPr>
          <p:cNvPr id="13" name="bt-leaf1-text">
            <a:extLst>
              <a:ext uri="{FF2B5EF4-FFF2-40B4-BE49-F238E27FC236}">
                <a16:creationId xmlns:a16="http://schemas.microsoft.com/office/drawing/2014/main" id="{E3D9958F-432C-48C8-B91C-1591019F9CBC}"/>
              </a:ext>
            </a:extLst>
          </p:cNvPr>
          <p:cNvSpPr>
            <a:spLocks noGrp="1"/>
          </p:cNvSpPr>
          <p:nvPr/>
        </p:nvSpPr>
        <p:spPr>
          <a:xfrm>
            <a:off x="1009650" y="4876800"/>
            <a:ext cx="154305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4" name="bt-leaf2">
            <a:extLst>
              <a:ext uri="{FF2B5EF4-FFF2-40B4-BE49-F238E27FC236}">
                <a16:creationId xmlns:a16="http://schemas.microsoft.com/office/drawing/2014/main" id="{76D18D03-18B7-4F85-8BC5-BA3E1704E6CF}"/>
              </a:ext>
            </a:extLst>
          </p:cNvPr>
          <p:cNvSpPr>
            <a:spLocks noGrp="1"/>
          </p:cNvSpPr>
          <p:nvPr/>
        </p:nvSpPr>
        <p:spPr>
          <a:xfrm>
            <a:off x="3295650" y="4762500"/>
            <a:ext cx="1809750" cy="704850"/>
          </a:xfrm>
          <a:prstGeom prst="roundRect">
            <a:avLst>
              <a:gd name="adj" fmla="val 10811"/>
            </a:avLst>
          </a:prstGeom>
          <a:solidFill>
            <a:srgbClr val="FFFFFF"/>
          </a:solidFill>
          <a:ln w="9525">
            <a:solidFill>
              <a:srgbClr val="D9E2EC"/>
            </a:solidFill>
            <a:prstDash val="solid"/>
          </a:ln>
        </p:spPr>
        <p:txBody>
          <a:bodyPr/>
          <a:lstStyle/>
          <a:p>
            <a:endParaRPr/>
          </a:p>
        </p:txBody>
      </p:sp>
      <p:sp>
        <p:nvSpPr>
          <p:cNvPr id="15" name="bt-leaf2-text">
            <a:extLst>
              <a:ext uri="{FF2B5EF4-FFF2-40B4-BE49-F238E27FC236}">
                <a16:creationId xmlns:a16="http://schemas.microsoft.com/office/drawing/2014/main" id="{8900707F-3CB2-4695-8348-905A64101B40}"/>
              </a:ext>
            </a:extLst>
          </p:cNvPr>
          <p:cNvSpPr>
            <a:spLocks noGrp="1"/>
          </p:cNvSpPr>
          <p:nvPr/>
        </p:nvSpPr>
        <p:spPr>
          <a:xfrm>
            <a:off x="3429000" y="4876800"/>
            <a:ext cx="154305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6" name="bt-leaf3">
            <a:extLst>
              <a:ext uri="{FF2B5EF4-FFF2-40B4-BE49-F238E27FC236}">
                <a16:creationId xmlns:a16="http://schemas.microsoft.com/office/drawing/2014/main" id="{876F1041-9A46-4818-B06B-116C4EFE99D9}"/>
              </a:ext>
            </a:extLst>
          </p:cNvPr>
          <p:cNvSpPr>
            <a:spLocks noGrp="1"/>
          </p:cNvSpPr>
          <p:nvPr/>
        </p:nvSpPr>
        <p:spPr>
          <a:xfrm>
            <a:off x="7086600" y="4762500"/>
            <a:ext cx="1809750" cy="704850"/>
          </a:xfrm>
          <a:prstGeom prst="roundRect">
            <a:avLst>
              <a:gd name="adj" fmla="val 10811"/>
            </a:avLst>
          </a:prstGeom>
          <a:solidFill>
            <a:srgbClr val="FFFFFF"/>
          </a:solidFill>
          <a:ln w="9525">
            <a:solidFill>
              <a:srgbClr val="D9E2EC"/>
            </a:solidFill>
            <a:prstDash val="solid"/>
          </a:ln>
        </p:spPr>
        <p:txBody>
          <a:bodyPr/>
          <a:lstStyle/>
          <a:p>
            <a:endParaRPr/>
          </a:p>
        </p:txBody>
      </p:sp>
      <p:sp>
        <p:nvSpPr>
          <p:cNvPr id="17" name="bt-leaf3-text">
            <a:extLst>
              <a:ext uri="{FF2B5EF4-FFF2-40B4-BE49-F238E27FC236}">
                <a16:creationId xmlns:a16="http://schemas.microsoft.com/office/drawing/2014/main" id="{AEED4AD7-1190-4FD0-94EB-CFF457C96AA6}"/>
              </a:ext>
            </a:extLst>
          </p:cNvPr>
          <p:cNvSpPr>
            <a:spLocks noGrp="1"/>
          </p:cNvSpPr>
          <p:nvPr/>
        </p:nvSpPr>
        <p:spPr>
          <a:xfrm>
            <a:off x="7219950" y="4876800"/>
            <a:ext cx="154305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8" name="bt-leaf4">
            <a:extLst>
              <a:ext uri="{FF2B5EF4-FFF2-40B4-BE49-F238E27FC236}">
                <a16:creationId xmlns:a16="http://schemas.microsoft.com/office/drawing/2014/main" id="{E66897CD-26DC-4CB0-885E-48395C148100}"/>
              </a:ext>
            </a:extLst>
          </p:cNvPr>
          <p:cNvSpPr>
            <a:spLocks noGrp="1"/>
          </p:cNvSpPr>
          <p:nvPr/>
        </p:nvSpPr>
        <p:spPr>
          <a:xfrm>
            <a:off x="9505950" y="4762500"/>
            <a:ext cx="1809750" cy="704850"/>
          </a:xfrm>
          <a:prstGeom prst="roundRect">
            <a:avLst>
              <a:gd name="adj" fmla="val 10811"/>
            </a:avLst>
          </a:prstGeom>
          <a:solidFill>
            <a:srgbClr val="FFFFFF"/>
          </a:solidFill>
          <a:ln w="9525">
            <a:solidFill>
              <a:srgbClr val="D9E2EC"/>
            </a:solidFill>
            <a:prstDash val="solid"/>
          </a:ln>
        </p:spPr>
        <p:txBody>
          <a:bodyPr/>
          <a:lstStyle/>
          <a:p>
            <a:endParaRPr/>
          </a:p>
        </p:txBody>
      </p:sp>
      <p:sp>
        <p:nvSpPr>
          <p:cNvPr id="19" name="bt-leaf4-text">
            <a:extLst>
              <a:ext uri="{FF2B5EF4-FFF2-40B4-BE49-F238E27FC236}">
                <a16:creationId xmlns:a16="http://schemas.microsoft.com/office/drawing/2014/main" id="{89B0BABB-9D5D-46CD-A10A-2201FB46E482}"/>
              </a:ext>
            </a:extLst>
          </p:cNvPr>
          <p:cNvSpPr>
            <a:spLocks noGrp="1"/>
          </p:cNvSpPr>
          <p:nvPr/>
        </p:nvSpPr>
        <p:spPr>
          <a:xfrm>
            <a:off x="9639300" y="4876800"/>
            <a:ext cx="1543050" cy="4762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cxnSp>
        <p:nvCxnSpPr>
          <p:cNvPr id="170" name="Gerade Verbindung mit Pfeil 94"/>
          <p:cNvCxnSpPr>
            <a:stCxn id="6" idx="2"/>
            <a:endCxn id="8" idx="0"/>
          </p:cNvCxnSpPr>
          <p:nvPr/>
        </p:nvCxnSpPr>
        <p:spPr>
          <a:xfrm flipH="1">
            <a:off x="3505200" y="2914650"/>
            <a:ext cx="2590800" cy="514350"/>
          </a:xfrm>
          <a:prstGeom prst="straightConnector1">
            <a:avLst/>
          </a:prstGeom>
          <a:ln w="28575">
            <a:solidFill>
              <a:srgbClr val="007C83"/>
            </a:solidFill>
            <a:prstDash val="solid"/>
            <a:tailEnd type="arrow" w="med" len="med"/>
          </a:ln>
        </p:spPr>
      </p:cxnSp>
      <p:cxnSp>
        <p:nvCxnSpPr>
          <p:cNvPr id="171" name="Gerade Verbindung mit Pfeil 95"/>
          <p:cNvCxnSpPr>
            <a:stCxn id="6" idx="2"/>
            <a:endCxn id="10" idx="0"/>
          </p:cNvCxnSpPr>
          <p:nvPr/>
        </p:nvCxnSpPr>
        <p:spPr>
          <a:xfrm>
            <a:off x="6096000" y="2914650"/>
            <a:ext cx="2590800" cy="514350"/>
          </a:xfrm>
          <a:prstGeom prst="straightConnector1">
            <a:avLst/>
          </a:prstGeom>
          <a:ln w="28575">
            <a:solidFill>
              <a:srgbClr val="007C83"/>
            </a:solidFill>
            <a:prstDash val="solid"/>
            <a:tailEnd type="arrow" w="med" len="med"/>
          </a:ln>
        </p:spPr>
      </p:cxnSp>
      <p:cxnSp>
        <p:nvCxnSpPr>
          <p:cNvPr id="172" name="Gerade Verbindung mit Pfeil 96"/>
          <p:cNvCxnSpPr>
            <a:stCxn id="8" idx="2"/>
            <a:endCxn id="12" idx="0"/>
          </p:cNvCxnSpPr>
          <p:nvPr/>
        </p:nvCxnSpPr>
        <p:spPr>
          <a:xfrm flipH="1">
            <a:off x="1781175" y="4133850"/>
            <a:ext cx="1724025" cy="628650"/>
          </a:xfrm>
          <a:prstGeom prst="straightConnector1">
            <a:avLst/>
          </a:prstGeom>
          <a:ln w="28575">
            <a:solidFill>
              <a:srgbClr val="007C83"/>
            </a:solidFill>
            <a:prstDash val="solid"/>
            <a:tailEnd type="arrow" w="med" len="med"/>
          </a:ln>
        </p:spPr>
      </p:cxnSp>
      <p:cxnSp>
        <p:nvCxnSpPr>
          <p:cNvPr id="173" name="Gerade Verbindung mit Pfeil 97"/>
          <p:cNvCxnSpPr>
            <a:stCxn id="8" idx="2"/>
            <a:endCxn id="14" idx="0"/>
          </p:cNvCxnSpPr>
          <p:nvPr/>
        </p:nvCxnSpPr>
        <p:spPr>
          <a:xfrm>
            <a:off x="3505200" y="4133850"/>
            <a:ext cx="695325" cy="628650"/>
          </a:xfrm>
          <a:prstGeom prst="straightConnector1">
            <a:avLst/>
          </a:prstGeom>
          <a:ln w="28575">
            <a:solidFill>
              <a:srgbClr val="007C83"/>
            </a:solidFill>
            <a:prstDash val="solid"/>
            <a:tailEnd type="arrow" w="med" len="med"/>
          </a:ln>
        </p:spPr>
      </p:cxnSp>
      <p:cxnSp>
        <p:nvCxnSpPr>
          <p:cNvPr id="174" name="Gerade Verbindung mit Pfeil 98"/>
          <p:cNvCxnSpPr>
            <a:stCxn id="10" idx="2"/>
            <a:endCxn id="16" idx="0"/>
          </p:cNvCxnSpPr>
          <p:nvPr/>
        </p:nvCxnSpPr>
        <p:spPr>
          <a:xfrm flipH="1">
            <a:off x="7991475" y="4133850"/>
            <a:ext cx="695325" cy="628650"/>
          </a:xfrm>
          <a:prstGeom prst="straightConnector1">
            <a:avLst/>
          </a:prstGeom>
          <a:ln w="28575">
            <a:solidFill>
              <a:srgbClr val="007C83"/>
            </a:solidFill>
            <a:prstDash val="solid"/>
            <a:tailEnd type="arrow" w="med" len="med"/>
          </a:ln>
        </p:spPr>
      </p:cxnSp>
      <p:cxnSp>
        <p:nvCxnSpPr>
          <p:cNvPr id="175" name="Gerade Verbindung mit Pfeil 99"/>
          <p:cNvCxnSpPr>
            <a:stCxn id="10" idx="2"/>
            <a:endCxn id="18" idx="0"/>
          </p:cNvCxnSpPr>
          <p:nvPr/>
        </p:nvCxnSpPr>
        <p:spPr>
          <a:xfrm>
            <a:off x="8686800" y="4133850"/>
            <a:ext cx="1724025" cy="628650"/>
          </a:xfrm>
          <a:prstGeom prst="straightConnector1">
            <a:avLst/>
          </a:prstGeom>
          <a:ln w="28575">
            <a:solidFill>
              <a:srgbClr val="007C83"/>
            </a:solidFill>
            <a:prstDash val="solid"/>
            <a:tailEnd type="arrow" w="med" len="med"/>
          </a:ln>
        </p:spPr>
      </p:cxnSp>
      <p:sp>
        <p:nvSpPr>
          <p:cNvPr id="201" name="navigation-caption"/>
          <p:cNvSpPr>
            <a:spLocks noGrp="1"/>
          </p:cNvSpPr>
          <p:nvPr/>
        </p:nvSpPr>
        <p:spPr>
          <a:xfrm>
            <a:off x="1800000" y="5650000"/>
            <a:ext cx="8500000" cy="350000"/>
          </a:xfrm>
          <a:prstGeom prst="rect">
            <a:avLst/>
          </a:prstGeom>
          <a:noFill/>
          <a:ln w="0">
            <a:noFill/>
            <a:prstDash val="solid"/>
          </a:ln>
        </p:spPr>
        <p:txBody>
          <a:bodyPr wrap="square" lIns="0" tIns="0" rIns="0" bIns="0" anchor="t">
            <a:normAutofit/>
          </a:bodyPr>
          <a:lstStyle/>
          <a:p>
            <a:pPr algn="l">
              <a:lnSpc>
                <a:spcPct val="105000"/>
              </a:lnSpc>
              <a:buNone/>
              <a:defRPr sz="1800" b="0" i="0">
                <a:solidFill>
                  <a:srgbClr val="526777"/>
                </a:solidFill>
                <a:latin typeface="Aptos"/>
                <a:ea typeface="Aptos"/>
                <a:cs typeface="Aptos"/>
              </a:defRPr>
            </a:pPr>
            <a:r>
              <a:rPr sz="1800" b="0" i="0">
                <a:solidFill>
                  <a:srgbClr val="526777"/>
                </a:solidFill>
                <a:latin typeface="Aptos"/>
                <a:ea typeface="Aptos"/>
                <a:cs typeface="Aptos"/>
              </a:rPr>
              <a:t>Pfeile zeigen die Navigation vom Root zum Leaf Level.</a:t>
            </a:r>
          </a:p>
        </p:txBody>
      </p:sp>
    </p:spTree>
    <p:extLst>
      <p:ext uri="{BB962C8B-B14F-4D97-AF65-F5344CB8AC3E}">
        <p14:creationId xmlns:p14="http://schemas.microsoft.com/office/powerpoint/2010/main" val="1344414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8" name="module-label">
            <a:extLst>
              <a:ext uri="{FF2B5EF4-FFF2-40B4-BE49-F238E27FC236}">
                <a16:creationId xmlns:a16="http://schemas.microsoft.com/office/drawing/2014/main" id="{7355AB19-5C97-495F-8CCC-02F466ACE62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60C9835B-CCCE-4991-8062-1FC625953C9C}"/>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Nonclustered Row Locator bestimmt Lookup-Kosten und Indexbreite</a:t>
            </a:r>
          </a:p>
        </p:txBody>
      </p:sp>
      <p:sp>
        <p:nvSpPr>
          <p:cNvPr id="3" name="title-rule">
            <a:extLst>
              <a:ext uri="{FF2B5EF4-FFF2-40B4-BE49-F238E27FC236}">
                <a16:creationId xmlns:a16="http://schemas.microsoft.com/office/drawing/2014/main" id="{1240064D-6568-4257-91FF-AD4929D46F20}"/>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268772C-7A31-4047-BF35-03593AD4444F}"/>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0C1FFA4-452E-4122-938F-ABFF328E19A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51 / 102</a:t>
            </a:r>
          </a:p>
        </p:txBody>
      </p:sp>
      <p:sp>
        <p:nvSpPr>
          <p:cNvPr id="6" name="rl-nci">
            <a:extLst>
              <a:ext uri="{FF2B5EF4-FFF2-40B4-BE49-F238E27FC236}">
                <a16:creationId xmlns:a16="http://schemas.microsoft.com/office/drawing/2014/main" id="{8CFCAD9B-C720-46AE-8A89-F9662A3EE296}"/>
              </a:ext>
            </a:extLst>
          </p:cNvPr>
          <p:cNvSpPr>
            <a:spLocks noGrp="1"/>
          </p:cNvSpPr>
          <p:nvPr/>
        </p:nvSpPr>
        <p:spPr>
          <a:xfrm>
            <a:off x="4857750" y="2381250"/>
            <a:ext cx="2476500" cy="1066800"/>
          </a:xfrm>
          <a:prstGeom prst="roundRect">
            <a:avLst>
              <a:gd name="adj" fmla="val 7143"/>
            </a:avLst>
          </a:prstGeom>
          <a:solidFill>
            <a:srgbClr val="EAF4F4"/>
          </a:solidFill>
          <a:ln w="9525">
            <a:solidFill>
              <a:srgbClr val="D9E2EC"/>
            </a:solidFill>
            <a:prstDash val="solid"/>
          </a:ln>
        </p:spPr>
        <p:txBody>
          <a:bodyPr/>
          <a:lstStyle/>
          <a:p>
            <a:endParaRPr/>
          </a:p>
        </p:txBody>
      </p:sp>
      <p:sp>
        <p:nvSpPr>
          <p:cNvPr id="7" name="rl-nci-text">
            <a:extLst>
              <a:ext uri="{FF2B5EF4-FFF2-40B4-BE49-F238E27FC236}">
                <a16:creationId xmlns:a16="http://schemas.microsoft.com/office/drawing/2014/main" id="{79945B5A-7343-49F2-A866-3C52EA89D4AC}"/>
              </a:ext>
            </a:extLst>
          </p:cNvPr>
          <p:cNvSpPr>
            <a:spLocks noGrp="1"/>
          </p:cNvSpPr>
          <p:nvPr/>
        </p:nvSpPr>
        <p:spPr>
          <a:xfrm>
            <a:off x="4991100" y="2495550"/>
            <a:ext cx="22098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Nonclustered Index</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Key + Locator</a:t>
            </a:r>
          </a:p>
        </p:txBody>
      </p:sp>
      <p:sp>
        <p:nvSpPr>
          <p:cNvPr id="8" name="rl-heap">
            <a:extLst>
              <a:ext uri="{FF2B5EF4-FFF2-40B4-BE49-F238E27FC236}">
                <a16:creationId xmlns:a16="http://schemas.microsoft.com/office/drawing/2014/main" id="{B0D636AA-5485-4D7F-9B2B-4ED21FA42A1D}"/>
              </a:ext>
            </a:extLst>
          </p:cNvPr>
          <p:cNvSpPr>
            <a:spLocks noGrp="1"/>
          </p:cNvSpPr>
          <p:nvPr/>
        </p:nvSpPr>
        <p:spPr>
          <a:xfrm>
            <a:off x="1485900" y="4476750"/>
            <a:ext cx="28575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9" name="rl-heap-text">
            <a:extLst>
              <a:ext uri="{FF2B5EF4-FFF2-40B4-BE49-F238E27FC236}">
                <a16:creationId xmlns:a16="http://schemas.microsoft.com/office/drawing/2014/main" id="{06427CE3-14F9-4CEF-A105-8F9E17A53F60}"/>
              </a:ext>
            </a:extLst>
          </p:cNvPr>
          <p:cNvSpPr>
            <a:spLocks noGrp="1"/>
          </p:cNvSpPr>
          <p:nvPr/>
        </p:nvSpPr>
        <p:spPr>
          <a:xfrm>
            <a:off x="1619250" y="4591050"/>
            <a:ext cx="25908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Heap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RID = File:Page:Slot</a:t>
            </a:r>
          </a:p>
        </p:txBody>
      </p:sp>
      <p:sp>
        <p:nvSpPr>
          <p:cNvPr id="10" name="rl-clustered">
            <a:extLst>
              <a:ext uri="{FF2B5EF4-FFF2-40B4-BE49-F238E27FC236}">
                <a16:creationId xmlns:a16="http://schemas.microsoft.com/office/drawing/2014/main" id="{63278187-663F-49CF-8932-4DD7EDB1D338}"/>
              </a:ext>
            </a:extLst>
          </p:cNvPr>
          <p:cNvSpPr>
            <a:spLocks noGrp="1"/>
          </p:cNvSpPr>
          <p:nvPr/>
        </p:nvSpPr>
        <p:spPr>
          <a:xfrm>
            <a:off x="7848600" y="4476750"/>
            <a:ext cx="28575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11" name="rl-clustered-text">
            <a:extLst>
              <a:ext uri="{FF2B5EF4-FFF2-40B4-BE49-F238E27FC236}">
                <a16:creationId xmlns:a16="http://schemas.microsoft.com/office/drawing/2014/main" id="{F325A6D9-47F2-4AB6-8510-9D337AFDA0C0}"/>
              </a:ext>
            </a:extLst>
          </p:cNvPr>
          <p:cNvSpPr>
            <a:spLocks noGrp="1"/>
          </p:cNvSpPr>
          <p:nvPr/>
        </p:nvSpPr>
        <p:spPr>
          <a:xfrm>
            <a:off x="7981950" y="4591050"/>
            <a:ext cx="25908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Clustered Table</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Clustering Key</a:t>
            </a:r>
          </a:p>
        </p:txBody>
      </p:sp>
      <p:cxnSp>
        <p:nvCxnSpPr>
          <p:cNvPr id="91" name="Gerade Verbindung mit Pfeil 51"/>
          <p:cNvCxnSpPr>
            <a:stCxn id="6" idx="2"/>
            <a:endCxn id="8" idx="0"/>
          </p:cNvCxnSpPr>
          <p:nvPr/>
        </p:nvCxnSpPr>
        <p:spPr>
          <a:xfrm flipH="1">
            <a:off x="2914650" y="3448050"/>
            <a:ext cx="3181350" cy="1028700"/>
          </a:xfrm>
          <a:prstGeom prst="straightConnector1">
            <a:avLst/>
          </a:prstGeom>
          <a:ln w="28575">
            <a:solidFill>
              <a:srgbClr val="F4A261"/>
            </a:solidFill>
            <a:prstDash val="solid"/>
            <a:tailEnd type="arrow" w="med" len="med"/>
          </a:ln>
        </p:spPr>
      </p:cxnSp>
      <p:cxnSp>
        <p:nvCxnSpPr>
          <p:cNvPr id="92" name="Gerade Verbindung mit Pfeil 52"/>
          <p:cNvCxnSpPr>
            <a:stCxn id="6" idx="2"/>
            <a:endCxn id="10" idx="0"/>
          </p:cNvCxnSpPr>
          <p:nvPr/>
        </p:nvCxnSpPr>
        <p:spPr>
          <a:xfrm>
            <a:off x="6096000" y="3448050"/>
            <a:ext cx="3181350" cy="1028700"/>
          </a:xfrm>
          <a:prstGeom prst="straightConnector1">
            <a:avLst/>
          </a:prstGeom>
          <a:ln w="28575">
            <a:solidFill>
              <a:srgbClr val="007C83"/>
            </a:solidFill>
            <a:prstDash val="solid"/>
            <a:tailEnd type="arrow" w="med" len="med"/>
          </a:ln>
        </p:spPr>
      </p:cxnSp>
      <p:sp>
        <p:nvSpPr>
          <p:cNvPr id="14" name="rl-caption">
            <a:extLst>
              <a:ext uri="{FF2B5EF4-FFF2-40B4-BE49-F238E27FC236}">
                <a16:creationId xmlns:a16="http://schemas.microsoft.com/office/drawing/2014/main" id="{535AB44E-4C25-4B8F-9F6B-AAE3D8CF7D59}"/>
              </a:ext>
            </a:extLst>
          </p:cNvPr>
          <p:cNvSpPr>
            <a:spLocks noGrp="1"/>
          </p:cNvSpPr>
          <p:nvPr/>
        </p:nvSpPr>
        <p:spPr>
          <a:xfrm>
            <a:off x="3238500" y="1943100"/>
            <a:ext cx="5715000" cy="381000"/>
          </a:xfrm>
          <a:prstGeom prst="rect">
            <a:avLst/>
          </a:prstGeom>
          <a:noFill/>
          <a:ln w="0">
            <a:noFill/>
            <a:prstDash val="solid"/>
          </a:ln>
        </p:spPr>
        <p:txBody>
          <a:bodyPr wrap="square" lIns="0" tIns="0" rIns="0" bIns="0" anchor="t">
            <a:normAutofit/>
          </a:bodyPr>
          <a:lstStyle/>
          <a:p>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Lookup-Ziel hängt von der Base-Table-Struktur ab.</a:t>
            </a:r>
          </a:p>
        </p:txBody>
      </p:sp>
      <p:sp>
        <p:nvSpPr>
          <p:cNvPr id="201" name="rid-lookup-label"/>
          <p:cNvSpPr>
            <a:spLocks noGrp="1"/>
          </p:cNvSpPr>
          <p:nvPr/>
        </p:nvSpPr>
        <p:spPr>
          <a:xfrm>
            <a:off x="1600000" y="3840000"/>
            <a:ext cx="2600000" cy="300000"/>
          </a:xfrm>
          <a:prstGeom prst="rect">
            <a:avLst/>
          </a:prstGeom>
          <a:noFill/>
          <a:ln w="0">
            <a:noFill/>
            <a:prstDash val="solid"/>
          </a:ln>
        </p:spPr>
        <p:txBody>
          <a:bodyPr wrap="square" lIns="0" tIns="0" rIns="0" bIns="0" anchor="t">
            <a:normAutofit/>
          </a:bodyPr>
          <a:lstStyle/>
          <a:p>
            <a:pPr algn="ctr">
              <a:lnSpc>
                <a:spcPct val="105000"/>
              </a:lnSpc>
              <a:buNone/>
              <a:defRPr sz="1650" b="1" i="0">
                <a:solidFill>
                  <a:srgbClr val="F2994A"/>
                </a:solidFill>
                <a:latin typeface="Aptos"/>
                <a:ea typeface="Aptos"/>
                <a:cs typeface="Aptos"/>
              </a:defRPr>
            </a:pPr>
            <a:r>
              <a:rPr sz="1650" b="1" i="0">
                <a:solidFill>
                  <a:srgbClr val="F2994A"/>
                </a:solidFill>
                <a:latin typeface="Aptos"/>
                <a:ea typeface="Aptos"/>
                <a:cs typeface="Aptos"/>
              </a:rPr>
              <a:t>RID Lookup</a:t>
            </a:r>
          </a:p>
        </p:txBody>
      </p:sp>
      <p:sp>
        <p:nvSpPr>
          <p:cNvPr id="202" name="key-lookup-label"/>
          <p:cNvSpPr>
            <a:spLocks noGrp="1"/>
          </p:cNvSpPr>
          <p:nvPr/>
        </p:nvSpPr>
        <p:spPr>
          <a:xfrm>
            <a:off x="7900000" y="3840000"/>
            <a:ext cx="2600000" cy="300000"/>
          </a:xfrm>
          <a:prstGeom prst="rect">
            <a:avLst/>
          </a:prstGeom>
          <a:noFill/>
          <a:ln w="0">
            <a:noFill/>
            <a:prstDash val="solid"/>
          </a:ln>
        </p:spPr>
        <p:txBody>
          <a:bodyPr wrap="square" lIns="0" tIns="0" rIns="0" bIns="0" anchor="t">
            <a:normAutofit/>
          </a:bodyPr>
          <a:lstStyle/>
          <a:p>
            <a:pPr algn="ctr">
              <a:lnSpc>
                <a:spcPct val="105000"/>
              </a:lnSpc>
              <a:buNone/>
              <a:defRPr sz="1650" b="1" i="0">
                <a:solidFill>
                  <a:srgbClr val="007C83"/>
                </a:solidFill>
                <a:latin typeface="Aptos"/>
                <a:ea typeface="Aptos"/>
                <a:cs typeface="Aptos"/>
              </a:defRPr>
            </a:pPr>
            <a:r>
              <a:rPr sz="1650" b="1" i="0">
                <a:solidFill>
                  <a:srgbClr val="007C83"/>
                </a:solidFill>
                <a:latin typeface="Aptos"/>
                <a:ea typeface="Aptos"/>
                <a:cs typeface="Aptos"/>
              </a:rPr>
              <a:t>Key Lookup</a:t>
            </a:r>
          </a:p>
        </p:txBody>
      </p:sp>
    </p:spTree>
    <p:extLst>
      <p:ext uri="{BB962C8B-B14F-4D97-AF65-F5344CB8AC3E}">
        <p14:creationId xmlns:p14="http://schemas.microsoft.com/office/powerpoint/2010/main" val="1080640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B5BC55F4-658D-4968-8DD8-BDE416BA2F94}"/>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B4335C4C-0A5F-4A4A-A10D-68A1A4F41EF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Die Key-Reihenfolge folgt Zugriff, Range und Sortierung – nicht nur Selektivität</a:t>
            </a:r>
          </a:p>
        </p:txBody>
      </p:sp>
      <p:sp>
        <p:nvSpPr>
          <p:cNvPr id="3" name="title-rule">
            <a:extLst>
              <a:ext uri="{FF2B5EF4-FFF2-40B4-BE49-F238E27FC236}">
                <a16:creationId xmlns:a16="http://schemas.microsoft.com/office/drawing/2014/main" id="{1AEE3C47-5BC4-411A-9D7D-9FA666F1CFDD}"/>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673B6ACB-1222-46BD-9A1F-1B533EF1ECCA}"/>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304667DF-DA17-4B0D-AEEC-5FF64910806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52 / 102</a:t>
            </a:r>
          </a:p>
        </p:txBody>
      </p:sp>
      <p:sp>
        <p:nvSpPr>
          <p:cNvPr id="6" name="lead">
            <a:extLst>
              <a:ext uri="{FF2B5EF4-FFF2-40B4-BE49-F238E27FC236}">
                <a16:creationId xmlns:a16="http://schemas.microsoft.com/office/drawing/2014/main" id="{111EB67A-2A15-4EF3-9835-6D4EAD5C17DB}"/>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 Composite Index kann nur seine führenden Keypräfixe direkt als geordneten Suchraum nutzen.</a:t>
            </a:r>
          </a:p>
        </p:txBody>
      </p:sp>
      <p:sp>
        <p:nvSpPr>
          <p:cNvPr id="7" name="lead-accent">
            <a:extLst>
              <a:ext uri="{FF2B5EF4-FFF2-40B4-BE49-F238E27FC236}">
                <a16:creationId xmlns:a16="http://schemas.microsoft.com/office/drawing/2014/main" id="{102B12F4-CF24-440A-A5B2-251CE62AB32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CFB08631-6E74-4308-809C-B0AE729C4841}"/>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Equality-Spalten typischerweise vor Range-Spalten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ORDER BY und Join-Reihenfolge können relevant sein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INCLUDE beeinflusst Coverage, nicht Key-Sortierung</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ein Index kann mehrere wichtige Query Patterns bedienen</a:t>
            </a:r>
          </a:p>
        </p:txBody>
      </p:sp>
    </p:spTree>
    <p:extLst>
      <p:ext uri="{BB962C8B-B14F-4D97-AF65-F5344CB8AC3E}">
        <p14:creationId xmlns:p14="http://schemas.microsoft.com/office/powerpoint/2010/main" val="336373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4784350D-9EB9-4139-9BEF-931D49C737A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176F39CE-94FE-4A8B-8FE5-7292CBB1DF2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INCLUDE und Filter reduzieren unterschiedliche Kosten</a:t>
            </a:r>
          </a:p>
        </p:txBody>
      </p:sp>
      <p:sp>
        <p:nvSpPr>
          <p:cNvPr id="3" name="title-rule">
            <a:extLst>
              <a:ext uri="{FF2B5EF4-FFF2-40B4-BE49-F238E27FC236}">
                <a16:creationId xmlns:a16="http://schemas.microsoft.com/office/drawing/2014/main" id="{DFACC0F8-650A-464E-8938-16E59202025A}"/>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33D6D913-77C7-42D6-B89E-D46A4B2A0F58}"/>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0681AA53-D5D2-4E37-887B-3B6EAB0E0E9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53 / 102</a:t>
            </a:r>
          </a:p>
        </p:txBody>
      </p:sp>
      <p:sp>
        <p:nvSpPr>
          <p:cNvPr id="6" name="left-title">
            <a:extLst>
              <a:ext uri="{FF2B5EF4-FFF2-40B4-BE49-F238E27FC236}">
                <a16:creationId xmlns:a16="http://schemas.microsoft.com/office/drawing/2014/main" id="{8C6B7CC2-2C1B-438F-91E0-9579B3E2D112}"/>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INCLUDE</a:t>
            </a:r>
          </a:p>
        </p:txBody>
      </p:sp>
      <p:sp>
        <p:nvSpPr>
          <p:cNvPr id="7" name="right-title">
            <a:extLst>
              <a:ext uri="{FF2B5EF4-FFF2-40B4-BE49-F238E27FC236}">
                <a16:creationId xmlns:a16="http://schemas.microsoft.com/office/drawing/2014/main" id="{06928F02-A69F-4F63-B8A6-FC9C6DF7FEAF}"/>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Filtered Index</a:t>
            </a:r>
          </a:p>
        </p:txBody>
      </p:sp>
      <p:sp>
        <p:nvSpPr>
          <p:cNvPr id="8" name="middle-rule">
            <a:extLst>
              <a:ext uri="{FF2B5EF4-FFF2-40B4-BE49-F238E27FC236}">
                <a16:creationId xmlns:a16="http://schemas.microsoft.com/office/drawing/2014/main" id="{BC566253-8634-4CBE-9BBB-F057C59B033F}"/>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5DE334FD-40C3-4171-BE19-66D983AF1D14}"/>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zusätzliche Leaf-Spalten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vermeidet Lookups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verbreitert Leaf Level und Writes</a:t>
            </a:r>
          </a:p>
        </p:txBody>
      </p:sp>
      <p:sp>
        <p:nvSpPr>
          <p:cNvPr id="10" name="right-points">
            <a:extLst>
              <a:ext uri="{FF2B5EF4-FFF2-40B4-BE49-F238E27FC236}">
                <a16:creationId xmlns:a16="http://schemas.microsoft.com/office/drawing/2014/main" id="{497C7B2A-3FFF-4FFC-AFF8-C764666A0697}"/>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enthält nur qualifizierte Rows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kleiner und selektiver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Query-Prädikat muss Filter logisch implizieren</a:t>
            </a:r>
          </a:p>
        </p:txBody>
      </p:sp>
      <p:sp>
        <p:nvSpPr>
          <p:cNvPr id="11" name="conclusion-bg">
            <a:extLst>
              <a:ext uri="{FF2B5EF4-FFF2-40B4-BE49-F238E27FC236}">
                <a16:creationId xmlns:a16="http://schemas.microsoft.com/office/drawing/2014/main" id="{2146889E-5EA7-4165-8182-FB685CF49808}"/>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33B7B717-57AA-47F8-9DC9-2FA173401DEF}"/>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Coverage wird gegen Speicher-, Log- und Wartungskosten abgewogen.</a:t>
            </a:r>
          </a:p>
        </p:txBody>
      </p:sp>
    </p:spTree>
    <p:extLst>
      <p:ext uri="{BB962C8B-B14F-4D97-AF65-F5344CB8AC3E}">
        <p14:creationId xmlns:p14="http://schemas.microsoft.com/office/powerpoint/2010/main" val="1159156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7" name="module-label">
            <a:extLst>
              <a:ext uri="{FF2B5EF4-FFF2-40B4-BE49-F238E27FC236}">
                <a16:creationId xmlns:a16="http://schemas.microsoft.com/office/drawing/2014/main" id="{F3C3C9A6-D28B-4184-89B3-FF556B1A1BF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2A839A28-5F84-44BC-9B77-852037BA534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Mit wachsender Trefferzahl kann ein Scan günstiger als viele Lookups werden</a:t>
            </a:r>
          </a:p>
        </p:txBody>
      </p:sp>
      <p:sp>
        <p:nvSpPr>
          <p:cNvPr id="3" name="title-rule">
            <a:extLst>
              <a:ext uri="{FF2B5EF4-FFF2-40B4-BE49-F238E27FC236}">
                <a16:creationId xmlns:a16="http://schemas.microsoft.com/office/drawing/2014/main" id="{2E2E53EC-6C0B-4F33-867A-E84894503690}"/>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CEDFBA61-7681-4894-9CC8-5981E966E2E2}"/>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C55DBE42-54CD-4DE7-9675-D572A04159DC}"/>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54 / 102</a:t>
            </a:r>
          </a:p>
        </p:txBody>
      </p:sp>
      <p:sp>
        <p:nvSpPr>
          <p:cNvPr id="6" name="tip-axis-x">
            <a:extLst>
              <a:ext uri="{FF2B5EF4-FFF2-40B4-BE49-F238E27FC236}">
                <a16:creationId xmlns:a16="http://schemas.microsoft.com/office/drawing/2014/main" id="{D4968FB9-0DF2-410C-ABB7-7A6B4D9E53D3}"/>
              </a:ext>
            </a:extLst>
          </p:cNvPr>
          <p:cNvSpPr>
            <a:spLocks noGrp="1"/>
          </p:cNvSpPr>
          <p:nvPr/>
        </p:nvSpPr>
        <p:spPr>
          <a:xfrm>
            <a:off x="1238250" y="5219700"/>
            <a:ext cx="8953500" cy="28575"/>
          </a:xfrm>
          <a:prstGeom prst="rect">
            <a:avLst/>
          </a:prstGeom>
          <a:solidFill>
            <a:srgbClr val="102A43"/>
          </a:solidFill>
          <a:ln w="0">
            <a:noFill/>
            <a:prstDash val="solid"/>
          </a:ln>
        </p:spPr>
        <p:txBody>
          <a:bodyPr/>
          <a:lstStyle/>
          <a:p>
            <a:endParaRPr/>
          </a:p>
        </p:txBody>
      </p:sp>
      <p:sp>
        <p:nvSpPr>
          <p:cNvPr id="7" name="tip-axis-y">
            <a:extLst>
              <a:ext uri="{FF2B5EF4-FFF2-40B4-BE49-F238E27FC236}">
                <a16:creationId xmlns:a16="http://schemas.microsoft.com/office/drawing/2014/main" id="{EFBE65F9-DEB7-4D13-91B7-7DCCC6B045D0}"/>
              </a:ext>
            </a:extLst>
          </p:cNvPr>
          <p:cNvSpPr>
            <a:spLocks noGrp="1"/>
          </p:cNvSpPr>
          <p:nvPr/>
        </p:nvSpPr>
        <p:spPr>
          <a:xfrm>
            <a:off x="1238250" y="2419350"/>
            <a:ext cx="28575" cy="2828925"/>
          </a:xfrm>
          <a:prstGeom prst="rect">
            <a:avLst/>
          </a:prstGeom>
          <a:solidFill>
            <a:srgbClr val="102A43"/>
          </a:solidFill>
          <a:ln w="0">
            <a:noFill/>
            <a:prstDash val="solid"/>
          </a:ln>
        </p:spPr>
        <p:txBody>
          <a:bodyPr/>
          <a:lstStyle/>
          <a:p>
            <a:endParaRPr/>
          </a:p>
        </p:txBody>
      </p:sp>
      <p:sp>
        <p:nvSpPr>
          <p:cNvPr id="8" name="seek-start">
            <a:extLst>
              <a:ext uri="{FF2B5EF4-FFF2-40B4-BE49-F238E27FC236}">
                <a16:creationId xmlns:a16="http://schemas.microsoft.com/office/drawing/2014/main" id="{445CF686-88D7-47D4-A2CD-9B709935EDB9}"/>
              </a:ext>
            </a:extLst>
          </p:cNvPr>
          <p:cNvSpPr>
            <a:spLocks noGrp="1"/>
          </p:cNvSpPr>
          <p:nvPr/>
        </p:nvSpPr>
        <p:spPr>
          <a:xfrm>
            <a:off x="1676400" y="4876800"/>
            <a:ext cx="95250" cy="95250"/>
          </a:xfrm>
          <a:prstGeom prst="ellipse">
            <a:avLst/>
          </a:prstGeom>
          <a:solidFill>
            <a:srgbClr val="007C83"/>
          </a:solidFill>
          <a:ln w="9525">
            <a:solidFill>
              <a:srgbClr val="007C83"/>
            </a:solidFill>
            <a:prstDash val="solid"/>
          </a:ln>
        </p:spPr>
        <p:txBody>
          <a:bodyPr/>
          <a:lstStyle/>
          <a:p>
            <a:endParaRPr/>
          </a:p>
        </p:txBody>
      </p:sp>
      <p:sp>
        <p:nvSpPr>
          <p:cNvPr id="9" name="seek-end">
            <a:extLst>
              <a:ext uri="{FF2B5EF4-FFF2-40B4-BE49-F238E27FC236}">
                <a16:creationId xmlns:a16="http://schemas.microsoft.com/office/drawing/2014/main" id="{B23F0F70-0C62-4A8C-AD06-698EB68D3396}"/>
              </a:ext>
            </a:extLst>
          </p:cNvPr>
          <p:cNvSpPr>
            <a:spLocks noGrp="1"/>
          </p:cNvSpPr>
          <p:nvPr/>
        </p:nvSpPr>
        <p:spPr>
          <a:xfrm>
            <a:off x="9620250" y="2609850"/>
            <a:ext cx="95250" cy="95250"/>
          </a:xfrm>
          <a:prstGeom prst="ellipse">
            <a:avLst/>
          </a:prstGeom>
          <a:solidFill>
            <a:srgbClr val="007C83"/>
          </a:solidFill>
          <a:ln w="9525">
            <a:solidFill>
              <a:srgbClr val="007C83"/>
            </a:solidFill>
            <a:prstDash val="solid"/>
          </a:ln>
        </p:spPr>
        <p:txBody>
          <a:bodyPr/>
          <a:lstStyle/>
          <a:p>
            <a:endParaRPr/>
          </a:p>
        </p:txBody>
      </p:sp>
      <p:cxnSp>
        <p:nvCxnSpPr>
          <p:cNvPr id="76" name="Gerade Verbindung mit Pfeil 45"/>
          <p:cNvCxnSpPr>
            <a:stCxn id="8" idx="6"/>
            <a:endCxn id="9" idx="2"/>
          </p:cNvCxnSpPr>
          <p:nvPr/>
        </p:nvCxnSpPr>
        <p:spPr>
          <a:xfrm flipV="1">
            <a:off x="1771650" y="2657475"/>
            <a:ext cx="7848600" cy="2266950"/>
          </a:xfrm>
          <a:prstGeom prst="straightConnector1">
            <a:avLst/>
          </a:prstGeom>
          <a:ln w="38100">
            <a:solidFill>
              <a:srgbClr val="007C83"/>
            </a:solidFill>
            <a:prstDash val="solid"/>
          </a:ln>
        </p:spPr>
      </p:cxnSp>
      <p:sp>
        <p:nvSpPr>
          <p:cNvPr id="11" name="scan-line">
            <a:extLst>
              <a:ext uri="{FF2B5EF4-FFF2-40B4-BE49-F238E27FC236}">
                <a16:creationId xmlns:a16="http://schemas.microsoft.com/office/drawing/2014/main" id="{F9D5E3F5-1737-46FE-ADCD-241D9968B483}"/>
              </a:ext>
            </a:extLst>
          </p:cNvPr>
          <p:cNvSpPr>
            <a:spLocks noGrp="1"/>
          </p:cNvSpPr>
          <p:nvPr/>
        </p:nvSpPr>
        <p:spPr>
          <a:xfrm>
            <a:off x="1714500" y="3429000"/>
            <a:ext cx="6762750" cy="38100"/>
          </a:xfrm>
          <a:prstGeom prst="rect">
            <a:avLst/>
          </a:prstGeom>
          <a:solidFill>
            <a:srgbClr val="F4A261"/>
          </a:solidFill>
          <a:ln w="0">
            <a:noFill/>
            <a:prstDash val="solid"/>
          </a:ln>
        </p:spPr>
        <p:txBody>
          <a:bodyPr/>
          <a:lstStyle/>
          <a:p>
            <a:endParaRPr/>
          </a:p>
        </p:txBody>
      </p:sp>
      <p:sp>
        <p:nvSpPr>
          <p:cNvPr id="12" name="seek-label">
            <a:extLst>
              <a:ext uri="{FF2B5EF4-FFF2-40B4-BE49-F238E27FC236}">
                <a16:creationId xmlns:a16="http://schemas.microsoft.com/office/drawing/2014/main" id="{7E226368-4349-4D82-A17A-9D7401E06151}"/>
              </a:ext>
            </a:extLst>
          </p:cNvPr>
          <p:cNvSpPr>
            <a:spLocks noGrp="1"/>
          </p:cNvSpPr>
          <p:nvPr/>
        </p:nvSpPr>
        <p:spPr>
          <a:xfrm>
            <a:off x="1790700" y="3714750"/>
            <a:ext cx="2857500" cy="6096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Seek + Lookup</a:t>
            </a:r>
          </a:p>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steigende Kosten</a:t>
            </a:r>
          </a:p>
        </p:txBody>
      </p:sp>
      <p:sp>
        <p:nvSpPr>
          <p:cNvPr id="13" name="scan-label">
            <a:extLst>
              <a:ext uri="{FF2B5EF4-FFF2-40B4-BE49-F238E27FC236}">
                <a16:creationId xmlns:a16="http://schemas.microsoft.com/office/drawing/2014/main" id="{89F9E172-A634-4100-8CF1-06B9B87C8846}"/>
              </a:ext>
            </a:extLst>
          </p:cNvPr>
          <p:cNvSpPr>
            <a:spLocks noGrp="1"/>
          </p:cNvSpPr>
          <p:nvPr/>
        </p:nvSpPr>
        <p:spPr>
          <a:xfrm>
            <a:off x="1714500" y="3086100"/>
            <a:ext cx="4572000" cy="3048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A9611B"/>
                </a:solidFill>
                <a:latin typeface="Aptos"/>
                <a:ea typeface="Aptos"/>
                <a:cs typeface="Aptos"/>
              </a:defRPr>
            </a:pPr>
            <a:r>
              <a:rPr sz="1575" b="1" i="0">
                <a:solidFill>
                  <a:srgbClr val="A9611B"/>
                </a:solidFill>
                <a:latin typeface="Aptos"/>
                <a:ea typeface="Aptos"/>
                <a:cs typeface="Aptos"/>
              </a:rPr>
              <a:t>Scan: relativ konstante Basiskosten</a:t>
            </a:r>
          </a:p>
        </p:txBody>
      </p:sp>
      <p:sp>
        <p:nvSpPr>
          <p:cNvPr id="14" name="tip-point">
            <a:extLst>
              <a:ext uri="{FF2B5EF4-FFF2-40B4-BE49-F238E27FC236}">
                <a16:creationId xmlns:a16="http://schemas.microsoft.com/office/drawing/2014/main" id="{08300962-0011-4499-BFA5-5266F7B66917}"/>
              </a:ext>
            </a:extLst>
          </p:cNvPr>
          <p:cNvSpPr>
            <a:spLocks noGrp="1"/>
          </p:cNvSpPr>
          <p:nvPr/>
        </p:nvSpPr>
        <p:spPr>
          <a:xfrm>
            <a:off x="6610350" y="3295650"/>
            <a:ext cx="228600" cy="228600"/>
          </a:xfrm>
          <a:prstGeom prst="ellipse">
            <a:avLst/>
          </a:prstGeom>
          <a:solidFill>
            <a:srgbClr val="C94C4C"/>
          </a:solidFill>
          <a:ln w="9525">
            <a:solidFill>
              <a:srgbClr val="C94C4C"/>
            </a:solidFill>
            <a:prstDash val="solid"/>
          </a:ln>
        </p:spPr>
        <p:txBody>
          <a:bodyPr/>
          <a:lstStyle/>
          <a:p>
            <a:endParaRPr/>
          </a:p>
        </p:txBody>
      </p:sp>
      <p:sp>
        <p:nvSpPr>
          <p:cNvPr id="15" name="tip-label">
            <a:extLst>
              <a:ext uri="{FF2B5EF4-FFF2-40B4-BE49-F238E27FC236}">
                <a16:creationId xmlns:a16="http://schemas.microsoft.com/office/drawing/2014/main" id="{E25D8706-0AED-4369-BBA0-5B4FC4E9A0B8}"/>
              </a:ext>
            </a:extLst>
          </p:cNvPr>
          <p:cNvSpPr>
            <a:spLocks noGrp="1"/>
          </p:cNvSpPr>
          <p:nvPr/>
        </p:nvSpPr>
        <p:spPr>
          <a:xfrm>
            <a:off x="7086600" y="3600450"/>
            <a:ext cx="2667000" cy="60960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C94C4C"/>
                </a:solidFill>
                <a:latin typeface="Aptos"/>
                <a:ea typeface="Aptos"/>
                <a:cs typeface="Aptos"/>
              </a:defRPr>
            </a:pPr>
            <a:r>
              <a:rPr sz="1875" b="1" i="0">
                <a:solidFill>
                  <a:srgbClr val="C94C4C"/>
                </a:solidFill>
                <a:latin typeface="Aptos"/>
                <a:ea typeface="Aptos"/>
                <a:cs typeface="Aptos"/>
              </a:rPr>
              <a:t>planabhängiger</a:t>
            </a:r>
          </a:p>
          <a:p>
            <a:pPr algn="l">
              <a:lnSpc>
                <a:spcPct val="105000"/>
              </a:lnSpc>
              <a:buNone/>
              <a:defRPr sz="1875" b="1" i="0">
                <a:solidFill>
                  <a:srgbClr val="C94C4C"/>
                </a:solidFill>
                <a:latin typeface="Aptos"/>
                <a:ea typeface="Aptos"/>
                <a:cs typeface="Aptos"/>
              </a:defRPr>
            </a:pPr>
            <a:r>
              <a:rPr sz="1875" b="1" i="0">
                <a:solidFill>
                  <a:srgbClr val="C94C4C"/>
                </a:solidFill>
                <a:latin typeface="Aptos"/>
                <a:ea typeface="Aptos"/>
                <a:cs typeface="Aptos"/>
              </a:rPr>
              <a:t>Tipping Point</a:t>
            </a:r>
          </a:p>
        </p:txBody>
      </p:sp>
      <p:sp>
        <p:nvSpPr>
          <p:cNvPr id="16" name="tip-x-label">
            <a:extLst>
              <a:ext uri="{FF2B5EF4-FFF2-40B4-BE49-F238E27FC236}">
                <a16:creationId xmlns:a16="http://schemas.microsoft.com/office/drawing/2014/main" id="{EDF91C89-5669-47F4-980B-39DD66D3FADA}"/>
              </a:ext>
            </a:extLst>
          </p:cNvPr>
          <p:cNvSpPr>
            <a:spLocks noGrp="1"/>
          </p:cNvSpPr>
          <p:nvPr/>
        </p:nvSpPr>
        <p:spPr>
          <a:xfrm>
            <a:off x="4324350" y="5467350"/>
            <a:ext cx="3048000" cy="266700"/>
          </a:xfrm>
          <a:prstGeom prst="rect">
            <a:avLst/>
          </a:prstGeom>
          <a:noFill/>
          <a:ln w="0">
            <a:noFill/>
            <a:prstDash val="solid"/>
          </a:ln>
        </p:spPr>
        <p:txBody>
          <a:bodyPr wrap="square" lIns="0" tIns="0" rIns="0" bIns="0" anchor="t">
            <a:normAutofit/>
          </a:bodyPr>
          <a:lstStyle/>
          <a:p>
            <a:pPr algn="ctr">
              <a:lnSpc>
                <a:spcPct val="105000"/>
              </a:lnSpc>
              <a:buNone/>
              <a:defRPr sz="1425" b="1" i="0">
                <a:solidFill>
                  <a:srgbClr val="52606D"/>
                </a:solidFill>
                <a:latin typeface="Aptos"/>
                <a:ea typeface="Aptos"/>
                <a:cs typeface="Aptos"/>
              </a:defRPr>
            </a:pPr>
            <a:r>
              <a:rPr sz="1425" b="1" i="0">
                <a:solidFill>
                  <a:srgbClr val="52606D"/>
                </a:solidFill>
                <a:latin typeface="Aptos"/>
                <a:ea typeface="Aptos"/>
                <a:cs typeface="Aptos"/>
              </a:rPr>
              <a:t>Trefferzahl steigt</a:t>
            </a:r>
          </a:p>
        </p:txBody>
      </p:sp>
      <p:sp>
        <p:nvSpPr>
          <p:cNvPr id="201" name="tip-y-label"/>
          <p:cNvSpPr>
            <a:spLocks noGrp="1"/>
          </p:cNvSpPr>
          <p:nvPr/>
        </p:nvSpPr>
        <p:spPr>
          <a:xfrm>
            <a:off x="1400000" y="2120000"/>
            <a:ext cx="5300000" cy="3000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526777"/>
                </a:solidFill>
                <a:latin typeface="Aptos"/>
                <a:ea typeface="Aptos"/>
                <a:cs typeface="Aptos"/>
              </a:defRPr>
            </a:pPr>
            <a:r>
              <a:rPr sz="1500" b="1" i="0">
                <a:solidFill>
                  <a:srgbClr val="526777"/>
                </a:solidFill>
                <a:latin typeface="Aptos"/>
                <a:ea typeface="Aptos"/>
                <a:cs typeface="Aptos"/>
              </a:rPr>
              <a:t>Relative Zugriffskosten (Schema)</a:t>
            </a:r>
          </a:p>
        </p:txBody>
      </p:sp>
    </p:spTree>
    <p:extLst>
      <p:ext uri="{BB962C8B-B14F-4D97-AF65-F5344CB8AC3E}">
        <p14:creationId xmlns:p14="http://schemas.microsoft.com/office/powerpoint/2010/main" val="1453763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97D332A8-3E97-4906-AA05-F4571B75B25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6A346B1D-B5E2-4783-9E89-54A2257AB2C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breiter oder nicht eindeutiger Clustering Key vervielfacht Folgekosten</a:t>
            </a:r>
          </a:p>
        </p:txBody>
      </p:sp>
      <p:sp>
        <p:nvSpPr>
          <p:cNvPr id="3" name="title-rule">
            <a:extLst>
              <a:ext uri="{FF2B5EF4-FFF2-40B4-BE49-F238E27FC236}">
                <a16:creationId xmlns:a16="http://schemas.microsoft.com/office/drawing/2014/main" id="{10795166-0E09-4487-BB82-E4E0498D9EC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30E4CCE6-59DE-46D5-8272-FA3449156EC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E872F1BE-EFC8-4FD7-818F-2B11D9446693}"/>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55 / 102</a:t>
            </a:r>
          </a:p>
        </p:txBody>
      </p:sp>
      <p:sp>
        <p:nvSpPr>
          <p:cNvPr id="6" name="lead">
            <a:extLst>
              <a:ext uri="{FF2B5EF4-FFF2-40B4-BE49-F238E27FC236}">
                <a16:creationId xmlns:a16="http://schemas.microsoft.com/office/drawing/2014/main" id="{1D2BF7DE-1C22-4477-93D1-26AF843A0C21}"/>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Clustering Key wird als Row Locator in Nonclustered Indexes geführt.</a:t>
            </a:r>
          </a:p>
        </p:txBody>
      </p:sp>
      <p:sp>
        <p:nvSpPr>
          <p:cNvPr id="7" name="lead-accent">
            <a:extLst>
              <a:ext uri="{FF2B5EF4-FFF2-40B4-BE49-F238E27FC236}">
                <a16:creationId xmlns:a16="http://schemas.microsoft.com/office/drawing/2014/main" id="{CAC32D6D-9700-47CF-917F-C1B7CA93859D}"/>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BC822B61-6971-4ED9-BF2D-BA26B13E98D4}"/>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breiter Key erhöht Speicher, Ein-/Ausgabezugriffe (I/O) und Buffer-Pool-Druck</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nicht eindeutiger Key kann einen 4-Byte-Uniqueifier benötigen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Key-Updates betreffen alle abhängigen Nonclustered Indexes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narrow, unique, immutable und möglichst sequenziell sind Designziele – keine Dogmen</a:t>
            </a:r>
          </a:p>
        </p:txBody>
      </p:sp>
    </p:spTree>
    <p:extLst>
      <p:ext uri="{BB962C8B-B14F-4D97-AF65-F5344CB8AC3E}">
        <p14:creationId xmlns:p14="http://schemas.microsoft.com/office/powerpoint/2010/main" val="902461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F57677C0-88C6-47D9-AC76-86786CC4F81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096CDB8B-38D5-4E4D-8A99-DA74A7C6A44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Jeder zusätzliche Index tauscht Read-Kosten gegen DML- und Betriebskosten</a:t>
            </a:r>
          </a:p>
        </p:txBody>
      </p:sp>
      <p:sp>
        <p:nvSpPr>
          <p:cNvPr id="3" name="title-rule">
            <a:extLst>
              <a:ext uri="{FF2B5EF4-FFF2-40B4-BE49-F238E27FC236}">
                <a16:creationId xmlns:a16="http://schemas.microsoft.com/office/drawing/2014/main" id="{3201A524-114A-4AF3-A0CB-E46BC2FCF00C}"/>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E345FCCA-5664-4102-BC1F-92EFF42CF14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E2E9201-BB20-47E1-B1C5-5A5BF97FB58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56 / 102</a:t>
            </a:r>
          </a:p>
        </p:txBody>
      </p:sp>
      <p:sp>
        <p:nvSpPr>
          <p:cNvPr id="6" name="left-title">
            <a:extLst>
              <a:ext uri="{FF2B5EF4-FFF2-40B4-BE49-F238E27FC236}">
                <a16:creationId xmlns:a16="http://schemas.microsoft.com/office/drawing/2014/main" id="{48C1F50B-8047-4022-9BBF-EE4AD79C2304}"/>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Read-Nutzen</a:t>
            </a:r>
          </a:p>
        </p:txBody>
      </p:sp>
      <p:sp>
        <p:nvSpPr>
          <p:cNvPr id="7" name="right-title">
            <a:extLst>
              <a:ext uri="{FF2B5EF4-FFF2-40B4-BE49-F238E27FC236}">
                <a16:creationId xmlns:a16="http://schemas.microsoft.com/office/drawing/2014/main" id="{FD800986-49C7-42B6-ACBE-45AAEA91CFE6}"/>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Write-Kosten</a:t>
            </a:r>
          </a:p>
        </p:txBody>
      </p:sp>
      <p:sp>
        <p:nvSpPr>
          <p:cNvPr id="8" name="middle-rule">
            <a:extLst>
              <a:ext uri="{FF2B5EF4-FFF2-40B4-BE49-F238E27FC236}">
                <a16:creationId xmlns:a16="http://schemas.microsoft.com/office/drawing/2014/main" id="{C4CFF50F-3EF4-41A7-AF2C-0B03AB9464B1}"/>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13CB0E2F-6AE2-4B3C-86D5-A7ABFCC21294}"/>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 Sortvermeidung und Coverage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bessere Join- und Filterpfade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weniger gelesene Pages</a:t>
            </a:r>
          </a:p>
        </p:txBody>
      </p:sp>
      <p:sp>
        <p:nvSpPr>
          <p:cNvPr id="10" name="right-points">
            <a:extLst>
              <a:ext uri="{FF2B5EF4-FFF2-40B4-BE49-F238E27FC236}">
                <a16:creationId xmlns:a16="http://schemas.microsoft.com/office/drawing/2014/main" id="{2DA725E8-AC65-41C7-A193-422DA61C4B83}"/>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INSERT, UPDATE und DELETE pflegen jede Struktur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mehr Log, Memory und Locks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Rebuild, Reorganize und Statistikpflege</a:t>
            </a:r>
          </a:p>
        </p:txBody>
      </p:sp>
      <p:sp>
        <p:nvSpPr>
          <p:cNvPr id="11" name="conclusion-bg">
            <a:extLst>
              <a:ext uri="{FF2B5EF4-FFF2-40B4-BE49-F238E27FC236}">
                <a16:creationId xmlns:a16="http://schemas.microsoft.com/office/drawing/2014/main" id="{BF35885A-F305-47FD-ACBF-AE2DA46C8CF4}"/>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62BB85C6-2A1B-44BB-ABAF-FEE48D19F324}"/>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Indexdesign beginnt bei priorisierten Workloads, nicht bei Missing-Index-Vorschlägen allein.</a:t>
            </a:r>
          </a:p>
        </p:txBody>
      </p:sp>
    </p:spTree>
    <p:extLst>
      <p:ext uri="{BB962C8B-B14F-4D97-AF65-F5344CB8AC3E}">
        <p14:creationId xmlns:p14="http://schemas.microsoft.com/office/powerpoint/2010/main" val="14629769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DE18BA18-CC1F-47E0-A979-5D601D50125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FEE11A01-916B-42E3-B5B6-0A38CCEF856F}"/>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Page Splits, Fragmentation und Page Density dürfen nicht gleichgesetzt werden</a:t>
            </a:r>
          </a:p>
        </p:txBody>
      </p:sp>
      <p:sp>
        <p:nvSpPr>
          <p:cNvPr id="3" name="title-rule">
            <a:extLst>
              <a:ext uri="{FF2B5EF4-FFF2-40B4-BE49-F238E27FC236}">
                <a16:creationId xmlns:a16="http://schemas.microsoft.com/office/drawing/2014/main" id="{DDD52A3B-B4A8-4EB2-9533-CC53105AB38D}"/>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9148A56-BD2F-4CA9-B428-9180B9527C3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C99154ED-4861-488F-91D5-E5BBE784D49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57 / 102</a:t>
            </a:r>
          </a:p>
        </p:txBody>
      </p:sp>
      <p:sp>
        <p:nvSpPr>
          <p:cNvPr id="6" name="left-title">
            <a:extLst>
              <a:ext uri="{FF2B5EF4-FFF2-40B4-BE49-F238E27FC236}">
                <a16:creationId xmlns:a16="http://schemas.microsoft.com/office/drawing/2014/main" id="{E0D3FB46-440F-4205-9CB9-BEA4904B0838}"/>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Page Split</a:t>
            </a:r>
          </a:p>
        </p:txBody>
      </p:sp>
      <p:sp>
        <p:nvSpPr>
          <p:cNvPr id="7" name="right-title">
            <a:extLst>
              <a:ext uri="{FF2B5EF4-FFF2-40B4-BE49-F238E27FC236}">
                <a16:creationId xmlns:a16="http://schemas.microsoft.com/office/drawing/2014/main" id="{0A9FF7A1-34F0-4BE9-8347-6C4B79A7EDD9}"/>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Page Density</a:t>
            </a:r>
          </a:p>
        </p:txBody>
      </p:sp>
      <p:sp>
        <p:nvSpPr>
          <p:cNvPr id="8" name="middle-rule">
            <a:extLst>
              <a:ext uri="{FF2B5EF4-FFF2-40B4-BE49-F238E27FC236}">
                <a16:creationId xmlns:a16="http://schemas.microsoft.com/office/drawing/2014/main" id="{82E32052-F449-4F66-A4CE-972C82061080}"/>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05FC88F8-00ED-4F50-A58F-7D1B0CD13A5D}"/>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neue Page und Row-Verteilung</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Log- und Write-Kosten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interne Fragmentation hinterlassen</a:t>
            </a:r>
          </a:p>
        </p:txBody>
      </p:sp>
      <p:sp>
        <p:nvSpPr>
          <p:cNvPr id="10" name="right-points">
            <a:extLst>
              <a:ext uri="{FF2B5EF4-FFF2-40B4-BE49-F238E27FC236}">
                <a16:creationId xmlns:a16="http://schemas.microsoft.com/office/drawing/2014/main" id="{BFC6878B-75B2-46DE-8536-862C92E3B7D7}"/>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Rows pro Page und Cacheeffizienz</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niedrige Dichte erhöht Reads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Fill Factor beeinflusst Dichte nach Rebuild</a:t>
            </a:r>
          </a:p>
        </p:txBody>
      </p:sp>
      <p:sp>
        <p:nvSpPr>
          <p:cNvPr id="11" name="conclusion-bg">
            <a:extLst>
              <a:ext uri="{FF2B5EF4-FFF2-40B4-BE49-F238E27FC236}">
                <a16:creationId xmlns:a16="http://schemas.microsoft.com/office/drawing/2014/main" id="{E3BE006A-08C7-49D8-9A7F-DCA85F5F7055}"/>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20A84467-8286-4EC9-9E9C-863911B3E9FA}"/>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Für viele Workloads ist Page Density wichtiger als reine Fragmentation.</a:t>
            </a:r>
          </a:p>
        </p:txBody>
      </p:sp>
    </p:spTree>
    <p:extLst>
      <p:ext uri="{BB962C8B-B14F-4D97-AF65-F5344CB8AC3E}">
        <p14:creationId xmlns:p14="http://schemas.microsoft.com/office/powerpoint/2010/main" val="853938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15574421-1D62-4636-8018-E2627000DC14}"/>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67BAAAA9-64A8-460C-9FFB-F732B8D7C67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Index Maintenance ist eine evidenzbasierte Betriebsentscheidung</a:t>
            </a:r>
          </a:p>
        </p:txBody>
      </p:sp>
      <p:sp>
        <p:nvSpPr>
          <p:cNvPr id="3" name="title-rule">
            <a:extLst>
              <a:ext uri="{FF2B5EF4-FFF2-40B4-BE49-F238E27FC236}">
                <a16:creationId xmlns:a16="http://schemas.microsoft.com/office/drawing/2014/main" id="{59FC73CC-D34B-4417-A2C7-DE3D20456825}"/>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0C41EE3-15DC-4A42-BE6C-1A6B1FE10010}"/>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65F3CDC4-1AD8-4EF9-AEE0-28C619EBD8D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58 / 102</a:t>
            </a:r>
          </a:p>
        </p:txBody>
      </p:sp>
      <p:sp>
        <p:nvSpPr>
          <p:cNvPr id="6" name="lead">
            <a:extLst>
              <a:ext uri="{FF2B5EF4-FFF2-40B4-BE49-F238E27FC236}">
                <a16:creationId xmlns:a16="http://schemas.microsoft.com/office/drawing/2014/main" id="{B51493F5-3A4A-488F-8819-5DFFDC72963A}"/>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Reorganize, Rebuild und Statistikpflege lösen unterschiedliche Probleme und erzeugen unterschiedliche Last.</a:t>
            </a:r>
          </a:p>
        </p:txBody>
      </p:sp>
      <p:sp>
        <p:nvSpPr>
          <p:cNvPr id="7" name="lead-accent">
            <a:extLst>
              <a:ext uri="{FF2B5EF4-FFF2-40B4-BE49-F238E27FC236}">
                <a16:creationId xmlns:a16="http://schemas.microsoft.com/office/drawing/2014/main" id="{A2F97584-C75D-4CC4-8DE9-544C31E506E3}"/>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7E138BAB-96B9-465B-AB23-18EE98BDF836}"/>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avg_page_space_used_in_percent und Workloadwirkung prüfen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Rebuild benötigt Log-, TempDB-, Storage- und Sperrbudget</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Reorganize bearbeitet Rowstore-Leaf-Level online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Statistikpflege ist nicht identisch mit physischer Maintenance</a:t>
            </a:r>
          </a:p>
        </p:txBody>
      </p:sp>
    </p:spTree>
    <p:extLst>
      <p:ext uri="{BB962C8B-B14F-4D97-AF65-F5344CB8AC3E}">
        <p14:creationId xmlns:p14="http://schemas.microsoft.com/office/powerpoint/2010/main" val="11553582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 name="module-label">
            <a:extLst>
              <a:ext uri="{FF2B5EF4-FFF2-40B4-BE49-F238E27FC236}">
                <a16:creationId xmlns:a16="http://schemas.microsoft.com/office/drawing/2014/main" id="{E9AF5A0E-6FE7-477A-91F5-D8A2B470814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03246B85-0780-4E5C-AEF9-1BB72022C527}"/>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Columnstore organisiert Daten als Rowgroups und komprimierte Column Segments</a:t>
            </a:r>
          </a:p>
        </p:txBody>
      </p:sp>
      <p:sp>
        <p:nvSpPr>
          <p:cNvPr id="3" name="title-rule">
            <a:extLst>
              <a:ext uri="{FF2B5EF4-FFF2-40B4-BE49-F238E27FC236}">
                <a16:creationId xmlns:a16="http://schemas.microsoft.com/office/drawing/2014/main" id="{A336B11A-7061-449D-878B-1631ECC90C6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B28F2C4-002D-48DB-9A1C-DA13325E44D7}"/>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8A5E5A2-5AB6-4908-8E3B-D151188A203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59 / 102</a:t>
            </a:r>
          </a:p>
        </p:txBody>
      </p:sp>
      <p:sp>
        <p:nvSpPr>
          <p:cNvPr id="6" name="cs-rows">
            <a:extLst>
              <a:ext uri="{FF2B5EF4-FFF2-40B4-BE49-F238E27FC236}">
                <a16:creationId xmlns:a16="http://schemas.microsoft.com/office/drawing/2014/main" id="{89517150-769F-408D-A82E-B076E10CACE1}"/>
              </a:ext>
            </a:extLst>
          </p:cNvPr>
          <p:cNvSpPr>
            <a:spLocks noGrp="1"/>
          </p:cNvSpPr>
          <p:nvPr/>
        </p:nvSpPr>
        <p:spPr>
          <a:xfrm>
            <a:off x="742950" y="3276600"/>
            <a:ext cx="15240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7" name="cs-rows-text">
            <a:extLst>
              <a:ext uri="{FF2B5EF4-FFF2-40B4-BE49-F238E27FC236}">
                <a16:creationId xmlns:a16="http://schemas.microsoft.com/office/drawing/2014/main" id="{0BA9B5BC-BF60-4E4C-A823-A9D9B15E194D}"/>
              </a:ext>
            </a:extLst>
          </p:cNvPr>
          <p:cNvSpPr>
            <a:spLocks noGrp="1"/>
          </p:cNvSpPr>
          <p:nvPr/>
        </p:nvSpPr>
        <p:spPr>
          <a:xfrm>
            <a:off x="876300" y="3390900"/>
            <a:ext cx="12573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Rows</a:t>
            </a:r>
          </a:p>
        </p:txBody>
      </p:sp>
      <p:sp>
        <p:nvSpPr>
          <p:cNvPr id="8" name="cs-rg">
            <a:extLst>
              <a:ext uri="{FF2B5EF4-FFF2-40B4-BE49-F238E27FC236}">
                <a16:creationId xmlns:a16="http://schemas.microsoft.com/office/drawing/2014/main" id="{F3302BB1-5C87-4DC1-B731-61F5E0D35E04}"/>
              </a:ext>
            </a:extLst>
          </p:cNvPr>
          <p:cNvSpPr>
            <a:spLocks noGrp="1"/>
          </p:cNvSpPr>
          <p:nvPr/>
        </p:nvSpPr>
        <p:spPr>
          <a:xfrm>
            <a:off x="3009900" y="3028950"/>
            <a:ext cx="2190750" cy="1562100"/>
          </a:xfrm>
          <a:prstGeom prst="roundRect">
            <a:avLst>
              <a:gd name="adj" fmla="val 4878"/>
            </a:avLst>
          </a:prstGeom>
          <a:solidFill>
            <a:srgbClr val="EAF4F4"/>
          </a:solidFill>
          <a:ln w="9525">
            <a:solidFill>
              <a:srgbClr val="D9E2EC"/>
            </a:solidFill>
            <a:prstDash val="solid"/>
          </a:ln>
        </p:spPr>
        <p:txBody>
          <a:bodyPr/>
          <a:lstStyle/>
          <a:p>
            <a:endParaRPr/>
          </a:p>
        </p:txBody>
      </p:sp>
      <p:sp>
        <p:nvSpPr>
          <p:cNvPr id="9" name="cs-rg-text">
            <a:extLst>
              <a:ext uri="{FF2B5EF4-FFF2-40B4-BE49-F238E27FC236}">
                <a16:creationId xmlns:a16="http://schemas.microsoft.com/office/drawing/2014/main" id="{E3AAEF22-E3C6-4EDF-9082-210317C555F4}"/>
              </a:ext>
            </a:extLst>
          </p:cNvPr>
          <p:cNvSpPr>
            <a:spLocks noGrp="1"/>
          </p:cNvSpPr>
          <p:nvPr/>
        </p:nvSpPr>
        <p:spPr>
          <a:xfrm>
            <a:off x="3143250" y="3143250"/>
            <a:ext cx="1924050" cy="13335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Rowgroups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bis 1.048.576 Rows</a:t>
            </a:r>
          </a:p>
        </p:txBody>
      </p:sp>
      <p:sp>
        <p:nvSpPr>
          <p:cNvPr id="10" name="cs-seg">
            <a:extLst>
              <a:ext uri="{FF2B5EF4-FFF2-40B4-BE49-F238E27FC236}">
                <a16:creationId xmlns:a16="http://schemas.microsoft.com/office/drawing/2014/main" id="{89136A7A-2698-46B8-8D47-D093D998E827}"/>
              </a:ext>
            </a:extLst>
          </p:cNvPr>
          <p:cNvSpPr>
            <a:spLocks noGrp="1"/>
          </p:cNvSpPr>
          <p:nvPr/>
        </p:nvSpPr>
        <p:spPr>
          <a:xfrm>
            <a:off x="6019800" y="3028950"/>
            <a:ext cx="2190750" cy="1562100"/>
          </a:xfrm>
          <a:prstGeom prst="roundRect">
            <a:avLst>
              <a:gd name="adj" fmla="val 4878"/>
            </a:avLst>
          </a:prstGeom>
          <a:solidFill>
            <a:srgbClr val="FFF3E4"/>
          </a:solidFill>
          <a:ln w="9525">
            <a:solidFill>
              <a:srgbClr val="D9E2EC"/>
            </a:solidFill>
            <a:prstDash val="solid"/>
          </a:ln>
        </p:spPr>
        <p:txBody>
          <a:bodyPr/>
          <a:lstStyle/>
          <a:p>
            <a:endParaRPr/>
          </a:p>
        </p:txBody>
      </p:sp>
      <p:sp>
        <p:nvSpPr>
          <p:cNvPr id="11" name="cs-seg-text">
            <a:extLst>
              <a:ext uri="{FF2B5EF4-FFF2-40B4-BE49-F238E27FC236}">
                <a16:creationId xmlns:a16="http://schemas.microsoft.com/office/drawing/2014/main" id="{2F53C3BD-B642-449C-A04E-FF40C8426AD6}"/>
              </a:ext>
            </a:extLst>
          </p:cNvPr>
          <p:cNvSpPr>
            <a:spLocks noGrp="1"/>
          </p:cNvSpPr>
          <p:nvPr/>
        </p:nvSpPr>
        <p:spPr>
          <a:xfrm>
            <a:off x="6153150" y="3143250"/>
            <a:ext cx="1924050" cy="13335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Column Segments</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komprimiert</a:t>
            </a:r>
          </a:p>
        </p:txBody>
      </p:sp>
      <p:sp>
        <p:nvSpPr>
          <p:cNvPr id="12" name="cs-meta">
            <a:extLst>
              <a:ext uri="{FF2B5EF4-FFF2-40B4-BE49-F238E27FC236}">
                <a16:creationId xmlns:a16="http://schemas.microsoft.com/office/drawing/2014/main" id="{B15DF642-7A60-45F4-9636-67AB45742B5F}"/>
              </a:ext>
            </a:extLst>
          </p:cNvPr>
          <p:cNvSpPr>
            <a:spLocks noGrp="1"/>
          </p:cNvSpPr>
          <p:nvPr/>
        </p:nvSpPr>
        <p:spPr>
          <a:xfrm>
            <a:off x="9029700" y="3276600"/>
            <a:ext cx="20955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13" name="cs-meta-text">
            <a:extLst>
              <a:ext uri="{FF2B5EF4-FFF2-40B4-BE49-F238E27FC236}">
                <a16:creationId xmlns:a16="http://schemas.microsoft.com/office/drawing/2014/main" id="{7B18EBFE-03E1-4A12-BC93-F5838138E423}"/>
              </a:ext>
            </a:extLst>
          </p:cNvPr>
          <p:cNvSpPr>
            <a:spLocks noGrp="1"/>
          </p:cNvSpPr>
          <p:nvPr/>
        </p:nvSpPr>
        <p:spPr>
          <a:xfrm>
            <a:off x="9163050" y="3390900"/>
            <a:ext cx="18288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Min / Max</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Metadaten</a:t>
            </a:r>
          </a:p>
        </p:txBody>
      </p:sp>
      <p:cxnSp>
        <p:nvCxnSpPr>
          <p:cNvPr id="111" name="Gerade Verbindung mit Pfeil 62"/>
          <p:cNvCxnSpPr>
            <a:stCxn id="6" idx="3"/>
            <a:endCxn id="8" idx="1"/>
          </p:cNvCxnSpPr>
          <p:nvPr/>
        </p:nvCxnSpPr>
        <p:spPr>
          <a:xfrm>
            <a:off x="2266950" y="3810000"/>
            <a:ext cx="742950" cy="0"/>
          </a:xfrm>
          <a:prstGeom prst="straightConnector1">
            <a:avLst/>
          </a:prstGeom>
          <a:ln w="28575">
            <a:solidFill>
              <a:srgbClr val="007C83"/>
            </a:solidFill>
            <a:prstDash val="solid"/>
            <a:tailEnd type="arrow" w="med" len="med"/>
          </a:ln>
        </p:spPr>
      </p:cxnSp>
      <p:cxnSp>
        <p:nvCxnSpPr>
          <p:cNvPr id="112" name="Gerade Verbindung mit Pfeil 63"/>
          <p:cNvCxnSpPr>
            <a:stCxn id="8" idx="3"/>
            <a:endCxn id="10" idx="1"/>
          </p:cNvCxnSpPr>
          <p:nvPr/>
        </p:nvCxnSpPr>
        <p:spPr>
          <a:xfrm>
            <a:off x="5200650" y="3810000"/>
            <a:ext cx="819150" cy="0"/>
          </a:xfrm>
          <a:prstGeom prst="straightConnector1">
            <a:avLst/>
          </a:prstGeom>
          <a:ln w="28575">
            <a:solidFill>
              <a:srgbClr val="007C83"/>
            </a:solidFill>
            <a:prstDash val="solid"/>
            <a:tailEnd type="arrow" w="med" len="med"/>
          </a:ln>
        </p:spPr>
      </p:cxnSp>
      <p:cxnSp>
        <p:nvCxnSpPr>
          <p:cNvPr id="113" name="Gerade Verbindung mit Pfeil 64"/>
          <p:cNvCxnSpPr>
            <a:stCxn id="10" idx="3"/>
            <a:endCxn id="12" idx="1"/>
          </p:cNvCxnSpPr>
          <p:nvPr/>
        </p:nvCxnSpPr>
        <p:spPr>
          <a:xfrm>
            <a:off x="8210550" y="3810000"/>
            <a:ext cx="819150" cy="0"/>
          </a:xfrm>
          <a:prstGeom prst="straightConnector1">
            <a:avLst/>
          </a:prstGeom>
          <a:ln w="28575">
            <a:solidFill>
              <a:srgbClr val="007C83"/>
            </a:solidFill>
            <a:prstDash val="solid"/>
            <a:tailEnd type="arrow" w="med" len="med"/>
          </a:ln>
        </p:spPr>
      </p:cxnSp>
      <p:sp>
        <p:nvSpPr>
          <p:cNvPr id="17" name="cs-caption">
            <a:extLst>
              <a:ext uri="{FF2B5EF4-FFF2-40B4-BE49-F238E27FC236}">
                <a16:creationId xmlns:a16="http://schemas.microsoft.com/office/drawing/2014/main" id="{7351C801-3396-4F02-9235-93A0CE1135F0}"/>
              </a:ext>
            </a:extLst>
          </p:cNvPr>
          <p:cNvSpPr>
            <a:spLocks noGrp="1"/>
          </p:cNvSpPr>
          <p:nvPr/>
        </p:nvSpPr>
        <p:spPr>
          <a:xfrm>
            <a:off x="2095500" y="5181600"/>
            <a:ext cx="8001000" cy="419100"/>
          </a:xfrm>
          <a:prstGeom prst="rect">
            <a:avLst/>
          </a:prstGeom>
          <a:noFill/>
          <a:ln w="0">
            <a:noFill/>
            <a:prstDash val="solid"/>
          </a:ln>
        </p:spPr>
        <p:txBody>
          <a:bodyPr wrap="square" lIns="0" tIns="0" rIns="0" bIns="0" anchor="t">
            <a:normAutofit fontScale="98810"/>
          </a:bodyPr>
          <a:lstStyle/>
          <a:p>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Ein Segment enthält die Werte einer Spalte innerhalb eines Rowgroups.</a:t>
            </a:r>
          </a:p>
        </p:txBody>
      </p:sp>
    </p:spTree>
    <p:extLst>
      <p:ext uri="{BB962C8B-B14F-4D97-AF65-F5344CB8AC3E}">
        <p14:creationId xmlns:p14="http://schemas.microsoft.com/office/powerpoint/2010/main" val="18123410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0B613B3C-C380-4CCF-9CDE-CDFA4EE6B94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59AFAF16-A237-440F-92FC-9E5607DBD753}"/>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Batch Mode und Segment Elimination reduzieren unterschiedliche Arbeit</a:t>
            </a:r>
          </a:p>
        </p:txBody>
      </p:sp>
      <p:sp>
        <p:nvSpPr>
          <p:cNvPr id="3" name="title-rule">
            <a:extLst>
              <a:ext uri="{FF2B5EF4-FFF2-40B4-BE49-F238E27FC236}">
                <a16:creationId xmlns:a16="http://schemas.microsoft.com/office/drawing/2014/main" id="{EF01426E-BEAE-4EC3-BE25-44182AF7ECE5}"/>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4135F1D-239B-4AA7-9C25-44DF56026DCE}"/>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38454BD3-ACB1-48D1-AA7E-67F794A9FCE7}"/>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60 / 102</a:t>
            </a:r>
          </a:p>
        </p:txBody>
      </p:sp>
      <p:sp>
        <p:nvSpPr>
          <p:cNvPr id="6" name="left-title">
            <a:extLst>
              <a:ext uri="{FF2B5EF4-FFF2-40B4-BE49-F238E27FC236}">
                <a16:creationId xmlns:a16="http://schemas.microsoft.com/office/drawing/2014/main" id="{4F8512FA-4B84-48F0-AD2A-8EA20DB922E2}"/>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Batch Mode</a:t>
            </a:r>
          </a:p>
        </p:txBody>
      </p:sp>
      <p:sp>
        <p:nvSpPr>
          <p:cNvPr id="7" name="right-title">
            <a:extLst>
              <a:ext uri="{FF2B5EF4-FFF2-40B4-BE49-F238E27FC236}">
                <a16:creationId xmlns:a16="http://schemas.microsoft.com/office/drawing/2014/main" id="{08EC2A1A-48EE-47FF-B81D-282CA88ADB88}"/>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Segment Elimination</a:t>
            </a:r>
          </a:p>
        </p:txBody>
      </p:sp>
      <p:sp>
        <p:nvSpPr>
          <p:cNvPr id="8" name="middle-rule">
            <a:extLst>
              <a:ext uri="{FF2B5EF4-FFF2-40B4-BE49-F238E27FC236}">
                <a16:creationId xmlns:a16="http://schemas.microsoft.com/office/drawing/2014/main" id="{49DA48EE-148B-4FD6-97B5-A1DAC004F65E}"/>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9675C47A-3660-440C-8386-6CDE70DF8F39}"/>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verarbeitet typischerweise bis zu 900 Rows pro Batch</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reduziert Operator-Overhead</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auch auf Rowstore in geeigneten Plänen ab CL 150</a:t>
            </a:r>
          </a:p>
        </p:txBody>
      </p:sp>
      <p:sp>
        <p:nvSpPr>
          <p:cNvPr id="10" name="right-points">
            <a:extLst>
              <a:ext uri="{FF2B5EF4-FFF2-40B4-BE49-F238E27FC236}">
                <a16:creationId xmlns:a16="http://schemas.microsoft.com/office/drawing/2014/main" id="{8298E4B3-C7EC-4373-B4F4-5CEEBE1DC3EF}"/>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vergleicht Prädikate mit Segment-Min/Max</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überspringt vollständige Segmente</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Datenordnung beeinflusst Effektivität</a:t>
            </a:r>
          </a:p>
        </p:txBody>
      </p:sp>
      <p:sp>
        <p:nvSpPr>
          <p:cNvPr id="11" name="conclusion-bg">
            <a:extLst>
              <a:ext uri="{FF2B5EF4-FFF2-40B4-BE49-F238E27FC236}">
                <a16:creationId xmlns:a16="http://schemas.microsoft.com/office/drawing/2014/main" id="{9B4FF05A-F73F-499E-993E-F112311D716D}"/>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F274F4DE-3438-41E4-842E-6F2C9394EF50}"/>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Columnstore profitiert von Verarbeitung und Datenanordnung.</a:t>
            </a:r>
          </a:p>
        </p:txBody>
      </p:sp>
    </p:spTree>
    <p:extLst>
      <p:ext uri="{BB962C8B-B14F-4D97-AF65-F5344CB8AC3E}">
        <p14:creationId xmlns:p14="http://schemas.microsoft.com/office/powerpoint/2010/main" val="621028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8C6E628F-61C9-434D-855B-150EF35820D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a:ext uri="{FF2B5EF4-FFF2-40B4-BE49-F238E27FC236}">
                <a16:creationId xmlns:a16="http://schemas.microsoft.com/office/drawing/2014/main" id="{0894EACA-A1D1-4E2B-AE4A-2636AD1C72C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Rowgroup-Qualität entscheidet über Compression und Elimination</a:t>
            </a:r>
          </a:p>
        </p:txBody>
      </p:sp>
      <p:sp>
        <p:nvSpPr>
          <p:cNvPr id="3" name="title-rule">
            <a:extLst>
              <a:ext uri="{FF2B5EF4-FFF2-40B4-BE49-F238E27FC236}">
                <a16:creationId xmlns:a16="http://schemas.microsoft.com/office/drawing/2014/main" id="{E54D5077-47C2-4EA0-9F75-C8E001E1732A}"/>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778ECF48-D239-43A9-AA3B-4006CB98954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B7242B18-039F-4A4E-9603-C19E5F0EBAA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61 / 102</a:t>
            </a:r>
          </a:p>
        </p:txBody>
      </p:sp>
      <p:sp>
        <p:nvSpPr>
          <p:cNvPr id="6" name="lead">
            <a:extLst>
              <a:ext uri="{FF2B5EF4-FFF2-40B4-BE49-F238E27FC236}">
                <a16:creationId xmlns:a16="http://schemas.microsoft.com/office/drawing/2014/main" id="{30340E67-E544-43E6-AB3B-34304C1B95BD}"/>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Kleine oder stark überlappende Rowgroups erhöhen Metadaten- und Scanarbeit.</a:t>
            </a:r>
          </a:p>
        </p:txBody>
      </p:sp>
      <p:sp>
        <p:nvSpPr>
          <p:cNvPr id="7" name="lead-accent">
            <a:extLst>
              <a:ext uri="{FF2B5EF4-FFF2-40B4-BE49-F238E27FC236}">
                <a16:creationId xmlns:a16="http://schemas.microsoft.com/office/drawing/2014/main" id="{33A0AF17-5D13-41C8-AAE8-37623DD9DBA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EA54E1D8-87F6-44FD-B2C7-A8B75A6F5ECF}"/>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Delta Store nimmt kleine DML-Batches als Rowstore auf</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Tuple Mover komprimiert geschlossene Delta Rowgroups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Delete Bitmap markiert gelöschte Rows bis zur physischen Bereinigung</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Background Merge ab SQL Server 2019 verbessert Qualität über Zeit</a:t>
            </a:r>
          </a:p>
        </p:txBody>
      </p:sp>
    </p:spTree>
    <p:extLst>
      <p:ext uri="{BB962C8B-B14F-4D97-AF65-F5344CB8AC3E}">
        <p14:creationId xmlns:p14="http://schemas.microsoft.com/office/powerpoint/2010/main" val="17648901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E9845A71-787F-4515-B461-4BF6AF0779B2}"/>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4 · WISSENSKONTROLLE</a:t>
            </a:r>
          </a:p>
        </p:txBody>
      </p:sp>
      <p:sp>
        <p:nvSpPr>
          <p:cNvPr id="2" name="question">
            <a:extLst>
              <a:ext uri="{FF2B5EF4-FFF2-40B4-BE49-F238E27FC236}">
                <a16:creationId xmlns:a16="http://schemas.microsoft.com/office/drawing/2014/main" id="{8AEF9492-6B05-427D-B32A-9AEEC9E1F5B6}"/>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Welche Evidenz rechtfertigt einen neuen Index?</a:t>
            </a:r>
          </a:p>
        </p:txBody>
      </p:sp>
      <p:sp>
        <p:nvSpPr>
          <p:cNvPr id="3" name="question-rule">
            <a:extLst>
              <a:ext uri="{FF2B5EF4-FFF2-40B4-BE49-F238E27FC236}">
                <a16:creationId xmlns:a16="http://schemas.microsoft.com/office/drawing/2014/main" id="{E2066AF9-5E32-49C6-9880-7AC554A87422}"/>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5121C6BF-BE1F-4238-9616-B6A35007F36E}"/>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0E2C3C2E-A480-452A-AFBE-B6596068CDB3}"/>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priorisierte Query und Zugriffsmuster</a:t>
            </a:r>
          </a:p>
        </p:txBody>
      </p:sp>
      <p:sp>
        <p:nvSpPr>
          <p:cNvPr id="6" name="prompt-num-1">
            <a:extLst>
              <a:ext uri="{FF2B5EF4-FFF2-40B4-BE49-F238E27FC236}">
                <a16:creationId xmlns:a16="http://schemas.microsoft.com/office/drawing/2014/main" id="{F5C2CA34-C200-4F38-929D-D092C29DA7EE}"/>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635C9CA8-59E0-463A-A948-3299DA26EEDD}"/>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Plan und tatsächliche Rows</a:t>
            </a:r>
          </a:p>
        </p:txBody>
      </p:sp>
      <p:sp>
        <p:nvSpPr>
          <p:cNvPr id="8" name="prompt-num-2">
            <a:extLst>
              <a:ext uri="{FF2B5EF4-FFF2-40B4-BE49-F238E27FC236}">
                <a16:creationId xmlns:a16="http://schemas.microsoft.com/office/drawing/2014/main" id="{6429202B-AA71-4F0F-81DE-55F4D0B704EE}"/>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ABF4633A-9FBA-4348-8811-901FA3539327}"/>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Read-Ersparnis</a:t>
            </a:r>
          </a:p>
        </p:txBody>
      </p:sp>
      <p:sp>
        <p:nvSpPr>
          <p:cNvPr id="10" name="prompt-num-3">
            <a:extLst>
              <a:ext uri="{FF2B5EF4-FFF2-40B4-BE49-F238E27FC236}">
                <a16:creationId xmlns:a16="http://schemas.microsoft.com/office/drawing/2014/main" id="{34935C0E-D573-41B5-84CE-723E3A2DA5EF}"/>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5493825C-C07E-40E8-A3B5-62F9ADC59ED7}"/>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fontScale="99206"/>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DML-, Speicher- und Maintenance-Kosten</a:t>
            </a:r>
          </a:p>
        </p:txBody>
      </p:sp>
      <p:sp>
        <p:nvSpPr>
          <p:cNvPr id="12" name="question-footer">
            <a:extLst>
              <a:ext uri="{FF2B5EF4-FFF2-40B4-BE49-F238E27FC236}">
                <a16:creationId xmlns:a16="http://schemas.microsoft.com/office/drawing/2014/main" id="{6286C8D5-53A5-47E1-9AF8-BC3EC8836612}"/>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62 / 102</a:t>
            </a:r>
          </a:p>
        </p:txBody>
      </p:sp>
    </p:spTree>
    <p:extLst>
      <p:ext uri="{BB962C8B-B14F-4D97-AF65-F5344CB8AC3E}">
        <p14:creationId xmlns:p14="http://schemas.microsoft.com/office/powerpoint/2010/main" val="673053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9C4AD094-80BC-4B57-86E3-66458AE77184}"/>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05</a:t>
            </a:r>
          </a:p>
        </p:txBody>
      </p:sp>
      <p:sp>
        <p:nvSpPr>
          <p:cNvPr id="2" name="section-rule">
            <a:extLst>
              <a:ext uri="{FF2B5EF4-FFF2-40B4-BE49-F238E27FC236}">
                <a16:creationId xmlns:a16="http://schemas.microsoft.com/office/drawing/2014/main" id="{ADA98AC8-3AE8-4926-A4F3-9F870318911A}"/>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38000B2C-95AB-4DB5-AAE6-7EB36AC354AC}"/>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Concurrency und Isolation</a:t>
            </a:r>
          </a:p>
        </p:txBody>
      </p:sp>
      <p:sp>
        <p:nvSpPr>
          <p:cNvPr id="4" name="section-subtitle">
            <a:extLst>
              <a:ext uri="{FF2B5EF4-FFF2-40B4-BE49-F238E27FC236}">
                <a16:creationId xmlns:a16="http://schemas.microsoft.com/office/drawing/2014/main" id="{048B3C0E-857A-48F2-8E21-0FCA2792501F}"/>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schützt SQL Server Konsistenz, ohne unnötig Durchsatz zu verlieren?</a:t>
            </a:r>
          </a:p>
        </p:txBody>
      </p:sp>
      <p:sp>
        <p:nvSpPr>
          <p:cNvPr id="5" name="section-footer">
            <a:extLst>
              <a:ext uri="{FF2B5EF4-FFF2-40B4-BE49-F238E27FC236}">
                <a16:creationId xmlns:a16="http://schemas.microsoft.com/office/drawing/2014/main" id="{47BCBCF0-3C7C-4122-842F-B30834EB5D96}"/>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17283193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C23A8804-EAFD-4034-B54B-22AEBE907AB7}"/>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C5C65606-996A-430A-BE7C-27DCDC0F04D2}"/>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Isolation Level definiert Sichtbarkeit und Schutz – nicht pauschal 'Geschwindigkeit'</a:t>
            </a:r>
          </a:p>
        </p:txBody>
      </p:sp>
      <p:sp>
        <p:nvSpPr>
          <p:cNvPr id="3" name="title-rule">
            <a:extLst>
              <a:ext uri="{FF2B5EF4-FFF2-40B4-BE49-F238E27FC236}">
                <a16:creationId xmlns:a16="http://schemas.microsoft.com/office/drawing/2014/main" id="{1347279E-2242-46D2-812C-B2CE352AA81E}"/>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469EF7C-97A5-4328-A207-F46E87E94FA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724DE17-17C7-4895-938A-DB309F3EF08F}"/>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64 / 102</a:t>
            </a:r>
          </a:p>
        </p:txBody>
      </p:sp>
      <p:graphicFrame>
        <p:nvGraphicFramePr>
          <p:cNvPr id="14" name="Tabelle 13"/>
          <p:cNvGraphicFramePr/>
          <p:nvPr/>
        </p:nvGraphicFramePr>
        <p:xfrm>
          <a:off x="609600" y="2171700"/>
          <a:ext cx="10668000" cy="400050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666750">
                <a:tc>
                  <a:txBody>
                    <a:bodyPr/>
                    <a:lstStyle/>
                    <a:p>
                      <a:r>
                        <a:rPr sz="1500" b="1">
                          <a:solidFill>
                            <a:srgbClr val="FFFFFF"/>
                          </a:solidFill>
                          <a:latin typeface="Aptos"/>
                          <a:ea typeface="Aptos"/>
                          <a:cs typeface="Aptos"/>
                        </a:rPr>
                        <a:t>Level</a:t>
                      </a:r>
                    </a:p>
                  </a:txBody>
                  <a:tcPr>
                    <a:solidFill>
                      <a:srgbClr val="0B1F33"/>
                    </a:solidFill>
                  </a:tcPr>
                </a:tc>
                <a:tc>
                  <a:txBody>
                    <a:bodyPr/>
                    <a:lstStyle/>
                    <a:p>
                      <a:r>
                        <a:rPr sz="1500" b="1">
                          <a:solidFill>
                            <a:srgbClr val="FFFFFF"/>
                          </a:solidFill>
                          <a:latin typeface="Aptos"/>
                          <a:ea typeface="Aptos"/>
                          <a:cs typeface="Aptos"/>
                        </a:rPr>
                        <a:t>Lesesicht</a:t>
                      </a:r>
                    </a:p>
                  </a:txBody>
                  <a:tcPr>
                    <a:solidFill>
                      <a:srgbClr val="0B1F33"/>
                    </a:solidFill>
                  </a:tcPr>
                </a:tc>
                <a:tc>
                  <a:txBody>
                    <a:bodyPr/>
                    <a:lstStyle/>
                    <a:p>
                      <a:r>
                        <a:rPr sz="1500" b="1">
                          <a:solidFill>
                            <a:srgbClr val="FFFFFF"/>
                          </a:solidFill>
                          <a:latin typeface="Aptos"/>
                          <a:ea typeface="Aptos"/>
                          <a:cs typeface="Aptos"/>
                        </a:rPr>
                        <a:t>typischer Trade-off</a:t>
                      </a:r>
                    </a:p>
                  </a:txBody>
                  <a:tcPr>
                    <a:solidFill>
                      <a:srgbClr val="0B1F33"/>
                    </a:solidFill>
                  </a:tcPr>
                </a:tc>
                <a:extLst>
                  <a:ext uri="{0D108BD9-81ED-4DB2-BD59-A6C34878D82A}">
                    <a16:rowId xmlns:a16="http://schemas.microsoft.com/office/drawing/2014/main" val="10000"/>
                  </a:ext>
                </a:extLst>
              </a:tr>
              <a:tr h="666750">
                <a:tc>
                  <a:txBody>
                    <a:bodyPr/>
                    <a:lstStyle/>
                    <a:p>
                      <a:r>
                        <a:rPr sz="1350">
                          <a:solidFill>
                            <a:srgbClr val="243B53"/>
                          </a:solidFill>
                          <a:latin typeface="Aptos"/>
                          <a:ea typeface="Aptos"/>
                          <a:cs typeface="Aptos"/>
                        </a:rPr>
                        <a:t>READ UNCOMMITTED</a:t>
                      </a:r>
                    </a:p>
                  </a:txBody>
                  <a:tcPr>
                    <a:solidFill>
                      <a:srgbClr val="FFFFFF"/>
                    </a:solidFill>
                  </a:tcPr>
                </a:tc>
                <a:tc>
                  <a:txBody>
                    <a:bodyPr/>
                    <a:lstStyle/>
                    <a:p>
                      <a:r>
                        <a:rPr sz="1350">
                          <a:solidFill>
                            <a:srgbClr val="243B53"/>
                          </a:solidFill>
                          <a:latin typeface="Aptos"/>
                          <a:ea typeface="Aptos"/>
                          <a:cs typeface="Aptos"/>
                        </a:rPr>
                        <a:t>auch nicht bestätigte Daten</a:t>
                      </a:r>
                    </a:p>
                  </a:txBody>
                  <a:tcPr>
                    <a:solidFill>
                      <a:srgbClr val="FFFFFF"/>
                    </a:solidFill>
                  </a:tcPr>
                </a:tc>
                <a:tc>
                  <a:txBody>
                    <a:bodyPr/>
                    <a:lstStyle/>
                    <a:p>
                      <a:r>
                        <a:rPr sz="1350">
                          <a:solidFill>
                            <a:srgbClr val="243B53"/>
                          </a:solidFill>
                          <a:latin typeface="Aptos"/>
                          <a:ea typeface="Aptos"/>
                          <a:cs typeface="Aptos"/>
                        </a:rPr>
                        <a:t>Dirty Reads und inkonsistente Resultate</a:t>
                      </a:r>
                    </a:p>
                  </a:txBody>
                  <a:tcPr>
                    <a:solidFill>
                      <a:srgbClr val="FFFFFF"/>
                    </a:solidFill>
                  </a:tcPr>
                </a:tc>
                <a:extLst>
                  <a:ext uri="{0D108BD9-81ED-4DB2-BD59-A6C34878D82A}">
                    <a16:rowId xmlns:a16="http://schemas.microsoft.com/office/drawing/2014/main" val="10001"/>
                  </a:ext>
                </a:extLst>
              </a:tr>
              <a:tr h="666750">
                <a:tc>
                  <a:txBody>
                    <a:bodyPr/>
                    <a:lstStyle/>
                    <a:p>
                      <a:r>
                        <a:rPr sz="1350">
                          <a:solidFill>
                            <a:srgbClr val="243B53"/>
                          </a:solidFill>
                          <a:latin typeface="Aptos"/>
                          <a:ea typeface="Aptos"/>
                          <a:cs typeface="Aptos"/>
                        </a:rPr>
                        <a:t>READ COMMITTED</a:t>
                      </a:r>
                    </a:p>
                  </a:txBody>
                  <a:tcPr>
                    <a:solidFill>
                      <a:srgbClr val="EDF2F7"/>
                    </a:solidFill>
                  </a:tcPr>
                </a:tc>
                <a:tc>
                  <a:txBody>
                    <a:bodyPr/>
                    <a:lstStyle/>
                    <a:p>
                      <a:r>
                        <a:rPr sz="1350">
                          <a:solidFill>
                            <a:srgbClr val="243B53"/>
                          </a:solidFill>
                          <a:latin typeface="Aptos"/>
                          <a:ea typeface="Aptos"/>
                          <a:cs typeface="Aptos"/>
                        </a:rPr>
                        <a:t>bestätigte Daten; Sperren oder zeilenversioniertes Lesen (RCSI) je Datenbank</a:t>
                      </a:r>
                    </a:p>
                  </a:txBody>
                  <a:tcPr>
                    <a:solidFill>
                      <a:srgbClr val="EDF2F7"/>
                    </a:solidFill>
                  </a:tcPr>
                </a:tc>
                <a:tc>
                  <a:txBody>
                    <a:bodyPr/>
                    <a:lstStyle/>
                    <a:p>
                      <a:r>
                        <a:rPr sz="1350">
                          <a:solidFill>
                            <a:srgbClr val="243B53"/>
                          </a:solidFill>
                          <a:latin typeface="Aptos"/>
                          <a:ea typeface="Aptos"/>
                          <a:cs typeface="Aptos"/>
                        </a:rPr>
                        <a:t>Statement-Sicht abhängig von DB-Option</a:t>
                      </a:r>
                    </a:p>
                  </a:txBody>
                  <a:tcPr>
                    <a:solidFill>
                      <a:srgbClr val="EDF2F7"/>
                    </a:solidFill>
                  </a:tcPr>
                </a:tc>
                <a:extLst>
                  <a:ext uri="{0D108BD9-81ED-4DB2-BD59-A6C34878D82A}">
                    <a16:rowId xmlns:a16="http://schemas.microsoft.com/office/drawing/2014/main" val="10002"/>
                  </a:ext>
                </a:extLst>
              </a:tr>
              <a:tr h="666750">
                <a:tc>
                  <a:txBody>
                    <a:bodyPr/>
                    <a:lstStyle/>
                    <a:p>
                      <a:r>
                        <a:rPr sz="1350">
                          <a:solidFill>
                            <a:srgbClr val="243B53"/>
                          </a:solidFill>
                          <a:latin typeface="Aptos"/>
                          <a:ea typeface="Aptos"/>
                          <a:cs typeface="Aptos"/>
                        </a:rPr>
                        <a:t>SNAPSHOT</a:t>
                      </a:r>
                    </a:p>
                  </a:txBody>
                  <a:tcPr>
                    <a:solidFill>
                      <a:srgbClr val="FFFFFF"/>
                    </a:solidFill>
                  </a:tcPr>
                </a:tc>
                <a:tc>
                  <a:txBody>
                    <a:bodyPr/>
                    <a:lstStyle/>
                    <a:p>
                      <a:r>
                        <a:rPr sz="1350">
                          <a:solidFill>
                            <a:srgbClr val="243B53"/>
                          </a:solidFill>
                          <a:latin typeface="Aptos"/>
                          <a:ea typeface="Aptos"/>
                          <a:cs typeface="Aptos"/>
                        </a:rPr>
                        <a:t>Transaktionssnapshot</a:t>
                      </a:r>
                    </a:p>
                  </a:txBody>
                  <a:tcPr>
                    <a:solidFill>
                      <a:srgbClr val="FFFFFF"/>
                    </a:solidFill>
                  </a:tcPr>
                </a:tc>
                <a:tc>
                  <a:txBody>
                    <a:bodyPr/>
                    <a:lstStyle/>
                    <a:p>
                      <a:r>
                        <a:rPr sz="1350">
                          <a:solidFill>
                            <a:srgbClr val="243B53"/>
                          </a:solidFill>
                          <a:latin typeface="Aptos"/>
                          <a:ea typeface="Aptos"/>
                          <a:cs typeface="Aptos"/>
                        </a:rPr>
                        <a:t>Version Store und Update Conflicts</a:t>
                      </a:r>
                    </a:p>
                  </a:txBody>
                  <a:tcPr>
                    <a:solidFill>
                      <a:srgbClr val="FFFFFF"/>
                    </a:solidFill>
                  </a:tcPr>
                </a:tc>
                <a:extLst>
                  <a:ext uri="{0D108BD9-81ED-4DB2-BD59-A6C34878D82A}">
                    <a16:rowId xmlns:a16="http://schemas.microsoft.com/office/drawing/2014/main" val="10003"/>
                  </a:ext>
                </a:extLst>
              </a:tr>
              <a:tr h="666750">
                <a:tc>
                  <a:txBody>
                    <a:bodyPr/>
                    <a:lstStyle/>
                    <a:p>
                      <a:r>
                        <a:rPr sz="1350">
                          <a:solidFill>
                            <a:srgbClr val="243B53"/>
                          </a:solidFill>
                          <a:latin typeface="Aptos"/>
                          <a:ea typeface="Aptos"/>
                          <a:cs typeface="Aptos"/>
                        </a:rPr>
                        <a:t>REPEATABLE READ</a:t>
                      </a:r>
                    </a:p>
                  </a:txBody>
                  <a:tcPr>
                    <a:solidFill>
                      <a:srgbClr val="EDF2F7"/>
                    </a:solidFill>
                  </a:tcPr>
                </a:tc>
                <a:tc>
                  <a:txBody>
                    <a:bodyPr/>
                    <a:lstStyle/>
                    <a:p>
                      <a:r>
                        <a:rPr sz="1350">
                          <a:solidFill>
                            <a:srgbClr val="243B53"/>
                          </a:solidFill>
                          <a:latin typeface="Aptos"/>
                          <a:ea typeface="Aptos"/>
                          <a:cs typeface="Aptos"/>
                        </a:rPr>
                        <a:t>gelesene Rows bleiben stabil</a:t>
                      </a:r>
                    </a:p>
                  </a:txBody>
                  <a:tcPr>
                    <a:solidFill>
                      <a:srgbClr val="EDF2F7"/>
                    </a:solidFill>
                  </a:tcPr>
                </a:tc>
                <a:tc>
                  <a:txBody>
                    <a:bodyPr/>
                    <a:lstStyle/>
                    <a:p>
                      <a:r>
                        <a:rPr sz="1350">
                          <a:solidFill>
                            <a:srgbClr val="243B53"/>
                          </a:solidFill>
                          <a:latin typeface="Aptos"/>
                          <a:ea typeface="Aptos"/>
                          <a:cs typeface="Aptos"/>
                        </a:rPr>
                        <a:t>länger gehaltene Locks</a:t>
                      </a:r>
                    </a:p>
                  </a:txBody>
                  <a:tcPr>
                    <a:solidFill>
                      <a:srgbClr val="EDF2F7"/>
                    </a:solidFill>
                  </a:tcPr>
                </a:tc>
                <a:extLst>
                  <a:ext uri="{0D108BD9-81ED-4DB2-BD59-A6C34878D82A}">
                    <a16:rowId xmlns:a16="http://schemas.microsoft.com/office/drawing/2014/main" val="10004"/>
                  </a:ext>
                </a:extLst>
              </a:tr>
              <a:tr h="666750">
                <a:tc>
                  <a:txBody>
                    <a:bodyPr/>
                    <a:lstStyle/>
                    <a:p>
                      <a:r>
                        <a:rPr sz="1350">
                          <a:solidFill>
                            <a:srgbClr val="243B53"/>
                          </a:solidFill>
                          <a:latin typeface="Aptos"/>
                          <a:ea typeface="Aptos"/>
                          <a:cs typeface="Aptos"/>
                        </a:rPr>
                        <a:t>SERIALIZABLE</a:t>
                      </a:r>
                    </a:p>
                  </a:txBody>
                  <a:tcPr>
                    <a:solidFill>
                      <a:srgbClr val="FFFFFF"/>
                    </a:solidFill>
                  </a:tcPr>
                </a:tc>
                <a:tc>
                  <a:txBody>
                    <a:bodyPr/>
                    <a:lstStyle/>
                    <a:p>
                      <a:r>
                        <a:rPr sz="1350">
                          <a:solidFill>
                            <a:srgbClr val="243B53"/>
                          </a:solidFill>
                          <a:latin typeface="Aptos"/>
                          <a:ea typeface="Aptos"/>
                          <a:cs typeface="Aptos"/>
                        </a:rPr>
                        <a:t>zusätzlich Key-Range-Schutz</a:t>
                      </a:r>
                    </a:p>
                  </a:txBody>
                  <a:tcPr>
                    <a:solidFill>
                      <a:srgbClr val="FFFFFF"/>
                    </a:solidFill>
                  </a:tcPr>
                </a:tc>
                <a:tc>
                  <a:txBody>
                    <a:bodyPr/>
                    <a:lstStyle/>
                    <a:p>
                      <a:r>
                        <a:rPr sz="1350">
                          <a:solidFill>
                            <a:srgbClr val="243B53"/>
                          </a:solidFill>
                          <a:latin typeface="Aptos"/>
                          <a:ea typeface="Aptos"/>
                          <a:cs typeface="Aptos"/>
                        </a:rPr>
                        <a:t>höchste Blocking-Gefahr</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44451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F740C868-CBAD-4201-B883-7E31D8B67F98}"/>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DA5442DE-D390-46E8-97C2-C298990032A7}"/>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Locking und Row Versioning verschieben Kosten – sie entfernen sie nicht</a:t>
            </a:r>
          </a:p>
        </p:txBody>
      </p:sp>
      <p:sp>
        <p:nvSpPr>
          <p:cNvPr id="3" name="title-rule">
            <a:extLst>
              <a:ext uri="{FF2B5EF4-FFF2-40B4-BE49-F238E27FC236}">
                <a16:creationId xmlns:a16="http://schemas.microsoft.com/office/drawing/2014/main" id="{E9577361-0184-451D-8F20-6DF2764ED35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A4271F3C-3B5C-48F4-9C6E-DCE93A975E62}"/>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DBA523A-FC4D-4F27-AC63-340EEB9E78E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65 / 102</a:t>
            </a:r>
          </a:p>
        </p:txBody>
      </p:sp>
      <p:sp>
        <p:nvSpPr>
          <p:cNvPr id="6" name="left-title">
            <a:extLst>
              <a:ext uri="{FF2B5EF4-FFF2-40B4-BE49-F238E27FC236}">
                <a16:creationId xmlns:a16="http://schemas.microsoft.com/office/drawing/2014/main" id="{04DB5FA0-022F-4540-9362-4110F877FFAE}"/>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Locking</a:t>
            </a:r>
          </a:p>
        </p:txBody>
      </p:sp>
      <p:sp>
        <p:nvSpPr>
          <p:cNvPr id="7" name="right-title">
            <a:extLst>
              <a:ext uri="{FF2B5EF4-FFF2-40B4-BE49-F238E27FC236}">
                <a16:creationId xmlns:a16="http://schemas.microsoft.com/office/drawing/2014/main" id="{79D5C161-6548-4B2B-B2E1-76FC899D18DA}"/>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Row Versioning</a:t>
            </a:r>
          </a:p>
        </p:txBody>
      </p:sp>
      <p:sp>
        <p:nvSpPr>
          <p:cNvPr id="8" name="middle-rule">
            <a:extLst>
              <a:ext uri="{FF2B5EF4-FFF2-40B4-BE49-F238E27FC236}">
                <a16:creationId xmlns:a16="http://schemas.microsoft.com/office/drawing/2014/main" id="{8E9ACAC0-6F92-4CBF-B2BC-DBBEC9F7DBD8}"/>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F653F9BF-A182-417D-A89F-8BF09A03DF0B}"/>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Leser und Writer können blockieren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Lock Memory und Escalation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aktuelle Row wird geschützt</a:t>
            </a:r>
          </a:p>
        </p:txBody>
      </p:sp>
      <p:sp>
        <p:nvSpPr>
          <p:cNvPr id="10" name="right-points">
            <a:extLst>
              <a:ext uri="{FF2B5EF4-FFF2-40B4-BE49-F238E27FC236}">
                <a16:creationId xmlns:a16="http://schemas.microsoft.com/office/drawing/2014/main" id="{5BC5841C-43EC-4C96-8908-C686D47D6B36}"/>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Leser nutzen committed Versionen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Version Store erzeugt Speicher- und I/O-Kosten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lange Snapshots verlängern Retention</a:t>
            </a:r>
          </a:p>
        </p:txBody>
      </p:sp>
      <p:sp>
        <p:nvSpPr>
          <p:cNvPr id="11" name="conclusion-bg">
            <a:extLst>
              <a:ext uri="{FF2B5EF4-FFF2-40B4-BE49-F238E27FC236}">
                <a16:creationId xmlns:a16="http://schemas.microsoft.com/office/drawing/2014/main" id="{00D094BE-ED69-4E9D-8C4D-F8945F4FA0E2}"/>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2561BEE7-8628-479F-A6D6-9075C5247A93}"/>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Isolation wird nach Korrektheitsvertrag gewählt, danach performancegerecht implementiert.</a:t>
            </a:r>
          </a:p>
        </p:txBody>
      </p:sp>
    </p:spTree>
    <p:extLst>
      <p:ext uri="{BB962C8B-B14F-4D97-AF65-F5344CB8AC3E}">
        <p14:creationId xmlns:p14="http://schemas.microsoft.com/office/powerpoint/2010/main" val="3021775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4" name="module-label">
            <a:extLst>
              <a:ext uri="{FF2B5EF4-FFF2-40B4-BE49-F238E27FC236}">
                <a16:creationId xmlns:a16="http://schemas.microsoft.com/office/drawing/2014/main" id="{3DE58BB6-6A7F-40CC-BCCC-92273DB494B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A6380092-6AF4-4703-858C-54663BF8F9F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Blocking Chain wird vom Head Blocker aus analysiert</a:t>
            </a:r>
          </a:p>
        </p:txBody>
      </p:sp>
      <p:sp>
        <p:nvSpPr>
          <p:cNvPr id="3" name="title-rule">
            <a:extLst>
              <a:ext uri="{FF2B5EF4-FFF2-40B4-BE49-F238E27FC236}">
                <a16:creationId xmlns:a16="http://schemas.microsoft.com/office/drawing/2014/main" id="{F2EDCBB7-451B-4332-8438-157269E60C0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E299D76-755F-4E1F-9858-D59259A2D57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04C5E18-E936-4C6B-ACB7-E9D6FCAD563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66 / 102</a:t>
            </a:r>
          </a:p>
        </p:txBody>
      </p:sp>
      <p:sp>
        <p:nvSpPr>
          <p:cNvPr id="6" name="block-head">
            <a:extLst>
              <a:ext uri="{FF2B5EF4-FFF2-40B4-BE49-F238E27FC236}">
                <a16:creationId xmlns:a16="http://schemas.microsoft.com/office/drawing/2014/main" id="{66106C3C-EF05-4D1B-A53E-2AB7491F5DA2}"/>
              </a:ext>
            </a:extLst>
          </p:cNvPr>
          <p:cNvSpPr>
            <a:spLocks noGrp="1"/>
          </p:cNvSpPr>
          <p:nvPr/>
        </p:nvSpPr>
        <p:spPr>
          <a:xfrm>
            <a:off x="857250" y="3048000"/>
            <a:ext cx="2667000" cy="1428750"/>
          </a:xfrm>
          <a:prstGeom prst="roundRect">
            <a:avLst>
              <a:gd name="adj" fmla="val 5333"/>
            </a:avLst>
          </a:prstGeom>
          <a:solidFill>
            <a:srgbClr val="FFF3E4"/>
          </a:solidFill>
          <a:ln w="9525">
            <a:solidFill>
              <a:srgbClr val="D9E2EC"/>
            </a:solidFill>
            <a:prstDash val="solid"/>
          </a:ln>
        </p:spPr>
        <p:txBody>
          <a:bodyPr/>
          <a:lstStyle/>
          <a:p>
            <a:endParaRPr/>
          </a:p>
        </p:txBody>
      </p:sp>
      <p:sp>
        <p:nvSpPr>
          <p:cNvPr id="7" name="block-head-text">
            <a:extLst>
              <a:ext uri="{FF2B5EF4-FFF2-40B4-BE49-F238E27FC236}">
                <a16:creationId xmlns:a16="http://schemas.microsoft.com/office/drawing/2014/main" id="{76875E82-ECA1-4235-A56F-A61BDE568D03}"/>
              </a:ext>
            </a:extLst>
          </p:cNvPr>
          <p:cNvSpPr>
            <a:spLocks noGrp="1"/>
          </p:cNvSpPr>
          <p:nvPr/>
        </p:nvSpPr>
        <p:spPr>
          <a:xfrm>
            <a:off x="990600" y="3162300"/>
            <a:ext cx="240030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51</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HEAD BLOCKER</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offene Transaktion</a:t>
            </a:r>
          </a:p>
        </p:txBody>
      </p:sp>
      <p:sp>
        <p:nvSpPr>
          <p:cNvPr id="8" name="block-b1">
            <a:extLst>
              <a:ext uri="{FF2B5EF4-FFF2-40B4-BE49-F238E27FC236}">
                <a16:creationId xmlns:a16="http://schemas.microsoft.com/office/drawing/2014/main" id="{FB522F5A-335C-48A0-B250-FAC1D602B332}"/>
              </a:ext>
            </a:extLst>
          </p:cNvPr>
          <p:cNvSpPr>
            <a:spLocks noGrp="1"/>
          </p:cNvSpPr>
          <p:nvPr/>
        </p:nvSpPr>
        <p:spPr>
          <a:xfrm>
            <a:off x="4762500" y="2419350"/>
            <a:ext cx="22860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9" name="block-b1-text">
            <a:extLst>
              <a:ext uri="{FF2B5EF4-FFF2-40B4-BE49-F238E27FC236}">
                <a16:creationId xmlns:a16="http://schemas.microsoft.com/office/drawing/2014/main" id="{785EAC0F-A78D-498F-9B1C-6C2C3F53E447}"/>
              </a:ext>
            </a:extLst>
          </p:cNvPr>
          <p:cNvSpPr>
            <a:spLocks noGrp="1"/>
          </p:cNvSpPr>
          <p:nvPr/>
        </p:nvSpPr>
        <p:spPr>
          <a:xfrm>
            <a:off x="4895850" y="2533650"/>
            <a:ext cx="20193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62</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LCK_M_X</a:t>
            </a:r>
          </a:p>
        </p:txBody>
      </p:sp>
      <p:sp>
        <p:nvSpPr>
          <p:cNvPr id="10" name="block-b2">
            <a:extLst>
              <a:ext uri="{FF2B5EF4-FFF2-40B4-BE49-F238E27FC236}">
                <a16:creationId xmlns:a16="http://schemas.microsoft.com/office/drawing/2014/main" id="{E09C9375-83C2-4361-887A-29DDD162A2A6}"/>
              </a:ext>
            </a:extLst>
          </p:cNvPr>
          <p:cNvSpPr>
            <a:spLocks noGrp="1"/>
          </p:cNvSpPr>
          <p:nvPr/>
        </p:nvSpPr>
        <p:spPr>
          <a:xfrm>
            <a:off x="4762500" y="4038600"/>
            <a:ext cx="22860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11" name="block-b2-text">
            <a:extLst>
              <a:ext uri="{FF2B5EF4-FFF2-40B4-BE49-F238E27FC236}">
                <a16:creationId xmlns:a16="http://schemas.microsoft.com/office/drawing/2014/main" id="{3A02807F-F05D-44F3-BB01-5E7730858D7E}"/>
              </a:ext>
            </a:extLst>
          </p:cNvPr>
          <p:cNvSpPr>
            <a:spLocks noGrp="1"/>
          </p:cNvSpPr>
          <p:nvPr/>
        </p:nvSpPr>
        <p:spPr>
          <a:xfrm>
            <a:off x="4895850" y="4152900"/>
            <a:ext cx="20193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73</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LCK_M_S</a:t>
            </a:r>
          </a:p>
        </p:txBody>
      </p:sp>
      <p:sp>
        <p:nvSpPr>
          <p:cNvPr id="12" name="block-b3">
            <a:extLst>
              <a:ext uri="{FF2B5EF4-FFF2-40B4-BE49-F238E27FC236}">
                <a16:creationId xmlns:a16="http://schemas.microsoft.com/office/drawing/2014/main" id="{9CD84652-69B4-46D8-9253-AC604CEB1C48}"/>
              </a:ext>
            </a:extLst>
          </p:cNvPr>
          <p:cNvSpPr>
            <a:spLocks noGrp="1"/>
          </p:cNvSpPr>
          <p:nvPr/>
        </p:nvSpPr>
        <p:spPr>
          <a:xfrm>
            <a:off x="8324850" y="2419350"/>
            <a:ext cx="2286000" cy="1066800"/>
          </a:xfrm>
          <a:prstGeom prst="roundRect">
            <a:avLst>
              <a:gd name="adj" fmla="val 7143"/>
            </a:avLst>
          </a:prstGeom>
          <a:solidFill>
            <a:srgbClr val="FFFFFF"/>
          </a:solidFill>
          <a:ln w="9525">
            <a:solidFill>
              <a:srgbClr val="D9E2EC"/>
            </a:solidFill>
            <a:prstDash val="solid"/>
          </a:ln>
        </p:spPr>
        <p:txBody>
          <a:bodyPr/>
          <a:lstStyle/>
          <a:p>
            <a:endParaRPr/>
          </a:p>
        </p:txBody>
      </p:sp>
      <p:sp>
        <p:nvSpPr>
          <p:cNvPr id="13" name="block-b3-text">
            <a:extLst>
              <a:ext uri="{FF2B5EF4-FFF2-40B4-BE49-F238E27FC236}">
                <a16:creationId xmlns:a16="http://schemas.microsoft.com/office/drawing/2014/main" id="{CBA63FC0-46CC-43A6-A53F-3B290C792644}"/>
              </a:ext>
            </a:extLst>
          </p:cNvPr>
          <p:cNvSpPr>
            <a:spLocks noGrp="1"/>
          </p:cNvSpPr>
          <p:nvPr/>
        </p:nvSpPr>
        <p:spPr>
          <a:xfrm>
            <a:off x="8458200" y="2533650"/>
            <a:ext cx="2019300" cy="8382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84</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wartet auf 62</a:t>
            </a:r>
          </a:p>
        </p:txBody>
      </p:sp>
      <p:cxnSp>
        <p:nvCxnSpPr>
          <p:cNvPr id="111" name="Gerade Verbindung mit Pfeil 62"/>
          <p:cNvCxnSpPr>
            <a:stCxn id="6" idx="3"/>
            <a:endCxn id="8" idx="1"/>
          </p:cNvCxnSpPr>
          <p:nvPr/>
        </p:nvCxnSpPr>
        <p:spPr>
          <a:xfrm flipV="1">
            <a:off x="3524250" y="2952750"/>
            <a:ext cx="1238250" cy="809625"/>
          </a:xfrm>
          <a:prstGeom prst="straightConnector1">
            <a:avLst/>
          </a:prstGeom>
          <a:ln w="28575">
            <a:solidFill>
              <a:srgbClr val="007C83"/>
            </a:solidFill>
            <a:prstDash val="solid"/>
            <a:headEnd type="arrow" w="med" len="med"/>
          </a:ln>
        </p:spPr>
      </p:cxnSp>
      <p:cxnSp>
        <p:nvCxnSpPr>
          <p:cNvPr id="112" name="Gerade Verbindung mit Pfeil 63"/>
          <p:cNvCxnSpPr>
            <a:stCxn id="6" idx="3"/>
            <a:endCxn id="10" idx="1"/>
          </p:cNvCxnSpPr>
          <p:nvPr/>
        </p:nvCxnSpPr>
        <p:spPr>
          <a:xfrm>
            <a:off x="3524250" y="3762375"/>
            <a:ext cx="1238250" cy="809625"/>
          </a:xfrm>
          <a:prstGeom prst="straightConnector1">
            <a:avLst/>
          </a:prstGeom>
          <a:ln w="28575">
            <a:solidFill>
              <a:srgbClr val="007C83"/>
            </a:solidFill>
            <a:prstDash val="solid"/>
            <a:headEnd type="arrow" w="med" len="med"/>
          </a:ln>
        </p:spPr>
      </p:cxnSp>
      <p:cxnSp>
        <p:nvCxnSpPr>
          <p:cNvPr id="113" name="Gerade Verbindung mit Pfeil 64"/>
          <p:cNvCxnSpPr>
            <a:stCxn id="8" idx="3"/>
            <a:endCxn id="12" idx="1"/>
          </p:cNvCxnSpPr>
          <p:nvPr/>
        </p:nvCxnSpPr>
        <p:spPr>
          <a:xfrm>
            <a:off x="7048500" y="2952750"/>
            <a:ext cx="1276350" cy="0"/>
          </a:xfrm>
          <a:prstGeom prst="straightConnector1">
            <a:avLst/>
          </a:prstGeom>
          <a:ln w="28575">
            <a:solidFill>
              <a:srgbClr val="007C83"/>
            </a:solidFill>
            <a:prstDash val="solid"/>
            <a:headEnd type="arrow" w="med" len="med"/>
          </a:ln>
        </p:spPr>
      </p:cxnSp>
      <p:sp>
        <p:nvSpPr>
          <p:cNvPr id="17" name="block-caption">
            <a:extLst>
              <a:ext uri="{FF2B5EF4-FFF2-40B4-BE49-F238E27FC236}">
                <a16:creationId xmlns:a16="http://schemas.microsoft.com/office/drawing/2014/main" id="{57453B66-421E-4B89-AFC4-B1AC24AD2E27}"/>
              </a:ext>
            </a:extLst>
          </p:cNvPr>
          <p:cNvSpPr>
            <a:spLocks noGrp="1"/>
          </p:cNvSpPr>
          <p:nvPr/>
        </p:nvSpPr>
        <p:spPr>
          <a:xfrm>
            <a:off x="1809750" y="5562600"/>
            <a:ext cx="8572500" cy="419100"/>
          </a:xfrm>
          <a:prstGeom prst="rect">
            <a:avLst/>
          </a:prstGeom>
          <a:noFill/>
          <a:ln w="0">
            <a:noFill/>
            <a:prstDash val="solid"/>
          </a:ln>
        </p:spPr>
        <p:txBody>
          <a:bodyPr wrap="square" lIns="0" tIns="0" rIns="0" bIns="0" anchor="t">
            <a:normAutofit fontScale="92710"/>
          </a:bodyPr>
          <a:lstStyle/>
          <a:p>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Ursache am Head Blocker untersuchen; Wartezeit allein priorisiert nur das Symptom.</a:t>
            </a:r>
          </a:p>
        </p:txBody>
      </p:sp>
      <p:sp>
        <p:nvSpPr>
          <p:cNvPr id="201" name="wait-direction-legend"/>
          <p:cNvSpPr>
            <a:spLocks noGrp="1"/>
          </p:cNvSpPr>
          <p:nvPr/>
        </p:nvSpPr>
        <p:spPr>
          <a:xfrm>
            <a:off x="1000000" y="2030000"/>
            <a:ext cx="10100000" cy="350000"/>
          </a:xfrm>
          <a:prstGeom prst="rect">
            <a:avLst/>
          </a:prstGeom>
          <a:noFill/>
          <a:ln w="0">
            <a:noFill/>
            <a:prstDash val="solid"/>
          </a:ln>
        </p:spPr>
        <p:txBody>
          <a:bodyPr wrap="square" lIns="0" tIns="0" rIns="0" bIns="0" anchor="t">
            <a:normAutofit fontScale="92710"/>
          </a:bodyPr>
          <a:lstStyle/>
          <a:p>
            <a:pPr algn="ctr">
              <a:lnSpc>
                <a:spcPct val="105000"/>
              </a:lnSpc>
              <a:buNone/>
              <a:defRPr sz="1800" b="1" i="0">
                <a:solidFill>
                  <a:srgbClr val="526777"/>
                </a:solidFill>
                <a:latin typeface="Aptos"/>
                <a:ea typeface="Aptos"/>
                <a:cs typeface="Aptos"/>
              </a:defRPr>
            </a:pPr>
            <a:r>
              <a:rPr sz="1800" b="1" i="0">
                <a:solidFill>
                  <a:srgbClr val="526777"/>
                </a:solidFill>
                <a:latin typeface="Aptos"/>
                <a:ea typeface="Aptos"/>
                <a:cs typeface="Aptos"/>
              </a:rPr>
              <a:t>Pfeil bedeutet: Session wartet auf die Session an der Pfeilspitze.</a:t>
            </a:r>
          </a:p>
        </p:txBody>
      </p:sp>
    </p:spTree>
    <p:extLst>
      <p:ext uri="{BB962C8B-B14F-4D97-AF65-F5344CB8AC3E}">
        <p14:creationId xmlns:p14="http://schemas.microsoft.com/office/powerpoint/2010/main" val="1416982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45A605CE-E541-4685-BC3C-123933A4524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7A4540FE-48A7-49DE-8F37-86EB4838B32B}"/>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Blocking ist eine gerichtete Kette – ein Deadlock ist ein Zyklus</a:t>
            </a:r>
          </a:p>
        </p:txBody>
      </p:sp>
      <p:sp>
        <p:nvSpPr>
          <p:cNvPr id="3" name="title-rule">
            <a:extLst>
              <a:ext uri="{FF2B5EF4-FFF2-40B4-BE49-F238E27FC236}">
                <a16:creationId xmlns:a16="http://schemas.microsoft.com/office/drawing/2014/main" id="{4C7EDD86-AD63-429C-A3EA-53F31D32780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237A0B15-51E5-4944-B646-D239B0FAF3F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7D8C9A2-05D1-4B5F-B853-EDD78D331739}"/>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67 / 102</a:t>
            </a:r>
          </a:p>
        </p:txBody>
      </p:sp>
      <p:sp>
        <p:nvSpPr>
          <p:cNvPr id="6" name="left-title">
            <a:extLst>
              <a:ext uri="{FF2B5EF4-FFF2-40B4-BE49-F238E27FC236}">
                <a16:creationId xmlns:a16="http://schemas.microsoft.com/office/drawing/2014/main" id="{10FCBCE6-444E-4413-96E7-350B56DA3FBA}"/>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Blocking</a:t>
            </a:r>
          </a:p>
        </p:txBody>
      </p:sp>
      <p:sp>
        <p:nvSpPr>
          <p:cNvPr id="7" name="right-title">
            <a:extLst>
              <a:ext uri="{FF2B5EF4-FFF2-40B4-BE49-F238E27FC236}">
                <a16:creationId xmlns:a16="http://schemas.microsoft.com/office/drawing/2014/main" id="{C728DF73-D27F-41AC-8D82-213C4C1EAAF7}"/>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Deadlock</a:t>
            </a:r>
          </a:p>
        </p:txBody>
      </p:sp>
      <p:sp>
        <p:nvSpPr>
          <p:cNvPr id="8" name="middle-rule">
            <a:extLst>
              <a:ext uri="{FF2B5EF4-FFF2-40B4-BE49-F238E27FC236}">
                <a16:creationId xmlns:a16="http://schemas.microsoft.com/office/drawing/2014/main" id="{FAC3756C-2EEB-455B-9BF1-B2FE46FC298D}"/>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1CB9ED7A-6451-430E-9410-21A59599B52E}"/>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eine Session wartet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sich nach Commit selbst lösen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Head Blocker und Transaktionsdauer prüfen</a:t>
            </a:r>
          </a:p>
        </p:txBody>
      </p:sp>
      <p:sp>
        <p:nvSpPr>
          <p:cNvPr id="10" name="right-points">
            <a:extLst>
              <a:ext uri="{FF2B5EF4-FFF2-40B4-BE49-F238E27FC236}">
                <a16:creationId xmlns:a16="http://schemas.microsoft.com/office/drawing/2014/main" id="{9EA7162D-B102-44CA-B882-EE4DBA1C922A}"/>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zyklische Abhängigkeit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SQL Server wählt ein Opfer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Deadlock Graph liefert Ressourcen- und Statementkontext</a:t>
            </a:r>
          </a:p>
        </p:txBody>
      </p:sp>
      <p:sp>
        <p:nvSpPr>
          <p:cNvPr id="11" name="conclusion-bg">
            <a:extLst>
              <a:ext uri="{FF2B5EF4-FFF2-40B4-BE49-F238E27FC236}">
                <a16:creationId xmlns:a16="http://schemas.microsoft.com/office/drawing/2014/main" id="{81C2F785-4F48-4C72-9ACF-48CBF48EF8E5}"/>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F7EDCD42-B0BA-4E59-99B0-33F77FB1D935}"/>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Timeouts verbergen die Ursache; Graph beziehungsweise Chain sichern die Evidenz.</a:t>
            </a:r>
          </a:p>
        </p:txBody>
      </p:sp>
    </p:spTree>
    <p:extLst>
      <p:ext uri="{BB962C8B-B14F-4D97-AF65-F5344CB8AC3E}">
        <p14:creationId xmlns:p14="http://schemas.microsoft.com/office/powerpoint/2010/main" val="9125376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332C4B81-10C6-4D94-BAE7-C773CAC6470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EEC115A4-DD3D-4F80-A802-E91DD178675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TempDB trägt Concurrency-Kosten weit über #Temp Tables hinaus</a:t>
            </a:r>
          </a:p>
        </p:txBody>
      </p:sp>
      <p:sp>
        <p:nvSpPr>
          <p:cNvPr id="3" name="title-rule">
            <a:extLst>
              <a:ext uri="{FF2B5EF4-FFF2-40B4-BE49-F238E27FC236}">
                <a16:creationId xmlns:a16="http://schemas.microsoft.com/office/drawing/2014/main" id="{2B714C36-2B4D-49EE-BDA3-0A8D100E064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77839D3-FD2E-46AD-A076-25D107D1B9FF}"/>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1888BF3A-96D5-4EBE-853F-B1B0036B509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68 / 102</a:t>
            </a:r>
          </a:p>
        </p:txBody>
      </p:sp>
      <p:sp>
        <p:nvSpPr>
          <p:cNvPr id="6" name="lead">
            <a:extLst>
              <a:ext uri="{FF2B5EF4-FFF2-40B4-BE49-F238E27FC236}">
                <a16:creationId xmlns:a16="http://schemas.microsoft.com/office/drawing/2014/main" id="{541EFF04-68B8-460F-9EE1-FECCA16CCC0C}"/>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Version Store, Spills, Worktables, Sorts und interne Objekte konkurrieren um dieselben Ressourcen.</a:t>
            </a:r>
          </a:p>
        </p:txBody>
      </p:sp>
      <p:sp>
        <p:nvSpPr>
          <p:cNvPr id="7" name="lead-accent">
            <a:extLst>
              <a:ext uri="{FF2B5EF4-FFF2-40B4-BE49-F238E27FC236}">
                <a16:creationId xmlns:a16="http://schemas.microsoft.com/office/drawing/2014/main" id="{0B062423-9B89-4A5C-B60E-1C3ABD32051A}"/>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2EAAD473-9058-4C9B-8A4D-1BCA5536EECE}"/>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RCSI und SNAPSHOT erzeugen Row Versions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Spills erzeugen Workfiles und Worktables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Allocation Contention betrifft andere Latches als Storage-I/O</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ADR kann den Persistent Version Store in die Userdatenbank verlagern</a:t>
            </a:r>
          </a:p>
        </p:txBody>
      </p:sp>
    </p:spTree>
    <p:extLst>
      <p:ext uri="{BB962C8B-B14F-4D97-AF65-F5344CB8AC3E}">
        <p14:creationId xmlns:p14="http://schemas.microsoft.com/office/powerpoint/2010/main" val="9459369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6AA82688-64F8-45EE-8FB7-9D6AD8EFBED6}"/>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a:ext uri="{FF2B5EF4-FFF2-40B4-BE49-F238E27FC236}">
                <a16:creationId xmlns:a16="http://schemas.microsoft.com/office/drawing/2014/main" id="{D7CF09F2-10E1-4089-BF3A-8A82BD994F4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Optimized Locking in SQL Server 2025 reduziert DML-Locks – unter klaren Voraussetzungen</a:t>
            </a:r>
          </a:p>
        </p:txBody>
      </p:sp>
      <p:sp>
        <p:nvSpPr>
          <p:cNvPr id="3" name="title-rule">
            <a:extLst>
              <a:ext uri="{FF2B5EF4-FFF2-40B4-BE49-F238E27FC236}">
                <a16:creationId xmlns:a16="http://schemas.microsoft.com/office/drawing/2014/main" id="{EA0E836C-73F1-423D-B88A-48F212DD868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8A39FBEF-80AE-4D16-B2F5-0D0D48496FE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0774857F-2506-4D2F-87A8-6A3675A75AD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69 / 102</a:t>
            </a:r>
          </a:p>
        </p:txBody>
      </p:sp>
      <p:sp>
        <p:nvSpPr>
          <p:cNvPr id="6" name="lead">
            <a:extLst>
              <a:ext uri="{FF2B5EF4-FFF2-40B4-BE49-F238E27FC236}">
                <a16:creationId xmlns:a16="http://schemas.microsoft.com/office/drawing/2014/main" id="{5480A56E-368E-443E-B007-D4491C35D0DA}"/>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TID Locking hält einen Transaction-ID-Lock statt vieler Row Locks; LAQ qualifiziert Rows auf committed Versions.</a:t>
            </a:r>
          </a:p>
        </p:txBody>
      </p:sp>
      <p:sp>
        <p:nvSpPr>
          <p:cNvPr id="7" name="lead-accent">
            <a:extLst>
              <a:ext uri="{FF2B5EF4-FFF2-40B4-BE49-F238E27FC236}">
                <a16:creationId xmlns:a16="http://schemas.microsoft.com/office/drawing/2014/main" id="{63D8596B-A102-4B53-98EF-A0928394A583}"/>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9E0349D9-EDC6-4E0E-85E2-6A4648D7A732}"/>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pro Userdatenbank aktivierbar; in SQL Server 2025 standardmäßig aus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ADR muss vorab aktiviert sein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LAQ benötigt RCSI; Locking Hints reduzieren den Nutzen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Schema Locks und TempDB-DML bleiben außerhalb dieses Effekts</a:t>
            </a:r>
          </a:p>
        </p:txBody>
      </p:sp>
    </p:spTree>
    <p:extLst>
      <p:ext uri="{BB962C8B-B14F-4D97-AF65-F5344CB8AC3E}">
        <p14:creationId xmlns:p14="http://schemas.microsoft.com/office/powerpoint/2010/main" val="4304806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772784F7-9E90-4897-B799-E75535CD4F34}"/>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5 · WISSENSKONTROLLE</a:t>
            </a:r>
          </a:p>
        </p:txBody>
      </p:sp>
      <p:sp>
        <p:nvSpPr>
          <p:cNvPr id="2" name="question">
            <a:extLst>
              <a:ext uri="{FF2B5EF4-FFF2-40B4-BE49-F238E27FC236}">
                <a16:creationId xmlns:a16="http://schemas.microsoft.com/office/drawing/2014/main" id="{A405E02D-5EA1-494D-AA2D-A76AFC1D6A47}"/>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fontScale="97945" lnSpcReduction="10000"/>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 Leser blockiert einen Writer: Welche Information fehlt für eine korrekte Maßnahme?</a:t>
            </a:r>
          </a:p>
        </p:txBody>
      </p:sp>
      <p:sp>
        <p:nvSpPr>
          <p:cNvPr id="3" name="question-rule">
            <a:extLst>
              <a:ext uri="{FF2B5EF4-FFF2-40B4-BE49-F238E27FC236}">
                <a16:creationId xmlns:a16="http://schemas.microsoft.com/office/drawing/2014/main" id="{FD62CA3E-297C-4E36-A19B-70BC59382333}"/>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496D2F80-74D3-4C34-9C8B-4AF584842652}"/>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B28F5385-C44D-4989-9ADA-1138DEEE2E85}"/>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Isolation Level und RCSI-Status</a:t>
            </a:r>
          </a:p>
        </p:txBody>
      </p:sp>
      <p:sp>
        <p:nvSpPr>
          <p:cNvPr id="6" name="prompt-num-1">
            <a:extLst>
              <a:ext uri="{FF2B5EF4-FFF2-40B4-BE49-F238E27FC236}">
                <a16:creationId xmlns:a16="http://schemas.microsoft.com/office/drawing/2014/main" id="{1DC1A6A8-40F9-4758-8199-9C5478CC0D3E}"/>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510B4C32-0209-4AC0-8CB5-64F78BDC182D}"/>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offene Transaktionsgrenzen</a:t>
            </a:r>
          </a:p>
        </p:txBody>
      </p:sp>
      <p:sp>
        <p:nvSpPr>
          <p:cNvPr id="8" name="prompt-num-2">
            <a:extLst>
              <a:ext uri="{FF2B5EF4-FFF2-40B4-BE49-F238E27FC236}">
                <a16:creationId xmlns:a16="http://schemas.microsoft.com/office/drawing/2014/main" id="{9D0CEECB-6F90-4F0E-9781-B7B152CE4719}"/>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C7256B07-8C1B-4A2E-83D1-E6E1408D9CC7}"/>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Lock Resource und Modus</a:t>
            </a:r>
          </a:p>
        </p:txBody>
      </p:sp>
      <p:sp>
        <p:nvSpPr>
          <p:cNvPr id="10" name="prompt-num-3">
            <a:extLst>
              <a:ext uri="{FF2B5EF4-FFF2-40B4-BE49-F238E27FC236}">
                <a16:creationId xmlns:a16="http://schemas.microsoft.com/office/drawing/2014/main" id="{87408AD1-FFB3-4A82-9395-46EF4B4BEE1D}"/>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955E30B5-AB57-4D9C-B27E-1BB265E95849}"/>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fachlicher Konsistenzvertrag</a:t>
            </a:r>
          </a:p>
        </p:txBody>
      </p:sp>
      <p:sp>
        <p:nvSpPr>
          <p:cNvPr id="12" name="question-footer">
            <a:extLst>
              <a:ext uri="{FF2B5EF4-FFF2-40B4-BE49-F238E27FC236}">
                <a16:creationId xmlns:a16="http://schemas.microsoft.com/office/drawing/2014/main" id="{56697A33-14AD-4CE5-8D11-1DB36F7CCF1B}"/>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70 / 102</a:t>
            </a:r>
          </a:p>
        </p:txBody>
      </p:sp>
    </p:spTree>
    <p:extLst>
      <p:ext uri="{BB962C8B-B14F-4D97-AF65-F5344CB8AC3E}">
        <p14:creationId xmlns:p14="http://schemas.microsoft.com/office/powerpoint/2010/main" val="1175942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6" name="section-number">
            <a:extLst>
              <a:ext uri="{FF2B5EF4-FFF2-40B4-BE49-F238E27FC236}">
                <a16:creationId xmlns:a16="http://schemas.microsoft.com/office/drawing/2014/main" id="{277974D9-3C6F-4821-98E7-B83306991606}"/>
              </a:ext>
            </a:extLst>
          </p:cNvPr>
          <p:cNvSpPr>
            <a:spLocks noGrp="1"/>
          </p:cNvSpPr>
          <p:nvPr/>
        </p:nvSpPr>
        <p:spPr>
          <a:xfrm>
            <a:off x="628650" y="609600"/>
            <a:ext cx="2095500" cy="1428750"/>
          </a:xfrm>
          <a:prstGeom prst="rect">
            <a:avLst/>
          </a:prstGeom>
          <a:noFill/>
          <a:ln w="0">
            <a:noFill/>
            <a:prstDash val="solid"/>
          </a:ln>
        </p:spPr>
        <p:txBody>
          <a:bodyPr wrap="square" lIns="0" tIns="0" rIns="0" bIns="0" anchor="t">
            <a:normAutofit/>
          </a:bodyPr>
          <a:lstStyle/>
          <a:p>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06</a:t>
            </a:r>
          </a:p>
        </p:txBody>
      </p:sp>
      <p:sp>
        <p:nvSpPr>
          <p:cNvPr id="2" name="section-rule">
            <a:extLst>
              <a:ext uri="{FF2B5EF4-FFF2-40B4-BE49-F238E27FC236}">
                <a16:creationId xmlns:a16="http://schemas.microsoft.com/office/drawing/2014/main" id="{38405F77-D08B-497D-9AF6-06C6503BA8F9}"/>
              </a:ext>
            </a:extLst>
          </p:cNvPr>
          <p:cNvSpPr>
            <a:spLocks noGrp="1"/>
          </p:cNvSpPr>
          <p:nvPr/>
        </p:nvSpPr>
        <p:spPr>
          <a:xfrm>
            <a:off x="628650" y="2228850"/>
            <a:ext cx="10934700" cy="19050"/>
          </a:xfrm>
          <a:prstGeom prst="rect">
            <a:avLst/>
          </a:prstGeom>
          <a:solidFill>
            <a:srgbClr val="35536A"/>
          </a:solidFill>
          <a:ln w="0">
            <a:noFill/>
            <a:prstDash val="solid"/>
          </a:ln>
        </p:spPr>
        <p:txBody>
          <a:bodyPr/>
          <a:lstStyle/>
          <a:p>
            <a:endParaRPr/>
          </a:p>
        </p:txBody>
      </p:sp>
      <p:sp>
        <p:nvSpPr>
          <p:cNvPr id="3" name="section-title">
            <a:extLst>
              <a:ext uri="{FF2B5EF4-FFF2-40B4-BE49-F238E27FC236}">
                <a16:creationId xmlns:a16="http://schemas.microsoft.com/office/drawing/2014/main" id="{474AADED-8137-4668-9E95-053B4C2DA75C}"/>
              </a:ext>
            </a:extLst>
          </p:cNvPr>
          <p:cNvSpPr>
            <a:spLocks noGrp="1"/>
          </p:cNvSpPr>
          <p:nvPr/>
        </p:nvSpPr>
        <p:spPr>
          <a:xfrm>
            <a:off x="628650" y="2705100"/>
            <a:ext cx="10001250" cy="952500"/>
          </a:xfrm>
          <a:prstGeom prst="rect">
            <a:avLst/>
          </a:prstGeom>
          <a:noFill/>
          <a:ln w="0">
            <a:noFill/>
            <a:prstDash val="solid"/>
          </a:ln>
        </p:spPr>
        <p:txBody>
          <a:bodyPr wrap="square" lIns="0" tIns="0" rIns="0" bIns="0" anchor="t">
            <a:normAutofit/>
          </a:bodyPr>
          <a:lstStyle/>
          <a:p>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Ressourcen und Diagnose</a:t>
            </a:r>
          </a:p>
        </p:txBody>
      </p:sp>
      <p:sp>
        <p:nvSpPr>
          <p:cNvPr id="4" name="section-subtitle">
            <a:extLst>
              <a:ext uri="{FF2B5EF4-FFF2-40B4-BE49-F238E27FC236}">
                <a16:creationId xmlns:a16="http://schemas.microsoft.com/office/drawing/2014/main" id="{3B4C23C0-15E1-4B1C-AC6F-8D93D7FEE552}"/>
              </a:ext>
            </a:extLst>
          </p:cNvPr>
          <p:cNvSpPr>
            <a:spLocks noGrp="1"/>
          </p:cNvSpPr>
          <p:nvPr/>
        </p:nvSpPr>
        <p:spPr>
          <a:xfrm>
            <a:off x="628650" y="4000500"/>
            <a:ext cx="9239250" cy="9525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wird aus Messwerten eine überprüfbare technische Hypothese?</a:t>
            </a:r>
          </a:p>
        </p:txBody>
      </p:sp>
      <p:sp>
        <p:nvSpPr>
          <p:cNvPr id="5" name="section-footer">
            <a:extLst>
              <a:ext uri="{FF2B5EF4-FFF2-40B4-BE49-F238E27FC236}">
                <a16:creationId xmlns:a16="http://schemas.microsoft.com/office/drawing/2014/main" id="{BDAFECF5-7A88-4563-B663-5C1777D82E05}"/>
              </a:ext>
            </a:extLst>
          </p:cNvPr>
          <p:cNvSpPr>
            <a:spLocks noGrp="1"/>
          </p:cNvSpPr>
          <p:nvPr/>
        </p:nvSpPr>
        <p:spPr>
          <a:xfrm>
            <a:off x="628650" y="6419850"/>
            <a:ext cx="428625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2026166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0B049AD5-DA03-4DCA-AD8E-A7C8D35453BC}"/>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99CD33AA-4865-4D15-8A41-166838D37AE7}"/>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Elapsed Time besteht aus CPU-Zeit und Wartezeit – aber nicht als triviale Einzelsumme</a:t>
            </a:r>
          </a:p>
        </p:txBody>
      </p:sp>
      <p:sp>
        <p:nvSpPr>
          <p:cNvPr id="3" name="title-rule">
            <a:extLst>
              <a:ext uri="{FF2B5EF4-FFF2-40B4-BE49-F238E27FC236}">
                <a16:creationId xmlns:a16="http://schemas.microsoft.com/office/drawing/2014/main" id="{CB6BAB57-5DF1-473D-97E6-A84DECECF6C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52E56B68-034E-41D8-9405-34EAFFC03627}"/>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EFFB265-D2B0-43D2-B014-EF316EAB2C1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72 / 102</a:t>
            </a:r>
          </a:p>
        </p:txBody>
      </p:sp>
      <p:sp>
        <p:nvSpPr>
          <p:cNvPr id="6" name="left-title">
            <a:extLst>
              <a:ext uri="{FF2B5EF4-FFF2-40B4-BE49-F238E27FC236}">
                <a16:creationId xmlns:a16="http://schemas.microsoft.com/office/drawing/2014/main" id="{60D69119-8FF1-4A52-8152-CAF31DE0D481}"/>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CPU</a:t>
            </a:r>
          </a:p>
        </p:txBody>
      </p:sp>
      <p:sp>
        <p:nvSpPr>
          <p:cNvPr id="7" name="right-title">
            <a:extLst>
              <a:ext uri="{FF2B5EF4-FFF2-40B4-BE49-F238E27FC236}">
                <a16:creationId xmlns:a16="http://schemas.microsoft.com/office/drawing/2014/main" id="{BA02A9BE-A8BD-498D-A855-7CF3DCD61676}"/>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Waits</a:t>
            </a:r>
          </a:p>
        </p:txBody>
      </p:sp>
      <p:sp>
        <p:nvSpPr>
          <p:cNvPr id="8" name="middle-rule">
            <a:extLst>
              <a:ext uri="{FF2B5EF4-FFF2-40B4-BE49-F238E27FC236}">
                <a16:creationId xmlns:a16="http://schemas.microsoft.com/office/drawing/2014/main" id="{B7EAEE3A-3536-4F22-849D-0F4AE8BC82AA}"/>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127C5019-AACC-44D0-9ECB-612BCC83DABC}"/>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aktive Arbeit auf Schedulern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parallel über mehrere Worker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Operator- und Ausdruckskosten</a:t>
            </a:r>
          </a:p>
        </p:txBody>
      </p:sp>
      <p:sp>
        <p:nvSpPr>
          <p:cNvPr id="10" name="right-points">
            <a:extLst>
              <a:ext uri="{FF2B5EF4-FFF2-40B4-BE49-F238E27FC236}">
                <a16:creationId xmlns:a16="http://schemas.microsoft.com/office/drawing/2014/main" id="{CA506B11-7357-4C1C-9530-55E2100990DC}"/>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Ressource, Synchronisation oder externe Abhängigkeit</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 Task, Request oder kumulativ</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Parallelität kann Waits überlappen</a:t>
            </a:r>
          </a:p>
        </p:txBody>
      </p:sp>
      <p:sp>
        <p:nvSpPr>
          <p:cNvPr id="11" name="conclusion-bg">
            <a:extLst>
              <a:ext uri="{FF2B5EF4-FFF2-40B4-BE49-F238E27FC236}">
                <a16:creationId xmlns:a16="http://schemas.microsoft.com/office/drawing/2014/main" id="{61A71D8D-F295-4DD7-BC0C-0155F9416F04}"/>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AB1360CF-D69D-43A4-9803-49351FEFC940}"/>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Hohe Duration verlangt die Trennung von Arbeit und Warten.</a:t>
            </a:r>
          </a:p>
        </p:txBody>
      </p:sp>
    </p:spTree>
    <p:extLst>
      <p:ext uri="{BB962C8B-B14F-4D97-AF65-F5344CB8AC3E}">
        <p14:creationId xmlns:p14="http://schemas.microsoft.com/office/powerpoint/2010/main" val="578038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CD2C58F2-6661-4A36-8C8B-27DB6A27434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39AA2973-E11B-4C39-A566-EDD0DB4BE666}"/>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Waits müssen im richtigen Scope und als Delta interpretiert werden</a:t>
            </a:r>
          </a:p>
        </p:txBody>
      </p:sp>
      <p:sp>
        <p:nvSpPr>
          <p:cNvPr id="3" name="title-rule">
            <a:extLst>
              <a:ext uri="{FF2B5EF4-FFF2-40B4-BE49-F238E27FC236}">
                <a16:creationId xmlns:a16="http://schemas.microsoft.com/office/drawing/2014/main" id="{6B0B1CBA-260B-45FA-89D7-5EA03ECCF438}"/>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A271F447-EC3B-48DB-AD32-14F8B4355EC8}"/>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347B3C4D-FE68-4BDA-BADD-38452964EA13}"/>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73 / 102</a:t>
            </a:r>
          </a:p>
        </p:txBody>
      </p:sp>
      <p:graphicFrame>
        <p:nvGraphicFramePr>
          <p:cNvPr id="14" name="Tabelle 13"/>
          <p:cNvGraphicFramePr/>
          <p:nvPr/>
        </p:nvGraphicFramePr>
        <p:xfrm>
          <a:off x="609600" y="2171700"/>
          <a:ext cx="10668000" cy="352425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500" b="1">
                          <a:solidFill>
                            <a:srgbClr val="FFFFFF"/>
                          </a:solidFill>
                          <a:latin typeface="Aptos"/>
                          <a:ea typeface="Aptos"/>
                          <a:cs typeface="Aptos"/>
                        </a:rPr>
                        <a:t>Scope</a:t>
                      </a:r>
                    </a:p>
                  </a:txBody>
                  <a:tcPr>
                    <a:solidFill>
                      <a:srgbClr val="0B1F33"/>
                    </a:solidFill>
                  </a:tcPr>
                </a:tc>
                <a:tc>
                  <a:txBody>
                    <a:bodyPr/>
                    <a:lstStyle/>
                    <a:p>
                      <a:r>
                        <a:rPr sz="1500" b="1">
                          <a:solidFill>
                            <a:srgbClr val="FFFFFF"/>
                          </a:solidFill>
                          <a:latin typeface="Aptos"/>
                          <a:ea typeface="Aptos"/>
                          <a:cs typeface="Aptos"/>
                        </a:rPr>
                        <a:t>Beispiel</a:t>
                      </a:r>
                    </a:p>
                  </a:txBody>
                  <a:tcPr>
                    <a:solidFill>
                      <a:srgbClr val="0B1F33"/>
                    </a:solidFill>
                  </a:tcPr>
                </a:tc>
                <a:tc>
                  <a:txBody>
                    <a:bodyPr/>
                    <a:lstStyle/>
                    <a:p>
                      <a:r>
                        <a:rPr sz="1500" b="1">
                          <a:solidFill>
                            <a:srgbClr val="FFFFFF"/>
                          </a:solidFill>
                          <a:latin typeface="Aptos"/>
                          <a:ea typeface="Aptos"/>
                          <a:cs typeface="Aptos"/>
                        </a:rPr>
                        <a:t>geeignete Frage</a:t>
                      </a:r>
                    </a:p>
                  </a:txBody>
                  <a:tcPr>
                    <a:solidFill>
                      <a:srgbClr val="0B1F33"/>
                    </a:solidFill>
                  </a:tcPr>
                </a:tc>
                <a:extLst>
                  <a:ext uri="{0D108BD9-81ED-4DB2-BD59-A6C34878D82A}">
                    <a16:rowId xmlns:a16="http://schemas.microsoft.com/office/drawing/2014/main" val="10000"/>
                  </a:ext>
                </a:extLst>
              </a:tr>
              <a:tr h="704850">
                <a:tc>
                  <a:txBody>
                    <a:bodyPr/>
                    <a:lstStyle/>
                    <a:p>
                      <a:r>
                        <a:rPr sz="1350">
                          <a:solidFill>
                            <a:srgbClr val="243B53"/>
                          </a:solidFill>
                          <a:latin typeface="Aptos"/>
                          <a:ea typeface="Aptos"/>
                          <a:cs typeface="Aptos"/>
                        </a:rPr>
                        <a:t>Request</a:t>
                      </a:r>
                    </a:p>
                  </a:txBody>
                  <a:tcPr>
                    <a:solidFill>
                      <a:srgbClr val="FFFFFF"/>
                    </a:solidFill>
                  </a:tcPr>
                </a:tc>
                <a:tc>
                  <a:txBody>
                    <a:bodyPr/>
                    <a:lstStyle/>
                    <a:p>
                      <a:r>
                        <a:rPr sz="1350">
                          <a:solidFill>
                            <a:srgbClr val="243B53"/>
                          </a:solidFill>
                          <a:latin typeface="Aptos"/>
                          <a:ea typeface="Aptos"/>
                          <a:cs typeface="Aptos"/>
                        </a:rPr>
                        <a:t>sys.dm_exec_requests</a:t>
                      </a:r>
                    </a:p>
                  </a:txBody>
                  <a:tcPr>
                    <a:solidFill>
                      <a:srgbClr val="FFFFFF"/>
                    </a:solidFill>
                  </a:tcPr>
                </a:tc>
                <a:tc>
                  <a:txBody>
                    <a:bodyPr/>
                    <a:lstStyle/>
                    <a:p>
                      <a:r>
                        <a:rPr sz="1350">
                          <a:solidFill>
                            <a:srgbClr val="243B53"/>
                          </a:solidFill>
                          <a:latin typeface="Aptos"/>
                          <a:ea typeface="Aptos"/>
                          <a:cs typeface="Aptos"/>
                        </a:rPr>
                        <a:t>Worauf wartet diese laufende Ausführung jetzt?</a:t>
                      </a:r>
                    </a:p>
                  </a:txBody>
                  <a:tcPr>
                    <a:solidFill>
                      <a:srgbClr val="FFFFFF"/>
                    </a:solidFill>
                  </a:tcPr>
                </a:tc>
                <a:extLst>
                  <a:ext uri="{0D108BD9-81ED-4DB2-BD59-A6C34878D82A}">
                    <a16:rowId xmlns:a16="http://schemas.microsoft.com/office/drawing/2014/main" val="10001"/>
                  </a:ext>
                </a:extLst>
              </a:tr>
              <a:tr h="704850">
                <a:tc>
                  <a:txBody>
                    <a:bodyPr/>
                    <a:lstStyle/>
                    <a:p>
                      <a:r>
                        <a:rPr sz="1350">
                          <a:solidFill>
                            <a:srgbClr val="243B53"/>
                          </a:solidFill>
                          <a:latin typeface="Aptos"/>
                          <a:ea typeface="Aptos"/>
                          <a:cs typeface="Aptos"/>
                        </a:rPr>
                        <a:t>Session/Task</a:t>
                      </a:r>
                    </a:p>
                  </a:txBody>
                  <a:tcPr>
                    <a:solidFill>
                      <a:srgbClr val="EDF2F7"/>
                    </a:solidFill>
                  </a:tcPr>
                </a:tc>
                <a:tc>
                  <a:txBody>
                    <a:bodyPr/>
                    <a:lstStyle/>
                    <a:p>
                      <a:r>
                        <a:rPr sz="1350">
                          <a:solidFill>
                            <a:srgbClr val="243B53"/>
                          </a:solidFill>
                          <a:latin typeface="Aptos"/>
                          <a:ea typeface="Aptos"/>
                          <a:cs typeface="Aptos"/>
                        </a:rPr>
                        <a:t>sys.dm_os_waiting_tasks</a:t>
                      </a:r>
                    </a:p>
                  </a:txBody>
                  <a:tcPr>
                    <a:solidFill>
                      <a:srgbClr val="EDF2F7"/>
                    </a:solidFill>
                  </a:tcPr>
                </a:tc>
                <a:tc>
                  <a:txBody>
                    <a:bodyPr/>
                    <a:lstStyle/>
                    <a:p>
                      <a:r>
                        <a:rPr sz="1350">
                          <a:solidFill>
                            <a:srgbClr val="243B53"/>
                          </a:solidFill>
                          <a:latin typeface="Aptos"/>
                          <a:ea typeface="Aptos"/>
                          <a:cs typeface="Aptos"/>
                        </a:rPr>
                        <a:t>Welche Ressource blockiert welchen Task?</a:t>
                      </a:r>
                    </a:p>
                  </a:txBody>
                  <a:tcPr>
                    <a:solidFill>
                      <a:srgbClr val="EDF2F7"/>
                    </a:solidFill>
                  </a:tcPr>
                </a:tc>
                <a:extLst>
                  <a:ext uri="{0D108BD9-81ED-4DB2-BD59-A6C34878D82A}">
                    <a16:rowId xmlns:a16="http://schemas.microsoft.com/office/drawing/2014/main" val="10002"/>
                  </a:ext>
                </a:extLst>
              </a:tr>
              <a:tr h="704850">
                <a:tc>
                  <a:txBody>
                    <a:bodyPr/>
                    <a:lstStyle/>
                    <a:p>
                      <a:r>
                        <a:rPr sz="1350">
                          <a:solidFill>
                            <a:srgbClr val="243B53"/>
                          </a:solidFill>
                          <a:latin typeface="Aptos"/>
                          <a:ea typeface="Aptos"/>
                          <a:cs typeface="Aptos"/>
                        </a:rPr>
                        <a:t>Query-Historie</a:t>
                      </a:r>
                    </a:p>
                  </a:txBody>
                  <a:tcPr>
                    <a:solidFill>
                      <a:srgbClr val="FFFFFF"/>
                    </a:solidFill>
                  </a:tcPr>
                </a:tc>
                <a:tc>
                  <a:txBody>
                    <a:bodyPr/>
                    <a:lstStyle/>
                    <a:p>
                      <a:r>
                        <a:rPr sz="1350">
                          <a:solidFill>
                            <a:srgbClr val="243B53"/>
                          </a:solidFill>
                          <a:latin typeface="Aptos"/>
                          <a:ea typeface="Aptos"/>
                          <a:cs typeface="Aptos"/>
                        </a:rPr>
                        <a:t>Query Store Wait Stats</a:t>
                      </a:r>
                    </a:p>
                  </a:txBody>
                  <a:tcPr>
                    <a:solidFill>
                      <a:srgbClr val="FFFFFF"/>
                    </a:solidFill>
                  </a:tcPr>
                </a:tc>
                <a:tc>
                  <a:txBody>
                    <a:bodyPr/>
                    <a:lstStyle/>
                    <a:p>
                      <a:r>
                        <a:rPr sz="1350">
                          <a:solidFill>
                            <a:srgbClr val="243B53"/>
                          </a:solidFill>
                          <a:latin typeface="Aptos"/>
                          <a:ea typeface="Aptos"/>
                          <a:cs typeface="Aptos"/>
                        </a:rPr>
                        <a:t>Welche Wait-Kategorien begleiteten die Query im Zeitraum?</a:t>
                      </a:r>
                    </a:p>
                  </a:txBody>
                  <a:tcPr>
                    <a:solidFill>
                      <a:srgbClr val="FFFFFF"/>
                    </a:solidFill>
                  </a:tcPr>
                </a:tc>
                <a:extLst>
                  <a:ext uri="{0D108BD9-81ED-4DB2-BD59-A6C34878D82A}">
                    <a16:rowId xmlns:a16="http://schemas.microsoft.com/office/drawing/2014/main" val="10003"/>
                  </a:ext>
                </a:extLst>
              </a:tr>
              <a:tr h="704850">
                <a:tc>
                  <a:txBody>
                    <a:bodyPr/>
                    <a:lstStyle/>
                    <a:p>
                      <a:r>
                        <a:rPr sz="1350">
                          <a:solidFill>
                            <a:srgbClr val="243B53"/>
                          </a:solidFill>
                          <a:latin typeface="Aptos"/>
                          <a:ea typeface="Aptos"/>
                          <a:cs typeface="Aptos"/>
                        </a:rPr>
                        <a:t>Instanz</a:t>
                      </a:r>
                    </a:p>
                  </a:txBody>
                  <a:tcPr>
                    <a:solidFill>
                      <a:srgbClr val="EDF2F7"/>
                    </a:solidFill>
                  </a:tcPr>
                </a:tc>
                <a:tc>
                  <a:txBody>
                    <a:bodyPr/>
                    <a:lstStyle/>
                    <a:p>
                      <a:r>
                        <a:rPr sz="1350">
                          <a:solidFill>
                            <a:srgbClr val="243B53"/>
                          </a:solidFill>
                          <a:latin typeface="Aptos"/>
                          <a:ea typeface="Aptos"/>
                          <a:cs typeface="Aptos"/>
                        </a:rPr>
                        <a:t>sys.dm_os_wait_stats</a:t>
                      </a:r>
                    </a:p>
                  </a:txBody>
                  <a:tcPr>
                    <a:solidFill>
                      <a:srgbClr val="EDF2F7"/>
                    </a:solidFill>
                  </a:tcPr>
                </a:tc>
                <a:tc>
                  <a:txBody>
                    <a:bodyPr/>
                    <a:lstStyle/>
                    <a:p>
                      <a:r>
                        <a:rPr sz="1350">
                          <a:solidFill>
                            <a:srgbClr val="243B53"/>
                          </a:solidFill>
                          <a:latin typeface="Aptos"/>
                          <a:ea typeface="Aptos"/>
                          <a:cs typeface="Aptos"/>
                        </a:rPr>
                        <a:t>Welche Wartearten dominierten im gemessenen Intervall?</a:t>
                      </a:r>
                    </a:p>
                  </a:txBody>
                  <a:tcPr>
                    <a:solidFill>
                      <a:srgbClr val="EDF2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786935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CB9D42F9-2A1B-4419-92B6-9AC148377D8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61233047-3166-41B7-9DC5-26BDDD7819F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RESOURCE_SEMAPHORE zeigt Grant-Warten – nicht automatisch RAM-Mangel</a:t>
            </a:r>
          </a:p>
        </p:txBody>
      </p:sp>
      <p:sp>
        <p:nvSpPr>
          <p:cNvPr id="3" name="title-rule">
            <a:extLst>
              <a:ext uri="{FF2B5EF4-FFF2-40B4-BE49-F238E27FC236}">
                <a16:creationId xmlns:a16="http://schemas.microsoft.com/office/drawing/2014/main" id="{EC59FB45-1DF6-4032-966E-045D946083BA}"/>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1DE0F28E-6800-4885-BB82-636F5B9304CA}"/>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D96C55DE-BCC6-4815-BADD-F53E103E032B}"/>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74 / 102</a:t>
            </a:r>
          </a:p>
        </p:txBody>
      </p:sp>
      <p:sp>
        <p:nvSpPr>
          <p:cNvPr id="6" name="left-title">
            <a:extLst>
              <a:ext uri="{FF2B5EF4-FFF2-40B4-BE49-F238E27FC236}">
                <a16:creationId xmlns:a16="http://schemas.microsoft.com/office/drawing/2014/main" id="{FE891408-4E96-46FC-BA57-CEDFC93C72F3}"/>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Query-Ebene</a:t>
            </a:r>
          </a:p>
        </p:txBody>
      </p:sp>
      <p:sp>
        <p:nvSpPr>
          <p:cNvPr id="7" name="right-title">
            <a:extLst>
              <a:ext uri="{FF2B5EF4-FFF2-40B4-BE49-F238E27FC236}">
                <a16:creationId xmlns:a16="http://schemas.microsoft.com/office/drawing/2014/main" id="{446BDA0F-2EA1-454E-8F53-02F7F9E24FFB}"/>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Workload-Ebene</a:t>
            </a:r>
          </a:p>
        </p:txBody>
      </p:sp>
      <p:sp>
        <p:nvSpPr>
          <p:cNvPr id="8" name="middle-rule">
            <a:extLst>
              <a:ext uri="{FF2B5EF4-FFF2-40B4-BE49-F238E27FC236}">
                <a16:creationId xmlns:a16="http://schemas.microsoft.com/office/drawing/2014/main" id="{06673ED7-B45F-4EF5-8096-ABD21D17F909}"/>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A59692DC-B6B3-405A-82B7-D10DFB0881BF}"/>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Requested versus Granted</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Schätzfehler und Row Width</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Spill oder übermäßiger Grant</a:t>
            </a:r>
          </a:p>
        </p:txBody>
      </p:sp>
      <p:sp>
        <p:nvSpPr>
          <p:cNvPr id="10" name="right-points">
            <a:extLst>
              <a:ext uri="{FF2B5EF4-FFF2-40B4-BE49-F238E27FC236}">
                <a16:creationId xmlns:a16="http://schemas.microsoft.com/office/drawing/2014/main" id="{413E5083-6D29-4739-9F87-14673D2EC70D}"/>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gleichzeitige Grant-Anforderungen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Memory Broker und Resource Governor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Queue-Dauer</a:t>
            </a:r>
          </a:p>
        </p:txBody>
      </p:sp>
      <p:sp>
        <p:nvSpPr>
          <p:cNvPr id="11" name="conclusion-bg">
            <a:extLst>
              <a:ext uri="{FF2B5EF4-FFF2-40B4-BE49-F238E27FC236}">
                <a16:creationId xmlns:a16="http://schemas.microsoft.com/office/drawing/2014/main" id="{80B31952-F0B7-4786-8492-01B2902C3E17}"/>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2FA162B2-6C74-4D6D-A923-E5DEDC04CA8F}"/>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Grantdruck wird auf Query- und Systemebene gleichzeitig erklärt.</a:t>
            </a:r>
          </a:p>
        </p:txBody>
      </p:sp>
    </p:spTree>
    <p:extLst>
      <p:ext uri="{BB962C8B-B14F-4D97-AF65-F5344CB8AC3E}">
        <p14:creationId xmlns:p14="http://schemas.microsoft.com/office/powerpoint/2010/main" val="18892102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module-label">
            <a:extLst>
              <a:ext uri="{FF2B5EF4-FFF2-40B4-BE49-F238E27FC236}">
                <a16:creationId xmlns:a16="http://schemas.microsoft.com/office/drawing/2014/main" id="{48217AF2-5637-4916-A8E2-928EFEA999D3}"/>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1E8DD164-7EC4-4EA4-AAFD-1BF2208DEAA9}"/>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I/O-, Log- und Netzwerk-Waits zeigen unterschiedliche Flaschenhälse</a:t>
            </a:r>
          </a:p>
        </p:txBody>
      </p:sp>
      <p:sp>
        <p:nvSpPr>
          <p:cNvPr id="3" name="title-rule">
            <a:extLst>
              <a:ext uri="{FF2B5EF4-FFF2-40B4-BE49-F238E27FC236}">
                <a16:creationId xmlns:a16="http://schemas.microsoft.com/office/drawing/2014/main" id="{013C86FC-853A-461E-9D41-A45E68289B5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84E4A08A-FC95-4F14-9FF7-BF6F9C22E389}"/>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CBAA270-6D79-4705-BE5B-3FC183B1DFC1}"/>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75 / 102</a:t>
            </a:r>
          </a:p>
        </p:txBody>
      </p:sp>
      <p:graphicFrame>
        <p:nvGraphicFramePr>
          <p:cNvPr id="14" name="Tabelle 13"/>
          <p:cNvGraphicFramePr/>
          <p:nvPr/>
        </p:nvGraphicFramePr>
        <p:xfrm>
          <a:off x="609600" y="2171700"/>
          <a:ext cx="10668000" cy="3524250"/>
        </p:xfrm>
        <a:graphic>
          <a:graphicData uri="http://schemas.openxmlformats.org/drawingml/2006/table">
            <a:tbl>
              <a:tblPr firstRow="1" bandRow="1"/>
              <a:tblGrid>
                <a:gridCol w="280035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704850">
                <a:tc>
                  <a:txBody>
                    <a:bodyPr/>
                    <a:lstStyle/>
                    <a:p>
                      <a:r>
                        <a:rPr sz="1500" b="1">
                          <a:solidFill>
                            <a:srgbClr val="FFFFFF"/>
                          </a:solidFill>
                          <a:latin typeface="Aptos"/>
                          <a:ea typeface="Aptos"/>
                          <a:cs typeface="Aptos"/>
                        </a:rPr>
                        <a:t>Signal</a:t>
                      </a:r>
                    </a:p>
                  </a:txBody>
                  <a:tcPr>
                    <a:solidFill>
                      <a:srgbClr val="0B1F33"/>
                    </a:solidFill>
                  </a:tcPr>
                </a:tc>
                <a:tc>
                  <a:txBody>
                    <a:bodyPr/>
                    <a:lstStyle/>
                    <a:p>
                      <a:r>
                        <a:rPr sz="1500" b="1">
                          <a:solidFill>
                            <a:srgbClr val="FFFFFF"/>
                          </a:solidFill>
                          <a:latin typeface="Aptos"/>
                          <a:ea typeface="Aptos"/>
                          <a:cs typeface="Aptos"/>
                        </a:rPr>
                        <a:t>häufige Bedeutung</a:t>
                      </a:r>
                    </a:p>
                  </a:txBody>
                  <a:tcPr>
                    <a:solidFill>
                      <a:srgbClr val="0B1F33"/>
                    </a:solidFill>
                  </a:tcPr>
                </a:tc>
                <a:tc>
                  <a:txBody>
                    <a:bodyPr/>
                    <a:lstStyle/>
                    <a:p>
                      <a:r>
                        <a:rPr sz="1500" b="1">
                          <a:solidFill>
                            <a:srgbClr val="FFFFFF"/>
                          </a:solidFill>
                          <a:latin typeface="Aptos"/>
                          <a:ea typeface="Aptos"/>
                          <a:cs typeface="Aptos"/>
                        </a:rPr>
                        <a:t>nächste Evidenz</a:t>
                      </a:r>
                    </a:p>
                  </a:txBody>
                  <a:tcPr>
                    <a:solidFill>
                      <a:srgbClr val="0B1F33"/>
                    </a:solidFill>
                  </a:tcPr>
                </a:tc>
                <a:extLst>
                  <a:ext uri="{0D108BD9-81ED-4DB2-BD59-A6C34878D82A}">
                    <a16:rowId xmlns:a16="http://schemas.microsoft.com/office/drawing/2014/main" val="10000"/>
                  </a:ext>
                </a:extLst>
              </a:tr>
              <a:tr h="704850">
                <a:tc>
                  <a:txBody>
                    <a:bodyPr/>
                    <a:lstStyle/>
                    <a:p>
                      <a:r>
                        <a:rPr sz="1350">
                          <a:solidFill>
                            <a:srgbClr val="243B53"/>
                          </a:solidFill>
                          <a:latin typeface="Aptos"/>
                          <a:ea typeface="Aptos"/>
                          <a:cs typeface="Aptos"/>
                        </a:rPr>
                        <a:t>PAGEIOLATCH_*</a:t>
                      </a:r>
                    </a:p>
                  </a:txBody>
                  <a:tcPr>
                    <a:solidFill>
                      <a:srgbClr val="FFFFFF"/>
                    </a:solidFill>
                  </a:tcPr>
                </a:tc>
                <a:tc>
                  <a:txBody>
                    <a:bodyPr/>
                    <a:lstStyle/>
                    <a:p>
                      <a:r>
                        <a:rPr sz="1350">
                          <a:solidFill>
                            <a:srgbClr val="243B53"/>
                          </a:solidFill>
                          <a:latin typeface="Aptos"/>
                          <a:ea typeface="Aptos"/>
                          <a:cs typeface="Aptos"/>
                        </a:rPr>
                        <a:t>Warten auf Data-Page-I/O</a:t>
                      </a:r>
                    </a:p>
                  </a:txBody>
                  <a:tcPr>
                    <a:solidFill>
                      <a:srgbClr val="FFFFFF"/>
                    </a:solidFill>
                  </a:tcPr>
                </a:tc>
                <a:tc>
                  <a:txBody>
                    <a:bodyPr/>
                    <a:lstStyle/>
                    <a:p>
                      <a:r>
                        <a:rPr sz="1350">
                          <a:solidFill>
                            <a:srgbClr val="243B53"/>
                          </a:solidFill>
                          <a:latin typeface="Aptos"/>
                          <a:ea typeface="Aptos"/>
                          <a:cs typeface="Aptos"/>
                        </a:rPr>
                        <a:t>File-Latenz, Reads, Cachemisses, Plan</a:t>
                      </a:r>
                    </a:p>
                  </a:txBody>
                  <a:tcPr>
                    <a:solidFill>
                      <a:srgbClr val="FFFFFF"/>
                    </a:solidFill>
                  </a:tcPr>
                </a:tc>
                <a:extLst>
                  <a:ext uri="{0D108BD9-81ED-4DB2-BD59-A6C34878D82A}">
                    <a16:rowId xmlns:a16="http://schemas.microsoft.com/office/drawing/2014/main" val="10001"/>
                  </a:ext>
                </a:extLst>
              </a:tr>
              <a:tr h="704850">
                <a:tc>
                  <a:txBody>
                    <a:bodyPr/>
                    <a:lstStyle/>
                    <a:p>
                      <a:r>
                        <a:rPr sz="1350">
                          <a:solidFill>
                            <a:srgbClr val="243B53"/>
                          </a:solidFill>
                          <a:latin typeface="Aptos"/>
                          <a:ea typeface="Aptos"/>
                          <a:cs typeface="Aptos"/>
                        </a:rPr>
                        <a:t>PAGELATCH_*</a:t>
                      </a:r>
                    </a:p>
                  </a:txBody>
                  <a:tcPr>
                    <a:solidFill>
                      <a:srgbClr val="EDF2F7"/>
                    </a:solidFill>
                  </a:tcPr>
                </a:tc>
                <a:tc>
                  <a:txBody>
                    <a:bodyPr/>
                    <a:lstStyle/>
                    <a:p>
                      <a:r>
                        <a:rPr sz="1350">
                          <a:solidFill>
                            <a:srgbClr val="243B53"/>
                          </a:solidFill>
                          <a:latin typeface="Aptos"/>
                          <a:ea typeface="Aptos"/>
                          <a:cs typeface="Aptos"/>
                        </a:rPr>
                        <a:t>In-Memory-Latch auf Page-Struktur</a:t>
                      </a:r>
                    </a:p>
                  </a:txBody>
                  <a:tcPr>
                    <a:solidFill>
                      <a:srgbClr val="EDF2F7"/>
                    </a:solidFill>
                  </a:tcPr>
                </a:tc>
                <a:tc>
                  <a:txBody>
                    <a:bodyPr/>
                    <a:lstStyle/>
                    <a:p>
                      <a:r>
                        <a:rPr sz="1350">
                          <a:solidFill>
                            <a:srgbClr val="243B53"/>
                          </a:solidFill>
                          <a:latin typeface="Aptos"/>
                          <a:ea typeface="Aptos"/>
                          <a:cs typeface="Aptos"/>
                        </a:rPr>
                        <a:t>Resource Description, TempDB/Hot Page</a:t>
                      </a:r>
                    </a:p>
                  </a:txBody>
                  <a:tcPr>
                    <a:solidFill>
                      <a:srgbClr val="EDF2F7"/>
                    </a:solidFill>
                  </a:tcPr>
                </a:tc>
                <a:extLst>
                  <a:ext uri="{0D108BD9-81ED-4DB2-BD59-A6C34878D82A}">
                    <a16:rowId xmlns:a16="http://schemas.microsoft.com/office/drawing/2014/main" val="10002"/>
                  </a:ext>
                </a:extLst>
              </a:tr>
              <a:tr h="704850">
                <a:tc>
                  <a:txBody>
                    <a:bodyPr/>
                    <a:lstStyle/>
                    <a:p>
                      <a:r>
                        <a:rPr sz="1350">
                          <a:solidFill>
                            <a:srgbClr val="243B53"/>
                          </a:solidFill>
                          <a:latin typeface="Aptos"/>
                          <a:ea typeface="Aptos"/>
                          <a:cs typeface="Aptos"/>
                        </a:rPr>
                        <a:t>WRITELOG</a:t>
                      </a:r>
                    </a:p>
                  </a:txBody>
                  <a:tcPr>
                    <a:solidFill>
                      <a:srgbClr val="FFFFFF"/>
                    </a:solidFill>
                  </a:tcPr>
                </a:tc>
                <a:tc>
                  <a:txBody>
                    <a:bodyPr/>
                    <a:lstStyle/>
                    <a:p>
                      <a:r>
                        <a:rPr sz="1350">
                          <a:solidFill>
                            <a:srgbClr val="243B53"/>
                          </a:solidFill>
                          <a:latin typeface="Aptos"/>
                          <a:ea typeface="Aptos"/>
                          <a:cs typeface="Aptos"/>
                        </a:rPr>
                        <a:t>Warten auf Log Flush</a:t>
                      </a:r>
                    </a:p>
                  </a:txBody>
                  <a:tcPr>
                    <a:solidFill>
                      <a:srgbClr val="FFFFFF"/>
                    </a:solidFill>
                  </a:tcPr>
                </a:tc>
                <a:tc>
                  <a:txBody>
                    <a:bodyPr/>
                    <a:lstStyle/>
                    <a:p>
                      <a:r>
                        <a:rPr sz="1350">
                          <a:solidFill>
                            <a:srgbClr val="243B53"/>
                          </a:solidFill>
                          <a:latin typeface="Aptos"/>
                          <a:ea typeface="Aptos"/>
                          <a:cs typeface="Aptos"/>
                        </a:rPr>
                        <a:t>Log-Write-Latenz, Commitmuster, Lograte</a:t>
                      </a:r>
                    </a:p>
                  </a:txBody>
                  <a:tcPr>
                    <a:solidFill>
                      <a:srgbClr val="FFFFFF"/>
                    </a:solidFill>
                  </a:tcPr>
                </a:tc>
                <a:extLst>
                  <a:ext uri="{0D108BD9-81ED-4DB2-BD59-A6C34878D82A}">
                    <a16:rowId xmlns:a16="http://schemas.microsoft.com/office/drawing/2014/main" val="10003"/>
                  </a:ext>
                </a:extLst>
              </a:tr>
              <a:tr h="704850">
                <a:tc>
                  <a:txBody>
                    <a:bodyPr/>
                    <a:lstStyle/>
                    <a:p>
                      <a:r>
                        <a:rPr sz="1350">
                          <a:solidFill>
                            <a:srgbClr val="243B53"/>
                          </a:solidFill>
                          <a:latin typeface="Aptos"/>
                          <a:ea typeface="Aptos"/>
                          <a:cs typeface="Aptos"/>
                        </a:rPr>
                        <a:t>ASYNC_NETWORK_IO</a:t>
                      </a:r>
                    </a:p>
                  </a:txBody>
                  <a:tcPr>
                    <a:solidFill>
                      <a:srgbClr val="EDF2F7"/>
                    </a:solidFill>
                  </a:tcPr>
                </a:tc>
                <a:tc>
                  <a:txBody>
                    <a:bodyPr/>
                    <a:lstStyle/>
                    <a:p>
                      <a:r>
                        <a:rPr sz="1350">
                          <a:solidFill>
                            <a:srgbClr val="243B53"/>
                          </a:solidFill>
                          <a:latin typeface="Aptos"/>
                          <a:ea typeface="Aptos"/>
                          <a:cs typeface="Aptos"/>
                        </a:rPr>
                        <a:t>Server wartet auf Clientkonsum</a:t>
                      </a:r>
                    </a:p>
                  </a:txBody>
                  <a:tcPr>
                    <a:solidFill>
                      <a:srgbClr val="EDF2F7"/>
                    </a:solidFill>
                  </a:tcPr>
                </a:tc>
                <a:tc>
                  <a:txBody>
                    <a:bodyPr/>
                    <a:lstStyle/>
                    <a:p>
                      <a:r>
                        <a:rPr sz="1350">
                          <a:solidFill>
                            <a:srgbClr val="243B53"/>
                          </a:solidFill>
                          <a:latin typeface="Aptos"/>
                          <a:ea typeface="Aptos"/>
                          <a:cs typeface="Aptos"/>
                        </a:rPr>
                        <a:t>Resultsetgröße, Clientfetch, Netzwerk</a:t>
                      </a:r>
                    </a:p>
                  </a:txBody>
                  <a:tcPr>
                    <a:solidFill>
                      <a:srgbClr val="EDF2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143570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AF81A740-7B28-4826-B09E-FEF6637979B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D012D0E8-1964-4818-ACB5-64378548EE1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Query Store verbindet Regression, Planwechsel und Laufzeitverteilung über die Zeit</a:t>
            </a:r>
          </a:p>
        </p:txBody>
      </p:sp>
      <p:sp>
        <p:nvSpPr>
          <p:cNvPr id="3" name="title-rule">
            <a:extLst>
              <a:ext uri="{FF2B5EF4-FFF2-40B4-BE49-F238E27FC236}">
                <a16:creationId xmlns:a16="http://schemas.microsoft.com/office/drawing/2014/main" id="{965CB9CF-7F10-49A3-9742-B9431A8D14D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FC8E1642-DDD6-4882-9B68-E381764BE3A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2E1BD0CE-3C24-4923-AF13-E8E04ABFEB60}"/>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76 / 102</a:t>
            </a:r>
          </a:p>
        </p:txBody>
      </p:sp>
      <p:sp>
        <p:nvSpPr>
          <p:cNvPr id="6" name="lead">
            <a:extLst>
              <a:ext uri="{FF2B5EF4-FFF2-40B4-BE49-F238E27FC236}">
                <a16:creationId xmlns:a16="http://schemas.microsoft.com/office/drawing/2014/main" id="{E73437D9-B209-4CC9-B1CA-877044DF5E33}"/>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Plan Cache zeigt primär den aktuellen Zustand; Query Store bewahrt mehrere Pläne und aggregierte Runtime-Intervalle.</a:t>
            </a:r>
          </a:p>
        </p:txBody>
      </p:sp>
      <p:sp>
        <p:nvSpPr>
          <p:cNvPr id="7" name="lead-accent">
            <a:extLst>
              <a:ext uri="{FF2B5EF4-FFF2-40B4-BE49-F238E27FC236}">
                <a16:creationId xmlns:a16="http://schemas.microsoft.com/office/drawing/2014/main" id="{87940E6F-1985-49E5-82D9-23C24ADB73E0}"/>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E99EFE89-7D13-408D-9582-67BFB4743E25}"/>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Top Resource Consuming und Regressed Queries</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Runtime-, Plan- und Wait-Statistiken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Plan Forcing und Query Store Hints mit Governance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ab SQL Server 2022 für neue Datenbanken standardmäßig READ_WRITE</a:t>
            </a:r>
          </a:p>
        </p:txBody>
      </p:sp>
    </p:spTree>
    <p:extLst>
      <p:ext uri="{BB962C8B-B14F-4D97-AF65-F5344CB8AC3E}">
        <p14:creationId xmlns:p14="http://schemas.microsoft.com/office/powerpoint/2010/main" val="2251201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98D9FA56-D7BD-412B-8336-DFCD10F51E5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98806666-2F6A-4D32-8358-021BE56C012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Extended Events und DMVs ergänzen sich bei gezielten Untersuchungen</a:t>
            </a:r>
          </a:p>
        </p:txBody>
      </p:sp>
      <p:sp>
        <p:nvSpPr>
          <p:cNvPr id="3" name="title-rule">
            <a:extLst>
              <a:ext uri="{FF2B5EF4-FFF2-40B4-BE49-F238E27FC236}">
                <a16:creationId xmlns:a16="http://schemas.microsoft.com/office/drawing/2014/main" id="{B88A59FB-2784-46B8-9B74-6CF6FF985C35}"/>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832E6BA9-10EE-437C-9C07-99BF323B71D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05D8B65A-795C-41A7-B467-551034286B65}"/>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77 / 102</a:t>
            </a:r>
          </a:p>
        </p:txBody>
      </p:sp>
      <p:sp>
        <p:nvSpPr>
          <p:cNvPr id="6" name="left-title">
            <a:extLst>
              <a:ext uri="{FF2B5EF4-FFF2-40B4-BE49-F238E27FC236}">
                <a16:creationId xmlns:a16="http://schemas.microsoft.com/office/drawing/2014/main" id="{4F71FB49-B2A6-4407-AA46-B7020D39DD43}"/>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Extended Events</a:t>
            </a:r>
          </a:p>
        </p:txBody>
      </p:sp>
      <p:sp>
        <p:nvSpPr>
          <p:cNvPr id="7" name="right-title">
            <a:extLst>
              <a:ext uri="{FF2B5EF4-FFF2-40B4-BE49-F238E27FC236}">
                <a16:creationId xmlns:a16="http://schemas.microsoft.com/office/drawing/2014/main" id="{14C03BD4-8759-441E-80DB-D390CEEA863F}"/>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DMVs</a:t>
            </a:r>
          </a:p>
        </p:txBody>
      </p:sp>
      <p:sp>
        <p:nvSpPr>
          <p:cNvPr id="8" name="middle-rule">
            <a:extLst>
              <a:ext uri="{FF2B5EF4-FFF2-40B4-BE49-F238E27FC236}">
                <a16:creationId xmlns:a16="http://schemas.microsoft.com/office/drawing/2014/main" id="{418818E3-8FDE-46C9-AD68-3A2A41C5D253}"/>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68E37AB6-3E8D-41A3-B740-758C7616EB69}"/>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zeitliche Ereignisse und Korrelation</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Filter, Actions und Targets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gezielte Session statt Dauer-Vollcapture</a:t>
            </a:r>
          </a:p>
        </p:txBody>
      </p:sp>
      <p:sp>
        <p:nvSpPr>
          <p:cNvPr id="10" name="right-points">
            <a:extLst>
              <a:ext uri="{FF2B5EF4-FFF2-40B4-BE49-F238E27FC236}">
                <a16:creationId xmlns:a16="http://schemas.microsoft.com/office/drawing/2014/main" id="{19395991-6313-402D-9056-E3F0C6601A29}"/>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aktueller oder kumulierter Zustand</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geringer Einstiegsoverhead</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Momentaufnahme benötigt Kontext und Delta</a:t>
            </a:r>
          </a:p>
        </p:txBody>
      </p:sp>
      <p:sp>
        <p:nvSpPr>
          <p:cNvPr id="11" name="conclusion-bg">
            <a:extLst>
              <a:ext uri="{FF2B5EF4-FFF2-40B4-BE49-F238E27FC236}">
                <a16:creationId xmlns:a16="http://schemas.microsoft.com/office/drawing/2014/main" id="{2D53657E-0666-4A92-AEA9-53B252F54862}"/>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B9366787-9708-428F-82A8-E619516C74A9}"/>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Das Capture-Design folgt der Hypothese.</a:t>
            </a:r>
          </a:p>
        </p:txBody>
      </p:sp>
    </p:spTree>
    <p:extLst>
      <p:ext uri="{BB962C8B-B14F-4D97-AF65-F5344CB8AC3E}">
        <p14:creationId xmlns:p14="http://schemas.microsoft.com/office/powerpoint/2010/main" val="17479238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 name="module-label">
            <a:extLst>
              <a:ext uri="{FF2B5EF4-FFF2-40B4-BE49-F238E27FC236}">
                <a16:creationId xmlns:a16="http://schemas.microsoft.com/office/drawing/2014/main" id="{DC8AEFF4-DEFC-46D7-8D0E-C37DFF170767}"/>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1FEC735E-1279-421C-A862-88C7793CD82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Query-Analyse wird von außen nach innen eingegrenzt</a:t>
            </a:r>
          </a:p>
        </p:txBody>
      </p:sp>
      <p:sp>
        <p:nvSpPr>
          <p:cNvPr id="3" name="title-rule">
            <a:extLst>
              <a:ext uri="{FF2B5EF4-FFF2-40B4-BE49-F238E27FC236}">
                <a16:creationId xmlns:a16="http://schemas.microsoft.com/office/drawing/2014/main" id="{E1497767-9126-4F60-9F35-417EDE7165A5}"/>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6C576267-6C11-4365-9A53-D9C94C2D92A0}"/>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E8B9DE52-B208-4B2F-9741-0B31F26CB96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78 / 102</a:t>
            </a:r>
          </a:p>
        </p:txBody>
      </p:sp>
      <p:sp>
        <p:nvSpPr>
          <p:cNvPr id="6" name="flow-1">
            <a:extLst>
              <a:ext uri="{FF2B5EF4-FFF2-40B4-BE49-F238E27FC236}">
                <a16:creationId xmlns:a16="http://schemas.microsoft.com/office/drawing/2014/main" id="{0D649366-3DAD-42F7-8230-E45D141FB1D6}"/>
              </a:ext>
            </a:extLst>
          </p:cNvPr>
          <p:cNvSpPr>
            <a:spLocks noGrp="1"/>
          </p:cNvSpPr>
          <p:nvPr/>
        </p:nvSpPr>
        <p:spPr>
          <a:xfrm>
            <a:off x="609600" y="2609850"/>
            <a:ext cx="1962150" cy="1428750"/>
          </a:xfrm>
          <a:prstGeom prst="roundRect">
            <a:avLst>
              <a:gd name="adj" fmla="val 5333"/>
            </a:avLst>
          </a:prstGeom>
          <a:solidFill>
            <a:srgbClr val="EAF4F4"/>
          </a:solidFill>
          <a:ln w="9525">
            <a:solidFill>
              <a:srgbClr val="D9E2EC"/>
            </a:solidFill>
            <a:prstDash val="solid"/>
          </a:ln>
        </p:spPr>
        <p:txBody>
          <a:bodyPr/>
          <a:lstStyle/>
          <a:p>
            <a:endParaRPr/>
          </a:p>
        </p:txBody>
      </p:sp>
      <p:sp>
        <p:nvSpPr>
          <p:cNvPr id="7" name="flow-1-text">
            <a:extLst>
              <a:ext uri="{FF2B5EF4-FFF2-40B4-BE49-F238E27FC236}">
                <a16:creationId xmlns:a16="http://schemas.microsoft.com/office/drawing/2014/main" id="{055A90E2-FB6A-43AD-A38F-0878C22B5746}"/>
              </a:ext>
            </a:extLst>
          </p:cNvPr>
          <p:cNvSpPr>
            <a:spLocks noGrp="1"/>
          </p:cNvSpPr>
          <p:nvPr/>
        </p:nvSpPr>
        <p:spPr>
          <a:xfrm>
            <a:off x="7429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Workload &amp;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Zeitraum</a:t>
            </a:r>
          </a:p>
        </p:txBody>
      </p:sp>
      <p:sp>
        <p:nvSpPr>
          <p:cNvPr id="8" name="flow-2">
            <a:extLst>
              <a:ext uri="{FF2B5EF4-FFF2-40B4-BE49-F238E27FC236}">
                <a16:creationId xmlns:a16="http://schemas.microsoft.com/office/drawing/2014/main" id="{5753436A-88FB-420A-8614-4D21C4A573AA}"/>
              </a:ext>
            </a:extLst>
          </p:cNvPr>
          <p:cNvSpPr>
            <a:spLocks noGrp="1"/>
          </p:cNvSpPr>
          <p:nvPr/>
        </p:nvSpPr>
        <p:spPr>
          <a:xfrm>
            <a:off x="27813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9" name="flow-2-text">
            <a:extLst>
              <a:ext uri="{FF2B5EF4-FFF2-40B4-BE49-F238E27FC236}">
                <a16:creationId xmlns:a16="http://schemas.microsoft.com/office/drawing/2014/main" id="{D544E734-8238-45C4-846C-82CB12311590}"/>
              </a:ext>
            </a:extLst>
          </p:cNvPr>
          <p:cNvSpPr>
            <a:spLocks noGrp="1"/>
          </p:cNvSpPr>
          <p:nvPr/>
        </p:nvSpPr>
        <p:spPr>
          <a:xfrm>
            <a:off x="29146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CPU · I/O ·</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Waits</a:t>
            </a:r>
          </a:p>
        </p:txBody>
      </p:sp>
      <p:sp>
        <p:nvSpPr>
          <p:cNvPr id="10" name="flow-3">
            <a:extLst>
              <a:ext uri="{FF2B5EF4-FFF2-40B4-BE49-F238E27FC236}">
                <a16:creationId xmlns:a16="http://schemas.microsoft.com/office/drawing/2014/main" id="{055C03D6-E498-4DC5-B89B-7642A8CB9769}"/>
              </a:ext>
            </a:extLst>
          </p:cNvPr>
          <p:cNvSpPr>
            <a:spLocks noGrp="1"/>
          </p:cNvSpPr>
          <p:nvPr/>
        </p:nvSpPr>
        <p:spPr>
          <a:xfrm>
            <a:off x="49530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1" name="flow-3-text">
            <a:extLst>
              <a:ext uri="{FF2B5EF4-FFF2-40B4-BE49-F238E27FC236}">
                <a16:creationId xmlns:a16="http://schemas.microsoft.com/office/drawing/2014/main" id="{EDFDB149-E5C4-4959-A2DA-06C333F2A763}"/>
              </a:ext>
            </a:extLst>
          </p:cNvPr>
          <p:cNvSpPr>
            <a:spLocks noGrp="1"/>
          </p:cNvSpPr>
          <p:nvPr/>
        </p:nvSpPr>
        <p:spPr>
          <a:xfrm>
            <a:off x="50863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Blocking &amp;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Grants</a:t>
            </a:r>
          </a:p>
        </p:txBody>
      </p:sp>
      <p:sp>
        <p:nvSpPr>
          <p:cNvPr id="12" name="flow-4">
            <a:extLst>
              <a:ext uri="{FF2B5EF4-FFF2-40B4-BE49-F238E27FC236}">
                <a16:creationId xmlns:a16="http://schemas.microsoft.com/office/drawing/2014/main" id="{A8A1CDC4-4726-4E9B-8ACB-CD7804B1604F}"/>
              </a:ext>
            </a:extLst>
          </p:cNvPr>
          <p:cNvSpPr>
            <a:spLocks noGrp="1"/>
          </p:cNvSpPr>
          <p:nvPr/>
        </p:nvSpPr>
        <p:spPr>
          <a:xfrm>
            <a:off x="71247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3" name="flow-4-text">
            <a:extLst>
              <a:ext uri="{FF2B5EF4-FFF2-40B4-BE49-F238E27FC236}">
                <a16:creationId xmlns:a16="http://schemas.microsoft.com/office/drawing/2014/main" id="{D1B53030-A49C-4D58-89CB-2119C8110939}"/>
              </a:ext>
            </a:extLst>
          </p:cNvPr>
          <p:cNvSpPr>
            <a:spLocks noGrp="1"/>
          </p:cNvSpPr>
          <p:nvPr/>
        </p:nvSpPr>
        <p:spPr>
          <a:xfrm>
            <a:off x="72580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Actual Plan &amp;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Kardinalität</a:t>
            </a:r>
          </a:p>
        </p:txBody>
      </p:sp>
      <p:sp>
        <p:nvSpPr>
          <p:cNvPr id="14" name="flow-5">
            <a:extLst>
              <a:ext uri="{FF2B5EF4-FFF2-40B4-BE49-F238E27FC236}">
                <a16:creationId xmlns:a16="http://schemas.microsoft.com/office/drawing/2014/main" id="{C53FFDF2-23CA-4A47-A8DA-E979E67E4A4B}"/>
              </a:ext>
            </a:extLst>
          </p:cNvPr>
          <p:cNvSpPr>
            <a:spLocks noGrp="1"/>
          </p:cNvSpPr>
          <p:nvPr/>
        </p:nvSpPr>
        <p:spPr>
          <a:xfrm>
            <a:off x="9296400" y="2609850"/>
            <a:ext cx="1962150" cy="1428750"/>
          </a:xfrm>
          <a:prstGeom prst="roundRect">
            <a:avLst>
              <a:gd name="adj" fmla="val 5333"/>
            </a:avLst>
          </a:prstGeom>
          <a:solidFill>
            <a:srgbClr val="FFFFFF"/>
          </a:solidFill>
          <a:ln w="9525">
            <a:solidFill>
              <a:srgbClr val="D9E2EC"/>
            </a:solidFill>
            <a:prstDash val="solid"/>
          </a:ln>
        </p:spPr>
        <p:txBody>
          <a:bodyPr/>
          <a:lstStyle/>
          <a:p>
            <a:endParaRPr/>
          </a:p>
        </p:txBody>
      </p:sp>
      <p:sp>
        <p:nvSpPr>
          <p:cNvPr id="15" name="flow-5-text">
            <a:extLst>
              <a:ext uri="{FF2B5EF4-FFF2-40B4-BE49-F238E27FC236}">
                <a16:creationId xmlns:a16="http://schemas.microsoft.com/office/drawing/2014/main" id="{956BF807-172D-49A5-9F3F-F471BB035A3E}"/>
              </a:ext>
            </a:extLst>
          </p:cNvPr>
          <p:cNvSpPr>
            <a:spLocks noGrp="1"/>
          </p:cNvSpPr>
          <p:nvPr/>
        </p:nvSpPr>
        <p:spPr>
          <a:xfrm>
            <a:off x="9429750" y="2724150"/>
            <a:ext cx="1695450" cy="12001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Hypothese &amp;</a:t>
            </a:r>
          </a:p>
          <a:p>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Vergleich</a:t>
            </a:r>
          </a:p>
        </p:txBody>
      </p:sp>
      <p:cxnSp>
        <p:nvCxnSpPr>
          <p:cNvPr id="132" name="Gerade Verbindung mit Pfeil 74"/>
          <p:cNvCxnSpPr>
            <a:stCxn id="6" idx="3"/>
            <a:endCxn id="8" idx="1"/>
          </p:cNvCxnSpPr>
          <p:nvPr/>
        </p:nvCxnSpPr>
        <p:spPr>
          <a:xfrm>
            <a:off x="2571750" y="3324225"/>
            <a:ext cx="209550" cy="0"/>
          </a:xfrm>
          <a:prstGeom prst="straightConnector1">
            <a:avLst/>
          </a:prstGeom>
          <a:ln w="28575">
            <a:solidFill>
              <a:srgbClr val="007C83"/>
            </a:solidFill>
            <a:prstDash val="solid"/>
            <a:tailEnd type="arrow" w="med" len="med"/>
          </a:ln>
        </p:spPr>
      </p:cxnSp>
      <p:cxnSp>
        <p:nvCxnSpPr>
          <p:cNvPr id="133" name="Gerade Verbindung mit Pfeil 75"/>
          <p:cNvCxnSpPr>
            <a:stCxn id="8" idx="3"/>
            <a:endCxn id="10" idx="1"/>
          </p:cNvCxnSpPr>
          <p:nvPr/>
        </p:nvCxnSpPr>
        <p:spPr>
          <a:xfrm>
            <a:off x="4743450" y="3324225"/>
            <a:ext cx="209550" cy="0"/>
          </a:xfrm>
          <a:prstGeom prst="straightConnector1">
            <a:avLst/>
          </a:prstGeom>
          <a:ln w="28575">
            <a:solidFill>
              <a:srgbClr val="007C83"/>
            </a:solidFill>
            <a:prstDash val="solid"/>
            <a:tailEnd type="arrow" w="med" len="med"/>
          </a:ln>
        </p:spPr>
      </p:cxnSp>
      <p:cxnSp>
        <p:nvCxnSpPr>
          <p:cNvPr id="134" name="Gerade Verbindung mit Pfeil 76"/>
          <p:cNvCxnSpPr>
            <a:stCxn id="10" idx="3"/>
            <a:endCxn id="12" idx="1"/>
          </p:cNvCxnSpPr>
          <p:nvPr/>
        </p:nvCxnSpPr>
        <p:spPr>
          <a:xfrm>
            <a:off x="6915150" y="3324225"/>
            <a:ext cx="209550" cy="0"/>
          </a:xfrm>
          <a:prstGeom prst="straightConnector1">
            <a:avLst/>
          </a:prstGeom>
          <a:ln w="28575">
            <a:solidFill>
              <a:srgbClr val="007C83"/>
            </a:solidFill>
            <a:prstDash val="solid"/>
            <a:tailEnd type="arrow" w="med" len="med"/>
          </a:ln>
        </p:spPr>
      </p:cxnSp>
      <p:cxnSp>
        <p:nvCxnSpPr>
          <p:cNvPr id="135" name="Gerade Verbindung mit Pfeil 77"/>
          <p:cNvCxnSpPr>
            <a:stCxn id="12" idx="3"/>
            <a:endCxn id="14" idx="1"/>
          </p:cNvCxnSpPr>
          <p:nvPr/>
        </p:nvCxnSpPr>
        <p:spPr>
          <a:xfrm>
            <a:off x="9086850" y="3324225"/>
            <a:ext cx="209550" cy="0"/>
          </a:xfrm>
          <a:prstGeom prst="straightConnector1">
            <a:avLst/>
          </a:prstGeom>
          <a:ln w="28575">
            <a:solidFill>
              <a:srgbClr val="007C83"/>
            </a:solidFill>
            <a:prstDash val="solid"/>
            <a:tailEnd type="arrow" w="med" len="med"/>
          </a:ln>
        </p:spPr>
      </p:cxnSp>
      <p:sp>
        <p:nvSpPr>
          <p:cNvPr id="20" name="conclusion-bg">
            <a:extLst>
              <a:ext uri="{FF2B5EF4-FFF2-40B4-BE49-F238E27FC236}">
                <a16:creationId xmlns:a16="http://schemas.microsoft.com/office/drawing/2014/main" id="{355382CE-D154-4B7E-9A1E-0981585BDE76}"/>
              </a:ext>
            </a:extLst>
          </p:cNvPr>
          <p:cNvSpPr>
            <a:spLocks noGrp="1"/>
          </p:cNvSpPr>
          <p:nvPr/>
        </p:nvSpPr>
        <p:spPr>
          <a:xfrm>
            <a:off x="1752600" y="4762500"/>
            <a:ext cx="8382000" cy="819150"/>
          </a:xfrm>
          <a:prstGeom prst="roundRect">
            <a:avLst>
              <a:gd name="adj" fmla="val 9302"/>
            </a:avLst>
          </a:prstGeom>
          <a:solidFill>
            <a:srgbClr val="0B1F33"/>
          </a:solidFill>
          <a:ln w="9525">
            <a:solidFill>
              <a:srgbClr val="0B1F33"/>
            </a:solidFill>
            <a:prstDash val="solid"/>
          </a:ln>
        </p:spPr>
        <p:txBody>
          <a:bodyPr/>
          <a:lstStyle/>
          <a:p>
            <a:endParaRPr/>
          </a:p>
        </p:txBody>
      </p:sp>
      <p:sp>
        <p:nvSpPr>
          <p:cNvPr id="21" name="conclusion">
            <a:extLst>
              <a:ext uri="{FF2B5EF4-FFF2-40B4-BE49-F238E27FC236}">
                <a16:creationId xmlns:a16="http://schemas.microsoft.com/office/drawing/2014/main" id="{41BFB6DA-4604-43B9-9FB8-535CE1843ACF}"/>
              </a:ext>
            </a:extLst>
          </p:cNvPr>
          <p:cNvSpPr>
            <a:spLocks noGrp="1"/>
          </p:cNvSpPr>
          <p:nvPr/>
        </p:nvSpPr>
        <p:spPr>
          <a:xfrm>
            <a:off x="2000250" y="4933950"/>
            <a:ext cx="7886700" cy="457200"/>
          </a:xfrm>
          <a:prstGeom prst="rect">
            <a:avLst/>
          </a:prstGeom>
          <a:noFill/>
          <a:ln w="0">
            <a:noFill/>
            <a:prstDash val="solid"/>
          </a:ln>
        </p:spPr>
        <p:txBody>
          <a:bodyPr wrap="square" lIns="0" tIns="0" rIns="0" bIns="0" anchor="ctr">
            <a:normAutofit/>
          </a:bodyPr>
          <a:lstStyle/>
          <a:p>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Hohe geschätzte Operatorkosten allein belegen keine Ursache.</a:t>
            </a:r>
          </a:p>
        </p:txBody>
      </p:sp>
    </p:spTree>
    <p:extLst>
      <p:ext uri="{BB962C8B-B14F-4D97-AF65-F5344CB8AC3E}">
        <p14:creationId xmlns:p14="http://schemas.microsoft.com/office/powerpoint/2010/main" val="9954940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module-label">
            <a:extLst>
              <a:ext uri="{FF2B5EF4-FFF2-40B4-BE49-F238E27FC236}">
                <a16:creationId xmlns:a16="http://schemas.microsoft.com/office/drawing/2014/main" id="{B90D93A6-365A-4466-B9A5-B623ABF75EED}"/>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a:ext uri="{FF2B5EF4-FFF2-40B4-BE49-F238E27FC236}">
                <a16:creationId xmlns:a16="http://schemas.microsoft.com/office/drawing/2014/main" id="{0899A09B-17D1-479B-9EDA-6584B180B19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fontScale="98601"/>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Vorher-Nachher-Vergleich benötigt identische Bedingungen und mehrere Dimensionen</a:t>
            </a:r>
          </a:p>
        </p:txBody>
      </p:sp>
      <p:sp>
        <p:nvSpPr>
          <p:cNvPr id="3" name="title-rule">
            <a:extLst>
              <a:ext uri="{FF2B5EF4-FFF2-40B4-BE49-F238E27FC236}">
                <a16:creationId xmlns:a16="http://schemas.microsoft.com/office/drawing/2014/main" id="{E1D08F9E-17F0-433F-BEA6-14F82167817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3950329B-4712-4964-8FD0-52F1D13B89BE}"/>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5317596B-D85C-4134-A4AF-0D79D92F369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79 / 102</a:t>
            </a:r>
          </a:p>
        </p:txBody>
      </p:sp>
      <p:sp>
        <p:nvSpPr>
          <p:cNvPr id="6" name="left-title">
            <a:extLst>
              <a:ext uri="{FF2B5EF4-FFF2-40B4-BE49-F238E27FC236}">
                <a16:creationId xmlns:a16="http://schemas.microsoft.com/office/drawing/2014/main" id="{B16A942E-A54E-4AEA-B9A3-AA7A5C80FC10}"/>
              </a:ext>
            </a:extLst>
          </p:cNvPr>
          <p:cNvSpPr>
            <a:spLocks noGrp="1"/>
          </p:cNvSpPr>
          <p:nvPr/>
        </p:nvSpPr>
        <p:spPr>
          <a:xfrm>
            <a:off x="609600" y="2152650"/>
            <a:ext cx="47625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Konstant halten</a:t>
            </a:r>
          </a:p>
        </p:txBody>
      </p:sp>
      <p:sp>
        <p:nvSpPr>
          <p:cNvPr id="7" name="right-title">
            <a:extLst>
              <a:ext uri="{FF2B5EF4-FFF2-40B4-BE49-F238E27FC236}">
                <a16:creationId xmlns:a16="http://schemas.microsoft.com/office/drawing/2014/main" id="{4DE19F8B-F916-4816-B883-425DD631821C}"/>
              </a:ext>
            </a:extLst>
          </p:cNvPr>
          <p:cNvSpPr>
            <a:spLocks noGrp="1"/>
          </p:cNvSpPr>
          <p:nvPr/>
        </p:nvSpPr>
        <p:spPr>
          <a:xfrm>
            <a:off x="6419850" y="2152650"/>
            <a:ext cx="485775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gemeinsam bewerten</a:t>
            </a:r>
          </a:p>
        </p:txBody>
      </p:sp>
      <p:sp>
        <p:nvSpPr>
          <p:cNvPr id="8" name="middle-rule">
            <a:extLst>
              <a:ext uri="{FF2B5EF4-FFF2-40B4-BE49-F238E27FC236}">
                <a16:creationId xmlns:a16="http://schemas.microsoft.com/office/drawing/2014/main" id="{96F5BE19-8B28-4009-A4D7-D168DACECDFE}"/>
              </a:ext>
            </a:extLst>
          </p:cNvPr>
          <p:cNvSpPr>
            <a:spLocks noGrp="1"/>
          </p:cNvSpPr>
          <p:nvPr/>
        </p:nvSpPr>
        <p:spPr>
          <a:xfrm>
            <a:off x="5905500" y="2152650"/>
            <a:ext cx="19050" cy="3143250"/>
          </a:xfrm>
          <a:prstGeom prst="rect">
            <a:avLst/>
          </a:prstGeom>
          <a:solidFill>
            <a:srgbClr val="D9E2EC"/>
          </a:solidFill>
          <a:ln w="0">
            <a:noFill/>
            <a:prstDash val="solid"/>
          </a:ln>
        </p:spPr>
        <p:txBody>
          <a:bodyPr/>
          <a:lstStyle/>
          <a:p>
            <a:endParaRPr/>
          </a:p>
        </p:txBody>
      </p:sp>
      <p:sp>
        <p:nvSpPr>
          <p:cNvPr id="9" name="left-points">
            <a:extLst>
              <a:ext uri="{FF2B5EF4-FFF2-40B4-BE49-F238E27FC236}">
                <a16:creationId xmlns:a16="http://schemas.microsoft.com/office/drawing/2014/main" id="{23AAE32F-5412-423C-A0C8-FF5D1CB9FE9C}"/>
              </a:ext>
            </a:extLst>
          </p:cNvPr>
          <p:cNvSpPr>
            <a:spLocks noGrp="1"/>
          </p:cNvSpPr>
          <p:nvPr/>
        </p:nvSpPr>
        <p:spPr>
          <a:xfrm>
            <a:off x="609600" y="2743200"/>
            <a:ext cx="476250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Datenstand und Parameter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Cache-/Warm-up-Regel</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Zeitfenster</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Version und DB-Optionen</a:t>
            </a:r>
          </a:p>
        </p:txBody>
      </p:sp>
      <p:sp>
        <p:nvSpPr>
          <p:cNvPr id="10" name="right-points">
            <a:extLst>
              <a:ext uri="{FF2B5EF4-FFF2-40B4-BE49-F238E27FC236}">
                <a16:creationId xmlns:a16="http://schemas.microsoft.com/office/drawing/2014/main" id="{746EFA88-40DF-4C86-8A57-3541F0BE006A}"/>
              </a:ext>
            </a:extLst>
          </p:cNvPr>
          <p:cNvSpPr>
            <a:spLocks noGrp="1"/>
          </p:cNvSpPr>
          <p:nvPr/>
        </p:nvSpPr>
        <p:spPr>
          <a:xfrm>
            <a:off x="6419850" y="2743200"/>
            <a:ext cx="4857750" cy="2381250"/>
          </a:xfrm>
          <a:prstGeom prst="rect">
            <a:avLst/>
          </a:prstGeom>
          <a:noFill/>
          <a:ln w="0">
            <a:noFill/>
            <a:prstDash val="solid"/>
          </a:ln>
        </p:spPr>
        <p:txBody>
          <a:bodyPr wrap="square" lIns="0" tIns="0" rIns="0" bIns="0">
            <a:normAutofit/>
          </a:bodyPr>
          <a:lstStyle/>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Duration und CPU</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Reads, Writes und Rows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Waits, Grants und Spills</a:t>
            </a:r>
          </a:p>
          <a:p>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Nebenwirkungen auf Datenänderungen (DML)</a:t>
            </a:r>
          </a:p>
        </p:txBody>
      </p:sp>
      <p:sp>
        <p:nvSpPr>
          <p:cNvPr id="11" name="conclusion-bg">
            <a:extLst>
              <a:ext uri="{FF2B5EF4-FFF2-40B4-BE49-F238E27FC236}">
                <a16:creationId xmlns:a16="http://schemas.microsoft.com/office/drawing/2014/main" id="{D084095F-21AC-42B4-B762-C3A8B4328077}"/>
              </a:ext>
            </a:extLst>
          </p:cNvPr>
          <p:cNvSpPr>
            <a:spLocks noGrp="1"/>
          </p:cNvSpPr>
          <p:nvPr/>
        </p:nvSpPr>
        <p:spPr>
          <a:xfrm>
            <a:off x="609600" y="5486400"/>
            <a:ext cx="10668000" cy="685800"/>
          </a:xfrm>
          <a:prstGeom prst="roundRect">
            <a:avLst>
              <a:gd name="adj" fmla="val 11111"/>
            </a:avLst>
          </a:prstGeom>
          <a:solidFill>
            <a:srgbClr val="0B1F33"/>
          </a:solidFill>
          <a:ln w="9525">
            <a:solidFill>
              <a:srgbClr val="0B1F33"/>
            </a:solidFill>
            <a:prstDash val="solid"/>
          </a:ln>
        </p:spPr>
        <p:txBody>
          <a:bodyPr/>
          <a:lstStyle/>
          <a:p>
            <a:endParaRPr/>
          </a:p>
        </p:txBody>
      </p:sp>
      <p:sp>
        <p:nvSpPr>
          <p:cNvPr id="12" name="conclusion">
            <a:extLst>
              <a:ext uri="{FF2B5EF4-FFF2-40B4-BE49-F238E27FC236}">
                <a16:creationId xmlns:a16="http://schemas.microsoft.com/office/drawing/2014/main" id="{225A4E62-B417-48B2-9FCB-D725548A7DFB}"/>
              </a:ext>
            </a:extLst>
          </p:cNvPr>
          <p:cNvSpPr>
            <a:spLocks noGrp="1"/>
          </p:cNvSpPr>
          <p:nvPr/>
        </p:nvSpPr>
        <p:spPr>
          <a:xfrm>
            <a:off x="838200" y="5638800"/>
            <a:ext cx="10210800" cy="38100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Verbesserung ist ein reproduzierbarer Effekt mit dokumentierten Grenzen.</a:t>
            </a:r>
          </a:p>
        </p:txBody>
      </p:sp>
    </p:spTree>
    <p:extLst>
      <p:ext uri="{BB962C8B-B14F-4D97-AF65-F5344CB8AC3E}">
        <p14:creationId xmlns:p14="http://schemas.microsoft.com/office/powerpoint/2010/main" val="17654104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F6E446DE-08D4-4E37-BF98-6D36F7E0C7CA}"/>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6 · WISSENSKONTROLLE</a:t>
            </a:r>
          </a:p>
        </p:txBody>
      </p:sp>
      <p:sp>
        <p:nvSpPr>
          <p:cNvPr id="2" name="question">
            <a:extLst>
              <a:ext uri="{FF2B5EF4-FFF2-40B4-BE49-F238E27FC236}">
                <a16:creationId xmlns:a16="http://schemas.microsoft.com/office/drawing/2014/main" id="{F740ECC6-F1C2-46D5-B644-C85B9992C5F1}"/>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fontScale="91376"/>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Eine Query ist langsamer, CPU bleibt gleich: Welche Achsen werden als Nächstes geprüft?</a:t>
            </a:r>
          </a:p>
        </p:txBody>
      </p:sp>
      <p:sp>
        <p:nvSpPr>
          <p:cNvPr id="3" name="question-rule">
            <a:extLst>
              <a:ext uri="{FF2B5EF4-FFF2-40B4-BE49-F238E27FC236}">
                <a16:creationId xmlns:a16="http://schemas.microsoft.com/office/drawing/2014/main" id="{CD239907-8295-4F3C-BDAD-121610594579}"/>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20DCC9B1-7EBC-4497-8CBF-B0F899A65619}"/>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D72F7034-26EF-49CE-9220-E5C163CF9FA2}"/>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Waits und Blocking</a:t>
            </a:r>
          </a:p>
        </p:txBody>
      </p:sp>
      <p:sp>
        <p:nvSpPr>
          <p:cNvPr id="6" name="prompt-num-1">
            <a:extLst>
              <a:ext uri="{FF2B5EF4-FFF2-40B4-BE49-F238E27FC236}">
                <a16:creationId xmlns:a16="http://schemas.microsoft.com/office/drawing/2014/main" id="{DC411EDB-D0C4-45EC-8D8D-3DA26EBC0273}"/>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030B669B-FE4B-4824-86B0-F4E438826BF1}"/>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Physical I/O und File-Latenz</a:t>
            </a:r>
          </a:p>
        </p:txBody>
      </p:sp>
      <p:sp>
        <p:nvSpPr>
          <p:cNvPr id="8" name="prompt-num-2">
            <a:extLst>
              <a:ext uri="{FF2B5EF4-FFF2-40B4-BE49-F238E27FC236}">
                <a16:creationId xmlns:a16="http://schemas.microsoft.com/office/drawing/2014/main" id="{744C9B2D-92DC-45CF-8D67-6EE35A0FC489}"/>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C3BB6B97-FC98-4191-881B-42A68A40F664}"/>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Grant-Warten und Spills</a:t>
            </a:r>
          </a:p>
        </p:txBody>
      </p:sp>
      <p:sp>
        <p:nvSpPr>
          <p:cNvPr id="10" name="prompt-num-3">
            <a:extLst>
              <a:ext uri="{FF2B5EF4-FFF2-40B4-BE49-F238E27FC236}">
                <a16:creationId xmlns:a16="http://schemas.microsoft.com/office/drawing/2014/main" id="{9A068093-9544-44CF-8AD3-3E60CC77B690}"/>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0DC6C869-08E7-4BCB-8D90-7021B0735447}"/>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Clientkonsum und Netzwerk</a:t>
            </a:r>
          </a:p>
        </p:txBody>
      </p:sp>
      <p:sp>
        <p:nvSpPr>
          <p:cNvPr id="12" name="question-footer">
            <a:extLst>
              <a:ext uri="{FF2B5EF4-FFF2-40B4-BE49-F238E27FC236}">
                <a16:creationId xmlns:a16="http://schemas.microsoft.com/office/drawing/2014/main" id="{9630E0FA-4EE7-43BB-B00D-B8BDABBBADDB}"/>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80 / 102</a:t>
            </a:r>
          </a:p>
        </p:txBody>
      </p:sp>
    </p:spTree>
    <p:extLst>
      <p:ext uri="{BB962C8B-B14F-4D97-AF65-F5344CB8AC3E}">
        <p14:creationId xmlns:p14="http://schemas.microsoft.com/office/powerpoint/2010/main" val="9934037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6" name="module-label">
            <a:extLst>
              <a:ext uri="{FF2B5EF4-FFF2-40B4-BE49-F238E27FC236}">
                <a16:creationId xmlns:a16="http://schemas.microsoft.com/office/drawing/2014/main" id="{8B95CA54-8CE3-4DF0-AACA-0BE4E4CBF874}"/>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ABSCHLUSS</a:t>
            </a:r>
          </a:p>
        </p:txBody>
      </p:sp>
      <p:sp>
        <p:nvSpPr>
          <p:cNvPr id="2" name="slide-title">
            <a:extLst>
              <a:ext uri="{FF2B5EF4-FFF2-40B4-BE49-F238E27FC236}">
                <a16:creationId xmlns:a16="http://schemas.microsoft.com/office/drawing/2014/main" id="{9F487623-B2CB-402E-8504-708D7D55A9D4}"/>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Zehn Prinzipien für belastbare SQL-Server-Performancearbeit</a:t>
            </a:r>
          </a:p>
        </p:txBody>
      </p:sp>
      <p:sp>
        <p:nvSpPr>
          <p:cNvPr id="3" name="title-rule">
            <a:extLst>
              <a:ext uri="{FF2B5EF4-FFF2-40B4-BE49-F238E27FC236}">
                <a16:creationId xmlns:a16="http://schemas.microsoft.com/office/drawing/2014/main" id="{DEEFC8CE-4D78-4895-A675-10EC7EE24806}"/>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BB902EAF-B555-47E1-B43F-C238BCF8768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E5438DD8-9E15-403B-956B-DF550FD23738}"/>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81 / 102</a:t>
            </a:r>
          </a:p>
        </p:txBody>
      </p:sp>
      <p:sp>
        <p:nvSpPr>
          <p:cNvPr id="6" name="principle-num-0">
            <a:extLst>
              <a:ext uri="{FF2B5EF4-FFF2-40B4-BE49-F238E27FC236}">
                <a16:creationId xmlns:a16="http://schemas.microsoft.com/office/drawing/2014/main" id="{A4148194-A14E-4D1A-9664-39407672F92D}"/>
              </a:ext>
            </a:extLst>
          </p:cNvPr>
          <p:cNvSpPr>
            <a:spLocks noGrp="1"/>
          </p:cNvSpPr>
          <p:nvPr/>
        </p:nvSpPr>
        <p:spPr>
          <a:xfrm>
            <a:off x="609600" y="21336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01</a:t>
            </a:r>
          </a:p>
        </p:txBody>
      </p:sp>
      <p:sp>
        <p:nvSpPr>
          <p:cNvPr id="7" name="principle-0">
            <a:extLst>
              <a:ext uri="{FF2B5EF4-FFF2-40B4-BE49-F238E27FC236}">
                <a16:creationId xmlns:a16="http://schemas.microsoft.com/office/drawing/2014/main" id="{B38A62BD-E0A0-491C-BBA2-C0734EC17EDB}"/>
              </a:ext>
            </a:extLst>
          </p:cNvPr>
          <p:cNvSpPr>
            <a:spLocks noGrp="1"/>
          </p:cNvSpPr>
          <p:nvPr/>
        </p:nvSpPr>
        <p:spPr>
          <a:xfrm>
            <a:off x="1257300" y="21336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Messfenster definieren</a:t>
            </a:r>
          </a:p>
        </p:txBody>
      </p:sp>
      <p:sp>
        <p:nvSpPr>
          <p:cNvPr id="8" name="principle-rule-0">
            <a:extLst>
              <a:ext uri="{FF2B5EF4-FFF2-40B4-BE49-F238E27FC236}">
                <a16:creationId xmlns:a16="http://schemas.microsoft.com/office/drawing/2014/main" id="{3B72AB7E-4397-4555-9D8B-6773B0F5C4C8}"/>
              </a:ext>
            </a:extLst>
          </p:cNvPr>
          <p:cNvSpPr>
            <a:spLocks noGrp="1"/>
          </p:cNvSpPr>
          <p:nvPr/>
        </p:nvSpPr>
        <p:spPr>
          <a:xfrm>
            <a:off x="1257300" y="2657475"/>
            <a:ext cx="4191000" cy="9525"/>
          </a:xfrm>
          <a:prstGeom prst="rect">
            <a:avLst/>
          </a:prstGeom>
          <a:solidFill>
            <a:srgbClr val="D9E2EC"/>
          </a:solidFill>
          <a:ln w="0">
            <a:noFill/>
            <a:prstDash val="solid"/>
          </a:ln>
        </p:spPr>
        <p:txBody>
          <a:bodyPr/>
          <a:lstStyle/>
          <a:p>
            <a:endParaRPr/>
          </a:p>
        </p:txBody>
      </p:sp>
      <p:sp>
        <p:nvSpPr>
          <p:cNvPr id="9" name="principle-num-1">
            <a:extLst>
              <a:ext uri="{FF2B5EF4-FFF2-40B4-BE49-F238E27FC236}">
                <a16:creationId xmlns:a16="http://schemas.microsoft.com/office/drawing/2014/main" id="{8873D973-7DA4-4D60-B48A-9C1633219CAB}"/>
              </a:ext>
            </a:extLst>
          </p:cNvPr>
          <p:cNvSpPr>
            <a:spLocks noGrp="1"/>
          </p:cNvSpPr>
          <p:nvPr/>
        </p:nvSpPr>
        <p:spPr>
          <a:xfrm>
            <a:off x="5943600" y="21336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02</a:t>
            </a:r>
          </a:p>
        </p:txBody>
      </p:sp>
      <p:sp>
        <p:nvSpPr>
          <p:cNvPr id="10" name="principle-1">
            <a:extLst>
              <a:ext uri="{FF2B5EF4-FFF2-40B4-BE49-F238E27FC236}">
                <a16:creationId xmlns:a16="http://schemas.microsoft.com/office/drawing/2014/main" id="{08027BF6-04DC-44D0-BDEF-995BE6771F69}"/>
              </a:ext>
            </a:extLst>
          </p:cNvPr>
          <p:cNvSpPr>
            <a:spLocks noGrp="1"/>
          </p:cNvSpPr>
          <p:nvPr/>
        </p:nvSpPr>
        <p:spPr>
          <a:xfrm>
            <a:off x="6591300" y="21336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Scope jeder Metrik kennen</a:t>
            </a:r>
          </a:p>
        </p:txBody>
      </p:sp>
      <p:sp>
        <p:nvSpPr>
          <p:cNvPr id="11" name="principle-rule-1">
            <a:extLst>
              <a:ext uri="{FF2B5EF4-FFF2-40B4-BE49-F238E27FC236}">
                <a16:creationId xmlns:a16="http://schemas.microsoft.com/office/drawing/2014/main" id="{FF4CBD05-E2DB-4D5D-B5E2-FBCEED435F92}"/>
              </a:ext>
            </a:extLst>
          </p:cNvPr>
          <p:cNvSpPr>
            <a:spLocks noGrp="1"/>
          </p:cNvSpPr>
          <p:nvPr/>
        </p:nvSpPr>
        <p:spPr>
          <a:xfrm>
            <a:off x="6591300" y="2657475"/>
            <a:ext cx="4191000" cy="9525"/>
          </a:xfrm>
          <a:prstGeom prst="rect">
            <a:avLst/>
          </a:prstGeom>
          <a:solidFill>
            <a:srgbClr val="D9E2EC"/>
          </a:solidFill>
          <a:ln w="0">
            <a:noFill/>
            <a:prstDash val="solid"/>
          </a:ln>
        </p:spPr>
        <p:txBody>
          <a:bodyPr/>
          <a:lstStyle/>
          <a:p>
            <a:endParaRPr/>
          </a:p>
        </p:txBody>
      </p:sp>
      <p:sp>
        <p:nvSpPr>
          <p:cNvPr id="12" name="principle-num-2">
            <a:extLst>
              <a:ext uri="{FF2B5EF4-FFF2-40B4-BE49-F238E27FC236}">
                <a16:creationId xmlns:a16="http://schemas.microsoft.com/office/drawing/2014/main" id="{4164D3EE-6519-4AED-920B-9F45F2729099}"/>
              </a:ext>
            </a:extLst>
          </p:cNvPr>
          <p:cNvSpPr>
            <a:spLocks noGrp="1"/>
          </p:cNvSpPr>
          <p:nvPr/>
        </p:nvSpPr>
        <p:spPr>
          <a:xfrm>
            <a:off x="609600" y="291465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03</a:t>
            </a:r>
          </a:p>
        </p:txBody>
      </p:sp>
      <p:sp>
        <p:nvSpPr>
          <p:cNvPr id="13" name="principle-2">
            <a:extLst>
              <a:ext uri="{FF2B5EF4-FFF2-40B4-BE49-F238E27FC236}">
                <a16:creationId xmlns:a16="http://schemas.microsoft.com/office/drawing/2014/main" id="{2DE57339-2292-4E30-95B9-86630A22C941}"/>
              </a:ext>
            </a:extLst>
          </p:cNvPr>
          <p:cNvSpPr>
            <a:spLocks noGrp="1"/>
          </p:cNvSpPr>
          <p:nvPr/>
        </p:nvSpPr>
        <p:spPr>
          <a:xfrm>
            <a:off x="1257300" y="291465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Plan und Runtime verbinden</a:t>
            </a:r>
          </a:p>
        </p:txBody>
      </p:sp>
      <p:sp>
        <p:nvSpPr>
          <p:cNvPr id="14" name="principle-rule-2">
            <a:extLst>
              <a:ext uri="{FF2B5EF4-FFF2-40B4-BE49-F238E27FC236}">
                <a16:creationId xmlns:a16="http://schemas.microsoft.com/office/drawing/2014/main" id="{87817522-76F5-4FF8-99A0-9E408BB69845}"/>
              </a:ext>
            </a:extLst>
          </p:cNvPr>
          <p:cNvSpPr>
            <a:spLocks noGrp="1"/>
          </p:cNvSpPr>
          <p:nvPr/>
        </p:nvSpPr>
        <p:spPr>
          <a:xfrm>
            <a:off x="1257300" y="3438525"/>
            <a:ext cx="4191000" cy="9525"/>
          </a:xfrm>
          <a:prstGeom prst="rect">
            <a:avLst/>
          </a:prstGeom>
          <a:solidFill>
            <a:srgbClr val="D9E2EC"/>
          </a:solidFill>
          <a:ln w="0">
            <a:noFill/>
            <a:prstDash val="solid"/>
          </a:ln>
        </p:spPr>
        <p:txBody>
          <a:bodyPr/>
          <a:lstStyle/>
          <a:p>
            <a:endParaRPr/>
          </a:p>
        </p:txBody>
      </p:sp>
      <p:sp>
        <p:nvSpPr>
          <p:cNvPr id="15" name="principle-num-3">
            <a:extLst>
              <a:ext uri="{FF2B5EF4-FFF2-40B4-BE49-F238E27FC236}">
                <a16:creationId xmlns:a16="http://schemas.microsoft.com/office/drawing/2014/main" id="{91FE41EE-6882-444F-A0D0-8A811BECFF3C}"/>
              </a:ext>
            </a:extLst>
          </p:cNvPr>
          <p:cNvSpPr>
            <a:spLocks noGrp="1"/>
          </p:cNvSpPr>
          <p:nvPr/>
        </p:nvSpPr>
        <p:spPr>
          <a:xfrm>
            <a:off x="5943600" y="291465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04</a:t>
            </a:r>
          </a:p>
        </p:txBody>
      </p:sp>
      <p:sp>
        <p:nvSpPr>
          <p:cNvPr id="16" name="principle-3">
            <a:extLst>
              <a:ext uri="{FF2B5EF4-FFF2-40B4-BE49-F238E27FC236}">
                <a16:creationId xmlns:a16="http://schemas.microsoft.com/office/drawing/2014/main" id="{CF9EEE9E-03CB-4FBE-B513-694835864899}"/>
              </a:ext>
            </a:extLst>
          </p:cNvPr>
          <p:cNvSpPr>
            <a:spLocks noGrp="1"/>
          </p:cNvSpPr>
          <p:nvPr/>
        </p:nvSpPr>
        <p:spPr>
          <a:xfrm>
            <a:off x="6591300" y="291465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Kardinalität vor Kosten lesen</a:t>
            </a:r>
          </a:p>
        </p:txBody>
      </p:sp>
      <p:sp>
        <p:nvSpPr>
          <p:cNvPr id="17" name="principle-rule-3">
            <a:extLst>
              <a:ext uri="{FF2B5EF4-FFF2-40B4-BE49-F238E27FC236}">
                <a16:creationId xmlns:a16="http://schemas.microsoft.com/office/drawing/2014/main" id="{2AFFA1D2-3759-43EB-98F3-FC37E6DB364C}"/>
              </a:ext>
            </a:extLst>
          </p:cNvPr>
          <p:cNvSpPr>
            <a:spLocks noGrp="1"/>
          </p:cNvSpPr>
          <p:nvPr/>
        </p:nvSpPr>
        <p:spPr>
          <a:xfrm>
            <a:off x="6591300" y="3438525"/>
            <a:ext cx="4191000" cy="9525"/>
          </a:xfrm>
          <a:prstGeom prst="rect">
            <a:avLst/>
          </a:prstGeom>
          <a:solidFill>
            <a:srgbClr val="D9E2EC"/>
          </a:solidFill>
          <a:ln w="0">
            <a:noFill/>
            <a:prstDash val="solid"/>
          </a:ln>
        </p:spPr>
        <p:txBody>
          <a:bodyPr/>
          <a:lstStyle/>
          <a:p>
            <a:endParaRPr/>
          </a:p>
        </p:txBody>
      </p:sp>
      <p:sp>
        <p:nvSpPr>
          <p:cNvPr id="18" name="principle-num-4">
            <a:extLst>
              <a:ext uri="{FF2B5EF4-FFF2-40B4-BE49-F238E27FC236}">
                <a16:creationId xmlns:a16="http://schemas.microsoft.com/office/drawing/2014/main" id="{BF412182-7B73-4526-957E-0763C6ABDDE6}"/>
              </a:ext>
            </a:extLst>
          </p:cNvPr>
          <p:cNvSpPr>
            <a:spLocks noGrp="1"/>
          </p:cNvSpPr>
          <p:nvPr/>
        </p:nvSpPr>
        <p:spPr>
          <a:xfrm>
            <a:off x="609600" y="36957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05</a:t>
            </a:r>
          </a:p>
        </p:txBody>
      </p:sp>
      <p:sp>
        <p:nvSpPr>
          <p:cNvPr id="19" name="principle-4">
            <a:extLst>
              <a:ext uri="{FF2B5EF4-FFF2-40B4-BE49-F238E27FC236}">
                <a16:creationId xmlns:a16="http://schemas.microsoft.com/office/drawing/2014/main" id="{EBEC4CCA-F47E-44F9-A67B-57F42F4F82DC}"/>
              </a:ext>
            </a:extLst>
          </p:cNvPr>
          <p:cNvSpPr>
            <a:spLocks noGrp="1"/>
          </p:cNvSpPr>
          <p:nvPr/>
        </p:nvSpPr>
        <p:spPr>
          <a:xfrm>
            <a:off x="1257300" y="36957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Logical Reads ernst nehmen</a:t>
            </a:r>
          </a:p>
        </p:txBody>
      </p:sp>
      <p:sp>
        <p:nvSpPr>
          <p:cNvPr id="20" name="principle-rule-4">
            <a:extLst>
              <a:ext uri="{FF2B5EF4-FFF2-40B4-BE49-F238E27FC236}">
                <a16:creationId xmlns:a16="http://schemas.microsoft.com/office/drawing/2014/main" id="{16C6BC7B-460F-4E50-B723-5A44F44BF01D}"/>
              </a:ext>
            </a:extLst>
          </p:cNvPr>
          <p:cNvSpPr>
            <a:spLocks noGrp="1"/>
          </p:cNvSpPr>
          <p:nvPr/>
        </p:nvSpPr>
        <p:spPr>
          <a:xfrm>
            <a:off x="1257300" y="4219575"/>
            <a:ext cx="4191000" cy="9525"/>
          </a:xfrm>
          <a:prstGeom prst="rect">
            <a:avLst/>
          </a:prstGeom>
          <a:solidFill>
            <a:srgbClr val="D9E2EC"/>
          </a:solidFill>
          <a:ln w="0">
            <a:noFill/>
            <a:prstDash val="solid"/>
          </a:ln>
        </p:spPr>
        <p:txBody>
          <a:bodyPr/>
          <a:lstStyle/>
          <a:p>
            <a:endParaRPr/>
          </a:p>
        </p:txBody>
      </p:sp>
      <p:sp>
        <p:nvSpPr>
          <p:cNvPr id="21" name="principle-num-5">
            <a:extLst>
              <a:ext uri="{FF2B5EF4-FFF2-40B4-BE49-F238E27FC236}">
                <a16:creationId xmlns:a16="http://schemas.microsoft.com/office/drawing/2014/main" id="{B342CCF9-FB6F-468C-BCF5-C7719A4A20E4}"/>
              </a:ext>
            </a:extLst>
          </p:cNvPr>
          <p:cNvSpPr>
            <a:spLocks noGrp="1"/>
          </p:cNvSpPr>
          <p:nvPr/>
        </p:nvSpPr>
        <p:spPr>
          <a:xfrm>
            <a:off x="5943600" y="36957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06</a:t>
            </a:r>
          </a:p>
        </p:txBody>
      </p:sp>
      <p:sp>
        <p:nvSpPr>
          <p:cNvPr id="22" name="principle-5">
            <a:extLst>
              <a:ext uri="{FF2B5EF4-FFF2-40B4-BE49-F238E27FC236}">
                <a16:creationId xmlns:a16="http://schemas.microsoft.com/office/drawing/2014/main" id="{D85506A9-B797-4E88-8B2F-B73EEC04CA81}"/>
              </a:ext>
            </a:extLst>
          </p:cNvPr>
          <p:cNvSpPr>
            <a:spLocks noGrp="1"/>
          </p:cNvSpPr>
          <p:nvPr/>
        </p:nvSpPr>
        <p:spPr>
          <a:xfrm>
            <a:off x="6591300" y="36957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Concurrency mitbewerten</a:t>
            </a:r>
          </a:p>
        </p:txBody>
      </p:sp>
      <p:sp>
        <p:nvSpPr>
          <p:cNvPr id="23" name="principle-rule-5">
            <a:extLst>
              <a:ext uri="{FF2B5EF4-FFF2-40B4-BE49-F238E27FC236}">
                <a16:creationId xmlns:a16="http://schemas.microsoft.com/office/drawing/2014/main" id="{4F6027E2-3BAE-4B41-A680-74BD6CA6495B}"/>
              </a:ext>
            </a:extLst>
          </p:cNvPr>
          <p:cNvSpPr>
            <a:spLocks noGrp="1"/>
          </p:cNvSpPr>
          <p:nvPr/>
        </p:nvSpPr>
        <p:spPr>
          <a:xfrm>
            <a:off x="6591300" y="4219575"/>
            <a:ext cx="4191000" cy="9525"/>
          </a:xfrm>
          <a:prstGeom prst="rect">
            <a:avLst/>
          </a:prstGeom>
          <a:solidFill>
            <a:srgbClr val="D9E2EC"/>
          </a:solidFill>
          <a:ln w="0">
            <a:noFill/>
            <a:prstDash val="solid"/>
          </a:ln>
        </p:spPr>
        <p:txBody>
          <a:bodyPr/>
          <a:lstStyle/>
          <a:p>
            <a:endParaRPr/>
          </a:p>
        </p:txBody>
      </p:sp>
      <p:sp>
        <p:nvSpPr>
          <p:cNvPr id="24" name="principle-num-6">
            <a:extLst>
              <a:ext uri="{FF2B5EF4-FFF2-40B4-BE49-F238E27FC236}">
                <a16:creationId xmlns:a16="http://schemas.microsoft.com/office/drawing/2014/main" id="{C32AD52A-C49C-493D-89B4-031278AD6593}"/>
              </a:ext>
            </a:extLst>
          </p:cNvPr>
          <p:cNvSpPr>
            <a:spLocks noGrp="1"/>
          </p:cNvSpPr>
          <p:nvPr/>
        </p:nvSpPr>
        <p:spPr>
          <a:xfrm>
            <a:off x="609600" y="447675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07</a:t>
            </a:r>
          </a:p>
        </p:txBody>
      </p:sp>
      <p:sp>
        <p:nvSpPr>
          <p:cNvPr id="25" name="principle-6">
            <a:extLst>
              <a:ext uri="{FF2B5EF4-FFF2-40B4-BE49-F238E27FC236}">
                <a16:creationId xmlns:a16="http://schemas.microsoft.com/office/drawing/2014/main" id="{4C38D64F-4BA7-401C-A3B9-829460C98D0E}"/>
              </a:ext>
            </a:extLst>
          </p:cNvPr>
          <p:cNvSpPr>
            <a:spLocks noGrp="1"/>
          </p:cNvSpPr>
          <p:nvPr/>
        </p:nvSpPr>
        <p:spPr>
          <a:xfrm>
            <a:off x="1257300" y="447675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Version und CL trennen</a:t>
            </a:r>
          </a:p>
        </p:txBody>
      </p:sp>
      <p:sp>
        <p:nvSpPr>
          <p:cNvPr id="26" name="principle-rule-6">
            <a:extLst>
              <a:ext uri="{FF2B5EF4-FFF2-40B4-BE49-F238E27FC236}">
                <a16:creationId xmlns:a16="http://schemas.microsoft.com/office/drawing/2014/main" id="{C183FB05-D1BB-460C-9B61-DAA3EF76413B}"/>
              </a:ext>
            </a:extLst>
          </p:cNvPr>
          <p:cNvSpPr>
            <a:spLocks noGrp="1"/>
          </p:cNvSpPr>
          <p:nvPr/>
        </p:nvSpPr>
        <p:spPr>
          <a:xfrm>
            <a:off x="1257300" y="5000625"/>
            <a:ext cx="4191000" cy="9525"/>
          </a:xfrm>
          <a:prstGeom prst="rect">
            <a:avLst/>
          </a:prstGeom>
          <a:solidFill>
            <a:srgbClr val="D9E2EC"/>
          </a:solidFill>
          <a:ln w="0">
            <a:noFill/>
            <a:prstDash val="solid"/>
          </a:ln>
        </p:spPr>
        <p:txBody>
          <a:bodyPr/>
          <a:lstStyle/>
          <a:p>
            <a:endParaRPr/>
          </a:p>
        </p:txBody>
      </p:sp>
      <p:sp>
        <p:nvSpPr>
          <p:cNvPr id="27" name="principle-num-7">
            <a:extLst>
              <a:ext uri="{FF2B5EF4-FFF2-40B4-BE49-F238E27FC236}">
                <a16:creationId xmlns:a16="http://schemas.microsoft.com/office/drawing/2014/main" id="{9A97F8AA-2715-45F5-89B7-C9A158C36C5E}"/>
              </a:ext>
            </a:extLst>
          </p:cNvPr>
          <p:cNvSpPr>
            <a:spLocks noGrp="1"/>
          </p:cNvSpPr>
          <p:nvPr/>
        </p:nvSpPr>
        <p:spPr>
          <a:xfrm>
            <a:off x="5943600" y="447675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08</a:t>
            </a:r>
          </a:p>
        </p:txBody>
      </p:sp>
      <p:sp>
        <p:nvSpPr>
          <p:cNvPr id="28" name="principle-7">
            <a:extLst>
              <a:ext uri="{FF2B5EF4-FFF2-40B4-BE49-F238E27FC236}">
                <a16:creationId xmlns:a16="http://schemas.microsoft.com/office/drawing/2014/main" id="{6B46BA55-2F30-424D-932F-E740F3666973}"/>
              </a:ext>
            </a:extLst>
          </p:cNvPr>
          <p:cNvSpPr>
            <a:spLocks noGrp="1"/>
          </p:cNvSpPr>
          <p:nvPr/>
        </p:nvSpPr>
        <p:spPr>
          <a:xfrm>
            <a:off x="6591300" y="447675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Eine Änderung je Hypothese</a:t>
            </a:r>
          </a:p>
        </p:txBody>
      </p:sp>
      <p:sp>
        <p:nvSpPr>
          <p:cNvPr id="29" name="principle-rule-7">
            <a:extLst>
              <a:ext uri="{FF2B5EF4-FFF2-40B4-BE49-F238E27FC236}">
                <a16:creationId xmlns:a16="http://schemas.microsoft.com/office/drawing/2014/main" id="{3FC53224-10E7-4CE9-8413-C7DA85D221CF}"/>
              </a:ext>
            </a:extLst>
          </p:cNvPr>
          <p:cNvSpPr>
            <a:spLocks noGrp="1"/>
          </p:cNvSpPr>
          <p:nvPr/>
        </p:nvSpPr>
        <p:spPr>
          <a:xfrm>
            <a:off x="6591300" y="5000625"/>
            <a:ext cx="4191000" cy="9525"/>
          </a:xfrm>
          <a:prstGeom prst="rect">
            <a:avLst/>
          </a:prstGeom>
          <a:solidFill>
            <a:srgbClr val="D9E2EC"/>
          </a:solidFill>
          <a:ln w="0">
            <a:noFill/>
            <a:prstDash val="solid"/>
          </a:ln>
        </p:spPr>
        <p:txBody>
          <a:bodyPr/>
          <a:lstStyle/>
          <a:p>
            <a:endParaRPr/>
          </a:p>
        </p:txBody>
      </p:sp>
      <p:sp>
        <p:nvSpPr>
          <p:cNvPr id="30" name="principle-num-8">
            <a:extLst>
              <a:ext uri="{FF2B5EF4-FFF2-40B4-BE49-F238E27FC236}">
                <a16:creationId xmlns:a16="http://schemas.microsoft.com/office/drawing/2014/main" id="{3B1168C1-C41C-46E9-A3B8-A97DD68857CD}"/>
              </a:ext>
            </a:extLst>
          </p:cNvPr>
          <p:cNvSpPr>
            <a:spLocks noGrp="1"/>
          </p:cNvSpPr>
          <p:nvPr/>
        </p:nvSpPr>
        <p:spPr>
          <a:xfrm>
            <a:off x="609600" y="52578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09</a:t>
            </a:r>
          </a:p>
        </p:txBody>
      </p:sp>
      <p:sp>
        <p:nvSpPr>
          <p:cNvPr id="31" name="principle-8">
            <a:extLst>
              <a:ext uri="{FF2B5EF4-FFF2-40B4-BE49-F238E27FC236}">
                <a16:creationId xmlns:a16="http://schemas.microsoft.com/office/drawing/2014/main" id="{778AAC59-880F-44A4-B13A-0227B2B62DA7}"/>
              </a:ext>
            </a:extLst>
          </p:cNvPr>
          <p:cNvSpPr>
            <a:spLocks noGrp="1"/>
          </p:cNvSpPr>
          <p:nvPr/>
        </p:nvSpPr>
        <p:spPr>
          <a:xfrm>
            <a:off x="1257300" y="52578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Trade-offs dokumentieren</a:t>
            </a:r>
          </a:p>
        </p:txBody>
      </p:sp>
      <p:sp>
        <p:nvSpPr>
          <p:cNvPr id="32" name="principle-rule-8">
            <a:extLst>
              <a:ext uri="{FF2B5EF4-FFF2-40B4-BE49-F238E27FC236}">
                <a16:creationId xmlns:a16="http://schemas.microsoft.com/office/drawing/2014/main" id="{36659D20-7FE8-421C-B0D5-EF87B7874210}"/>
              </a:ext>
            </a:extLst>
          </p:cNvPr>
          <p:cNvSpPr>
            <a:spLocks noGrp="1"/>
          </p:cNvSpPr>
          <p:nvPr/>
        </p:nvSpPr>
        <p:spPr>
          <a:xfrm>
            <a:off x="1257300" y="5781675"/>
            <a:ext cx="4191000" cy="9525"/>
          </a:xfrm>
          <a:prstGeom prst="rect">
            <a:avLst/>
          </a:prstGeom>
          <a:solidFill>
            <a:srgbClr val="D9E2EC"/>
          </a:solidFill>
          <a:ln w="0">
            <a:noFill/>
            <a:prstDash val="solid"/>
          </a:ln>
        </p:spPr>
        <p:txBody>
          <a:bodyPr/>
          <a:lstStyle/>
          <a:p>
            <a:endParaRPr/>
          </a:p>
        </p:txBody>
      </p:sp>
      <p:sp>
        <p:nvSpPr>
          <p:cNvPr id="33" name="principle-num-9">
            <a:extLst>
              <a:ext uri="{FF2B5EF4-FFF2-40B4-BE49-F238E27FC236}">
                <a16:creationId xmlns:a16="http://schemas.microsoft.com/office/drawing/2014/main" id="{F4A799F9-236C-413D-8187-FB259EEED4A8}"/>
              </a:ext>
            </a:extLst>
          </p:cNvPr>
          <p:cNvSpPr>
            <a:spLocks noGrp="1"/>
          </p:cNvSpPr>
          <p:nvPr/>
        </p:nvSpPr>
        <p:spPr>
          <a:xfrm>
            <a:off x="5943600" y="5257800"/>
            <a:ext cx="533400" cy="3810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10</a:t>
            </a:r>
          </a:p>
        </p:txBody>
      </p:sp>
      <p:sp>
        <p:nvSpPr>
          <p:cNvPr id="34" name="principle-9">
            <a:extLst>
              <a:ext uri="{FF2B5EF4-FFF2-40B4-BE49-F238E27FC236}">
                <a16:creationId xmlns:a16="http://schemas.microsoft.com/office/drawing/2014/main" id="{730096E9-5A03-47F6-8E2E-F7F43EE9DA48}"/>
              </a:ext>
            </a:extLst>
          </p:cNvPr>
          <p:cNvSpPr>
            <a:spLocks noGrp="1"/>
          </p:cNvSpPr>
          <p:nvPr/>
        </p:nvSpPr>
        <p:spPr>
          <a:xfrm>
            <a:off x="6591300" y="5257800"/>
            <a:ext cx="4381500" cy="457200"/>
          </a:xfrm>
          <a:prstGeom prst="rect">
            <a:avLst/>
          </a:prstGeom>
          <a:noFill/>
          <a:ln w="0">
            <a:noFill/>
            <a:prstDash val="solid"/>
          </a:ln>
        </p:spPr>
        <p:txBody>
          <a:bodyPr wrap="square" lIns="0" tIns="0" rIns="0" bIns="0" anchor="ctr">
            <a:normAutofit/>
          </a:bodyPr>
          <a:lstStyle/>
          <a:p>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Vorher/Nachher reproduzieren</a:t>
            </a:r>
          </a:p>
        </p:txBody>
      </p:sp>
      <p:sp>
        <p:nvSpPr>
          <p:cNvPr id="35" name="principle-rule-9">
            <a:extLst>
              <a:ext uri="{FF2B5EF4-FFF2-40B4-BE49-F238E27FC236}">
                <a16:creationId xmlns:a16="http://schemas.microsoft.com/office/drawing/2014/main" id="{5ACE3A88-F12E-4639-BF1D-C603AD369F83}"/>
              </a:ext>
            </a:extLst>
          </p:cNvPr>
          <p:cNvSpPr>
            <a:spLocks noGrp="1"/>
          </p:cNvSpPr>
          <p:nvPr/>
        </p:nvSpPr>
        <p:spPr>
          <a:xfrm>
            <a:off x="6591300" y="5781675"/>
            <a:ext cx="4191000" cy="9525"/>
          </a:xfrm>
          <a:prstGeom prst="rect">
            <a:avLst/>
          </a:prstGeom>
          <a:solidFill>
            <a:srgbClr val="D9E2EC"/>
          </a:solidFill>
          <a:ln w="0">
            <a:noFill/>
            <a:prstDash val="solid"/>
          </a:ln>
        </p:spPr>
        <p:txBody>
          <a:bodyPr/>
          <a:lstStyle/>
          <a:p>
            <a:endParaRPr/>
          </a:p>
        </p:txBody>
      </p:sp>
    </p:spTree>
    <p:extLst>
      <p:ext uri="{BB962C8B-B14F-4D97-AF65-F5344CB8AC3E}">
        <p14:creationId xmlns:p14="http://schemas.microsoft.com/office/powerpoint/2010/main" val="4815254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3" name="module">
            <a:extLst>
              <a:ext uri="{FF2B5EF4-FFF2-40B4-BE49-F238E27FC236}">
                <a16:creationId xmlns:a16="http://schemas.microsoft.com/office/drawing/2014/main" id="{C9AA9DC1-2368-4611-9EE6-F14E9F40AAD0}"/>
              </a:ext>
            </a:extLst>
          </p:cNvPr>
          <p:cNvSpPr>
            <a:spLocks noGrp="1"/>
          </p:cNvSpPr>
          <p:nvPr/>
        </p:nvSpPr>
        <p:spPr>
          <a:xfrm>
            <a:off x="609600" y="457200"/>
            <a:ext cx="49530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TRANSFER</a:t>
            </a:r>
          </a:p>
        </p:txBody>
      </p:sp>
      <p:sp>
        <p:nvSpPr>
          <p:cNvPr id="2" name="question">
            <a:extLst>
              <a:ext uri="{FF2B5EF4-FFF2-40B4-BE49-F238E27FC236}">
                <a16:creationId xmlns:a16="http://schemas.microsoft.com/office/drawing/2014/main" id="{8212FB64-FBFB-413B-8021-E9EFFA2D2759}"/>
              </a:ext>
            </a:extLst>
          </p:cNvPr>
          <p:cNvSpPr>
            <a:spLocks noGrp="1"/>
          </p:cNvSpPr>
          <p:nvPr/>
        </p:nvSpPr>
        <p:spPr>
          <a:xfrm>
            <a:off x="609600" y="1219200"/>
            <a:ext cx="9906000" cy="1524000"/>
          </a:xfrm>
          <a:prstGeom prst="rect">
            <a:avLst/>
          </a:prstGeom>
          <a:noFill/>
          <a:ln w="0">
            <a:noFill/>
            <a:prstDash val="solid"/>
          </a:ln>
        </p:spPr>
        <p:txBody>
          <a:bodyPr wrap="square" lIns="0" tIns="0" rIns="0" bIns="0" anchor="t">
            <a:normAutofit/>
          </a:bodyPr>
          <a:lstStyle/>
          <a:p>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Transferaufgabe: Von einem Symptom zu einer überprüfbaren Hypothese</a:t>
            </a:r>
          </a:p>
        </p:txBody>
      </p:sp>
      <p:sp>
        <p:nvSpPr>
          <p:cNvPr id="3" name="question-rule">
            <a:extLst>
              <a:ext uri="{FF2B5EF4-FFF2-40B4-BE49-F238E27FC236}">
                <a16:creationId xmlns:a16="http://schemas.microsoft.com/office/drawing/2014/main" id="{03E6705C-8E90-4783-8DAC-94CBB9582A27}"/>
              </a:ext>
            </a:extLst>
          </p:cNvPr>
          <p:cNvSpPr>
            <a:spLocks noGrp="1"/>
          </p:cNvSpPr>
          <p:nvPr/>
        </p:nvSpPr>
        <p:spPr>
          <a:xfrm>
            <a:off x="609600" y="3048000"/>
            <a:ext cx="10668000" cy="19050"/>
          </a:xfrm>
          <a:prstGeom prst="rect">
            <a:avLst/>
          </a:prstGeom>
          <a:solidFill>
            <a:srgbClr val="35536A"/>
          </a:solidFill>
          <a:ln w="0">
            <a:noFill/>
            <a:prstDash val="solid"/>
          </a:ln>
        </p:spPr>
        <p:txBody>
          <a:bodyPr/>
          <a:lstStyle/>
          <a:p>
            <a:endParaRPr/>
          </a:p>
        </p:txBody>
      </p:sp>
      <p:sp>
        <p:nvSpPr>
          <p:cNvPr id="4" name="prompt-num-0">
            <a:extLst>
              <a:ext uri="{FF2B5EF4-FFF2-40B4-BE49-F238E27FC236}">
                <a16:creationId xmlns:a16="http://schemas.microsoft.com/office/drawing/2014/main" id="{12D0C4E4-BF92-4888-80EC-4C794D28CF18}"/>
              </a:ext>
            </a:extLst>
          </p:cNvPr>
          <p:cNvSpPr>
            <a:spLocks noGrp="1"/>
          </p:cNvSpPr>
          <p:nvPr/>
        </p:nvSpPr>
        <p:spPr>
          <a:xfrm>
            <a:off x="66675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a:ext uri="{FF2B5EF4-FFF2-40B4-BE49-F238E27FC236}">
                <a16:creationId xmlns:a16="http://schemas.microsoft.com/office/drawing/2014/main" id="{6C7159F0-49A5-4C06-9C2C-857E9DCCA9C9}"/>
              </a:ext>
            </a:extLst>
          </p:cNvPr>
          <p:cNvSpPr>
            <a:spLocks noGrp="1"/>
          </p:cNvSpPr>
          <p:nvPr/>
        </p:nvSpPr>
        <p:spPr>
          <a:xfrm>
            <a:off x="125730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Symptom und Zeitraum präzisieren</a:t>
            </a:r>
          </a:p>
        </p:txBody>
      </p:sp>
      <p:sp>
        <p:nvSpPr>
          <p:cNvPr id="6" name="prompt-num-1">
            <a:extLst>
              <a:ext uri="{FF2B5EF4-FFF2-40B4-BE49-F238E27FC236}">
                <a16:creationId xmlns:a16="http://schemas.microsoft.com/office/drawing/2014/main" id="{0AD74B8F-E4BF-4E45-9ACC-07DAC3692FD1}"/>
              </a:ext>
            </a:extLst>
          </p:cNvPr>
          <p:cNvSpPr>
            <a:spLocks noGrp="1"/>
          </p:cNvSpPr>
          <p:nvPr/>
        </p:nvSpPr>
        <p:spPr>
          <a:xfrm>
            <a:off x="6096000" y="35242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a:ext uri="{FF2B5EF4-FFF2-40B4-BE49-F238E27FC236}">
                <a16:creationId xmlns:a16="http://schemas.microsoft.com/office/drawing/2014/main" id="{FB6DC6E1-38DC-4DA7-830C-6AAAA861EDDE}"/>
              </a:ext>
            </a:extLst>
          </p:cNvPr>
          <p:cNvSpPr>
            <a:spLocks noGrp="1"/>
          </p:cNvSpPr>
          <p:nvPr/>
        </p:nvSpPr>
        <p:spPr>
          <a:xfrm>
            <a:off x="6686550" y="3524250"/>
            <a:ext cx="4476750" cy="5715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fünf passende Messwerte auswählen</a:t>
            </a:r>
          </a:p>
        </p:txBody>
      </p:sp>
      <p:sp>
        <p:nvSpPr>
          <p:cNvPr id="8" name="prompt-num-2">
            <a:extLst>
              <a:ext uri="{FF2B5EF4-FFF2-40B4-BE49-F238E27FC236}">
                <a16:creationId xmlns:a16="http://schemas.microsoft.com/office/drawing/2014/main" id="{7227A5ED-4B30-47AE-9A8E-2155CD79F6E7}"/>
              </a:ext>
            </a:extLst>
          </p:cNvPr>
          <p:cNvSpPr>
            <a:spLocks noGrp="1"/>
          </p:cNvSpPr>
          <p:nvPr/>
        </p:nvSpPr>
        <p:spPr>
          <a:xfrm>
            <a:off x="66675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a:ext uri="{FF2B5EF4-FFF2-40B4-BE49-F238E27FC236}">
                <a16:creationId xmlns:a16="http://schemas.microsoft.com/office/drawing/2014/main" id="{1137FCAD-ED9E-4C52-B076-54C180CC3040}"/>
              </a:ext>
            </a:extLst>
          </p:cNvPr>
          <p:cNvSpPr>
            <a:spLocks noGrp="1"/>
          </p:cNvSpPr>
          <p:nvPr/>
        </p:nvSpPr>
        <p:spPr>
          <a:xfrm>
            <a:off x="1257300" y="4438650"/>
            <a:ext cx="4476750" cy="571500"/>
          </a:xfrm>
          <a:prstGeom prst="rect">
            <a:avLst/>
          </a:prstGeom>
          <a:noFill/>
          <a:ln w="0">
            <a:noFill/>
            <a:prstDash val="solid"/>
          </a:ln>
        </p:spPr>
        <p:txBody>
          <a:bodyPr wrap="square" lIns="0" tIns="0" rIns="0" bIns="0" anchor="t">
            <a:normAutofit fontScale="99206"/>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wahrscheinlichste technische Ursache formulieren</a:t>
            </a:r>
          </a:p>
        </p:txBody>
      </p:sp>
      <p:sp>
        <p:nvSpPr>
          <p:cNvPr id="10" name="prompt-num-3">
            <a:extLst>
              <a:ext uri="{FF2B5EF4-FFF2-40B4-BE49-F238E27FC236}">
                <a16:creationId xmlns:a16="http://schemas.microsoft.com/office/drawing/2014/main" id="{7864C615-93AA-443C-AE9F-861D31B086E7}"/>
              </a:ext>
            </a:extLst>
          </p:cNvPr>
          <p:cNvSpPr>
            <a:spLocks noGrp="1"/>
          </p:cNvSpPr>
          <p:nvPr/>
        </p:nvSpPr>
        <p:spPr>
          <a:xfrm>
            <a:off x="6096000" y="4438650"/>
            <a:ext cx="495300" cy="41910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a:ext uri="{FF2B5EF4-FFF2-40B4-BE49-F238E27FC236}">
                <a16:creationId xmlns:a16="http://schemas.microsoft.com/office/drawing/2014/main" id="{D1004015-1E26-4A8E-970A-DFC17573E68F}"/>
              </a:ext>
            </a:extLst>
          </p:cNvPr>
          <p:cNvSpPr>
            <a:spLocks noGrp="1"/>
          </p:cNvSpPr>
          <p:nvPr/>
        </p:nvSpPr>
        <p:spPr>
          <a:xfrm>
            <a:off x="6686550" y="4438650"/>
            <a:ext cx="4476750" cy="571500"/>
          </a:xfrm>
          <a:prstGeom prst="rect">
            <a:avLst/>
          </a:prstGeom>
          <a:noFill/>
          <a:ln w="0">
            <a:noFill/>
            <a:prstDash val="solid"/>
          </a:ln>
        </p:spPr>
        <p:txBody>
          <a:bodyPr wrap="square" lIns="0" tIns="0" rIns="0" bIns="0" anchor="t">
            <a:normAutofit fontScale="99206"/>
          </a:bodyPr>
          <a:lstStyle/>
          <a:p>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eine Änderung und Vergleichsmessung definieren</a:t>
            </a:r>
          </a:p>
        </p:txBody>
      </p:sp>
      <p:sp>
        <p:nvSpPr>
          <p:cNvPr id="12" name="question-footer">
            <a:extLst>
              <a:ext uri="{FF2B5EF4-FFF2-40B4-BE49-F238E27FC236}">
                <a16:creationId xmlns:a16="http://schemas.microsoft.com/office/drawing/2014/main" id="{82799B77-A314-43BB-91E7-A42D348D9FCB}"/>
              </a:ext>
            </a:extLst>
          </p:cNvPr>
          <p:cNvSpPr>
            <a:spLocks noGrp="1"/>
          </p:cNvSpPr>
          <p:nvPr/>
        </p:nvSpPr>
        <p:spPr>
          <a:xfrm>
            <a:off x="10287000" y="643890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82 / 102</a:t>
            </a:r>
          </a:p>
        </p:txBody>
      </p:sp>
    </p:spTree>
    <p:extLst>
      <p:ext uri="{BB962C8B-B14F-4D97-AF65-F5344CB8AC3E}">
        <p14:creationId xmlns:p14="http://schemas.microsoft.com/office/powerpoint/2010/main" val="12989252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 name="module-label">
            <a:extLst>
              <a:ext uri="{FF2B5EF4-FFF2-40B4-BE49-F238E27FC236}">
                <a16:creationId xmlns:a16="http://schemas.microsoft.com/office/drawing/2014/main" id="{2D69A86E-EF08-48A1-A292-5BCDB90B2D0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QUELLEN UND METHODE</a:t>
            </a:r>
          </a:p>
        </p:txBody>
      </p:sp>
      <p:sp>
        <p:nvSpPr>
          <p:cNvPr id="2" name="slide-title">
            <a:extLst>
              <a:ext uri="{FF2B5EF4-FFF2-40B4-BE49-F238E27FC236}">
                <a16:creationId xmlns:a16="http://schemas.microsoft.com/office/drawing/2014/main" id="{FE646A5D-A0C8-470C-95A1-A31F35F990DD}"/>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Technische Aussagen sind versionsbezogen und auf Primärdokumentation gestützt</a:t>
            </a:r>
          </a:p>
        </p:txBody>
      </p:sp>
      <p:sp>
        <p:nvSpPr>
          <p:cNvPr id="3" name="title-rule">
            <a:extLst>
              <a:ext uri="{FF2B5EF4-FFF2-40B4-BE49-F238E27FC236}">
                <a16:creationId xmlns:a16="http://schemas.microsoft.com/office/drawing/2014/main" id="{1087D526-B569-451B-AB8A-D0E74B3A2109}"/>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4" name="footer-left">
            <a:extLst>
              <a:ext uri="{FF2B5EF4-FFF2-40B4-BE49-F238E27FC236}">
                <a16:creationId xmlns:a16="http://schemas.microsoft.com/office/drawing/2014/main" id="{907B0388-0A3C-4533-8528-533996FCA7B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a:ext uri="{FF2B5EF4-FFF2-40B4-BE49-F238E27FC236}">
                <a16:creationId xmlns:a16="http://schemas.microsoft.com/office/drawing/2014/main" id="{83DE0DF4-BFDD-476A-8B81-10A09352DB8A}"/>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83 / 102</a:t>
            </a:r>
          </a:p>
        </p:txBody>
      </p:sp>
      <p:sp>
        <p:nvSpPr>
          <p:cNvPr id="6" name="lead">
            <a:extLst>
              <a:ext uri="{FF2B5EF4-FFF2-40B4-BE49-F238E27FC236}">
                <a16:creationId xmlns:a16="http://schemas.microsoft.com/office/drawing/2014/main" id="{C4D9CB9D-AAF7-4FE4-A81F-8880D1C44B4C}"/>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Foliensatz verwendet Microsoft Learn als primäre Dokumentationsbasis; empirische Demoergebnisse werden separat gekennzeichnet.</a:t>
            </a:r>
          </a:p>
        </p:txBody>
      </p:sp>
      <p:sp>
        <p:nvSpPr>
          <p:cNvPr id="7" name="lead-accent">
            <a:extLst>
              <a:ext uri="{FF2B5EF4-FFF2-40B4-BE49-F238E27FC236}">
                <a16:creationId xmlns:a16="http://schemas.microsoft.com/office/drawing/2014/main" id="{2ABF2E50-44C0-44F8-9719-E8B71F187DE4}"/>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8" name="points">
            <a:extLst>
              <a:ext uri="{FF2B5EF4-FFF2-40B4-BE49-F238E27FC236}">
                <a16:creationId xmlns:a16="http://schemas.microsoft.com/office/drawing/2014/main" id="{0037AE56-E236-47F7-8F5E-EDAD6EB2AFFA}"/>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Page and Extent Architecture Guide</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Query Processing, Statistics und Cardinality Estimation</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Intelligent Query Processing für SQL Server 2019/2022/2025</a:t>
            </a:r>
          </a:p>
          <a:p>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Index, Columnstore, Locking, Query Store und Extended Events</a:t>
            </a:r>
          </a:p>
        </p:txBody>
      </p:sp>
    </p:spTree>
    <p:extLst>
      <p:ext uri="{BB962C8B-B14F-4D97-AF65-F5344CB8AC3E}">
        <p14:creationId xmlns:p14="http://schemas.microsoft.com/office/powerpoint/2010/main" val="14495759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4D9487D0-390B-57D9-AB28-3BD23EB899C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F20756B6-D682-5873-8235-0C26A422150F}"/>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Anwendung langsam, Werkzeug schnell ist eine Beobachtung, keine Ursache</a:t>
            </a:r>
          </a:p>
        </p:txBody>
      </p:sp>
      <p:sp>
        <p:nvSpPr>
          <p:cNvPr id="4" name="title-rule">
            <a:extLst>
              <a:ext uri="{FF2B5EF4-FFF2-40B4-BE49-F238E27FC236}">
                <a16:creationId xmlns:a16="http://schemas.microsoft.com/office/drawing/2014/main" id="{A60B905B-15F9-5DA5-9B98-564C8DDE80F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4A60ABC1-0FFD-5DCC-82CC-13CD821931BD}"/>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970B2B2B-CE51-5DB7-B7B7-090240EFDEB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84 / 102</a:t>
            </a:r>
          </a:p>
        </p:txBody>
      </p:sp>
      <p:sp>
        <p:nvSpPr>
          <p:cNvPr id="7" name="lead">
            <a:extLst>
              <a:ext uri="{FF2B5EF4-FFF2-40B4-BE49-F238E27FC236}">
                <a16:creationId xmlns:a16="http://schemas.microsoft.com/office/drawing/2014/main" id="{A8484F17-1908-5778-9D37-75E6CD801922}"/>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Differenz zwischen zwei Clients ist ein Evidenzproblem und erfordert eine mehrdimensionale Kontextdiagnose.</a:t>
            </a:r>
          </a:p>
        </p:txBody>
      </p:sp>
      <p:sp>
        <p:nvSpPr>
          <p:cNvPr id="8" name="lead-accent">
            <a:extLst>
              <a:ext uri="{FF2B5EF4-FFF2-40B4-BE49-F238E27FC236}">
                <a16:creationId xmlns:a16="http://schemas.microsoft.com/office/drawing/2014/main" id="{A1F27FF7-80E3-5D9B-B353-3EAF4A3FB1E1}"/>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3F9BEB30-3592-5F6B-8B01-F977E19579FE}"/>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gleicher Querytext bedeutet nicht gleiche Ausführungsbedingungen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zu prüfen: Datenbankkontext, SET-Optionen, Parameterwerte, Planidentität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Ein-Ursachen-Hypothese erst nach Widerlegung der übrigen Dimensionen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zwei dokumentierte Sessionprofile statt Vermutungen über Clientdefaults</a:t>
            </a:r>
          </a:p>
        </p:txBody>
      </p:sp>
    </p:spTree>
    <p:extLst>
      <p:ext uri="{BB962C8B-B14F-4D97-AF65-F5344CB8AC3E}">
        <p14:creationId xmlns:p14="http://schemas.microsoft.com/office/powerpoint/2010/main" val="17728612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529B6930-5546-503F-8117-D04DF770DCF9}"/>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DCDE2276-7A50-5741-B8D7-FDF66188A13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Cachekontext und SET-Optionen erzeugen zusätzliche Cacheeinträge</a:t>
            </a:r>
          </a:p>
        </p:txBody>
      </p:sp>
      <p:sp>
        <p:nvSpPr>
          <p:cNvPr id="4" name="title-rule">
            <a:extLst>
              <a:ext uri="{FF2B5EF4-FFF2-40B4-BE49-F238E27FC236}">
                <a16:creationId xmlns:a16="http://schemas.microsoft.com/office/drawing/2014/main" id="{5F6FFB1A-D72A-5A5B-9ECC-02EC4CEB21B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42426287-E701-57D9-A6A2-3605FEB8C5F0}"/>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3989825F-2D85-5227-A514-AEF87E2D0B45}"/>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85 / 102</a:t>
            </a:r>
          </a:p>
        </p:txBody>
      </p:sp>
      <p:sp>
        <p:nvSpPr>
          <p:cNvPr id="7" name="lead">
            <a:extLst>
              <a:ext uri="{FF2B5EF4-FFF2-40B4-BE49-F238E27FC236}">
                <a16:creationId xmlns:a16="http://schemas.microsoft.com/office/drawing/2014/main" id="{EC0C5BAD-FF75-5206-85D8-80440FD050DB}"/>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Cachekontext und SET-Optionen können zusätzliche Cacheeinträge für dasselbe Objekt erzeugen. Das fachliche Ergebnis bleibt identisch; unterschiedlich ist der Weg dorthin.</a:t>
            </a:r>
          </a:p>
        </p:txBody>
      </p:sp>
      <p:sp>
        <p:nvSpPr>
          <p:cNvPr id="8" name="lead-accent">
            <a:extLst>
              <a:ext uri="{FF2B5EF4-FFF2-40B4-BE49-F238E27FC236}">
                <a16:creationId xmlns:a16="http://schemas.microsoft.com/office/drawing/2014/main" id="{CC9B90CD-42F1-58CB-B736-A3FBF131F1A6}"/>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F6626DFC-61E3-5D1C-B620-01A2E86189A2}"/>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Cacheschlüssel umfasst mehr als den Anweisungstext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abweichende SET-Optionen ergeben getrennte Cacheeinträge desselben Objekts</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getrennte Einträge bedeuten getrennte Kompilierungen mit eigenen Werten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sichtbar über sys.dm_exec_plan_attributes, Attribut set_options</a:t>
            </a:r>
          </a:p>
        </p:txBody>
      </p:sp>
    </p:spTree>
    <p:extLst>
      <p:ext uri="{BB962C8B-B14F-4D97-AF65-F5344CB8AC3E}">
        <p14:creationId xmlns:p14="http://schemas.microsoft.com/office/powerpoint/2010/main" val="17728612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D3542BE5-8270-57B6-A968-6ABDB438AC8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8BB63D30-2B8F-5147-A982-FADF0EB9074E}"/>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Parameter Sensitivity folgt der Planwiederverwendung</a:t>
            </a:r>
          </a:p>
        </p:txBody>
      </p:sp>
      <p:sp>
        <p:nvSpPr>
          <p:cNvPr id="4" name="title-rule">
            <a:extLst>
              <a:ext uri="{FF2B5EF4-FFF2-40B4-BE49-F238E27FC236}">
                <a16:creationId xmlns:a16="http://schemas.microsoft.com/office/drawing/2014/main" id="{B913F070-21C3-5EB4-8C03-3143CDC94F4A}"/>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9ED62958-D8AC-540C-B23D-C2547E7F192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EB7D2695-FCBF-54AA-BD2F-EF3D95E3E27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86 / 102</a:t>
            </a:r>
          </a:p>
        </p:txBody>
      </p:sp>
      <p:sp>
        <p:nvSpPr>
          <p:cNvPr id="7" name="lead">
            <a:extLst>
              <a:ext uri="{FF2B5EF4-FFF2-40B4-BE49-F238E27FC236}">
                <a16:creationId xmlns:a16="http://schemas.microsoft.com/office/drawing/2014/main" id="{CD7E3835-AED2-51F6-83AC-660E7D72FC9D}"/>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Ein wiederverwendeter Plan wurde für einen konkreten Parameterwert kompiliert. Trifft er auf eine andere Verteilung, ändert sich die Arbeitsmenge, nicht das Ergebnis.</a:t>
            </a:r>
          </a:p>
        </p:txBody>
      </p:sp>
      <p:sp>
        <p:nvSpPr>
          <p:cNvPr id="8" name="lead-accent">
            <a:extLst>
              <a:ext uri="{FF2B5EF4-FFF2-40B4-BE49-F238E27FC236}">
                <a16:creationId xmlns:a16="http://schemas.microsoft.com/office/drawing/2014/main" id="{F32083B2-07C7-5129-95C1-F415CC718D23}"/>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311D7FE4-8526-5CB8-A1CB-63BA4ED55FA7}"/>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Plan entsteht für den kompilierten Wert und wird danach wiederverwendet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andere Verteilung verändert die Arbeitsmenge, nicht das Ergebnis</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Effekt tritt auch bei vollständig identischem Sessionkontext auf</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Parameterdimension ist unabhängig von der Kontextdimension nachweisbar</a:t>
            </a:r>
          </a:p>
        </p:txBody>
      </p:sp>
    </p:spTree>
    <p:extLst>
      <p:ext uri="{BB962C8B-B14F-4D97-AF65-F5344CB8AC3E}">
        <p14:creationId xmlns:p14="http://schemas.microsoft.com/office/powerpoint/2010/main" val="17728612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0E558B68-D0E7-539B-9EC3-BFC493A9D2C0}"/>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87DC6405-71FA-58DA-AED4-34487AC57BA0}"/>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Parameter, Variablen, Literale und Recompile liefern unterschiedliche Information</a:t>
            </a:r>
          </a:p>
        </p:txBody>
      </p:sp>
      <p:sp>
        <p:nvSpPr>
          <p:cNvPr id="4" name="title-rule">
            <a:extLst>
              <a:ext uri="{FF2B5EF4-FFF2-40B4-BE49-F238E27FC236}">
                <a16:creationId xmlns:a16="http://schemas.microsoft.com/office/drawing/2014/main" id="{D86F46CC-C3BF-5158-B4D2-C915550B9366}"/>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DD0A7F23-B149-51AE-86C3-1A1312AAF9D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4C2BDE4A-4A6E-5EF5-934C-6EC5CB9667F7}"/>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87 / 102</a:t>
            </a:r>
          </a:p>
        </p:txBody>
      </p:sp>
      <p:sp>
        <p:nvSpPr>
          <p:cNvPr id="7" name="lead">
            <a:extLst>
              <a:ext uri="{FF2B5EF4-FFF2-40B4-BE49-F238E27FC236}">
                <a16:creationId xmlns:a16="http://schemas.microsoft.com/office/drawing/2014/main" id="{A308C0FD-F70B-5A5C-AD2A-3B91BD57655F}"/>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vier Varianten sind keine Rangfolge, sondern ein Tauschverhältnis zwischen Planqualität, Wiederverwendung und Kompilierarbeit.</a:t>
            </a:r>
          </a:p>
        </p:txBody>
      </p:sp>
      <p:sp>
        <p:nvSpPr>
          <p:cNvPr id="8" name="lead-accent">
            <a:extLst>
              <a:ext uri="{FF2B5EF4-FFF2-40B4-BE49-F238E27FC236}">
                <a16:creationId xmlns:a16="http://schemas.microsoft.com/office/drawing/2014/main" id="{A77BEC14-9EF0-5853-AD11-A19D47A919D3}"/>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05BD6A47-21E1-58EA-96CB-E3CC07E7D208}"/>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Parameter: Schätzung anhand des kompilierten Werts, Plan wird wiederverwendet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lokale Variable: kein bekannter Wert zur Kompilierzeit, Schätzung ohne Wertbezug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Literal: Wert zur Kompilierzeit bekannt, dafür eigener Cacheeintrag je Wert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OPTION (RECOMPILE): Wert bekannt, dafür Kompilierarbeit je Ausführung</a:t>
            </a:r>
          </a:p>
        </p:txBody>
      </p:sp>
    </p:spTree>
    <p:extLst>
      <p:ext uri="{BB962C8B-B14F-4D97-AF65-F5344CB8AC3E}">
        <p14:creationId xmlns:p14="http://schemas.microsoft.com/office/powerpoint/2010/main" val="17728612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2C3108E0-C45A-554D-8DF5-437A2B7D1F1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6A48245C-C249-5D51-8C50-66D5BF0A47A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Die Diagnose ist erst abgeschlossen, wenn jede Dimension belegt oder ausgeschlossen ist</a:t>
            </a:r>
          </a:p>
        </p:txBody>
      </p:sp>
      <p:sp>
        <p:nvSpPr>
          <p:cNvPr id="4" name="title-rule">
            <a:extLst>
              <a:ext uri="{FF2B5EF4-FFF2-40B4-BE49-F238E27FC236}">
                <a16:creationId xmlns:a16="http://schemas.microsoft.com/office/drawing/2014/main" id="{20E984C5-AEF3-5779-853B-A39CA24CDC08}"/>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2E992CCA-D588-56F9-AF75-CD23D4667ACC}"/>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0A74E4D7-B50E-5394-827A-B5F5340DA13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88 / 102</a:t>
            </a:r>
          </a:p>
        </p:txBody>
      </p:sp>
      <p:sp>
        <p:nvSpPr>
          <p:cNvPr id="7" name="lead">
            <a:extLst>
              <a:ext uri="{FF2B5EF4-FFF2-40B4-BE49-F238E27FC236}">
                <a16:creationId xmlns:a16="http://schemas.microsoft.com/office/drawing/2014/main" id="{E2F08236-7BD6-54A0-AAEC-118B50E492F2}"/>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Erst wenn alle Proben dieselbe Ergebnischecksumme liefern, vergleichen wir Laufzeiten und nicht unterschiedliche Arbeit.</a:t>
            </a:r>
          </a:p>
        </p:txBody>
      </p:sp>
      <p:sp>
        <p:nvSpPr>
          <p:cNvPr id="8" name="lead-accent">
            <a:extLst>
              <a:ext uri="{FF2B5EF4-FFF2-40B4-BE49-F238E27FC236}">
                <a16:creationId xmlns:a16="http://schemas.microsoft.com/office/drawing/2014/main" id="{F88571D4-F17D-53C6-9E74-2C537F0C7C31}"/>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A2B0E87E-CF74-5386-AF52-E13A56FE9275}"/>
              </a:ext>
            </a:extLst>
          </p:cNvPr>
          <p:cNvSpPr>
            <a:spLocks noGrp="1"/>
          </p:cNvSpPr>
          <p:nvPr/>
        </p:nvSpPr>
        <p:spPr>
          <a:xfrm>
            <a:off x="5981700" y="2152650"/>
            <a:ext cx="5295900" cy="3467100"/>
          </a:xfrm>
          <a:prstGeom prst="rect">
            <a:avLst/>
          </a:prstGeom>
          <a:noFill/>
          <a:ln w="0">
            <a:noFill/>
            <a:prstDash val="solid"/>
          </a:ln>
        </p:spPr>
        <p:txBody>
          <a:bodyPr wrap="square" lIns="0" tIns="0" rIns="0" bIns="0" anchor="t">
            <a:no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Erheben: Datenbankkontext, wirksame SET-Optionen, Parameterwerte, Planidentität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Trennen: Kontextdimension und Parameterdimension getrennt messen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Angleichen: genau eine Dimension verändern und erneut messen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Bewerten: Ergebnisgleichheit sichern, bevor Laufzeiten verglichen werden</a:t>
            </a:r>
          </a:p>
        </p:txBody>
      </p:sp>
    </p:spTree>
    <p:extLst>
      <p:ext uri="{BB962C8B-B14F-4D97-AF65-F5344CB8AC3E}">
        <p14:creationId xmlns:p14="http://schemas.microsoft.com/office/powerpoint/2010/main" val="17728612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B8ECDD9C-04EC-515C-96FF-D2131765F04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91555DC1-CF4D-5F23-9579-0985891179AE}"/>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Ein statischer Querytext bindet sich an eine einzige Planform</a:t>
            </a:r>
          </a:p>
        </p:txBody>
      </p:sp>
      <p:sp>
        <p:nvSpPr>
          <p:cNvPr id="4" name="title-rule">
            <a:extLst>
              <a:ext uri="{FF2B5EF4-FFF2-40B4-BE49-F238E27FC236}">
                <a16:creationId xmlns:a16="http://schemas.microsoft.com/office/drawing/2014/main" id="{06BD21FA-6F33-5AEA-8EF3-087D59D85EB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8D15B4BD-EAD9-5BDD-A31B-C77937FD0301}"/>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E2434817-4E58-53D4-9F9E-575C150FFE2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89 / 102</a:t>
            </a:r>
          </a:p>
        </p:txBody>
      </p:sp>
      <p:sp>
        <p:nvSpPr>
          <p:cNvPr id="7" name="lead">
            <a:extLst>
              <a:ext uri="{FF2B5EF4-FFF2-40B4-BE49-F238E27FC236}">
                <a16:creationId xmlns:a16="http://schemas.microsoft.com/office/drawing/2014/main" id="{2A12AC84-E6AF-52D0-9412-D4F255FC899D}"/>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Optionale Prädikate erzeugen eine Planform, die für alle Selektivitäten gleichermaßen gilt – das ist kein Fehler, sondern die Folge bewusster Wiederverwendung.</a:t>
            </a:r>
          </a:p>
        </p:txBody>
      </p:sp>
      <p:sp>
        <p:nvSpPr>
          <p:cNvPr id="8" name="lead-accent">
            <a:extLst>
              <a:ext uri="{FF2B5EF4-FFF2-40B4-BE49-F238E27FC236}">
                <a16:creationId xmlns:a16="http://schemas.microsoft.com/office/drawing/2014/main" id="{1F5FF049-0008-514C-A93F-E8CD7655C317}"/>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729CBAD0-0BB2-5377-A180-F963CB742C34}"/>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optionale Prädikate der Form @Wert IS NULL OR Spalte = @Wert sind nicht sargfähig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eine Planform muss jede Filterkombination bedienen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Wiederverwendung unabhängig davon, ob ein Filter 20 oder 20 000 Zeilen trifft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genau ein Cacheeintrag, dafür keine Anpassung an die Selektivität</a:t>
            </a:r>
          </a:p>
        </p:txBody>
      </p:sp>
    </p:spTree>
    <p:extLst>
      <p:ext uri="{BB962C8B-B14F-4D97-AF65-F5344CB8AC3E}">
        <p14:creationId xmlns:p14="http://schemas.microsoft.com/office/powerpoint/2010/main" val="17728612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864CD34D-949E-5476-B799-E476640DB9EE}"/>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CF16EDC3-17C0-54A7-89D6-5D753367CA3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OPTION (RECOMPILE) ist ein Tauschgeschäft, keine pauschale Lösung</a:t>
            </a:r>
          </a:p>
        </p:txBody>
      </p:sp>
      <p:sp>
        <p:nvSpPr>
          <p:cNvPr id="4" name="title-rule">
            <a:extLst>
              <a:ext uri="{FF2B5EF4-FFF2-40B4-BE49-F238E27FC236}">
                <a16:creationId xmlns:a16="http://schemas.microsoft.com/office/drawing/2014/main" id="{F247C5D2-EE75-58BA-AE7D-BAED37F6144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A783F73F-D507-5786-8E59-34FC49A8BD95}"/>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BD53B429-8070-5B71-8515-67BDB7345FF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90 / 102</a:t>
            </a:r>
          </a:p>
        </p:txBody>
      </p:sp>
      <p:sp>
        <p:nvSpPr>
          <p:cNvPr id="7" name="lead">
            <a:extLst>
              <a:ext uri="{FF2B5EF4-FFF2-40B4-BE49-F238E27FC236}">
                <a16:creationId xmlns:a16="http://schemas.microsoft.com/office/drawing/2014/main" id="{CA58F517-D86D-54E1-9818-B1BE0392F4F0}"/>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OPTION (RECOMPILE) ermöglicht laufzeitnahe Optimierung und gibt dafür die Planwiederverwendung auf.</a:t>
            </a:r>
          </a:p>
        </p:txBody>
      </p:sp>
      <p:sp>
        <p:nvSpPr>
          <p:cNvPr id="8" name="lead-accent">
            <a:extLst>
              <a:ext uri="{FF2B5EF4-FFF2-40B4-BE49-F238E27FC236}">
                <a16:creationId xmlns:a16="http://schemas.microsoft.com/office/drawing/2014/main" id="{3C3A5A3B-E0E2-5D2D-9DA1-3CD498818EEF}"/>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8A6E4B98-8C60-5C6A-A9D1-EDF6B1E4820A}"/>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konkrete Wert ist bei jeder Ausführung bekannt, unbenutzte Zweige entfallen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dafür entsteht bei jeder Ausführung Kompilierarbeit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Nutzen wächst mit der Schwankung der Selektivität, Kosten mit der Frequenz</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Bewertung erfordert mehrere Ausführungen, nicht eine einzelne Messung</a:t>
            </a:r>
          </a:p>
        </p:txBody>
      </p:sp>
    </p:spTree>
    <p:extLst>
      <p:ext uri="{BB962C8B-B14F-4D97-AF65-F5344CB8AC3E}">
        <p14:creationId xmlns:p14="http://schemas.microsoft.com/office/powerpoint/2010/main" val="1772861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D8B79CBE-B5E2-52BD-8AE2-CF63C94C0BD7}"/>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70523616-D568-584F-B86A-2B1F579C6A5F}"/>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Dynamische Suchbedingungen entstehen aus einer Positivliste</a:t>
            </a:r>
          </a:p>
        </p:txBody>
      </p:sp>
      <p:sp>
        <p:nvSpPr>
          <p:cNvPr id="4" name="title-rule">
            <a:extLst>
              <a:ext uri="{FF2B5EF4-FFF2-40B4-BE49-F238E27FC236}">
                <a16:creationId xmlns:a16="http://schemas.microsoft.com/office/drawing/2014/main" id="{52CC6746-8C09-5208-AC1D-92254576B78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ADF2E4DA-2944-5398-9F95-8E4A089ADFAA}"/>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182E8236-32D9-5545-95EA-C38C547D2DE8}"/>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91 / 102</a:t>
            </a:r>
          </a:p>
        </p:txBody>
      </p:sp>
      <p:sp>
        <p:nvSpPr>
          <p:cNvPr id="7" name="lead">
            <a:extLst>
              <a:ext uri="{FF2B5EF4-FFF2-40B4-BE49-F238E27FC236}">
                <a16:creationId xmlns:a16="http://schemas.microsoft.com/office/drawing/2014/main" id="{F168162F-2004-5254-9CA8-00DCBA69CB05}"/>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Prädikatsbausteine stammen aus einer festen Positivliste; Werte werden gebunden, nicht in den Statementtext konkateniert.</a:t>
            </a:r>
          </a:p>
        </p:txBody>
      </p:sp>
      <p:sp>
        <p:nvSpPr>
          <p:cNvPr id="8" name="lead-accent">
            <a:extLst>
              <a:ext uri="{FF2B5EF4-FFF2-40B4-BE49-F238E27FC236}">
                <a16:creationId xmlns:a16="http://schemas.microsoft.com/office/drawing/2014/main" id="{F8FE95FC-B0C9-5F48-9899-09508FB11642}"/>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762E8A1D-CE3B-5A81-84A6-7E25FD56005E}"/>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Prädikatsbausteine ausschließlich aus einer festen Positivliste im Code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Werte über sys.sp_executesql binden, nie in den Text konkatenieren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Objektbezeichner mit QUOTENAME behandeln, nie roh einsetzen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unbekannte Filterdefinition führt zu kontrolliertem Abbruch</a:t>
            </a:r>
          </a:p>
        </p:txBody>
      </p:sp>
    </p:spTree>
    <p:extLst>
      <p:ext uri="{BB962C8B-B14F-4D97-AF65-F5344CB8AC3E}">
        <p14:creationId xmlns:p14="http://schemas.microsoft.com/office/powerpoint/2010/main" val="17728612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C3C3539B-0F56-5C4D-B7D3-16EA72F42CE6}"/>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2CB97194-F6B1-505B-9F41-17BB3AAF4408}"/>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Sicher parameterisiertes dynamisches SQL bleibt wiederverwendbar</a:t>
            </a:r>
          </a:p>
        </p:txBody>
      </p:sp>
      <p:sp>
        <p:nvSpPr>
          <p:cNvPr id="4" name="title-rule">
            <a:extLst>
              <a:ext uri="{FF2B5EF4-FFF2-40B4-BE49-F238E27FC236}">
                <a16:creationId xmlns:a16="http://schemas.microsoft.com/office/drawing/2014/main" id="{5CF2751D-B718-50F7-B4BC-2611FF8ED593}"/>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480FCC9B-F314-549A-A6A6-CD963425B486}"/>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6FAA2FA3-A3E5-50B8-97E9-CA55A4CEFF0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92 / 102</a:t>
            </a:r>
          </a:p>
        </p:txBody>
      </p:sp>
      <p:sp>
        <p:nvSpPr>
          <p:cNvPr id="7" name="lead">
            <a:extLst>
              <a:ext uri="{FF2B5EF4-FFF2-40B4-BE49-F238E27FC236}">
                <a16:creationId xmlns:a16="http://schemas.microsoft.com/office/drawing/2014/main" id="{184A8A89-3122-5D37-98EA-2CF0324E2515}"/>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Zahl der Statementformen folgt der Zahl der Filterformen, nicht der Zahl der Aufrufe. Sie ist zu messen, nicht anzunehmen.</a:t>
            </a:r>
          </a:p>
        </p:txBody>
      </p:sp>
      <p:sp>
        <p:nvSpPr>
          <p:cNvPr id="8" name="lead-accent">
            <a:extLst>
              <a:ext uri="{FF2B5EF4-FFF2-40B4-BE49-F238E27FC236}">
                <a16:creationId xmlns:a16="http://schemas.microsoft.com/office/drawing/2014/main" id="{CE797E36-41BA-54FE-9BC2-C246DBE495BE}"/>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C7C54C0E-8ACA-55F0-8490-D47E90835355}"/>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gleiche Filterform mit unterschiedlichen Werten nutzt dieselbe Statementform</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normalisierte Prädikatsreihenfolge verhindert unnötige Formvarianten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drei Ausführungen in QRY-004 ergeben genau zwei Statementformen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teuer wird dynamisches SQL durch unkontrollierte Textvarianten</a:t>
            </a:r>
          </a:p>
        </p:txBody>
      </p:sp>
    </p:spTree>
    <p:extLst>
      <p:ext uri="{BB962C8B-B14F-4D97-AF65-F5344CB8AC3E}">
        <p14:creationId xmlns:p14="http://schemas.microsoft.com/office/powerpoint/2010/main" val="17728612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4F5092EE-F777-57C8-9BDF-36B6A9AE897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875608A2-28E9-5E1B-84EF-F13F03E8D3FD}"/>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Strategie auswählen statt Rangfolge lernen</a:t>
            </a:r>
          </a:p>
        </p:txBody>
      </p:sp>
      <p:sp>
        <p:nvSpPr>
          <p:cNvPr id="4" name="title-rule">
            <a:extLst>
              <a:ext uri="{FF2B5EF4-FFF2-40B4-BE49-F238E27FC236}">
                <a16:creationId xmlns:a16="http://schemas.microsoft.com/office/drawing/2014/main" id="{0829ECE6-B5DA-55DC-B8A0-EE2459194330}"/>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6AEC9E3F-EC43-50D4-8458-6DE6E33AF007}"/>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30104F3A-BE26-50BA-A668-F42B32D911AA}"/>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93 / 102</a:t>
            </a:r>
          </a:p>
        </p:txBody>
      </p:sp>
      <p:sp>
        <p:nvSpPr>
          <p:cNvPr id="7" name="lead">
            <a:extLst>
              <a:ext uri="{FF2B5EF4-FFF2-40B4-BE49-F238E27FC236}">
                <a16:creationId xmlns:a16="http://schemas.microsoft.com/office/drawing/2014/main" id="{4E46C13B-C5D9-57FC-8671-DA845C214535}"/>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Auswahl folgt Verteilung, Ausführungsfrequenz, Sicherheit und Wartbarkeit; alle Strategien müssen ergebnisgleich sein.</a:t>
            </a:r>
          </a:p>
        </p:txBody>
      </p:sp>
      <p:sp>
        <p:nvSpPr>
          <p:cNvPr id="8" name="lead-accent">
            <a:extLst>
              <a:ext uri="{FF2B5EF4-FFF2-40B4-BE49-F238E27FC236}">
                <a16:creationId xmlns:a16="http://schemas.microsoft.com/office/drawing/2014/main" id="{4C63ECBB-2AE0-5B12-9654-C1FB4A4D14F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5B46C007-4E4D-51F7-A57C-16CE3DF1DC50}"/>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stabile Selektivität und hohe Frequenz: statischer Querytext mit Wiederverwendung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stark schwankende Selektivität und geringe Frequenz: OPTION (RECOMPILE)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viele Filterkombinationen mit begrenzten Formen: sicheres dynamisches SQL</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Ergebnisgleichheit ist Voraussetzung des Laufzeitvergleichs, nicht dessen Resultat</a:t>
            </a:r>
          </a:p>
        </p:txBody>
      </p:sp>
    </p:spTree>
    <p:extLst>
      <p:ext uri="{BB962C8B-B14F-4D97-AF65-F5344CB8AC3E}">
        <p14:creationId xmlns:p14="http://schemas.microsoft.com/office/powerpoint/2010/main" val="17728612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B278A703-FB7F-5B2A-8BA1-4F305DDF138F}"/>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59776916-9817-5D40-9611-8E17168CE767}"/>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Eine Planform, zwei Wahrheiten</a:t>
            </a:r>
          </a:p>
        </p:txBody>
      </p:sp>
      <p:sp>
        <p:nvSpPr>
          <p:cNvPr id="4" name="title-rule">
            <a:extLst>
              <a:ext uri="{FF2B5EF4-FFF2-40B4-BE49-F238E27FC236}">
                <a16:creationId xmlns:a16="http://schemas.microsoft.com/office/drawing/2014/main" id="{96C5B40C-0C5D-5F00-9857-E2235B2716E4}"/>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60C1C530-125E-5629-83AB-638804E9FA8A}"/>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47C9CFE1-E7ED-5C6A-B103-7290FE6C344E}"/>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94 / 102</a:t>
            </a:r>
          </a:p>
        </p:txBody>
      </p:sp>
      <p:sp>
        <p:nvSpPr>
          <p:cNvPr id="7" name="lead">
            <a:extLst>
              <a:ext uri="{FF2B5EF4-FFF2-40B4-BE49-F238E27FC236}">
                <a16:creationId xmlns:a16="http://schemas.microsoft.com/office/drawing/2014/main" id="{D05564C2-BDA6-5C2F-92A6-CA76F61B9CEB}"/>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Bei stark schiefer Verteilung entscheidet allein die Kompilierungsreihenfolge, welche Parameterbelegung benachteiligt wird.</a:t>
            </a:r>
          </a:p>
        </p:txBody>
      </p:sp>
      <p:sp>
        <p:nvSpPr>
          <p:cNvPr id="8" name="lead-accent">
            <a:extLst>
              <a:ext uri="{FF2B5EF4-FFF2-40B4-BE49-F238E27FC236}">
                <a16:creationId xmlns:a16="http://schemas.microsoft.com/office/drawing/2014/main" id="{65A443AB-4F92-52BA-8602-8DB74E11E640}"/>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80AE5F58-5321-533F-9E72-D1055D1E881C}"/>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ein Querytext besitzt ohne Parametersensitivität genau eine zwischengespeicherte Planform</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zuerst kompilierte Wert prägt diese Planform für alle weiteren Werte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selektiver Erstwert benachteiligt den dominanten Wert und umgekehrt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die Wahl des „richtigen“ Erstwerts verschiebt den Schaden, sie behebt ihn nicht</a:t>
            </a:r>
          </a:p>
        </p:txBody>
      </p:sp>
    </p:spTree>
    <p:extLst>
      <p:ext uri="{BB962C8B-B14F-4D97-AF65-F5344CB8AC3E}">
        <p14:creationId xmlns:p14="http://schemas.microsoft.com/office/powerpoint/2010/main" val="17728612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81D30FC2-4250-52C7-9C14-A4CC2F8E3C3B}"/>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63871BA2-2C0C-5B0A-A9E6-03DF88E41D55}"/>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Dispatcherplan und Query Variants</a:t>
            </a:r>
          </a:p>
        </p:txBody>
      </p:sp>
      <p:sp>
        <p:nvSpPr>
          <p:cNvPr id="4" name="title-rule">
            <a:extLst>
              <a:ext uri="{FF2B5EF4-FFF2-40B4-BE49-F238E27FC236}">
                <a16:creationId xmlns:a16="http://schemas.microsoft.com/office/drawing/2014/main" id="{3FF22044-1995-5861-A64F-0759707DB027}"/>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4CAF1EFE-3B36-5625-B592-9E7FA0CDC60B}"/>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573E6BC7-6C7B-533C-9500-88AC538FB6C2}"/>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95 / 102</a:t>
            </a:r>
          </a:p>
        </p:txBody>
      </p:sp>
      <p:sp>
        <p:nvSpPr>
          <p:cNvPr id="7" name="lead">
            <a:extLst>
              <a:ext uri="{FF2B5EF4-FFF2-40B4-BE49-F238E27FC236}">
                <a16:creationId xmlns:a16="http://schemas.microsoft.com/office/drawing/2014/main" id="{041C5D55-E103-5CCF-83A8-A5CDC306C42B}"/>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Parameter Sensitive Plan Optimization ersetzt die eine Planform durch einen Dispatcherplan und mehrere Query Variants.</a:t>
            </a:r>
          </a:p>
        </p:txBody>
      </p:sp>
      <p:sp>
        <p:nvSpPr>
          <p:cNvPr id="8" name="lead-accent">
            <a:extLst>
              <a:ext uri="{FF2B5EF4-FFF2-40B4-BE49-F238E27FC236}">
                <a16:creationId xmlns:a16="http://schemas.microsoft.com/office/drawing/2014/main" id="{EAE3518E-0D5D-5C92-8307-8D0B8F33A9A4}"/>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983D1D5D-44CB-5B87-9CE0-B0DC96F71546}"/>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Dispatcherplan enthält die ausgewählten Prädikate mit unterer und oberer Kardinalitätsgrenze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je Prädikat entstehen bis zu drei Kardinalitätsbänder und damit bis zu drei Planformen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die Varianten liegen als eigene zwischengespeicherte Pläne mit eigener QueryVariantID vor</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Voraussetzung sind SQL Server 2022 und Compatibility Level 160</a:t>
            </a:r>
          </a:p>
        </p:txBody>
      </p:sp>
    </p:spTree>
    <p:extLst>
      <p:ext uri="{BB962C8B-B14F-4D97-AF65-F5344CB8AC3E}">
        <p14:creationId xmlns:p14="http://schemas.microsoft.com/office/powerpoint/2010/main" val="17728612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7D999EC4-BC16-50A6-AFFA-2976588D6551}"/>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5E834BF0-7C59-5C24-B31B-E057D231FD2B}"/>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Eignung ist nachzuweisen, nicht anzunehmen</a:t>
            </a:r>
          </a:p>
        </p:txBody>
      </p:sp>
      <p:sp>
        <p:nvSpPr>
          <p:cNvPr id="4" name="title-rule">
            <a:extLst>
              <a:ext uri="{FF2B5EF4-FFF2-40B4-BE49-F238E27FC236}">
                <a16:creationId xmlns:a16="http://schemas.microsoft.com/office/drawing/2014/main" id="{F977CD43-33C9-5041-8483-98C91FA12C6E}"/>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AA710B88-7725-5EEB-B4A5-F3FB239EDB00}"/>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B0BB7987-868C-5714-A300-965ECE6ABFC4}"/>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96 / 102</a:t>
            </a:r>
          </a:p>
        </p:txBody>
      </p:sp>
      <p:sp>
        <p:nvSpPr>
          <p:cNvPr id="7" name="lead">
            <a:extLst>
              <a:ext uri="{FF2B5EF4-FFF2-40B4-BE49-F238E27FC236}">
                <a16:creationId xmlns:a16="http://schemas.microsoft.com/office/drawing/2014/main" id="{C8DDFFEF-E06A-51E4-B379-514B004EC986}"/>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Das Verfahren ist eng begrenzt; ob es greift, entscheidet der Optimierer und ist im Plan zu belegen.</a:t>
            </a:r>
          </a:p>
        </p:txBody>
      </p:sp>
      <p:sp>
        <p:nvSpPr>
          <p:cNvPr id="8" name="lead-accent">
            <a:extLst>
              <a:ext uri="{FF2B5EF4-FFF2-40B4-BE49-F238E27FC236}">
                <a16:creationId xmlns:a16="http://schemas.microsoft.com/office/drawing/2014/main" id="{F4E5A2A1-DC02-55C0-928D-60C74FEC7CF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CA3198E2-2389-5562-9302-3EE4D7D8825C}"/>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nur Gleichheitsprädikate kommen infrage; Bereichs-, Ungleichheits- und LIKE-Prädikate nicht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höchstens drei Prädikate je Abfrage werden ausgewählt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ohne ausreichende Schiefe in der Statistik entsteht keine Variantenbildung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ausbleibende Variantenbildung ist ein dokumentierter Befund, kein Anlass für undokumentierte Eingriffe</a:t>
            </a:r>
          </a:p>
        </p:txBody>
      </p:sp>
    </p:spTree>
    <p:extLst>
      <p:ext uri="{BB962C8B-B14F-4D97-AF65-F5344CB8AC3E}">
        <p14:creationId xmlns:p14="http://schemas.microsoft.com/office/powerpoint/2010/main" val="17728612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B65F7557-796B-5213-9B24-D2E9B35B17A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06B1C1A3-86C4-5F65-8A80-EC532B1CEBBD}"/>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Steuerung, Abwahl und Einordnung</a:t>
            </a:r>
          </a:p>
        </p:txBody>
      </p:sp>
      <p:sp>
        <p:nvSpPr>
          <p:cNvPr id="4" name="title-rule">
            <a:extLst>
              <a:ext uri="{FF2B5EF4-FFF2-40B4-BE49-F238E27FC236}">
                <a16:creationId xmlns:a16="http://schemas.microsoft.com/office/drawing/2014/main" id="{2C343583-33AA-5868-8175-85EA0D5E6941}"/>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B21C21A9-F238-505F-9EED-F827907BC337}"/>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F1C6E5D4-77DD-53E9-B6FB-55B9966F65B5}"/>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97 / 102</a:t>
            </a:r>
          </a:p>
        </p:txBody>
      </p:sp>
      <p:sp>
        <p:nvSpPr>
          <p:cNvPr id="7" name="lead">
            <a:extLst>
              <a:ext uri="{FF2B5EF4-FFF2-40B4-BE49-F238E27FC236}">
                <a16:creationId xmlns:a16="http://schemas.microsoft.com/office/drawing/2014/main" id="{B82F0F2B-836E-5D53-AF6C-EEEB2C6BEEA3}"/>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Optimierung ist auf Datenbank- und Abfrageebene steuerbar und ergänzt die klassischen Strategien, statt sie zu ersetzen.</a:t>
            </a:r>
          </a:p>
        </p:txBody>
      </p:sp>
      <p:sp>
        <p:nvSpPr>
          <p:cNvPr id="8" name="lead-accent">
            <a:extLst>
              <a:ext uri="{FF2B5EF4-FFF2-40B4-BE49-F238E27FC236}">
                <a16:creationId xmlns:a16="http://schemas.microsoft.com/office/drawing/2014/main" id="{6AE9027B-83FA-55E0-930E-7AFF7CC67FC5}"/>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0BB05D6D-1D31-53C2-9C84-21CEB5C4FC22}"/>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Datenbankebene: ALTER DATABASE SCOPED CONFIGURATION SET PARAMETER_SENSITIVE_PLAN_OPTIMIZATION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Abfrageebene: USE HINT ('DISABLE_PARAMETER_SENSITIVE_PLAN') wählt gezielt ab</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OPTION (RECOMPILE) und abgeschaltetes Parameter Sniffing setzen das Verfahren außer Kraft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Ergebnisgleichheit bleibt in jeder Konfiguration Voraussetzung jedes Vergleichs</a:t>
            </a:r>
          </a:p>
        </p:txBody>
      </p:sp>
    </p:spTree>
    <p:extLst>
      <p:ext uri="{BB962C8B-B14F-4D97-AF65-F5344CB8AC3E}">
        <p14:creationId xmlns:p14="http://schemas.microsoft.com/office/powerpoint/2010/main" val="17728612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FC34666E-EC36-5C36-ADE8-C47504B59272}"/>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AC625C6E-B0B6-5594-B64F-2793476BAAE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Der belegte Parameter zahlt den offenen mit</a:t>
            </a:r>
          </a:p>
        </p:txBody>
      </p:sp>
      <p:sp>
        <p:nvSpPr>
          <p:cNvPr id="4" name="title-rule">
            <a:extLst>
              <a:ext uri="{FF2B5EF4-FFF2-40B4-BE49-F238E27FC236}">
                <a16:creationId xmlns:a16="http://schemas.microsoft.com/office/drawing/2014/main" id="{8C53595A-4848-5B5C-8D26-F5EEE4663160}"/>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5A8EC630-14CD-507C-8027-676624909D04}"/>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F5B373FC-E3B3-54C7-BF81-E6B95D17D1D8}"/>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98 / 102</a:t>
            </a:r>
          </a:p>
        </p:txBody>
      </p:sp>
      <p:sp>
        <p:nvSpPr>
          <p:cNvPr id="7" name="lead">
            <a:extLst>
              <a:ext uri="{FF2B5EF4-FFF2-40B4-BE49-F238E27FC236}">
                <a16:creationId xmlns:a16="http://schemas.microsoft.com/office/drawing/2014/main" id="{436DAB12-A4B6-50D2-8E2F-E1FFBF287050}"/>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Ein optionales Parameterprädikat erzwingt eine Planform, die für beide Parameterzustände gültig sein muss.</a:t>
            </a:r>
          </a:p>
        </p:txBody>
      </p:sp>
      <p:sp>
        <p:nvSpPr>
          <p:cNvPr id="8" name="lead-accent">
            <a:extLst>
              <a:ext uri="{FF2B5EF4-FFF2-40B4-BE49-F238E27FC236}">
                <a16:creationId xmlns:a16="http://schemas.microsoft.com/office/drawing/2014/main" id="{79027EE5-1CB4-5F95-9837-C0B89C59E020}"/>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A4A0ACB4-FEE6-580C-A868-EC819ED8E7A9}"/>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das Muster (Spalte = @p OR @p IS NULL) deckt zwei Parameterzustände in einem Querytext ab</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für den belegten Zustand wäre eine Suche gültig, für den offenen Zustand nicht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es gibt deshalb keine Suchplanform, die für beide Zustände zugleich gültig wäre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belegte Aufruf trägt die Prüfbreite des offenen Aufrufs mit, unabhängig von der Reihenfolge</a:t>
            </a:r>
          </a:p>
        </p:txBody>
      </p:sp>
    </p:spTree>
    <p:extLst>
      <p:ext uri="{BB962C8B-B14F-4D97-AF65-F5344CB8AC3E}">
        <p14:creationId xmlns:p14="http://schemas.microsoft.com/office/powerpoint/2010/main" val="17728612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3CE46499-B20B-5790-8CB0-D767A9603106}"/>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5CEE712D-DF06-5C6A-B801-EC590A241631}"/>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Dispatcherplan mit optionalem Parameterprädikat</a:t>
            </a:r>
          </a:p>
        </p:txBody>
      </p:sp>
      <p:sp>
        <p:nvSpPr>
          <p:cNvPr id="4" name="title-rule">
            <a:extLst>
              <a:ext uri="{FF2B5EF4-FFF2-40B4-BE49-F238E27FC236}">
                <a16:creationId xmlns:a16="http://schemas.microsoft.com/office/drawing/2014/main" id="{FE52A831-8B28-5D3C-A5EE-407B22A6BB8D}"/>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F76B13E6-2EED-5A4D-ACBB-978CACA58050}"/>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F98A75BA-69F8-5C2D-9217-6299F26505A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99 / 102</a:t>
            </a:r>
          </a:p>
        </p:txBody>
      </p:sp>
      <p:sp>
        <p:nvSpPr>
          <p:cNvPr id="7" name="lead">
            <a:extLst>
              <a:ext uri="{FF2B5EF4-FFF2-40B4-BE49-F238E27FC236}">
                <a16:creationId xmlns:a16="http://schemas.microsoft.com/office/drawing/2014/main" id="{FD4CFAD1-32A4-5E92-AC5B-E39445EC7077}"/>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Optional Parameter Plan Optimization ersetzt die eine Planform durch einen Dispatcherplan mit einer Query Variant je NULL-Zustand.</a:t>
            </a:r>
          </a:p>
        </p:txBody>
      </p:sp>
      <p:sp>
        <p:nvSpPr>
          <p:cNvPr id="8" name="lead-accent">
            <a:extLst>
              <a:ext uri="{FF2B5EF4-FFF2-40B4-BE49-F238E27FC236}">
                <a16:creationId xmlns:a16="http://schemas.microsoft.com/office/drawing/2014/main" id="{E260B52B-9220-5815-8905-865C31F00C4E}"/>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314BC157-2F88-53C4-8A0A-9EDF07B00474}"/>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Dispatcherplan trägt je optionalem Prädikat ein Element OptionalParameterPredicate</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je Kombination der NULL-Zustände entsteht eine eigene Query Variant mit eigener QueryVariantID</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nach der Variantenauswahl wird das optionale Prädikat konstant gefaltet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das Verfahren verändert die Kosten, niemals das Ergebnis</a:t>
            </a:r>
          </a:p>
        </p:txBody>
      </p:sp>
    </p:spTree>
    <p:extLst>
      <p:ext uri="{BB962C8B-B14F-4D97-AF65-F5344CB8AC3E}">
        <p14:creationId xmlns:p14="http://schemas.microsoft.com/office/powerpoint/2010/main" val="17728612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8CEB0C58-B0CC-56DD-A629-35986E873D65}"/>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389201DD-77D9-54B1-928F-9F4B05771DC9}"/>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Voraussetzungen, Ausschlussgründe und Nachweis</a:t>
            </a:r>
          </a:p>
        </p:txBody>
      </p:sp>
      <p:sp>
        <p:nvSpPr>
          <p:cNvPr id="4" name="title-rule">
            <a:extLst>
              <a:ext uri="{FF2B5EF4-FFF2-40B4-BE49-F238E27FC236}">
                <a16:creationId xmlns:a16="http://schemas.microsoft.com/office/drawing/2014/main" id="{B80C8F65-43B8-5850-8031-C595F5432903}"/>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53234DB1-BE73-5DF5-B1F8-3E060FAE41C3}"/>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5155DB4A-122E-5AB1-809F-329913A4D516}"/>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100 / 102</a:t>
            </a:r>
          </a:p>
        </p:txBody>
      </p:sp>
      <p:sp>
        <p:nvSpPr>
          <p:cNvPr id="7" name="lead">
            <a:extLst>
              <a:ext uri="{FF2B5EF4-FFF2-40B4-BE49-F238E27FC236}">
                <a16:creationId xmlns:a16="http://schemas.microsoft.com/office/drawing/2014/main" id="{40A98F80-535C-56C4-9CCF-1991A46D3A15}"/>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Das Verfahren ist versionsgebunden und kennt dokumentierte Ausschlussgründe; die Eignung ist im Plan zu belegen.</a:t>
            </a:r>
          </a:p>
        </p:txBody>
      </p:sp>
      <p:sp>
        <p:nvSpPr>
          <p:cNvPr id="8" name="lead-accent">
            <a:extLst>
              <a:ext uri="{FF2B5EF4-FFF2-40B4-BE49-F238E27FC236}">
                <a16:creationId xmlns:a16="http://schemas.microsoft.com/office/drawing/2014/main" id="{4AF9EDB0-52E7-5B41-BD35-3A3D15607BC9}"/>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B5A4C179-D47A-5DC1-AE1C-08B694D2535B}"/>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Voraussetzung sind SQL Server 2025 und Compatibility Level 170</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unter Compatibility Level 170 ist OPTIONAL_PARAMETER_OPTIMIZATION standardmäßig eingeschaltet</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nicht angewendet bei lokalen Variablen, OPTION (RECOMPILE), ANSI_NULLS OFF und Autoparametrisierung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ausbleibende Variantenbildung ist ein dokumentierter Befund, kein Anlass für Eingriffe</a:t>
            </a:r>
          </a:p>
        </p:txBody>
      </p:sp>
    </p:spTree>
    <p:extLst>
      <p:ext uri="{BB962C8B-B14F-4D97-AF65-F5344CB8AC3E}">
        <p14:creationId xmlns:p14="http://schemas.microsoft.com/office/powerpoint/2010/main" val="17728612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module-label">
            <a:extLst>
              <a:ext uri="{FF2B5EF4-FFF2-40B4-BE49-F238E27FC236}">
                <a16:creationId xmlns:a16="http://schemas.microsoft.com/office/drawing/2014/main" id="{7BD5D9A0-2AEF-5F5E-90A5-88C940AC787A}"/>
              </a:ext>
            </a:extLst>
          </p:cNvPr>
          <p:cNvSpPr>
            <a:spLocks noGrp="1"/>
          </p:cNvSpPr>
          <p:nvPr/>
        </p:nvSpPr>
        <p:spPr>
          <a:xfrm>
            <a:off x="609600" y="323850"/>
            <a:ext cx="4762500" cy="2286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 · VERTIEFUNG</a:t>
            </a:r>
          </a:p>
        </p:txBody>
      </p:sp>
      <p:sp>
        <p:nvSpPr>
          <p:cNvPr id="3" name="slide-title">
            <a:extLst>
              <a:ext uri="{FF2B5EF4-FFF2-40B4-BE49-F238E27FC236}">
                <a16:creationId xmlns:a16="http://schemas.microsoft.com/office/drawing/2014/main" id="{60CFB674-70F3-5AAA-9034-0AEC3267FC8A}"/>
              </a:ext>
            </a:extLst>
          </p:cNvPr>
          <p:cNvSpPr>
            <a:spLocks noGrp="1"/>
          </p:cNvSpPr>
          <p:nvPr/>
        </p:nvSpPr>
        <p:spPr>
          <a:xfrm>
            <a:off x="609600" y="685800"/>
            <a:ext cx="10668000" cy="1047750"/>
          </a:xfrm>
          <a:prstGeom prst="rect">
            <a:avLst/>
          </a:prstGeom>
          <a:noFill/>
          <a:ln w="0">
            <a:noFill/>
            <a:prstDash val="solid"/>
          </a:ln>
        </p:spPr>
        <p:txBody>
          <a:bodyPr wrap="square" lIns="0" tIns="0" rIns="0" bIns="0" anchor="t">
            <a:normAutofit/>
          </a:bodyPr>
          <a:lstStyle/>
          <a:p>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Steuerung, Abwahl und Abgrenzung</a:t>
            </a:r>
          </a:p>
        </p:txBody>
      </p:sp>
      <p:sp>
        <p:nvSpPr>
          <p:cNvPr id="4" name="title-rule">
            <a:extLst>
              <a:ext uri="{FF2B5EF4-FFF2-40B4-BE49-F238E27FC236}">
                <a16:creationId xmlns:a16="http://schemas.microsoft.com/office/drawing/2014/main" id="{D9E8C9DD-892C-52B2-8CCB-F66B4AB500BB}"/>
              </a:ext>
            </a:extLst>
          </p:cNvPr>
          <p:cNvSpPr>
            <a:spLocks noGrp="1"/>
          </p:cNvSpPr>
          <p:nvPr/>
        </p:nvSpPr>
        <p:spPr>
          <a:xfrm>
            <a:off x="609600" y="1790700"/>
            <a:ext cx="10668000" cy="19050"/>
          </a:xfrm>
          <a:prstGeom prst="rect">
            <a:avLst/>
          </a:prstGeom>
          <a:solidFill>
            <a:srgbClr val="D9E2EC"/>
          </a:solidFill>
          <a:ln w="0">
            <a:noFill/>
            <a:prstDash val="solid"/>
          </a:ln>
        </p:spPr>
        <p:txBody>
          <a:bodyPr/>
          <a:lstStyle/>
          <a:p>
            <a:endParaRPr/>
          </a:p>
        </p:txBody>
      </p:sp>
      <p:sp>
        <p:nvSpPr>
          <p:cNvPr id="5" name="footer-left">
            <a:extLst>
              <a:ext uri="{FF2B5EF4-FFF2-40B4-BE49-F238E27FC236}">
                <a16:creationId xmlns:a16="http://schemas.microsoft.com/office/drawing/2014/main" id="{50AEDF17-9CE8-5B2C-ABCF-51925E7955E2}"/>
              </a:ext>
            </a:extLst>
          </p:cNvPr>
          <p:cNvSpPr>
            <a:spLocks noGrp="1"/>
          </p:cNvSpPr>
          <p:nvPr/>
        </p:nvSpPr>
        <p:spPr>
          <a:xfrm>
            <a:off x="609600" y="6534150"/>
            <a:ext cx="4000500" cy="1714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6" name="footer-page">
            <a:extLst>
              <a:ext uri="{FF2B5EF4-FFF2-40B4-BE49-F238E27FC236}">
                <a16:creationId xmlns:a16="http://schemas.microsoft.com/office/drawing/2014/main" id="{7A5DF30C-55C7-5679-B61E-5BD8156DC19D}"/>
              </a:ext>
            </a:extLst>
          </p:cNvPr>
          <p:cNvSpPr>
            <a:spLocks noGrp="1"/>
          </p:cNvSpPr>
          <p:nvPr/>
        </p:nvSpPr>
        <p:spPr>
          <a:xfrm>
            <a:off x="10287000" y="6534150"/>
            <a:ext cx="990600" cy="171450"/>
          </a:xfrm>
          <a:prstGeom prst="rect">
            <a:avLst/>
          </a:prstGeom>
          <a:noFill/>
          <a:ln w="0">
            <a:noFill/>
            <a:prstDash val="solid"/>
          </a:ln>
        </p:spPr>
        <p:txBody>
          <a:bodyPr wrap="square" lIns="0" tIns="0" rIns="0" bIns="0" anchor="t">
            <a:normAutofit/>
          </a:bodyPr>
          <a:lstStyle/>
          <a:p>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101 / 102</a:t>
            </a:r>
          </a:p>
        </p:txBody>
      </p:sp>
      <p:sp>
        <p:nvSpPr>
          <p:cNvPr id="7" name="lead">
            <a:extLst>
              <a:ext uri="{FF2B5EF4-FFF2-40B4-BE49-F238E27FC236}">
                <a16:creationId xmlns:a16="http://schemas.microsoft.com/office/drawing/2014/main" id="{2E0B9A98-1143-5530-AC1E-2D170CD733CE}"/>
              </a:ext>
            </a:extLst>
          </p:cNvPr>
          <p:cNvSpPr>
            <a:spLocks noGrp="1"/>
          </p:cNvSpPr>
          <p:nvPr/>
        </p:nvSpPr>
        <p:spPr>
          <a:xfrm>
            <a:off x="609600" y="2171700"/>
            <a:ext cx="4667250" cy="2190750"/>
          </a:xfrm>
          <a:prstGeom prst="rect">
            <a:avLst/>
          </a:prstGeom>
          <a:noFill/>
          <a:ln w="0">
            <a:noFill/>
            <a:prstDash val="solid"/>
          </a:ln>
        </p:spPr>
        <p:txBody>
          <a:bodyPr wrap="square" lIns="0" tIns="0" rIns="0" bIns="0" anchor="t">
            <a:normAutofit/>
          </a:bodyPr>
          <a:lstStyle/>
          <a:p>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Die Optimierung ist auf Datenbank- und Abfrageebene steuerbar und ergänzt die klassischen Strategien, statt sie zu ersetzen.</a:t>
            </a:r>
          </a:p>
        </p:txBody>
      </p:sp>
      <p:sp>
        <p:nvSpPr>
          <p:cNvPr id="8" name="lead-accent">
            <a:extLst>
              <a:ext uri="{FF2B5EF4-FFF2-40B4-BE49-F238E27FC236}">
                <a16:creationId xmlns:a16="http://schemas.microsoft.com/office/drawing/2014/main" id="{AA543D78-6A19-5B73-9297-A861CE632A3C}"/>
              </a:ext>
            </a:extLst>
          </p:cNvPr>
          <p:cNvSpPr>
            <a:spLocks noGrp="1"/>
          </p:cNvSpPr>
          <p:nvPr/>
        </p:nvSpPr>
        <p:spPr>
          <a:xfrm>
            <a:off x="609600" y="4591050"/>
            <a:ext cx="3429000" cy="76200"/>
          </a:xfrm>
          <a:prstGeom prst="rect">
            <a:avLst/>
          </a:prstGeom>
          <a:solidFill>
            <a:srgbClr val="F4A261"/>
          </a:solidFill>
          <a:ln w="0">
            <a:noFill/>
            <a:prstDash val="solid"/>
          </a:ln>
        </p:spPr>
        <p:txBody>
          <a:bodyPr/>
          <a:lstStyle/>
          <a:p>
            <a:endParaRPr/>
          </a:p>
        </p:txBody>
      </p:sp>
      <p:sp>
        <p:nvSpPr>
          <p:cNvPr id="9" name="points">
            <a:extLst>
              <a:ext uri="{FF2B5EF4-FFF2-40B4-BE49-F238E27FC236}">
                <a16:creationId xmlns:a16="http://schemas.microsoft.com/office/drawing/2014/main" id="{9F1B4011-70C2-5D05-967D-6AFED5E0F2F8}"/>
              </a:ext>
            </a:extLst>
          </p:cNvPr>
          <p:cNvSpPr>
            <a:spLocks noGrp="1"/>
          </p:cNvSpPr>
          <p:nvPr/>
        </p:nvSpPr>
        <p:spPr>
          <a:xfrm>
            <a:off x="5981700" y="2152650"/>
            <a:ext cx="5295900" cy="3467100"/>
          </a:xfrm>
          <a:prstGeom prst="rect">
            <a:avLst/>
          </a:prstGeom>
          <a:noFill/>
          <a:ln w="0">
            <a:noFill/>
            <a:prstDash val="solid"/>
          </a:ln>
        </p:spPr>
        <p:txBody>
          <a:bodyPr wrap="square" lIns="0" tIns="0" rIns="0" bIns="0">
            <a:normAutofit/>
          </a:bodyPr>
          <a:lstStyle/>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Datenbankebene: ALTER DATABASE SCOPED CONFIGURATION SET OPTIONAL_PARAMETER_OPTIMIZATION</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Abfrageebene: USE HINT ('DISABLE_OPTIONAL_PARAMETER_OPTIMIZATION') überschreibt die Einstellung</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der Abfragehinweis wirkt unter jedem Compatibility Level und ist auch als Query-Store-Hinweis verfügbar</a:t>
            </a:r>
          </a:p>
          <a:p>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Abgrenzung: OPT-009 entscheidet nach Kardinalität, OPT-010 nach dem NULL-Zustand</a:t>
            </a:r>
          </a:p>
        </p:txBody>
      </p:sp>
    </p:spTree>
    <p:extLst>
      <p:ext uri="{BB962C8B-B14F-4D97-AF65-F5344CB8AC3E}">
        <p14:creationId xmlns:p14="http://schemas.microsoft.com/office/powerpoint/2010/main" val="17728612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5" name="end-accent">
            <a:extLst>
              <a:ext uri="{FF2B5EF4-FFF2-40B4-BE49-F238E27FC236}">
                <a16:creationId xmlns:a16="http://schemas.microsoft.com/office/drawing/2014/main" id="{8B70C4F8-9A99-43EC-9799-39BBA69E69AD}"/>
              </a:ext>
            </a:extLst>
          </p:cNvPr>
          <p:cNvSpPr>
            <a:spLocks noGrp="1"/>
          </p:cNvSpPr>
          <p:nvPr/>
        </p:nvSpPr>
        <p:spPr>
          <a:xfrm>
            <a:off x="609600" y="685800"/>
            <a:ext cx="76200" cy="4762500"/>
          </a:xfrm>
          <a:prstGeom prst="rect">
            <a:avLst/>
          </a:prstGeom>
          <a:solidFill>
            <a:srgbClr val="21B5C2"/>
          </a:solidFill>
          <a:ln w="0">
            <a:noFill/>
            <a:prstDash val="solid"/>
          </a:ln>
        </p:spPr>
        <p:txBody>
          <a:bodyPr/>
          <a:lstStyle/>
          <a:p>
            <a:endParaRPr/>
          </a:p>
        </p:txBody>
      </p:sp>
      <p:sp>
        <p:nvSpPr>
          <p:cNvPr id="2" name="end-title">
            <a:extLst>
              <a:ext uri="{FF2B5EF4-FFF2-40B4-BE49-F238E27FC236}">
                <a16:creationId xmlns:a16="http://schemas.microsoft.com/office/drawing/2014/main" id="{AC8D707B-5FF0-400E-A0DA-CD4FAB29AE22}"/>
              </a:ext>
            </a:extLst>
          </p:cNvPr>
          <p:cNvSpPr>
            <a:spLocks noGrp="1"/>
          </p:cNvSpPr>
          <p:nvPr/>
        </p:nvSpPr>
        <p:spPr>
          <a:xfrm>
            <a:off x="990600" y="1524000"/>
            <a:ext cx="9525000" cy="2095500"/>
          </a:xfrm>
          <a:prstGeom prst="rect">
            <a:avLst/>
          </a:prstGeom>
          <a:noFill/>
          <a:ln w="0">
            <a:noFill/>
            <a:prstDash val="solid"/>
          </a:ln>
        </p:spPr>
        <p:txBody>
          <a:bodyPr wrap="square" lIns="0" tIns="0" rIns="0" bIns="0" anchor="t">
            <a:normAutofit/>
          </a:bodyPr>
          <a:lstStyle/>
          <a:p>
            <a:pPr algn="l">
              <a:lnSpc>
                <a:spcPct val="94000"/>
              </a:lnSpc>
              <a:buNone/>
              <a:defRPr sz="4650" b="1" i="0">
                <a:solidFill>
                  <a:srgbClr val="FFFFFF"/>
                </a:solidFill>
                <a:latin typeface="Aptos"/>
                <a:ea typeface="Aptos"/>
                <a:cs typeface="Aptos"/>
              </a:defRPr>
            </a:pPr>
            <a:r>
              <a:rPr sz="4650" b="1" i="0">
                <a:solidFill>
                  <a:srgbClr val="FFFFFF"/>
                </a:solidFill>
                <a:latin typeface="Aptos"/>
                <a:ea typeface="Aptos"/>
                <a:cs typeface="Aptos"/>
              </a:rPr>
              <a:t>Performance wird erklärbar,</a:t>
            </a:r>
          </a:p>
          <a:p>
            <a:pPr algn="l">
              <a:lnSpc>
                <a:spcPct val="94000"/>
              </a:lnSpc>
              <a:buNone/>
              <a:defRPr sz="4650" b="1" i="0">
                <a:solidFill>
                  <a:srgbClr val="FFFFFF"/>
                </a:solidFill>
                <a:latin typeface="Aptos"/>
                <a:ea typeface="Aptos"/>
                <a:cs typeface="Aptos"/>
              </a:defRPr>
            </a:pPr>
            <a:r>
              <a:rPr sz="4650" b="1" i="0">
                <a:solidFill>
                  <a:srgbClr val="FFFFFF"/>
                </a:solidFill>
                <a:latin typeface="Aptos"/>
                <a:ea typeface="Aptos"/>
                <a:cs typeface="Aptos"/>
              </a:rPr>
              <a:t>wenn Evidenz die Reihenfolge bestimmt.</a:t>
            </a:r>
          </a:p>
        </p:txBody>
      </p:sp>
      <p:sp>
        <p:nvSpPr>
          <p:cNvPr id="3" name="end-subtitle">
            <a:extLst>
              <a:ext uri="{FF2B5EF4-FFF2-40B4-BE49-F238E27FC236}">
                <a16:creationId xmlns:a16="http://schemas.microsoft.com/office/drawing/2014/main" id="{2A5398B4-9D21-4727-9583-433EAEA246A6}"/>
              </a:ext>
            </a:extLst>
          </p:cNvPr>
          <p:cNvSpPr>
            <a:spLocks noGrp="1"/>
          </p:cNvSpPr>
          <p:nvPr/>
        </p:nvSpPr>
        <p:spPr>
          <a:xfrm>
            <a:off x="990600" y="4895850"/>
            <a:ext cx="6858000" cy="4000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21B5C2"/>
                </a:solidFill>
                <a:latin typeface="Aptos"/>
                <a:ea typeface="Aptos"/>
                <a:cs typeface="Aptos"/>
              </a:defRPr>
            </a:pPr>
            <a:r>
              <a:rPr sz="1875" b="1" i="0">
                <a:solidFill>
                  <a:srgbClr val="21B5C2"/>
                </a:solidFill>
                <a:latin typeface="Aptos"/>
                <a:ea typeface="Aptos"/>
                <a:cs typeface="Aptos"/>
              </a:rPr>
              <a:t>Gerhard Pisch · SQL Server Performance</a:t>
            </a:r>
          </a:p>
        </p:txBody>
      </p:sp>
      <p:sp>
        <p:nvSpPr>
          <p:cNvPr id="4" name="end-version">
            <a:extLst>
              <a:ext uri="{FF2B5EF4-FFF2-40B4-BE49-F238E27FC236}">
                <a16:creationId xmlns:a16="http://schemas.microsoft.com/office/drawing/2014/main" id="{31EE691A-32E2-4E85-A170-9D540BB06983}"/>
              </a:ext>
            </a:extLst>
          </p:cNvPr>
          <p:cNvSpPr>
            <a:spLocks noGrp="1"/>
          </p:cNvSpPr>
          <p:nvPr/>
        </p:nvSpPr>
        <p:spPr>
          <a:xfrm>
            <a:off x="990600" y="5905500"/>
            <a:ext cx="6858000" cy="2286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9FB3C8"/>
                </a:solidFill>
                <a:latin typeface="Aptos"/>
                <a:ea typeface="Aptos"/>
                <a:cs typeface="Aptos"/>
              </a:defRPr>
            </a:pPr>
            <a:r>
              <a:rPr sz="1275" b="0" i="0">
                <a:solidFill>
                  <a:srgbClr val="9FB3C8"/>
                </a:solidFill>
                <a:latin typeface="Aptos"/>
                <a:ea typeface="Aptos"/>
                <a:cs typeface="Aptos"/>
              </a:rPr>
              <a:t>Stand: 2026 · SQL Server 2019 / 2022 / 2025</a:t>
            </a:r>
          </a:p>
        </p:txBody>
      </p:sp>
    </p:spTree>
    <p:extLst>
      <p:ext uri="{BB962C8B-B14F-4D97-AF65-F5344CB8AC3E}">
        <p14:creationId xmlns:p14="http://schemas.microsoft.com/office/powerpoint/2010/main" val="9947118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13922</Words>
  <Application>Microsoft Office PowerPoint</Application>
  <DocSecurity>0</DocSecurity>
  <PresentationFormat>Breitbild</PresentationFormat>
  <Paragraphs>1407</Paragraphs>
  <Slides>102</Slides>
  <Notes>102</Notes>
  <HiddenSlides>0</HiddenSlides>
  <MMClips>0</MMClips>
  <ScaleCrop>false</ScaleCrop>
  <HeadingPairs>
    <vt:vector size="8" baseType="variant">
      <vt:variant>
        <vt:lpstr>Verwendete Schriftarten</vt:lpstr>
      </vt:variant>
      <vt:variant>
        <vt:i4>3</vt:i4>
      </vt:variant>
      <vt:variant>
        <vt:lpstr>Design</vt:lpstr>
      </vt:variant>
      <vt:variant>
        <vt:i4>1</vt:i4>
      </vt:variant>
      <vt:variant>
        <vt:lpstr>Folientitel</vt:lpstr>
      </vt:variant>
      <vt:variant>
        <vt:i4>102</vt:i4>
      </vt:variant>
      <vt:variant>
        <vt:lpstr>Zielgruppenorientierte Präsentationen</vt:lpstr>
      </vt:variant>
      <vt:variant>
        <vt:i4>3</vt:i4>
      </vt:variant>
    </vt:vector>
  </HeadingPairs>
  <TitlesOfParts>
    <vt:vector size="109" baseType="lpstr">
      <vt:lpstr>Aptos</vt:lpstr>
      <vt:lpstr>Calibri</vt:lpstr>
      <vt:lpstr>Consolas</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SQL Performance – Basis</vt:lpstr>
      <vt:lpstr>SQL Performance – Standard</vt:lpstr>
      <vt:lpstr>SQL Performance – Vertiefung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
  <cp:lastModifiedBy>Gerhard Pisch</cp:lastModifiedBy>
  <cp:revision>1</cp:revision>
  <dcterms:created xsi:type="dcterms:W3CDTF">2026-08-31T23:14:04Z</dcterms:created>
  <dcterms:modified xsi:type="dcterms:W3CDTF">2026-08-31T23:18:58Z</dcterms:modified>
</cp:coreProperties>
</file>