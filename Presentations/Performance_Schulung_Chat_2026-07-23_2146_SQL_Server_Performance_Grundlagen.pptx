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d9d3b178924b40" /><Relationship Type="http://schemas.openxmlformats.org/officeDocument/2006/relationships/extended-properties" Target="/docProps/app.xml" Id="R708e1d58645d4c18" /><Relationship Type="http://schemas.openxmlformats.org/officeDocument/2006/relationships/officeDocument" Target="/ppt/presentation.xml" Id="R01eb1bb650b244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0f44b3993346a8"/>
  </p:sldMasterIdLst>
  <p:notesMasterIdLst>
    <p:notesMasterId xmlns:r="http://schemas.openxmlformats.org/officeDocument/2006/relationships" r:id="R7a07f356ca4e466f"/>
  </p:notesMasterIdLst>
  <p:sldIdLst>
    <p:sldId xmlns:r="http://schemas.openxmlformats.org/officeDocument/2006/relationships" id="256" r:id="R9af5ade6f84644f6"/>
    <p:sldId xmlns:r="http://schemas.openxmlformats.org/officeDocument/2006/relationships" id="257" r:id="Rd0288e975c2f4069"/>
    <p:sldId xmlns:r="http://schemas.openxmlformats.org/officeDocument/2006/relationships" id="258" r:id="Reb526cc03d4847eb"/>
    <p:sldId xmlns:r="http://schemas.openxmlformats.org/officeDocument/2006/relationships" id="259" r:id="Rabe9f9a2c9554bca"/>
    <p:sldId xmlns:r="http://schemas.openxmlformats.org/officeDocument/2006/relationships" id="260" r:id="R92be306100934c6c"/>
    <p:sldId xmlns:r="http://schemas.openxmlformats.org/officeDocument/2006/relationships" id="261" r:id="Rfb8ecebd3e9247e9"/>
    <p:sldId xmlns:r="http://schemas.openxmlformats.org/officeDocument/2006/relationships" id="262" r:id="R01f03f5736b94476"/>
    <p:sldId xmlns:r="http://schemas.openxmlformats.org/officeDocument/2006/relationships" id="263" r:id="R3185430012ca4be1"/>
    <p:sldId xmlns:r="http://schemas.openxmlformats.org/officeDocument/2006/relationships" id="264" r:id="R80a67b936efb4d7a"/>
    <p:sldId xmlns:r="http://schemas.openxmlformats.org/officeDocument/2006/relationships" id="265" r:id="Rd282713b62064d7e"/>
    <p:sldId xmlns:r="http://schemas.openxmlformats.org/officeDocument/2006/relationships" id="266" r:id="Re45853f6baea43ca"/>
    <p:sldId xmlns:r="http://schemas.openxmlformats.org/officeDocument/2006/relationships" id="267" r:id="R2fd81bace29b430e"/>
    <p:sldId xmlns:r="http://schemas.openxmlformats.org/officeDocument/2006/relationships" id="268" r:id="Ra259f4d16ecf4783"/>
    <p:sldId xmlns:r="http://schemas.openxmlformats.org/officeDocument/2006/relationships" id="269" r:id="R72e39b04775842da"/>
    <p:sldId xmlns:r="http://schemas.openxmlformats.org/officeDocument/2006/relationships" id="270" r:id="R31ea24ddee674570"/>
    <p:sldId xmlns:r="http://schemas.openxmlformats.org/officeDocument/2006/relationships" id="271" r:id="R0b4a5b4e28a04f00"/>
    <p:sldId xmlns:r="http://schemas.openxmlformats.org/officeDocument/2006/relationships" id="272" r:id="R015ca29b1777460a"/>
    <p:sldId xmlns:r="http://schemas.openxmlformats.org/officeDocument/2006/relationships" id="273" r:id="Rca1d7f76288f43ed"/>
    <p:sldId xmlns:r="http://schemas.openxmlformats.org/officeDocument/2006/relationships" id="274" r:id="R2a6688ec4e8e41f3"/>
    <p:sldId xmlns:r="http://schemas.openxmlformats.org/officeDocument/2006/relationships" id="275" r:id="R9d8b2cdd8adb466d"/>
    <p:sldId xmlns:r="http://schemas.openxmlformats.org/officeDocument/2006/relationships" id="276" r:id="R494c444097934948"/>
    <p:sldId xmlns:r="http://schemas.openxmlformats.org/officeDocument/2006/relationships" id="277" r:id="R2d79193c83ed485e"/>
    <p:sldId xmlns:r="http://schemas.openxmlformats.org/officeDocument/2006/relationships" id="278" r:id="R2fc59d7ac0384d5e"/>
    <p:sldId xmlns:r="http://schemas.openxmlformats.org/officeDocument/2006/relationships" id="279" r:id="R27025f98a770494b"/>
    <p:sldId xmlns:r="http://schemas.openxmlformats.org/officeDocument/2006/relationships" id="280" r:id="Ra89794663ad54adb"/>
    <p:sldId xmlns:r="http://schemas.openxmlformats.org/officeDocument/2006/relationships" id="281" r:id="Ra2cd32b3e7e64029"/>
    <p:sldId xmlns:r="http://schemas.openxmlformats.org/officeDocument/2006/relationships" id="282" r:id="R7a4a6bada38646d0"/>
    <p:sldId xmlns:r="http://schemas.openxmlformats.org/officeDocument/2006/relationships" id="283" r:id="R91809e7bd1de4cf0"/>
    <p:sldId xmlns:r="http://schemas.openxmlformats.org/officeDocument/2006/relationships" id="284" r:id="Rb8531af1f76a4332"/>
    <p:sldId xmlns:r="http://schemas.openxmlformats.org/officeDocument/2006/relationships" id="285" r:id="R60957d9fad8a4e33"/>
    <p:sldId xmlns:r="http://schemas.openxmlformats.org/officeDocument/2006/relationships" id="286" r:id="R88570f6d397e4893"/>
    <p:sldId xmlns:r="http://schemas.openxmlformats.org/officeDocument/2006/relationships" id="287" r:id="Rb218617823a24634"/>
    <p:sldId xmlns:r="http://schemas.openxmlformats.org/officeDocument/2006/relationships" id="288" r:id="R7567ef181147466f"/>
    <p:sldId xmlns:r="http://schemas.openxmlformats.org/officeDocument/2006/relationships" id="289" r:id="R5c4f4b4eae0c43dd"/>
    <p:sldId xmlns:r="http://schemas.openxmlformats.org/officeDocument/2006/relationships" id="290" r:id="R35428053c69c4f96"/>
    <p:sldId xmlns:r="http://schemas.openxmlformats.org/officeDocument/2006/relationships" id="291" r:id="R55d29c2be6af47d0"/>
    <p:sldId xmlns:r="http://schemas.openxmlformats.org/officeDocument/2006/relationships" id="292" r:id="R9c61315223224dd7"/>
    <p:sldId xmlns:r="http://schemas.openxmlformats.org/officeDocument/2006/relationships" id="293" r:id="Rd64fa24e4b294d66"/>
    <p:sldId xmlns:r="http://schemas.openxmlformats.org/officeDocument/2006/relationships" id="294" r:id="Rd8b3b59351fc404f"/>
    <p:sldId xmlns:r="http://schemas.openxmlformats.org/officeDocument/2006/relationships" id="295" r:id="Rb0b84fa6847a413b"/>
    <p:sldId xmlns:r="http://schemas.openxmlformats.org/officeDocument/2006/relationships" id="296" r:id="R6475fd34c6ab404c"/>
    <p:sldId xmlns:r="http://schemas.openxmlformats.org/officeDocument/2006/relationships" id="297" r:id="Rd917bf301a724a58"/>
    <p:sldId xmlns:r="http://schemas.openxmlformats.org/officeDocument/2006/relationships" id="298" r:id="R292dd8a77fae4930"/>
    <p:sldId xmlns:r="http://schemas.openxmlformats.org/officeDocument/2006/relationships" id="299" r:id="R26a47f6ba0874f02"/>
    <p:sldId xmlns:r="http://schemas.openxmlformats.org/officeDocument/2006/relationships" id="300" r:id="R3d9b37b1ccc84b77"/>
    <p:sldId xmlns:r="http://schemas.openxmlformats.org/officeDocument/2006/relationships" id="301" r:id="Rc603da5a4e9b4011"/>
    <p:sldId xmlns:r="http://schemas.openxmlformats.org/officeDocument/2006/relationships" id="302" r:id="R210764eaf41f4a54"/>
    <p:sldId xmlns:r="http://schemas.openxmlformats.org/officeDocument/2006/relationships" id="303" r:id="R30a78236b3cd4786"/>
    <p:sldId xmlns:r="http://schemas.openxmlformats.org/officeDocument/2006/relationships" id="304" r:id="R3f8ad469b8d84e8c"/>
    <p:sldId xmlns:r="http://schemas.openxmlformats.org/officeDocument/2006/relationships" id="305" r:id="R0299571affad4603"/>
    <p:sldId xmlns:r="http://schemas.openxmlformats.org/officeDocument/2006/relationships" id="306" r:id="Rbb49dea0666743d9"/>
    <p:sldId xmlns:r="http://schemas.openxmlformats.org/officeDocument/2006/relationships" id="307" r:id="R3966566c51024c28"/>
    <p:sldId xmlns:r="http://schemas.openxmlformats.org/officeDocument/2006/relationships" id="308" r:id="Rface26ae4a4441e8"/>
    <p:sldId xmlns:r="http://schemas.openxmlformats.org/officeDocument/2006/relationships" id="309" r:id="R05f7db3ce1be48ac"/>
    <p:sldId xmlns:r="http://schemas.openxmlformats.org/officeDocument/2006/relationships" id="310" r:id="Ra619368f586a4cbd"/>
    <p:sldId xmlns:r="http://schemas.openxmlformats.org/officeDocument/2006/relationships" id="311" r:id="Rd5acec895fec463d"/>
    <p:sldId xmlns:r="http://schemas.openxmlformats.org/officeDocument/2006/relationships" id="312" r:id="R85590b9e6f9b4add"/>
    <p:sldId xmlns:r="http://schemas.openxmlformats.org/officeDocument/2006/relationships" id="313" r:id="R9e122cc1637b4d1c"/>
    <p:sldId xmlns:r="http://schemas.openxmlformats.org/officeDocument/2006/relationships" id="314" r:id="R4e02dafec4f14fd5"/>
    <p:sldId xmlns:r="http://schemas.openxmlformats.org/officeDocument/2006/relationships" id="315" r:id="R9f6e848be4284800"/>
    <p:sldId xmlns:r="http://schemas.openxmlformats.org/officeDocument/2006/relationships" id="316" r:id="R7572c6613b644367"/>
    <p:sldId xmlns:r="http://schemas.openxmlformats.org/officeDocument/2006/relationships" id="317" r:id="R2ce860e87fab4ae9"/>
    <p:sldId xmlns:r="http://schemas.openxmlformats.org/officeDocument/2006/relationships" id="318" r:id="R837475813d8e48de"/>
    <p:sldId xmlns:r="http://schemas.openxmlformats.org/officeDocument/2006/relationships" id="319" r:id="R653d5bfc1c3f4313"/>
    <p:sldId xmlns:r="http://schemas.openxmlformats.org/officeDocument/2006/relationships" id="320" r:id="Redbbc7cb15bd400e"/>
    <p:sldId xmlns:r="http://schemas.openxmlformats.org/officeDocument/2006/relationships" id="321" r:id="Rcc7631ac62a64631"/>
    <p:sldId xmlns:r="http://schemas.openxmlformats.org/officeDocument/2006/relationships" id="322" r:id="Rde4cb292047d428d"/>
    <p:sldId xmlns:r="http://schemas.openxmlformats.org/officeDocument/2006/relationships" id="323" r:id="R41e37626eaaf4aac"/>
    <p:sldId xmlns:r="http://schemas.openxmlformats.org/officeDocument/2006/relationships" id="324" r:id="R63f03412912b4f64"/>
    <p:sldId xmlns:r="http://schemas.openxmlformats.org/officeDocument/2006/relationships" id="325" r:id="R113b87a89eb04b18"/>
    <p:sldId xmlns:r="http://schemas.openxmlformats.org/officeDocument/2006/relationships" id="326" r:id="Rb42b13324b9f4881"/>
    <p:sldId xmlns:r="http://schemas.openxmlformats.org/officeDocument/2006/relationships" id="327" r:id="Rfbfc2284f7184e08"/>
    <p:sldId xmlns:r="http://schemas.openxmlformats.org/officeDocument/2006/relationships" id="328" r:id="R08058342464d4162"/>
    <p:sldId xmlns:r="http://schemas.openxmlformats.org/officeDocument/2006/relationships" id="329" r:id="R31601813c6414066"/>
    <p:sldId xmlns:r="http://schemas.openxmlformats.org/officeDocument/2006/relationships" id="330" r:id="Ra24ecf52143a47b7"/>
    <p:sldId xmlns:r="http://schemas.openxmlformats.org/officeDocument/2006/relationships" id="331" r:id="R0f696379842e4c88"/>
    <p:sldId xmlns:r="http://schemas.openxmlformats.org/officeDocument/2006/relationships" id="332" r:id="R1b18cf7f9fa048f4"/>
    <p:sldId xmlns:r="http://schemas.openxmlformats.org/officeDocument/2006/relationships" id="333" r:id="R2991e448316e4b5f"/>
    <p:sldId xmlns:r="http://schemas.openxmlformats.org/officeDocument/2006/relationships" id="334" r:id="Rc6dea49c844a4abd"/>
    <p:sldId xmlns:r="http://schemas.openxmlformats.org/officeDocument/2006/relationships" id="335" r:id="R648b63ea58e04983"/>
    <p:sldId xmlns:r="http://schemas.openxmlformats.org/officeDocument/2006/relationships" id="336" r:id="R3ab1f6f569ba4e7e"/>
    <p:sldId xmlns:r="http://schemas.openxmlformats.org/officeDocument/2006/relationships" id="337" r:id="R8d5ac03b75604d72"/>
    <p:sldId xmlns:r="http://schemas.openxmlformats.org/officeDocument/2006/relationships" id="338" r:id="Raf3c8503f6c445b6"/>
    <p:sldId xmlns:r="http://schemas.openxmlformats.org/officeDocument/2006/relationships" id="339" r:id="R31faa33d3bce42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c9f53126c448c3" /><Relationship Type="http://schemas.openxmlformats.org/officeDocument/2006/relationships/slideMaster" Target="/ppt/slideMasters/slideMaster1.xml" Id="Rf90f44b3993346a8" /><Relationship Type="http://schemas.openxmlformats.org/officeDocument/2006/relationships/notesMaster" Target="/ppt/notesMasters/notesMaster1.xml" Id="R7a07f356ca4e466f" /><Relationship Type="http://schemas.openxmlformats.org/officeDocument/2006/relationships/presProps" Target="/ppt/presProps.xml" Id="R31a019d3c20548e2" /><Relationship Type="http://schemas.openxmlformats.org/officeDocument/2006/relationships/tableStyles" Target="/ppt/tableStyles.xml" Id="R38f385b4369a4d17" /><Relationship Type="http://schemas.openxmlformats.org/officeDocument/2006/relationships/slide" Target="/ppt/slides/slide1.xml" Id="R9af5ade6f84644f6" /><Relationship Type="http://schemas.openxmlformats.org/officeDocument/2006/relationships/slide" Target="/ppt/slides/slide2.xml" Id="Rd0288e975c2f4069" /><Relationship Type="http://schemas.openxmlformats.org/officeDocument/2006/relationships/slide" Target="/ppt/slides/slide3.xml" Id="Reb526cc03d4847eb" /><Relationship Type="http://schemas.openxmlformats.org/officeDocument/2006/relationships/slide" Target="/ppt/slides/slide4.xml" Id="Rabe9f9a2c9554bca" /><Relationship Type="http://schemas.openxmlformats.org/officeDocument/2006/relationships/slide" Target="/ppt/slides/slide5.xml" Id="R92be306100934c6c" /><Relationship Type="http://schemas.openxmlformats.org/officeDocument/2006/relationships/slide" Target="/ppt/slides/slide6.xml" Id="Rfb8ecebd3e9247e9" /><Relationship Type="http://schemas.openxmlformats.org/officeDocument/2006/relationships/slide" Target="/ppt/slides/slide7.xml" Id="R01f03f5736b94476" /><Relationship Type="http://schemas.openxmlformats.org/officeDocument/2006/relationships/slide" Target="/ppt/slides/slide8.xml" Id="R3185430012ca4be1" /><Relationship Type="http://schemas.openxmlformats.org/officeDocument/2006/relationships/slide" Target="/ppt/slides/slide9.xml" Id="R80a67b936efb4d7a" /><Relationship Type="http://schemas.openxmlformats.org/officeDocument/2006/relationships/slide" Target="/ppt/slides/slide10.xml" Id="Rd282713b62064d7e" /><Relationship Type="http://schemas.openxmlformats.org/officeDocument/2006/relationships/slide" Target="/ppt/slides/slide11.xml" Id="Re45853f6baea43ca" /><Relationship Type="http://schemas.openxmlformats.org/officeDocument/2006/relationships/slide" Target="/ppt/slides/slide12.xml" Id="R2fd81bace29b430e" /><Relationship Type="http://schemas.openxmlformats.org/officeDocument/2006/relationships/slide" Target="/ppt/slides/slide13.xml" Id="Ra259f4d16ecf4783" /><Relationship Type="http://schemas.openxmlformats.org/officeDocument/2006/relationships/slide" Target="/ppt/slides/slide14.xml" Id="R72e39b04775842da" /><Relationship Type="http://schemas.openxmlformats.org/officeDocument/2006/relationships/slide" Target="/ppt/slides/slide15.xml" Id="R31ea24ddee674570" /><Relationship Type="http://schemas.openxmlformats.org/officeDocument/2006/relationships/slide" Target="/ppt/slides/slide16.xml" Id="R0b4a5b4e28a04f00" /><Relationship Type="http://schemas.openxmlformats.org/officeDocument/2006/relationships/slide" Target="/ppt/slides/slide17.xml" Id="R015ca29b1777460a" /><Relationship Type="http://schemas.openxmlformats.org/officeDocument/2006/relationships/slide" Target="/ppt/slides/slide18.xml" Id="Rca1d7f76288f43ed" /><Relationship Type="http://schemas.openxmlformats.org/officeDocument/2006/relationships/slide" Target="/ppt/slides/slide19.xml" Id="R2a6688ec4e8e41f3" /><Relationship Type="http://schemas.openxmlformats.org/officeDocument/2006/relationships/slide" Target="/ppt/slides/slide20.xml" Id="R9d8b2cdd8adb466d" /><Relationship Type="http://schemas.openxmlformats.org/officeDocument/2006/relationships/slide" Target="/ppt/slides/slide21.xml" Id="R494c444097934948" /><Relationship Type="http://schemas.openxmlformats.org/officeDocument/2006/relationships/slide" Target="/ppt/slides/slide22.xml" Id="R2d79193c83ed485e" /><Relationship Type="http://schemas.openxmlformats.org/officeDocument/2006/relationships/slide" Target="/ppt/slides/slide23.xml" Id="R2fc59d7ac0384d5e" /><Relationship Type="http://schemas.openxmlformats.org/officeDocument/2006/relationships/slide" Target="/ppt/slides/slide24.xml" Id="R27025f98a770494b" /><Relationship Type="http://schemas.openxmlformats.org/officeDocument/2006/relationships/slide" Target="/ppt/slides/slide25.xml" Id="Ra89794663ad54adb" /><Relationship Type="http://schemas.openxmlformats.org/officeDocument/2006/relationships/slide" Target="/ppt/slides/slide26.xml" Id="Ra2cd32b3e7e64029" /><Relationship Type="http://schemas.openxmlformats.org/officeDocument/2006/relationships/slide" Target="/ppt/slides/slide27.xml" Id="R7a4a6bada38646d0" /><Relationship Type="http://schemas.openxmlformats.org/officeDocument/2006/relationships/slide" Target="/ppt/slides/slide28.xml" Id="R91809e7bd1de4cf0" /><Relationship Type="http://schemas.openxmlformats.org/officeDocument/2006/relationships/slide" Target="/ppt/slides/slide29.xml" Id="Rb8531af1f76a4332" /><Relationship Type="http://schemas.openxmlformats.org/officeDocument/2006/relationships/slide" Target="/ppt/slides/slide30.xml" Id="R60957d9fad8a4e33" /><Relationship Type="http://schemas.openxmlformats.org/officeDocument/2006/relationships/slide" Target="/ppt/slides/slide31.xml" Id="R88570f6d397e4893" /><Relationship Type="http://schemas.openxmlformats.org/officeDocument/2006/relationships/slide" Target="/ppt/slides/slide32.xml" Id="Rb218617823a24634" /><Relationship Type="http://schemas.openxmlformats.org/officeDocument/2006/relationships/slide" Target="/ppt/slides/slide33.xml" Id="R7567ef181147466f" /><Relationship Type="http://schemas.openxmlformats.org/officeDocument/2006/relationships/slide" Target="/ppt/slides/slide34.xml" Id="R5c4f4b4eae0c43dd" /><Relationship Type="http://schemas.openxmlformats.org/officeDocument/2006/relationships/slide" Target="/ppt/slides/slide35.xml" Id="R35428053c69c4f96" /><Relationship Type="http://schemas.openxmlformats.org/officeDocument/2006/relationships/slide" Target="/ppt/slides/slide36.xml" Id="R55d29c2be6af47d0" /><Relationship Type="http://schemas.openxmlformats.org/officeDocument/2006/relationships/slide" Target="/ppt/slides/slide37.xml" Id="R9c61315223224dd7" /><Relationship Type="http://schemas.openxmlformats.org/officeDocument/2006/relationships/slide" Target="/ppt/slides/slide38.xml" Id="Rd64fa24e4b294d66" /><Relationship Type="http://schemas.openxmlformats.org/officeDocument/2006/relationships/slide" Target="/ppt/slides/slide39.xml" Id="Rd8b3b59351fc404f" /><Relationship Type="http://schemas.openxmlformats.org/officeDocument/2006/relationships/slide" Target="/ppt/slides/slide40.xml" Id="Rb0b84fa6847a413b" /><Relationship Type="http://schemas.openxmlformats.org/officeDocument/2006/relationships/slide" Target="/ppt/slides/slide41.xml" Id="R6475fd34c6ab404c" /><Relationship Type="http://schemas.openxmlformats.org/officeDocument/2006/relationships/slide" Target="/ppt/slides/slide42.xml" Id="Rd917bf301a724a58" /><Relationship Type="http://schemas.openxmlformats.org/officeDocument/2006/relationships/slide" Target="/ppt/slides/slide43.xml" Id="R292dd8a77fae4930" /><Relationship Type="http://schemas.openxmlformats.org/officeDocument/2006/relationships/slide" Target="/ppt/slides/slide44.xml" Id="R26a47f6ba0874f02" /><Relationship Type="http://schemas.openxmlformats.org/officeDocument/2006/relationships/slide" Target="/ppt/slides/slide45.xml" Id="R3d9b37b1ccc84b77" /><Relationship Type="http://schemas.openxmlformats.org/officeDocument/2006/relationships/slide" Target="/ppt/slides/slide46.xml" Id="Rc603da5a4e9b4011" /><Relationship Type="http://schemas.openxmlformats.org/officeDocument/2006/relationships/slide" Target="/ppt/slides/slide47.xml" Id="R210764eaf41f4a54" /><Relationship Type="http://schemas.openxmlformats.org/officeDocument/2006/relationships/slide" Target="/ppt/slides/slide48.xml" Id="R30a78236b3cd4786" /><Relationship Type="http://schemas.openxmlformats.org/officeDocument/2006/relationships/slide" Target="/ppt/slides/slide49.xml" Id="R3f8ad469b8d84e8c" /><Relationship Type="http://schemas.openxmlformats.org/officeDocument/2006/relationships/slide" Target="/ppt/slides/slide50.xml" Id="R0299571affad4603" /><Relationship Type="http://schemas.openxmlformats.org/officeDocument/2006/relationships/slide" Target="/ppt/slides/slide51.xml" Id="Rbb49dea0666743d9" /><Relationship Type="http://schemas.openxmlformats.org/officeDocument/2006/relationships/slide" Target="/ppt/slides/slide52.xml" Id="R3966566c51024c28" /><Relationship Type="http://schemas.openxmlformats.org/officeDocument/2006/relationships/slide" Target="/ppt/slides/slide53.xml" Id="Rface26ae4a4441e8" /><Relationship Type="http://schemas.openxmlformats.org/officeDocument/2006/relationships/slide" Target="/ppt/slides/slide54.xml" Id="R05f7db3ce1be48ac" /><Relationship Type="http://schemas.openxmlformats.org/officeDocument/2006/relationships/slide" Target="/ppt/slides/slide55.xml" Id="Ra619368f586a4cbd" /><Relationship Type="http://schemas.openxmlformats.org/officeDocument/2006/relationships/slide" Target="/ppt/slides/slide56.xml" Id="Rd5acec895fec463d" /><Relationship Type="http://schemas.openxmlformats.org/officeDocument/2006/relationships/slide" Target="/ppt/slides/slide57.xml" Id="R85590b9e6f9b4add" /><Relationship Type="http://schemas.openxmlformats.org/officeDocument/2006/relationships/slide" Target="/ppt/slides/slide58.xml" Id="R9e122cc1637b4d1c" /><Relationship Type="http://schemas.openxmlformats.org/officeDocument/2006/relationships/slide" Target="/ppt/slides/slide59.xml" Id="R4e02dafec4f14fd5" /><Relationship Type="http://schemas.openxmlformats.org/officeDocument/2006/relationships/slide" Target="/ppt/slides/slide60.xml" Id="R9f6e848be4284800" /><Relationship Type="http://schemas.openxmlformats.org/officeDocument/2006/relationships/slide" Target="/ppt/slides/slide61.xml" Id="R7572c6613b644367" /><Relationship Type="http://schemas.openxmlformats.org/officeDocument/2006/relationships/slide" Target="/ppt/slides/slide62.xml" Id="R2ce860e87fab4ae9" /><Relationship Type="http://schemas.openxmlformats.org/officeDocument/2006/relationships/slide" Target="/ppt/slides/slide63.xml" Id="R837475813d8e48de" /><Relationship Type="http://schemas.openxmlformats.org/officeDocument/2006/relationships/slide" Target="/ppt/slides/slide64.xml" Id="R653d5bfc1c3f4313" /><Relationship Type="http://schemas.openxmlformats.org/officeDocument/2006/relationships/slide" Target="/ppt/slides/slide65.xml" Id="Redbbc7cb15bd400e" /><Relationship Type="http://schemas.openxmlformats.org/officeDocument/2006/relationships/slide" Target="/ppt/slides/slide66.xml" Id="Rcc7631ac62a64631" /><Relationship Type="http://schemas.openxmlformats.org/officeDocument/2006/relationships/slide" Target="/ppt/slides/slide67.xml" Id="Rde4cb292047d428d" /><Relationship Type="http://schemas.openxmlformats.org/officeDocument/2006/relationships/slide" Target="/ppt/slides/slide68.xml" Id="R41e37626eaaf4aac" /><Relationship Type="http://schemas.openxmlformats.org/officeDocument/2006/relationships/slide" Target="/ppt/slides/slide69.xml" Id="R63f03412912b4f64" /><Relationship Type="http://schemas.openxmlformats.org/officeDocument/2006/relationships/slide" Target="/ppt/slides/slide70.xml" Id="R113b87a89eb04b18" /><Relationship Type="http://schemas.openxmlformats.org/officeDocument/2006/relationships/slide" Target="/ppt/slides/slide71.xml" Id="Rb42b13324b9f4881" /><Relationship Type="http://schemas.openxmlformats.org/officeDocument/2006/relationships/slide" Target="/ppt/slides/slide72.xml" Id="Rfbfc2284f7184e08" /><Relationship Type="http://schemas.openxmlformats.org/officeDocument/2006/relationships/slide" Target="/ppt/slides/slide73.xml" Id="R08058342464d4162" /><Relationship Type="http://schemas.openxmlformats.org/officeDocument/2006/relationships/slide" Target="/ppt/slides/slide74.xml" Id="R31601813c6414066" /><Relationship Type="http://schemas.openxmlformats.org/officeDocument/2006/relationships/slide" Target="/ppt/slides/slide75.xml" Id="Ra24ecf52143a47b7" /><Relationship Type="http://schemas.openxmlformats.org/officeDocument/2006/relationships/slide" Target="/ppt/slides/slide76.xml" Id="R0f696379842e4c88" /><Relationship Type="http://schemas.openxmlformats.org/officeDocument/2006/relationships/slide" Target="/ppt/slides/slide77.xml" Id="R1b18cf7f9fa048f4" /><Relationship Type="http://schemas.openxmlformats.org/officeDocument/2006/relationships/slide" Target="/ppt/slides/slide78.xml" Id="R2991e448316e4b5f" /><Relationship Type="http://schemas.openxmlformats.org/officeDocument/2006/relationships/slide" Target="/ppt/slides/slide79.xml" Id="Rc6dea49c844a4abd" /><Relationship Type="http://schemas.openxmlformats.org/officeDocument/2006/relationships/slide" Target="/ppt/slides/slide80.xml" Id="R648b63ea58e04983" /><Relationship Type="http://schemas.openxmlformats.org/officeDocument/2006/relationships/slide" Target="/ppt/slides/slide81.xml" Id="R3ab1f6f569ba4e7e" /><Relationship Type="http://schemas.openxmlformats.org/officeDocument/2006/relationships/slide" Target="/ppt/slides/slide82.xml" Id="R8d5ac03b75604d72" /><Relationship Type="http://schemas.openxmlformats.org/officeDocument/2006/relationships/slide" Target="/ppt/slides/slide83.xml" Id="Raf3c8503f6c445b6" /><Relationship Type="http://schemas.openxmlformats.org/officeDocument/2006/relationships/slide" Target="/ppt/slides/slide84.xml" Id="R31faa33d3bce42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70e4e47a3747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5491a5e6e545ed" /><Relationship Type="http://schemas.openxmlformats.org/officeDocument/2006/relationships/notesMaster" Target="/ppt/notesMasters/notesMaster1.xml" Id="R8ea35a97ecff4a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184e2284784f24" /><Relationship Type="http://schemas.openxmlformats.org/officeDocument/2006/relationships/notesMaster" Target="/ppt/notesMasters/notesMaster1.xml" Id="Ra1c367d0671245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cf7e96518d4937" /><Relationship Type="http://schemas.openxmlformats.org/officeDocument/2006/relationships/notesMaster" Target="/ppt/notesMasters/notesMaster1.xml" Id="R96eb04e69f4e43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3aeca013e740c7" /><Relationship Type="http://schemas.openxmlformats.org/officeDocument/2006/relationships/notesMaster" Target="/ppt/notesMasters/notesMaster1.xml" Id="Raf7dbd90b95a48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0568c2455c49a6" /><Relationship Type="http://schemas.openxmlformats.org/officeDocument/2006/relationships/notesMaster" Target="/ppt/notesMasters/notesMaster1.xml" Id="R66ca4e80c7bb43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313ebb8ead4375" /><Relationship Type="http://schemas.openxmlformats.org/officeDocument/2006/relationships/notesMaster" Target="/ppt/notesMasters/notesMaster1.xml" Id="R45f23f7399a14b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a004d61c684722" /><Relationship Type="http://schemas.openxmlformats.org/officeDocument/2006/relationships/notesMaster" Target="/ppt/notesMasters/notesMaster1.xml" Id="R1b09151b82a547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ab422ece404943" /><Relationship Type="http://schemas.openxmlformats.org/officeDocument/2006/relationships/notesMaster" Target="/ppt/notesMasters/notesMaster1.xml" Id="R20bf850a810043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d75dc9723548d9" /><Relationship Type="http://schemas.openxmlformats.org/officeDocument/2006/relationships/notesMaster" Target="/ppt/notesMasters/notesMaster1.xml" Id="Rd9deb25049a84e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65e07b15164fc9" /><Relationship Type="http://schemas.openxmlformats.org/officeDocument/2006/relationships/notesMaster" Target="/ppt/notesMasters/notesMaster1.xml" Id="Rd37d5b86abad42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0536b36d7c427e" /><Relationship Type="http://schemas.openxmlformats.org/officeDocument/2006/relationships/notesMaster" Target="/ppt/notesMasters/notesMaster1.xml" Id="Rf2a6599e80e3406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62a61f40cf43f9" /><Relationship Type="http://schemas.openxmlformats.org/officeDocument/2006/relationships/notesMaster" Target="/ppt/notesMasters/notesMaster1.xml" Id="R7b03cbc63ac045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9345f53ae04e46" /><Relationship Type="http://schemas.openxmlformats.org/officeDocument/2006/relationships/notesMaster" Target="/ppt/notesMasters/notesMaster1.xml" Id="Ra74a8038c7014b9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9e4e2ae04464d38" /><Relationship Type="http://schemas.openxmlformats.org/officeDocument/2006/relationships/notesMaster" Target="/ppt/notesMasters/notesMaster1.xml" Id="R78f5db7903d84b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313cc88a3c4131" /><Relationship Type="http://schemas.openxmlformats.org/officeDocument/2006/relationships/notesMaster" Target="/ppt/notesMasters/notesMaster1.xml" Id="Rd4381e3044ce4c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b8b0517d374984" /><Relationship Type="http://schemas.openxmlformats.org/officeDocument/2006/relationships/notesMaster" Target="/ppt/notesMasters/notesMaster1.xml" Id="R8b41d09b24b0486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776afed69fe4464" /><Relationship Type="http://schemas.openxmlformats.org/officeDocument/2006/relationships/notesMaster" Target="/ppt/notesMasters/notesMaster1.xml" Id="R215fcd83012a4ca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fdc6fa40d254f4c" /><Relationship Type="http://schemas.openxmlformats.org/officeDocument/2006/relationships/notesMaster" Target="/ppt/notesMasters/notesMaster1.xml" Id="Rbc9395de5bfa4eb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e55d0a3eca43ec" /><Relationship Type="http://schemas.openxmlformats.org/officeDocument/2006/relationships/notesMaster" Target="/ppt/notesMasters/notesMaster1.xml" Id="Ra7cceafbc1f34e2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895620ecc954d01" /><Relationship Type="http://schemas.openxmlformats.org/officeDocument/2006/relationships/notesMaster" Target="/ppt/notesMasters/notesMaster1.xml" Id="Ra9e73beb9ae443c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c7112ff338746e8" /><Relationship Type="http://schemas.openxmlformats.org/officeDocument/2006/relationships/notesMaster" Target="/ppt/notesMasters/notesMaster1.xml" Id="Ra7dd0d8c406b43f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0901c8543d0453a" /><Relationship Type="http://schemas.openxmlformats.org/officeDocument/2006/relationships/notesMaster" Target="/ppt/notesMasters/notesMaster1.xml" Id="R7c2fc3e5081243a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4f7cc3a5bab42df" /><Relationship Type="http://schemas.openxmlformats.org/officeDocument/2006/relationships/notesMaster" Target="/ppt/notesMasters/notesMaster1.xml" Id="Rbede092e0473442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344c26af8644308" /><Relationship Type="http://schemas.openxmlformats.org/officeDocument/2006/relationships/notesMaster" Target="/ppt/notesMasters/notesMaster1.xml" Id="R3485f3df83f4467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bfeeedef385461f" /><Relationship Type="http://schemas.openxmlformats.org/officeDocument/2006/relationships/notesMaster" Target="/ppt/notesMasters/notesMaster1.xml" Id="R173f243c7eb8430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bfb3fbc01d4a56" /><Relationship Type="http://schemas.openxmlformats.org/officeDocument/2006/relationships/notesMaster" Target="/ppt/notesMasters/notesMaster1.xml" Id="Recf655a41519420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142776fe5824289" /><Relationship Type="http://schemas.openxmlformats.org/officeDocument/2006/relationships/notesMaster" Target="/ppt/notesMasters/notesMaster1.xml" Id="R51ab72ae0cdc4b3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9c2515ece08406f" /><Relationship Type="http://schemas.openxmlformats.org/officeDocument/2006/relationships/notesMaster" Target="/ppt/notesMasters/notesMaster1.xml" Id="R4d614d4f45ec42a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4ffd17fe6b145ab" /><Relationship Type="http://schemas.openxmlformats.org/officeDocument/2006/relationships/notesMaster" Target="/ppt/notesMasters/notesMaster1.xml" Id="R2bf388bb11df43d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b657847b5494f96" /><Relationship Type="http://schemas.openxmlformats.org/officeDocument/2006/relationships/notesMaster" Target="/ppt/notesMasters/notesMaster1.xml" Id="Rb9734b2cf7824df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1e7b7cd320b422f" /><Relationship Type="http://schemas.openxmlformats.org/officeDocument/2006/relationships/notesMaster" Target="/ppt/notesMasters/notesMaster1.xml" Id="R024dc14a088c4a5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ce29970023f4385" /><Relationship Type="http://schemas.openxmlformats.org/officeDocument/2006/relationships/notesMaster" Target="/ppt/notesMasters/notesMaster1.xml" Id="Rf8230d5e7cd84db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36e64d7eac04af1" /><Relationship Type="http://schemas.openxmlformats.org/officeDocument/2006/relationships/notesMaster" Target="/ppt/notesMasters/notesMaster1.xml" Id="R96b192db118e472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19d7ad76500410d" /><Relationship Type="http://schemas.openxmlformats.org/officeDocument/2006/relationships/notesMaster" Target="/ppt/notesMasters/notesMaster1.xml" Id="R4d9572e8adcb447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52b1ed368c4420b" /><Relationship Type="http://schemas.openxmlformats.org/officeDocument/2006/relationships/notesMaster" Target="/ppt/notesMasters/notesMaster1.xml" Id="Ra2a9eb915b2f4c7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e5d0baa204d497a" /><Relationship Type="http://schemas.openxmlformats.org/officeDocument/2006/relationships/notesMaster" Target="/ppt/notesMasters/notesMaster1.xml" Id="Rc311b6795d2a4de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48c5004fdd248f0" /><Relationship Type="http://schemas.openxmlformats.org/officeDocument/2006/relationships/notesMaster" Target="/ppt/notesMasters/notesMaster1.xml" Id="R3103969993f2450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2cbcbd3fee54c52" /><Relationship Type="http://schemas.openxmlformats.org/officeDocument/2006/relationships/notesMaster" Target="/ppt/notesMasters/notesMaster1.xml" Id="R190847cf41e74b1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f6f3ae28279466b" /><Relationship Type="http://schemas.openxmlformats.org/officeDocument/2006/relationships/notesMaster" Target="/ppt/notesMasters/notesMaster1.xml" Id="R89943807a9234a9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2615c1ecbc04b08" /><Relationship Type="http://schemas.openxmlformats.org/officeDocument/2006/relationships/notesMaster" Target="/ppt/notesMasters/notesMaster1.xml" Id="R58149f76ef664d0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507209a57924608" /><Relationship Type="http://schemas.openxmlformats.org/officeDocument/2006/relationships/notesMaster" Target="/ppt/notesMasters/notesMaster1.xml" Id="Ra27003a64e48476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e4f96341adf456b" /><Relationship Type="http://schemas.openxmlformats.org/officeDocument/2006/relationships/notesMaster" Target="/ppt/notesMasters/notesMaster1.xml" Id="Re2db3ee56bdd423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80904c39d3744cb" /><Relationship Type="http://schemas.openxmlformats.org/officeDocument/2006/relationships/notesMaster" Target="/ppt/notesMasters/notesMaster1.xml" Id="Re7976934671047f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c43f2c67302408f" /><Relationship Type="http://schemas.openxmlformats.org/officeDocument/2006/relationships/notesMaster" Target="/ppt/notesMasters/notesMaster1.xml" Id="R8ecd34a699e3478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b30f52708574d6f" /><Relationship Type="http://schemas.openxmlformats.org/officeDocument/2006/relationships/notesMaster" Target="/ppt/notesMasters/notesMaster1.xml" Id="R4570c6c617544655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dba620709d24cae" /><Relationship Type="http://schemas.openxmlformats.org/officeDocument/2006/relationships/notesMaster" Target="/ppt/notesMasters/notesMaster1.xml" Id="R5a0d0fe1d77841c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632628e1ec44e9f" /><Relationship Type="http://schemas.openxmlformats.org/officeDocument/2006/relationships/notesMaster" Target="/ppt/notesMasters/notesMaster1.xml" Id="Rf11964765f1f459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09f3befa50b4b71" /><Relationship Type="http://schemas.openxmlformats.org/officeDocument/2006/relationships/notesMaster" Target="/ppt/notesMasters/notesMaster1.xml" Id="R82629b1d00934e2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2e8544866d04b4e" /><Relationship Type="http://schemas.openxmlformats.org/officeDocument/2006/relationships/notesMaster" Target="/ppt/notesMasters/notesMaster1.xml" Id="R0c45b4ab2d9f47ed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f31d01efe5445d3" /><Relationship Type="http://schemas.openxmlformats.org/officeDocument/2006/relationships/notesMaster" Target="/ppt/notesMasters/notesMaster1.xml" Id="R73f938ab163c4a4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b9c62a764ae4b82" /><Relationship Type="http://schemas.openxmlformats.org/officeDocument/2006/relationships/notesMaster" Target="/ppt/notesMasters/notesMaster1.xml" Id="Rfe8ec079ddf3414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a2bbd7ff3c5141c2" /><Relationship Type="http://schemas.openxmlformats.org/officeDocument/2006/relationships/notesMaster" Target="/ppt/notesMasters/notesMaster1.xml" Id="Rc6c95bd5a9be4941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5c4e46086464ff9" /><Relationship Type="http://schemas.openxmlformats.org/officeDocument/2006/relationships/notesMaster" Target="/ppt/notesMasters/notesMaster1.xml" Id="Rf1d76a5025c64ba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860631cb3a9943c0" /><Relationship Type="http://schemas.openxmlformats.org/officeDocument/2006/relationships/notesMaster" Target="/ppt/notesMasters/notesMaster1.xml" Id="R386c266577f2498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ef2592065b540ff" /><Relationship Type="http://schemas.openxmlformats.org/officeDocument/2006/relationships/notesMaster" Target="/ppt/notesMasters/notesMaster1.xml" Id="Ra9e087093c5a4632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bfbfba67b974e20" /><Relationship Type="http://schemas.openxmlformats.org/officeDocument/2006/relationships/notesMaster" Target="/ppt/notesMasters/notesMaster1.xml" Id="R3969f2e4bf9240f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cf51ac7442f44111" /><Relationship Type="http://schemas.openxmlformats.org/officeDocument/2006/relationships/notesMaster" Target="/ppt/notesMasters/notesMaster1.xml" Id="Re962447c05e142a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8f283d6359314268" /><Relationship Type="http://schemas.openxmlformats.org/officeDocument/2006/relationships/notesMaster" Target="/ppt/notesMasters/notesMaster1.xml" Id="R5dac781c192b4d5f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aebd0ba53c4458f" /><Relationship Type="http://schemas.openxmlformats.org/officeDocument/2006/relationships/notesMaster" Target="/ppt/notesMasters/notesMaster1.xml" Id="R2a849fe8cd89421b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687648ce4e10494d" /><Relationship Type="http://schemas.openxmlformats.org/officeDocument/2006/relationships/notesMaster" Target="/ppt/notesMasters/notesMaster1.xml" Id="R0e8fce0b4ba941a9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c2ddcb45abfa4ae6" /><Relationship Type="http://schemas.openxmlformats.org/officeDocument/2006/relationships/notesMaster" Target="/ppt/notesMasters/notesMaster1.xml" Id="R3fc3ec6fec58444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f67ee5140cac40d8" /><Relationship Type="http://schemas.openxmlformats.org/officeDocument/2006/relationships/notesMaster" Target="/ppt/notesMasters/notesMaster1.xml" Id="R44049b7a024f489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f3ceba3905db48ac" /><Relationship Type="http://schemas.openxmlformats.org/officeDocument/2006/relationships/notesMaster" Target="/ppt/notesMasters/notesMaster1.xml" Id="Rbc85ad78a3c84f5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69779755d8f243ba" /><Relationship Type="http://schemas.openxmlformats.org/officeDocument/2006/relationships/notesMaster" Target="/ppt/notesMasters/notesMaster1.xml" Id="R76a715d2f2704f1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5ccce885df9d4aab" /><Relationship Type="http://schemas.openxmlformats.org/officeDocument/2006/relationships/notesMaster" Target="/ppt/notesMasters/notesMaster1.xml" Id="Rd9501ad13ce244a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0936a444cc1d45f1" /><Relationship Type="http://schemas.openxmlformats.org/officeDocument/2006/relationships/notesMaster" Target="/ppt/notesMasters/notesMaster1.xml" Id="R12b00dea1ca74e61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04aeed6487c24d7d" /><Relationship Type="http://schemas.openxmlformats.org/officeDocument/2006/relationships/notesMaster" Target="/ppt/notesMasters/notesMaster1.xml" Id="R36544e3d38f24f1d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511b3bbd6cc5455e" /><Relationship Type="http://schemas.openxmlformats.org/officeDocument/2006/relationships/notesMaster" Target="/ppt/notesMasters/notesMaster1.xml" Id="R0e8232f6d02546e5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3b047d449fa74fd3" /><Relationship Type="http://schemas.openxmlformats.org/officeDocument/2006/relationships/notesMaster" Target="/ppt/notesMasters/notesMaster1.xml" Id="Rf000976c67da4255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4931afa798fe446d" /><Relationship Type="http://schemas.openxmlformats.org/officeDocument/2006/relationships/notesMaster" Target="/ppt/notesMasters/notesMaster1.xml" Id="Re4c7475ff3514f26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6eaeef9c0bf9499a" /><Relationship Type="http://schemas.openxmlformats.org/officeDocument/2006/relationships/notesMaster" Target="/ppt/notesMasters/notesMaster1.xml" Id="R6f80b7122e824528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5a08893bae5a44da" /><Relationship Type="http://schemas.openxmlformats.org/officeDocument/2006/relationships/notesMaster" Target="/ppt/notesMasters/notesMaster1.xml" Id="Rb926e3bcb55448ed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c99375d581ef4ba6" /><Relationship Type="http://schemas.openxmlformats.org/officeDocument/2006/relationships/notesMaster" Target="/ppt/notesMasters/notesMaster1.xml" Id="R52592cb039514b0c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8ee5e44ee0cd41e7" /><Relationship Type="http://schemas.openxmlformats.org/officeDocument/2006/relationships/notesMaster" Target="/ppt/notesMasters/notesMaster1.xml" Id="Rebaac6e7ce6040e0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c16fa8240d194598" /><Relationship Type="http://schemas.openxmlformats.org/officeDocument/2006/relationships/notesMaster" Target="/ppt/notesMasters/notesMaster1.xml" Id="R7f5108a868324179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ff3fc73693234f08" /><Relationship Type="http://schemas.openxmlformats.org/officeDocument/2006/relationships/notesMaster" Target="/ppt/notesMasters/notesMaster1.xml" Id="Rb2934e3d6d424e14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0e5fdda89fa146a0" /><Relationship Type="http://schemas.openxmlformats.org/officeDocument/2006/relationships/notesMaster" Target="/ppt/notesMasters/notesMaster1.xml" Id="Rd24d81d58bb640fb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60b07b3c584a4e15" /><Relationship Type="http://schemas.openxmlformats.org/officeDocument/2006/relationships/notesMaster" Target="/ppt/notesMasters/notesMaster1.xml" Id="R220cd92883be4752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948198816bd54cc0" /><Relationship Type="http://schemas.openxmlformats.org/officeDocument/2006/relationships/notesMaster" Target="/ppt/notesMasters/notesMaster1.xml" Id="R6c00ed2856c14465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457b7d56effb4aa8" /><Relationship Type="http://schemas.openxmlformats.org/officeDocument/2006/relationships/notesMaster" Target="/ppt/notesMasters/notesMaster1.xml" Id="R7a48ad16e08f4001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17600a488bb94184" /><Relationship Type="http://schemas.openxmlformats.org/officeDocument/2006/relationships/notesMaster" Target="/ppt/notesMasters/notesMaster1.xml" Id="R7b8ce018551e4263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ee4ff6195d1a4aa2" /><Relationship Type="http://schemas.openxmlformats.org/officeDocument/2006/relationships/notesMaster" Target="/ppt/notesMasters/notesMaster1.xml" Id="R75ecd045c7ae4a2f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8c2ebb97bb2d4020" /><Relationship Type="http://schemas.openxmlformats.org/officeDocument/2006/relationships/notesMaster" Target="/ppt/notesMasters/notesMaster1.xml" Id="R3d902b1ebba54851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0c8d7b7bb8ae4642" /><Relationship Type="http://schemas.openxmlformats.org/officeDocument/2006/relationships/notesMaster" Target="/ppt/notesMasters/notesMaster1.xml" Id="R4e7d256ac00146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Eröffnung: Performance wird als messbares Systemverhalten behandelt. Autor: Gerhard Pisch. Der Foliensatz ist firmenneutral und verwendet ausschließlich synthetische Beispiele.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Schulung vermittelt kein Universalrezept. Eine Maßnahme ist erst belastbar, wenn ihre Wirkung unter vergleichbaren Bedingungen gemessen wurde.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Empirisch zu bestimmen sind mindestens Antwortzeit und Ressourcenverbrauch. Eine Verbesserung darf die Systemkapazität oder andere Sessions nicht unbeachtet verschlechtern.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Dieser Ablauf ist der rote Faden des gesamten Decks. Änderungen ohne Hypothese und identische Vergleichsmessung erzeugen keine belastbare Evidenz.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Query Store speichert Query-, Plan-, Runtime- und Wait-Statistiken; DMVs sind je Objekt unterschiedlich kumulativ oder aktuell. Quelle: https://learn.microsoft.com/en-us/sql/relational-databases/performance/monitoring-performance-by-using-the-query-store?view=sql-server-ver17 | https://learn.microsoft.com/en-us/sql/relational-databases/performance/performance-monitoring-and-tuning-tools?view=sql-server-ver17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Compatibility Level beeinflusst T-SQL- und Optimizerverhalten der Datenbank; Engine-Features können zusätzliche Voraussetzungen besitzen. Quellen: https://learn.microsoft.com/en-us/sql/relational-databases/performance/intelligent-query-processing?view=sql-server-ver17 | https://learn.microsoft.com/en-us/sql/sql-server/what-s-new-in-sql-server-2025?view=sql-server-ver17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Sprecherhinweis: Kernaussage anhand der sichtbaren Folie herleiten.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Logfiles arbeiten sequenziell innerhalb des aktiven VLF-Bereichs. Zusätzliche Logfiles erhöhen nicht automatisch den Logdurchsatz.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Korrektur gegenüber dem Altbestand: Tabellen in getrennte Filegroups zu legen garantiert keinen parallelen I/O. Physische Topologie und Workload müssen gemessen werden.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Eine Page ist die fundamentale I/O- und Speichereinheit; acht zusammenhängende Pages bilden ein 64-KiB-Extent. Quelle: https://learn.microsoft.com/en-us/sql/relational-databases/pages-and-extents-architecture-guide?view=sql-server-ver17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Darstellung ist vereinfacht und zeigt Status Bits, Fixed-Length-Anteil, NULL Bitmap, Variable-Length-Metadaten und variable Daten. Quelle: https://learn.microsoft.com/en-us/sql/relational-databases/pages-and-extents-architecture-guide?view=sql-server-ver17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Empirisch: Die konkrete Rows-per-Page-Zahl ist vom Schema abhängig. Die Folie vermittelt die Kausalität, keinen universellen Faktor.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Allocation Units werden je Partition und Speichertyp geführt. Quelle: https://learn.microsoft.com/en-us/sql/relational-databases/pages-and-extents-architecture-guide?view=sql-server-ver17 | https://learn.microsoft.com/en-us/sql/relational-databases/sql-server-index-design-guide?view=sql-server-ver17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Logical Reads zählen Page-Zugriffe aus dem Buffer Pool. Physical Reads treten auf, wenn benötigte Pages nicht im Cache verfügbar sind. Read-ahead kann Pages vorab laden.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Für Vorher-Nachher-Vergleiche sind identische Cache- und Warm-up-Bedingungen erforderlich.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Bei vollständig dauerhaften Transaktionen muss der relevante Logbereich vor der Commit-Bestätigung gehärtet sein. Delayed Durability ist eine gesonderte Trade-off-Entscheidung.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Instant File Initialization gilt für Data Files, nicht für das Transaction Log. Prozentuelles Wachstum erschwert vorhersehbare Growth-Schritte.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Transfer: Der Plan beschreibt den Zugriffspfad, aber nicht allein den momentanen Zustand von Cache, Storage und Konkurrenz.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Sprecherhinweis: Kernaussage anhand der sichtbaren Folie herleiten.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Der Query Processor kompiliert, optimiert und führt Statements aus; Plan Cache und Parametrisierung beeinflussen Wiederverwendung. Quelle: https://learn.microsoft.com/en-us/sql/relational-databases/query-processing-architecture-guide?view=sql-server-ver17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Query Optimization ist kostenbasiert und time-bounded. Quelle: https://learn.microsoft.com/en-us/sql/relational-databases/query-processing-architecture-guide?view=sql-server-ver17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CE nutzt primär Statistiken, zusätzlich Constraints, logische Umschreibungen und Modellannahmen. Quellen: https://learn.microsoft.com/en-us/sql/relational-databases/performance/cardinality-estimation-sql-server?view=sql-server-ver17 | https://learn.microsoft.com/en-us/sql/relational-databases/statistics/statistics?view=sql-server-ver17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Das Histogramm umfasst höchstens 200 Schritte und bezieht sich auf die führende Statistikspalte. Quelle: https://learn.microsoft.com/en-us/sql/relational-databases/statistics/statistics?view=sql-server-ver17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https://learn.microsoft.com/en-us/sql/relational-databases/statistics/statistics?view=sql-server-ver17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Constraints müssen vertrauenswürdig sein, damit sie als Optimizerinformation dienen. Nicht validierte Constraints sind gesondert zu prüfen.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Execution Plans verursachen Erfassungsaufwand. Bei produktionsweiter Erfassung sind Lightweight Profiling, Query Store oder gezielte XE-Pfade zu bevorzugen.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Graphische Pläne werden häufig rechts nach links gelesen; entscheidend sind jedoch Datenfluss, Ausführungsanzahl, Actual Rows, Predicates, Warnings und Memory Grant.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Kein Join ist allgemein überlegen. Kardinalität, Sortierung, Zugriffspfad und Memory bestimmen die Wahl.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Sorts und Hashes benötigen Query Workspace Memory. Zu kleine Grants erzeugen Spills; zu große Grants reduzieren verfügbare Concurrency.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Memory Grant Feedback kann wiederholte Ausführungen anpassen, ersetzt aber keine Ursachenanalyse.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Ein paralleler Plan verwendet Exchanges, Tasks und Workers auf Schedulern. Skew kann einzelne Worker dominieren; DOP ist kein Maß für tatsächlich gleichmäßige Arbeit.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Plan Caching und Wiederverwendung sind Teil der Query Processing Architecture. Quelle: https://learn.microsoft.com/en-us/sql/relational-databases/query-processing-architecture-guide?view=sql-server-ver17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Parameter Sniffing beschreibt das Verwenden eines Compile-time-Parameterwerts. Das Verhalten ist nützlich, solange eine Planstrategie für die Wertbereiche tragfähig bleibt.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IQP-Features sind an Version, Compatibility Level und teilweise Query Store gebunden. Quelle: https://learn.microsoft.com/en-us/sql/relational-databases/performance/intelligent-query-processing?view=sql-server-ver17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Keine vorschnelle Maßnahme wie MAXDOP, Server-RAM oder Index Rebuild. Zuerst die Evidenzkette der betroffenen Ausführung aufbauen.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Sprecherhinweis: Kernaussage anhand der sichtbaren Folie herleiten.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SARGable bedeutet, dass ein Prädikat als Suchargument für einen Zugriffspfad verwendbar ist. Es garantiert weder einen Seek noch einen guten Gesamtplan.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Richtung und Datentyp-Priorität bestimmen die Wirkung. Der Actual Plan kann PlanAffectingConvert-Warnings zeigen.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obere Grenze ist exklusiv. Zeitzone und UTC-Konvertierung sind ein getrenntes Modellierungsthema.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OPPO nutzt die Multiplan-Infrastruktur und ist ab SQL Server 2025 mit Compatibility Level 170 verfügbar. Quelle: https://learn.microsoft.com/en-us/sql/relational-databases/performance/intelligent-query-processing?view=sql-server-ver17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Korrektur des Altbestands: Weder 'immer hineinkopiert' noch 'ab 2022 materialisiert' ist ein belastbarer Vertrag.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Table Variable Deferred Compilation verwendet bei der ersten Compilation die tatsächliche Kardinalität, erzeugt aber keine Histogrammstatistiken. Quelle: https://learn.microsoft.com/en-us/sql/relational-databases/performance/intelligent-query-processing?view=sql-server-ver17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Scalar UDF Inlining ist ab SQL Server 2019 / CL 150 verfügbar, unterliegt jedoch Eligibility-Regeln. Quelle: https://learn.microsoft.com/en-us/sql/relational-databases/performance/intelligent-query-processing?view=sql-server-ver17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Korrektur des Altbestands: Partitionen werden nicht fest einzelnen Threads zugeordnet. Ein paralleler Plan kann Tasks anders verteilen.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Linked Server und externe Quellen sind provider- und versionsabhängig. SQL Server 2025 enthält zusätzlich Breaking Changes bei Linked Servers; Upgradehinweise prüfen.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Klein bedeutet fachlich korrekt, nicht blind minimal. Wertebereich, Präzision, Unicode und zukünftige Entwicklung bleiben Teil der Entscheidung.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SARGability erweitert den Suchraum. Die Kostenentscheidung kann weiterhin einen Scan bevorzugen.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Sprecherhinweis: Kernaussage anhand der sichtbaren Folie herleiten.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Heap und Clustered Index sind alternative Base-Table-Strukturen. Quelle: https://learn.microsoft.com/en-us/sql/relational-databases/sql-server-index-design-guide?view=sql-server-ver17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Jede Partition besitzt eine eigene B+Tree-Struktur. Leaf Pages sind doppelt verkettet. Quelle: https://learn.microsoft.com/en-us/sql/relational-databases/sql-server-index-design-guide?view=sql-server-ver17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Auf Heaps ist der Locator ein RID; auf Clustered Tables der Clustering Key einschließlich Uniqueifier, wenn erforderlich. Quelle: https://learn.microsoft.com/en-us/sql/relational-databases/sql-server-index-design-guide?view=sql-server-ver17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verbreitete Regel 'selektivste Spalte zuerst' ist unvollständig. Prädikatform und benötigte Ordnung sind mindestens ebenso wichtig.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https://learn.microsoft.com/en-us/sql/relational-databases/sql-server-index-design-guide?view=sql-server-ver17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 Tipping Point ist keine feste Zeilenzahl. Er hängt von Page-Anzahl, Row Width, Cache, Kostenmodell, Lookup-Art und benötigten Spalten ab.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Der Uniqueifier wird intern bei nicht eindeutigen Clustered Keys hinzugefügt, wenn erforderlich. Quelle: https://learn.microsoft.com/en-us/sql/relational-databases/sql-server-index-design-guide?view=sql-server-ver17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Missing-Index-DMVs berücksichtigen unter anderem keine vollständige Überschneidung, DML-Kosten oder dauerhafte Workloadpriorität.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Microsoft empfiehlt, Maintenance an messbaren Workloadfolgen auszurichten; feste Fragmentationsschwellen sind keine universelle Regel. Quelle: https://learn.microsoft.com/en-us/sql/relational-databases/indexes/reorganize-and-rebuild-indexes?view=sql-server-ver17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REORGANIZE ist weniger ressourcenintensiv und online; REBUILD und REORGANIZE haben unterschiedliche Wirkung. Quelle: https://learn.microsoft.com/en-us/sql/relational-databases/indexes/reorganize-and-rebuild-indexes?view=sql-server-ver17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Ein Rowgroup enthält pro Spalte ein Column Segment; Segmentmetadaten erlauben Elimination. Quelle: https://learn.microsoft.com/en-us/sql/relational-databases/indexes/columnstore-indexes-overview?view=sql-server-ver17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Segment Elimination nutzt Segmentmetadaten; Batch Mode verarbeitet Rows gruppiert. Quelle: https://learn.microsoft.com/en-us/sql/relational-databases/indexes/columnstore-indexes-query-performance?view=sql-server-ver17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Pauschale regelmäßige Rebuilds werden vermieden. Zuerst Rowgroup State, Größe, Deleted Rows, Overlap und konkrete Querywirkung prüfen.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Antwort ist eine Workloadrechnung, keine isolierte Missing-Index-Zeile.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Sprecherhinweis: Kernaussage anhand der sichtbaren Folie herleiten.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Locking und Row Versioning sind alternative Mechanismen zur Isolation. Quelle: https://learn.microsoft.com/en-us/sql/relational-databases/sql-server-transaction-locking-and-row-versioning-guide?view=sql-server-ver17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https://learn.microsoft.com/en-us/sql/relational-databases/sql-server-transaction-locking-and-row-versioning-guide?view=sql-server-ver17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Nicht nur die längste wartende Session betrachten. Head Blocker, offene Transaktion, Wait Resource, Statement, Isolation und Clientstatus gemeinsam erfassen.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https://learn.microsoft.com/en-us/sql/relational-databases/sql-server-transaction-locking-and-row-versioning-guide?view=sql-server-ver17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TempDB-Diagnose trennt Kapazität, Dateilatenz, Allocation-Latches, Version Store und Query-Spills.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Optimized Locking besteht aus TID Locking und LAQ; SQL Server 2025 aktiviert es nicht standardmäßig. Quelle: https://learn.microsoft.com/en-us/sql/relational-databases/performance/optimized-locking?view=sql-server-ver17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NOLOCK ist keine Standardantwort. Die korrekte Lösung hängt von Konsistenzanforderung und tatsächlicher Blocking-Ursache ab.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Sprecherhinweis: Kernaussage anhand der sichtbaren Folie herleiten.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Bei parallelen Queries kann CPU Time größer als Elapsed Time sein. Wait-Zeiten verschiedener Tasks können parallel auftreten.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Instanzweite kumulative Wait Stats werden als Delta eines definierten Fensters interpretiert. Startzeit, Reset und Hintergrundwaits sind zu dokumentieren.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Memory Grant DMVs und Planattribute müssen zeitgleich erfasst werden, da wartende und laufende Grants schnell wechseln.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Wait-Namen sind Ausgangspunkt, nicht Diagnoseabschluss. Bedeutung entsteht aus Scope, Dauer, Resource Description und Workloadkontext.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Query Store speichert Query-, Plan-, Runtime- und Wait-Stores. Ab SQL Server 2022 ist Query Store für neue Datenbanken standardmäßig READ_WRITE. Quelle: https://learn.microsoft.com/en-us/sql/relational-databases/performance/monitoring-performance-by-using-the-query-store?view=sql-server-ver17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Dokumentiert: Extended Events ist das bevorzugte leichtgewichtige Ereignissystem; DMVs liefern ausführungs- und systembezogene Zustände. Quelle: https://learn.microsoft.com/en-us/sql/relational-databases/performance/performance-monitoring-and-tuning-tools?view=sql-server-ver17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 Ablauf verhindert lokales Tuning an einer Query, wenn der Engpass außerhalb der Query oder in Concurrency liegt.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Empirische Werte werden nicht als universelle Schwellenwerte veröffentlicht. Ergebnisbereiche und Abbruchbedingungen gehören zur Demo.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Diagnose folgt der fehlenden Zeit. Erst danach wird der Plan auf den passenden Ursachenpfad untersucht.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Prinzipien sind die verdichtete Arbeitsmethode des Decks.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Aufgabe kann auf eine reale, aber nicht in den Foliensatz übernommene Umgebung angewendet werden. Resultate bleiben lokal und werden nicht versioniert.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Quellenregister: https://learn.microsoft.com/en-us/sql/relational-databases/pages-and-extents-architecture-guide?view=sql-server-ver17 | https://learn.microsoft.com/en-us/sql/relational-databases/query-processing-architecture-guide?view=sql-server-ver17 | https://learn.microsoft.com/en-us/sql/relational-databases/statistics/statistics?view=sql-server-ver17 | https://learn.microsoft.com/en-us/sql/relational-databases/performance/cardinality-estimation-sql-server?view=sql-server-ver17 | https://learn.microsoft.com/en-us/sql/relational-databases/performance/intelligent-query-processing?view=sql-server-ver17 | https://learn.microsoft.com/en-us/sql/relational-databases/sql-server-index-design-guide?view=sql-server-ver17 | https://learn.microsoft.com/en-us/sql/relational-databases/indexes/columnstore-indexes-overview?view=sql-server-ver17 | https://learn.microsoft.com/en-us/sql/relational-databases/sql-server-transaction-locking-and-row-versioning-guide?view=sql-server-ver17 | https://learn.microsoft.com/en-us/sql/relational-databases/performance/monitoring-performance-by-using-the-query-store?view=sql-server-ver17 | https://learn.microsoft.com/en-us/sql/relational-databases/performance/performance-monitoring-and-tuning-tools?view=sql-server-ver17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Abschluss ohne Kontakt-, Firmen- oder Organisationsangaben.</a:t>
            </a:r>
          </a:p>
          <a:p xmlns:a="http://schemas.openxmlformats.org/drawingml/2006/main">
            <a:r>
              <a:t>Kennzeichnung: Dokumentierte Aussagen beruhen auf Microsoft-Learn-Primärdokumentation. Empirische Werte sind als solche zu messen und nicht als universelle Schwelle zu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86be3c70448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e6fcb4bbf1474d" /><Relationship Type="http://schemas.openxmlformats.org/officeDocument/2006/relationships/slideLayout" Target="/ppt/slideLayouts/slideLayout1.xml" Id="R1c938ab4f07642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938ab4f07642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4b8f47e20743ba" /><Relationship Type="http://schemas.openxmlformats.org/officeDocument/2006/relationships/notesSlide" Target="/ppt/notesSlides/notesSlide1.xml" Id="Rb721ac84b08247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fd4009ab14399" /><Relationship Type="http://schemas.openxmlformats.org/officeDocument/2006/relationships/notesSlide" Target="/ppt/notesSlides/notesSlide2.xml" Id="R68371d6d39cd43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0a1f6ef3a4c3b" /><Relationship Type="http://schemas.openxmlformats.org/officeDocument/2006/relationships/notesSlide" Target="/ppt/notesSlides/notesSlide3.xml" Id="Rbb80c2cfbdda44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1d167c3fc4ff3" /><Relationship Type="http://schemas.openxmlformats.org/officeDocument/2006/relationships/notesSlide" Target="/ppt/notesSlides/notesSlide4.xml" Id="R431f3680efea41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efb5b06594786" /><Relationship Type="http://schemas.openxmlformats.org/officeDocument/2006/relationships/notesSlide" Target="/ppt/notesSlides/notesSlide5.xml" Id="Rdb3547d452ef44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03ed290f848e6" /><Relationship Type="http://schemas.openxmlformats.org/officeDocument/2006/relationships/notesSlide" Target="/ppt/notesSlides/notesSlide6.xml" Id="Rfc110994188e4e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391f7c5ea49b9" /><Relationship Type="http://schemas.openxmlformats.org/officeDocument/2006/relationships/notesSlide" Target="/ppt/notesSlides/notesSlide7.xml" Id="R8386aed5a98f43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22ff5b4ae4eaf" /><Relationship Type="http://schemas.openxmlformats.org/officeDocument/2006/relationships/notesSlide" Target="/ppt/notesSlides/notesSlide8.xml" Id="R8f3c106d99ba4a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8b0f40c9d4f60" /><Relationship Type="http://schemas.openxmlformats.org/officeDocument/2006/relationships/notesSlide" Target="/ppt/notesSlides/notesSlide9.xml" Id="Rc01de7b45f6a4d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2b3b25730498d" /><Relationship Type="http://schemas.openxmlformats.org/officeDocument/2006/relationships/notesSlide" Target="/ppt/notesSlides/notesSlide10.xml" Id="Rfc97a55235d4464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2af2e0db54786" /><Relationship Type="http://schemas.openxmlformats.org/officeDocument/2006/relationships/notesSlide" Target="/ppt/notesSlides/notesSlide11.xml" Id="R17325d73ea5c40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0935add964293" /><Relationship Type="http://schemas.openxmlformats.org/officeDocument/2006/relationships/notesSlide" Target="/ppt/notesSlides/notesSlide12.xml" Id="R1d50d3aff11c40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7b86ebf144279" /><Relationship Type="http://schemas.openxmlformats.org/officeDocument/2006/relationships/notesSlide" Target="/ppt/notesSlides/notesSlide13.xml" Id="R2b9f598d29284f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439346a2e4f17" /><Relationship Type="http://schemas.openxmlformats.org/officeDocument/2006/relationships/notesSlide" Target="/ppt/notesSlides/notesSlide14.xml" Id="R302e3ddb719749f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0d7b477084d9f" /><Relationship Type="http://schemas.openxmlformats.org/officeDocument/2006/relationships/notesSlide" Target="/ppt/notesSlides/notesSlide15.xml" Id="Rd3d0e3a09c234ef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9b76c065c4dcc" /><Relationship Type="http://schemas.openxmlformats.org/officeDocument/2006/relationships/notesSlide" Target="/ppt/notesSlides/notesSlide16.xml" Id="R44db9a4eab11443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aaa4ba8604a93" /><Relationship Type="http://schemas.openxmlformats.org/officeDocument/2006/relationships/notesSlide" Target="/ppt/notesSlides/notesSlide17.xml" Id="R51a34d22730542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5ca754301461e" /><Relationship Type="http://schemas.openxmlformats.org/officeDocument/2006/relationships/notesSlide" Target="/ppt/notesSlides/notesSlide18.xml" Id="R184772fd87704fc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2f4b458074e73" /><Relationship Type="http://schemas.openxmlformats.org/officeDocument/2006/relationships/notesSlide" Target="/ppt/notesSlides/notesSlide19.xml" Id="Re4f1b9014074479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37889c07342be" /><Relationship Type="http://schemas.openxmlformats.org/officeDocument/2006/relationships/notesSlide" Target="/ppt/notesSlides/notesSlide20.xml" Id="Rfefdb11e0bf947e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c8d3772dc4c12" /><Relationship Type="http://schemas.openxmlformats.org/officeDocument/2006/relationships/notesSlide" Target="/ppt/notesSlides/notesSlide21.xml" Id="Ra34858c99240420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1ab09b3c64446" /><Relationship Type="http://schemas.openxmlformats.org/officeDocument/2006/relationships/notesSlide" Target="/ppt/notesSlides/notesSlide22.xml" Id="Rde819b372ec3420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051822c984a90" /><Relationship Type="http://schemas.openxmlformats.org/officeDocument/2006/relationships/notesSlide" Target="/ppt/notesSlides/notesSlide23.xml" Id="Re0f7e04213124a0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4cd5dec7d4022" /><Relationship Type="http://schemas.openxmlformats.org/officeDocument/2006/relationships/notesSlide" Target="/ppt/notesSlides/notesSlide24.xml" Id="R14960b66d589495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7c10710fb4685" /><Relationship Type="http://schemas.openxmlformats.org/officeDocument/2006/relationships/notesSlide" Target="/ppt/notesSlides/notesSlide25.xml" Id="R147fdec9f0e64d1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e1256e0d64cef" /><Relationship Type="http://schemas.openxmlformats.org/officeDocument/2006/relationships/notesSlide" Target="/ppt/notesSlides/notesSlide26.xml" Id="R83d94249d12b462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e3ec6f28a4bc0" /><Relationship Type="http://schemas.openxmlformats.org/officeDocument/2006/relationships/notesSlide" Target="/ppt/notesSlides/notesSlide27.xml" Id="R8a96205eff7f4d6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b7bda8ff24a7f" /><Relationship Type="http://schemas.openxmlformats.org/officeDocument/2006/relationships/notesSlide" Target="/ppt/notesSlides/notesSlide28.xml" Id="R3cd4572a16d94dc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9a2a2d10145da" /><Relationship Type="http://schemas.openxmlformats.org/officeDocument/2006/relationships/notesSlide" Target="/ppt/notesSlides/notesSlide29.xml" Id="R9d40c7d22bcb4ea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886e5cb404c44" /><Relationship Type="http://schemas.openxmlformats.org/officeDocument/2006/relationships/notesSlide" Target="/ppt/notesSlides/notesSlide30.xml" Id="Rc68122d82181463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84489db7441a7" /><Relationship Type="http://schemas.openxmlformats.org/officeDocument/2006/relationships/notesSlide" Target="/ppt/notesSlides/notesSlide31.xml" Id="R00c1d700d55d43c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e2e8f23004694" /><Relationship Type="http://schemas.openxmlformats.org/officeDocument/2006/relationships/notesSlide" Target="/ppt/notesSlides/notesSlide32.xml" Id="R634be083d61e484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06591d4dd4c94" /><Relationship Type="http://schemas.openxmlformats.org/officeDocument/2006/relationships/notesSlide" Target="/ppt/notesSlides/notesSlide33.xml" Id="R0d411b15207f494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20f85b4024632" /><Relationship Type="http://schemas.openxmlformats.org/officeDocument/2006/relationships/notesSlide" Target="/ppt/notesSlides/notesSlide34.xml" Id="R89638f28e0a5494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74cd3b1ec4866" /><Relationship Type="http://schemas.openxmlformats.org/officeDocument/2006/relationships/notesSlide" Target="/ppt/notesSlides/notesSlide35.xml" Id="Rec825c5eacfa47b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271452d9d44c1" /><Relationship Type="http://schemas.openxmlformats.org/officeDocument/2006/relationships/notesSlide" Target="/ppt/notesSlides/notesSlide36.xml" Id="R0a801863605844f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6efe3a0bb4594" /><Relationship Type="http://schemas.openxmlformats.org/officeDocument/2006/relationships/notesSlide" Target="/ppt/notesSlides/notesSlide37.xml" Id="R20b5e37858c14fe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78b05e0fe4cfc" /><Relationship Type="http://schemas.openxmlformats.org/officeDocument/2006/relationships/notesSlide" Target="/ppt/notesSlides/notesSlide38.xml" Id="Rfa941f6a1ac540b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19c479fe7450c" /><Relationship Type="http://schemas.openxmlformats.org/officeDocument/2006/relationships/notesSlide" Target="/ppt/notesSlides/notesSlide39.xml" Id="Rf893107be8db410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c8c7e82114ea8" /><Relationship Type="http://schemas.openxmlformats.org/officeDocument/2006/relationships/notesSlide" Target="/ppt/notesSlides/notesSlide40.xml" Id="Rd1e9fb9a2b334b1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00869889c4cb9" /><Relationship Type="http://schemas.openxmlformats.org/officeDocument/2006/relationships/notesSlide" Target="/ppt/notesSlides/notesSlide41.xml" Id="R2323f208b419402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1fed995dc42b6" /><Relationship Type="http://schemas.openxmlformats.org/officeDocument/2006/relationships/notesSlide" Target="/ppt/notesSlides/notesSlide42.xml" Id="Rb421d3eb122b40e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047040e6547d9" /><Relationship Type="http://schemas.openxmlformats.org/officeDocument/2006/relationships/notesSlide" Target="/ppt/notesSlides/notesSlide43.xml" Id="R99739853be6941f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18ee1606142ba" /><Relationship Type="http://schemas.openxmlformats.org/officeDocument/2006/relationships/notesSlide" Target="/ppt/notesSlides/notesSlide44.xml" Id="R2697bc0db9094c7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2122d362c4ad7" /><Relationship Type="http://schemas.openxmlformats.org/officeDocument/2006/relationships/notesSlide" Target="/ppt/notesSlides/notesSlide45.xml" Id="R03b14e09ef8e4d2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c37c8f0224ec7" /><Relationship Type="http://schemas.openxmlformats.org/officeDocument/2006/relationships/notesSlide" Target="/ppt/notesSlides/notesSlide46.xml" Id="Rc47ea82123664cb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cc61d8f5d46a5" /><Relationship Type="http://schemas.openxmlformats.org/officeDocument/2006/relationships/notesSlide" Target="/ppt/notesSlides/notesSlide47.xml" Id="R913cf92d454544d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2c09a3c884df0" /><Relationship Type="http://schemas.openxmlformats.org/officeDocument/2006/relationships/notesSlide" Target="/ppt/notesSlides/notesSlide48.xml" Id="Rc584d8b1880b4ed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e77bb569544dc" /><Relationship Type="http://schemas.openxmlformats.org/officeDocument/2006/relationships/notesSlide" Target="/ppt/notesSlides/notesSlide49.xml" Id="R67e487e39ffa40e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97a8b645f4b87" /><Relationship Type="http://schemas.openxmlformats.org/officeDocument/2006/relationships/notesSlide" Target="/ppt/notesSlides/notesSlide50.xml" Id="Rb77c04d1105140e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f11863372458e" /><Relationship Type="http://schemas.openxmlformats.org/officeDocument/2006/relationships/notesSlide" Target="/ppt/notesSlides/notesSlide51.xml" Id="R05e62b39d6b84c13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30bb120884d6c" /><Relationship Type="http://schemas.openxmlformats.org/officeDocument/2006/relationships/notesSlide" Target="/ppt/notesSlides/notesSlide52.xml" Id="R660ff5ff71df40e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05ff80dd0484a" /><Relationship Type="http://schemas.openxmlformats.org/officeDocument/2006/relationships/notesSlide" Target="/ppt/notesSlides/notesSlide53.xml" Id="R23f392f5054d409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6140c75fc4236" /><Relationship Type="http://schemas.openxmlformats.org/officeDocument/2006/relationships/notesSlide" Target="/ppt/notesSlides/notesSlide54.xml" Id="R98e3ee98f06c4e85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089b1234040d6" /><Relationship Type="http://schemas.openxmlformats.org/officeDocument/2006/relationships/notesSlide" Target="/ppt/notesSlides/notesSlide55.xml" Id="R441f6ea83bbb44df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5e79587a2402a" /><Relationship Type="http://schemas.openxmlformats.org/officeDocument/2006/relationships/notesSlide" Target="/ppt/notesSlides/notesSlide56.xml" Id="R7802d764bc144ab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077a7d5bc4652" /><Relationship Type="http://schemas.openxmlformats.org/officeDocument/2006/relationships/notesSlide" Target="/ppt/notesSlides/notesSlide57.xml" Id="R5385687abdd94ef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2985d121f4da8" /><Relationship Type="http://schemas.openxmlformats.org/officeDocument/2006/relationships/notesSlide" Target="/ppt/notesSlides/notesSlide58.xml" Id="R21041dbd1db04c04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ca8041d554a67" /><Relationship Type="http://schemas.openxmlformats.org/officeDocument/2006/relationships/notesSlide" Target="/ppt/notesSlides/notesSlide59.xml" Id="R9931edb4ada34723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1f87f7e574576" /><Relationship Type="http://schemas.openxmlformats.org/officeDocument/2006/relationships/notesSlide" Target="/ppt/notesSlides/notesSlide60.xml" Id="Ra8878b48f5ff453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5fe60f0a84a21" /><Relationship Type="http://schemas.openxmlformats.org/officeDocument/2006/relationships/notesSlide" Target="/ppt/notesSlides/notesSlide61.xml" Id="Re1f56a4e4c164f37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474406c7f4ff7" /><Relationship Type="http://schemas.openxmlformats.org/officeDocument/2006/relationships/notesSlide" Target="/ppt/notesSlides/notesSlide62.xml" Id="R3110bfa5169c4baf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b0b32b5cb488b" /><Relationship Type="http://schemas.openxmlformats.org/officeDocument/2006/relationships/notesSlide" Target="/ppt/notesSlides/notesSlide63.xml" Id="R666862377c774f4c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5c5d349d249f2" /><Relationship Type="http://schemas.openxmlformats.org/officeDocument/2006/relationships/notesSlide" Target="/ppt/notesSlides/notesSlide64.xml" Id="R5b20418bcd124ab1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3d49d3a3e4bdf" /><Relationship Type="http://schemas.openxmlformats.org/officeDocument/2006/relationships/notesSlide" Target="/ppt/notesSlides/notesSlide65.xml" Id="R85c481abb669403b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11bf93d3e4562" /><Relationship Type="http://schemas.openxmlformats.org/officeDocument/2006/relationships/notesSlide" Target="/ppt/notesSlides/notesSlide66.xml" Id="Rc68f443a67fe4c59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f7d258e77480b" /><Relationship Type="http://schemas.openxmlformats.org/officeDocument/2006/relationships/notesSlide" Target="/ppt/notesSlides/notesSlide67.xml" Id="R01f86af1594a4ec0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80d4204c244c9b" /><Relationship Type="http://schemas.openxmlformats.org/officeDocument/2006/relationships/notesSlide" Target="/ppt/notesSlides/notesSlide68.xml" Id="Re106287aa72546e6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27553ca484750" /><Relationship Type="http://schemas.openxmlformats.org/officeDocument/2006/relationships/notesSlide" Target="/ppt/notesSlides/notesSlide69.xml" Id="R689012fa22404a63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bccf1f58f479b" /><Relationship Type="http://schemas.openxmlformats.org/officeDocument/2006/relationships/notesSlide" Target="/ppt/notesSlides/notesSlide70.xml" Id="Rc94557d933c24a5f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031ee15594dde" /><Relationship Type="http://schemas.openxmlformats.org/officeDocument/2006/relationships/notesSlide" Target="/ppt/notesSlides/notesSlide71.xml" Id="R405ce376f905451f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a1ef564234f84" /><Relationship Type="http://schemas.openxmlformats.org/officeDocument/2006/relationships/notesSlide" Target="/ppt/notesSlides/notesSlide72.xml" Id="R6b44fa175c2a4dd1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b86089b6c4deb" /><Relationship Type="http://schemas.openxmlformats.org/officeDocument/2006/relationships/notesSlide" Target="/ppt/notesSlides/notesSlide73.xml" Id="R92ad8c4021684e5a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5565d4eed4ab5" /><Relationship Type="http://schemas.openxmlformats.org/officeDocument/2006/relationships/notesSlide" Target="/ppt/notesSlides/notesSlide74.xml" Id="R1c14cb7eeddc4c1c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16d9311de84ae6" /><Relationship Type="http://schemas.openxmlformats.org/officeDocument/2006/relationships/notesSlide" Target="/ppt/notesSlides/notesSlide75.xml" Id="Rfdef35b0551e4bde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c5af1dcfd4ef7" /><Relationship Type="http://schemas.openxmlformats.org/officeDocument/2006/relationships/notesSlide" Target="/ppt/notesSlides/notesSlide76.xml" Id="R7153dfc507ad4376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ac2941993484b" /><Relationship Type="http://schemas.openxmlformats.org/officeDocument/2006/relationships/notesSlide" Target="/ppt/notesSlides/notesSlide77.xml" Id="R729546fb076b4da6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1e7a712f8412f" /><Relationship Type="http://schemas.openxmlformats.org/officeDocument/2006/relationships/notesSlide" Target="/ppt/notesSlides/notesSlide78.xml" Id="Re4de8bde83024d59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779c197274b87" /><Relationship Type="http://schemas.openxmlformats.org/officeDocument/2006/relationships/notesSlide" Target="/ppt/notesSlides/notesSlide79.xml" Id="R3e67c417e17a43e6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ed5a23e5c4657" /><Relationship Type="http://schemas.openxmlformats.org/officeDocument/2006/relationships/notesSlide" Target="/ppt/notesSlides/notesSlide80.xml" Id="R324ad5bc6d55482d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309e87ad046bd" /><Relationship Type="http://schemas.openxmlformats.org/officeDocument/2006/relationships/notesSlide" Target="/ppt/notesSlides/notesSlide81.xml" Id="R31927b527ae64b32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8f04aef21468c" /><Relationship Type="http://schemas.openxmlformats.org/officeDocument/2006/relationships/notesSlide" Target="/ppt/notesSlides/notesSlide82.xml" Id="R64e75a26ef594b42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83f86d3e34d6c" /><Relationship Type="http://schemas.openxmlformats.org/officeDocument/2006/relationships/notesSlide" Target="/ppt/notesSlides/notesSlide83.xml" Id="R77f440055a2d4a30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238fb7a9e347d1" /><Relationship Type="http://schemas.openxmlformats.org/officeDocument/2006/relationships/notesSlide" Target="/ppt/notesSlides/notesSlide84.xml" Id="Rbe324462911a48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line">
            <a:extLst xmlns:a="http://schemas.openxmlformats.org/drawingml/2006/main">
              <a:ext uri="{FF2B5EF4-FFF2-40B4-BE49-F238E27FC236}">
                <a16:creationId xmlns:a16="http://schemas.microsoft.com/office/drawing/2014/main" id="{482CB6D6-7EE7-49FD-96C2-29A8E7E9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62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B5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348AE86A-F8E2-4F15-A65F-714FB9D7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23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SQL SERVER PERFORMANCE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B10994-0D51-4443-8276-E351A905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62100"/>
            <a:ext cx="8858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54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Performance verstehen,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54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bevor optimiert wird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17D1F8A0-686E-4645-BB2D-C88A8C14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923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Storage · Optimizer · Query Patterns · Indizes · Concurrency · Diagnose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6FA91269-A1E6-4B93-ADE5-31DA5E1D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90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Gerhard Pisch</a:t>
            </a:r>
          </a:p>
        </p:txBody>
      </p:sp>
      <p:sp>
        <p:nvSpPr>
          <p:cNvPr id="6" name="version">
            <a:extLst xmlns:a="http://schemas.openxmlformats.org/drawingml/2006/main">
              <a:ext uri="{FF2B5EF4-FFF2-40B4-BE49-F238E27FC236}">
                <a16:creationId xmlns:a16="http://schemas.microsoft.com/office/drawing/2014/main" id="{1816D198-33A7-473D-B53C-1C66A914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055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SQL Server 2019 · 2022 · 2025</a:t>
            </a:r>
          </a:p>
        </p:txBody>
      </p:sp>
    </p:spTree>
    <p:extLst>
      <p:ext uri="{BB962C8B-B14F-4D97-AF65-F5344CB8AC3E}">
        <p14:creationId xmlns:p14="http://schemas.microsoft.com/office/powerpoint/2010/main" val="19294829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342DD5A-9599-40C6-A57D-2227FBBD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 · EINORDNUNG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C3C27E-3717-44DD-8C0C-F3F0039B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Das Lernziel ist eine belastbare Diagnose – keine Sammlung von Tuningregeln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E14C287-94A7-4FDC-802E-A7AB66EF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B31E5CB-1566-4C84-90B4-5FDC27C2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6313C7E-8AA3-4A6B-9ABB-1B1E661E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D1DEF135-48B2-40BC-A41A-69D3110A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Eine gute Analyse verbindet Symptom, Messwert, technische Ursache, Änderung und erneute Messung.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4870772E-FF4D-4FFE-B010-74C3D1F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59BADB8A-FC5E-466A-9578-E6841506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Storage und Query Processing als zusammenhängendes System lesen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Execution Plans und Laufzeitmetriken gemeinsam interpretieren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Trade-offs für Reads, Writes, Memory und Concurrency erkennen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Version und Compatibility Level ausdrücklich berücksichtigen</a:t>
            </a:r>
          </a:p>
        </p:txBody>
      </p:sp>
    </p:spTree>
    <p:extLst>
      <p:ext uri="{BB962C8B-B14F-4D97-AF65-F5344CB8AC3E}">
        <p14:creationId xmlns:p14="http://schemas.microsoft.com/office/powerpoint/2010/main" val="17118756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AA0D43A-4B75-413B-A489-B12A51E4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 · EINORDNUNG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4DBACF-F4A8-4988-97A1-38AFF609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Performance hat drei gleichzeitig relevante Dimensionen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BAD1B2F-782C-4627-B91A-3D1E9C8A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8F9B217-5333-4AD5-B0C9-2CB39765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4479A1E-797F-4D2D-BB14-0EED6D5F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6E9BFAE1-7A2E-446B-81F2-5147CEF6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Antwortzeit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F70BC8C1-E08E-42DC-8644-46608EE0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Ressourcen und Durchsatz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174CBF3D-983B-45A3-97F3-9D72A96B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8B4F4899-D0AF-4F2C-9C66-5DD25982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Duration und Latenz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Verteilung statt nur Mittelwert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relevanter Zeitraum und Workload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7334FFA7-6E92-4290-805B-F3EC6A56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CPU, Reads, Writes und Memory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Concurrency und Wartezeiten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Arbeit pro Ergebniszeile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897637CB-47FE-4C0A-87C1-71A56611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7C79B17E-CA70-4406-AD37-EB2CBF3E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Eine einzelne schnelle Abfrage kann dennoch unnötig viele Ressourcen verbrauchen.</a:t>
            </a:r>
          </a:p>
        </p:txBody>
      </p:sp>
    </p:spTree>
    <p:extLst>
      <p:ext uri="{BB962C8B-B14F-4D97-AF65-F5344CB8AC3E}">
        <p14:creationId xmlns:p14="http://schemas.microsoft.com/office/powerpoint/2010/main" val="17914173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8DA4FEC-B4FD-4CF7-BCBC-4A1C4624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 · EINORDNUNG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BE99A1-EF11-4A9B-B701-986F08F3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Diagnosezyklus bleibt über alle Module gleich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CEF17C91-128A-4510-B938-22336740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E764B85-865A-4B23-BA1E-6EFC0ADE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1EAB33A-9F1C-42D4-8225-A88A88B9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 / 84</a:t>
            </a:r>
          </a:p>
        </p:txBody>
      </p:sp>
      <p:sp>
        <p:nvSpPr>
          <p:cNvPr id="6" name="flow-1">
            <a:extLst xmlns:a="http://schemas.openxmlformats.org/drawingml/2006/main">
              <a:ext uri="{FF2B5EF4-FFF2-40B4-BE49-F238E27FC236}">
                <a16:creationId xmlns:a16="http://schemas.microsoft.com/office/drawing/2014/main" id="{778DE1E6-3BD4-4772-B982-9CDFF6CA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flow-1-text">
            <a:extLst xmlns:a="http://schemas.openxmlformats.org/drawingml/2006/main">
              <a:ext uri="{FF2B5EF4-FFF2-40B4-BE49-F238E27FC236}">
                <a16:creationId xmlns:a16="http://schemas.microsoft.com/office/drawing/2014/main" id="{4BCE2874-2906-4B43-A06C-F7B2F1C8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Symptom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eingrenzen</a:t>
            </a:r>
          </a:p>
        </p:txBody>
      </p:sp>
      <p:sp>
        <p:nvSpPr>
          <p:cNvPr id="8" name="flow-2">
            <a:extLst xmlns:a="http://schemas.openxmlformats.org/drawingml/2006/main">
              <a:ext uri="{FF2B5EF4-FFF2-40B4-BE49-F238E27FC236}">
                <a16:creationId xmlns:a16="http://schemas.microsoft.com/office/drawing/2014/main" id="{96B56C3C-F08A-4D4E-9086-750C0819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flow-2-text">
            <a:extLst xmlns:a="http://schemas.openxmlformats.org/drawingml/2006/main">
              <a:ext uri="{FF2B5EF4-FFF2-40B4-BE49-F238E27FC236}">
                <a16:creationId xmlns:a16="http://schemas.microsoft.com/office/drawing/2014/main" id="{01BD865A-9EE8-421D-9782-B146BDB7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Messung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erfassen</a:t>
            </a:r>
          </a:p>
        </p:txBody>
      </p:sp>
      <p:sp>
        <p:nvSpPr>
          <p:cNvPr id="10" name="flow-3">
            <a:extLst xmlns:a="http://schemas.openxmlformats.org/drawingml/2006/main">
              <a:ext uri="{FF2B5EF4-FFF2-40B4-BE49-F238E27FC236}">
                <a16:creationId xmlns:a16="http://schemas.microsoft.com/office/drawing/2014/main" id="{A0EE63FF-82AE-45A0-86F3-B117CC96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flow-3-text">
            <a:extLst xmlns:a="http://schemas.openxmlformats.org/drawingml/2006/main">
              <a:ext uri="{FF2B5EF4-FFF2-40B4-BE49-F238E27FC236}">
                <a16:creationId xmlns:a16="http://schemas.microsoft.com/office/drawing/2014/main" id="{F2B803AF-2361-446E-A544-8046B3E5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Hypothese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formulieren</a:t>
            </a:r>
          </a:p>
        </p:txBody>
      </p:sp>
      <p:sp>
        <p:nvSpPr>
          <p:cNvPr id="12" name="flow-4">
            <a:extLst xmlns:a="http://schemas.openxmlformats.org/drawingml/2006/main">
              <a:ext uri="{FF2B5EF4-FFF2-40B4-BE49-F238E27FC236}">
                <a16:creationId xmlns:a16="http://schemas.microsoft.com/office/drawing/2014/main" id="{FE4CB4F5-60C2-44DD-BD1F-9223EC0C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flow-4-text">
            <a:extLst xmlns:a="http://schemas.openxmlformats.org/drawingml/2006/main">
              <a:ext uri="{FF2B5EF4-FFF2-40B4-BE49-F238E27FC236}">
                <a16:creationId xmlns:a16="http://schemas.microsoft.com/office/drawing/2014/main" id="{911744B5-9F44-4C89-A043-824C2260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Eine Änderung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durchführen</a:t>
            </a:r>
          </a:p>
        </p:txBody>
      </p:sp>
      <p:sp>
        <p:nvSpPr>
          <p:cNvPr id="14" name="flow-5">
            <a:extLst xmlns:a="http://schemas.openxmlformats.org/drawingml/2006/main">
              <a:ext uri="{FF2B5EF4-FFF2-40B4-BE49-F238E27FC236}">
                <a16:creationId xmlns:a16="http://schemas.microsoft.com/office/drawing/2014/main" id="{5C63B3C2-1345-4AFC-B0D7-21598246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flow-5-text">
            <a:extLst xmlns:a="http://schemas.openxmlformats.org/drawingml/2006/main">
              <a:ext uri="{FF2B5EF4-FFF2-40B4-BE49-F238E27FC236}">
                <a16:creationId xmlns:a16="http://schemas.microsoft.com/office/drawing/2014/main" id="{72436C09-87B9-41F3-9F25-6A471B0C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Vergleich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bewerten</a:t>
            </a:r>
          </a:p>
        </p:txBody>
      </p:sp>
      <p:cxnSp>
        <p:nvCxnSpPr>
          <p:cNvPr id="3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717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7434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9151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0868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20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05F41477-6AE9-4E38-98DE-85C33F48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8382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21" name="conclusion">
            <a:extLst xmlns:a="http://schemas.openxmlformats.org/drawingml/2006/main">
              <a:ext uri="{FF2B5EF4-FFF2-40B4-BE49-F238E27FC236}">
                <a16:creationId xmlns:a16="http://schemas.microsoft.com/office/drawing/2014/main" id="{4D936723-A687-46CB-B23A-4E2D5C41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33950"/>
            <a:ext cx="7886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Nebenwirkungen und Versionsgrenzen gehören zum Ergebnis.</a:t>
            </a:r>
          </a:p>
        </p:txBody>
      </p:sp>
    </p:spTree>
    <p:extLst>
      <p:ext uri="{BB962C8B-B14F-4D97-AF65-F5344CB8AC3E}">
        <p14:creationId xmlns:p14="http://schemas.microsoft.com/office/powerpoint/2010/main" val="554163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F49B8C1-2B87-4BD2-A5D5-335E8EE2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 · EINORDNUNG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443562-3B93-445D-A622-EFFB6EA0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Jede Evidenzquelle beantwortet eine andere Frage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C7BAA0B-7442-44CF-8601-383A6F56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B6C5068-2909-40AB-A13F-79C78BF5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D2C3909-838D-4B3C-8C18-7A44D5EF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6667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Quelle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Stärke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Grenze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Execution Plan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Operatoren, Schätzungen, Laufzeitdaten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Momentaufnahme; Capture kann kosten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DMVs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aktueller oder kumulierter Zustand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Scope und Delta müssen stimmen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Query Store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Historie von Query, Plan, Runtime und Waits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Aggregation und Retention beachten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Extended Events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gezielte Ereignisse und Korrelation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Sessiondesign bestimmt Overhead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OS-/Storage-Metriken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Host- und Geräteengpässe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Datenbankbezug muss hergestellt werden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13589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39845A6C-5B8C-42F0-893D-E4737BD2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 · EINORDNUNG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D11F76-780E-408E-B408-933ED63E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Version und Compatibility Level steuern unterschiedliche Ebenen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EFA9199-AE9E-4738-AB4F-A2F9B6D0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2435C4A-7EDE-4767-9FF9-0B1E7C60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6744F7B-0675-449F-8A8E-0AA69786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28194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7048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Engine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typischer Compatibility Level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Beispiele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SQL Server 2019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Table Variable Deferred Compilation, Scalar UDF Inlining, Batch Mode on Rowstore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SQL Server 2022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160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PSP Optimization, CE Feedback, DOP Feedback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SQL Server 2025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170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OPPO, PSP-Erweiterungen; Optimized Locking separat pro DB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50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0F85AA3-31CE-4303-9158-F4780008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7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87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632BC269-A382-4D55-A239-7D12AA33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D0890C3E-F7A1-4AC2-91D1-204531AF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Storage und Datenlayout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D55C9F91-6276-4582-B0F5-4E284649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Welche Arbeit entsteht, bevor ein Operator überhaupt eine Zeile verarbeiten kann?</a:t>
            </a:r>
          </a:p>
        </p:txBody>
      </p:sp>
      <p:sp>
        <p:nvSpPr>
          <p:cNvPr id="5" name="section-footer">
            <a:extLst xmlns:a="http://schemas.openxmlformats.org/drawingml/2006/main">
              <a:ext uri="{FF2B5EF4-FFF2-40B4-BE49-F238E27FC236}">
                <a16:creationId xmlns:a16="http://schemas.microsoft.com/office/drawing/2014/main" id="{B3A4A92D-F2B6-4D0D-BD4D-91FCAF1D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19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</p:spTree>
    <p:extLst>
      <p:ext uri="{BB962C8B-B14F-4D97-AF65-F5344CB8AC3E}">
        <p14:creationId xmlns:p14="http://schemas.microsoft.com/office/powerpoint/2010/main" val="4949968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CEC39CB-9113-4191-8681-45480ACA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D19695-0D87-4BA7-810A-2D224DE6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 Files und Transaction Log erfüllen grundverschiedene Aufgaben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C7352C9B-404C-446A-976F-49D80E39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C5DD8AE-14CC-45E6-8858-60007EC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745C3B1-EEFB-4589-B3FF-5DD43CA2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8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53CF84EC-A0DA-4BC5-8A43-4267392A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Data Files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C42397A9-65EC-4C01-B923-BD627516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Transaction Log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DAD8E3FC-9015-4C0B-BBB4-D46B2201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4239C275-E575-4E7A-896D-B9459C31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Pages für Tabellen und Indizes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Buffer Pool vermittelt zwischen Storage und Execution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Random und sequenzielle Zugriffsmuster möglich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DE15672F-E89E-49A8-84A3-82D02528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sequenzielle Log Records für Recovery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Write-ahead logging vor Datenpage-Schreibzugriff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mehrere Logfiles sind kein Performance-Striping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32C0BB9C-6877-4996-B5BA-A32FD992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C7C92423-6D05-438B-A8FE-89F20FF8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Dateirollen getrennt dimensionieren und messen.</a:t>
            </a:r>
          </a:p>
        </p:txBody>
      </p:sp>
    </p:spTree>
    <p:extLst>
      <p:ext uri="{BB962C8B-B14F-4D97-AF65-F5344CB8AC3E}">
        <p14:creationId xmlns:p14="http://schemas.microsoft.com/office/powerpoint/2010/main" val="800600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4DA0543-541B-4833-B253-9CE1998E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F47799-062C-453F-A709-DF3417A9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Filegroups organisieren Allocation – sie erzeugen keine automatische I/O-Leistung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A360922-D4B8-4597-A997-D86D5CB5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DA8BBAA-185A-4F13-BB0C-8C872B1E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C81D29C-75E8-41CF-8BBF-351E32C7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9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4425BCA6-2A82-484F-9AF6-27638C13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Objekt wird über seine Partitionen und Allocation Units einer Filegroup zugeordnet; die Filegroup verteilt Allocation auf ihre Data Files.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6DAFFFFF-1934-4CE4-9FB8-E883119B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81CB1456-CAFF-4B87-A9E5-28CC0B58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Mehrere Files helfen nur bei tatsächlich geeigneten Storagepfaden und gleichmäßiger Konfiguration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Filegroups unterstützen Administration, Restore-Strategien und Placement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Parallelität entsteht im Execution Plan, nicht durch den Namen einer Filegroup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Die PRIMARY-Filegroup muss nicht pauschal frei von Userdaten sein</a:t>
            </a:r>
          </a:p>
        </p:txBody>
      </p:sp>
    </p:spTree>
    <p:extLst>
      <p:ext uri="{BB962C8B-B14F-4D97-AF65-F5344CB8AC3E}">
        <p14:creationId xmlns:p14="http://schemas.microsoft.com/office/powerpoint/2010/main" val="4360940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BA12383-24E3-4097-9E70-3D449D74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5B0F10-3670-4BCE-AA1D-A0B365A6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SQL Server adressiert Data Files in 8-KiB-Pages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87CFF48-DD04-4885-B47D-7FF403E3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DD37BC1-8292-4B24-BA66-F103E2EB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2DF058B-1B57-4AB3-9C17-0941169A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10 / 84</a:t>
            </a:r>
          </a:p>
        </p:txBody>
      </p:sp>
      <p:sp>
        <p:nvSpPr>
          <p:cNvPr id="6" name="hierarchy">
            <a:extLst xmlns:a="http://schemas.openxmlformats.org/drawingml/2006/main">
              <a:ext uri="{FF2B5EF4-FFF2-40B4-BE49-F238E27FC236}">
                <a16:creationId xmlns:a16="http://schemas.microsoft.com/office/drawing/2014/main" id="{B077CBE6-1E85-4431-9D2C-CA3201FA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Data File  →  Extent  →  Page  →  Row</a:t>
            </a:r>
          </a:p>
        </p:txBody>
      </p:sp>
      <p:sp>
        <p:nvSpPr>
          <p:cNvPr id="7" name="page-0">
            <a:extLst xmlns:a="http://schemas.openxmlformats.org/drawingml/2006/main">
              <a:ext uri="{FF2B5EF4-FFF2-40B4-BE49-F238E27FC236}">
                <a16:creationId xmlns:a16="http://schemas.microsoft.com/office/drawing/2014/main" id="{92EF5F29-C5C3-43F2-AE35-B200F182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page-text-0">
            <a:extLst xmlns:a="http://schemas.openxmlformats.org/drawingml/2006/main">
              <a:ext uri="{FF2B5EF4-FFF2-40B4-BE49-F238E27FC236}">
                <a16:creationId xmlns:a16="http://schemas.microsoft.com/office/drawing/2014/main" id="{87FE6043-DFE5-4E5D-8021-56225EFD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1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9" name="page-1">
            <a:extLst xmlns:a="http://schemas.openxmlformats.org/drawingml/2006/main">
              <a:ext uri="{FF2B5EF4-FFF2-40B4-BE49-F238E27FC236}">
                <a16:creationId xmlns:a16="http://schemas.microsoft.com/office/drawing/2014/main" id="{6FA0058D-6CFA-41FB-9C39-FB4227AA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0" name="page-text-1">
            <a:extLst xmlns:a="http://schemas.openxmlformats.org/drawingml/2006/main">
              <a:ext uri="{FF2B5EF4-FFF2-40B4-BE49-F238E27FC236}">
                <a16:creationId xmlns:a16="http://schemas.microsoft.com/office/drawing/2014/main" id="{E3B2827D-8EF4-4B40-B88B-65BD957C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11" name="page-2">
            <a:extLst xmlns:a="http://schemas.openxmlformats.org/drawingml/2006/main">
              <a:ext uri="{FF2B5EF4-FFF2-40B4-BE49-F238E27FC236}">
                <a16:creationId xmlns:a16="http://schemas.microsoft.com/office/drawing/2014/main" id="{A94B5F55-FE53-45D7-9939-33E27D53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2" name="page-text-2">
            <a:extLst xmlns:a="http://schemas.openxmlformats.org/drawingml/2006/main">
              <a:ext uri="{FF2B5EF4-FFF2-40B4-BE49-F238E27FC236}">
                <a16:creationId xmlns:a16="http://schemas.microsoft.com/office/drawing/2014/main" id="{6F574431-F676-429C-AD25-C4932F02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13" name="page-3">
            <a:extLst xmlns:a="http://schemas.openxmlformats.org/drawingml/2006/main">
              <a:ext uri="{FF2B5EF4-FFF2-40B4-BE49-F238E27FC236}">
                <a16:creationId xmlns:a16="http://schemas.microsoft.com/office/drawing/2014/main" id="{32EFEB45-05E9-451E-A982-AAFE6D55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4" name="page-text-3">
            <a:extLst xmlns:a="http://schemas.openxmlformats.org/drawingml/2006/main">
              <a:ext uri="{FF2B5EF4-FFF2-40B4-BE49-F238E27FC236}">
                <a16:creationId xmlns:a16="http://schemas.microsoft.com/office/drawing/2014/main" id="{3694C2A5-24F4-40B5-829F-D4C0B09A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Page 4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15" name="page-4">
            <a:extLst xmlns:a="http://schemas.openxmlformats.org/drawingml/2006/main">
              <a:ext uri="{FF2B5EF4-FFF2-40B4-BE49-F238E27FC236}">
                <a16:creationId xmlns:a16="http://schemas.microsoft.com/office/drawing/2014/main" id="{7D64CAC5-7BD7-417C-ACF8-EBCCFB68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6" name="page-text-4">
            <a:extLst xmlns:a="http://schemas.openxmlformats.org/drawingml/2006/main">
              <a:ext uri="{FF2B5EF4-FFF2-40B4-BE49-F238E27FC236}">
                <a16:creationId xmlns:a16="http://schemas.microsoft.com/office/drawing/2014/main" id="{5CD56B44-5E00-43FF-B663-51D602D5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5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17" name="page-5">
            <a:extLst xmlns:a="http://schemas.openxmlformats.org/drawingml/2006/main">
              <a:ext uri="{FF2B5EF4-FFF2-40B4-BE49-F238E27FC236}">
                <a16:creationId xmlns:a16="http://schemas.microsoft.com/office/drawing/2014/main" id="{FAE20B43-99D6-40E7-B2D4-7B65CAE4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8" name="page-text-5">
            <a:extLst xmlns:a="http://schemas.openxmlformats.org/drawingml/2006/main">
              <a:ext uri="{FF2B5EF4-FFF2-40B4-BE49-F238E27FC236}">
                <a16:creationId xmlns:a16="http://schemas.microsoft.com/office/drawing/2014/main" id="{7471C3DC-EA4A-4106-B9A5-F10D7588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6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19" name="page-6">
            <a:extLst xmlns:a="http://schemas.openxmlformats.org/drawingml/2006/main">
              <a:ext uri="{FF2B5EF4-FFF2-40B4-BE49-F238E27FC236}">
                <a16:creationId xmlns:a16="http://schemas.microsoft.com/office/drawing/2014/main" id="{A2A049D4-9575-401E-9CB9-F6A39437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20" name="page-text-6">
            <a:extLst xmlns:a="http://schemas.openxmlformats.org/drawingml/2006/main">
              <a:ext uri="{FF2B5EF4-FFF2-40B4-BE49-F238E27FC236}">
                <a16:creationId xmlns:a16="http://schemas.microsoft.com/office/drawing/2014/main" id="{D881FB9B-8669-452C-BBB6-8578A35A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7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21" name="page-7">
            <a:extLst xmlns:a="http://schemas.openxmlformats.org/drawingml/2006/main">
              <a:ext uri="{FF2B5EF4-FFF2-40B4-BE49-F238E27FC236}">
                <a16:creationId xmlns:a16="http://schemas.microsoft.com/office/drawing/2014/main" id="{682D9E6B-1920-4033-90C6-54E47B62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048000"/>
            <a:ext cx="1000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22" name="page-text-7">
            <a:extLst xmlns:a="http://schemas.openxmlformats.org/drawingml/2006/main">
              <a:ext uri="{FF2B5EF4-FFF2-40B4-BE49-F238E27FC236}">
                <a16:creationId xmlns:a16="http://schemas.microsoft.com/office/drawing/2014/main" id="{051E9C27-B9D5-4BB7-8713-AB8A5A3C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429000"/>
            <a:ext cx="100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8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 KiB</a:t>
            </a:r>
          </a:p>
        </p:txBody>
      </p:sp>
      <p:sp>
        <p:nvSpPr>
          <p:cNvPr id="23" name="extent-bracket">
            <a:extLst xmlns:a="http://schemas.openxmlformats.org/drawingml/2006/main">
              <a:ext uri="{FF2B5EF4-FFF2-40B4-BE49-F238E27FC236}">
                <a16:creationId xmlns:a16="http://schemas.microsoft.com/office/drawing/2014/main" id="{6FFB374E-2B6A-4222-9726-E0124FEC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9315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extent-label">
            <a:extLst xmlns:a="http://schemas.openxmlformats.org/drawingml/2006/main">
              <a:ext uri="{FF2B5EF4-FFF2-40B4-BE49-F238E27FC236}">
                <a16:creationId xmlns:a16="http://schemas.microsoft.com/office/drawing/2014/main" id="{0428897B-3721-4BEC-99A2-4910A4C9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101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1 Extent = 8 physisch zusammenhängende Pages = 64 KiB</a:t>
            </a:r>
          </a:p>
        </p:txBody>
      </p:sp>
    </p:spTree>
    <p:extLst>
      <p:ext uri="{BB962C8B-B14F-4D97-AF65-F5344CB8AC3E}">
        <p14:creationId xmlns:p14="http://schemas.microsoft.com/office/powerpoint/2010/main" val="11307686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0676373-CF57-430D-BE08-FF4B32BC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45BAB8-7C93-45BB-9207-818B34D8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Row-Aufbau erklärt, warum Datentypen direkt I/O-Kosten beeinflussen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603E758-C97F-43E5-8795-6F609A60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DCCB183-864A-4DA7-97D5-F60D99FB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C02AD68-800A-4778-A404-08739D1E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11 / 84</a:t>
            </a:r>
          </a:p>
        </p:txBody>
      </p:sp>
      <p:sp>
        <p:nvSpPr>
          <p:cNvPr id="6" name="row-part-0">
            <a:extLst xmlns:a="http://schemas.openxmlformats.org/drawingml/2006/main">
              <a:ext uri="{FF2B5EF4-FFF2-40B4-BE49-F238E27FC236}">
                <a16:creationId xmlns:a16="http://schemas.microsoft.com/office/drawing/2014/main" id="{3DDB72EE-0A42-45BD-B580-9FE680F6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1190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9525">
            <a:solidFill>
              <a:srgbClr val="163A52"/>
            </a:solidFill>
            <a:prstDash val="solid"/>
          </a:ln>
        </p:spPr>
      </p:sp>
      <p:sp>
        <p:nvSpPr>
          <p:cNvPr id="7" name="row-part-text-0">
            <a:extLst xmlns:a="http://schemas.openxmlformats.org/drawingml/2006/main">
              <a:ext uri="{FF2B5EF4-FFF2-40B4-BE49-F238E27FC236}">
                <a16:creationId xmlns:a16="http://schemas.microsoft.com/office/drawing/2014/main" id="{686FA9B4-49BD-451E-B6BF-ED5F6877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1038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Status Bits</a:t>
            </a:r>
          </a:p>
        </p:txBody>
      </p:sp>
      <p:sp>
        <p:nvSpPr>
          <p:cNvPr id="8" name="row-part-1">
            <a:extLst xmlns:a="http://schemas.openxmlformats.org/drawingml/2006/main">
              <a:ext uri="{FF2B5EF4-FFF2-40B4-BE49-F238E27FC236}">
                <a16:creationId xmlns:a16="http://schemas.microsoft.com/office/drawing/2014/main" id="{5D2FDBC4-82E4-46AD-B52D-4AC4D3DF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0289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E3E5"/>
          </a:solidFill>
          <a:ln xmlns:a="http://schemas.openxmlformats.org/drawingml/2006/main" w="9525">
            <a:solidFill>
              <a:srgbClr val="163A52"/>
            </a:solidFill>
            <a:prstDash val="solid"/>
          </a:ln>
        </p:spPr>
      </p:sp>
      <p:sp>
        <p:nvSpPr>
          <p:cNvPr id="9" name="row-part-text-1">
            <a:extLst xmlns:a="http://schemas.openxmlformats.org/drawingml/2006/main">
              <a:ext uri="{FF2B5EF4-FFF2-40B4-BE49-F238E27FC236}">
                <a16:creationId xmlns:a16="http://schemas.microsoft.com/office/drawing/2014/main" id="{FC99DA9D-6820-4F77-BC04-CAAFDEAA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352800"/>
            <a:ext cx="1943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Fixed-Length</a:t>
            </a:r>
          </a:p>
        </p:txBody>
      </p:sp>
      <p:sp>
        <p:nvSpPr>
          <p:cNvPr id="10" name="row-part-2">
            <a:extLst xmlns:a="http://schemas.openxmlformats.org/drawingml/2006/main">
              <a:ext uri="{FF2B5EF4-FFF2-40B4-BE49-F238E27FC236}">
                <a16:creationId xmlns:a16="http://schemas.microsoft.com/office/drawing/2014/main" id="{873F220C-0EAA-49C9-A4D9-EB796EB7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028950"/>
            <a:ext cx="16192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9525">
            <a:solidFill>
              <a:srgbClr val="163A52"/>
            </a:solidFill>
            <a:prstDash val="solid"/>
          </a:ln>
        </p:spPr>
      </p:sp>
      <p:sp>
        <p:nvSpPr>
          <p:cNvPr id="11" name="row-part-text-2">
            <a:extLst xmlns:a="http://schemas.openxmlformats.org/drawingml/2006/main">
              <a:ext uri="{FF2B5EF4-FFF2-40B4-BE49-F238E27FC236}">
                <a16:creationId xmlns:a16="http://schemas.microsoft.com/office/drawing/2014/main" id="{1CA6F851-A8CD-4B10-B787-7B1BC399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52800"/>
            <a:ext cx="14668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NULL Bitmap</a:t>
            </a:r>
          </a:p>
        </p:txBody>
      </p:sp>
      <p:sp>
        <p:nvSpPr>
          <p:cNvPr id="12" name="row-part-3">
            <a:extLst xmlns:a="http://schemas.openxmlformats.org/drawingml/2006/main">
              <a:ext uri="{FF2B5EF4-FFF2-40B4-BE49-F238E27FC236}">
                <a16:creationId xmlns:a16="http://schemas.microsoft.com/office/drawing/2014/main" id="{FAC4E424-F8A1-40E7-ADB0-5C832ED3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0289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C2"/>
          </a:solidFill>
          <a:ln xmlns:a="http://schemas.openxmlformats.org/drawingml/2006/main" w="9525">
            <a:solidFill>
              <a:srgbClr val="163A52"/>
            </a:solidFill>
            <a:prstDash val="solid"/>
          </a:ln>
        </p:spPr>
      </p:sp>
      <p:sp>
        <p:nvSpPr>
          <p:cNvPr id="13" name="row-part-text-3">
            <a:extLst xmlns:a="http://schemas.openxmlformats.org/drawingml/2006/main">
              <a:ext uri="{FF2B5EF4-FFF2-40B4-BE49-F238E27FC236}">
                <a16:creationId xmlns:a16="http://schemas.microsoft.com/office/drawing/2014/main" id="{F017D30C-7F63-42E3-9D1A-D8020904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52800"/>
            <a:ext cx="1943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Variable Metadata</a:t>
            </a:r>
          </a:p>
        </p:txBody>
      </p:sp>
      <p:sp>
        <p:nvSpPr>
          <p:cNvPr id="14" name="row-part-4">
            <a:extLst xmlns:a="http://schemas.openxmlformats.org/drawingml/2006/main">
              <a:ext uri="{FF2B5EF4-FFF2-40B4-BE49-F238E27FC236}">
                <a16:creationId xmlns:a16="http://schemas.microsoft.com/office/drawing/2014/main" id="{4D2D4504-7E69-492B-979F-05ACFD0D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028950"/>
            <a:ext cx="2714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3A52"/>
            </a:solidFill>
            <a:prstDash val="solid"/>
          </a:ln>
        </p:spPr>
      </p:sp>
      <p:sp>
        <p:nvSpPr>
          <p:cNvPr id="15" name="row-part-text-4">
            <a:extLst xmlns:a="http://schemas.openxmlformats.org/drawingml/2006/main">
              <a:ext uri="{FF2B5EF4-FFF2-40B4-BE49-F238E27FC236}">
                <a16:creationId xmlns:a16="http://schemas.microsoft.com/office/drawing/2014/main" id="{5E6EFB53-9F3B-41FF-8AF2-BEFE1E6A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52800"/>
            <a:ext cx="2562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Variable Data</a:t>
            </a:r>
          </a:p>
        </p:txBody>
      </p:sp>
      <p:sp>
        <p:nvSpPr>
          <p:cNvPr id="16" name="row-caption">
            <a:extLst xmlns:a="http://schemas.openxmlformats.org/drawingml/2006/main">
              <a:ext uri="{FF2B5EF4-FFF2-40B4-BE49-F238E27FC236}">
                <a16:creationId xmlns:a16="http://schemas.microsoft.com/office/drawing/2014/main" id="{5A6E1248-D63C-4B58-9655-141148EC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72050"/>
            <a:ext cx="10210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Die interne Row-Struktur erzeugt Metadaten- und Breitenkosten – auch bei NULL-Werten und variablen Spalten.</a:t>
            </a:r>
          </a:p>
        </p:txBody>
      </p:sp>
    </p:spTree>
    <p:extLst>
      <p:ext uri="{BB962C8B-B14F-4D97-AF65-F5344CB8AC3E}">
        <p14:creationId xmlns:p14="http://schemas.microsoft.com/office/powerpoint/2010/main" val="15917862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1B6F922-8197-4698-8E29-B1891F3D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3AD14E-DCED-44F6-AF2E-8B74F642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Breite Zeilen erhöhen Reads, Memory und Cache-Druck gleichzeitig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3075A7A-863E-4B7C-ADD4-23BD70F1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EB0E0E4-2958-4872-A229-A268081A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648C903-04A6-4556-9E2D-2E538BC4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12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C24576DB-764A-45D3-98B5-EB565759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Vereinfachtes Modell: Zehnmal breitere Zeilen bedeuten grob eine Größenordnung weniger Zeilen pro Page.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145AC1DB-2A6F-4E80-B993-2D77845A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0B2F5194-3EED-43BA-A697-100CA372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Mehr Pages müssen gelesen, gecacht und verarbeitet werden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Sorts, Hashes und Exchanges transportieren mehr Bytes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Wide SELECT * verstärkt die Wirkung auch ohne zusätzliche Zeilen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Tatsächliche Dichte hängt von Headern, NULLs, Variablen und Kompression ab</a:t>
            </a:r>
          </a:p>
        </p:txBody>
      </p:sp>
    </p:spTree>
    <p:extLst>
      <p:ext uri="{BB962C8B-B14F-4D97-AF65-F5344CB8AC3E}">
        <p14:creationId xmlns:p14="http://schemas.microsoft.com/office/powerpoint/2010/main" val="19493749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636B34C-E8DB-4F4C-A5FA-BD4698DD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256C41-9CDE-42AD-BC96-C87FAE4D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Allocation Units trennen drei physische Speicherbereiche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0B364B-569D-4AD5-A320-59C81436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E84F98F-291C-491A-BC82-EB3BF761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A509C67-8D3F-48A2-B55E-10F1D95B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13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D6167328-64FC-48EA-BC5B-A7CA792D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IN_ROW_DATA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17468C38-A29B-43E6-9A07-CAE85B0A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ROW_OVERFLOW / LOB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9F017514-324B-48A1-B67B-A85A11FF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CC3F90D7-FE71-43F0-AF92-0C0EF827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Rowstore-Daten und B+Tree-Pages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pro Partition mindestens eine Allocation Unit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Row-Grundstruktur bleibt in-row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FCAEF062-FCE9-4A66-BC8A-655B199F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variable Spalten können ausgelagert werden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LOB_DATA für große Objekte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zusätzliche Zugriffe und Pointer möglich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9865FB78-C83F-40FF-89CC-86BF886F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6BAB9DD5-9EA9-4222-8580-8FB0C35A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Eine logische Zeile kann physisch mehrere Pages berühren.</a:t>
            </a:r>
          </a:p>
        </p:txBody>
      </p:sp>
    </p:spTree>
    <p:extLst>
      <p:ext uri="{BB962C8B-B14F-4D97-AF65-F5344CB8AC3E}">
        <p14:creationId xmlns:p14="http://schemas.microsoft.com/office/powerpoint/2010/main" val="7985728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81A5F9C-1D59-4D0D-ACF9-8E0ABB4F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FF2341-4823-4A9E-80AF-C356C942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Buffer Pool macht Logical Reads zum zentralen Query-Messwert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7686F5A-7ACB-4C90-B313-CC69CEB5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C9EE137-2F25-426A-A5C3-4A790E03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C3095F1-259E-4A8C-8772-5C608A42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14 / 84</a:t>
            </a:r>
          </a:p>
        </p:txBody>
      </p:sp>
      <p:sp>
        <p:nvSpPr>
          <p:cNvPr id="6" name="storage">
            <a:extLst xmlns:a="http://schemas.openxmlformats.org/drawingml/2006/main">
              <a:ext uri="{FF2B5EF4-FFF2-40B4-BE49-F238E27FC236}">
                <a16:creationId xmlns:a16="http://schemas.microsoft.com/office/drawing/2014/main" id="{8D3D3D40-7369-4A4E-9436-F25FFDAF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2095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storage-text">
            <a:extLst xmlns:a="http://schemas.openxmlformats.org/drawingml/2006/main">
              <a:ext uri="{FF2B5EF4-FFF2-40B4-BE49-F238E27FC236}">
                <a16:creationId xmlns:a16="http://schemas.microsoft.com/office/drawing/2014/main" id="{7BAC920B-9FAA-4FEA-AEB9-1DB5895A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19450"/>
            <a:ext cx="1828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 Files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Storage</a:t>
            </a:r>
          </a:p>
        </p:txBody>
      </p:sp>
      <p:sp>
        <p:nvSpPr>
          <p:cNvPr id="8" name="buffer">
            <a:extLst xmlns:a="http://schemas.openxmlformats.org/drawingml/2006/main">
              <a:ext uri="{FF2B5EF4-FFF2-40B4-BE49-F238E27FC236}">
                <a16:creationId xmlns:a16="http://schemas.microsoft.com/office/drawing/2014/main" id="{31166FB3-3D7B-4CB5-8612-81ABA160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24150"/>
            <a:ext cx="2476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buffer-text">
            <a:extLst xmlns:a="http://schemas.openxmlformats.org/drawingml/2006/main">
              <a:ext uri="{FF2B5EF4-FFF2-40B4-BE49-F238E27FC236}">
                <a16:creationId xmlns:a16="http://schemas.microsoft.com/office/drawing/2014/main" id="{45F47389-5D78-4FCD-8314-2081CE70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38450"/>
            <a:ext cx="22098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Buffer Pool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8-KiB-Pages</a:t>
            </a:r>
          </a:p>
        </p:txBody>
      </p:sp>
      <p:sp>
        <p:nvSpPr>
          <p:cNvPr id="10" name="query">
            <a:extLst xmlns:a="http://schemas.openxmlformats.org/drawingml/2006/main">
              <a:ext uri="{FF2B5EF4-FFF2-40B4-BE49-F238E27FC236}">
                <a16:creationId xmlns:a16="http://schemas.microsoft.com/office/drawing/2014/main" id="{6A87A621-9CEE-43F4-9540-15E81599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05150"/>
            <a:ext cx="2095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query-text">
            <a:extLst xmlns:a="http://schemas.openxmlformats.org/drawingml/2006/main">
              <a:ext uri="{FF2B5EF4-FFF2-40B4-BE49-F238E27FC236}">
                <a16:creationId xmlns:a16="http://schemas.microsoft.com/office/drawing/2014/main" id="{D31A4CB2-38ED-46B6-B1EE-E2CB5794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19450"/>
            <a:ext cx="1828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Query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Operatoren</a:t>
            </a:r>
          </a:p>
        </p:txBody>
      </p: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819400" y="3724275"/>
            <a:ext cx="2057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A261"/>
            </a:solidFill>
            <a:prstDash val="solid"/>
            <a:headEnd type="arrow" w="med" len="med"/>
          </a:ln>
        </p:spPr>
      </p:cxnSp>
      <p:cxnSp>
        <p:nvCxnSpPr>
          <p:cNvPr id="2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353300" y="3724275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4" name="physical-label">
            <a:extLst xmlns:a="http://schemas.openxmlformats.org/drawingml/2006/main">
              <a:ext uri="{FF2B5EF4-FFF2-40B4-BE49-F238E27FC236}">
                <a16:creationId xmlns:a16="http://schemas.microsoft.com/office/drawing/2014/main" id="{7FE335FF-7E5F-45D7-9E10-6793BB71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479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Physical Read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bei Cachemiss</a:t>
            </a:r>
          </a:p>
        </p:txBody>
      </p:sp>
      <p:sp>
        <p:nvSpPr>
          <p:cNvPr id="15" name="logical-label">
            <a:extLst xmlns:a="http://schemas.openxmlformats.org/drawingml/2006/main">
              <a:ext uri="{FF2B5EF4-FFF2-40B4-BE49-F238E27FC236}">
                <a16:creationId xmlns:a16="http://schemas.microsoft.com/office/drawing/2014/main" id="{E21B723F-E1DF-4480-BDF1-42EDFACD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479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Logical Read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bei Page-Zugriff</a:t>
            </a:r>
          </a:p>
        </p:txBody>
      </p:sp>
      <p:sp>
        <p:nvSpPr>
          <p:cNvPr id="16" name="buffer-caption">
            <a:extLst xmlns:a="http://schemas.openxmlformats.org/drawingml/2006/main">
              <a:ext uri="{FF2B5EF4-FFF2-40B4-BE49-F238E27FC236}">
                <a16:creationId xmlns:a16="http://schemas.microsoft.com/office/drawing/2014/main" id="{B9B16092-81B6-4711-8203-8C74F286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Dirty Pages werden später geschrieben; Read-ahead kann Pages vor dem Operator anfordern.</a:t>
            </a:r>
          </a:p>
        </p:txBody>
      </p:sp>
    </p:spTree>
    <p:extLst>
      <p:ext uri="{BB962C8B-B14F-4D97-AF65-F5344CB8AC3E}">
        <p14:creationId xmlns:p14="http://schemas.microsoft.com/office/powerpoint/2010/main" val="7496455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E5D7A7F1-6DA3-41F8-A7DD-0A2E5989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0BD848-889D-4ACD-B375-492782A1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Logical und Physical Reads beantworten verschiedene Fragen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B441F1B-C578-421A-B316-0DC0F6EC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E3D26A5-C8CF-4D63-BE8B-E2B4F319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6769F63-3EBD-468A-B179-631ED45C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15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F7F34F8C-2A39-4F95-9E90-3F963324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Logical Reads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020222CE-4033-4A05-8A56-25FED116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Physical Reads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E124A4C4-70E3-4681-9065-CEF31B15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B2F9B8D5-302C-4879-BEF6-693FC817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Arbeit des Operators auf Page-Ebene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auch bei warmem Cache sichtbar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gut für Query-Vergleiche bei gleichem Datenstand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6ACFD08B-D4A3-4CCC-A80F-2C512177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tatsächlicher Storagezugriff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stark vom Cachezustand abhängig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Latenz und Read-ahead zusätzlich prüfen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1CE39866-B0CD-471E-9DF5-E1325D2A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3A09EAD3-9514-4E85-B6B1-8A27BCAD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 Cold-Cache-Einzellauf ist kein allgemeingültiger Benchmark.</a:t>
            </a:r>
          </a:p>
        </p:txBody>
      </p:sp>
    </p:spTree>
    <p:extLst>
      <p:ext uri="{BB962C8B-B14F-4D97-AF65-F5344CB8AC3E}">
        <p14:creationId xmlns:p14="http://schemas.microsoft.com/office/powerpoint/2010/main" val="20398520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FF9EF2F-7C34-46D3-A175-115FD899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4D09D2-9DF3-4159-87A7-47296A7E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Commit, Log Flush und Checkpoint sind getrennte Vorgänge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2B29517-D2F8-42D3-A1D4-F6C83941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1FD1AF6-CC62-43FA-8699-1251313C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1740EA7-FBD3-4940-9B60-433E1A07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16 / 84</a:t>
            </a:r>
          </a:p>
        </p:txBody>
      </p:sp>
      <p:sp>
        <p:nvSpPr>
          <p:cNvPr id="6" name="flow-1">
            <a:extLst xmlns:a="http://schemas.openxmlformats.org/drawingml/2006/main">
              <a:ext uri="{FF2B5EF4-FFF2-40B4-BE49-F238E27FC236}">
                <a16:creationId xmlns:a16="http://schemas.microsoft.com/office/drawing/2014/main" id="{96E676F5-F153-43D9-A7C7-5E2C454B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flow-1-text">
            <a:extLst xmlns:a="http://schemas.openxmlformats.org/drawingml/2006/main">
              <a:ext uri="{FF2B5EF4-FFF2-40B4-BE49-F238E27FC236}">
                <a16:creationId xmlns:a16="http://schemas.microsoft.com/office/drawing/2014/main" id="{64BEA717-9DAC-47C6-9B23-BD94657F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Änderung erzeugt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Log Record</a:t>
            </a:r>
          </a:p>
        </p:txBody>
      </p:sp>
      <p:sp>
        <p:nvSpPr>
          <p:cNvPr id="8" name="flow-2">
            <a:extLst xmlns:a="http://schemas.openxmlformats.org/drawingml/2006/main">
              <a:ext uri="{FF2B5EF4-FFF2-40B4-BE49-F238E27FC236}">
                <a16:creationId xmlns:a16="http://schemas.microsoft.com/office/drawing/2014/main" id="{58B57872-8294-435B-A3E4-9F498A65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flow-2-text">
            <a:extLst xmlns:a="http://schemas.openxmlformats.org/drawingml/2006/main">
              <a:ext uri="{FF2B5EF4-FFF2-40B4-BE49-F238E27FC236}">
                <a16:creationId xmlns:a16="http://schemas.microsoft.com/office/drawing/2014/main" id="{F960F42E-5B38-46DF-8BC5-E28B3BDF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Log Buffer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füllt sich</a:t>
            </a:r>
          </a:p>
        </p:txBody>
      </p:sp>
      <p:sp>
        <p:nvSpPr>
          <p:cNvPr id="10" name="flow-3">
            <a:extLst xmlns:a="http://schemas.openxmlformats.org/drawingml/2006/main">
              <a:ext uri="{FF2B5EF4-FFF2-40B4-BE49-F238E27FC236}">
                <a16:creationId xmlns:a16="http://schemas.microsoft.com/office/drawing/2014/main" id="{B9F6A020-06E9-43F0-8B48-D3DD440E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flow-3-text">
            <a:extLst xmlns:a="http://schemas.openxmlformats.org/drawingml/2006/main">
              <a:ext uri="{FF2B5EF4-FFF2-40B4-BE49-F238E27FC236}">
                <a16:creationId xmlns:a16="http://schemas.microsoft.com/office/drawing/2014/main" id="{C13EA7CB-FCFF-4E66-9147-6320662C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Log wird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gehärtet</a:t>
            </a:r>
          </a:p>
        </p:txBody>
      </p:sp>
      <p:sp>
        <p:nvSpPr>
          <p:cNvPr id="12" name="flow-4">
            <a:extLst xmlns:a="http://schemas.openxmlformats.org/drawingml/2006/main">
              <a:ext uri="{FF2B5EF4-FFF2-40B4-BE49-F238E27FC236}">
                <a16:creationId xmlns:a16="http://schemas.microsoft.com/office/drawing/2014/main" id="{90A69A97-231D-4E99-BF5C-5D29B8B2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flow-4-text">
            <a:extLst xmlns:a="http://schemas.openxmlformats.org/drawingml/2006/main">
              <a:ext uri="{FF2B5EF4-FFF2-40B4-BE49-F238E27FC236}">
                <a16:creationId xmlns:a16="http://schemas.microsoft.com/office/drawing/2014/main" id="{7637D768-295B-4D54-8B29-613811C5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Commit wird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bestätigt</a:t>
            </a:r>
          </a:p>
        </p:txBody>
      </p:sp>
      <p:sp>
        <p:nvSpPr>
          <p:cNvPr id="14" name="flow-5">
            <a:extLst xmlns:a="http://schemas.openxmlformats.org/drawingml/2006/main">
              <a:ext uri="{FF2B5EF4-FFF2-40B4-BE49-F238E27FC236}">
                <a16:creationId xmlns:a16="http://schemas.microsoft.com/office/drawing/2014/main" id="{912AAB0A-48B9-4C33-9FFB-C19513E7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flow-5-text">
            <a:extLst xmlns:a="http://schemas.openxmlformats.org/drawingml/2006/main">
              <a:ext uri="{FF2B5EF4-FFF2-40B4-BE49-F238E27FC236}">
                <a16:creationId xmlns:a16="http://schemas.microsoft.com/office/drawing/2014/main" id="{34124599-191C-4F57-A3C6-4FDD7DE8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Checkpoint schreibt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Dirty Pages</a:t>
            </a:r>
          </a:p>
        </p:txBody>
      </p:sp>
      <p:cxnSp>
        <p:nvCxnSpPr>
          <p:cNvPr id="3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717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7434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9151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0868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20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9B860B85-4B96-45C7-80CE-5001CA89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8382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21" name="conclusion">
            <a:extLst xmlns:a="http://schemas.openxmlformats.org/drawingml/2006/main">
              <a:ext uri="{FF2B5EF4-FFF2-40B4-BE49-F238E27FC236}">
                <a16:creationId xmlns:a16="http://schemas.microsoft.com/office/drawing/2014/main" id="{0B2E8CC5-C544-4321-A02A-BA8BE5FC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33950"/>
            <a:ext cx="7886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Checkpoint schreibt Data Pages; er ersetzt keinen Log Flush des Commits.</a:t>
            </a:r>
          </a:p>
        </p:txBody>
      </p:sp>
    </p:spTree>
    <p:extLst>
      <p:ext uri="{BB962C8B-B14F-4D97-AF65-F5344CB8AC3E}">
        <p14:creationId xmlns:p14="http://schemas.microsoft.com/office/powerpoint/2010/main" val="11491309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0F282FB-4345-46B3-8BF2-B3518995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 · STORAGE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B841B6-2269-4F7A-B429-7F5A37E1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Autogrowth ist ein Sicherheitsnetz – keine Kapazitätsplanung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23F911C-F002-4AC4-945F-780DD867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37343CA-A8B4-4A7E-A7C7-D6D22759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5C9E046-D02F-4DE8-943E-DDC96BD7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17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DB698761-71F7-4693-ADC6-623B11C1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Dateien werden vorab dimensioniert; Wachstum wird als erwartbares Betriebsereignis überwacht.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B1D07F72-E486-475B-84BE-6368CDF0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9FC728C3-4C58-40A3-AD59-93F3C36D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Data Files: passende feste Growth-Schritte und freier Storage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Log: VLF-Struktur, Recovery Model und Log-Backup-Kette berücksichtigen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Instant File Initialization beschleunigt Data-File-Wachstum, nicht Log-Wachstum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Wachstumsdauer und Blockierung empirisch prüfen</a:t>
            </a:r>
          </a:p>
        </p:txBody>
      </p:sp>
    </p:spTree>
    <p:extLst>
      <p:ext uri="{BB962C8B-B14F-4D97-AF65-F5344CB8AC3E}">
        <p14:creationId xmlns:p14="http://schemas.microsoft.com/office/powerpoint/2010/main" val="20874340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">
            <a:extLst xmlns:a="http://schemas.openxmlformats.org/drawingml/2006/main">
              <a:ext uri="{FF2B5EF4-FFF2-40B4-BE49-F238E27FC236}">
                <a16:creationId xmlns:a16="http://schemas.microsoft.com/office/drawing/2014/main" id="{030C3114-304B-4D1B-A72E-415A8D9C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1 · WISSENSKONTROLLE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A8C832E7-AF90-4751-BD6A-138294B5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9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Warum kann eine Abfrage trotz unverändertem Plan plötzlich mehr I/O-Zeit benötigen?</a:t>
            </a:r>
          </a:p>
        </p:txBody>
      </p:sp>
      <p:sp>
        <p:nvSpPr>
          <p:cNvPr id="3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1AB94CF6-0EDF-496B-A18F-20B82820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mpt-num-0">
            <a:extLst xmlns:a="http://schemas.openxmlformats.org/drawingml/2006/main">
              <a:ext uri="{FF2B5EF4-FFF2-40B4-BE49-F238E27FC236}">
                <a16:creationId xmlns:a16="http://schemas.microsoft.com/office/drawing/2014/main" id="{5E678454-E8E4-437F-B58B-36FA643E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prompt-0">
            <a:extLst xmlns:a="http://schemas.openxmlformats.org/drawingml/2006/main">
              <a:ext uri="{FF2B5EF4-FFF2-40B4-BE49-F238E27FC236}">
                <a16:creationId xmlns:a16="http://schemas.microsoft.com/office/drawing/2014/main" id="{E36587A1-E6C9-4AE0-B92C-6F0BD102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Cachezustand und Read-ahead</a:t>
            </a:r>
          </a:p>
        </p:txBody>
      </p:sp>
      <p:sp>
        <p:nvSpPr>
          <p:cNvPr id="6" name="prompt-num-1">
            <a:extLst xmlns:a="http://schemas.openxmlformats.org/drawingml/2006/main">
              <a:ext uri="{FF2B5EF4-FFF2-40B4-BE49-F238E27FC236}">
                <a16:creationId xmlns:a16="http://schemas.microsoft.com/office/drawing/2014/main" id="{3ECFC933-B231-414C-BF30-E6A3701F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mpt-1">
            <a:extLst xmlns:a="http://schemas.openxmlformats.org/drawingml/2006/main">
              <a:ext uri="{FF2B5EF4-FFF2-40B4-BE49-F238E27FC236}">
                <a16:creationId xmlns:a16="http://schemas.microsoft.com/office/drawing/2014/main" id="{C52599F2-1C2E-420A-85F5-E1C7B6E2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Page-Anzahl und Zeilenbreite</a:t>
            </a:r>
          </a:p>
        </p:txBody>
      </p:sp>
      <p:sp>
        <p:nvSpPr>
          <p:cNvPr id="8" name="prompt-num-2">
            <a:extLst xmlns:a="http://schemas.openxmlformats.org/drawingml/2006/main">
              <a:ext uri="{FF2B5EF4-FFF2-40B4-BE49-F238E27FC236}">
                <a16:creationId xmlns:a16="http://schemas.microsoft.com/office/drawing/2014/main" id="{CB592791-8929-46D1-9C80-BA5D16CA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prompt-2">
            <a:extLst xmlns:a="http://schemas.openxmlformats.org/drawingml/2006/main">
              <a:ext uri="{FF2B5EF4-FFF2-40B4-BE49-F238E27FC236}">
                <a16:creationId xmlns:a16="http://schemas.microsoft.com/office/drawing/2014/main" id="{736C7A5C-31D5-4FC2-9537-FB06C23E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Storage-Latenz und konkurrierende Workload</a:t>
            </a:r>
          </a:p>
        </p:txBody>
      </p:sp>
      <p:sp>
        <p:nvSpPr>
          <p:cNvPr id="10" name="prompt-num-3">
            <a:extLst xmlns:a="http://schemas.openxmlformats.org/drawingml/2006/main">
              <a:ext uri="{FF2B5EF4-FFF2-40B4-BE49-F238E27FC236}">
                <a16:creationId xmlns:a16="http://schemas.microsoft.com/office/drawing/2014/main" id="{46DDC352-7A97-46FA-A856-0E36F45F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prompt-3">
            <a:extLst xmlns:a="http://schemas.openxmlformats.org/drawingml/2006/main">
              <a:ext uri="{FF2B5EF4-FFF2-40B4-BE49-F238E27FC236}">
                <a16:creationId xmlns:a16="http://schemas.microsoft.com/office/drawing/2014/main" id="{756E9EE6-EF21-4EA0-BD73-317DAF1C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Autogrowth oder Log Flush</a:t>
            </a:r>
          </a:p>
        </p:txBody>
      </p:sp>
      <p:sp>
        <p:nvSpPr>
          <p:cNvPr id="12" name="question-footer">
            <a:extLst xmlns:a="http://schemas.openxmlformats.org/drawingml/2006/main">
              <a:ext uri="{FF2B5EF4-FFF2-40B4-BE49-F238E27FC236}">
                <a16:creationId xmlns:a16="http://schemas.microsoft.com/office/drawing/2014/main" id="{6386A445-9209-4F37-9D59-5B570BBC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18 / 84</a:t>
            </a:r>
          </a:p>
        </p:txBody>
      </p:sp>
    </p:spTree>
    <p:extLst>
      <p:ext uri="{BB962C8B-B14F-4D97-AF65-F5344CB8AC3E}">
        <p14:creationId xmlns:p14="http://schemas.microsoft.com/office/powerpoint/2010/main" val="17085874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8C841A3-5C9F-4FE9-B647-7B3CD5A1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7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87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2765462-9231-4950-8D23-4FC65E25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BA32941-D3DC-428B-A719-ACA37B90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Query Processing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E52933A3-1D74-4AB0-9964-B50F058F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Wie werden aus SQL-Text Kardinalitäten, Kosten und ein ausführbarer Plan?</a:t>
            </a:r>
          </a:p>
        </p:txBody>
      </p:sp>
      <p:sp>
        <p:nvSpPr>
          <p:cNvPr id="5" name="section-footer">
            <a:extLst xmlns:a="http://schemas.openxmlformats.org/drawingml/2006/main">
              <a:ext uri="{FF2B5EF4-FFF2-40B4-BE49-F238E27FC236}">
                <a16:creationId xmlns:a16="http://schemas.microsoft.com/office/drawing/2014/main" id="{A5E47BF0-A2C1-4036-9AD5-F8B826F4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19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</p:spTree>
    <p:extLst>
      <p:ext uri="{BB962C8B-B14F-4D97-AF65-F5344CB8AC3E}">
        <p14:creationId xmlns:p14="http://schemas.microsoft.com/office/powerpoint/2010/main" val="90471484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90005A9-CB41-4964-AD14-7A3FA1F8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AA3F878-0109-4E12-A7A3-0FAD8ED3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Eine Query durchläuft vier fachlich unterscheidbare Phasen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A78D55D-2025-4ACD-ADC7-BEFA3596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EFB4B43-E621-4397-A82F-DDD28129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7E15A68-D696-4D27-846B-8A9EEF26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20 / 84</a:t>
            </a:r>
          </a:p>
        </p:txBody>
      </p:sp>
      <p:sp>
        <p:nvSpPr>
          <p:cNvPr id="6" name="flow-1">
            <a:extLst xmlns:a="http://schemas.openxmlformats.org/drawingml/2006/main">
              <a:ext uri="{FF2B5EF4-FFF2-40B4-BE49-F238E27FC236}">
                <a16:creationId xmlns:a16="http://schemas.microsoft.com/office/drawing/2014/main" id="{0C409208-CA35-4278-9E16-2EA7B53A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5050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flow-1-text">
            <a:extLst xmlns:a="http://schemas.openxmlformats.org/drawingml/2006/main">
              <a:ext uri="{FF2B5EF4-FFF2-40B4-BE49-F238E27FC236}">
                <a16:creationId xmlns:a16="http://schemas.microsoft.com/office/drawing/2014/main" id="{EB86B69D-E94D-459E-A576-528EE30E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2383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Parse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Syntax</a:t>
            </a:r>
          </a:p>
        </p:txBody>
      </p:sp>
      <p:sp>
        <p:nvSpPr>
          <p:cNvPr id="8" name="flow-2">
            <a:extLst xmlns:a="http://schemas.openxmlformats.org/drawingml/2006/main">
              <a:ext uri="{FF2B5EF4-FFF2-40B4-BE49-F238E27FC236}">
                <a16:creationId xmlns:a16="http://schemas.microsoft.com/office/drawing/2014/main" id="{84BB61AF-AF18-4E05-9909-95885E78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609850"/>
            <a:ext cx="25050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flow-2-text">
            <a:extLst xmlns:a="http://schemas.openxmlformats.org/drawingml/2006/main">
              <a:ext uri="{FF2B5EF4-FFF2-40B4-BE49-F238E27FC236}">
                <a16:creationId xmlns:a16="http://schemas.microsoft.com/office/drawing/2014/main" id="{36E4EB0F-CD1A-43A1-9B5F-4F7D6F2C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724150"/>
            <a:ext cx="22383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Bind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Objekte &amp; Typen</a:t>
            </a:r>
          </a:p>
        </p:txBody>
      </p:sp>
      <p:sp>
        <p:nvSpPr>
          <p:cNvPr id="10" name="flow-3">
            <a:extLst xmlns:a="http://schemas.openxmlformats.org/drawingml/2006/main">
              <a:ext uri="{FF2B5EF4-FFF2-40B4-BE49-F238E27FC236}">
                <a16:creationId xmlns:a16="http://schemas.microsoft.com/office/drawing/2014/main" id="{BAA9AF21-FFEE-48E0-BF2C-751A1A28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09850"/>
            <a:ext cx="25050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flow-3-text">
            <a:extLst xmlns:a="http://schemas.openxmlformats.org/drawingml/2006/main">
              <a:ext uri="{FF2B5EF4-FFF2-40B4-BE49-F238E27FC236}">
                <a16:creationId xmlns:a16="http://schemas.microsoft.com/office/drawing/2014/main" id="{26B34F9B-6169-437C-AC13-888C36D6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24150"/>
            <a:ext cx="22383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Optimize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Alternativen</a:t>
            </a:r>
          </a:p>
        </p:txBody>
      </p:sp>
      <p:sp>
        <p:nvSpPr>
          <p:cNvPr id="12" name="flow-4">
            <a:extLst xmlns:a="http://schemas.openxmlformats.org/drawingml/2006/main">
              <a:ext uri="{FF2B5EF4-FFF2-40B4-BE49-F238E27FC236}">
                <a16:creationId xmlns:a16="http://schemas.microsoft.com/office/drawing/2014/main" id="{F8638203-51B2-480A-B165-B2018AA7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09850"/>
            <a:ext cx="25050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flow-4-text">
            <a:extLst xmlns:a="http://schemas.openxmlformats.org/drawingml/2006/main">
              <a:ext uri="{FF2B5EF4-FFF2-40B4-BE49-F238E27FC236}">
                <a16:creationId xmlns:a16="http://schemas.microsoft.com/office/drawing/2014/main" id="{4704A370-89AA-476A-A772-BF877B8B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24150"/>
            <a:ext cx="22383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Execute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Operatoren</a:t>
            </a:r>
          </a:p>
        </p:txBody>
      </p:sp>
      <p:cxnSp>
        <p:nvCxnSpPr>
          <p:cNvPr id="3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114675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543925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7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906145E5-F342-40D3-A305-16E658E0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8382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8" name="conclusion">
            <a:extLst xmlns:a="http://schemas.openxmlformats.org/drawingml/2006/main">
              <a:ext uri="{FF2B5EF4-FFF2-40B4-BE49-F238E27FC236}">
                <a16:creationId xmlns:a16="http://schemas.microsoft.com/office/drawing/2014/main" id="{CB890CDC-5F2D-42E8-82DD-A51AC48F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33950"/>
            <a:ext cx="7886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Fehler in Datentypen oder Metadaten wirken bereits vor der Ausführung.</a:t>
            </a:r>
          </a:p>
        </p:txBody>
      </p:sp>
    </p:spTree>
    <p:extLst>
      <p:ext uri="{BB962C8B-B14F-4D97-AF65-F5344CB8AC3E}">
        <p14:creationId xmlns:p14="http://schemas.microsoft.com/office/powerpoint/2010/main" val="10940902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947D279-BCB2-4516-9FBE-496613D9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F6BE94-E1EF-442A-B01E-1E2C32F4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Optimizer sucht einen ausreichend günstigen Plan – nicht den mathematisch besten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9C76B92-3385-4C77-9397-B1980735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D27CBFA-04D1-438F-815E-19AB5D97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C982AFA-F68A-403A-9454-288AA19D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21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41FD7ED2-BCE1-49C8-A468-828C0871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Suchraum wächst kombinatorisch. Deshalb begrenzen Transformationen, Heuristiken und Optimierungsphasen die Suche.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444F96E5-8297-4545-AF35-EEA45AA5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7E9CB950-C41F-48A7-B70C-CE67FE2A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Operatoren erhalten modellierte CPU- und I/O-Kosten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Kardinalitäten beeinflussen fast jede Kostenkomponente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Time-out bedeutet Abbruch der Suche, nicht zwingend einen schlechten Plan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Runtime-Zustände können vom Kostenmodell abweichen</a:t>
            </a:r>
          </a:p>
        </p:txBody>
      </p:sp>
    </p:spTree>
    <p:extLst>
      <p:ext uri="{BB962C8B-B14F-4D97-AF65-F5344CB8AC3E}">
        <p14:creationId xmlns:p14="http://schemas.microsoft.com/office/powerpoint/2010/main" val="1658792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603BBC4-2E55-4FD1-B2A8-54AF6D0A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D5EECB-D44D-405D-A87B-21FDDC3E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Kardinalität verbindet Datenverteilung mit Planwahl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D356BD4-9445-4F60-9566-6DF46812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D9C6946-143E-4DBB-960A-10EA905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3C7B820-796A-4C45-9E28-0FF5F521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22 / 84</a:t>
            </a:r>
          </a:p>
        </p:txBody>
      </p:sp>
      <p:sp>
        <p:nvSpPr>
          <p:cNvPr id="6" name="data-dist">
            <a:extLst xmlns:a="http://schemas.openxmlformats.org/drawingml/2006/main">
              <a:ext uri="{FF2B5EF4-FFF2-40B4-BE49-F238E27FC236}">
                <a16:creationId xmlns:a16="http://schemas.microsoft.com/office/drawing/2014/main" id="{AAF4087B-C6BE-4BF0-AF13-F1FEE8E2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2095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data-dist-text">
            <a:extLst xmlns:a="http://schemas.openxmlformats.org/drawingml/2006/main">
              <a:ext uri="{FF2B5EF4-FFF2-40B4-BE49-F238E27FC236}">
                <a16:creationId xmlns:a16="http://schemas.microsoft.com/office/drawing/2014/main" id="{DFEA92E1-6386-463E-99DB-E90437B8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14675"/>
            <a:ext cx="1828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Datenverteilung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&amp; Parameter</a:t>
            </a:r>
          </a:p>
        </p:txBody>
      </p:sp>
      <p:sp>
        <p:nvSpPr>
          <p:cNvPr id="8" name="statistics">
            <a:extLst xmlns:a="http://schemas.openxmlformats.org/drawingml/2006/main">
              <a:ext uri="{FF2B5EF4-FFF2-40B4-BE49-F238E27FC236}">
                <a16:creationId xmlns:a16="http://schemas.microsoft.com/office/drawing/2014/main" id="{357C2971-8FB5-4259-B6EC-814FB5EB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22860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statistics-text">
            <a:extLst xmlns:a="http://schemas.openxmlformats.org/drawingml/2006/main">
              <a:ext uri="{FF2B5EF4-FFF2-40B4-BE49-F238E27FC236}">
                <a16:creationId xmlns:a16="http://schemas.microsoft.com/office/drawing/2014/main" id="{D49F1485-01A2-4796-B1A3-C34CA940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57500"/>
            <a:ext cx="2019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Statistiken,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Constraints,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Heuristiken</a:t>
            </a:r>
          </a:p>
        </p:txBody>
      </p:sp>
      <p:sp>
        <p:nvSpPr>
          <p:cNvPr id="10" name="estimate">
            <a:extLst xmlns:a="http://schemas.openxmlformats.org/drawingml/2006/main">
              <a:ext uri="{FF2B5EF4-FFF2-40B4-BE49-F238E27FC236}">
                <a16:creationId xmlns:a16="http://schemas.microsoft.com/office/drawing/2014/main" id="{806D1034-B21D-4BC7-888E-A92987A5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0375"/>
            <a:ext cx="19050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estimate-text">
            <a:extLst xmlns:a="http://schemas.openxmlformats.org/drawingml/2006/main">
              <a:ext uri="{FF2B5EF4-FFF2-40B4-BE49-F238E27FC236}">
                <a16:creationId xmlns:a16="http://schemas.microsoft.com/office/drawing/2014/main" id="{86EA7E81-5BB3-4FE2-BB0D-0A11724A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14675"/>
            <a:ext cx="1638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Estimated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Rows</a:t>
            </a:r>
          </a:p>
        </p:txBody>
      </p:sp>
      <p:sp>
        <p:nvSpPr>
          <p:cNvPr id="12" name="plan-choice">
            <a:extLst xmlns:a="http://schemas.openxmlformats.org/drawingml/2006/main">
              <a:ext uri="{FF2B5EF4-FFF2-40B4-BE49-F238E27FC236}">
                <a16:creationId xmlns:a16="http://schemas.microsoft.com/office/drawing/2014/main" id="{24CC5641-F667-45AF-908A-BECA73A7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00375"/>
            <a:ext cx="2000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plan-choice-text">
            <a:extLst xmlns:a="http://schemas.openxmlformats.org/drawingml/2006/main">
              <a:ext uri="{FF2B5EF4-FFF2-40B4-BE49-F238E27FC236}">
                <a16:creationId xmlns:a16="http://schemas.microsoft.com/office/drawing/2014/main" id="{FC32C745-7A5F-4A0D-870E-AE84950F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14675"/>
            <a:ext cx="1733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Join · Grant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DOP · Access</a:t>
            </a:r>
          </a:p>
        </p:txBody>
      </p: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819400" y="361950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924550" y="36195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667750" y="361950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7" name="cardinality-caption">
            <a:extLst xmlns:a="http://schemas.openxmlformats.org/drawingml/2006/main">
              <a:ext uri="{FF2B5EF4-FFF2-40B4-BE49-F238E27FC236}">
                <a16:creationId xmlns:a16="http://schemas.microsoft.com/office/drawing/2014/main" id="{86903D88-181D-4998-9041-D363C048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48250"/>
            <a:ext cx="777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Schätzfehler kann sich über mehrere Operatoren vervielfachen.</a:t>
            </a:r>
          </a:p>
        </p:txBody>
      </p:sp>
    </p:spTree>
    <p:extLst>
      <p:ext uri="{BB962C8B-B14F-4D97-AF65-F5344CB8AC3E}">
        <p14:creationId xmlns:p14="http://schemas.microsoft.com/office/powerpoint/2010/main" val="133279694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56E95186-3376-4D77-91CC-90EDF26E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753535-2DD8-4136-814D-EEA9396F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Eine Statistik beschreibt Verteilung – aber nur in begrenzter Auflösung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4070C62-6201-443C-A9D6-995B8E05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6638BE1-1F71-4B6F-A945-2B09CC49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9BBE4D2-A56A-4991-9A4A-FFAC0C51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23 / 84</a:t>
            </a:r>
          </a:p>
        </p:txBody>
      </p:sp>
      <p:sp>
        <p:nvSpPr>
          <p:cNvPr id="6" name="hist-axis-x">
            <a:extLst xmlns:a="http://schemas.openxmlformats.org/drawingml/2006/main">
              <a:ext uri="{FF2B5EF4-FFF2-40B4-BE49-F238E27FC236}">
                <a16:creationId xmlns:a16="http://schemas.microsoft.com/office/drawing/2014/main" id="{2388F43D-406D-4E39-98C7-3D6F9E6F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ist-axis-y">
            <a:extLst xmlns:a="http://schemas.openxmlformats.org/drawingml/2006/main">
              <a:ext uri="{FF2B5EF4-FFF2-40B4-BE49-F238E27FC236}">
                <a16:creationId xmlns:a16="http://schemas.microsoft.com/office/drawing/2014/main" id="{5D5C8341-DFBB-4180-93B6-1FC68B8A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28575" cy="2505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ist-bar-0">
            <a:extLst xmlns:a="http://schemas.openxmlformats.org/drawingml/2006/main">
              <a:ext uri="{FF2B5EF4-FFF2-40B4-BE49-F238E27FC236}">
                <a16:creationId xmlns:a16="http://schemas.microsoft.com/office/drawing/2014/main" id="{CD4F3146-8A4D-495F-97E7-483F2B5B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361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ist-bar-1">
            <a:extLst xmlns:a="http://schemas.openxmlformats.org/drawingml/2006/main">
              <a:ext uri="{FF2B5EF4-FFF2-40B4-BE49-F238E27FC236}">
                <a16:creationId xmlns:a16="http://schemas.microsoft.com/office/drawing/2014/main" id="{9D194A8D-C35B-43CA-8D81-F5EFD2A0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114800"/>
            <a:ext cx="3619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ist-bar-2">
            <a:extLst xmlns:a="http://schemas.openxmlformats.org/drawingml/2006/main">
              <a:ext uri="{FF2B5EF4-FFF2-40B4-BE49-F238E27FC236}">
                <a16:creationId xmlns:a16="http://schemas.microsoft.com/office/drawing/2014/main" id="{580F1405-12FB-4096-AC80-E904E3F1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19600"/>
            <a:ext cx="361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ist-bar-3">
            <a:extLst xmlns:a="http://schemas.openxmlformats.org/drawingml/2006/main">
              <a:ext uri="{FF2B5EF4-FFF2-40B4-BE49-F238E27FC236}">
                <a16:creationId xmlns:a16="http://schemas.microsoft.com/office/drawing/2014/main" id="{DA9C27A4-DFE9-4455-A781-5DD67A42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52825"/>
            <a:ext cx="3619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ist-bar-4">
            <a:extLst xmlns:a="http://schemas.openxmlformats.org/drawingml/2006/main">
              <a:ext uri="{FF2B5EF4-FFF2-40B4-BE49-F238E27FC236}">
                <a16:creationId xmlns:a16="http://schemas.microsoft.com/office/drawing/2014/main" id="{288B5840-32DE-43FF-888F-03108D50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229100"/>
            <a:ext cx="36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ist-bar-5">
            <a:extLst xmlns:a="http://schemas.openxmlformats.org/drawingml/2006/main">
              <a:ext uri="{FF2B5EF4-FFF2-40B4-BE49-F238E27FC236}">
                <a16:creationId xmlns:a16="http://schemas.microsoft.com/office/drawing/2014/main" id="{DEE3FFB4-622C-4C2C-AA88-BBA9568C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48000"/>
            <a:ext cx="361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ist-bar-6">
            <a:extLst xmlns:a="http://schemas.openxmlformats.org/drawingml/2006/main">
              <a:ext uri="{FF2B5EF4-FFF2-40B4-BE49-F238E27FC236}">
                <a16:creationId xmlns:a16="http://schemas.microsoft.com/office/drawing/2014/main" id="{EC1BD889-87A5-47A7-A093-A47AD517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4000500"/>
            <a:ext cx="3619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ist-bar-7">
            <a:extLst xmlns:a="http://schemas.openxmlformats.org/drawingml/2006/main">
              <a:ext uri="{FF2B5EF4-FFF2-40B4-BE49-F238E27FC236}">
                <a16:creationId xmlns:a16="http://schemas.microsoft.com/office/drawing/2014/main" id="{2CAD4279-0553-413F-A58B-E331CE1E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343400"/>
            <a:ext cx="361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ist-bar-8">
            <a:extLst xmlns:a="http://schemas.openxmlformats.org/drawingml/2006/main">
              <a:ext uri="{FF2B5EF4-FFF2-40B4-BE49-F238E27FC236}">
                <a16:creationId xmlns:a16="http://schemas.microsoft.com/office/drawing/2014/main" id="{A05C831E-9AC5-4DCA-B588-A4265C07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14750"/>
            <a:ext cx="361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ist-bar-9">
            <a:extLst xmlns:a="http://schemas.openxmlformats.org/drawingml/2006/main">
              <a:ext uri="{FF2B5EF4-FFF2-40B4-BE49-F238E27FC236}">
                <a16:creationId xmlns:a16="http://schemas.microsoft.com/office/drawing/2014/main" id="{FB84E831-2DF9-4215-9C4F-7E7D7147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476750"/>
            <a:ext cx="361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ist-bar-10">
            <a:extLst xmlns:a="http://schemas.openxmlformats.org/drawingml/2006/main">
              <a:ext uri="{FF2B5EF4-FFF2-40B4-BE49-F238E27FC236}">
                <a16:creationId xmlns:a16="http://schemas.microsoft.com/office/drawing/2014/main" id="{58B0A822-3758-4B46-B111-E0B8F24F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200400"/>
            <a:ext cx="3619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ist-bar-11">
            <a:extLst xmlns:a="http://schemas.openxmlformats.org/drawingml/2006/main">
              <a:ext uri="{FF2B5EF4-FFF2-40B4-BE49-F238E27FC236}">
                <a16:creationId xmlns:a16="http://schemas.microsoft.com/office/drawing/2014/main" id="{4994C2F4-21A8-4FC7-A13D-80670BC3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305300"/>
            <a:ext cx="361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ist-y">
            <a:extLst xmlns:a="http://schemas.openxmlformats.org/drawingml/2006/main">
              <a:ext uri="{FF2B5EF4-FFF2-40B4-BE49-F238E27FC236}">
                <a16:creationId xmlns:a16="http://schemas.microsoft.com/office/drawing/2014/main" id="{66BADCF5-3949-4203-BCD1-F841BC29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4290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Häufigkeit</a:t>
            </a:r>
          </a:p>
        </p:txBody>
      </p:sp>
      <p:sp>
        <p:nvSpPr>
          <p:cNvPr id="21" name="hist-x">
            <a:extLst xmlns:a="http://schemas.openxmlformats.org/drawingml/2006/main">
              <a:ext uri="{FF2B5EF4-FFF2-40B4-BE49-F238E27FC236}">
                <a16:creationId xmlns:a16="http://schemas.microsoft.com/office/drawing/2014/main" id="{E23C5EDD-3ED7-4525-A13B-5D6B0B70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197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Wertebereich der führenden Spalte</a:t>
            </a:r>
          </a:p>
        </p:txBody>
      </p:sp>
      <p:sp>
        <p:nvSpPr>
          <p:cNvPr id="22" name="hist-note-bg">
            <a:extLst xmlns:a="http://schemas.openxmlformats.org/drawingml/2006/main">
              <a:ext uri="{FF2B5EF4-FFF2-40B4-BE49-F238E27FC236}">
                <a16:creationId xmlns:a16="http://schemas.microsoft.com/office/drawing/2014/main" id="{D71B80E7-A4F1-4971-BF1F-D4DE41F1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05100"/>
            <a:ext cx="1809750" cy="20955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23" name="hist-note">
            <a:extLst xmlns:a="http://schemas.openxmlformats.org/drawingml/2006/main">
              <a:ext uri="{FF2B5EF4-FFF2-40B4-BE49-F238E27FC236}">
                <a16:creationId xmlns:a16="http://schemas.microsoft.com/office/drawing/2014/main" id="{2225E35D-ACA1-4CE3-A010-EF14C58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28950"/>
            <a:ext cx="1466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≤ 200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Schritte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nur führende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Spalte</a:t>
            </a:r>
          </a:p>
        </p:txBody>
      </p:sp>
    </p:spTree>
    <p:extLst>
      <p:ext uri="{BB962C8B-B14F-4D97-AF65-F5344CB8AC3E}">
        <p14:creationId xmlns:p14="http://schemas.microsoft.com/office/powerpoint/2010/main" val="84719485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EF743995-2053-403D-8149-DB30952A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A7D246-0F04-4743-9581-E25DE109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Histogramm und Density Vector liefern unterschiedliche Evidenz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6A70217-AE5C-4FD8-B111-4204217D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061FACE-C8A2-459A-8BBE-DB17C388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12CF71B-ADDD-4AFB-BF99-02A809D8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24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1F2D4D76-DD71-4B34-A1FB-DDEDFF07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Histogramm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8ADED338-1081-405D-90FD-46253DF6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Density Vector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D39339DA-27A8-458B-A495-EA3D49EE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F803DE2C-7256-4AEA-940F-8901D8A7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führende Statistikspalte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Wertebereiche und Häufigkeiten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maximal 200 Schritte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DE5D0826-E443-4B65-803E-8AB48317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kombinierte Präfixe mehrerer Spalten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durchschnittliche Eindeutigkeit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keine vollständige Korrelationsbeschreibung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2843CF9F-46AF-44C2-A73E-B495E4C4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EC6FBC04-763F-4E82-BEBE-998350F7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Mehrspaltige Korrelation bleibt eine zentrale Schätzgrenze.</a:t>
            </a:r>
          </a:p>
        </p:txBody>
      </p:sp>
    </p:spTree>
    <p:extLst>
      <p:ext uri="{BB962C8B-B14F-4D97-AF65-F5344CB8AC3E}">
        <p14:creationId xmlns:p14="http://schemas.microsoft.com/office/powerpoint/2010/main" val="62010360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25822BB-95C6-4E28-8B45-82B7584B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34FAFC-2F62-4C00-BCD5-3CFCE4FB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Constraints und Eindeutigkeit sind Optimizerwissen – nicht nur Datenqualität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E260D53-DB3D-453F-B434-26FAAAEC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6486F68-3A44-49E1-B557-393D502A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C831FD8-9A6A-40FA-B4B3-5B305A86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25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60B0DD6B-24B2-4F7A-BB2B-18C91D90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Verlässliche Metadaten können Kardinalitäten begrenzen und unnötige Operatoren vermeiden.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81692211-C340-4014-B264-A761C9EA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07C1FA21-A7D2-41F9-941D-4454DAC6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PRIMARY KEY und UNIQUE liefern Eindeutigkeitsinformation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FOREIGN KEY kann Join-Beziehungen beschreiben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CHECK Constraints begrenzen Wertebereiche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Korrelation ohne Metadaten bleibt häufig eine Modellannahme</a:t>
            </a:r>
          </a:p>
        </p:txBody>
      </p:sp>
    </p:spTree>
    <p:extLst>
      <p:ext uri="{BB962C8B-B14F-4D97-AF65-F5344CB8AC3E}">
        <p14:creationId xmlns:p14="http://schemas.microsoft.com/office/powerpoint/2010/main" val="151937960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32C6B43E-0B42-4982-8B41-F96E8922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1162E6-5FA5-4099-94A3-098977F9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Estimated und Actual Rows werden auf jedem relevanten Operator verglichen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85DBEF92-BA01-4312-8709-FDB034E8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7E43511-51C2-4AD0-9A64-D98FFD7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351053D-0067-4E5B-9E1F-901A1051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26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2659700C-9874-45B2-B69B-545D8463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Estimated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354AD5D6-B5DF-4CC6-84B8-9A5242DD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Actual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1FB75557-1E66-4CFF-BADA-B922EEDE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C14A2E90-091B-4D3E-9DF7-DCEC4980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Compile-time-Schätzung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Grundlage für Join, Grant und DOP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abhängig von Parametern und Statistiken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D1296467-1E1C-461A-BA9D-50B63878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Runtime-Zeilen und Ausführungsanzahl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nur im Actual Plan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kann durch frühe Abbrüche beeinflusst sein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7B66A06E-82B2-4E5E-8F08-60B38483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38433C2E-3BF8-4A7B-B9A1-27D4C5C6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Große Abweichung ist ein Diagnosehinweis, noch keine Ursache.</a:t>
            </a:r>
          </a:p>
        </p:txBody>
      </p:sp>
    </p:spTree>
    <p:extLst>
      <p:ext uri="{BB962C8B-B14F-4D97-AF65-F5344CB8AC3E}">
        <p14:creationId xmlns:p14="http://schemas.microsoft.com/office/powerpoint/2010/main" val="69765931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55AABBD3-9C69-4CBD-9DAF-5094DE7E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E30B42-A142-438A-81E6-36D711B2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Plan wird entlang des Datenflusses und der Operatorausführung gelesen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4A7ABE4A-CACC-4B92-9534-4700DA6B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DDA3BDC-64B5-4F4F-BF04-15365F5F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7762919-FB4C-4A81-BB0A-7BDCE547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27 / 84</a:t>
            </a:r>
          </a:p>
        </p:txBody>
      </p:sp>
      <p:sp>
        <p:nvSpPr>
          <p:cNvPr id="6" name="plan-scan">
            <a:extLst xmlns:a="http://schemas.openxmlformats.org/drawingml/2006/main">
              <a:ext uri="{FF2B5EF4-FFF2-40B4-BE49-F238E27FC236}">
                <a16:creationId xmlns:a16="http://schemas.microsoft.com/office/drawing/2014/main" id="{13B4D54C-8C04-4671-B7BC-8C10717C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19450"/>
            <a:ext cx="2000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plan-scan-text">
            <a:extLst xmlns:a="http://schemas.openxmlformats.org/drawingml/2006/main">
              <a:ext uri="{FF2B5EF4-FFF2-40B4-BE49-F238E27FC236}">
                <a16:creationId xmlns:a16="http://schemas.microsoft.com/office/drawing/2014/main" id="{835942EF-385F-46E1-AF5A-275F315E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33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Index Seek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Actual 100</a:t>
            </a:r>
          </a:p>
        </p:txBody>
      </p:sp>
      <p:sp>
        <p:nvSpPr>
          <p:cNvPr id="8" name="plan-lookup">
            <a:extLst xmlns:a="http://schemas.openxmlformats.org/drawingml/2006/main">
              <a:ext uri="{FF2B5EF4-FFF2-40B4-BE49-F238E27FC236}">
                <a16:creationId xmlns:a16="http://schemas.microsoft.com/office/drawing/2014/main" id="{6ACCE3AE-054B-4152-B3A3-E2B15E50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19450"/>
            <a:ext cx="2000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plan-lookup-text">
            <a:extLst xmlns:a="http://schemas.openxmlformats.org/drawingml/2006/main">
              <a:ext uri="{FF2B5EF4-FFF2-40B4-BE49-F238E27FC236}">
                <a16:creationId xmlns:a16="http://schemas.microsoft.com/office/drawing/2014/main" id="{7E8F5652-7DED-4D15-A4D7-40B9F959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33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Key Lookup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100 ×</a:t>
            </a:r>
          </a:p>
        </p:txBody>
      </p:sp>
      <p:sp>
        <p:nvSpPr>
          <p:cNvPr id="10" name="plan-loops">
            <a:extLst xmlns:a="http://schemas.openxmlformats.org/drawingml/2006/main">
              <a:ext uri="{FF2B5EF4-FFF2-40B4-BE49-F238E27FC236}">
                <a16:creationId xmlns:a16="http://schemas.microsoft.com/office/drawing/2014/main" id="{B293A84F-EBB7-47CE-A407-213BA4A8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19450"/>
            <a:ext cx="2000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plan-loops-text">
            <a:extLst xmlns:a="http://schemas.openxmlformats.org/drawingml/2006/main">
              <a:ext uri="{FF2B5EF4-FFF2-40B4-BE49-F238E27FC236}">
                <a16:creationId xmlns:a16="http://schemas.microsoft.com/office/drawing/2014/main" id="{FCF96E47-F317-486B-85E8-6AF85725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Nested Loops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Actual 100</a:t>
            </a:r>
          </a:p>
        </p:txBody>
      </p:sp>
      <p:sp>
        <p:nvSpPr>
          <p:cNvPr id="12" name="plan-select">
            <a:extLst xmlns:a="http://schemas.openxmlformats.org/drawingml/2006/main">
              <a:ext uri="{FF2B5EF4-FFF2-40B4-BE49-F238E27FC236}">
                <a16:creationId xmlns:a16="http://schemas.microsoft.com/office/drawing/2014/main" id="{4D715437-B58E-4C1C-958F-AB015403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2000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plan-select-text">
            <a:extLst xmlns:a="http://schemas.openxmlformats.org/drawingml/2006/main">
              <a:ext uri="{FF2B5EF4-FFF2-40B4-BE49-F238E27FC236}">
                <a16:creationId xmlns:a16="http://schemas.microsoft.com/office/drawing/2014/main" id="{CA6C2600-099F-4887-A50F-6CEFD4F3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SELECT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Resultset</a:t>
            </a:r>
          </a:p>
        </p:txBody>
      </p:sp>
      <p:cxnSp>
        <p:nvCxnSpPr>
          <p:cNvPr id="31" name=""/>
          <p:cNvCxnSpPr>
            <a:stCxn xmlns:a="http://schemas.openxmlformats.org/drawingml/2006/main" id="6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8286750" y="37528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2" name=""/>
          <p:cNvCxnSpPr>
            <a:stCxn xmlns:a="http://schemas.openxmlformats.org/drawingml/2006/main" id="8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5657850" y="37528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10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28950" y="37528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7" name="plan-caption">
            <a:extLst xmlns:a="http://schemas.openxmlformats.org/drawingml/2006/main">
              <a:ext uri="{FF2B5EF4-FFF2-40B4-BE49-F238E27FC236}">
                <a16:creationId xmlns:a16="http://schemas.microsoft.com/office/drawing/2014/main" id="{807519F1-7055-4F5E-840D-6D93B662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857750"/>
            <a:ext cx="847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Datenfluss rechts → links · Ausführungsanzahl und Rows pro Operator prüfen</a:t>
            </a:r>
          </a:p>
        </p:txBody>
      </p:sp>
    </p:spTree>
    <p:extLst>
      <p:ext uri="{BB962C8B-B14F-4D97-AF65-F5344CB8AC3E}">
        <p14:creationId xmlns:p14="http://schemas.microsoft.com/office/powerpoint/2010/main" val="155180297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3CE5FB7-EC6D-499C-84A8-13ACAA8E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72EA3B-4429-4931-956B-B5205161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Join-Algorithmen lösen dasselbe Problem mit unterschiedlichen Kostenprofilen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B2BFE38-CCA8-4F12-B4B7-3D90E65F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4309DA9-37BE-4A62-92C8-20BAB672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3BFAB4B-967F-41DC-B9F1-98DEDD9A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28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3524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7048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Join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stark bei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typisches Risiko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Nested Loops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kleinem Outer Input und günstigem Inner Lookup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viele wiederholte Zugriffe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Hash Match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großen unsortierten Inputs und Gleichheit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Memory Grant und Spill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Merge Join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sortierten Inputs und Gleichheit/Ranges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Sortkosten oder große Streams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Adaptive Join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unsicherer Build-Kardinalität im geeigneten Batch-Mode-Szenario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versions- und planabhängig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04394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509F50B-13C1-4082-AEBB-4D29C351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5414A9-381E-493A-A8BD-8EEE69FD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Memory Grants koppeln Planqualität an Workload-Concurrency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05A747B-B1AF-4A81-9DCD-23C74C12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16266DE-ACA0-43C1-865D-42F10157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A677FEE-726E-491E-9B50-DD15ABD6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29 / 84</a:t>
            </a:r>
          </a:p>
        </p:txBody>
      </p:sp>
      <p:sp>
        <p:nvSpPr>
          <p:cNvPr id="6" name="grant-est">
            <a:extLst xmlns:a="http://schemas.openxmlformats.org/drawingml/2006/main">
              <a:ext uri="{FF2B5EF4-FFF2-40B4-BE49-F238E27FC236}">
                <a16:creationId xmlns:a16="http://schemas.microsoft.com/office/drawing/2014/main" id="{A44BE730-2201-4A83-9092-813D1437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2095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grant-est-text">
            <a:extLst xmlns:a="http://schemas.openxmlformats.org/drawingml/2006/main">
              <a:ext uri="{FF2B5EF4-FFF2-40B4-BE49-F238E27FC236}">
                <a16:creationId xmlns:a16="http://schemas.microsoft.com/office/drawing/2014/main" id="{38C7191F-2FA0-4D97-85DE-E22661A2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28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Estimated Rows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× Row Width</a:t>
            </a:r>
          </a:p>
        </p:txBody>
      </p:sp>
      <p:sp>
        <p:nvSpPr>
          <p:cNvPr id="8" name="grant-req">
            <a:extLst xmlns:a="http://schemas.openxmlformats.org/drawingml/2006/main">
              <a:ext uri="{FF2B5EF4-FFF2-40B4-BE49-F238E27FC236}">
                <a16:creationId xmlns:a16="http://schemas.microsoft.com/office/drawing/2014/main" id="{2B537531-5C8A-43CB-8FD9-3716B0A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67050"/>
            <a:ext cx="2000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grant-req-text">
            <a:extLst xmlns:a="http://schemas.openxmlformats.org/drawingml/2006/main">
              <a:ext uri="{FF2B5EF4-FFF2-40B4-BE49-F238E27FC236}">
                <a16:creationId xmlns:a16="http://schemas.microsoft.com/office/drawing/2014/main" id="{704D29AB-5179-425A-8B18-7B4691F1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81350"/>
            <a:ext cx="1733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Requested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10" name="grant-got">
            <a:extLst xmlns:a="http://schemas.openxmlformats.org/drawingml/2006/main">
              <a:ext uri="{FF2B5EF4-FFF2-40B4-BE49-F238E27FC236}">
                <a16:creationId xmlns:a16="http://schemas.microsoft.com/office/drawing/2014/main" id="{05EFBC7D-0AAF-4B7E-9E4A-A1BBC8D9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7050"/>
            <a:ext cx="2000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grant-got-text">
            <a:extLst xmlns:a="http://schemas.openxmlformats.org/drawingml/2006/main">
              <a:ext uri="{FF2B5EF4-FFF2-40B4-BE49-F238E27FC236}">
                <a16:creationId xmlns:a16="http://schemas.microsoft.com/office/drawing/2014/main" id="{21AF39C2-01EB-49B3-95AE-2B1F3624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81350"/>
            <a:ext cx="1733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Granted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12" name="grant-run">
            <a:extLst xmlns:a="http://schemas.openxmlformats.org/drawingml/2006/main">
              <a:ext uri="{FF2B5EF4-FFF2-40B4-BE49-F238E27FC236}">
                <a16:creationId xmlns:a16="http://schemas.microsoft.com/office/drawing/2014/main" id="{78F69084-4A50-45B8-9326-2A0B1E2E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67050"/>
            <a:ext cx="2095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grant-run-text">
            <a:extLst xmlns:a="http://schemas.openxmlformats.org/drawingml/2006/main">
              <a:ext uri="{FF2B5EF4-FFF2-40B4-BE49-F238E27FC236}">
                <a16:creationId xmlns:a16="http://schemas.microsoft.com/office/drawing/2014/main" id="{338BC4DA-97E5-4691-A7B8-52E98087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81350"/>
            <a:ext cx="1828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Used Memory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oder Spill</a:t>
            </a:r>
          </a:p>
        </p:txBody>
      </p: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914650" y="368617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657850" y="368617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401050" y="368617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7" name="grant-caption">
            <a:extLst xmlns:a="http://schemas.openxmlformats.org/drawingml/2006/main">
              <a:ext uri="{FF2B5EF4-FFF2-40B4-BE49-F238E27FC236}">
                <a16:creationId xmlns:a16="http://schemas.microsoft.com/office/drawing/2014/main" id="{CDDC899C-B9CA-4C7E-ACBE-FD0CD3E3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5300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Undergrant → TempDB-Spill · Overgrant → weniger Concurrency</a:t>
            </a:r>
          </a:p>
        </p:txBody>
      </p:sp>
    </p:spTree>
    <p:extLst>
      <p:ext uri="{BB962C8B-B14F-4D97-AF65-F5344CB8AC3E}">
        <p14:creationId xmlns:p14="http://schemas.microsoft.com/office/powerpoint/2010/main" val="180256137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5E89F65-68ED-4B27-A5C9-FB7D1C1F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E20F11-7098-41BE-9258-87BA4857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9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Spill ist Evidenz für zu wenig nutzbaren Workspace – nicht automatisch für zu wenig Server-RAM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9B59627-A123-4344-8A23-47BFFED4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894B79D-C024-4B03-9A7F-8CBC89CC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E184359-864F-45CA-B625-4A67FF34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30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7999DE31-ABAC-46F8-A6EB-4171D98C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Mögliche Ursache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D09C7888-2139-440C-93D5-9962E671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Zu prüfen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827A0679-F525-4176-B14D-22E47661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C1CDD21C-DCED-4008-B8EB-4C1F7FD3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Kardinalität unterschätzt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Grant gedeckelt oder konkurrierend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breitere Rows als erwartet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739BA656-EDC8-4231-A298-4FE85C07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Plan Warning und Spill Level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Requested, Granted und Used Memory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RESOURCE_SEMAPHORE und TempDB-I/O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F86B3877-F49B-4C9A-A291-306BE072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D74ECCE6-CC8F-4D7D-9D04-EA232149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Zuerst Schätzung und Planursache prüfen, dann Kapazität.</a:t>
            </a:r>
          </a:p>
        </p:txBody>
      </p:sp>
    </p:spTree>
    <p:extLst>
      <p:ext uri="{BB962C8B-B14F-4D97-AF65-F5344CB8AC3E}">
        <p14:creationId xmlns:p14="http://schemas.microsoft.com/office/powerpoint/2010/main" val="7993388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34B75420-D339-4EE4-A24D-1A2B1E39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2806DE-9367-4F7C-BCC0-2C4A8F8F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Parallelität verteilt Tasks – nicht automatisch gleich viel Arbeit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1EB6E15-9E60-464E-8DF1-0C784326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66AF756-135D-401A-9D25-2FB1B31B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9F10032-F71F-4E5C-ABDE-D25AFFCE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31 / 84</a:t>
            </a:r>
          </a:p>
        </p:txBody>
      </p:sp>
      <p:sp>
        <p:nvSpPr>
          <p:cNvPr id="6" name="par-source">
            <a:extLst xmlns:a="http://schemas.openxmlformats.org/drawingml/2006/main">
              <a:ext uri="{FF2B5EF4-FFF2-40B4-BE49-F238E27FC236}">
                <a16:creationId xmlns:a16="http://schemas.microsoft.com/office/drawing/2014/main" id="{BD89391E-662C-445F-9CFD-E2CBC391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908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par-source-text">
            <a:extLst xmlns:a="http://schemas.openxmlformats.org/drawingml/2006/main">
              <a:ext uri="{FF2B5EF4-FFF2-40B4-BE49-F238E27FC236}">
                <a16:creationId xmlns:a16="http://schemas.microsoft.com/office/drawing/2014/main" id="{3D02F89F-4DEC-4D03-A457-DC3B11F2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05175"/>
            <a:ext cx="1447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Scan / Join</a:t>
            </a:r>
          </a:p>
        </p:txBody>
      </p:sp>
      <p:sp>
        <p:nvSpPr>
          <p:cNvPr id="8" name="par-ex1">
            <a:extLst xmlns:a="http://schemas.openxmlformats.org/drawingml/2006/main">
              <a:ext uri="{FF2B5EF4-FFF2-40B4-BE49-F238E27FC236}">
                <a16:creationId xmlns:a16="http://schemas.microsoft.com/office/drawing/2014/main" id="{729911C2-384A-44A3-8359-798501FE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00375"/>
            <a:ext cx="1714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par-ex1-text">
            <a:extLst xmlns:a="http://schemas.openxmlformats.org/drawingml/2006/main">
              <a:ext uri="{FF2B5EF4-FFF2-40B4-BE49-F238E27FC236}">
                <a16:creationId xmlns:a16="http://schemas.microsoft.com/office/drawing/2014/main" id="{85AE8BA3-6ABF-4E1E-B3B8-1521F8BA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14675"/>
            <a:ext cx="1447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Distribute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Streams</a:t>
            </a:r>
          </a:p>
        </p:txBody>
      </p:sp>
      <p:sp>
        <p:nvSpPr>
          <p:cNvPr id="10" name="par-worker-0">
            <a:extLst xmlns:a="http://schemas.openxmlformats.org/drawingml/2006/main">
              <a:ext uri="{FF2B5EF4-FFF2-40B4-BE49-F238E27FC236}">
                <a16:creationId xmlns:a16="http://schemas.microsoft.com/office/drawing/2014/main" id="{EA53F6F4-54B5-4A91-83CE-157ADC33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par-worker-0-text">
            <a:extLst xmlns:a="http://schemas.openxmlformats.org/drawingml/2006/main">
              <a:ext uri="{FF2B5EF4-FFF2-40B4-BE49-F238E27FC236}">
                <a16:creationId xmlns:a16="http://schemas.microsoft.com/office/drawing/2014/main" id="{084D576E-3C32-4EA8-BAE4-1C198FC8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9555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6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Worker 1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weniger Rows</a:t>
            </a:r>
          </a:p>
        </p:txBody>
      </p:sp>
      <p:sp>
        <p:nvSpPr>
          <p:cNvPr id="12" name="par-worker-1">
            <a:extLst xmlns:a="http://schemas.openxmlformats.org/drawingml/2006/main">
              <a:ext uri="{FF2B5EF4-FFF2-40B4-BE49-F238E27FC236}">
                <a16:creationId xmlns:a16="http://schemas.microsoft.com/office/drawing/2014/main" id="{A874F2D4-4AAC-4BC1-A0A6-DAA5EEAA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90875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par-worker-1-text">
            <a:extLst xmlns:a="http://schemas.openxmlformats.org/drawingml/2006/main">
              <a:ext uri="{FF2B5EF4-FFF2-40B4-BE49-F238E27FC236}">
                <a16:creationId xmlns:a16="http://schemas.microsoft.com/office/drawing/2014/main" id="{323F099D-6A6B-4CDA-8D79-C0B30656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305175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6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Worker 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mehr Rows</a:t>
            </a:r>
          </a:p>
        </p:txBody>
      </p:sp>
      <p:sp>
        <p:nvSpPr>
          <p:cNvPr id="14" name="par-worker-2">
            <a:extLst xmlns:a="http://schemas.openxmlformats.org/drawingml/2006/main">
              <a:ext uri="{FF2B5EF4-FFF2-40B4-BE49-F238E27FC236}">
                <a16:creationId xmlns:a16="http://schemas.microsoft.com/office/drawing/2014/main" id="{DD868463-8608-489B-B0E8-4B099697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00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par-worker-2-text">
            <a:extLst xmlns:a="http://schemas.openxmlformats.org/drawingml/2006/main">
              <a:ext uri="{FF2B5EF4-FFF2-40B4-BE49-F238E27FC236}">
                <a16:creationId xmlns:a16="http://schemas.microsoft.com/office/drawing/2014/main" id="{A691888E-C511-4B28-B99D-38BDB92C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1480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6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Worker 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weniger Rows</a:t>
            </a:r>
          </a:p>
        </p:txBody>
      </p:sp>
      <p:sp>
        <p:nvSpPr>
          <p:cNvPr id="16" name="par-ex2">
            <a:extLst xmlns:a="http://schemas.openxmlformats.org/drawingml/2006/main">
              <a:ext uri="{FF2B5EF4-FFF2-40B4-BE49-F238E27FC236}">
                <a16:creationId xmlns:a16="http://schemas.microsoft.com/office/drawing/2014/main" id="{5795CF89-D832-45C7-AEF3-7286CCA3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0375"/>
            <a:ext cx="1714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par-ex2-text">
            <a:extLst xmlns:a="http://schemas.openxmlformats.org/drawingml/2006/main">
              <a:ext uri="{FF2B5EF4-FFF2-40B4-BE49-F238E27FC236}">
                <a16:creationId xmlns:a16="http://schemas.microsoft.com/office/drawing/2014/main" id="{A1D36930-27F2-4E78-BAE4-E00FB6A5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14675"/>
            <a:ext cx="1447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Gather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Streams</a:t>
            </a:r>
          </a:p>
        </p:txBody>
      </p:sp>
      <p:sp>
        <p:nvSpPr>
          <p:cNvPr id="18" name="par-result">
            <a:extLst xmlns:a="http://schemas.openxmlformats.org/drawingml/2006/main">
              <a:ext uri="{FF2B5EF4-FFF2-40B4-BE49-F238E27FC236}">
                <a16:creationId xmlns:a16="http://schemas.microsoft.com/office/drawing/2014/main" id="{70C78CD3-C229-460A-9181-26A9FA0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190875"/>
            <a:ext cx="952500" cy="1047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par-result-text">
            <a:extLst xmlns:a="http://schemas.openxmlformats.org/drawingml/2006/main">
              <a:ext uri="{FF2B5EF4-FFF2-40B4-BE49-F238E27FC236}">
                <a16:creationId xmlns:a16="http://schemas.microsoft.com/office/drawing/2014/main" id="{B49E4FDD-4860-4E3F-8553-ACB2434D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05175"/>
            <a:ext cx="685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cxnSp>
        <p:nvCxnSpPr>
          <p:cNvPr id="4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33650" y="3714750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4953000" y="2724150"/>
            <a:ext cx="95250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50" name=""/>
          <p:cNvCxnSpPr>
            <a:stCxn xmlns:a="http://schemas.openxmlformats.org/drawingml/2006/main" id="10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724150"/>
            <a:ext cx="87630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51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4953000" y="3533775"/>
            <a:ext cx="95250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52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3533775"/>
            <a:ext cx="87630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53" name=""/>
          <p:cNvCxnSpPr>
            <a:stCxn xmlns:a="http://schemas.openxmlformats.org/drawingml/2006/main" id="8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953000" y="3714750"/>
            <a:ext cx="952500" cy="6286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54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7715250" y="3714750"/>
            <a:ext cx="876300" cy="6286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55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10306050" y="37147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28" name="par-caption">
            <a:extLst xmlns:a="http://schemas.openxmlformats.org/drawingml/2006/main">
              <a:ext uri="{FF2B5EF4-FFF2-40B4-BE49-F238E27FC236}">
                <a16:creationId xmlns:a16="http://schemas.microsoft.com/office/drawing/2014/main" id="{B1493785-CB6A-4931-8090-5A092E18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197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Skew: der langsamste Worker bestimmt häufig die Laufzeit des parallelen Abschnitts.</a:t>
            </a:r>
          </a:p>
        </p:txBody>
      </p:sp>
    </p:spTree>
    <p:extLst>
      <p:ext uri="{BB962C8B-B14F-4D97-AF65-F5344CB8AC3E}">
        <p14:creationId xmlns:p14="http://schemas.microsoft.com/office/powerpoint/2010/main" val="197428105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E222C32-400F-4971-8C74-D86BF51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115889-E8BB-4AEC-B328-CE7B5A81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Plan Cache reduziert Compilation – bindet aber Wiederverwendung an Kontext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DA8EF09-F184-43ED-80A1-A73EA45F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4641B53-6C4B-442E-93A7-7F04717F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3EB24C4-C80B-49F8-BC9D-DF767792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32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63216E2B-3843-465A-8CDD-BAD4CC1D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gecachter Plan kann erneut genutzt werden, wenn Statement, SET-Optionen, Objektmetadaten und Cachekontext kompatibel sind.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D55FED95-F329-47E2-9090-74EB6E62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8DB82BDF-36AD-437C-A1B3-ECCDBB76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Ad-hoc-Literalvielfalt kann Cache und Compilation belasten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Recompile kann korrekt, aber nicht kostenlos sein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Schema-, Statistik- oder relevante Optionänderungen können invalidieren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Query Store liefert Historie über den aktuellen Cache hinaus</a:t>
            </a:r>
          </a:p>
        </p:txBody>
      </p:sp>
    </p:spTree>
    <p:extLst>
      <p:ext uri="{BB962C8B-B14F-4D97-AF65-F5344CB8AC3E}">
        <p14:creationId xmlns:p14="http://schemas.microsoft.com/office/powerpoint/2010/main" val="177286128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C05A4C2-8F94-494E-B2B0-99BD126B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4F2807-853F-4DF3-8274-BB396F68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Parameter Sensitivity ist ein Verteilungsproblem, kein pauschaler Fehler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825F200-5E27-4789-9EF5-509E0835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7B4A0AA-DC28-4DF0-9F32-71DE6C85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0CE807A-3717-4B0E-AABA-D8059286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33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CCCA48D8-C0F4-4F0C-945E-26719EF7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Ein Plan passt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16981B79-1267-4800-AB46-B48137A3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Mehrere Strategien nötig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3A59C1B1-1172-4C4C-B70D-2E0F8943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3BA1C45C-BE98-4811-961C-910D63E5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ähnliche Selektivität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stabile Zugriffskosten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repräsentativer Compile-Wert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4702991C-27A0-46FA-B650-CB938F65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stark ungleich verteilte Werte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Seek plus Lookup versus Scan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unterschiedliche Grants oder Joins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BFBF920E-F360-415B-AB35-7C9263B0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B120A7AE-24A8-40DC-8FDA-F193BBF1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Mitigations reichen von Querydesign bis PSP – jeweils versionsabhängig.</a:t>
            </a:r>
          </a:p>
        </p:txBody>
      </p:sp>
    </p:spTree>
    <p:extLst>
      <p:ext uri="{BB962C8B-B14F-4D97-AF65-F5344CB8AC3E}">
        <p14:creationId xmlns:p14="http://schemas.microsoft.com/office/powerpoint/2010/main" val="124112605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D7BF00F-BDE4-42DD-AF68-9A561F23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2 · QUERY PROCESSING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B6740B-140E-4777-A499-130908D4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Intelligent Query Processing erweitert den Werkzeugkasten stufenweise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A65B89E-0338-4EFD-AAE5-2647B681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38F2C4C-C0E3-4FE9-B695-11C75DEA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024DA0A-95D8-41F9-A9BC-3C807338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34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28194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7048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Version / CL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wichtige Funktionen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zusätzliche Voraussetzung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2019 / 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Batch Mode on Rowstore, Scalar UDF Inlining, Table Variable Deferred Compilation, Row Mode MGF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Eligibility je Query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2022 / 160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PSP, CE Feedback, DOP Feedback, persistentes/percentile MGF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Query Store für Feedback-Persistenz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2025 / 170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OPPO und PSP-Erweiterungen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Feature- und DB-Konfiguration prüfen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291207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">
            <a:extLst xmlns:a="http://schemas.openxmlformats.org/drawingml/2006/main">
              <a:ext uri="{FF2B5EF4-FFF2-40B4-BE49-F238E27FC236}">
                <a16:creationId xmlns:a16="http://schemas.microsoft.com/office/drawing/2014/main" id="{08653666-71E5-4CE0-8812-ED554390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2 · WISSENSKONTROLLE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30566BED-1815-4A8F-80AD-156D8FC6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Eine Hash-Join-Abfrage spillt: Welche Hypothese wird zuerst geprüft?</a:t>
            </a:r>
          </a:p>
        </p:txBody>
      </p:sp>
      <p:sp>
        <p:nvSpPr>
          <p:cNvPr id="3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88361225-A8E7-43F6-8B8B-CB66A392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mpt-num-0">
            <a:extLst xmlns:a="http://schemas.openxmlformats.org/drawingml/2006/main">
              <a:ext uri="{FF2B5EF4-FFF2-40B4-BE49-F238E27FC236}">
                <a16:creationId xmlns:a16="http://schemas.microsoft.com/office/drawing/2014/main" id="{AC1F9EDE-BF18-4206-9E8B-5FA70BAE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prompt-0">
            <a:extLst xmlns:a="http://schemas.openxmlformats.org/drawingml/2006/main">
              <a:ext uri="{FF2B5EF4-FFF2-40B4-BE49-F238E27FC236}">
                <a16:creationId xmlns:a16="http://schemas.microsoft.com/office/drawing/2014/main" id="{E65AE3B8-97E8-4D6E-B261-547B632B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Estimated versus Actual Rows</a:t>
            </a:r>
          </a:p>
        </p:txBody>
      </p:sp>
      <p:sp>
        <p:nvSpPr>
          <p:cNvPr id="6" name="prompt-num-1">
            <a:extLst xmlns:a="http://schemas.openxmlformats.org/drawingml/2006/main">
              <a:ext uri="{FF2B5EF4-FFF2-40B4-BE49-F238E27FC236}">
                <a16:creationId xmlns:a16="http://schemas.microsoft.com/office/drawing/2014/main" id="{994D3DE5-AB53-410E-957E-72CD2B71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mpt-1">
            <a:extLst xmlns:a="http://schemas.openxmlformats.org/drawingml/2006/main">
              <a:ext uri="{FF2B5EF4-FFF2-40B4-BE49-F238E27FC236}">
                <a16:creationId xmlns:a16="http://schemas.microsoft.com/office/drawing/2014/main" id="{08456757-9840-4F84-8579-4D6F4EFA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Requested, Granted und Used Memory</a:t>
            </a:r>
          </a:p>
        </p:txBody>
      </p:sp>
      <p:sp>
        <p:nvSpPr>
          <p:cNvPr id="8" name="prompt-num-2">
            <a:extLst xmlns:a="http://schemas.openxmlformats.org/drawingml/2006/main">
              <a:ext uri="{FF2B5EF4-FFF2-40B4-BE49-F238E27FC236}">
                <a16:creationId xmlns:a16="http://schemas.microsoft.com/office/drawing/2014/main" id="{5261AE5F-4BBC-4DCA-83D3-1316A3C9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prompt-2">
            <a:extLst xmlns:a="http://schemas.openxmlformats.org/drawingml/2006/main">
              <a:ext uri="{FF2B5EF4-FFF2-40B4-BE49-F238E27FC236}">
                <a16:creationId xmlns:a16="http://schemas.microsoft.com/office/drawing/2014/main" id="{A41BD706-2F62-40BA-A644-8833FDE1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konkurrierende Grants</a:t>
            </a:r>
          </a:p>
        </p:txBody>
      </p:sp>
      <p:sp>
        <p:nvSpPr>
          <p:cNvPr id="10" name="prompt-num-3">
            <a:extLst xmlns:a="http://schemas.openxmlformats.org/drawingml/2006/main">
              <a:ext uri="{FF2B5EF4-FFF2-40B4-BE49-F238E27FC236}">
                <a16:creationId xmlns:a16="http://schemas.microsoft.com/office/drawing/2014/main" id="{7D6068E1-F7C3-4009-9ED4-7698546D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prompt-3">
            <a:extLst xmlns:a="http://schemas.openxmlformats.org/drawingml/2006/main">
              <a:ext uri="{FF2B5EF4-FFF2-40B4-BE49-F238E27FC236}">
                <a16:creationId xmlns:a16="http://schemas.microsoft.com/office/drawing/2014/main" id="{40DDD7AD-EDDC-4C41-8D4F-78E14F6C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Row Width und TempDB-I/O</a:t>
            </a:r>
          </a:p>
        </p:txBody>
      </p:sp>
      <p:sp>
        <p:nvSpPr>
          <p:cNvPr id="12" name="question-footer">
            <a:extLst xmlns:a="http://schemas.openxmlformats.org/drawingml/2006/main">
              <a:ext uri="{FF2B5EF4-FFF2-40B4-BE49-F238E27FC236}">
                <a16:creationId xmlns:a16="http://schemas.microsoft.com/office/drawing/2014/main" id="{214E1337-7CE2-467A-AE0B-C1ADECC1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35 / 84</a:t>
            </a:r>
          </a:p>
        </p:txBody>
      </p:sp>
    </p:spTree>
    <p:extLst>
      <p:ext uri="{BB962C8B-B14F-4D97-AF65-F5344CB8AC3E}">
        <p14:creationId xmlns:p14="http://schemas.microsoft.com/office/powerpoint/2010/main" val="130097830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9C4A880-5ED6-40A8-B350-B31CCBA6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7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87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44940723-1C2C-430D-B094-A0C2147A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24C2822-C929-4C49-9C9C-38037C73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Query Patterns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0B7FE5A0-7CC0-4E71-ACA7-08C1EB16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Wie erweitert oder begrenzt T-SQL die möglichen Zugriffspfade?</a:t>
            </a:r>
          </a:p>
        </p:txBody>
      </p:sp>
      <p:sp>
        <p:nvSpPr>
          <p:cNvPr id="5" name="section-footer">
            <a:extLst xmlns:a="http://schemas.openxmlformats.org/drawingml/2006/main">
              <a:ext uri="{FF2B5EF4-FFF2-40B4-BE49-F238E27FC236}">
                <a16:creationId xmlns:a16="http://schemas.microsoft.com/office/drawing/2014/main" id="{DCFA4FD3-8C9B-44B3-AE3F-5A66A6D7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19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</p:spTree>
    <p:extLst>
      <p:ext uri="{BB962C8B-B14F-4D97-AF65-F5344CB8AC3E}">
        <p14:creationId xmlns:p14="http://schemas.microsoft.com/office/powerpoint/2010/main" val="66161570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B634BA2-04FF-48AA-9E4D-069E1537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43DC88-FE14-42CF-909A-289BAFD9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SARGability hält die Indexspalte als Suchargument verfügbar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7A8AD02-1894-4CBE-9BFA-436935FB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E5FA08E-4A75-4E4F-8D0B-F1E10AFC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7FB0D76-BF64-47D8-8046-0C2B0A01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37 / 84</a:t>
            </a:r>
          </a:p>
        </p:txBody>
      </p:sp>
      <p:sp>
        <p:nvSpPr>
          <p:cNvPr id="6" name="bad-label">
            <a:extLst xmlns:a="http://schemas.openxmlformats.org/drawingml/2006/main">
              <a:ext uri="{FF2B5EF4-FFF2-40B4-BE49-F238E27FC236}">
                <a16:creationId xmlns:a16="http://schemas.microsoft.com/office/drawing/2014/main" id="{043BC21B-806D-4135-984A-463D99AB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C94C4C"/>
                </a:solidFill>
                <a:latin typeface="Aptos"/>
                <a:ea typeface="Aptos"/>
                <a:cs typeface="Aptos"/>
              </a:rPr>
              <a:t>UNGÜNSTIGES MUSTER</a:t>
            </a:r>
          </a:p>
        </p:txBody>
      </p:sp>
      <p:sp>
        <p:nvSpPr>
          <p:cNvPr id="7" name="bad-code-bg">
            <a:extLst xmlns:a="http://schemas.openxmlformats.org/drawingml/2006/main">
              <a:ext uri="{FF2B5EF4-FFF2-40B4-BE49-F238E27FC236}">
                <a16:creationId xmlns:a16="http://schemas.microsoft.com/office/drawing/2014/main" id="{1905E72D-88C5-48DA-AA55-9CB83A2F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1F1"/>
          </a:solidFill>
          <a:ln xmlns:a="http://schemas.openxmlformats.org/drawingml/2006/main" w="9525">
            <a:solidFill>
              <a:srgbClr val="F4C7C7"/>
            </a:solidFill>
            <a:prstDash val="solid"/>
          </a:ln>
        </p:spPr>
      </p:sp>
      <p:sp>
        <p:nvSpPr>
          <p:cNvPr id="8" name="bad-code">
            <a:extLst xmlns:a="http://schemas.openxmlformats.org/drawingml/2006/main">
              <a:ext uri="{FF2B5EF4-FFF2-40B4-BE49-F238E27FC236}">
                <a16:creationId xmlns:a16="http://schemas.microsoft.com/office/drawing/2014/main" id="{9390437C-C287-4ED2-B132-E243DAC6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05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8A2C2C"/>
                </a:solidFill>
                <a:latin typeface="Consolas"/>
                <a:ea typeface="Consolas"/>
                <a:cs typeface="Consolas"/>
              </a:defRPr>
            </a:pPr>
            <a:r>
              <a:rPr sz="1725" b="1" i="0">
                <a:solidFill>
                  <a:srgbClr val="8A2C2C"/>
                </a:solidFill>
                <a:latin typeface="Consolas"/>
                <a:ea typeface="Consolas"/>
                <a:cs typeface="Consolas"/>
              </a:rPr>
              <a:t>WHERE YEAR(OrderDate) = 2026</a:t>
            </a:r>
          </a:p>
        </p:txBody>
      </p:sp>
      <p:sp>
        <p:nvSpPr>
          <p:cNvPr id="9" name="good-label">
            <a:extLst xmlns:a="http://schemas.openxmlformats.org/drawingml/2006/main">
              <a:ext uri="{FF2B5EF4-FFF2-40B4-BE49-F238E27FC236}">
                <a16:creationId xmlns:a16="http://schemas.microsoft.com/office/drawing/2014/main" id="{82BB084B-E574-45C4-8141-BC1D1828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BEVORZUGTES MUSTER</a:t>
            </a:r>
          </a:p>
        </p:txBody>
      </p:sp>
      <p:sp>
        <p:nvSpPr>
          <p:cNvPr id="10" name="good-code-bg">
            <a:extLst xmlns:a="http://schemas.openxmlformats.org/drawingml/2006/main">
              <a:ext uri="{FF2B5EF4-FFF2-40B4-BE49-F238E27FC236}">
                <a16:creationId xmlns:a16="http://schemas.microsoft.com/office/drawing/2014/main" id="{60E98318-3AC2-4C2A-98EE-231CE4AA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 w="9525">
            <a:solidFill>
              <a:srgbClr val="B5DECE"/>
            </a:solidFill>
            <a:prstDash val="solid"/>
          </a:ln>
        </p:spPr>
      </p:sp>
      <p:sp>
        <p:nvSpPr>
          <p:cNvPr id="11" name="good-code">
            <a:extLst xmlns:a="http://schemas.openxmlformats.org/drawingml/2006/main">
              <a:ext uri="{FF2B5EF4-FFF2-40B4-BE49-F238E27FC236}">
                <a16:creationId xmlns:a16="http://schemas.microsoft.com/office/drawing/2014/main" id="{10C56CEA-C9F8-4AA7-8F93-EF6B1130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4305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defRPr>
            </a:pPr>
            <a:r>
              <a: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rPr>
              <a:t>WHERE OrderDate &gt;= '20260101'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defRPr>
            </a:pPr>
            <a:r>
              <a: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rPr>
              <a:t>  AND OrderDate &lt;  '20270101'</a:t>
            </a:r>
          </a:p>
        </p:txBody>
      </p:sp>
      <p:sp>
        <p:nvSpPr>
          <p:cNvPr id="12" name="code-points">
            <a:extLst xmlns:a="http://schemas.openxmlformats.org/drawingml/2006/main">
              <a:ext uri="{FF2B5EF4-FFF2-40B4-BE49-F238E27FC236}">
                <a16:creationId xmlns:a16="http://schemas.microsoft.com/office/drawing/2014/main" id="{1435D143-8561-4C80-BE9C-9A6BD730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19350"/>
            <a:ext cx="5219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20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Funktion auf der Indexspalte kann einen Seek verhindern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20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Bereichsgrenzen sind typstabil und eindeutig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20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Seek ist trotzdem nur bei passender Selektivität sinnvoll</a:t>
            </a:r>
          </a:p>
        </p:txBody>
      </p:sp>
    </p:spTree>
    <p:extLst>
      <p:ext uri="{BB962C8B-B14F-4D97-AF65-F5344CB8AC3E}">
        <p14:creationId xmlns:p14="http://schemas.microsoft.com/office/powerpoint/2010/main" val="115955260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408DFA5-325F-4087-ABA4-38EB2DEE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43219B-8A24-4009-94A0-6A3DC198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Implicit Conversion wird kritisch, wenn die Indexseite konvertiert werden muss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136CFCE-1B95-4DC0-B77B-021077C5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F155820-E2ED-4144-95DA-921F3D80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F034E97-B3C1-4B0B-83D4-B764D57A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38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4B1B8859-2DEA-42CB-A1DF-EFB57B9F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günstiger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1E255F50-804D-4BAE-BE4B-625ADB97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kritischer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9FF10BB4-2DED-41E6-858F-48289510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69F60D6D-F3D5-4653-BD62-367A6AE3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Parameter zum Spaltentyp konvertierbar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keine Funktion auf dem Indexschlüssel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Plan Warning fehlt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B2CE8EFB-9CC7-48B0-B5A1-5C92F88A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Spalte wird pro Row konvertiert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Seek-Prädikat wird unbrauchbar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Schätzung und CPU können leiden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DB778CF3-06DD-4D7A-9122-9FCCC7A9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68892F92-1F1B-43FA-87F3-76E74414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Datentypen über Tabellen-, Parameter- und Anwendungsschicht ausrichten.</a:t>
            </a:r>
          </a:p>
        </p:txBody>
      </p:sp>
    </p:spTree>
    <p:extLst>
      <p:ext uri="{BB962C8B-B14F-4D97-AF65-F5344CB8AC3E}">
        <p14:creationId xmlns:p14="http://schemas.microsoft.com/office/powerpoint/2010/main" val="110019360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860D52F-EC18-4C3F-9D59-EA79F436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E8BE10-528C-40A2-A03D-4E588C8E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Halboffene Datumsintervalle vermeiden Präzisions- und Tagesendefehler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C7A979E-C1FA-48FB-B04F-512CE1DC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956BE6E-035F-4A16-98D2-72B28A2D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CA678E0-2414-409C-9D2D-C9A1E58C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39 / 84</a:t>
            </a:r>
          </a:p>
        </p:txBody>
      </p:sp>
      <p:sp>
        <p:nvSpPr>
          <p:cNvPr id="6" name="bad-label">
            <a:extLst xmlns:a="http://schemas.openxmlformats.org/drawingml/2006/main">
              <a:ext uri="{FF2B5EF4-FFF2-40B4-BE49-F238E27FC236}">
                <a16:creationId xmlns:a16="http://schemas.microsoft.com/office/drawing/2014/main" id="{B9E9FEE7-A217-4691-95A8-F2EAA141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C94C4C"/>
                </a:solidFill>
                <a:latin typeface="Aptos"/>
                <a:ea typeface="Aptos"/>
                <a:cs typeface="Aptos"/>
              </a:rPr>
              <a:t>UNGÜNSTIGES MUSTER</a:t>
            </a:r>
          </a:p>
        </p:txBody>
      </p:sp>
      <p:sp>
        <p:nvSpPr>
          <p:cNvPr id="7" name="bad-code-bg">
            <a:extLst xmlns:a="http://schemas.openxmlformats.org/drawingml/2006/main">
              <a:ext uri="{FF2B5EF4-FFF2-40B4-BE49-F238E27FC236}">
                <a16:creationId xmlns:a16="http://schemas.microsoft.com/office/drawing/2014/main" id="{8BAA2FA0-4B95-4C1A-8596-E318CCD1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1F1"/>
          </a:solidFill>
          <a:ln xmlns:a="http://schemas.openxmlformats.org/drawingml/2006/main" w="9525">
            <a:solidFill>
              <a:srgbClr val="F4C7C7"/>
            </a:solidFill>
            <a:prstDash val="solid"/>
          </a:ln>
        </p:spPr>
      </p:sp>
      <p:sp>
        <p:nvSpPr>
          <p:cNvPr id="8" name="bad-code">
            <a:extLst xmlns:a="http://schemas.openxmlformats.org/drawingml/2006/main">
              <a:ext uri="{FF2B5EF4-FFF2-40B4-BE49-F238E27FC236}">
                <a16:creationId xmlns:a16="http://schemas.microsoft.com/office/drawing/2014/main" id="{18D04D14-8AEF-404E-ABC4-C4223047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05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8A2C2C"/>
                </a:solidFill>
                <a:latin typeface="Consolas"/>
                <a:ea typeface="Consolas"/>
                <a:cs typeface="Consolas"/>
              </a:defRPr>
            </a:pPr>
            <a:r>
              <a:rPr sz="1725" b="1" i="0">
                <a:solidFill>
                  <a:srgbClr val="8A2C2C"/>
                </a:solidFill>
                <a:latin typeface="Consolas"/>
                <a:ea typeface="Consolas"/>
                <a:cs typeface="Consolas"/>
              </a:rPr>
              <a:t>WHERE EventTime BETWEEN @From AND '2026-07-23 23:59:59.997'</a:t>
            </a:r>
          </a:p>
        </p:txBody>
      </p:sp>
      <p:sp>
        <p:nvSpPr>
          <p:cNvPr id="9" name="good-label">
            <a:extLst xmlns:a="http://schemas.openxmlformats.org/drawingml/2006/main">
              <a:ext uri="{FF2B5EF4-FFF2-40B4-BE49-F238E27FC236}">
                <a16:creationId xmlns:a16="http://schemas.microsoft.com/office/drawing/2014/main" id="{C72835AC-E14D-4B86-8FEA-15E2A691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BEVORZUGTES MUSTER</a:t>
            </a:r>
          </a:p>
        </p:txBody>
      </p:sp>
      <p:sp>
        <p:nvSpPr>
          <p:cNvPr id="10" name="good-code-bg">
            <a:extLst xmlns:a="http://schemas.openxmlformats.org/drawingml/2006/main">
              <a:ext uri="{FF2B5EF4-FFF2-40B4-BE49-F238E27FC236}">
                <a16:creationId xmlns:a16="http://schemas.microsoft.com/office/drawing/2014/main" id="{F75A8646-5D50-4C2B-A50E-99997A81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 w="9525">
            <a:solidFill>
              <a:srgbClr val="B5DECE"/>
            </a:solidFill>
            <a:prstDash val="solid"/>
          </a:ln>
        </p:spPr>
      </p:sp>
      <p:sp>
        <p:nvSpPr>
          <p:cNvPr id="11" name="good-code">
            <a:extLst xmlns:a="http://schemas.openxmlformats.org/drawingml/2006/main">
              <a:ext uri="{FF2B5EF4-FFF2-40B4-BE49-F238E27FC236}">
                <a16:creationId xmlns:a16="http://schemas.microsoft.com/office/drawing/2014/main" id="{728949F2-5844-4284-8C33-D6ACDB9B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4305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defRPr>
            </a:pPr>
            <a:r>
              <a: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rPr>
              <a:t>WHERE EventTime &gt;= @From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defRPr>
            </a:pPr>
            <a:r>
              <a:rPr sz="1725" b="1" i="0">
                <a:solidFill>
                  <a:srgbClr val="176B50"/>
                </a:solidFill>
                <a:latin typeface="Consolas"/>
                <a:ea typeface="Consolas"/>
                <a:cs typeface="Consolas"/>
              </a:rPr>
              <a:t>  AND EventTime &lt;  DATEADD(day, 1, @Date)</a:t>
            </a:r>
          </a:p>
        </p:txBody>
      </p:sp>
      <p:sp>
        <p:nvSpPr>
          <p:cNvPr id="12" name="code-points">
            <a:extLst xmlns:a="http://schemas.openxmlformats.org/drawingml/2006/main">
              <a:ext uri="{FF2B5EF4-FFF2-40B4-BE49-F238E27FC236}">
                <a16:creationId xmlns:a16="http://schemas.microsoft.com/office/drawing/2014/main" id="{003FE4F2-ABF8-4D79-9211-C084A7DC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19350"/>
            <a:ext cx="5219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20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funktioniert über unterschiedliche Zeitpräzisionen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20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vermeidet versteckte letzte Millisekunden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20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bleibt als Range Predicate nutzbar</a:t>
            </a:r>
          </a:p>
        </p:txBody>
      </p:sp>
    </p:spTree>
    <p:extLst>
      <p:ext uri="{BB962C8B-B14F-4D97-AF65-F5344CB8AC3E}">
        <p14:creationId xmlns:p14="http://schemas.microsoft.com/office/powerpoint/2010/main" val="206505651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993E43C-F304-4E8D-BC5D-626F7003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390F30-BEBA-4340-9CB9-7D4E9731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Optionale Parameter benötigen eine Strategie für unterschiedliche Selektivität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EA694E9-4D56-4969-A3F6-37947FDE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E44F11E-B426-4031-A7B3-66AF0CB3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854E8F9-5AAD-400F-9FAE-71F47A2B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40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444C9187-4BEA-436A-8671-6E8A3DA8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klassisches Muster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32D84F2D-1A1A-4363-ABDB-3C5D5E6B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Optionen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0F8A3406-3017-4BB9-8141-CC70D528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DB91CB32-E66F-4298-B968-AF784DB5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WHERE Col = @p OR @p IS NULL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eine Form muss Seek und Scan abdecken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Parameter Sensitivity möglich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6E5A29D8-C16E-4EFA-8135-1F0112BD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parameterisierte Dynamic SQL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gezieltes RECOMPILE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SQL Server 2025: OPPO bei CL 170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C59B679E-664B-4DF6-A20A-952A4C22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CEF8F979-57C8-4A09-ADBD-65345318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OPPO erzeugt Varianten für geeignete optionale Prädikate – nicht für jedes dynamische Suchproblem.</a:t>
            </a:r>
          </a:p>
        </p:txBody>
      </p:sp>
    </p:spTree>
    <p:extLst>
      <p:ext uri="{BB962C8B-B14F-4D97-AF65-F5344CB8AC3E}">
        <p14:creationId xmlns:p14="http://schemas.microsoft.com/office/powerpoint/2010/main" val="32738209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769B3DD-2737-41F9-9FE1-B5012807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8154DD-E08E-40D8-B0FC-1063EDB5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CTE ist eine Namens- und Strukturierungshilfe – keine Materialisierungsgarantie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80E600C7-33C3-4379-8C40-B870CC07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462FE3F-C400-4819-913F-9224A154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DD801D5-CDF0-48CC-B053-FB6B394C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41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554C448B-F9DE-4FA8-8482-F558E399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Optimizer kann die Definition einbetten, mehrfach auswerten oder über Spool/Worktable zwischenspeichern.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EC7111C4-83F2-430B-8F76-4418D727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8EF64665-C41B-43EC-923A-05A572EF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Plan und tatsächliche Ausführungsanzahl entscheiden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Mehrfachreferenzen können wiederholte Arbeit verursachen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Temp Table trennt Phasen und erzeugt Statistiken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Rekursion benötigt Abbruch, Wachstumskontrolle und geeignete Evidenz</a:t>
            </a:r>
          </a:p>
        </p:txBody>
      </p:sp>
    </p:spTree>
    <p:extLst>
      <p:ext uri="{BB962C8B-B14F-4D97-AF65-F5344CB8AC3E}">
        <p14:creationId xmlns:p14="http://schemas.microsoft.com/office/powerpoint/2010/main" val="88580140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2FAB78BF-526B-46D0-B3FE-8FFC4851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5E804C-62E0-4E14-81F1-956F56F6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Temp Table und Table Variable haben unterschiedliche Optimizer-Eigenschaften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E933AAB-96B7-4C19-8EA3-FD73C883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4232FD0-7BD5-497A-ADDB-7C430D90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36BBA92-95FA-4285-B261-1024D499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42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3524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7048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Eigenschaft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#Temp Table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@Table Variable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Statistiken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spaltenbezogene Statistiken möglich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keine klassischen Spaltenstatistiken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Compilation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Recompiles durch Phasengrenzen möglich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ab CL 150 Deferred Compilation für erste Ausführung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Scope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Session / Procedure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Batch / Procedure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Eignung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größere oder verteilungsabhängige Zwischenergebnisse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kleine, planstabile Zwischenmengen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280860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A76BCB8-FA34-473A-8575-89F0A139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2EDB75-7E75-4CD1-AA0E-9484AF7B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Funktionen können relational integriert oder zum Optimierungszaun werden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FCE9B76-E04B-4C3F-8159-3BC04169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84BFC0E-637B-4F86-B7F7-5EE70577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FB4E9EB-CA41-428C-8BB0-FD5E9097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43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4C2E4754-39EC-4012-962D-8DA31AB6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besser integrierbar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52CF9F54-78AB-49B2-BD48-CD6F0312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kritischer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C4DF8C46-7F68-410B-ADE9-6BF8149C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3BD39BB9-E2EE-489F-B22B-32E6D96B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Inline TVF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eligible Scalar UDF Inlining ab CL 150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set-based Ausdrücke und APPLY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6BD131CA-2E2D-4D56-A07D-C59D6823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Multi-Statement TVF mit begrenzter Schätzung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nicht inlinable Scalar UDF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Row-by-row-Aufruf und verborgene Kosten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64575AE0-9248-40A5-B2EC-4136109A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A74B05CE-0847-4C40-B4B8-CA21587E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Im Actual Plan prüfen, ob die Funktion tatsächlich integriert wurde.</a:t>
            </a:r>
          </a:p>
        </p:txBody>
      </p:sp>
    </p:spTree>
    <p:extLst>
      <p:ext uri="{BB962C8B-B14F-4D97-AF65-F5344CB8AC3E}">
        <p14:creationId xmlns:p14="http://schemas.microsoft.com/office/powerpoint/2010/main" val="126795473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2601014-A6B7-4A28-AA39-06705BDE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D61008-1C3D-4B37-A839-5C55999D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Partition Elimination reduziert nur dann Arbeit, wenn der Partition Key ableitbar ist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1FD100E-DB40-4A04-82B3-E12DC4C4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2D33CFB-CD4F-40CD-AED6-2D488898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07BA86C-5C07-4E00-83DC-BEF48F27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44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EE2427C4-987C-46D2-932D-D6D59726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Die Query muss statisch oder dynamisch erkennen lassen, welche Partitionen relevant sind.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9AE2E6F1-1A36-4F7E-924C-62545D21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4A0CA832-E657-4AA4-89BF-2DDCA501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Prädikat auf kompatiblem Partition Key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keine verdeckende Konvertierung oder ungeeignete Funktion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Actual Plan und Partition-Range-Eigenschaften prüfen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Partitionierung bleibt primär Management und Datenlebenszyklus</a:t>
            </a:r>
          </a:p>
        </p:txBody>
      </p:sp>
    </p:spTree>
    <p:extLst>
      <p:ext uri="{BB962C8B-B14F-4D97-AF65-F5344CB8AC3E}">
        <p14:creationId xmlns:p14="http://schemas.microsoft.com/office/powerpoint/2010/main" val="109988679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E01ACB0-F582-467A-945D-ECE839D6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D8BC28-8C00-417B-A0D2-A2BF0FFD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Remote Queries sind nur dann effizient, wenn Filter und Joins tatsächlich remote ausgeführt werden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DA07C60-9161-4708-8C3C-E1DD0422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71D24BC-14C3-43DD-8B1E-48D0877D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25C07B2-ADA3-42D9-8DC5-88DA040E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45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8AEB363C-531A-41D2-B12E-DDFC4F2F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gewünschtes Verhalten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649336A-59A8-48FF-B422-C67BD4A0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Risiko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C14E7CE4-1B1E-4684-A234-5121ED9D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10DEDA05-DD6E-4DC6-BB6D-DDB1B5C1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Predicate Pushdown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kleines Resultset über das Netzwerk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Remote Query im Plan nachvollziehbar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9543A1E3-40F0-4F5F-BB68-637216AF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große Datenmenge lokal gefiltert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Provider- und Collationgrenzen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zeilenweiser Roundtrip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EE552A24-B0B9-4006-BFE2-C4CF4B53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C684A994-5B68-4B3D-A7D6-E07EBA11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Nicht aus Syntax auf Pushdown schließen – Plan und Netzwerkmengen messen.</a:t>
            </a:r>
          </a:p>
        </p:txBody>
      </p:sp>
    </p:spTree>
    <p:extLst>
      <p:ext uri="{BB962C8B-B14F-4D97-AF65-F5344CB8AC3E}">
        <p14:creationId xmlns:p14="http://schemas.microsoft.com/office/powerpoint/2010/main" val="34974418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491C796-9C3E-4560-B5EA-73661663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3 · QUERY PATTERNS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CB976E-8832-4B71-8B44-942B12B0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Datenmodell und Datentypen bestimmen die Obergrenze jeder späteren Optimierung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B546083-ECDA-4273-A893-69BA1483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BBCD30B-1C00-44DC-BCA0-8869F927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9D8F02D-94EE-45A8-8176-FB8C7B54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46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FCF7A621-C761-4B98-AEE4-2027322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Schlüsselbreite, NULLability, Stringtypen und Normalisierung wirken auf Rows, Indizes, Joins und Grants.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DD221E6A-2348-49B2-A76A-00845CD4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A3A43633-0AE1-4FDF-B411-735DEA30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kleinster fachlich korrekter Datentyp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gleiche Typen an Join- und Filtergrenzen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Constraints als Daten- und Optimizervertrag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berechnete Werte nur mit klarer Persistenz- und Indexstrategie</a:t>
            </a:r>
          </a:p>
        </p:txBody>
      </p:sp>
    </p:spTree>
    <p:extLst>
      <p:ext uri="{BB962C8B-B14F-4D97-AF65-F5344CB8AC3E}">
        <p14:creationId xmlns:p14="http://schemas.microsoft.com/office/powerpoint/2010/main" val="204146466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">
            <a:extLst xmlns:a="http://schemas.openxmlformats.org/drawingml/2006/main">
              <a:ext uri="{FF2B5EF4-FFF2-40B4-BE49-F238E27FC236}">
                <a16:creationId xmlns:a16="http://schemas.microsoft.com/office/drawing/2014/main" id="{A662741A-CF77-4BBA-A890-77A86041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3 · WISSENSKONTROLLE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C5C7477D-29D0-4297-926A-9626D633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Warum kann ein 'sargables' Prädikat trotzdem zu einem Scan führen?</a:t>
            </a:r>
          </a:p>
        </p:txBody>
      </p:sp>
      <p:sp>
        <p:nvSpPr>
          <p:cNvPr id="3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9042CC7E-F7CC-4F46-80A8-BFB7A0C7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mpt-num-0">
            <a:extLst xmlns:a="http://schemas.openxmlformats.org/drawingml/2006/main">
              <a:ext uri="{FF2B5EF4-FFF2-40B4-BE49-F238E27FC236}">
                <a16:creationId xmlns:a16="http://schemas.microsoft.com/office/drawing/2014/main" id="{B984CCD8-F78F-4B27-9081-001BFC54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prompt-0">
            <a:extLst xmlns:a="http://schemas.openxmlformats.org/drawingml/2006/main">
              <a:ext uri="{FF2B5EF4-FFF2-40B4-BE49-F238E27FC236}">
                <a16:creationId xmlns:a16="http://schemas.microsoft.com/office/drawing/2014/main" id="{533D639C-D006-4DCC-918B-872CBB19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geringe Selektivität</a:t>
            </a:r>
          </a:p>
        </p:txBody>
      </p:sp>
      <p:sp>
        <p:nvSpPr>
          <p:cNvPr id="6" name="prompt-num-1">
            <a:extLst xmlns:a="http://schemas.openxmlformats.org/drawingml/2006/main">
              <a:ext uri="{FF2B5EF4-FFF2-40B4-BE49-F238E27FC236}">
                <a16:creationId xmlns:a16="http://schemas.microsoft.com/office/drawing/2014/main" id="{8C06E1AD-8B43-43CE-82F8-002698C2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mpt-1">
            <a:extLst xmlns:a="http://schemas.openxmlformats.org/drawingml/2006/main">
              <a:ext uri="{FF2B5EF4-FFF2-40B4-BE49-F238E27FC236}">
                <a16:creationId xmlns:a16="http://schemas.microsoft.com/office/drawing/2014/main" id="{798BB786-9C21-492A-B0EA-16B7CDE8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Lookup-Kosten</a:t>
            </a:r>
          </a:p>
        </p:txBody>
      </p:sp>
      <p:sp>
        <p:nvSpPr>
          <p:cNvPr id="8" name="prompt-num-2">
            <a:extLst xmlns:a="http://schemas.openxmlformats.org/drawingml/2006/main">
              <a:ext uri="{FF2B5EF4-FFF2-40B4-BE49-F238E27FC236}">
                <a16:creationId xmlns:a16="http://schemas.microsoft.com/office/drawing/2014/main" id="{8AA5D672-48E9-4233-BD8F-9C20F209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prompt-2">
            <a:extLst xmlns:a="http://schemas.openxmlformats.org/drawingml/2006/main">
              <a:ext uri="{FF2B5EF4-FFF2-40B4-BE49-F238E27FC236}">
                <a16:creationId xmlns:a16="http://schemas.microsoft.com/office/drawing/2014/main" id="{3A429B29-A273-4A8D-8CDC-FCAC0C14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fehlende Coverage</a:t>
            </a:r>
          </a:p>
        </p:txBody>
      </p:sp>
      <p:sp>
        <p:nvSpPr>
          <p:cNvPr id="10" name="prompt-num-3">
            <a:extLst xmlns:a="http://schemas.openxmlformats.org/drawingml/2006/main">
              <a:ext uri="{FF2B5EF4-FFF2-40B4-BE49-F238E27FC236}">
                <a16:creationId xmlns:a16="http://schemas.microsoft.com/office/drawing/2014/main" id="{3C624CDE-6AAA-4196-815E-71CFE904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prompt-3">
            <a:extLst xmlns:a="http://schemas.openxmlformats.org/drawingml/2006/main">
              <a:ext uri="{FF2B5EF4-FFF2-40B4-BE49-F238E27FC236}">
                <a16:creationId xmlns:a16="http://schemas.microsoft.com/office/drawing/2014/main" id="{95539D6A-585F-461C-B809-C64D7843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Kardinalitäts- oder Kostenentscheidung</a:t>
            </a:r>
          </a:p>
        </p:txBody>
      </p:sp>
      <p:sp>
        <p:nvSpPr>
          <p:cNvPr id="12" name="question-footer">
            <a:extLst xmlns:a="http://schemas.openxmlformats.org/drawingml/2006/main">
              <a:ext uri="{FF2B5EF4-FFF2-40B4-BE49-F238E27FC236}">
                <a16:creationId xmlns:a16="http://schemas.microsoft.com/office/drawing/2014/main" id="{CE185D9E-93EC-44CC-B022-0DC6F327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47 / 84</a:t>
            </a:r>
          </a:p>
        </p:txBody>
      </p:sp>
    </p:spTree>
    <p:extLst>
      <p:ext uri="{BB962C8B-B14F-4D97-AF65-F5344CB8AC3E}">
        <p14:creationId xmlns:p14="http://schemas.microsoft.com/office/powerpoint/2010/main" val="90423953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90A064D-EFD1-40A0-A3D0-28B5967C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7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87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AF111ABC-0789-4C8B-AAFE-104C73F3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074F93B1-9A2E-4B0D-A378-D1A8A89A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Rowstore- und Columnstore-Indizes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034E8374-5A04-473E-A9D5-9609D290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Welche Zugriffspfade beschleunigen Reads, ohne Writes und Betriebskosten zu ignorieren?</a:t>
            </a:r>
          </a:p>
        </p:txBody>
      </p:sp>
      <p:sp>
        <p:nvSpPr>
          <p:cNvPr id="5" name="section-footer">
            <a:extLst xmlns:a="http://schemas.openxmlformats.org/drawingml/2006/main">
              <a:ext uri="{FF2B5EF4-FFF2-40B4-BE49-F238E27FC236}">
                <a16:creationId xmlns:a16="http://schemas.microsoft.com/office/drawing/2014/main" id="{50B11077-7390-46EE-A8AF-29D47516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19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</p:spTree>
    <p:extLst>
      <p:ext uri="{BB962C8B-B14F-4D97-AF65-F5344CB8AC3E}">
        <p14:creationId xmlns:p14="http://schemas.microsoft.com/office/powerpoint/2010/main" val="6173046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EAC4242-642F-4D19-8980-DFCF447E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D274DD-1F99-46C2-81AA-BBF34488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Heap und Clustered Index unterscheiden sich im Row Locator und in der Ordnung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BA4FC7A-1A43-4D57-9067-6D73FF88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739E957-9E79-4A0F-9153-DDFF7DE5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57E0F5B-BC79-49FC-986A-30C18524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49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AD015E3E-755B-48C2-B7A5-BC26A920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Heap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7D949FB4-F674-4F7C-A013-133FE193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Clustered Index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6C83C2D0-7830-4079-BA3C-7D94506C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00BDA715-05FB-4FCC-B26F-B75AB4A0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keine B+Tree-Ordnung der Datenpages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RID als Locator für Nonclustered Index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Forwarded Records bei Row-Vergrößerung möglich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E9E62343-97C1-46C4-BDAD-6FC33BD3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Leaf Level enthält alle Datenzeilen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Clustering Key ist Locator in Nonclustered Indexes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genau ein Clustered Index je Tabelle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8350A813-4A12-46CE-B2EC-07A16823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313EC871-A90C-428B-8FF1-BE7F3448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 Heap ist nicht automatisch langsam; Zugriffsmuster und DML-Verhalten entscheiden.</a:t>
            </a:r>
          </a:p>
        </p:txBody>
      </p:sp>
    </p:spTree>
    <p:extLst>
      <p:ext uri="{BB962C8B-B14F-4D97-AF65-F5344CB8AC3E}">
        <p14:creationId xmlns:p14="http://schemas.microsoft.com/office/powerpoint/2010/main" val="19654284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2AE37653-A24A-407A-86BC-41DFC972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CFB4F8-E6CD-493A-A2A9-40070BCB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Rowstore-Indizes sind B+Trees mit Root, Intermediate und Leaf Level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75FB8E5D-FA5A-4720-BD62-86DB96A7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D6C55C6-F875-46B6-922C-65B243F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E411061-1A86-45DD-8326-410EA8F6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50 / 84</a:t>
            </a:r>
          </a:p>
        </p:txBody>
      </p:sp>
      <p:sp>
        <p:nvSpPr>
          <p:cNvPr id="6" name="bt-root">
            <a:extLst xmlns:a="http://schemas.openxmlformats.org/drawingml/2006/main">
              <a:ext uri="{FF2B5EF4-FFF2-40B4-BE49-F238E27FC236}">
                <a16:creationId xmlns:a16="http://schemas.microsoft.com/office/drawing/2014/main" id="{CB6E1BBC-0AC4-4F25-895B-C22886B1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9800"/>
            <a:ext cx="22860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bt-root-text">
            <a:extLst xmlns:a="http://schemas.openxmlformats.org/drawingml/2006/main">
              <a:ext uri="{FF2B5EF4-FFF2-40B4-BE49-F238E27FC236}">
                <a16:creationId xmlns:a16="http://schemas.microsoft.com/office/drawing/2014/main" id="{227AFA28-93A2-4282-B549-3A7BAAD0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201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Root</a:t>
            </a:r>
          </a:p>
        </p:txBody>
      </p:sp>
      <p:sp>
        <p:nvSpPr>
          <p:cNvPr id="8" name="bt-mid1">
            <a:extLst xmlns:a="http://schemas.openxmlformats.org/drawingml/2006/main">
              <a:ext uri="{FF2B5EF4-FFF2-40B4-BE49-F238E27FC236}">
                <a16:creationId xmlns:a16="http://schemas.microsoft.com/office/drawing/2014/main" id="{9D9680D0-6993-4A8D-B5C1-4F991C2A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429000"/>
            <a:ext cx="2095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bt-mid1-text">
            <a:extLst xmlns:a="http://schemas.openxmlformats.org/drawingml/2006/main">
              <a:ext uri="{FF2B5EF4-FFF2-40B4-BE49-F238E27FC236}">
                <a16:creationId xmlns:a16="http://schemas.microsoft.com/office/drawing/2014/main" id="{555C035E-52CF-4A24-A991-77F946FB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543300"/>
            <a:ext cx="1828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Intermediate</a:t>
            </a:r>
          </a:p>
        </p:txBody>
      </p:sp>
      <p:sp>
        <p:nvSpPr>
          <p:cNvPr id="10" name="bt-mid2">
            <a:extLst xmlns:a="http://schemas.openxmlformats.org/drawingml/2006/main">
              <a:ext uri="{FF2B5EF4-FFF2-40B4-BE49-F238E27FC236}">
                <a16:creationId xmlns:a16="http://schemas.microsoft.com/office/drawing/2014/main" id="{3C14E36F-036E-4940-808D-B8350059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2095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bt-mid2-text">
            <a:extLst xmlns:a="http://schemas.openxmlformats.org/drawingml/2006/main">
              <a:ext uri="{FF2B5EF4-FFF2-40B4-BE49-F238E27FC236}">
                <a16:creationId xmlns:a16="http://schemas.microsoft.com/office/drawing/2014/main" id="{ED4AD514-004B-43B0-B7ED-F0CBE820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43300"/>
            <a:ext cx="1828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Intermediate</a:t>
            </a:r>
          </a:p>
        </p:txBody>
      </p:sp>
      <p:sp>
        <p:nvSpPr>
          <p:cNvPr id="12" name="bt-leaf1">
            <a:extLst xmlns:a="http://schemas.openxmlformats.org/drawingml/2006/main">
              <a:ext uri="{FF2B5EF4-FFF2-40B4-BE49-F238E27FC236}">
                <a16:creationId xmlns:a16="http://schemas.microsoft.com/office/drawing/2014/main" id="{3EF30927-58CB-414E-9E3E-9216721D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bt-leaf1-text">
            <a:extLst xmlns:a="http://schemas.openxmlformats.org/drawingml/2006/main">
              <a:ext uri="{FF2B5EF4-FFF2-40B4-BE49-F238E27FC236}">
                <a16:creationId xmlns:a16="http://schemas.microsoft.com/office/drawing/2014/main" id="{E3D9958F-432C-48C8-B91C-1591019F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768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Leaf Pages</a:t>
            </a:r>
          </a:p>
        </p:txBody>
      </p:sp>
      <p:sp>
        <p:nvSpPr>
          <p:cNvPr id="14" name="bt-leaf2">
            <a:extLst xmlns:a="http://schemas.openxmlformats.org/drawingml/2006/main">
              <a:ext uri="{FF2B5EF4-FFF2-40B4-BE49-F238E27FC236}">
                <a16:creationId xmlns:a16="http://schemas.microsoft.com/office/drawing/2014/main" id="{76D18D03-18B7-4F85-8BC5-BA3E1704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6250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bt-leaf2-text">
            <a:extLst xmlns:a="http://schemas.openxmlformats.org/drawingml/2006/main">
              <a:ext uri="{FF2B5EF4-FFF2-40B4-BE49-F238E27FC236}">
                <a16:creationId xmlns:a16="http://schemas.microsoft.com/office/drawing/2014/main" id="{8900707F-3CB2-4695-8348-905A6410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768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Leaf Pages</a:t>
            </a:r>
          </a:p>
        </p:txBody>
      </p:sp>
      <p:sp>
        <p:nvSpPr>
          <p:cNvPr id="16" name="bt-leaf3">
            <a:extLst xmlns:a="http://schemas.openxmlformats.org/drawingml/2006/main">
              <a:ext uri="{FF2B5EF4-FFF2-40B4-BE49-F238E27FC236}">
                <a16:creationId xmlns:a16="http://schemas.microsoft.com/office/drawing/2014/main" id="{876F1041-9A46-4818-B06B-116C4EFE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6250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bt-leaf3-text">
            <a:extLst xmlns:a="http://schemas.openxmlformats.org/drawingml/2006/main">
              <a:ext uri="{FF2B5EF4-FFF2-40B4-BE49-F238E27FC236}">
                <a16:creationId xmlns:a16="http://schemas.microsoft.com/office/drawing/2014/main" id="{AEED4AD7-1190-4FD0-94EB-CFF457C9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8768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Leaf Pages</a:t>
            </a:r>
          </a:p>
        </p:txBody>
      </p:sp>
      <p:sp>
        <p:nvSpPr>
          <p:cNvPr id="18" name="bt-leaf4">
            <a:extLst xmlns:a="http://schemas.openxmlformats.org/drawingml/2006/main">
              <a:ext uri="{FF2B5EF4-FFF2-40B4-BE49-F238E27FC236}">
                <a16:creationId xmlns:a16="http://schemas.microsoft.com/office/drawing/2014/main" id="{E66897CD-26DC-4CB0-885E-48395C14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76250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bt-leaf4-text">
            <a:extLst xmlns:a="http://schemas.openxmlformats.org/drawingml/2006/main">
              <a:ext uri="{FF2B5EF4-FFF2-40B4-BE49-F238E27FC236}">
                <a16:creationId xmlns:a16="http://schemas.microsoft.com/office/drawing/2014/main" id="{89B0BABB-9D5D-46CD-A10A-2201FB46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8768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Leaf Pages</a:t>
            </a:r>
          </a:p>
        </p:txBody>
      </p:sp>
      <p:cxnSp>
        <p:nvCxnSpPr>
          <p:cNvPr id="45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3505200" y="2914650"/>
            <a:ext cx="2590800" cy="5143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6" name=""/>
          <p:cNvCxnSpPr>
            <a:stCxn xmlns:a="http://schemas.openxmlformats.org/drawingml/2006/main" id="6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6096000" y="2914650"/>
            <a:ext cx="2590800" cy="5143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7" name=""/>
          <p:cNvCxnSpPr>
            <a:stCxn xmlns:a="http://schemas.openxmlformats.org/drawingml/2006/main" id="8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1781175" y="4133850"/>
            <a:ext cx="1724025" cy="6286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8" name=""/>
          <p:cNvCxnSpPr>
            <a:stCxn xmlns:a="http://schemas.openxmlformats.org/drawingml/2006/main" id="8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3505200" y="4133850"/>
            <a:ext cx="695325" cy="6286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9" name=""/>
          <p:cNvCxnSpPr>
            <a:stCxn xmlns:a="http://schemas.openxmlformats.org/drawingml/2006/main" id="10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7991475" y="4133850"/>
            <a:ext cx="695325" cy="6286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50" name=""/>
          <p:cNvCxnSpPr>
            <a:stCxn xmlns:a="http://schemas.openxmlformats.org/drawingml/2006/main" id="10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8686800" y="4133850"/>
            <a:ext cx="1724025" cy="6286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</p:spTree>
    <p:extLst>
      <p:ext uri="{BB962C8B-B14F-4D97-AF65-F5344CB8AC3E}">
        <p14:creationId xmlns:p14="http://schemas.microsoft.com/office/powerpoint/2010/main" val="134441472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7355AB19-5C97-495F-8CCC-02F466AC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C9835B-CCCE-4991-8062-1FC62595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Nonclustered Row Locator bestimmt Lookup-Kosten und Indexbreite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240064D-6568-4257-91FF-AD4929D4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268772C-7A31-4047-BF35-03593AD4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0C1FFA4-452E-4122-938F-ABFF328E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51 / 84</a:t>
            </a:r>
          </a:p>
        </p:txBody>
      </p:sp>
      <p:sp>
        <p:nvSpPr>
          <p:cNvPr id="6" name="rl-nci">
            <a:extLst xmlns:a="http://schemas.openxmlformats.org/drawingml/2006/main">
              <a:ext uri="{FF2B5EF4-FFF2-40B4-BE49-F238E27FC236}">
                <a16:creationId xmlns:a16="http://schemas.microsoft.com/office/drawing/2014/main" id="{8CFCAD9B-C720-46AE-8A89-F9662A3E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81250"/>
            <a:ext cx="2476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rl-nci-text">
            <a:extLst xmlns:a="http://schemas.openxmlformats.org/drawingml/2006/main">
              <a:ext uri="{FF2B5EF4-FFF2-40B4-BE49-F238E27FC236}">
                <a16:creationId xmlns:a16="http://schemas.microsoft.com/office/drawing/2014/main" id="{79945B5A-7343-49F2-A866-3C52EA89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495550"/>
            <a:ext cx="2209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Nonclustered Index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Key + Locator</a:t>
            </a:r>
          </a:p>
        </p:txBody>
      </p:sp>
      <p:sp>
        <p:nvSpPr>
          <p:cNvPr id="8" name="rl-heap">
            <a:extLst xmlns:a="http://schemas.openxmlformats.org/drawingml/2006/main">
              <a:ext uri="{FF2B5EF4-FFF2-40B4-BE49-F238E27FC236}">
                <a16:creationId xmlns:a16="http://schemas.microsoft.com/office/drawing/2014/main" id="{B0D636AA-5485-4D7F-9B2B-4ED21FA4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7675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rl-heap-text">
            <a:extLst xmlns:a="http://schemas.openxmlformats.org/drawingml/2006/main">
              <a:ext uri="{FF2B5EF4-FFF2-40B4-BE49-F238E27FC236}">
                <a16:creationId xmlns:a16="http://schemas.microsoft.com/office/drawing/2014/main" id="{06427CE3-14F9-4CEF-A105-8F9E17A5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9105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Heap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RID = File:Page:Slot</a:t>
            </a:r>
          </a:p>
        </p:txBody>
      </p:sp>
      <p:sp>
        <p:nvSpPr>
          <p:cNvPr id="10" name="rl-clustered">
            <a:extLst xmlns:a="http://schemas.openxmlformats.org/drawingml/2006/main">
              <a:ext uri="{FF2B5EF4-FFF2-40B4-BE49-F238E27FC236}">
                <a16:creationId xmlns:a16="http://schemas.microsoft.com/office/drawing/2014/main" id="{63278187-663F-49CF-8932-4DD7EDB1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7675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rl-clustered-text">
            <a:extLst xmlns:a="http://schemas.openxmlformats.org/drawingml/2006/main">
              <a:ext uri="{FF2B5EF4-FFF2-40B4-BE49-F238E27FC236}">
                <a16:creationId xmlns:a16="http://schemas.microsoft.com/office/drawing/2014/main" id="{F325A6D9-47F2-4AB6-8510-9D337AFD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Clustered Table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Clustering Key</a:t>
            </a:r>
          </a:p>
        </p:txBody>
      </p:sp>
      <p:cxnSp>
        <p:nvCxnSpPr>
          <p:cNvPr id="26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2914650" y="3448050"/>
            <a:ext cx="318135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A261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6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6096000" y="3448050"/>
            <a:ext cx="318135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4" name="rl-caption">
            <a:extLst xmlns:a="http://schemas.openxmlformats.org/drawingml/2006/main">
              <a:ext uri="{FF2B5EF4-FFF2-40B4-BE49-F238E27FC236}">
                <a16:creationId xmlns:a16="http://schemas.microsoft.com/office/drawing/2014/main" id="{535AB44E-4C25-4B8F-9F6B-AAE3D8CF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Lookup-Ziel hängt von der Base-Table-Struktur ab.</a:t>
            </a:r>
          </a:p>
        </p:txBody>
      </p:sp>
    </p:spTree>
    <p:extLst>
      <p:ext uri="{BB962C8B-B14F-4D97-AF65-F5344CB8AC3E}">
        <p14:creationId xmlns:p14="http://schemas.microsoft.com/office/powerpoint/2010/main" val="1080640391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5BC55F4-658D-4968-8DD8-BDE416BA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335C4C-0A5F-4A4A-A10D-68A1A4F4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Die Key-Reihenfolge folgt Zugriff, Range und Sortierung – nicht nur Selektivität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AEE3C47-5BC4-411A-9D7D-9FA666F1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73B6ACB-1222-46BD-9A1F-1B533EF1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04667DF-DA17-4B0D-AEEC-5FF64910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52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111EB67A-2A15-4EF3-9835-6D4EAD5C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Composite Index kann nur seine führenden Keypräfixe direkt als geordneten Suchraum nutzen.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102B12F4-CF24-440A-A5B2-251CE62A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CFB08631-6E74-4308-809C-B0AE729C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Equality-Spalten typischerweise vor Range-Spalten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ORDER BY und Join-Reihenfolge können relevant sein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INCLUDE beeinflusst Coverage, nicht Key-Sortierung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ein Index kann mehrere wichtige Query Patterns bedienen</a:t>
            </a:r>
          </a:p>
        </p:txBody>
      </p:sp>
    </p:spTree>
    <p:extLst>
      <p:ext uri="{BB962C8B-B14F-4D97-AF65-F5344CB8AC3E}">
        <p14:creationId xmlns:p14="http://schemas.microsoft.com/office/powerpoint/2010/main" val="336373176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784350D-9EB9-4139-9BEF-931D49C7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6F39CE-94FE-4A8B-8FE5-7292CBB1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INCLUDE und Filter reduzieren unterschiedliche Kosten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FACC0F8-650A-464E-8938-16E59202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3D6D913-77C7-42D6-B89E-D46A4B2A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681AA53-D5D2-4E37-887B-3B6EAB0E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53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8C6B7CC2-2C1B-438F-91E0-9579B3E2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INCLUDE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06928F02-A69F-4F63-B8A6-FC9C6DF7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Filtered Index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BC566253-8634-4CBE-9BBB-F057C59B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5DE334FD-40C3-4171-BE19-66D983AF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zusätzliche Leaf-Spalten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vermeidet Lookups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verbreitert Leaf Level und Writes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497C7B2A-3FFF-4FFC-AFF8-C764666A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enthält nur qualifizierte Rows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kleiner und selektiver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Query-Prädikat muss Filter logisch implizieren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2146889E-5EA7-4165-8182-FB685CF4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33B7B717-57AA-47F8-9DC9-2FA17340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Coverage wird gegen Speicher-, Log- und Wartungskosten abgewogen.</a:t>
            </a:r>
          </a:p>
        </p:txBody>
      </p:sp>
    </p:spTree>
    <p:extLst>
      <p:ext uri="{BB962C8B-B14F-4D97-AF65-F5344CB8AC3E}">
        <p14:creationId xmlns:p14="http://schemas.microsoft.com/office/powerpoint/2010/main" val="11591568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3C3C9A6-D28B-4184-89B3-FF556B1A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839A28-5F84-44BC-9B77-852037BA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Mit wachsender Trefferzahl kann ein Scan günstiger als viele Lookups werden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E2E53EC-6C0B-4F33-867A-E8489450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EDFBA61-7681-4894-9CC8-5981E966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55DBE42-54CD-4DE7-9675-D572A041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54 / 84</a:t>
            </a:r>
          </a:p>
        </p:txBody>
      </p:sp>
      <p:sp>
        <p:nvSpPr>
          <p:cNvPr id="6" name="tip-axis-x">
            <a:extLst xmlns:a="http://schemas.openxmlformats.org/drawingml/2006/main">
              <a:ext uri="{FF2B5EF4-FFF2-40B4-BE49-F238E27FC236}">
                <a16:creationId xmlns:a16="http://schemas.microsoft.com/office/drawing/2014/main" id="{D4968FB9-0DF2-410C-ABB7-7A6B4D9E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895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p-axis-y">
            <a:extLst xmlns:a="http://schemas.openxmlformats.org/drawingml/2006/main">
              <a:ext uri="{FF2B5EF4-FFF2-40B4-BE49-F238E27FC236}">
                <a16:creationId xmlns:a16="http://schemas.microsoft.com/office/drawing/2014/main" id="{EFBE65F9-DEB7-4D13-91B7-7DCCC6B0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19350"/>
            <a:ext cx="28575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eek-start">
            <a:extLst xmlns:a="http://schemas.openxmlformats.org/drawingml/2006/main">
              <a:ext uri="{FF2B5EF4-FFF2-40B4-BE49-F238E27FC236}">
                <a16:creationId xmlns:a16="http://schemas.microsoft.com/office/drawing/2014/main" id="{445CF686-88D7-47D4-A2CD-9B709935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76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9525">
            <a:solidFill>
              <a:srgbClr val="007C83"/>
            </a:solidFill>
            <a:prstDash val="solid"/>
          </a:ln>
        </p:spPr>
      </p:sp>
      <p:sp>
        <p:nvSpPr>
          <p:cNvPr id="9" name="seek-end">
            <a:extLst xmlns:a="http://schemas.openxmlformats.org/drawingml/2006/main">
              <a:ext uri="{FF2B5EF4-FFF2-40B4-BE49-F238E27FC236}">
                <a16:creationId xmlns:a16="http://schemas.microsoft.com/office/drawing/2014/main" id="{B23F0F70-0C62-4A8C-AD06-698EB68D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09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3"/>
          </a:solidFill>
          <a:ln xmlns:a="http://schemas.openxmlformats.org/drawingml/2006/main" w="9525">
            <a:solidFill>
              <a:srgbClr val="007C83"/>
            </a:solidFill>
            <a:prstDash val="solid"/>
          </a:ln>
        </p:spPr>
      </p:sp>
      <p:cxnSp>
        <p:nvCxnSpPr>
          <p:cNvPr id="26" name=""/>
          <p:cNvCxnSpPr>
            <a:stCxn xmlns:a="http://schemas.openxmlformats.org/drawingml/2006/main" id="8" idx="6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1771650" y="2657475"/>
            <a:ext cx="7848600" cy="22669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7C83"/>
            </a:solidFill>
            <a:prstDash val="solid"/>
          </a:ln>
        </p:spPr>
      </p:cxnSp>
      <p:sp>
        <p:nvSpPr>
          <p:cNvPr id="11" name="scan-line">
            <a:extLst xmlns:a="http://schemas.openxmlformats.org/drawingml/2006/main">
              <a:ext uri="{FF2B5EF4-FFF2-40B4-BE49-F238E27FC236}">
                <a16:creationId xmlns:a16="http://schemas.microsoft.com/office/drawing/2014/main" id="{F9D5E3F5-1737-46FE-ADCD-241D9968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6762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eek-label">
            <a:extLst xmlns:a="http://schemas.openxmlformats.org/drawingml/2006/main">
              <a:ext uri="{FF2B5EF4-FFF2-40B4-BE49-F238E27FC236}">
                <a16:creationId xmlns:a16="http://schemas.microsoft.com/office/drawing/2014/main" id="{7E226368-4349-4D82-A17A-9D7401E0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7147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Seek + Lookup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steigende Kosten</a:t>
            </a:r>
          </a:p>
        </p:txBody>
      </p:sp>
      <p:sp>
        <p:nvSpPr>
          <p:cNvPr id="13" name="scan-label">
            <a:extLst xmlns:a="http://schemas.openxmlformats.org/drawingml/2006/main">
              <a:ext uri="{FF2B5EF4-FFF2-40B4-BE49-F238E27FC236}">
                <a16:creationId xmlns:a16="http://schemas.microsoft.com/office/drawing/2014/main" id="{89F9E172-A634-4100-8CF1-06B9B87C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0861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A9611B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A9611B"/>
                </a:solidFill>
                <a:latin typeface="Aptos"/>
                <a:ea typeface="Aptos"/>
                <a:cs typeface="Aptos"/>
              </a:rPr>
              <a:t>Scan: relativ konstante Basiskosten</a:t>
            </a:r>
          </a:p>
        </p:txBody>
      </p:sp>
      <p:sp>
        <p:nvSpPr>
          <p:cNvPr id="14" name="tip-point">
            <a:extLst xmlns:a="http://schemas.openxmlformats.org/drawingml/2006/main">
              <a:ext uri="{FF2B5EF4-FFF2-40B4-BE49-F238E27FC236}">
                <a16:creationId xmlns:a16="http://schemas.microsoft.com/office/drawing/2014/main" id="{08300962-0011-4499-BFA5-5266F7B6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9525">
            <a:solidFill>
              <a:srgbClr val="C94C4C"/>
            </a:solidFill>
            <a:prstDash val="solid"/>
          </a:ln>
        </p:spPr>
      </p:sp>
      <p:sp>
        <p:nvSpPr>
          <p:cNvPr id="15" name="tip-label">
            <a:extLst xmlns:a="http://schemas.openxmlformats.org/drawingml/2006/main">
              <a:ext uri="{FF2B5EF4-FFF2-40B4-BE49-F238E27FC236}">
                <a16:creationId xmlns:a16="http://schemas.microsoft.com/office/drawing/2014/main" id="{E25D8706-0AED-4369-BBA0-5B4FC4E9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00450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94C4C"/>
                </a:solidFill>
                <a:latin typeface="Aptos"/>
                <a:ea typeface="Aptos"/>
                <a:cs typeface="Aptos"/>
              </a:rPr>
              <a:t>planabhängiger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94C4C"/>
                </a:solidFill>
                <a:latin typeface="Aptos"/>
                <a:ea typeface="Aptos"/>
                <a:cs typeface="Aptos"/>
              </a:rPr>
              <a:t>Tipping Point</a:t>
            </a:r>
          </a:p>
        </p:txBody>
      </p:sp>
      <p:sp>
        <p:nvSpPr>
          <p:cNvPr id="16" name="tip-x-label">
            <a:extLst xmlns:a="http://schemas.openxmlformats.org/drawingml/2006/main">
              <a:ext uri="{FF2B5EF4-FFF2-40B4-BE49-F238E27FC236}">
                <a16:creationId xmlns:a16="http://schemas.microsoft.com/office/drawing/2014/main" id="{EDF91C89-5669-47F4-980B-39DD66D3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467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Trefferzahl / Selektivität</a:t>
            </a:r>
          </a:p>
        </p:txBody>
      </p:sp>
    </p:spTree>
    <p:extLst>
      <p:ext uri="{BB962C8B-B14F-4D97-AF65-F5344CB8AC3E}">
        <p14:creationId xmlns:p14="http://schemas.microsoft.com/office/powerpoint/2010/main" val="14537630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97D332A8-3E97-4906-AA05-F4571B75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346B1D-B5E2-4783-9E89-54A2257A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breiter oder nicht eindeutiger Clustering Key vervielfacht Folgekosten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0795166-0E09-4487-BB82-E4E0498D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0E4CCE6-59DE-46D5-8272-FA344915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872F1BE-EFC8-4FD7-818F-2B11D944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55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1D2BF7DE-1C22-4477-93D1-26AF843A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Clustering Key wird als Row Locator in Nonclustered Indexes geführt.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CAC32D6D-9700-47CF-917F-C1B7CA93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BC822B61-6971-4ED9-BF2D-BA26B13E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breiter Key erhöht Speicher, I/O und Buffer-Pool-Druck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nicht eindeutiger Key kann einen 4-Byte-Uniqueifier benötigen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Key-Updates betreffen alle abhängigen Nonclustered Indexes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narrow, unique, immutable und möglichst sequenziell sind Designziele – keine Dogmen</a:t>
            </a:r>
          </a:p>
        </p:txBody>
      </p:sp>
    </p:spTree>
    <p:extLst>
      <p:ext uri="{BB962C8B-B14F-4D97-AF65-F5344CB8AC3E}">
        <p14:creationId xmlns:p14="http://schemas.microsoft.com/office/powerpoint/2010/main" val="90246155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57677C0-88C6-47D9-AC76-86786CC4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6CDB8B-38D5-4E4D-8A99-DA74A7C6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Jeder zusätzliche Index tauscht Read-Kosten gegen DML- und Betriebskosten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201A524-114A-4AF3-A0CB-E46BC2FC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345FCCA-5664-4102-BC1F-92EFF42C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E2E9201-BB20-47E1-B1C5-5A5BF97F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56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48C1F50B-8047-4022-9BBF-EE4AD79C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Read-Nutzen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FD800986-49C7-42B6-ACBE-45AAEA91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Write-Kosten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C4CFF50F-3EF4-41A7-AF2C-0B03AB94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13CB0E2F-6AE2-4B3C-86D5-A7ABFCC2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Seek, Sortvermeidung und Coverage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bessere Join- und Filterpfade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weniger gelesene Pages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2DA725E8-AC65-41C7-A193-422DA61C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INSERT, UPDATE und DELETE pflegen jede Struktur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mehr Log, Memory und Locks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Rebuild, Reorganize und Statistikpflege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BF35885A-F305-47FD-ACBF-AE2DA46C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62BB85C6-2A1B-44BB-ABAF-FEE48D19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Indexdesign beginnt bei priorisierten Workloads, nicht bei Missing-Index-Vorschlägen allein.</a:t>
            </a:r>
          </a:p>
        </p:txBody>
      </p:sp>
    </p:spTree>
    <p:extLst>
      <p:ext uri="{BB962C8B-B14F-4D97-AF65-F5344CB8AC3E}">
        <p14:creationId xmlns:p14="http://schemas.microsoft.com/office/powerpoint/2010/main" val="146297697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E18BA18-CC1F-47E0-A979-5D601D50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E11A01-916B-42E3-B5B6-0A38CCEF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Page Splits, Fragmentation und Page Density dürfen nicht gleichgesetzt werden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DD52A3B-B4A8-4EB2-9533-CC53105A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9148A56-BD2F-4CA9-B428-9180B952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99154ED-4861-488F-91D5-E5BBE784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57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E0D3FB46-440F-4205-9CB9-BEA4904B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Page Split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0A9FF7A1-34F0-4BE9-8347-6C4B79A7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Page Density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82E32052-F449-4F66-A4CE-972C8206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05FC88F8-00ED-4F50-A58F-7D1B0CD1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neue Page und Row-Verteilung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Log- und Write-Kosten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kann interne Fragmentation hinterlassen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BFC6878B-75B2-46DE-8536-862C92E3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Rows pro Page und Cacheeffizienz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niedrige Dichte erhöht Reads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Fill Factor beeinflusst Dichte nach Rebuild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E3BE006A-08C7-49D8-9A7F-DCA85F5F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20A84467-8286-4EC9-9E9C-863911B3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Für viele Workloads ist Page Density wichtiger als reine Fragmentation.</a:t>
            </a:r>
          </a:p>
        </p:txBody>
      </p:sp>
    </p:spTree>
    <p:extLst>
      <p:ext uri="{BB962C8B-B14F-4D97-AF65-F5344CB8AC3E}">
        <p14:creationId xmlns:p14="http://schemas.microsoft.com/office/powerpoint/2010/main" val="85393859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5574421-1D62-4636-8018-E2627000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BAAAA9-64A8-460C-9FFB-F732B8D7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Index Maintenance ist eine evidenzbasierte Betriebsentscheidung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9FC73CC-D34B-4417-A2C7-DE3D2045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0C41EE3-15DC-4A42-BE6C-1A6B1FE1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5F3CDC4-1AD8-4EF9-AEE0-28C619EB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58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B51493F5-3A4A-488F-8819-5DFFDC72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Reorganize, Rebuild und Statistikpflege lösen unterschiedliche Probleme und erzeugen unterschiedliche Last.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A2F97584-C75D-4CC4-8DE9-544C31E5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7E138BAB-96B9-465B-AB23-18EE98BD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avg_page_space_used_in_percent und Workloadwirkung prüfen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Rebuild benötigt Log-, TempDB-, Storage- und Sperrbudget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Reorganize bearbeitet Rowstore-Leaf-Level online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Statistikpflege ist nicht identisch mit physischer Maintenance</a:t>
            </a:r>
          </a:p>
        </p:txBody>
      </p:sp>
    </p:spTree>
    <p:extLst>
      <p:ext uri="{BB962C8B-B14F-4D97-AF65-F5344CB8AC3E}">
        <p14:creationId xmlns:p14="http://schemas.microsoft.com/office/powerpoint/2010/main" val="115535827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E9AF5A0E-6FE7-477A-91F5-D8A2B470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246B85-0780-4E5C-AEF9-1BB72022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Columnstore organisiert Daten als Rowgroups und komprimierte Column Segments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336B11A-7061-449D-878B-1631ECC9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B28F2C4-002D-48DB-9A1C-DA13325E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8A5E5A2-5AB6-4908-8E3B-D151188A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59 / 84</a:t>
            </a:r>
          </a:p>
        </p:txBody>
      </p:sp>
      <p:sp>
        <p:nvSpPr>
          <p:cNvPr id="6" name="cs-rows">
            <a:extLst xmlns:a="http://schemas.openxmlformats.org/drawingml/2006/main">
              <a:ext uri="{FF2B5EF4-FFF2-40B4-BE49-F238E27FC236}">
                <a16:creationId xmlns:a16="http://schemas.microsoft.com/office/drawing/2014/main" id="{89517150-769F-408D-A82E-B076E10C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1524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cs-rows-text">
            <a:extLst xmlns:a="http://schemas.openxmlformats.org/drawingml/2006/main">
              <a:ext uri="{FF2B5EF4-FFF2-40B4-BE49-F238E27FC236}">
                <a16:creationId xmlns:a16="http://schemas.microsoft.com/office/drawing/2014/main" id="{0BA9B5BC-BF60-4E4C-A823-A9D9B15E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90900"/>
            <a:ext cx="1257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Rows</a:t>
            </a:r>
          </a:p>
        </p:txBody>
      </p:sp>
      <p:sp>
        <p:nvSpPr>
          <p:cNvPr id="8" name="cs-rg">
            <a:extLst xmlns:a="http://schemas.openxmlformats.org/drawingml/2006/main">
              <a:ext uri="{FF2B5EF4-FFF2-40B4-BE49-F238E27FC236}">
                <a16:creationId xmlns:a16="http://schemas.microsoft.com/office/drawing/2014/main" id="{F3302BB1-5C87-4DC1-B731-61F5E0D3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28950"/>
            <a:ext cx="2190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cs-rg-text">
            <a:extLst xmlns:a="http://schemas.openxmlformats.org/drawingml/2006/main">
              <a:ext uri="{FF2B5EF4-FFF2-40B4-BE49-F238E27FC236}">
                <a16:creationId xmlns:a16="http://schemas.microsoft.com/office/drawing/2014/main" id="{E3AAEF22-E3C6-4EDF-9082-210317C5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43250"/>
            <a:ext cx="1924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Rowgroups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bis 1.048.576 Rows</a:t>
            </a:r>
          </a:p>
        </p:txBody>
      </p:sp>
      <p:sp>
        <p:nvSpPr>
          <p:cNvPr id="10" name="cs-seg">
            <a:extLst xmlns:a="http://schemas.openxmlformats.org/drawingml/2006/main">
              <a:ext uri="{FF2B5EF4-FFF2-40B4-BE49-F238E27FC236}">
                <a16:creationId xmlns:a16="http://schemas.microsoft.com/office/drawing/2014/main" id="{89136A7A-2698-46B8-8D47-D093D998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2190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cs-seg-text">
            <a:extLst xmlns:a="http://schemas.openxmlformats.org/drawingml/2006/main">
              <a:ext uri="{FF2B5EF4-FFF2-40B4-BE49-F238E27FC236}">
                <a16:creationId xmlns:a16="http://schemas.microsoft.com/office/drawing/2014/main" id="{2F53C3BD-B642-449C-A04E-FF40C842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1924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Column Segments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komprimiert</a:t>
            </a:r>
          </a:p>
        </p:txBody>
      </p:sp>
      <p:sp>
        <p:nvSpPr>
          <p:cNvPr id="12" name="cs-meta">
            <a:extLst xmlns:a="http://schemas.openxmlformats.org/drawingml/2006/main">
              <a:ext uri="{FF2B5EF4-FFF2-40B4-BE49-F238E27FC236}">
                <a16:creationId xmlns:a16="http://schemas.microsoft.com/office/drawing/2014/main" id="{B15DF642-7A60-45F4-9636-67AB4574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cs-meta-text">
            <a:extLst xmlns:a="http://schemas.openxmlformats.org/drawingml/2006/main">
              <a:ext uri="{FF2B5EF4-FFF2-40B4-BE49-F238E27FC236}">
                <a16:creationId xmlns:a16="http://schemas.microsoft.com/office/drawing/2014/main" id="{7B18EBFE-03E1-4A12-BC93-F5838138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909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Min / Max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Metadaten</a:t>
            </a:r>
          </a:p>
        </p:txBody>
      </p: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66950" y="3810000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200650" y="381000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210550" y="381000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7" name="cs-caption">
            <a:extLst xmlns:a="http://schemas.openxmlformats.org/drawingml/2006/main">
              <a:ext uri="{FF2B5EF4-FFF2-40B4-BE49-F238E27FC236}">
                <a16:creationId xmlns:a16="http://schemas.microsoft.com/office/drawing/2014/main" id="{7351C801-3396-4F02-9235-93A0CE11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816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8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Segment enthält die Werte einer Spalte innerhalb eines Rowgroups.</a:t>
            </a:r>
          </a:p>
        </p:txBody>
      </p:sp>
    </p:spTree>
    <p:extLst>
      <p:ext uri="{BB962C8B-B14F-4D97-AF65-F5344CB8AC3E}">
        <p14:creationId xmlns:p14="http://schemas.microsoft.com/office/powerpoint/2010/main" val="1812341043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B613B3C-C380-4CCF-9CDE-CDFA4EE6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AFAF16-A237-440F-92FC-9E5607DB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Batch Mode und Segment Elimination reduzieren unterschiedliche Arbeit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F01426E-BEAE-4EC3-BE25-44182AF7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4135F1D-239B-4AA7-9C25-44DF5602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8454BD3-ACB1-48D1-AA7E-67F794A9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60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4F8512FA-4B84-48F0-AD2A-8EA20DB9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Batch Mode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08EC2A1A-48EE-47FF-B81D-282CA88A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Segment Elimination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49DA48EE-148B-4FD6-97B5-A1DAC004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9675C47A-3660-440C-8386-6CDE70DF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verarbeitet typischerweise bis zu 900 Rows pro Batch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reduziert Operator-Overhead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auch auf Rowstore in geeigneten Plänen ab CL 150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8298E4B3-C7EC-4373-B4F4-5CEEBE1D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vergleicht Prädikate mit Segment-Min/Max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überspringt vollständige Segmente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Datenordnung beeinflusst Effektivität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9B4FF05A-F73F-499E-993E-F112311D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F274F4DE-3438-41E4-842E-6F2C9394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Columnstore profitiert von Verarbeitung und Datenanordnung.</a:t>
            </a:r>
          </a:p>
        </p:txBody>
      </p:sp>
    </p:spTree>
    <p:extLst>
      <p:ext uri="{BB962C8B-B14F-4D97-AF65-F5344CB8AC3E}">
        <p14:creationId xmlns:p14="http://schemas.microsoft.com/office/powerpoint/2010/main" val="621028891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C6E628F-61C9-434D-855B-150EF358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4 · INDIZES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94EACA-A1D1-4E2B-AE4A-2636AD1C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Rowgroup-Qualität entscheidet über Compression und Elimination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54D5077-47C2-4EA0-9F75-C8E001E1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78ECF48-D239-43A9-AA3B-4006CB98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7242B18-039F-4A4E-9603-C19E5F0E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61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30340E67-E544-43E6-AB3B-34304C1B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Kleine oder stark überlappende Rowgroups erhöhen Metadaten- und Scanarbeit.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33A0AF17-5D13-41C8-AAE8-37623DD9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EA54E1D8-87F6-44FD-B2C7-A8B75A6F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Delta Store nimmt kleine DML-Batches als Rowstore auf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Tuple Mover komprimiert geschlossene Delta Rowgroups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Delete Bitmap markiert gelöschte Rows bis zur physischen Bereinigung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Background Merge ab SQL Server 2019 verbessert Qualität über Zeit</a:t>
            </a:r>
          </a:p>
        </p:txBody>
      </p:sp>
    </p:spTree>
    <p:extLst>
      <p:ext uri="{BB962C8B-B14F-4D97-AF65-F5344CB8AC3E}">
        <p14:creationId xmlns:p14="http://schemas.microsoft.com/office/powerpoint/2010/main" val="1764890175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">
            <a:extLst xmlns:a="http://schemas.openxmlformats.org/drawingml/2006/main">
              <a:ext uri="{FF2B5EF4-FFF2-40B4-BE49-F238E27FC236}">
                <a16:creationId xmlns:a16="http://schemas.microsoft.com/office/drawing/2014/main" id="{E9845A71-787F-4515-B461-4BF6AF07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4 · WISSENSKONTROLLE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8AEF9492-6B05-427D-B32A-9AEEC9E1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Welche Evidenz rechtfertigt einen neuen Index?</a:t>
            </a:r>
          </a:p>
        </p:txBody>
      </p:sp>
      <p:sp>
        <p:nvSpPr>
          <p:cNvPr id="3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E2066AF9-5E32-49C6-9880-7AC554A8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mpt-num-0">
            <a:extLst xmlns:a="http://schemas.openxmlformats.org/drawingml/2006/main">
              <a:ext uri="{FF2B5EF4-FFF2-40B4-BE49-F238E27FC236}">
                <a16:creationId xmlns:a16="http://schemas.microsoft.com/office/drawing/2014/main" id="{5121C6BF-BE1F-4238-9616-B6A35007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prompt-0">
            <a:extLst xmlns:a="http://schemas.openxmlformats.org/drawingml/2006/main">
              <a:ext uri="{FF2B5EF4-FFF2-40B4-BE49-F238E27FC236}">
                <a16:creationId xmlns:a16="http://schemas.microsoft.com/office/drawing/2014/main" id="{0E2C3C2E-A480-452A-AFBE-B6596068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priorisierte Query und Zugriffsmuster</a:t>
            </a:r>
          </a:p>
        </p:txBody>
      </p:sp>
      <p:sp>
        <p:nvSpPr>
          <p:cNvPr id="6" name="prompt-num-1">
            <a:extLst xmlns:a="http://schemas.openxmlformats.org/drawingml/2006/main">
              <a:ext uri="{FF2B5EF4-FFF2-40B4-BE49-F238E27FC236}">
                <a16:creationId xmlns:a16="http://schemas.microsoft.com/office/drawing/2014/main" id="{F5C2CA34-C200-4F38-929D-D092C29D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mpt-1">
            <a:extLst xmlns:a="http://schemas.openxmlformats.org/drawingml/2006/main">
              <a:ext uri="{FF2B5EF4-FFF2-40B4-BE49-F238E27FC236}">
                <a16:creationId xmlns:a16="http://schemas.microsoft.com/office/drawing/2014/main" id="{635C9CA8-59E0-463A-A948-3299DA26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Plan und tatsächliche Rows</a:t>
            </a:r>
          </a:p>
        </p:txBody>
      </p:sp>
      <p:sp>
        <p:nvSpPr>
          <p:cNvPr id="8" name="prompt-num-2">
            <a:extLst xmlns:a="http://schemas.openxmlformats.org/drawingml/2006/main">
              <a:ext uri="{FF2B5EF4-FFF2-40B4-BE49-F238E27FC236}">
                <a16:creationId xmlns:a16="http://schemas.microsoft.com/office/drawing/2014/main" id="{6429202B-AA71-4F0F-81DE-55F4D0B7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prompt-2">
            <a:extLst xmlns:a="http://schemas.openxmlformats.org/drawingml/2006/main">
              <a:ext uri="{FF2B5EF4-FFF2-40B4-BE49-F238E27FC236}">
                <a16:creationId xmlns:a16="http://schemas.microsoft.com/office/drawing/2014/main" id="{ABF4633A-9FBA-4348-8811-901FA353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Read-Ersparnis</a:t>
            </a:r>
          </a:p>
        </p:txBody>
      </p:sp>
      <p:sp>
        <p:nvSpPr>
          <p:cNvPr id="10" name="prompt-num-3">
            <a:extLst xmlns:a="http://schemas.openxmlformats.org/drawingml/2006/main">
              <a:ext uri="{FF2B5EF4-FFF2-40B4-BE49-F238E27FC236}">
                <a16:creationId xmlns:a16="http://schemas.microsoft.com/office/drawing/2014/main" id="{34935C0E-D573-41B5-84CE-723E3A2D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prompt-3">
            <a:extLst xmlns:a="http://schemas.openxmlformats.org/drawingml/2006/main">
              <a:ext uri="{FF2B5EF4-FFF2-40B4-BE49-F238E27FC236}">
                <a16:creationId xmlns:a16="http://schemas.microsoft.com/office/drawing/2014/main" id="{5493825C-C07E-40E8-A3B5-62F9ADC5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DML-, Speicher- und Maintenance-Kosten</a:t>
            </a:r>
          </a:p>
        </p:txBody>
      </p:sp>
      <p:sp>
        <p:nvSpPr>
          <p:cNvPr id="12" name="question-footer">
            <a:extLst xmlns:a="http://schemas.openxmlformats.org/drawingml/2006/main">
              <a:ext uri="{FF2B5EF4-FFF2-40B4-BE49-F238E27FC236}">
                <a16:creationId xmlns:a16="http://schemas.microsoft.com/office/drawing/2014/main" id="{6286C8D5-53A5-47E1-9AF8-BC3EC883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62 / 84</a:t>
            </a:r>
          </a:p>
        </p:txBody>
      </p:sp>
    </p:spTree>
    <p:extLst>
      <p:ext uri="{BB962C8B-B14F-4D97-AF65-F5344CB8AC3E}">
        <p14:creationId xmlns:p14="http://schemas.microsoft.com/office/powerpoint/2010/main" val="673053384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9C4AD094-80BC-4B57-86E3-66458AE7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7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87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ADA98AC8-3AE8-4926-A4F3-9F870318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8000B2C-95AB-4DB5-AAE6-7EB36AC3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Concurrency und Isolation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048B3C0E-857A-48F2-8E21-0FCA2792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Wie schützt SQL Server Konsistenz, ohne unnötig Durchsatz zu verlieren?</a:t>
            </a:r>
          </a:p>
        </p:txBody>
      </p:sp>
      <p:sp>
        <p:nvSpPr>
          <p:cNvPr id="5" name="section-footer">
            <a:extLst xmlns:a="http://schemas.openxmlformats.org/drawingml/2006/main">
              <a:ext uri="{FF2B5EF4-FFF2-40B4-BE49-F238E27FC236}">
                <a16:creationId xmlns:a16="http://schemas.microsoft.com/office/drawing/2014/main" id="{47BCBCF0-3C7C-4122-842F-B30834EB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19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</p:spTree>
    <p:extLst>
      <p:ext uri="{BB962C8B-B14F-4D97-AF65-F5344CB8AC3E}">
        <p14:creationId xmlns:p14="http://schemas.microsoft.com/office/powerpoint/2010/main" val="1728319307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23A8804-EAFD-4034-B54B-22AEBE90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5 · CONCURRENCY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C65606-996A-430A-BE7C-27DCDC0F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Isolation Level definiert Sichtbarkeit und Schutz – nicht pauschal 'Geschwindigkeit'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347279E-2242-46D2-812C-B2CE352A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469EF7C-97A5-4328-A207-F46E87E9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724DE17-17C7-4895-938A-DB309F3E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64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6667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Lesesicht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typischer Trade-off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READ UNCOMMITTED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auch nicht bestätigte Daten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Dirty Reads und inkonsistente Resultate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READ COMMITTED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bestätigte Daten; Locking oder RCSI je DB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Statement-Sicht abhängig von DB-Option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SNAPSHOT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Transaktionssnapshot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Version Store und Update Conflicts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REPEATABLE READ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gelesene Rows bleiben stabil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länger gehaltene Locks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SERIALIZABLE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zusätzlich Key-Range-Schutz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höchste Blocking-Gefahr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4451193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740C868-CBAD-4201-B883-7E31D8B6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5 · CONCURRENCY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5442DE-D390-46E8-97C2-C2989900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Locking und Row Versioning verschieben Kosten – sie entfernen sie nicht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9577361-0184-451D-8F20-6DF2764E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4271F3C-3B5C-48F4-9C6E-DCE93A97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DBA523A-FC4D-4F27-AC63-340EEB9E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65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04DB5FA0-022F-4540-9362-4110F877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Locking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79D5C161-6548-4B2B-B2E1-76FC899D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Row Versioning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8E9ACAC0-6F92-4CBF-B2BC-DBBEC9F7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F653F9BF-A182-417D-A89F-8BF09A03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Leser und Writer können blockieren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Lock Memory und Escalation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aktuelle Row wird geschützt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5BC5841C-43EC-4C96-8908-C686D47D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Leser nutzen committed Versionen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Version Store erzeugt Speicher- und I/O-Kosten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lange Snapshots verlängern Retention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00D094BE-ED69-4E9D-8C4D-F8945F4F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2561BEE7-8628-479F-A6D6-9075C524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Isolation wird nach Korrektheitsvertrag gewählt, danach performancegerecht implementiert.</a:t>
            </a:r>
          </a:p>
        </p:txBody>
      </p:sp>
    </p:spTree>
    <p:extLst>
      <p:ext uri="{BB962C8B-B14F-4D97-AF65-F5344CB8AC3E}">
        <p14:creationId xmlns:p14="http://schemas.microsoft.com/office/powerpoint/2010/main" val="30217754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3DE58BB6-6A7F-40CC-BCCC-92273DB4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5 · CONCURRENCY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380092-6AF4-4703-858C-54663BF8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Eine Blocking Chain wird vom Head Blocker aus analysiert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2EDCBB7-451B-4332-8438-157269E6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E299D76-755F-4E1F-9858-D59259A2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04C5E18-E936-4C6B-ACB7-E9D6FCAD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66 / 84</a:t>
            </a:r>
          </a:p>
        </p:txBody>
      </p:sp>
      <p:sp>
        <p:nvSpPr>
          <p:cNvPr id="6" name="block-head">
            <a:extLst xmlns:a="http://schemas.openxmlformats.org/drawingml/2006/main">
              <a:ext uri="{FF2B5EF4-FFF2-40B4-BE49-F238E27FC236}">
                <a16:creationId xmlns:a16="http://schemas.microsoft.com/office/drawing/2014/main" id="{66106C3C-EF05-4D1B-A53E-2AB7491F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667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block-head-text">
            <a:extLst xmlns:a="http://schemas.openxmlformats.org/drawingml/2006/main">
              <a:ext uri="{FF2B5EF4-FFF2-40B4-BE49-F238E27FC236}">
                <a16:creationId xmlns:a16="http://schemas.microsoft.com/office/drawing/2014/main" id="{76875E82-ECA1-4235-A56F-A61BDE56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2400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Session 51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HEAD BLOCKER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offene Transaktion</a:t>
            </a:r>
          </a:p>
        </p:txBody>
      </p:sp>
      <p:sp>
        <p:nvSpPr>
          <p:cNvPr id="8" name="block-b1">
            <a:extLst xmlns:a="http://schemas.openxmlformats.org/drawingml/2006/main">
              <a:ext uri="{FF2B5EF4-FFF2-40B4-BE49-F238E27FC236}">
                <a16:creationId xmlns:a16="http://schemas.microsoft.com/office/drawing/2014/main" id="{FB522F5A-335C-48A0-B250-FAC1D602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19350"/>
            <a:ext cx="2286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block-b1-text">
            <a:extLst xmlns:a="http://schemas.openxmlformats.org/drawingml/2006/main">
              <a:ext uri="{FF2B5EF4-FFF2-40B4-BE49-F238E27FC236}">
                <a16:creationId xmlns:a16="http://schemas.microsoft.com/office/drawing/2014/main" id="{785EAC0F-A78D-498F-9B1C-6C2C3F53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33650"/>
            <a:ext cx="201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Session 62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LCK_M_X</a:t>
            </a:r>
          </a:p>
        </p:txBody>
      </p:sp>
      <p:sp>
        <p:nvSpPr>
          <p:cNvPr id="10" name="block-b2">
            <a:extLst xmlns:a="http://schemas.openxmlformats.org/drawingml/2006/main">
              <a:ext uri="{FF2B5EF4-FFF2-40B4-BE49-F238E27FC236}">
                <a16:creationId xmlns:a16="http://schemas.microsoft.com/office/drawing/2014/main" id="{E09C9375-83C2-4361-887A-29DDD162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38600"/>
            <a:ext cx="2286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block-b2-text">
            <a:extLst xmlns:a="http://schemas.openxmlformats.org/drawingml/2006/main">
              <a:ext uri="{FF2B5EF4-FFF2-40B4-BE49-F238E27FC236}">
                <a16:creationId xmlns:a16="http://schemas.microsoft.com/office/drawing/2014/main" id="{3A02807F-F05D-44F3-BB01-5E773085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52900"/>
            <a:ext cx="201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Session 73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LCK_M_S</a:t>
            </a:r>
          </a:p>
        </p:txBody>
      </p:sp>
      <p:sp>
        <p:nvSpPr>
          <p:cNvPr id="12" name="block-b3">
            <a:extLst xmlns:a="http://schemas.openxmlformats.org/drawingml/2006/main">
              <a:ext uri="{FF2B5EF4-FFF2-40B4-BE49-F238E27FC236}">
                <a16:creationId xmlns:a16="http://schemas.microsoft.com/office/drawing/2014/main" id="{9CD84652-69B4-46D8-9253-AC604CEB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286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block-b3-text">
            <a:extLst xmlns:a="http://schemas.openxmlformats.org/drawingml/2006/main">
              <a:ext uri="{FF2B5EF4-FFF2-40B4-BE49-F238E27FC236}">
                <a16:creationId xmlns:a16="http://schemas.microsoft.com/office/drawing/2014/main" id="{CBA63FC0-46CC-43A6-A53F-3B290C79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33650"/>
            <a:ext cx="201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Session 84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wartet auf 62</a:t>
            </a:r>
          </a:p>
        </p:txBody>
      </p: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3524250" y="2952750"/>
            <a:ext cx="1238250" cy="8096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2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524250" y="3762375"/>
            <a:ext cx="1238250" cy="8096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048500" y="2952750"/>
            <a:ext cx="1276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17" name="block-caption">
            <a:extLst xmlns:a="http://schemas.openxmlformats.org/drawingml/2006/main">
              <a:ext uri="{FF2B5EF4-FFF2-40B4-BE49-F238E27FC236}">
                <a16:creationId xmlns:a16="http://schemas.microsoft.com/office/drawing/2014/main" id="{57453B66-421E-4B89-AFC4-B1AC24AD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Ursache am Head Blocker untersuchen; Wartezeit allein priorisiert nur das Symptom.</a:t>
            </a:r>
          </a:p>
        </p:txBody>
      </p:sp>
    </p:spTree>
    <p:extLst>
      <p:ext uri="{BB962C8B-B14F-4D97-AF65-F5344CB8AC3E}">
        <p14:creationId xmlns:p14="http://schemas.microsoft.com/office/powerpoint/2010/main" val="14169825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5A605CE-E541-4685-BC3C-123933A4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5 · CONCURRENCY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4540FE-48A7-49DE-8F37-86EB4838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Blocking ist eine gerichtete Kette – ein Deadlock ist ein Zyklus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4C7EDD86-AD63-429C-A3EA-53F31D32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37A0B15-51E5-4944-B646-D239B0FA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7D8C9A2-05D1-4B5F-B853-EDD78D33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67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10FCBCE6-444E-4413-96E7-350B56DA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Blocking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C728DF73-D27F-41AC-8D82-213C4C1E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Deadlock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FAC3756C-2EEB-455B-9BF1-B2FE46FC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1CB9ED7A-6451-430E-9410-21A59599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eine Session wartet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kann sich nach Commit selbst lösen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Head Blocker und Transaktionsdauer prüfen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9EA7162D-B102-44CA-B882-EE4DBA1C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zyklische Abhängigkeit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SQL Server wählt ein Opfer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Deadlock Graph liefert Ressourcen- und Statementkontext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81C2F785-4F48-4C72-9ACF-48CBF48E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F7EDCD42-B0BA-4E59-99B0-33F77FB1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Timeouts verbergen die Ursache; Graph beziehungsweise Chain sichern die Evidenz.</a:t>
            </a:r>
          </a:p>
        </p:txBody>
      </p:sp>
    </p:spTree>
    <p:extLst>
      <p:ext uri="{BB962C8B-B14F-4D97-AF65-F5344CB8AC3E}">
        <p14:creationId xmlns:p14="http://schemas.microsoft.com/office/powerpoint/2010/main" val="912537687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332C4B81-10C6-4D94-BAE7-C773CAC6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5 · CONCURRENCY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C115A4-DD3D-4F80-A802-E91DD178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TempDB trägt Concurrency-Kosten weit über #Temp Tables hinaus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B714C36-2B4D-49EE-BDA3-0A8D100E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77839D3-FD2E-46AD-A076-25D107D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888BF3A-96D5-4EBE-853F-B1B0036B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68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541EFF04-68B8-460F-9EE1-FECCA16C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Version Store, Spills, Worktables, Sorts und interne Objekte konkurrieren um dieselben Ressourcen.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0B062423-9B89-4A5C-B60E-1C3ABD32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2EAAD473-9058-4C9B-8A4D-1BCA5536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RCSI und SNAPSHOT erzeugen Row Versions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Spills erzeugen Workfiles und Worktables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Allocation Contention betrifft andere Latches als Storage-I/O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ADR kann den Persistent Version Store in die Userdatenbank verlagern</a:t>
            </a:r>
          </a:p>
        </p:txBody>
      </p:sp>
    </p:spTree>
    <p:extLst>
      <p:ext uri="{BB962C8B-B14F-4D97-AF65-F5344CB8AC3E}">
        <p14:creationId xmlns:p14="http://schemas.microsoft.com/office/powerpoint/2010/main" val="945936908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AA82688-64F8-45EE-8FB7-9D6AD8EF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5 · CONCURRENCY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CF09F2-10E1-4089-BF3A-8A82BD99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Optimized Locking in SQL Server 2025 reduziert DML-Locks – unter klaren Voraussetzungen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A0E836C-73F1-423D-B88A-48F212DD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A39FBEF-80AE-4D16-B2F5-0D0D4849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774857F-2506-4D2F-87A8-6A3675A7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69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5480A56E-368E-443E-B007-D4491C35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TID Locking hält einen Transaction-ID-Lock statt vieler Row Locks; LAQ qualifiziert Rows auf committed Versions.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63D8596B-A102-4B53-98EF-A0928394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9E0349D9-EDC6-4E0E-85E2-6A4648D7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pro Userdatenbank aktivierbar; in SQL Server 2025 standardmäßig aus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ADR muss vorab aktiviert sein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LAQ benötigt RCSI; Locking Hints reduzieren den Nutzen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Schema Locks und TempDB-DML bleiben außerhalb dieses Effekts</a:t>
            </a:r>
          </a:p>
        </p:txBody>
      </p:sp>
    </p:spTree>
    <p:extLst>
      <p:ext uri="{BB962C8B-B14F-4D97-AF65-F5344CB8AC3E}">
        <p14:creationId xmlns:p14="http://schemas.microsoft.com/office/powerpoint/2010/main" val="430480687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">
            <a:extLst xmlns:a="http://schemas.openxmlformats.org/drawingml/2006/main">
              <a:ext uri="{FF2B5EF4-FFF2-40B4-BE49-F238E27FC236}">
                <a16:creationId xmlns:a16="http://schemas.microsoft.com/office/drawing/2014/main" id="{772784F7-9E90-4897-B799-E75535CD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5 · WISSENSKONTROLLE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A405E02D-5EA1-494D-AA2D-A76AFC1D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4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 Leser blockiert einen Writer: Welche Information fehlt für eine korrekte Maßnahme?</a:t>
            </a:r>
          </a:p>
        </p:txBody>
      </p:sp>
      <p:sp>
        <p:nvSpPr>
          <p:cNvPr id="3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FD62CA3E-297C-4E36-A19B-70BC593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mpt-num-0">
            <a:extLst xmlns:a="http://schemas.openxmlformats.org/drawingml/2006/main">
              <a:ext uri="{FF2B5EF4-FFF2-40B4-BE49-F238E27FC236}">
                <a16:creationId xmlns:a16="http://schemas.microsoft.com/office/drawing/2014/main" id="{496D2F80-74D3-4C34-9C8B-4AF58484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prompt-0">
            <a:extLst xmlns:a="http://schemas.openxmlformats.org/drawingml/2006/main">
              <a:ext uri="{FF2B5EF4-FFF2-40B4-BE49-F238E27FC236}">
                <a16:creationId xmlns:a16="http://schemas.microsoft.com/office/drawing/2014/main" id="{B28F5385-C44D-4989-9ADA-1138DEEE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Isolation Level und RCSI-Status</a:t>
            </a:r>
          </a:p>
        </p:txBody>
      </p:sp>
      <p:sp>
        <p:nvSpPr>
          <p:cNvPr id="6" name="prompt-num-1">
            <a:extLst xmlns:a="http://schemas.openxmlformats.org/drawingml/2006/main">
              <a:ext uri="{FF2B5EF4-FFF2-40B4-BE49-F238E27FC236}">
                <a16:creationId xmlns:a16="http://schemas.microsoft.com/office/drawing/2014/main" id="{1DC1A6A8-40F9-4758-8199-9C5478CC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mpt-1">
            <a:extLst xmlns:a="http://schemas.openxmlformats.org/drawingml/2006/main">
              <a:ext uri="{FF2B5EF4-FFF2-40B4-BE49-F238E27FC236}">
                <a16:creationId xmlns:a16="http://schemas.microsoft.com/office/drawing/2014/main" id="{510B4C32-0209-4AC0-8CB5-64F78BDC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offene Transaktionsgrenzen</a:t>
            </a:r>
          </a:p>
        </p:txBody>
      </p:sp>
      <p:sp>
        <p:nvSpPr>
          <p:cNvPr id="8" name="prompt-num-2">
            <a:extLst xmlns:a="http://schemas.openxmlformats.org/drawingml/2006/main">
              <a:ext uri="{FF2B5EF4-FFF2-40B4-BE49-F238E27FC236}">
                <a16:creationId xmlns:a16="http://schemas.microsoft.com/office/drawing/2014/main" id="{9D0CEECB-6F90-4F0E-9781-B7B152CE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prompt-2">
            <a:extLst xmlns:a="http://schemas.openxmlformats.org/drawingml/2006/main">
              <a:ext uri="{FF2B5EF4-FFF2-40B4-BE49-F238E27FC236}">
                <a16:creationId xmlns:a16="http://schemas.microsoft.com/office/drawing/2014/main" id="{C7256B07-8C1B-4A2E-83D1-E6E1408D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Lock Resource und Modus</a:t>
            </a:r>
          </a:p>
        </p:txBody>
      </p:sp>
      <p:sp>
        <p:nvSpPr>
          <p:cNvPr id="10" name="prompt-num-3">
            <a:extLst xmlns:a="http://schemas.openxmlformats.org/drawingml/2006/main">
              <a:ext uri="{FF2B5EF4-FFF2-40B4-BE49-F238E27FC236}">
                <a16:creationId xmlns:a16="http://schemas.microsoft.com/office/drawing/2014/main" id="{87408AD1-FFB3-4A82-9395-46EF4B4B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prompt-3">
            <a:extLst xmlns:a="http://schemas.openxmlformats.org/drawingml/2006/main">
              <a:ext uri="{FF2B5EF4-FFF2-40B4-BE49-F238E27FC236}">
                <a16:creationId xmlns:a16="http://schemas.microsoft.com/office/drawing/2014/main" id="{955E30B5-AB57-4D9C-B27E-1BB265E9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fachlicher Konsistenzvertrag</a:t>
            </a:r>
          </a:p>
        </p:txBody>
      </p:sp>
      <p:sp>
        <p:nvSpPr>
          <p:cNvPr id="12" name="question-footer">
            <a:extLst xmlns:a="http://schemas.openxmlformats.org/drawingml/2006/main">
              <a:ext uri="{FF2B5EF4-FFF2-40B4-BE49-F238E27FC236}">
                <a16:creationId xmlns:a16="http://schemas.microsoft.com/office/drawing/2014/main" id="{56697A33-14AD-4CE5-8D11-1DB36F7C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70 / 84</a:t>
            </a:r>
          </a:p>
        </p:txBody>
      </p:sp>
    </p:spTree>
    <p:extLst>
      <p:ext uri="{BB962C8B-B14F-4D97-AF65-F5344CB8AC3E}">
        <p14:creationId xmlns:p14="http://schemas.microsoft.com/office/powerpoint/2010/main" val="1175942607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77974D9-3C6F-4821-98E7-B8330699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7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87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8405F77-D08B-497D-9AF6-06C6503B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474AADED-8137-4668-9E95-053B4C2D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Ressourcen und Diagnose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3B4C23C0-15E1-4B1C-AC6F-8D93D7FE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0" i="0">
                <a:solidFill>
                  <a:srgbClr val="C9D7E3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C9D7E3"/>
                </a:solidFill>
                <a:latin typeface="Aptos"/>
                <a:ea typeface="Aptos"/>
                <a:cs typeface="Aptos"/>
              </a:rPr>
              <a:t>Wie wird aus Messwerten eine überprüfbare technische Hypothese?</a:t>
            </a:r>
          </a:p>
        </p:txBody>
      </p:sp>
      <p:sp>
        <p:nvSpPr>
          <p:cNvPr id="5" name="section-footer">
            <a:extLst xmlns:a="http://schemas.openxmlformats.org/drawingml/2006/main">
              <a:ext uri="{FF2B5EF4-FFF2-40B4-BE49-F238E27FC236}">
                <a16:creationId xmlns:a16="http://schemas.microsoft.com/office/drawing/2014/main" id="{BDAFECF5-7A88-4563-B663-5C1777D8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19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</p:spTree>
    <p:extLst>
      <p:ext uri="{BB962C8B-B14F-4D97-AF65-F5344CB8AC3E}">
        <p14:creationId xmlns:p14="http://schemas.microsoft.com/office/powerpoint/2010/main" val="2026166350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B049AD5-DA03-4DCA-AD8E-A7C8D354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CD33AA-4865-4D15-8A41-166838D3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Elapsed Time besteht aus CPU-Zeit und Wartezeit – aber nicht als triviale Einzelsumme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CB6BAB57-5DF1-473D-97E6-A84DECEC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2E56B68-034E-41D8-9405-34EAFFC0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EFFB265-D2B0-43D2-B014-EF316EAB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72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60D69119-8FF1-4A52-8152-CAF31DE0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CPU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BA02A9BE-A8BD-498D-A855-7CF3DCD6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Waits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B7EAEE3A-3536-4F22-849D-0F4AE8BC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127C5019-AACC-44D0-9ECB-612BCC83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aktive Arbeit auf Schedulern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parallel über mehrere Worker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Operator- und Ausdruckskosten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CA506B11-7357-4C1C-9530-55E21009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Ressource, Synchronisation oder externe Abhängigkeit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pro Task, Request oder kumulativ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Parallelität kann Waits überlappen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61A71D8D-F295-4DD7-BC0C-0155F941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AB1360CF-D69D-43A4-9803-49351FEF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Hohe Duration verlangt die Trennung von Arbeit und Warten.</a:t>
            </a:r>
          </a:p>
        </p:txBody>
      </p:sp>
    </p:spTree>
    <p:extLst>
      <p:ext uri="{BB962C8B-B14F-4D97-AF65-F5344CB8AC3E}">
        <p14:creationId xmlns:p14="http://schemas.microsoft.com/office/powerpoint/2010/main" val="578038073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D2C58F2-6661-4A36-8C8B-27DB6A27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AA2973-E11B-4C39-A566-EDD0DB4B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Waits müssen im richtigen Scope und als Delta interpretiert werden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B0B1CBA-260B-45FA-89D7-5EA03ECC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271F447-EC3B-48DB-AD32-14F8B435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47B3C4D-FE68-4BDA-BADD-38452964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73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3524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7048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Beispiel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geeignete Frage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Request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sys.dm_exec_requests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Worauf wartet diese laufende Ausführung jetzt?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Session/Task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sys.dm_os_waiting_tasks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Welche Ressource blockiert welchen Task?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Query-Historie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Query Store Wait Stats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Welche Wait-Kategorien begleiteten die Query im Zeitraum?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Instanz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sys.dm_os_wait_stats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Welche Wartearten dominierten im gemessenen Intervall?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8693500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B9D42F9-2A1B-4419-92B6-9AC14837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233047-3166-41B7-9DC5-26BDDD78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RESOURCE_SEMAPHORE zeigt Grant-Warten – nicht automatisch RAM-Mangel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C59FB45-1DF6-4032-966E-045D9460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DE0F28E-6800-4885-BB82-636F5B93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96C55DE-BCC6-4815-BADD-F53E103E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74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FE891408-4E96-46FC-BA57-CEDFC93C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Query-Ebene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446BDA0F-2EA1-454E-8F53-02F7F9E2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Workload-Ebene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06673ED7-B45F-4EF5-8096-ABD21D17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A59692DC-B6B3-405A-82B7-D10DFB08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Requested versus Granted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Schätzfehler und Row Width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Spill oder übermäßiger Grant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413E5083-6D29-4739-9F87-14673D2E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gleichzeitige Grant-Anforderungen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Memory Broker und Resource Governor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Concurrency und Queue-Dauer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80B31952-F0B7-4786-8492-01B2902C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2FA162B2-6C74-4D6D-A923-E5DEDC04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Grantdruck wird auf Query- und Systemebene gleichzeitig erklärt.</a:t>
            </a:r>
          </a:p>
        </p:txBody>
      </p:sp>
    </p:spTree>
    <p:extLst>
      <p:ext uri="{BB962C8B-B14F-4D97-AF65-F5344CB8AC3E}">
        <p14:creationId xmlns:p14="http://schemas.microsoft.com/office/powerpoint/2010/main" val="1889210220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8217AF2-5637-4916-A8E2-928EFEA9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8DD164-7EC4-4EA4-AAFD-1BF2208D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I/O-, Log- und Netzwerk-Waits zeigen unterschiedliche Flaschenhälse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13C86FC-853A-461E-9D41-A45E6828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4E4A08A-FC95-4F14-9FF7-BF6F9C22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CBAA270-6D79-4705-BE5B-3FC183B1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75 / 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171700"/>
          <a:ext xmlns:a="http://schemas.openxmlformats.org/drawingml/2006/main" cx="10668000" cy="3524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00350"/>
                <a:gridCol w="3867150"/>
                <a:gridCol w="4000500"/>
              </a:tblGrid>
              <a:tr h="7048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Signal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häufige Bedeutung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nächste Evidenz</a:t>
                      </a:r>
                    </a:p>
                  </a:txBody>
                  <a:tcPr marL="91440" marR="91440" marT="45720" marB="45720">
                    <a:solidFill>
                      <a:srgbClr val="0B1F33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PAGEIOLATCH_*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Warten auf Data-Page-I/O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File-Latenz, Reads, Cachemisses, Plan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PAGELATCH_*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In-Memory-Latch auf Page-Struktur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Resource Description, TempDB/Hot Page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WRITELOG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Warten auf Log Flush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Log-Write-Latenz, Commitmuster, Lograte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ASYNC_NETWORK_IO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Server wartet auf Clientkonsum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>
                          <a:solidFill>
                            <a:srgbClr val="243B53"/>
                          </a:solidFill>
                          <a:latin typeface="Aptos"/>
                          <a:ea typeface="Aptos"/>
                          <a:cs typeface="Aptos"/>
                        </a:rPr>
                        <a:t>Resultsetgröße, Clientfetch, Netzwerk</a:t>
                      </a:r>
                    </a:p>
                  </a:txBody>
                  <a:tcPr marL="91440" marR="91440" marT="45720" marB="45720"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357087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F81A740-7B28-4826-B09E-FEF66379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12D0E8-1964-4818-ACB5-64378548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Query Store verbindet Regression, Planwechsel und Laufzeitverteilung über die Zeit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965CB9CF-7F10-49A3-9742-B9431A8D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C8E1642-DDD6-4882-9B68-E381764B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E1BD0CE-3C24-4923-AF13-E8E04ABF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76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E73437D9-B209-4CC9-B1CA-877044DF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Plan Cache zeigt primär den aktuellen Zustand; Query Store bewahrt mehrere Pläne und aggregierte Runtime-Intervalle.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87940E6F-1985-49E5-82D9-23C24ADB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E99EFE89-7D13-408D-9582-67BFB474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Top Resource Consuming und Regressed Queries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Runtime-, Plan- und Wait-Statistiken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Plan Forcing und Query Store Hints mit Governance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ab SQL Server 2022 für neue Datenbanken standardmäßig READ_WRITE</a:t>
            </a:r>
          </a:p>
        </p:txBody>
      </p:sp>
    </p:spTree>
    <p:extLst>
      <p:ext uri="{BB962C8B-B14F-4D97-AF65-F5344CB8AC3E}">
        <p14:creationId xmlns:p14="http://schemas.microsoft.com/office/powerpoint/2010/main" val="225120178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98D9FA56-D7BD-412B-8336-DFCD10F5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806666-2F6A-4D32-8358-021BE56C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Extended Events und DMVs ergänzen sich bei gezielten Untersuchungen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88A59FB-2784-46B8-9B74-6CF6FF98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32E6BA9-10EE-437C-9C07-99BF323B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5D8B65A-795C-41A7-B467-55103428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77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4F71FB49-B2A6-4407-AA46-B7020D39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Extended Events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14C03BD4-8759-441E-80DB-D390CEEA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DMVs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418818E3-8FDE-46C9-AD68-3A2A41C5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68E37AB6-3E8D-41A3-B740-758C7616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zeitliche Ereignisse und Korrelation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Filter, Actions und Targets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gezielte Session statt Dauer-Vollcapture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19395991-6313-402D-9056-E3F0C660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aktueller oder kumulierter Zustand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geringer Einstiegsoverhead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Momentaufnahme benötigt Kontext und Delta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2D53657E-0666-4A92-AEA9-53B252F5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B9366787-9708-428F-82A8-E619516C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Das Capture-Design folgt der Hypothese.</a:t>
            </a:r>
          </a:p>
        </p:txBody>
      </p:sp>
    </p:spTree>
    <p:extLst>
      <p:ext uri="{BB962C8B-B14F-4D97-AF65-F5344CB8AC3E}">
        <p14:creationId xmlns:p14="http://schemas.microsoft.com/office/powerpoint/2010/main" val="1747923842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C8AEFF4-DEFC-46D7-8D0E-C37DFF17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EC735E-1279-421C-A862-88C7793C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Eine Query-Analyse wird von außen nach innen eingegrenzt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1497767-9126-4F60-9F35-417EDE71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C576267-6C11-4365-9A53-D9C94C2D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8B9DE52-B208-4B2F-9741-0B31F26C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78 / 84</a:t>
            </a:r>
          </a:p>
        </p:txBody>
      </p:sp>
      <p:sp>
        <p:nvSpPr>
          <p:cNvPr id="6" name="flow-1">
            <a:extLst xmlns:a="http://schemas.openxmlformats.org/drawingml/2006/main">
              <a:ext uri="{FF2B5EF4-FFF2-40B4-BE49-F238E27FC236}">
                <a16:creationId xmlns:a16="http://schemas.microsoft.com/office/drawing/2014/main" id="{0D649366-3DAD-42F7-8230-E45D141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4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flow-1-text">
            <a:extLst xmlns:a="http://schemas.openxmlformats.org/drawingml/2006/main">
              <a:ext uri="{FF2B5EF4-FFF2-40B4-BE49-F238E27FC236}">
                <a16:creationId xmlns:a16="http://schemas.microsoft.com/office/drawing/2014/main" id="{055A90E2-FB6A-43AD-A38F-0878C22B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Workload &amp;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Zeitraum</a:t>
            </a:r>
          </a:p>
        </p:txBody>
      </p:sp>
      <p:sp>
        <p:nvSpPr>
          <p:cNvPr id="8" name="flow-2">
            <a:extLst xmlns:a="http://schemas.openxmlformats.org/drawingml/2006/main">
              <a:ext uri="{FF2B5EF4-FFF2-40B4-BE49-F238E27FC236}">
                <a16:creationId xmlns:a16="http://schemas.microsoft.com/office/drawing/2014/main" id="{5753436A-88FB-420A-8614-4D21C4A5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flow-2-text">
            <a:extLst xmlns:a="http://schemas.openxmlformats.org/drawingml/2006/main">
              <a:ext uri="{FF2B5EF4-FFF2-40B4-BE49-F238E27FC236}">
                <a16:creationId xmlns:a16="http://schemas.microsoft.com/office/drawing/2014/main" id="{D544E734-8238-45C4-846C-82CB1231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CPU · I/O ·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Waits</a:t>
            </a:r>
          </a:p>
        </p:txBody>
      </p:sp>
      <p:sp>
        <p:nvSpPr>
          <p:cNvPr id="10" name="flow-3">
            <a:extLst xmlns:a="http://schemas.openxmlformats.org/drawingml/2006/main">
              <a:ext uri="{FF2B5EF4-FFF2-40B4-BE49-F238E27FC236}">
                <a16:creationId xmlns:a16="http://schemas.microsoft.com/office/drawing/2014/main" id="{055C03D6-E498-4DC5-B89B-7642A8CB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flow-3-text">
            <a:extLst xmlns:a="http://schemas.openxmlformats.org/drawingml/2006/main">
              <a:ext uri="{FF2B5EF4-FFF2-40B4-BE49-F238E27FC236}">
                <a16:creationId xmlns:a16="http://schemas.microsoft.com/office/drawing/2014/main" id="{EDFDB149-E5C4-4959-A2DA-06C333F2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Blocking &amp;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Grants</a:t>
            </a:r>
          </a:p>
        </p:txBody>
      </p:sp>
      <p:sp>
        <p:nvSpPr>
          <p:cNvPr id="12" name="flow-4">
            <a:extLst xmlns:a="http://schemas.openxmlformats.org/drawingml/2006/main">
              <a:ext uri="{FF2B5EF4-FFF2-40B4-BE49-F238E27FC236}">
                <a16:creationId xmlns:a16="http://schemas.microsoft.com/office/drawing/2014/main" id="{A8A1CDC4-4726-4E9B-8ACB-CD7804B1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flow-4-text">
            <a:extLst xmlns:a="http://schemas.openxmlformats.org/drawingml/2006/main">
              <a:ext uri="{FF2B5EF4-FFF2-40B4-BE49-F238E27FC236}">
                <a16:creationId xmlns:a16="http://schemas.microsoft.com/office/drawing/2014/main" id="{D1B53030-A49C-4D58-89CB-2119C811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Actual Plan &amp;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Kardinalität</a:t>
            </a:r>
          </a:p>
        </p:txBody>
      </p:sp>
      <p:sp>
        <p:nvSpPr>
          <p:cNvPr id="14" name="flow-5">
            <a:extLst xmlns:a="http://schemas.openxmlformats.org/drawingml/2006/main">
              <a:ext uri="{FF2B5EF4-FFF2-40B4-BE49-F238E27FC236}">
                <a16:creationId xmlns:a16="http://schemas.microsoft.com/office/drawing/2014/main" id="{C53FFDF2-23CA-4A47-A8DA-E979E67E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19621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flow-5-text">
            <a:extLst xmlns:a="http://schemas.openxmlformats.org/drawingml/2006/main">
              <a:ext uri="{FF2B5EF4-FFF2-40B4-BE49-F238E27FC236}">
                <a16:creationId xmlns:a16="http://schemas.microsoft.com/office/drawing/2014/main" id="{956BF807-172D-49A5-9F3F-F471BB03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24150"/>
            <a:ext cx="16954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Hypothese &amp;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Vergleich</a:t>
            </a:r>
          </a:p>
        </p:txBody>
      </p:sp>
      <p:cxnSp>
        <p:nvCxnSpPr>
          <p:cNvPr id="3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717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7434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3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9151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cxnSp>
        <p:nvCxnSpPr>
          <p:cNvPr id="4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08685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C83"/>
            </a:solidFill>
            <a:prstDash val="solid"/>
            <a:headEnd type="arrow" w="med" len="med"/>
          </a:ln>
        </p:spPr>
      </p:cxnSp>
      <p:sp>
        <p:nvSpPr>
          <p:cNvPr id="20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355382CE-D154-4B7E-9A1E-0981585B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8382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21" name="conclusion">
            <a:extLst xmlns:a="http://schemas.openxmlformats.org/drawingml/2006/main">
              <a:ext uri="{FF2B5EF4-FFF2-40B4-BE49-F238E27FC236}">
                <a16:creationId xmlns:a16="http://schemas.microsoft.com/office/drawing/2014/main" id="{41BFB6DA-4604-43B9-9FB8-535CE184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33950"/>
            <a:ext cx="7886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Die teuerste Operatorzahl allein ist keine Ursachenanalyse.</a:t>
            </a:r>
          </a:p>
        </p:txBody>
      </p:sp>
    </p:spTree>
    <p:extLst>
      <p:ext uri="{BB962C8B-B14F-4D97-AF65-F5344CB8AC3E}">
        <p14:creationId xmlns:p14="http://schemas.microsoft.com/office/powerpoint/2010/main" val="995494075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90D93A6-365A-4466-B9A5-B623ABF7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6 · DIAGNOSE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99A09B-17D1-479B-9EDA-6584B180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 Vorher-Nachher-Vergleich benötigt identische Bedingungen und mehrere Dimensionen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1D08F9E-17F0-433F-BEA6-14F82167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950329B-4712-4964-8FD0-52F1D13B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317596B-D85C-4134-A4AF-0D79D92F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79 / 84</a:t>
            </a:r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B16A942E-A54E-4AEA-B9A3-AA7A5C80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Konstant halten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4DE19F8B-F916-4816-B883-425DD631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gemeinsam bewerten</a:t>
            </a:r>
          </a:p>
        </p:txBody>
      </p:sp>
      <p:sp>
        <p:nvSpPr>
          <p:cNvPr id="8" name="middle-rule">
            <a:extLst xmlns:a="http://schemas.openxmlformats.org/drawingml/2006/main">
              <a:ext uri="{FF2B5EF4-FFF2-40B4-BE49-F238E27FC236}">
                <a16:creationId xmlns:a16="http://schemas.microsoft.com/office/drawing/2014/main" id="{96F5BE19-8B28-4009-A4D7-D168DACE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526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eft-points">
            <a:extLst xmlns:a="http://schemas.openxmlformats.org/drawingml/2006/main">
              <a:ext uri="{FF2B5EF4-FFF2-40B4-BE49-F238E27FC236}">
                <a16:creationId xmlns:a16="http://schemas.microsoft.com/office/drawing/2014/main" id="{23AAE32F-5412-423C-A0C8-FF5D1CB9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Datenstand und Parameter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Cache-/Warm-up-Regel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Concurrency und Zeitfenster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Version und DB-Optionen</a:t>
            </a:r>
          </a:p>
        </p:txBody>
      </p:sp>
      <p:sp>
        <p:nvSpPr>
          <p:cNvPr id="10" name="right-points">
            <a:extLst xmlns:a="http://schemas.openxmlformats.org/drawingml/2006/main">
              <a:ext uri="{FF2B5EF4-FFF2-40B4-BE49-F238E27FC236}">
                <a16:creationId xmlns:a16="http://schemas.microsoft.com/office/drawing/2014/main" id="{746EFA88-40DF-4C86-8A57-3541F0BE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4857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Duration und CPU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Reads, Writes und Rows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Waits, Grants und Spills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6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Nebenwirkungen auf DML</a:t>
            </a:r>
          </a:p>
        </p:txBody>
      </p:sp>
      <p:sp>
        <p:nvSpPr>
          <p:cNvPr id="11" name="conclusion-bg">
            <a:extLst xmlns:a="http://schemas.openxmlformats.org/drawingml/2006/main">
              <a:ext uri="{FF2B5EF4-FFF2-40B4-BE49-F238E27FC236}">
                <a16:creationId xmlns:a16="http://schemas.microsoft.com/office/drawing/2014/main" id="{D084095F-21AC-42B4-B762-C3A8B432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668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conclusion">
            <a:extLst xmlns:a="http://schemas.openxmlformats.org/drawingml/2006/main">
              <a:ext uri="{FF2B5EF4-FFF2-40B4-BE49-F238E27FC236}">
                <a16:creationId xmlns:a16="http://schemas.microsoft.com/office/drawing/2014/main" id="{225A4E62-B417-48B2-9FCB-D725548A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1021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Eine Verbesserung ist ein reproduzierbarer Effekt mit dokumentierten Grenzen.</a:t>
            </a:r>
          </a:p>
        </p:txBody>
      </p:sp>
    </p:spTree>
    <p:extLst>
      <p:ext uri="{BB962C8B-B14F-4D97-AF65-F5344CB8AC3E}">
        <p14:creationId xmlns:p14="http://schemas.microsoft.com/office/powerpoint/2010/main" val="17654104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">
            <a:extLst xmlns:a="http://schemas.openxmlformats.org/drawingml/2006/main">
              <a:ext uri="{FF2B5EF4-FFF2-40B4-BE49-F238E27FC236}">
                <a16:creationId xmlns:a16="http://schemas.microsoft.com/office/drawing/2014/main" id="{F6E446DE-08D4-4E37-BF98-6D36F7E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6 · WISSENSKONTROLLE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F740ECC6-F1C2-46D5-B644-C85B9992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3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Eine Query ist langsamer, CPU bleibt gleich: Welche Achsen werden als Nächstes geprüft?</a:t>
            </a:r>
          </a:p>
        </p:txBody>
      </p:sp>
      <p:sp>
        <p:nvSpPr>
          <p:cNvPr id="3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CD239907-8295-4F3C-BDAD-12161059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mpt-num-0">
            <a:extLst xmlns:a="http://schemas.openxmlformats.org/drawingml/2006/main">
              <a:ext uri="{FF2B5EF4-FFF2-40B4-BE49-F238E27FC236}">
                <a16:creationId xmlns:a16="http://schemas.microsoft.com/office/drawing/2014/main" id="{20DCC9B1-7EBC-4497-8CBF-B0F899A6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prompt-0">
            <a:extLst xmlns:a="http://schemas.openxmlformats.org/drawingml/2006/main">
              <a:ext uri="{FF2B5EF4-FFF2-40B4-BE49-F238E27FC236}">
                <a16:creationId xmlns:a16="http://schemas.microsoft.com/office/drawing/2014/main" id="{D72F7034-26EF-49CE-9220-E5C163CF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Waits und Blocking</a:t>
            </a:r>
          </a:p>
        </p:txBody>
      </p:sp>
      <p:sp>
        <p:nvSpPr>
          <p:cNvPr id="6" name="prompt-num-1">
            <a:extLst xmlns:a="http://schemas.openxmlformats.org/drawingml/2006/main">
              <a:ext uri="{FF2B5EF4-FFF2-40B4-BE49-F238E27FC236}">
                <a16:creationId xmlns:a16="http://schemas.microsoft.com/office/drawing/2014/main" id="{DC411EDB-D0C4-45EC-8D8D-3DA26EBC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mpt-1">
            <a:extLst xmlns:a="http://schemas.openxmlformats.org/drawingml/2006/main">
              <a:ext uri="{FF2B5EF4-FFF2-40B4-BE49-F238E27FC236}">
                <a16:creationId xmlns:a16="http://schemas.microsoft.com/office/drawing/2014/main" id="{030B669B-FE4B-4824-86B0-F4E43882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Physical I/O und File-Latenz</a:t>
            </a:r>
          </a:p>
        </p:txBody>
      </p:sp>
      <p:sp>
        <p:nvSpPr>
          <p:cNvPr id="8" name="prompt-num-2">
            <a:extLst xmlns:a="http://schemas.openxmlformats.org/drawingml/2006/main">
              <a:ext uri="{FF2B5EF4-FFF2-40B4-BE49-F238E27FC236}">
                <a16:creationId xmlns:a16="http://schemas.microsoft.com/office/drawing/2014/main" id="{744C9B2D-92DC-45CF-8D67-6EE35A0F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prompt-2">
            <a:extLst xmlns:a="http://schemas.openxmlformats.org/drawingml/2006/main">
              <a:ext uri="{FF2B5EF4-FFF2-40B4-BE49-F238E27FC236}">
                <a16:creationId xmlns:a16="http://schemas.microsoft.com/office/drawing/2014/main" id="{C3BB6B97-FC98-4191-881B-42A68A40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Grant-Warten und Spills</a:t>
            </a:r>
          </a:p>
        </p:txBody>
      </p:sp>
      <p:sp>
        <p:nvSpPr>
          <p:cNvPr id="10" name="prompt-num-3">
            <a:extLst xmlns:a="http://schemas.openxmlformats.org/drawingml/2006/main">
              <a:ext uri="{FF2B5EF4-FFF2-40B4-BE49-F238E27FC236}">
                <a16:creationId xmlns:a16="http://schemas.microsoft.com/office/drawing/2014/main" id="{9A068093-9544-44CF-8AD3-3E60CC77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prompt-3">
            <a:extLst xmlns:a="http://schemas.openxmlformats.org/drawingml/2006/main">
              <a:ext uri="{FF2B5EF4-FFF2-40B4-BE49-F238E27FC236}">
                <a16:creationId xmlns:a16="http://schemas.microsoft.com/office/drawing/2014/main" id="{0DC6C869-08E7-4BCB-8D90-7021B073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Clientkonsum und Netzwerk</a:t>
            </a:r>
          </a:p>
        </p:txBody>
      </p:sp>
      <p:sp>
        <p:nvSpPr>
          <p:cNvPr id="12" name="question-footer">
            <a:extLst xmlns:a="http://schemas.openxmlformats.org/drawingml/2006/main">
              <a:ext uri="{FF2B5EF4-FFF2-40B4-BE49-F238E27FC236}">
                <a16:creationId xmlns:a16="http://schemas.microsoft.com/office/drawing/2014/main" id="{9630E0FA-4EE7-43BB-B00D-B8BDABBB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80 / 84</a:t>
            </a:r>
          </a:p>
        </p:txBody>
      </p:sp>
    </p:spTree>
    <p:extLst>
      <p:ext uri="{BB962C8B-B14F-4D97-AF65-F5344CB8AC3E}">
        <p14:creationId xmlns:p14="http://schemas.microsoft.com/office/powerpoint/2010/main" val="993403754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B95CA54-8CE3-4DF0-AACA-0BE4E4CB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ABSCHLUSS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487623-B2CB-402E-8504-708D7D55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Zehn Prinzipien für belastbare SQL-Server-Performancearbeit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EEFC8CE-4D78-4895-A675-10EC7EE2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B902EAF-B555-47E1-B43F-C238BCF8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5438DD8-9E15-403B-956B-DF550FD2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81 / 84</a:t>
            </a:r>
          </a:p>
        </p:txBody>
      </p:sp>
      <p:sp>
        <p:nvSpPr>
          <p:cNvPr id="6" name="principle-num-0">
            <a:extLst xmlns:a="http://schemas.openxmlformats.org/drawingml/2006/main">
              <a:ext uri="{FF2B5EF4-FFF2-40B4-BE49-F238E27FC236}">
                <a16:creationId xmlns:a16="http://schemas.microsoft.com/office/drawing/2014/main" id="{A4148194-A14E-4D1A-9664-39407672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principle-0">
            <a:extLst xmlns:a="http://schemas.openxmlformats.org/drawingml/2006/main">
              <a:ext uri="{FF2B5EF4-FFF2-40B4-BE49-F238E27FC236}">
                <a16:creationId xmlns:a16="http://schemas.microsoft.com/office/drawing/2014/main" id="{B38A62BD-E0A0-491C-BBA2-C0734EC1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Messfenster definieren</a:t>
            </a:r>
          </a:p>
        </p:txBody>
      </p:sp>
      <p:sp>
        <p:nvSpPr>
          <p:cNvPr id="8" name="principle-rule-0">
            <a:extLst xmlns:a="http://schemas.openxmlformats.org/drawingml/2006/main">
              <a:ext uri="{FF2B5EF4-FFF2-40B4-BE49-F238E27FC236}">
                <a16:creationId xmlns:a16="http://schemas.microsoft.com/office/drawing/2014/main" id="{3B72AB7E-4397-4555-9D8B-6773B0F5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5747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inciple-num-1">
            <a:extLst xmlns:a="http://schemas.openxmlformats.org/drawingml/2006/main">
              <a:ext uri="{FF2B5EF4-FFF2-40B4-BE49-F238E27FC236}">
                <a16:creationId xmlns:a16="http://schemas.microsoft.com/office/drawing/2014/main" id="{8873D973-7DA4-4D60-B48A-9C163321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336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principle-1">
            <a:extLst xmlns:a="http://schemas.openxmlformats.org/drawingml/2006/main">
              <a:ext uri="{FF2B5EF4-FFF2-40B4-BE49-F238E27FC236}">
                <a16:creationId xmlns:a16="http://schemas.microsoft.com/office/drawing/2014/main" id="{08027BF6-04DC-44D0-BDEF-995BE677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336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Scope jeder Metrik kennen</a:t>
            </a:r>
          </a:p>
        </p:txBody>
      </p:sp>
      <p:sp>
        <p:nvSpPr>
          <p:cNvPr id="11" name="principle-rule-1">
            <a:extLst xmlns:a="http://schemas.openxmlformats.org/drawingml/2006/main">
              <a:ext uri="{FF2B5EF4-FFF2-40B4-BE49-F238E27FC236}">
                <a16:creationId xmlns:a16="http://schemas.microsoft.com/office/drawing/2014/main" id="{FF4CBD05-E2DB-4D5D-B5E2-FBCEED43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5747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rinciple-num-2">
            <a:extLst xmlns:a="http://schemas.openxmlformats.org/drawingml/2006/main">
              <a:ext uri="{FF2B5EF4-FFF2-40B4-BE49-F238E27FC236}">
                <a16:creationId xmlns:a16="http://schemas.microsoft.com/office/drawing/2014/main" id="{4164D3EE-6519-4AED-920B-9F45F272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3" name="principle-2">
            <a:extLst xmlns:a="http://schemas.openxmlformats.org/drawingml/2006/main">
              <a:ext uri="{FF2B5EF4-FFF2-40B4-BE49-F238E27FC236}">
                <a16:creationId xmlns:a16="http://schemas.microsoft.com/office/drawing/2014/main" id="{2DE57339-2292-4E30-95B9-86630A22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146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Plan und Runtime verbinden</a:t>
            </a:r>
          </a:p>
        </p:txBody>
      </p:sp>
      <p:sp>
        <p:nvSpPr>
          <p:cNvPr id="14" name="principle-rule-2">
            <a:extLst xmlns:a="http://schemas.openxmlformats.org/drawingml/2006/main">
              <a:ext uri="{FF2B5EF4-FFF2-40B4-BE49-F238E27FC236}">
                <a16:creationId xmlns:a16="http://schemas.microsoft.com/office/drawing/2014/main" id="{87817522-76F5-4FF8-99A0-9E408BB6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3852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inciple-num-3">
            <a:extLst xmlns:a="http://schemas.openxmlformats.org/drawingml/2006/main">
              <a:ext uri="{FF2B5EF4-FFF2-40B4-BE49-F238E27FC236}">
                <a16:creationId xmlns:a16="http://schemas.microsoft.com/office/drawing/2014/main" id="{91FE41EE-6882-444F-A0D0-8A811BEC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146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6" name="principle-3">
            <a:extLst xmlns:a="http://schemas.openxmlformats.org/drawingml/2006/main">
              <a:ext uri="{FF2B5EF4-FFF2-40B4-BE49-F238E27FC236}">
                <a16:creationId xmlns:a16="http://schemas.microsoft.com/office/drawing/2014/main" id="{CF9EEE9E-03CB-4FBE-B513-69483586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146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Kardinalität vor Kosten lesen</a:t>
            </a:r>
          </a:p>
        </p:txBody>
      </p:sp>
      <p:sp>
        <p:nvSpPr>
          <p:cNvPr id="17" name="principle-rule-3">
            <a:extLst xmlns:a="http://schemas.openxmlformats.org/drawingml/2006/main">
              <a:ext uri="{FF2B5EF4-FFF2-40B4-BE49-F238E27FC236}">
                <a16:creationId xmlns:a16="http://schemas.microsoft.com/office/drawing/2014/main" id="{2AFFA1D2-3759-43EB-98F3-FC37E6DB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3852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rinciple-num-4">
            <a:extLst xmlns:a="http://schemas.openxmlformats.org/drawingml/2006/main">
              <a:ext uri="{FF2B5EF4-FFF2-40B4-BE49-F238E27FC236}">
                <a16:creationId xmlns:a16="http://schemas.microsoft.com/office/drawing/2014/main" id="{BF412182-7B73-4526-957E-0763C6AB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9" name="principle-4">
            <a:extLst xmlns:a="http://schemas.openxmlformats.org/drawingml/2006/main">
              <a:ext uri="{FF2B5EF4-FFF2-40B4-BE49-F238E27FC236}">
                <a16:creationId xmlns:a16="http://schemas.microsoft.com/office/drawing/2014/main" id="{EBEC4CCA-F47E-44F9-A67B-57F42F4F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957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Logical Reads ernst nehmen</a:t>
            </a:r>
          </a:p>
        </p:txBody>
      </p:sp>
      <p:sp>
        <p:nvSpPr>
          <p:cNvPr id="20" name="principle-rule-4">
            <a:extLst xmlns:a="http://schemas.openxmlformats.org/drawingml/2006/main">
              <a:ext uri="{FF2B5EF4-FFF2-40B4-BE49-F238E27FC236}">
                <a16:creationId xmlns:a16="http://schemas.microsoft.com/office/drawing/2014/main" id="{16C6BC7B-460F-4E50-B723-5A44F44B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957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rinciple-num-5">
            <a:extLst xmlns:a="http://schemas.openxmlformats.org/drawingml/2006/main">
              <a:ext uri="{FF2B5EF4-FFF2-40B4-BE49-F238E27FC236}">
                <a16:creationId xmlns:a16="http://schemas.microsoft.com/office/drawing/2014/main" id="{B342CCF9-FB6F-468C-BCF5-C7719A4A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957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2" name="principle-5">
            <a:extLst xmlns:a="http://schemas.openxmlformats.org/drawingml/2006/main">
              <a:ext uri="{FF2B5EF4-FFF2-40B4-BE49-F238E27FC236}">
                <a16:creationId xmlns:a16="http://schemas.microsoft.com/office/drawing/2014/main" id="{D85506A9-B797-4E88-8B2F-B73EEC04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957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Concurrency mitbewerten</a:t>
            </a:r>
          </a:p>
        </p:txBody>
      </p:sp>
      <p:sp>
        <p:nvSpPr>
          <p:cNvPr id="23" name="principle-rule-5">
            <a:extLst xmlns:a="http://schemas.openxmlformats.org/drawingml/2006/main">
              <a:ext uri="{FF2B5EF4-FFF2-40B4-BE49-F238E27FC236}">
                <a16:creationId xmlns:a16="http://schemas.microsoft.com/office/drawing/2014/main" id="{4F6027E2-3BAE-4B41-A680-74BD6CA6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1957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inciple-num-6">
            <a:extLst xmlns:a="http://schemas.openxmlformats.org/drawingml/2006/main">
              <a:ext uri="{FF2B5EF4-FFF2-40B4-BE49-F238E27FC236}">
                <a16:creationId xmlns:a16="http://schemas.microsoft.com/office/drawing/2014/main" id="{C32AD52A-C49C-493D-89B4-031278AD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25" name="principle-6">
            <a:extLst xmlns:a="http://schemas.openxmlformats.org/drawingml/2006/main">
              <a:ext uri="{FF2B5EF4-FFF2-40B4-BE49-F238E27FC236}">
                <a16:creationId xmlns:a16="http://schemas.microsoft.com/office/drawing/2014/main" id="{4C38D64F-4BA7-401C-A3B9-829460C9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767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Version und CL trennen</a:t>
            </a:r>
          </a:p>
        </p:txBody>
      </p:sp>
      <p:sp>
        <p:nvSpPr>
          <p:cNvPr id="26" name="principle-rule-6">
            <a:extLst xmlns:a="http://schemas.openxmlformats.org/drawingml/2006/main">
              <a:ext uri="{FF2B5EF4-FFF2-40B4-BE49-F238E27FC236}">
                <a16:creationId xmlns:a16="http://schemas.microsoft.com/office/drawing/2014/main" id="{C183FB05-D1BB-460C-9B61-DAA3EF76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0062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rinciple-num-7">
            <a:extLst xmlns:a="http://schemas.openxmlformats.org/drawingml/2006/main">
              <a:ext uri="{FF2B5EF4-FFF2-40B4-BE49-F238E27FC236}">
                <a16:creationId xmlns:a16="http://schemas.microsoft.com/office/drawing/2014/main" id="{9A97F8AA-2715-45F5-89B7-C9A158C3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4767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28" name="principle-7">
            <a:extLst xmlns:a="http://schemas.openxmlformats.org/drawingml/2006/main">
              <a:ext uri="{FF2B5EF4-FFF2-40B4-BE49-F238E27FC236}">
                <a16:creationId xmlns:a16="http://schemas.microsoft.com/office/drawing/2014/main" id="{6B46BA55-2F30-424D-932F-E740F366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767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Eine Änderung je Hypothese</a:t>
            </a:r>
          </a:p>
        </p:txBody>
      </p:sp>
      <p:sp>
        <p:nvSpPr>
          <p:cNvPr id="29" name="principle-rule-7">
            <a:extLst xmlns:a="http://schemas.openxmlformats.org/drawingml/2006/main">
              <a:ext uri="{FF2B5EF4-FFF2-40B4-BE49-F238E27FC236}">
                <a16:creationId xmlns:a16="http://schemas.microsoft.com/office/drawing/2014/main" id="{3FC53224-10E7-4CE9-8413-C7DA85D2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0062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rinciple-num-8">
            <a:extLst xmlns:a="http://schemas.openxmlformats.org/drawingml/2006/main">
              <a:ext uri="{FF2B5EF4-FFF2-40B4-BE49-F238E27FC236}">
                <a16:creationId xmlns:a16="http://schemas.microsoft.com/office/drawing/2014/main" id="{3B1168C1-C41C-46E9-A3B8-A97DD688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1" name="principle-8">
            <a:extLst xmlns:a="http://schemas.openxmlformats.org/drawingml/2006/main">
              <a:ext uri="{FF2B5EF4-FFF2-40B4-BE49-F238E27FC236}">
                <a16:creationId xmlns:a16="http://schemas.microsoft.com/office/drawing/2014/main" id="{778AAC59-880F-44A4-B13A-0227B2B6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578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Trade-offs dokumentieren</a:t>
            </a:r>
          </a:p>
        </p:txBody>
      </p:sp>
      <p:sp>
        <p:nvSpPr>
          <p:cNvPr id="32" name="principle-rule-8">
            <a:extLst xmlns:a="http://schemas.openxmlformats.org/drawingml/2006/main">
              <a:ext uri="{FF2B5EF4-FFF2-40B4-BE49-F238E27FC236}">
                <a16:creationId xmlns:a16="http://schemas.microsoft.com/office/drawing/2014/main" id="{36659D20-7FE8-421C-B0D5-EF87B787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8167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rinciple-num-9">
            <a:extLst xmlns:a="http://schemas.openxmlformats.org/drawingml/2006/main">
              <a:ext uri="{FF2B5EF4-FFF2-40B4-BE49-F238E27FC236}">
                <a16:creationId xmlns:a16="http://schemas.microsoft.com/office/drawing/2014/main" id="{F4A799F9-236C-413D-8187-FB259EEE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2578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4" name="principle-9">
            <a:extLst xmlns:a="http://schemas.openxmlformats.org/drawingml/2006/main">
              <a:ext uri="{FF2B5EF4-FFF2-40B4-BE49-F238E27FC236}">
                <a16:creationId xmlns:a16="http://schemas.microsoft.com/office/drawing/2014/main" id="{730096E9-5A03-47F6-8E2E-F7F43EE9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578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Vorher/Nachher reproduzieren</a:t>
            </a:r>
          </a:p>
        </p:txBody>
      </p:sp>
      <p:sp>
        <p:nvSpPr>
          <p:cNvPr id="35" name="principle-rule-9">
            <a:extLst xmlns:a="http://schemas.openxmlformats.org/drawingml/2006/main">
              <a:ext uri="{FF2B5EF4-FFF2-40B4-BE49-F238E27FC236}">
                <a16:creationId xmlns:a16="http://schemas.microsoft.com/office/drawing/2014/main" id="{5ACE3A88-F12E-4639-BF1D-C603AD36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781675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81525440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">
            <a:extLst xmlns:a="http://schemas.openxmlformats.org/drawingml/2006/main">
              <a:ext uri="{FF2B5EF4-FFF2-40B4-BE49-F238E27FC236}">
                <a16:creationId xmlns:a16="http://schemas.microsoft.com/office/drawing/2014/main" id="{C9AA9DC1-2368-4611-9EE6-F14E9F40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TRANSFER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8212FB64-FBFB-413B-8021-E9EFFA2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Transferaufgabe: Von einem Symptom zu einer überprüfbaren Hypothese</a:t>
            </a:r>
          </a:p>
        </p:txBody>
      </p:sp>
      <p:sp>
        <p:nvSpPr>
          <p:cNvPr id="3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03E6705C-8E90-4783-8DAC-94CBB958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mpt-num-0">
            <a:extLst xmlns:a="http://schemas.openxmlformats.org/drawingml/2006/main">
              <a:ext uri="{FF2B5EF4-FFF2-40B4-BE49-F238E27FC236}">
                <a16:creationId xmlns:a16="http://schemas.microsoft.com/office/drawing/2014/main" id="{12D0C4E4-BF92-4888-80EC-4C794D28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prompt-0">
            <a:extLst xmlns:a="http://schemas.openxmlformats.org/drawingml/2006/main">
              <a:ext uri="{FF2B5EF4-FFF2-40B4-BE49-F238E27FC236}">
                <a16:creationId xmlns:a16="http://schemas.microsoft.com/office/drawing/2014/main" id="{6C7159F0-49A5-4C06-9C2C-857E9DCC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Symptom und Zeitraum präzisieren</a:t>
            </a:r>
          </a:p>
        </p:txBody>
      </p:sp>
      <p:sp>
        <p:nvSpPr>
          <p:cNvPr id="6" name="prompt-num-1">
            <a:extLst xmlns:a="http://schemas.openxmlformats.org/drawingml/2006/main">
              <a:ext uri="{FF2B5EF4-FFF2-40B4-BE49-F238E27FC236}">
                <a16:creationId xmlns:a16="http://schemas.microsoft.com/office/drawing/2014/main" id="{0AD74B8F-E4BF-4E45-9ACC-07DAC369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mpt-1">
            <a:extLst xmlns:a="http://schemas.openxmlformats.org/drawingml/2006/main">
              <a:ext uri="{FF2B5EF4-FFF2-40B4-BE49-F238E27FC236}">
                <a16:creationId xmlns:a16="http://schemas.microsoft.com/office/drawing/2014/main" id="{FB6DC6E1-38DC-4DA7-830C-6AAAA861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fünf passende Messwerte auswählen</a:t>
            </a:r>
          </a:p>
        </p:txBody>
      </p:sp>
      <p:sp>
        <p:nvSpPr>
          <p:cNvPr id="8" name="prompt-num-2">
            <a:extLst xmlns:a="http://schemas.openxmlformats.org/drawingml/2006/main">
              <a:ext uri="{FF2B5EF4-FFF2-40B4-BE49-F238E27FC236}">
                <a16:creationId xmlns:a16="http://schemas.microsoft.com/office/drawing/2014/main" id="{7227A5ED-4B30-47AE-9A8E-2155CD79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prompt-2">
            <a:extLst xmlns:a="http://schemas.openxmlformats.org/drawingml/2006/main">
              <a:ext uri="{FF2B5EF4-FFF2-40B4-BE49-F238E27FC236}">
                <a16:creationId xmlns:a16="http://schemas.microsoft.com/office/drawing/2014/main" id="{1137FCAD-ED9E-4C52-B076-54C180CC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wahrscheinlichste technische Ursache formulieren</a:t>
            </a:r>
          </a:p>
        </p:txBody>
      </p:sp>
      <p:sp>
        <p:nvSpPr>
          <p:cNvPr id="10" name="prompt-num-3">
            <a:extLst xmlns:a="http://schemas.openxmlformats.org/drawingml/2006/main">
              <a:ext uri="{FF2B5EF4-FFF2-40B4-BE49-F238E27FC236}">
                <a16:creationId xmlns:a16="http://schemas.microsoft.com/office/drawing/2014/main" id="{7864C615-93AA-443C-AE9F-861D31B0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4A26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4A2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prompt-3">
            <a:extLst xmlns:a="http://schemas.openxmlformats.org/drawingml/2006/main">
              <a:ext uri="{FF2B5EF4-FFF2-40B4-BE49-F238E27FC236}">
                <a16:creationId xmlns:a16="http://schemas.microsoft.com/office/drawing/2014/main" id="{D1004015-1E26-4A8E-970A-DFC17573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E2EC"/>
                </a:solidFill>
                <a:latin typeface="Aptos"/>
                <a:ea typeface="Aptos"/>
                <a:cs typeface="Aptos"/>
              </a:rPr>
              <a:t>eine Änderung und Vergleichsmessung definieren</a:t>
            </a:r>
          </a:p>
        </p:txBody>
      </p:sp>
      <p:sp>
        <p:nvSpPr>
          <p:cNvPr id="12" name="question-footer">
            <a:extLst xmlns:a="http://schemas.openxmlformats.org/drawingml/2006/main">
              <a:ext uri="{FF2B5EF4-FFF2-40B4-BE49-F238E27FC236}">
                <a16:creationId xmlns:a16="http://schemas.microsoft.com/office/drawing/2014/main" id="{82799B77-A314-43BB-91E7-A42D348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8BA4B7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BA4B7"/>
                </a:solidFill>
                <a:latin typeface="Aptos"/>
                <a:ea typeface="Aptos"/>
                <a:cs typeface="Aptos"/>
              </a:rPr>
              <a:t>82 / 84</a:t>
            </a:r>
          </a:p>
        </p:txBody>
      </p:sp>
    </p:spTree>
    <p:extLst>
      <p:ext uri="{BB962C8B-B14F-4D97-AF65-F5344CB8AC3E}">
        <p14:creationId xmlns:p14="http://schemas.microsoft.com/office/powerpoint/2010/main" val="129892526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2D69A86E-EF08-48A1-A292-5BCDB90B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07C8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07C83"/>
                </a:solidFill>
                <a:latin typeface="Aptos"/>
                <a:ea typeface="Aptos"/>
                <a:cs typeface="Aptos"/>
              </a:rPr>
              <a:t>QUELLEN UND METHODE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646A5D-A0C8-470C-95A1-A31F35F9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Technische Aussagen sind versionsbezogen und auf Primärdokumentation gestützt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087D526-B569-451B-AB8A-D0E74B3A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07B0388-0A3C-4533-8528-533996FC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SQL Server Performance Grundlagen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3DE0DF4-BFDD-476A-8B81-10A09352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341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83 / 84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C4D9CB9D-AAF7-4FE4-A81F-8880D1C4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Der Foliensatz verwendet Microsoft Learn als primäre Dokumentationsbasis; empirische Demoergebnisse werden separat gekennzeichnet.</a:t>
            </a:r>
          </a:p>
        </p:txBody>
      </p:sp>
      <p:sp>
        <p:nvSpPr>
          <p:cNvPr id="7" name="lead-accent">
            <a:extLst xmlns:a="http://schemas.openxmlformats.org/drawingml/2006/main">
              <a:ext uri="{FF2B5EF4-FFF2-40B4-BE49-F238E27FC236}">
                <a16:creationId xmlns:a16="http://schemas.microsoft.com/office/drawing/2014/main" id="{2ABF2E50-44C0-44F8-9719-E8B71F18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oints">
            <a:extLst xmlns:a="http://schemas.openxmlformats.org/drawingml/2006/main">
              <a:ext uri="{FF2B5EF4-FFF2-40B4-BE49-F238E27FC236}">
                <a16:creationId xmlns:a16="http://schemas.microsoft.com/office/drawing/2014/main" id="{0037AE56-E236-47F7-8F5E-EDAD6EB2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52650"/>
            <a:ext cx="529590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Page and Extent Architecture Guide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Query Processing, Statistics und Cardinality Estimation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Intelligent Query Processing für SQL Server 2019/2022/2025</a:t>
            </a:r>
          </a:p>
          <a:p xmlns:a="http://schemas.openxmlformats.org/drawingml/2006/main">
            <a:pPr marL="24" indent="-14">
              <a:lnSpc>
                <a:spcPct val="112000"/>
              </a:lnSpc>
              <a:spcAft>
                <a:spcPts val="18"/>
              </a:spcAft>
              <a:buNone/>
              <a:defRPr sz="1800">
                <a:solidFill>
                  <a:srgbClr val="243B53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43B53"/>
                </a:solidFill>
                <a:latin typeface="Aptos"/>
                <a:ea typeface="Aptos"/>
                <a:cs typeface="Aptos"/>
              </a:rPr>
              <a:t>Index, Columnstore, Locking, Query Store und Extended Events</a:t>
            </a:r>
          </a:p>
        </p:txBody>
      </p:sp>
    </p:spTree>
    <p:extLst>
      <p:ext uri="{BB962C8B-B14F-4D97-AF65-F5344CB8AC3E}">
        <p14:creationId xmlns:p14="http://schemas.microsoft.com/office/powerpoint/2010/main" val="1449575950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nd-accent">
            <a:extLst xmlns:a="http://schemas.openxmlformats.org/drawingml/2006/main">
              <a:ext uri="{FF2B5EF4-FFF2-40B4-BE49-F238E27FC236}">
                <a16:creationId xmlns:a16="http://schemas.microsoft.com/office/drawing/2014/main" id="{8B70C4F8-9A99-43EC-9799-39BBA69E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62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B5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nd-title">
            <a:extLst xmlns:a="http://schemas.openxmlformats.org/drawingml/2006/main">
              <a:ext uri="{FF2B5EF4-FFF2-40B4-BE49-F238E27FC236}">
                <a16:creationId xmlns:a16="http://schemas.microsoft.com/office/drawing/2014/main" id="{AC8D707B-5FF0-400E-A0DA-CD4FAB29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9525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Performance wird erklärbar,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wenn Evidenz die Reihenfolge bestimmt.</a:t>
            </a:r>
          </a:p>
        </p:txBody>
      </p:sp>
      <p:sp>
        <p:nvSpPr>
          <p:cNvPr id="3" name="end-subtitle">
            <a:extLst xmlns:a="http://schemas.openxmlformats.org/drawingml/2006/main">
              <a:ext uri="{FF2B5EF4-FFF2-40B4-BE49-F238E27FC236}">
                <a16:creationId xmlns:a16="http://schemas.microsoft.com/office/drawing/2014/main" id="{2A5398B4-9D21-4727-9583-433EAEA2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958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1B5C2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21B5C2"/>
                </a:solidFill>
                <a:latin typeface="Aptos"/>
                <a:ea typeface="Aptos"/>
                <a:cs typeface="Aptos"/>
              </a:rPr>
              <a:t>Gerhard Pisch · SQL Server Performance</a:t>
            </a:r>
          </a:p>
        </p:txBody>
      </p:sp>
      <p:sp>
        <p:nvSpPr>
          <p:cNvPr id="4" name="end-version">
            <a:extLst xmlns:a="http://schemas.openxmlformats.org/drawingml/2006/main">
              <a:ext uri="{FF2B5EF4-FFF2-40B4-BE49-F238E27FC236}">
                <a16:creationId xmlns:a16="http://schemas.microsoft.com/office/drawing/2014/main" id="{31EE691A-32E2-4E85-A170-9D540BB0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9055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9FB3C8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9FB3C8"/>
                </a:solidFill>
                <a:latin typeface="Aptos"/>
                <a:ea typeface="Aptos"/>
                <a:cs typeface="Aptos"/>
              </a:rPr>
              <a:t>Stand: 2026 · SQL Server 2019 / 2022 / 2025</a:t>
            </a:r>
          </a:p>
        </p:txBody>
      </p:sp>
    </p:spTree>
    <p:extLst>
      <p:ext uri="{BB962C8B-B14F-4D97-AF65-F5344CB8AC3E}">
        <p14:creationId xmlns:p14="http://schemas.microsoft.com/office/powerpoint/2010/main" val="9947118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2026-07-23T22:15:27.7970000Z</dcterms:created>
  <dcterms:modified xsi:type="dcterms:W3CDTF">2026-07-23T22:15:27.7970000Z</dcterms:modified>
</coreProperties>
</file>