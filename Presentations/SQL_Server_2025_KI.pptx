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Types>
</file>

<file path=_rels/.rels><?xml version='1.0' encoding='utf-8'?>
<Relationships xmlns="http://schemas.openxmlformats.org/package/2006/relationships"><Relationship Type="http://schemas.openxmlformats.org/package/2006/relationships/metadata/core-properties" Target="/docProps/core.xml" Id="R126e2e14a8624ddd" /><Relationship Type="http://schemas.openxmlformats.org/officeDocument/2006/relationships/extended-properties" Target="/docProps/app.xml" Id="Rc5a539ef0a174675" /><Relationship Type="http://schemas.openxmlformats.org/officeDocument/2006/relationships/officeDocument" Target="/ppt/presentation.xml" Id="Rd19896559db34eaa" /></Relationships>
</file>

<file path=ppt/presentation.xml><?xml version="1.0" encoding="utf-8"?>
<p:presentation xmlns:p="http://schemas.openxmlformats.org/presentationml/2006/main">
  <p:sldMasterIdLst>
    <p:sldMasterId xmlns:r="http://schemas.openxmlformats.org/officeDocument/2006/relationships" id="2147483648" r:id="R6930a45a3f58487c"/>
  </p:sldMasterIdLst>
  <p:notesMasterIdLst>
    <p:notesMasterId xmlns:r="http://schemas.openxmlformats.org/officeDocument/2006/relationships" r:id="R03e7c7ec17b84070"/>
  </p:notesMasterIdLst>
  <p:sldIdLst>
    <p:sldId xmlns:r="http://schemas.openxmlformats.org/officeDocument/2006/relationships" id="256" r:id="R1a353918c13d4fd9"/>
    <p:sldId xmlns:r="http://schemas.openxmlformats.org/officeDocument/2006/relationships" id="257" r:id="R08fdb39300374aff"/>
    <p:sldId xmlns:r="http://schemas.openxmlformats.org/officeDocument/2006/relationships" id="258" r:id="R0e0d518f630240dc"/>
    <p:sldId xmlns:r="http://schemas.openxmlformats.org/officeDocument/2006/relationships" id="259" r:id="R5a25d7d9ab074e63"/>
    <p:sldId xmlns:r="http://schemas.openxmlformats.org/officeDocument/2006/relationships" id="260" r:id="Rd230a83ac5eb4512"/>
    <p:sldId xmlns:r="http://schemas.openxmlformats.org/officeDocument/2006/relationships" id="261" r:id="Rfae2c45ac78e473d"/>
    <p:sldId xmlns:r="http://schemas.openxmlformats.org/officeDocument/2006/relationships" id="262" r:id="R92203d24432849a9"/>
    <p:sldId xmlns:r="http://schemas.openxmlformats.org/officeDocument/2006/relationships" id="263" r:id="R1a687eeafa6a4b69"/>
    <p:sldId xmlns:r="http://schemas.openxmlformats.org/officeDocument/2006/relationships" id="264" r:id="Rc16a6f040ff549aa"/>
    <p:sldId xmlns:r="http://schemas.openxmlformats.org/officeDocument/2006/relationships" id="265" r:id="Rf4d680cf14dc45d5"/>
    <p:sldId xmlns:r="http://schemas.openxmlformats.org/officeDocument/2006/relationships" id="266" r:id="R739b6e4eca0d4a47"/>
    <p:sldId xmlns:r="http://schemas.openxmlformats.org/officeDocument/2006/relationships" id="267" r:id="Rc52294d65a0e491f"/>
    <p:sldId xmlns:r="http://schemas.openxmlformats.org/officeDocument/2006/relationships" id="268" r:id="Rf211d47b6d974f0a"/>
    <p:sldId xmlns:r="http://schemas.openxmlformats.org/officeDocument/2006/relationships" id="269" r:id="Reb45350cb25e4c69"/>
    <p:sldId xmlns:r="http://schemas.openxmlformats.org/officeDocument/2006/relationships" id="270" r:id="R2fd31f36881c4d00"/>
    <p:sldId xmlns:r="http://schemas.openxmlformats.org/officeDocument/2006/relationships" id="271" r:id="Rd255c7eed4fd4a0f"/>
    <p:sldId xmlns:r="http://schemas.openxmlformats.org/officeDocument/2006/relationships" id="272" r:id="R71ae0f62271a485e"/>
    <p:sldId xmlns:r="http://schemas.openxmlformats.org/officeDocument/2006/relationships" id="273" r:id="R6dffdea9ff8f40c3"/>
    <p:sldId xmlns:r="http://schemas.openxmlformats.org/officeDocument/2006/relationships" id="274" r:id="R7c48ad54445f4e82"/>
    <p:sldId xmlns:r="http://schemas.openxmlformats.org/officeDocument/2006/relationships" id="275" r:id="R4ddd5c9a393042e2"/>
    <p:sldId xmlns:r="http://schemas.openxmlformats.org/officeDocument/2006/relationships" id="276" r:id="R2545999a20b5483d"/>
    <p:sldId xmlns:r="http://schemas.openxmlformats.org/officeDocument/2006/relationships" id="277" r:id="R27ed0d66a12f47be"/>
    <p:sldId xmlns:r="http://schemas.openxmlformats.org/officeDocument/2006/relationships" id="278" r:id="R1b3154649fde43a3"/>
    <p:sldId xmlns:r="http://schemas.openxmlformats.org/officeDocument/2006/relationships" id="279" r:id="Rf96aba503bf84a56"/>
    <p:sldId xmlns:r="http://schemas.openxmlformats.org/officeDocument/2006/relationships" id="280" r:id="R4b826e930ca34243"/>
    <p:sldId xmlns:r="http://schemas.openxmlformats.org/officeDocument/2006/relationships" id="281" r:id="Re3091d9cef0f4911"/>
    <p:sldId xmlns:r="http://schemas.openxmlformats.org/officeDocument/2006/relationships" id="282" r:id="R348422c2cc4e468a"/>
    <p:sldId xmlns:r="http://schemas.openxmlformats.org/officeDocument/2006/relationships" id="283" r:id="R9f83843ef79e4529"/>
    <p:sldId xmlns:r="http://schemas.openxmlformats.org/officeDocument/2006/relationships" id="284" r:id="Raa9d17212301479a"/>
    <p:sldId xmlns:r="http://schemas.openxmlformats.org/officeDocument/2006/relationships" id="285" r:id="R7107df5187774263"/>
    <p:sldId xmlns:r="http://schemas.openxmlformats.org/officeDocument/2006/relationships" id="286" r:id="R001cf27054d5430e"/>
    <p:sldId xmlns:r="http://schemas.openxmlformats.org/officeDocument/2006/relationships" id="287" r:id="Rc4e12c72c06d405e"/>
    <p:sldId xmlns:r="http://schemas.openxmlformats.org/officeDocument/2006/relationships" id="288" r:id="R40b425180d7742e2"/>
    <p:sldId xmlns:r="http://schemas.openxmlformats.org/officeDocument/2006/relationships" id="289" r:id="R3833e5f2c4fb45fe"/>
    <p:sldId xmlns:r="http://schemas.openxmlformats.org/officeDocument/2006/relationships" id="290" r:id="R6c769d976fd04728"/>
    <p:sldId xmlns:r="http://schemas.openxmlformats.org/officeDocument/2006/relationships" id="291" r:id="Raa41cb13988d4d9c"/>
    <p:sldId xmlns:r="http://schemas.openxmlformats.org/officeDocument/2006/relationships" id="292" r:id="R0a9cb4ccfdb84967"/>
    <p:sldId xmlns:r="http://schemas.openxmlformats.org/officeDocument/2006/relationships" id="293" r:id="R6b5fe953dac141d3"/>
    <p:sldId xmlns:r="http://schemas.openxmlformats.org/officeDocument/2006/relationships" id="294" r:id="Rc870b807a19948ac"/>
    <p:sldId xmlns:r="http://schemas.openxmlformats.org/officeDocument/2006/relationships" id="295" r:id="R2a1c945ff9fc4fe7"/>
    <p:sldId xmlns:r="http://schemas.openxmlformats.org/officeDocument/2006/relationships" id="296" r:id="Rb2238d8808884547"/>
    <p:sldId xmlns:r="http://schemas.openxmlformats.org/officeDocument/2006/relationships" id="297" r:id="Rbee27aed2af74b32"/>
    <p:sldId xmlns:r="http://schemas.openxmlformats.org/officeDocument/2006/relationships" id="298" r:id="Rb21ed428ebaa4375"/>
    <p:sldId xmlns:r="http://schemas.openxmlformats.org/officeDocument/2006/relationships" id="299" r:id="R693e68d7384847d9"/>
    <p:sldId xmlns:r="http://schemas.openxmlformats.org/officeDocument/2006/relationships" id="300" r:id="R9ffae444ed74483b"/>
    <p:sldId xmlns:r="http://schemas.openxmlformats.org/officeDocument/2006/relationships" id="301" r:id="R94b8d53cda7c4e3c"/>
    <p:sldId xmlns:r="http://schemas.openxmlformats.org/officeDocument/2006/relationships" id="302" r:id="R21a5d590e7cc4298"/>
    <p:sldId xmlns:r="http://schemas.openxmlformats.org/officeDocument/2006/relationships" id="303" r:id="R9c198a374fe5486a"/>
    <p:sldId xmlns:r="http://schemas.openxmlformats.org/officeDocument/2006/relationships" id="304" r:id="R198fe345c3d247e4"/>
    <p:sldId xmlns:r="http://schemas.openxmlformats.org/officeDocument/2006/relationships" id="305" r:id="R8dbb20b93bd44e4e"/>
    <p:sldId xmlns:r="http://schemas.openxmlformats.org/officeDocument/2006/relationships" id="306" r:id="Rfd00b893bd1746cb"/>
    <p:sldId xmlns:r="http://schemas.openxmlformats.org/officeDocument/2006/relationships" id="307" r:id="Rdf6d30cac3934bcd"/>
    <p:sldId xmlns:r="http://schemas.openxmlformats.org/officeDocument/2006/relationships" id="308" r:id="Rb9531085213d4bda"/>
    <p:sldId xmlns:r="http://schemas.openxmlformats.org/officeDocument/2006/relationships" id="309" r:id="R13a284e5466f41b1"/>
    <p:sldId xmlns:r="http://schemas.openxmlformats.org/officeDocument/2006/relationships" id="310" r:id="R71a6e62c86a54721"/>
    <p:sldId xmlns:r="http://schemas.openxmlformats.org/officeDocument/2006/relationships" id="311" r:id="R19c4d15236d646b6"/>
    <p:sldId xmlns:r="http://schemas.openxmlformats.org/officeDocument/2006/relationships" id="312" r:id="R67db9d2dc8f04881"/>
    <p:sldId xmlns:r="http://schemas.openxmlformats.org/officeDocument/2006/relationships" id="313" r:id="Rb0ba840edb10434b"/>
    <p:sldId xmlns:r="http://schemas.openxmlformats.org/officeDocument/2006/relationships" id="314" r:id="R9fa1eef4a82a4b0f"/>
    <p:sldId xmlns:r="http://schemas.openxmlformats.org/officeDocument/2006/relationships" id="315" r:id="R5520c732a13141a6"/>
    <p:sldId xmlns:r="http://schemas.openxmlformats.org/officeDocument/2006/relationships" id="316" r:id="Re71a34f7c2264800"/>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d1ba5e50e6004243" /><Relationship Type="http://schemas.openxmlformats.org/officeDocument/2006/relationships/slideMaster" Target="/ppt/slideMasters/slideMaster1.xml" Id="R6930a45a3f58487c" /><Relationship Type="http://schemas.openxmlformats.org/officeDocument/2006/relationships/notesMaster" Target="/ppt/notesMasters/notesMaster1.xml" Id="R03e7c7ec17b84070" /><Relationship Type="http://schemas.openxmlformats.org/officeDocument/2006/relationships/presProps" Target="/ppt/presProps.xml" Id="R9d6ca326b305495d" /><Relationship Type="http://schemas.openxmlformats.org/officeDocument/2006/relationships/tableStyles" Target="/ppt/tableStyles.xml" Id="R5f0cd456b1e546a9" /><Relationship Type="http://schemas.openxmlformats.org/officeDocument/2006/relationships/slide" Target="/ppt/slides/slide1.xml" Id="R1a353918c13d4fd9" /><Relationship Type="http://schemas.openxmlformats.org/officeDocument/2006/relationships/slide" Target="/ppt/slides/slide2.xml" Id="R08fdb39300374aff" /><Relationship Type="http://schemas.openxmlformats.org/officeDocument/2006/relationships/slide" Target="/ppt/slides/slide3.xml" Id="R0e0d518f630240dc" /><Relationship Type="http://schemas.openxmlformats.org/officeDocument/2006/relationships/slide" Target="/ppt/slides/slide4.xml" Id="R5a25d7d9ab074e63" /><Relationship Type="http://schemas.openxmlformats.org/officeDocument/2006/relationships/slide" Target="/ppt/slides/slide5.xml" Id="Rd230a83ac5eb4512" /><Relationship Type="http://schemas.openxmlformats.org/officeDocument/2006/relationships/slide" Target="/ppt/slides/slide6.xml" Id="Rfae2c45ac78e473d" /><Relationship Type="http://schemas.openxmlformats.org/officeDocument/2006/relationships/slide" Target="/ppt/slides/slide7.xml" Id="R92203d24432849a9" /><Relationship Type="http://schemas.openxmlformats.org/officeDocument/2006/relationships/slide" Target="/ppt/slides/slide8.xml" Id="R1a687eeafa6a4b69" /><Relationship Type="http://schemas.openxmlformats.org/officeDocument/2006/relationships/slide" Target="/ppt/slides/slide9.xml" Id="Rc16a6f040ff549aa" /><Relationship Type="http://schemas.openxmlformats.org/officeDocument/2006/relationships/slide" Target="/ppt/slides/slide10.xml" Id="Rf4d680cf14dc45d5" /><Relationship Type="http://schemas.openxmlformats.org/officeDocument/2006/relationships/slide" Target="/ppt/slides/slide11.xml" Id="R739b6e4eca0d4a47" /><Relationship Type="http://schemas.openxmlformats.org/officeDocument/2006/relationships/slide" Target="/ppt/slides/slide12.xml" Id="Rc52294d65a0e491f" /><Relationship Type="http://schemas.openxmlformats.org/officeDocument/2006/relationships/slide" Target="/ppt/slides/slide13.xml" Id="Rf211d47b6d974f0a" /><Relationship Type="http://schemas.openxmlformats.org/officeDocument/2006/relationships/slide" Target="/ppt/slides/slide14.xml" Id="Reb45350cb25e4c69" /><Relationship Type="http://schemas.openxmlformats.org/officeDocument/2006/relationships/slide" Target="/ppt/slides/slide15.xml" Id="R2fd31f36881c4d00" /><Relationship Type="http://schemas.openxmlformats.org/officeDocument/2006/relationships/slide" Target="/ppt/slides/slide16.xml" Id="Rd255c7eed4fd4a0f" /><Relationship Type="http://schemas.openxmlformats.org/officeDocument/2006/relationships/slide" Target="/ppt/slides/slide17.xml" Id="R71ae0f62271a485e" /><Relationship Type="http://schemas.openxmlformats.org/officeDocument/2006/relationships/slide" Target="/ppt/slides/slide18.xml" Id="R6dffdea9ff8f40c3" /><Relationship Type="http://schemas.openxmlformats.org/officeDocument/2006/relationships/slide" Target="/ppt/slides/slide19.xml" Id="R7c48ad54445f4e82" /><Relationship Type="http://schemas.openxmlformats.org/officeDocument/2006/relationships/slide" Target="/ppt/slides/slide20.xml" Id="R4ddd5c9a393042e2" /><Relationship Type="http://schemas.openxmlformats.org/officeDocument/2006/relationships/slide" Target="/ppt/slides/slide21.xml" Id="R2545999a20b5483d" /><Relationship Type="http://schemas.openxmlformats.org/officeDocument/2006/relationships/slide" Target="/ppt/slides/slide22.xml" Id="R27ed0d66a12f47be" /><Relationship Type="http://schemas.openxmlformats.org/officeDocument/2006/relationships/slide" Target="/ppt/slides/slide23.xml" Id="R1b3154649fde43a3" /><Relationship Type="http://schemas.openxmlformats.org/officeDocument/2006/relationships/slide" Target="/ppt/slides/slide24.xml" Id="Rf96aba503bf84a56" /><Relationship Type="http://schemas.openxmlformats.org/officeDocument/2006/relationships/slide" Target="/ppt/slides/slide25.xml" Id="R4b826e930ca34243" /><Relationship Type="http://schemas.openxmlformats.org/officeDocument/2006/relationships/slide" Target="/ppt/slides/slide26.xml" Id="Re3091d9cef0f4911" /><Relationship Type="http://schemas.openxmlformats.org/officeDocument/2006/relationships/slide" Target="/ppt/slides/slide27.xml" Id="R348422c2cc4e468a" /><Relationship Type="http://schemas.openxmlformats.org/officeDocument/2006/relationships/slide" Target="/ppt/slides/slide28.xml" Id="R9f83843ef79e4529" /><Relationship Type="http://schemas.openxmlformats.org/officeDocument/2006/relationships/slide" Target="/ppt/slides/slide29.xml" Id="Raa9d17212301479a" /><Relationship Type="http://schemas.openxmlformats.org/officeDocument/2006/relationships/slide" Target="/ppt/slides/slide30.xml" Id="R7107df5187774263" /><Relationship Type="http://schemas.openxmlformats.org/officeDocument/2006/relationships/slide" Target="/ppt/slides/slide31.xml" Id="R001cf27054d5430e" /><Relationship Type="http://schemas.openxmlformats.org/officeDocument/2006/relationships/slide" Target="/ppt/slides/slide32.xml" Id="Rc4e12c72c06d405e" /><Relationship Type="http://schemas.openxmlformats.org/officeDocument/2006/relationships/slide" Target="/ppt/slides/slide33.xml" Id="R40b425180d7742e2" /><Relationship Type="http://schemas.openxmlformats.org/officeDocument/2006/relationships/slide" Target="/ppt/slides/slide34.xml" Id="R3833e5f2c4fb45fe" /><Relationship Type="http://schemas.openxmlformats.org/officeDocument/2006/relationships/slide" Target="/ppt/slides/slide35.xml" Id="R6c769d976fd04728" /><Relationship Type="http://schemas.openxmlformats.org/officeDocument/2006/relationships/slide" Target="/ppt/slides/slide36.xml" Id="Raa41cb13988d4d9c" /><Relationship Type="http://schemas.openxmlformats.org/officeDocument/2006/relationships/slide" Target="/ppt/slides/slide37.xml" Id="R0a9cb4ccfdb84967" /><Relationship Type="http://schemas.openxmlformats.org/officeDocument/2006/relationships/slide" Target="/ppt/slides/slide38.xml" Id="R6b5fe953dac141d3" /><Relationship Type="http://schemas.openxmlformats.org/officeDocument/2006/relationships/slide" Target="/ppt/slides/slide39.xml" Id="Rc870b807a19948ac" /><Relationship Type="http://schemas.openxmlformats.org/officeDocument/2006/relationships/slide" Target="/ppt/slides/slide40.xml" Id="R2a1c945ff9fc4fe7" /><Relationship Type="http://schemas.openxmlformats.org/officeDocument/2006/relationships/slide" Target="/ppt/slides/slide41.xml" Id="Rb2238d8808884547" /><Relationship Type="http://schemas.openxmlformats.org/officeDocument/2006/relationships/slide" Target="/ppt/slides/slide42.xml" Id="Rbee27aed2af74b32" /><Relationship Type="http://schemas.openxmlformats.org/officeDocument/2006/relationships/slide" Target="/ppt/slides/slide43.xml" Id="Rb21ed428ebaa4375" /><Relationship Type="http://schemas.openxmlformats.org/officeDocument/2006/relationships/slide" Target="/ppt/slides/slide44.xml" Id="R693e68d7384847d9" /><Relationship Type="http://schemas.openxmlformats.org/officeDocument/2006/relationships/slide" Target="/ppt/slides/slide45.xml" Id="R9ffae444ed74483b" /><Relationship Type="http://schemas.openxmlformats.org/officeDocument/2006/relationships/slide" Target="/ppt/slides/slide46.xml" Id="R94b8d53cda7c4e3c" /><Relationship Type="http://schemas.openxmlformats.org/officeDocument/2006/relationships/slide" Target="/ppt/slides/slide47.xml" Id="R21a5d590e7cc4298" /><Relationship Type="http://schemas.openxmlformats.org/officeDocument/2006/relationships/slide" Target="/ppt/slides/slide48.xml" Id="R9c198a374fe5486a" /><Relationship Type="http://schemas.openxmlformats.org/officeDocument/2006/relationships/slide" Target="/ppt/slides/slide49.xml" Id="R198fe345c3d247e4" /><Relationship Type="http://schemas.openxmlformats.org/officeDocument/2006/relationships/slide" Target="/ppt/slides/slide50.xml" Id="R8dbb20b93bd44e4e" /><Relationship Type="http://schemas.openxmlformats.org/officeDocument/2006/relationships/slide" Target="/ppt/slides/slide51.xml" Id="Rfd00b893bd1746cb" /><Relationship Type="http://schemas.openxmlformats.org/officeDocument/2006/relationships/slide" Target="/ppt/slides/slide52.xml" Id="Rdf6d30cac3934bcd" /><Relationship Type="http://schemas.openxmlformats.org/officeDocument/2006/relationships/slide" Target="/ppt/slides/slide53.xml" Id="Rb9531085213d4bda" /><Relationship Type="http://schemas.openxmlformats.org/officeDocument/2006/relationships/slide" Target="/ppt/slides/slide54.xml" Id="R13a284e5466f41b1" /><Relationship Type="http://schemas.openxmlformats.org/officeDocument/2006/relationships/slide" Target="/ppt/slides/slide55.xml" Id="R71a6e62c86a54721" /><Relationship Type="http://schemas.openxmlformats.org/officeDocument/2006/relationships/slide" Target="/ppt/slides/slide56.xml" Id="R19c4d15236d646b6" /><Relationship Type="http://schemas.openxmlformats.org/officeDocument/2006/relationships/slide" Target="/ppt/slides/slide57.xml" Id="R67db9d2dc8f04881" /><Relationship Type="http://schemas.openxmlformats.org/officeDocument/2006/relationships/slide" Target="/ppt/slides/slide58.xml" Id="Rb0ba840edb10434b" /><Relationship Type="http://schemas.openxmlformats.org/officeDocument/2006/relationships/slide" Target="/ppt/slides/slide59.xml" Id="R9fa1eef4a82a4b0f" /><Relationship Type="http://schemas.openxmlformats.org/officeDocument/2006/relationships/slide" Target="/ppt/slides/slide60.xml" Id="R5520c732a13141a6" /><Relationship Type="http://schemas.openxmlformats.org/officeDocument/2006/relationships/slide" Target="/ppt/slides/slide61.xml" Id="Re71a34f7c2264800"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3948b03a03bc4940"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b1de8f69e70d4855" /><Relationship Type="http://schemas.openxmlformats.org/officeDocument/2006/relationships/notesMaster" Target="/ppt/notesMasters/notesMaster1.xml" Id="R4ff9710f8dd442f0" /></Relationships>
</file>

<file path=ppt/notesSlides/_rels/notesSlide2.xml.rels>&#65279;<?xml version="1.0" encoding="utf-8"?><Relationships xmlns="http://schemas.openxmlformats.org/package/2006/relationships"><Relationship Type="http://schemas.openxmlformats.org/officeDocument/2006/relationships/slide" Target="/ppt/slides/slide2.xml" Id="R8fd234e5c0e94ace" /><Relationship Type="http://schemas.openxmlformats.org/officeDocument/2006/relationships/notesMaster" Target="/ppt/notesMasters/notesMaster1.xml" Id="R9ff2b3eea6c64c3f" /></Relationships>
</file>

<file path=ppt/notesSlides/_rels/notesSlide3.xml.rels>&#65279;<?xml version="1.0" encoding="utf-8"?><Relationships xmlns="http://schemas.openxmlformats.org/package/2006/relationships"><Relationship Type="http://schemas.openxmlformats.org/officeDocument/2006/relationships/slide" Target="/ppt/slides/slide3.xml" Id="R8927eba0d17749bb" /><Relationship Type="http://schemas.openxmlformats.org/officeDocument/2006/relationships/notesMaster" Target="/ppt/notesMasters/notesMaster1.xml" Id="R18df6b1718c34f63" /></Relationships>
</file>

<file path=ppt/notesSlides/_rels/notesSlide4.xml.rels>&#65279;<?xml version="1.0" encoding="utf-8"?><Relationships xmlns="http://schemas.openxmlformats.org/package/2006/relationships"><Relationship Type="http://schemas.openxmlformats.org/officeDocument/2006/relationships/slide" Target="/ppt/slides/slide4.xml" Id="Red5de0cb6f814963" /><Relationship Type="http://schemas.openxmlformats.org/officeDocument/2006/relationships/notesMaster" Target="/ppt/notesMasters/notesMaster1.xml" Id="R7f4dcb0bfb1948c5" /></Relationships>
</file>

<file path=ppt/notesSlides/_rels/notesSlide5.xml.rels>&#65279;<?xml version="1.0" encoding="utf-8"?><Relationships xmlns="http://schemas.openxmlformats.org/package/2006/relationships"><Relationship Type="http://schemas.openxmlformats.org/officeDocument/2006/relationships/slide" Target="/ppt/slides/slide5.xml" Id="R2d36d0955bf240b9" /><Relationship Type="http://schemas.openxmlformats.org/officeDocument/2006/relationships/notesMaster" Target="/ppt/notesMasters/notesMaster1.xml" Id="R34923d0180ff46db" /></Relationships>
</file>

<file path=ppt/notesSlides/_rels/notesSlide6.xml.rels>&#65279;<?xml version="1.0" encoding="utf-8"?><Relationships xmlns="http://schemas.openxmlformats.org/package/2006/relationships"><Relationship Type="http://schemas.openxmlformats.org/officeDocument/2006/relationships/slide" Target="/ppt/slides/slide6.xml" Id="Rcdf597329c9a4a37" /><Relationship Type="http://schemas.openxmlformats.org/officeDocument/2006/relationships/notesMaster" Target="/ppt/notesMasters/notesMaster1.xml" Id="R095ef840c1c34b31" /></Relationships>
</file>

<file path=ppt/notesSlides/_rels/notesSlide7.xml.rels>&#65279;<?xml version="1.0" encoding="utf-8"?><Relationships xmlns="http://schemas.openxmlformats.org/package/2006/relationships"><Relationship Type="http://schemas.openxmlformats.org/officeDocument/2006/relationships/slide" Target="/ppt/slides/slide7.xml" Id="R9b3aca153f1944fe" /><Relationship Type="http://schemas.openxmlformats.org/officeDocument/2006/relationships/notesMaster" Target="/ppt/notesMasters/notesMaster1.xml" Id="Rd509ae374be74fe6" /></Relationships>
</file>

<file path=ppt/notesSlides/_rels/notesSlide8.xml.rels>&#65279;<?xml version="1.0" encoding="utf-8"?><Relationships xmlns="http://schemas.openxmlformats.org/package/2006/relationships"><Relationship Type="http://schemas.openxmlformats.org/officeDocument/2006/relationships/slide" Target="/ppt/slides/slide8.xml" Id="R749d2f07075a4d0c" /><Relationship Type="http://schemas.openxmlformats.org/officeDocument/2006/relationships/notesMaster" Target="/ppt/notesMasters/notesMaster1.xml" Id="R9c5b23a01be74f55" /></Relationships>
</file>

<file path=ppt/notesSlides/_rels/notesSlide9.xml.rels>&#65279;<?xml version="1.0" encoding="utf-8"?><Relationships xmlns="http://schemas.openxmlformats.org/package/2006/relationships"><Relationship Type="http://schemas.openxmlformats.org/officeDocument/2006/relationships/slide" Target="/ppt/slides/slide9.xml" Id="Raed609f114654633" /><Relationship Type="http://schemas.openxmlformats.org/officeDocument/2006/relationships/notesMaster" Target="/ppt/notesMasters/notesMaster1.xml" Id="R63fda927cefe4ba1"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31f3d0dc11aa4c61" /><Relationship Type="http://schemas.openxmlformats.org/officeDocument/2006/relationships/notesMaster" Target="/ppt/notesMasters/notesMaster1.xml" Id="Ra52d4b13ad9940c8"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a95bde35daaa43c3" /><Relationship Type="http://schemas.openxmlformats.org/officeDocument/2006/relationships/notesMaster" Target="/ppt/notesMasters/notesMaster1.xml" Id="R410692b7783249ec"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ba353a70263745c9" /><Relationship Type="http://schemas.openxmlformats.org/officeDocument/2006/relationships/notesMaster" Target="/ppt/notesMasters/notesMaster1.xml" Id="R9b2a3b9f68114f37"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eeb120e011854d37" /><Relationship Type="http://schemas.openxmlformats.org/officeDocument/2006/relationships/notesMaster" Target="/ppt/notesMasters/notesMaster1.xml" Id="R6d0eefab3b844ac5"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3e580c344d0a43be" /><Relationship Type="http://schemas.openxmlformats.org/officeDocument/2006/relationships/notesMaster" Target="/ppt/notesMasters/notesMaster1.xml" Id="R11aaae57e86646c3"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e681bdf402c5410d" /><Relationship Type="http://schemas.openxmlformats.org/officeDocument/2006/relationships/notesMaster" Target="/ppt/notesMasters/notesMaster1.xml" Id="R4debfb278fb04295"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baf0fffda7d6429c" /><Relationship Type="http://schemas.openxmlformats.org/officeDocument/2006/relationships/notesMaster" Target="/ppt/notesMasters/notesMaster1.xml" Id="Rb23be95918f54802"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6a601c266f844acd" /><Relationship Type="http://schemas.openxmlformats.org/officeDocument/2006/relationships/notesMaster" Target="/ppt/notesMasters/notesMaster1.xml" Id="R2db20fb91f894405"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4187664831ce46de" /><Relationship Type="http://schemas.openxmlformats.org/officeDocument/2006/relationships/notesMaster" Target="/ppt/notesMasters/notesMaster1.xml" Id="Rc48ffc1e85184748"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460b92d843ba4088" /><Relationship Type="http://schemas.openxmlformats.org/officeDocument/2006/relationships/notesMaster" Target="/ppt/notesMasters/notesMaster1.xml" Id="R261885c81f3c47a5"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edfb36ffb89d473f" /><Relationship Type="http://schemas.openxmlformats.org/officeDocument/2006/relationships/notesMaster" Target="/ppt/notesMasters/notesMaster1.xml" Id="Ra5e99d1a0a0e413f"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16e141a511bd49b9" /><Relationship Type="http://schemas.openxmlformats.org/officeDocument/2006/relationships/notesMaster" Target="/ppt/notesMasters/notesMaster1.xml" Id="Ra8f6fe663d184ab4"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8bd24ac9bf564906" /><Relationship Type="http://schemas.openxmlformats.org/officeDocument/2006/relationships/notesMaster" Target="/ppt/notesMasters/notesMaster1.xml" Id="Re5d8beeb6a9f4467"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4a5a4f9809dd424d" /><Relationship Type="http://schemas.openxmlformats.org/officeDocument/2006/relationships/notesMaster" Target="/ppt/notesMasters/notesMaster1.xml" Id="R6a56420fc333460f"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ad7f2818b2a54ebd" /><Relationship Type="http://schemas.openxmlformats.org/officeDocument/2006/relationships/notesMaster" Target="/ppt/notesMasters/notesMaster1.xml" Id="Ra8b7475a63764184"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f3436e3f15b545c8" /><Relationship Type="http://schemas.openxmlformats.org/officeDocument/2006/relationships/notesMaster" Target="/ppt/notesMasters/notesMaster1.xml" Id="R968bccf95f974cdd"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135adf54aefb4dba" /><Relationship Type="http://schemas.openxmlformats.org/officeDocument/2006/relationships/notesMaster" Target="/ppt/notesMasters/notesMaster1.xml" Id="Rc3e8a7b8c3464bc1"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d5dab74271fa403a" /><Relationship Type="http://schemas.openxmlformats.org/officeDocument/2006/relationships/notesMaster" Target="/ppt/notesMasters/notesMaster1.xml" Id="Re7fda967fb44481c"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5e99a3e3ed6d463a" /><Relationship Type="http://schemas.openxmlformats.org/officeDocument/2006/relationships/notesMaster" Target="/ppt/notesMasters/notesMaster1.xml" Id="Reb2d7491595f49a2"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0c374a67a32b4076" /><Relationship Type="http://schemas.openxmlformats.org/officeDocument/2006/relationships/notesMaster" Target="/ppt/notesMasters/notesMaster1.xml" Id="R8a33e1e76d9a4ecd"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b5b2b5333ffe43ae" /><Relationship Type="http://schemas.openxmlformats.org/officeDocument/2006/relationships/notesMaster" Target="/ppt/notesMasters/notesMaster1.xml" Id="Re4a44dffff514b8b"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978cbf8481f34113" /><Relationship Type="http://schemas.openxmlformats.org/officeDocument/2006/relationships/notesMaster" Target="/ppt/notesMasters/notesMaster1.xml" Id="R893ab517fd034517"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57fa0f5388804fd9" /><Relationship Type="http://schemas.openxmlformats.org/officeDocument/2006/relationships/notesMaster" Target="/ppt/notesMasters/notesMaster1.xml" Id="Re3dfbd5b250344e8"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5762927d8d054c8a" /><Relationship Type="http://schemas.openxmlformats.org/officeDocument/2006/relationships/notesMaster" Target="/ppt/notesMasters/notesMaster1.xml" Id="Raf05e6e81bd44aab"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46be72a231024046" /><Relationship Type="http://schemas.openxmlformats.org/officeDocument/2006/relationships/notesMaster" Target="/ppt/notesMasters/notesMaster1.xml" Id="R405becf5db2a41bf"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06a4e99ba305406f" /><Relationship Type="http://schemas.openxmlformats.org/officeDocument/2006/relationships/notesMaster" Target="/ppt/notesMasters/notesMaster1.xml" Id="R8099d3554a7742df"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74b7f38a32174224" /><Relationship Type="http://schemas.openxmlformats.org/officeDocument/2006/relationships/notesMaster" Target="/ppt/notesMasters/notesMaster1.xml" Id="Ra7329f86499642ca"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6dc64a354a4b4ae4" /><Relationship Type="http://schemas.openxmlformats.org/officeDocument/2006/relationships/notesMaster" Target="/ppt/notesMasters/notesMaster1.xml" Id="Rf5b9527b20124011"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89023763b91346b1" /><Relationship Type="http://schemas.openxmlformats.org/officeDocument/2006/relationships/notesMaster" Target="/ppt/notesMasters/notesMaster1.xml" Id="Rd5c9425b63204b1b"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0e92e092c2394166" /><Relationship Type="http://schemas.openxmlformats.org/officeDocument/2006/relationships/notesMaster" Target="/ppt/notesMasters/notesMaster1.xml" Id="R552fe88852b6470d"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9b209151d4844116" /><Relationship Type="http://schemas.openxmlformats.org/officeDocument/2006/relationships/notesMaster" Target="/ppt/notesMasters/notesMaster1.xml" Id="R040f0562770740e6"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f4ef3f216d6e4b23" /><Relationship Type="http://schemas.openxmlformats.org/officeDocument/2006/relationships/notesMaster" Target="/ppt/notesMasters/notesMaster1.xml" Id="Rb700090220c643c8"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917749367fdf4bfd" /><Relationship Type="http://schemas.openxmlformats.org/officeDocument/2006/relationships/notesMaster" Target="/ppt/notesMasters/notesMaster1.xml" Id="R75de05ed40284e9f"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10442ad9aec244da" /><Relationship Type="http://schemas.openxmlformats.org/officeDocument/2006/relationships/notesMaster" Target="/ppt/notesMasters/notesMaster1.xml" Id="Rb37ea344f7b54177"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7019da9c9e044c97" /><Relationship Type="http://schemas.openxmlformats.org/officeDocument/2006/relationships/notesMaster" Target="/ppt/notesMasters/notesMaster1.xml" Id="Re8df64cad4ce4c2d"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4dd1bc225207403a" /><Relationship Type="http://schemas.openxmlformats.org/officeDocument/2006/relationships/notesMaster" Target="/ppt/notesMasters/notesMaster1.xml" Id="R1a40972c51d4437f"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6d76b00e15404ffa" /><Relationship Type="http://schemas.openxmlformats.org/officeDocument/2006/relationships/notesMaster" Target="/ppt/notesMasters/notesMaster1.xml" Id="Re395713b365e412a"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c0ad8eb90e33426d" /><Relationship Type="http://schemas.openxmlformats.org/officeDocument/2006/relationships/notesMaster" Target="/ppt/notesMasters/notesMaster1.xml" Id="Rf253789434884cbe"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fdadf7f8fa9945a3" /><Relationship Type="http://schemas.openxmlformats.org/officeDocument/2006/relationships/notesMaster" Target="/ppt/notesMasters/notesMaster1.xml" Id="Rd60a387a5d3f47b6"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708568475eb44412" /><Relationship Type="http://schemas.openxmlformats.org/officeDocument/2006/relationships/notesMaster" Target="/ppt/notesMasters/notesMaster1.xml" Id="Rfc1c1f5749dc45f7"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bb6616e0b0664cd5" /><Relationship Type="http://schemas.openxmlformats.org/officeDocument/2006/relationships/notesMaster" Target="/ppt/notesMasters/notesMaster1.xml" Id="Ree5e1c539ac14b0b"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993031530b18418f" /><Relationship Type="http://schemas.openxmlformats.org/officeDocument/2006/relationships/notesMaster" Target="/ppt/notesMasters/notesMaster1.xml" Id="R5ca5e282ac064137"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948f6c9280e241c4" /><Relationship Type="http://schemas.openxmlformats.org/officeDocument/2006/relationships/notesMaster" Target="/ppt/notesMasters/notesMaster1.xml" Id="R6fe24d67ae1d4be3" /></Relationships>
</file>

<file path=ppt/notesSlides/_rels/notesSlide53.xml.rels>&#65279;<?xml version="1.0" encoding="utf-8"?><Relationships xmlns="http://schemas.openxmlformats.org/package/2006/relationships"><Relationship Type="http://schemas.openxmlformats.org/officeDocument/2006/relationships/slide" Target="/ppt/slides/slide53.xml" Id="R8db3f84255514abe" /><Relationship Type="http://schemas.openxmlformats.org/officeDocument/2006/relationships/notesMaster" Target="/ppt/notesMasters/notesMaster1.xml" Id="R43cd7685450f4ae5" /></Relationships>
</file>

<file path=ppt/notesSlides/_rels/notesSlide54.xml.rels>&#65279;<?xml version="1.0" encoding="utf-8"?><Relationships xmlns="http://schemas.openxmlformats.org/package/2006/relationships"><Relationship Type="http://schemas.openxmlformats.org/officeDocument/2006/relationships/slide" Target="/ppt/slides/slide54.xml" Id="Rcd39e7fc43794a0a" /><Relationship Type="http://schemas.openxmlformats.org/officeDocument/2006/relationships/notesMaster" Target="/ppt/notesMasters/notesMaster1.xml" Id="R74d5d84653354491" /></Relationships>
</file>

<file path=ppt/notesSlides/_rels/notesSlide55.xml.rels>&#65279;<?xml version="1.0" encoding="utf-8"?><Relationships xmlns="http://schemas.openxmlformats.org/package/2006/relationships"><Relationship Type="http://schemas.openxmlformats.org/officeDocument/2006/relationships/slide" Target="/ppt/slides/slide55.xml" Id="Re7fd77e7858a413c" /><Relationship Type="http://schemas.openxmlformats.org/officeDocument/2006/relationships/notesMaster" Target="/ppt/notesMasters/notesMaster1.xml" Id="Rf4caff651a2548fb" /></Relationships>
</file>

<file path=ppt/notesSlides/_rels/notesSlide56.xml.rels>&#65279;<?xml version="1.0" encoding="utf-8"?><Relationships xmlns="http://schemas.openxmlformats.org/package/2006/relationships"><Relationship Type="http://schemas.openxmlformats.org/officeDocument/2006/relationships/slide" Target="/ppt/slides/slide56.xml" Id="R51b648cd08f9432b" /><Relationship Type="http://schemas.openxmlformats.org/officeDocument/2006/relationships/notesMaster" Target="/ppt/notesMasters/notesMaster1.xml" Id="R46c87949c8984581" /></Relationships>
</file>

<file path=ppt/notesSlides/_rels/notesSlide57.xml.rels>&#65279;<?xml version="1.0" encoding="utf-8"?><Relationships xmlns="http://schemas.openxmlformats.org/package/2006/relationships"><Relationship Type="http://schemas.openxmlformats.org/officeDocument/2006/relationships/slide" Target="/ppt/slides/slide57.xml" Id="R3c79cb3c7c9c4b29" /><Relationship Type="http://schemas.openxmlformats.org/officeDocument/2006/relationships/notesMaster" Target="/ppt/notesMasters/notesMaster1.xml" Id="R60c47e339be14029" /></Relationships>
</file>

<file path=ppt/notesSlides/_rels/notesSlide58.xml.rels>&#65279;<?xml version="1.0" encoding="utf-8"?><Relationships xmlns="http://schemas.openxmlformats.org/package/2006/relationships"><Relationship Type="http://schemas.openxmlformats.org/officeDocument/2006/relationships/slide" Target="/ppt/slides/slide58.xml" Id="Rdfedd45731f04722" /><Relationship Type="http://schemas.openxmlformats.org/officeDocument/2006/relationships/notesMaster" Target="/ppt/notesMasters/notesMaster1.xml" Id="R21393a6f21ce41e8" /></Relationships>
</file>

<file path=ppt/notesSlides/_rels/notesSlide59.xml.rels>&#65279;<?xml version="1.0" encoding="utf-8"?><Relationships xmlns="http://schemas.openxmlformats.org/package/2006/relationships"><Relationship Type="http://schemas.openxmlformats.org/officeDocument/2006/relationships/slide" Target="/ppt/slides/slide59.xml" Id="R877e23b90e204f92" /><Relationship Type="http://schemas.openxmlformats.org/officeDocument/2006/relationships/notesMaster" Target="/ppt/notesMasters/notesMaster1.xml" Id="Rc052649c0bb64306" /></Relationships>
</file>

<file path=ppt/notesSlides/_rels/notesSlide60.xml.rels>&#65279;<?xml version="1.0" encoding="utf-8"?><Relationships xmlns="http://schemas.openxmlformats.org/package/2006/relationships"><Relationship Type="http://schemas.openxmlformats.org/officeDocument/2006/relationships/slide" Target="/ppt/slides/slide60.xml" Id="R9272a46a92c44b64" /><Relationship Type="http://schemas.openxmlformats.org/officeDocument/2006/relationships/notesMaster" Target="/ppt/notesMasters/notesMaster1.xml" Id="Rd5f1784bafc64922" /></Relationships>
</file>

<file path=ppt/notesSlides/_rels/notesSlide61.xml.rels>&#65279;<?xml version="1.0" encoding="utf-8"?><Relationships xmlns="http://schemas.openxmlformats.org/package/2006/relationships"><Relationship Type="http://schemas.openxmlformats.org/officeDocument/2006/relationships/slide" Target="/ppt/slides/slide61.xml" Id="R45a82ff343344e92" /><Relationship Type="http://schemas.openxmlformats.org/officeDocument/2006/relationships/notesMaster" Target="/ppt/notesMasters/notesMaster1.xml" Id="R6caad6d3bb3640cd"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Die Einheit richtet sich an Anwender:innen mit einfachen SQL-Grundkenntnissen und ohne vorausgesetzte Erfahrung mit künstlicher Intelligenz (KI), also Verfahren für Aufgaben wie Textverarbeitung oder Vorhersagen. Die Einführung entwickelt Begriffe am gleichen synthetischen Wissensbasisfall und führt eine kleine Read-only-SQL-Übung Schritt für Schritt vor. SELECT und ORDER BY sind hilfreich und werden am Beispiel eingeordnet. Modellzugänge und Previewkonfiguration sind für diesen Einstieg nicht erforderlich. Danach folgen die bestehenden Fachmodule und manifestbasierten Offline-Demos auf einer eigens vorbereiteten Labinstanz. Die neun implementierten Offline-Demos besitzen begrenzte lokale Nachweise. Die weiteren neun Entwürfe besitzen eigene offene Gates. Live-Provider, vollständige Performancequalifikation, Teilnehmererprobung und Generalprobe sind damit nicht freigegeben. Begriffe und Übungen ergänzt das Offline-Arbeitsheft.</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Projektquelle: Documentation/Project_Planning/SQL_SERVER_2025_AI_WORKSTREAM_PLAN.md</a:t>
            </a:r>
          </a:p>
          <a:p xmlns:a="http://schemas.openxmlformats.org/drawingml/2006/main">
            <a:r>
              <a:t/>
            </a:r>
          </a:p>
          <a:p xmlns:a="http://schemas.openxmlformats.org/drawingml/2006/main">
            <a:r>
              <a:t>Projektquelle: Documentation/HowTo/SQL_SERVER_2025_AI_OFFLINE_GLOSSARY.md</a:t>
            </a:r>
          </a:p>
          <a:p xmlns:a="http://schemas.openxmlformats.org/drawingml/2006/main">
            <a:r>
              <a:t/>
            </a:r>
          </a:p>
          <a:p xmlns:a="http://schemas.openxmlformats.org/drawingml/2006/main">
            <a:r>
              <a:t>Didaktische Zuordnung: CUR-013–CUR-022.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Didaktische Einführung. Frage an die Gruppe: Welche Informationen brauchen Sie, um eine technische Frage zuverlässig zu beantworten? Erwartete Antworten: die passende Quelle, ihre aktuelle Fassung und die Berechtigung zum Lesen. An diese bekannten Anforderungen knüpft die Einheit an. Die kleine Vektorübung zeigt später eine zusätzliche Suchmöglichkeit mit ausschließlich festen Zahlen. Vorwissen in Statistik, Modelltraining oder Cloudbereitstellung ist dafür nicht erforderlich. Erklären Sie neue Begriffe beim ersten Auftreten und lassen Sie die Gruppe den Unterschied zwischen einer Tabellenzeile und einem formulierten Antwortsatz wiedergeben. Übergang: Zunächst betrachten wir die Frage, bevor wir ein Werkzeug auswählen.</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Projektquelle: .ai/PROJECT_CONTEXT.md</a:t>
            </a:r>
          </a:p>
          <a:p xmlns:a="http://schemas.openxmlformats.org/drawingml/2006/main">
            <a:r>
              <a:t/>
            </a:r>
          </a:p>
          <a:p xmlns:a="http://schemas.openxmlformats.org/drawingml/2006/main">
            <a:r>
              <a:t>Projektquelle: Documentation/HowTo/SQL_SERVER_2025_AI_OFFLINE_GLOSSARY.md</a:t>
            </a:r>
          </a:p>
          <a:p xmlns:a="http://schemas.openxmlformats.org/drawingml/2006/main">
            <a:r>
              <a:t/>
            </a:r>
          </a:p>
          <a:p xmlns:a="http://schemas.openxmlformats.org/drawingml/2006/main">
            <a:r>
              <a:t>Didaktische Zuordnung: CUR-013.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Dies ist ein eigenständiger synthetischer Einstiegskorpus, keine neue Demoimplementierung und keine behauptete Ausgabe einer bestehenden Demo. MOD_A ist ein imaginärer technischer Baustein. Die Texte und ihre festen Zuordnungen dienen der gemeinsamen Diskussion. Frage: Was könnte schiefgehen, wenn eine Suche beide Fassungen gleich behandelt? Erwartete Antwort: Eine veraltete Fassung kann die Antwort beeinflussen oder einen scheinbaren Widerspruch erzeugen. Eine flüssige Formulierung löst dieses Versionsproblem nicht. Übergang: Wir halten die kleinen Dokumente mit Kennung und Fassung sichtbar fest.</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Projektquelle: Documentation/Project_Planning/SQL_SERVER_2025_AI_WORKSTREAM_PLAN.md</a:t>
            </a:r>
          </a:p>
          <a:p xmlns:a="http://schemas.openxmlformats.org/drawingml/2006/main">
            <a:r>
              <a:t/>
            </a:r>
          </a:p>
          <a:p xmlns:a="http://schemas.openxmlformats.org/drawingml/2006/main">
            <a:r>
              <a:t>Projektquelle: Documentation/HowTo/SQL_SERVER_2025_AI_OFFLINE_GLOSSARY.md</a:t>
            </a:r>
          </a:p>
          <a:p xmlns:a="http://schemas.openxmlformats.org/drawingml/2006/main">
            <a:r>
              <a:t/>
            </a:r>
          </a:p>
          <a:p xmlns:a="http://schemas.openxmlformats.org/drawingml/2006/main">
            <a:r>
              <a:t>Didaktische Zuordnung: CUR-013 / CUR-017.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Lassen Sie die Gruppe Dokument 2 für die konkrete MOD_A-Frage auswählen. Antwort: Es betrifft das richtige Modul und seine aktuelle Fassung. Dokument 1 ist veraltet. Dokument 3 ist aktuell, betrifft aber ein anderes Modul. Frage: Reicht die Zahl sieben als gespeichertes Ergebnis? Erwartete Antwort: Für eine überprüfbare Antwort benötigen wir zusätzlich Dokumentkennung, Fassung und den stützenden Textbereich. Alle drei vollständigen Sätze sind synthetisch. Es gibt hier keine Aussage über reale Aufbewahrungsfristen. Übergang: Eine SELECT-Abfrage liefert solche Daten als Rows.</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Projektquelle: Documentation/Project_Planning/SQL_SERVER_2025_AI_WORKSTREAM_PLAN.md</a:t>
            </a:r>
          </a:p>
          <a:p xmlns:a="http://schemas.openxmlformats.org/drawingml/2006/main">
            <a:r>
              <a:t/>
            </a:r>
          </a:p>
          <a:p xmlns:a="http://schemas.openxmlformats.org/drawingml/2006/main">
            <a:r>
              <a:t>Didaktische Zuordnung: CUR-013 / CUR-015.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Die gezeigte Abfrage ist vollständig und benötigt keine eigene Tabelle. Sie ist eine Illustration des bekannten tabellarischen Ergebnisformats. Der feste VALUES-Ausdruck enthält bereits die ausgewählte Fassung. Er sucht oder prüft nicht selbstständig, ob ein Dokument aktuell ist. Frage: Woher kennt SQL hier die sieben Tage? Antwort: Aus dem ausdrücklich angegebenen Literalwert. Es gibt weder Training noch Modellaufruf. Die Statements schreiben keine persistenten Daten. Ein späterer praktischer Versuch erfolgt nur auf dem vorbereiteten Schulungsziel. Übergang: Aus einer Row kann eine Anwendung einen Satz formulieren, doch die Herkunft des Werts muss erhalten bleiben.</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Projektquelle: Documentation/HowTo/SQL_SERVER_2025_AI_OFFLINE_GLOSSARY.md</a:t>
            </a:r>
          </a:p>
          <a:p xmlns:a="http://schemas.openxmlformats.org/drawingml/2006/main">
            <a:r>
              <a:t/>
            </a:r>
          </a:p>
          <a:p xmlns:a="http://schemas.openxmlformats.org/drawingml/2006/main">
            <a:r>
              <a:t>Didaktische Zuordnung: CUR-013.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Logeinträge und Protokolle gelten für diesen didaktischen Fall als alternative Wortwahl. Das ist eine festgelegte Lehrannahme, kein gemessener Sprachmodellbefund. Die erste Frage lässt sich bei bekanntem Datenmodell relational bearbeiten. Die zweite motiviert eine Suche nach Bedeutung. Die dritte zeigt eine Grenze: Unser Quelltext nennt eine Frist, aber keinen Grund. Frage: Darf die Anwendung daraus eine Erklärung für die Frist erfinden? Antwort: Nein, der Grund ist mit diesen Quellen nicht belegt. Ein begründetes Offenlassen ist angemessen. Übergang: Wir benennen nun, was KI-Verfahren in diesem Ablauf leisten sollen.</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Projektquelle: Documentation/HowTo/SQL_SERVER_2025_AI_OFFLINE_GLOSSARY.md</a:t>
            </a:r>
          </a:p>
          <a:p xmlns:a="http://schemas.openxmlformats.org/drawingml/2006/main">
            <a:r>
              <a:t/>
            </a:r>
          </a:p>
          <a:p xmlns:a="http://schemas.openxmlformats.org/drawingml/2006/main">
            <a:r>
              <a:t>Projektquelle: Documentation/Project_Planning/SQL_SERVER_2025_AI_WORKSTREAM_PLAN.md</a:t>
            </a:r>
          </a:p>
          <a:p xmlns:a="http://schemas.openxmlformats.org/drawingml/2006/main">
            <a:r>
              <a:t/>
            </a:r>
          </a:p>
          <a:p xmlns:a="http://schemas.openxmlformats.org/drawingml/2006/main">
            <a:r>
              <a:t>Didaktische Zuordnung: CUR-013 / CUR-017.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Die Tabelle zeigt die Breite als didaktische Anwendungsideen, keine Liste bereits freigegebener Implementierungen. Bei Klassifikation ordnet ein passendes Modell eine Eingabe einer Kategorie zu. Bei Vorhersage liefert es einen Wert für die zuvor definierte Aufgabe. Dafür sind jeweils geeignete Daten, Modellwahl und eigene Bewertung nötig. Die SQL-2025-External-Modeldefinition im behandelten Pfad hat MODEL_TYPE=EMBEDDINGS. AI_GENERATE_EMBEDDINGS ist ein Embeddingzugang. Daraus folgt keine allgemeine native Chat-, Zusammenfassungs-, Vorhersage- oder Klassifikationsfunktion. Antworttext und Zusammenfassung sind im geplanten generativen Pfad Aufgaben der Anwendung und ihres Sprachmodells. SQL-Assistenz gehört ebenfalls zu einem ausdrücklich gewählten Client-/Anwendungspfad. Frage: Würde ein einziger Vektordatentyp alle vier Anwendungen lösen? Antwort: Nein, er ist ein Baustein. Übergang: Für die passende Auswahl erklären wir nun die grundlegenden Begriffe.</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SRC-080: CREATE EXTERNAL MODEL</a:t>
            </a:r>
          </a:p>
          <a:p xmlns:a="http://schemas.openxmlformats.org/drawingml/2006/main">
            <a:r>
              <a:t>https://learn.microsoft.com/en-us/sql/t-sql/statements/create-external-model-transact-sql?view=sql-server-ver17</a:t>
            </a:r>
          </a:p>
          <a:p xmlns:a="http://schemas.openxmlformats.org/drawingml/2006/main">
            <a:r>
              <a:t>Abrufdatum laut Quellenregister: 2026-10-11</a:t>
            </a:r>
          </a:p>
          <a:p xmlns:a="http://schemas.openxmlformats.org/drawingml/2006/main">
            <a:r>
              <a:t/>
            </a:r>
          </a:p>
          <a:p xmlns:a="http://schemas.openxmlformats.org/drawingml/2006/main">
            <a:r>
              <a:t>SRC-081: AI_GENERATE_EMBEDDINGS</a:t>
            </a:r>
          </a:p>
          <a:p xmlns:a="http://schemas.openxmlformats.org/drawingml/2006/main">
            <a:r>
              <a:t>https://learn.microsoft.com/en-us/sql/t-sql/functions/ai-generate-embeddings-transact-sql?view=sql-server-ver17</a:t>
            </a:r>
          </a:p>
          <a:p xmlns:a="http://schemas.openxmlformats.org/drawingml/2006/main">
            <a:r>
              <a:t>Abrufdatum laut Quellenregister: 2026-10-11</a:t>
            </a:r>
          </a:p>
          <a:p xmlns:a="http://schemas.openxmlformats.org/drawingml/2006/main">
            <a:r>
              <a:t/>
            </a:r>
          </a:p>
          <a:p xmlns:a="http://schemas.openxmlformats.org/drawingml/2006/main">
            <a:r>
              <a:t>SRC-089: GitHub Copilot in SSMS overview</a:t>
            </a:r>
          </a:p>
          <a:p xmlns:a="http://schemas.openxmlformats.org/drawingml/2006/main">
            <a:r>
              <a:t>https://learn.microsoft.com/en-us/ssms/github-copilot/overview</a:t>
            </a:r>
          </a:p>
          <a:p xmlns:a="http://schemas.openxmlformats.org/drawingml/2006/main">
            <a:r>
              <a:t>Abrufdatum laut Quellenregister: 2026-10-11</a:t>
            </a:r>
          </a:p>
          <a:p xmlns:a="http://schemas.openxmlformats.org/drawingml/2006/main">
            <a:r>
              <a:t/>
            </a:r>
          </a:p>
          <a:p xmlns:a="http://schemas.openxmlformats.org/drawingml/2006/main">
            <a:r>
              <a:t>Projektquelle: Documentation/Project_Planning/SQL_SERVER_2025_AI_WORKSTREAM_PLAN.md</a:t>
            </a:r>
          </a:p>
          <a:p xmlns:a="http://schemas.openxmlformats.org/drawingml/2006/main">
            <a:r>
              <a:t/>
            </a:r>
          </a:p>
          <a:p xmlns:a="http://schemas.openxmlformats.org/drawingml/2006/main">
            <a:r>
              <a:t>Projektquelle: Documentation/Research/SQL_SERVER_2025_AI_FEATURE_MATRIX.md</a:t>
            </a:r>
          </a:p>
          <a:p xmlns:a="http://schemas.openxmlformats.org/drawingml/2006/main">
            <a:r>
              <a:t/>
            </a:r>
          </a:p>
          <a:p xmlns:a="http://schemas.openxmlformats.org/drawingml/2006/main">
            <a:r>
              <a:t>Didaktische Zuordnung: CUR-013 / CUR-016 / CUR-021.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Die Folie bietet eine einfache Einordnung des breiteren KI-Feldes. Regelbasierte Wissensverarbeitung, Mustererkennung, Vorhersage und Sprachverarbeitung können KI-Anwendungen dienen. Machine Learning bezeichnet darin Verfahren, die Modellverhalten aus Trainingsdaten lernen. Ein regelbasiertes Wissenssystem kann mit ausdrücklich formulierten Regeln arbeiten. Eine generative Textanwendung ist deshalb nur ein möglicher Fall. Frage: Lernt schon ein SELECT aus einer festen VALUES-Row? Antwort: Nein, es verarbeitet die angegebenen Werte nach SQL-Regeln. Nicht jede regelgeleitete Berechnung wird dadurch automatisch zur KI-Anwendung. Das Erstellen einer Tabelle oder fester Geometrievektoren ist ebenfalls kein Modelltraining. Wir beginnen mit dieser Unterscheidung, um später keinen mathematischen Lehrfall als echte Sprachsemantik auszugeben. Übergang: Für unsere späteren Modellpfade betrachten wir nun Modellaufgabe und Eingabe genauer.</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Projektquelle: Documentation/HowTo/SQL_SERVER_2025_AI_OFFLINE_GLOSSARY.md</a:t>
            </a:r>
          </a:p>
          <a:p xmlns:a="http://schemas.openxmlformats.org/drawingml/2006/main">
            <a:r>
              <a:t/>
            </a:r>
          </a:p>
          <a:p xmlns:a="http://schemas.openxmlformats.org/drawingml/2006/main">
            <a:r>
              <a:t>Didaktische Zuordnung: CUR-013.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Die Rechenvorschrift umfasst bei einem ML-Modell gelernte Parameter. Für den Einstieg reicht die Eingabe-/Ausgabevorstellung. Vermeiden Sie eine Erklärung, in der ein Modell als Person dargestellt wird, die automatisch unsere Datenbank kennt. Frage: Sind Textsuche und Antwortformulierung dieselbe Aufgabe? Antwort: Nein. Eine numerische Repräsentation kann der Suche dienen. Die Formulierung eines Antworttexts ist ein weiterer Verarbeitungsschritt. Einige Modelle und Anwendungen verbinden mehrere Fähigkeiten, doch die Aufgaben und ihre Ergebnisse werden hier getrennt bewertet. Übergang: Ein vorbereitetes Modell kann verwendet werden, ohne es in der Schulung neu zu trainieren.</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SRC-087: Generate embeddings with Azure OpenAI</a:t>
            </a:r>
          </a:p>
          <a:p xmlns:a="http://schemas.openxmlformats.org/drawingml/2006/main">
            <a:r>
              <a:t>https://learn.microsoft.com/en-us/azure/foundry/openai/how-to/embeddings</a:t>
            </a:r>
          </a:p>
          <a:p xmlns:a="http://schemas.openxmlformats.org/drawingml/2006/main">
            <a:r>
              <a:t>Abrufdatum laut Quellenregister: 2026-10-11</a:t>
            </a:r>
          </a:p>
          <a:p xmlns:a="http://schemas.openxmlformats.org/drawingml/2006/main">
            <a:r>
              <a:t/>
            </a:r>
          </a:p>
          <a:p xmlns:a="http://schemas.openxmlformats.org/drawingml/2006/main">
            <a:r>
              <a:t>Projektquelle: Documentation/HowTo/SQL_SERVER_2025_AI_OFFLINE_GLOSSARY.md</a:t>
            </a:r>
          </a:p>
          <a:p xmlns:a="http://schemas.openxmlformats.org/drawingml/2006/main">
            <a:r>
              <a:t/>
            </a:r>
          </a:p>
          <a:p xmlns:a="http://schemas.openxmlformats.org/drawingml/2006/main">
            <a:r>
              <a:t>Didaktische Zuordnung: CUR-013.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Frage: Wenn wir MOD_A als neue Tabellenrow speichern, haben wir damit ein Sprachmodell trainiert? Antwort: Nein. Speichern, Suchen, Inferenz und Training sind verschiedene Vorgänge. Eine Anwendung kann aktuelle Dokumente zur Antwort hinzufügen, ohne das vorbereitete Sprachmodell neu zu trainieren. Ein Cloudservice kann Daten je nach Dienst und Funktion unterschiedlich verarbeiten. Aus unserer Erklärung des Anwendungspfads folgt deshalb keine allgemeine Datenschutz- oder Retentiongarantie. Die festen Werte des Einstiegs sind bewusst ohne Modell erzeugt. Übergang: Bei der Textausgabe betrachten wir ein Sprachmodell genauer.</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SRC-087: Generate embeddings with Azure OpenAI</a:t>
            </a:r>
          </a:p>
          <a:p xmlns:a="http://schemas.openxmlformats.org/drawingml/2006/main">
            <a:r>
              <a:t>https://learn.microsoft.com/en-us/azure/foundry/openai/how-to/embeddings</a:t>
            </a:r>
          </a:p>
          <a:p xmlns:a="http://schemas.openxmlformats.org/drawingml/2006/main">
            <a:r>
              <a:t>Abrufdatum laut Quellenregister: 2026-10-11</a:t>
            </a:r>
          </a:p>
          <a:p xmlns:a="http://schemas.openxmlformats.org/drawingml/2006/main">
            <a:r>
              <a:t/>
            </a:r>
          </a:p>
          <a:p xmlns:a="http://schemas.openxmlformats.org/drawingml/2006/main">
            <a:r>
              <a:t>SRC-088: Foundry Models data privacy</a:t>
            </a:r>
          </a:p>
          <a:p xmlns:a="http://schemas.openxmlformats.org/drawingml/2006/main">
            <a:r>
              <a:t>https://learn.microsoft.com/en-us/azure/foundry/responsible-ai/openai/data-privacy</a:t>
            </a:r>
          </a:p>
          <a:p xmlns:a="http://schemas.openxmlformats.org/drawingml/2006/main">
            <a:r>
              <a:t>Abrufdatum laut Quellenregister: 2026-10-11</a:t>
            </a:r>
          </a:p>
          <a:p xmlns:a="http://schemas.openxmlformats.org/drawingml/2006/main">
            <a:r>
              <a:t/>
            </a:r>
          </a:p>
          <a:p xmlns:a="http://schemas.openxmlformats.org/drawingml/2006/main">
            <a:r>
              <a:t>Projektquelle: Documentation/HowTo/SQL_SERVER_2025_AI_OFFLINE_GLOSSARY.md</a:t>
            </a:r>
          </a:p>
          <a:p xmlns:a="http://schemas.openxmlformats.org/drawingml/2006/main">
            <a:r>
              <a:t/>
            </a:r>
          </a:p>
          <a:p xmlns:a="http://schemas.openxmlformats.org/drawingml/2006/main">
            <a:r>
              <a:t>Didaktische Zuordnung: CUR-013 / CUR-016.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Der Beispielsatz auf der Folie ist von der Lehrperson fest vorgegeben. Er ist kein Ergebnis eines hier ausgeführten Modellaufrufs. Frage: Woran würden Sie die Antwort prüfen? Erwartete Antwort: Am aktuellen Dokument 2, Fassung v2, und an der Aussage zur Aufbewahrung. Ein Sprachmodell kann plausiblen Text erzeugen, obwohl nötiger Kontext fehlt. Die Qualität der Formulierung und die Qualität des Belegs werden deshalb getrennt bewertet. Vermeiden Sie den Eindruck, ein Modell hätte automatisch Zugriff auf unsere SQL-Tabellen. Diesen Zugriff vermittelt die Anwendung mit den tatsächlichen Rechten. Übergang: Text wird dabei in Verarbeitungseinheiten aufgeteilt.</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Projektquelle: Documentation/HowTo/SQL_SERVER_2025_AI_OFFLINE_GLOSSARY.md</a:t>
            </a:r>
          </a:p>
          <a:p xmlns:a="http://schemas.openxmlformats.org/drawingml/2006/main">
            <a:r>
              <a:t/>
            </a:r>
          </a:p>
          <a:p xmlns:a="http://schemas.openxmlformats.org/drawingml/2006/main">
            <a:r>
              <a:t>Projektquelle: Documentation/Project_Planning/SQL_SERVER_2025_AI_WORKSTREAM_PLAN.md</a:t>
            </a:r>
          </a:p>
          <a:p xmlns:a="http://schemas.openxmlformats.org/drawingml/2006/main">
            <a:r>
              <a:t/>
            </a:r>
          </a:p>
          <a:p xmlns:a="http://schemas.openxmlformats.org/drawingml/2006/main">
            <a:r>
              <a:t>Didaktische Zuordnung: CUR-013.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Nennen Sie den kurzen Satz MOD_A bewahrt Protokolle sieben Tage auf. Lassen Sie die Gruppe Wörter und Zeichen zählen. Frage: Kennen wir damit bereits seine genaue Tokenzahl? Antwort: Nein, dafür benötigen wir den tatsächlich verwendeten Tokenizer. Geben Sie keine erfundene Tokenzerlegung als Produktresultat aus. Tokens können Modelllimits und Requestkosten beeinflussen. Das später erläuterte SQL-FIXED-Chunking arbeitet dagegen mit Zeichenbereichen. Eine Chunkgröße ist daher kein bewiesenes Modelltokenlimit. Übergang: Die beteiligten Komponenten benötigen unterschiedliche Eingaben und liefern unterschiedliche Ergebnisse.</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SRC-079: AI_GENERATE_CHUNKS</a:t>
            </a:r>
          </a:p>
          <a:p xmlns:a="http://schemas.openxmlformats.org/drawingml/2006/main">
            <a:r>
              <a:t>https://learn.microsoft.com/en-us/sql/t-sql/functions/ai-generate-chunks-transact-sql?view=sql-server-ver17</a:t>
            </a:r>
          </a:p>
          <a:p xmlns:a="http://schemas.openxmlformats.org/drawingml/2006/main">
            <a:r>
              <a:t>Abrufdatum laut Quellenregister: 2026-10-11</a:t>
            </a:r>
          </a:p>
          <a:p xmlns:a="http://schemas.openxmlformats.org/drawingml/2006/main">
            <a:r>
              <a:t/>
            </a:r>
          </a:p>
          <a:p xmlns:a="http://schemas.openxmlformats.org/drawingml/2006/main">
            <a:r>
              <a:t>SRC-087: Generate embeddings with Azure OpenAI</a:t>
            </a:r>
          </a:p>
          <a:p xmlns:a="http://schemas.openxmlformats.org/drawingml/2006/main">
            <a:r>
              <a:t>https://learn.microsoft.com/en-us/azure/foundry/openai/how-to/embeddings</a:t>
            </a:r>
          </a:p>
          <a:p xmlns:a="http://schemas.openxmlformats.org/drawingml/2006/main">
            <a:r>
              <a:t>Abrufdatum laut Quellenregister: 2026-10-11</a:t>
            </a:r>
          </a:p>
          <a:p xmlns:a="http://schemas.openxmlformats.org/drawingml/2006/main">
            <a:r>
              <a:t/>
            </a:r>
          </a:p>
          <a:p xmlns:a="http://schemas.openxmlformats.org/drawingml/2006/main">
            <a:r>
              <a:t>Projektquelle: Documentation/HowTo/SQL_SERVER_2025_AI_OFFLINE_GLOSSARY.md</a:t>
            </a:r>
          </a:p>
          <a:p xmlns:a="http://schemas.openxmlformats.org/drawingml/2006/main">
            <a:r>
              <a:t/>
            </a:r>
          </a:p>
          <a:p xmlns:a="http://schemas.openxmlformats.org/drawingml/2006/main">
            <a:r>
              <a:t>Didaktische Zuordnung: CUR-013 / CUR-015.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Frage: Wer entscheidet, welche SQL-Rows ein Benutzer lesen darf? Antwort: Die tatsächliche Datenbankautorisierung zusammen mit dem festgelegten Anwendungspfad. Das Modell erhält nur den Kontext, den die Anwendung ihm übergibt. Die aktuelle SQL-External-Modeldefinition beschreibt im behandelten Pfad einen Embeddingzugang. Sie hostet nicht automatisch ein allgemeines generatives Chatmodell in der Database Engine. Diese technische Unterscheidung wird in der Vertiefung genauer behandelt. Ein Modell verändert keine Datenbankrechte allein durch seine Ausgabe. Übergang: Für das erste Verständnis können wir diese Komponenten auf einen noch kleineren Offlineversuch reduzieren.</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SRC-080: CREATE EXTERNAL MODEL</a:t>
            </a:r>
          </a:p>
          <a:p xmlns:a="http://schemas.openxmlformats.org/drawingml/2006/main">
            <a:r>
              <a:t>https://learn.microsoft.com/en-us/sql/t-sql/statements/create-external-model-transact-sql?view=sql-server-ver17</a:t>
            </a:r>
          </a:p>
          <a:p xmlns:a="http://schemas.openxmlformats.org/drawingml/2006/main">
            <a:r>
              <a:t>Abrufdatum laut Quellenregister: 2026-10-11</a:t>
            </a:r>
          </a:p>
          <a:p xmlns:a="http://schemas.openxmlformats.org/drawingml/2006/main">
            <a:r>
              <a:t/>
            </a:r>
          </a:p>
          <a:p xmlns:a="http://schemas.openxmlformats.org/drawingml/2006/main">
            <a:r>
              <a:t>SRC-099: SQL Injection</a:t>
            </a:r>
          </a:p>
          <a:p xmlns:a="http://schemas.openxmlformats.org/drawingml/2006/main">
            <a:r>
              <a:t>https://learn.microsoft.com/en-us/sql/relational-databases/security/sql-injection?view=sql-server-ver17</a:t>
            </a:r>
          </a:p>
          <a:p xmlns:a="http://schemas.openxmlformats.org/drawingml/2006/main">
            <a:r>
              <a:t>Abrufdatum laut Quellenregister: 2026-10-11</a:t>
            </a:r>
          </a:p>
          <a:p xmlns:a="http://schemas.openxmlformats.org/drawingml/2006/main">
            <a:r>
              <a:t/>
            </a:r>
          </a:p>
          <a:p xmlns:a="http://schemas.openxmlformats.org/drawingml/2006/main">
            <a:r>
              <a:t>Projektquelle: Documentation/Project_Planning/SQL_SERVER_2025_AI_WORKSTREAM_PLAN.md</a:t>
            </a:r>
          </a:p>
          <a:p xmlns:a="http://schemas.openxmlformats.org/drawingml/2006/main">
            <a:r>
              <a:t/>
            </a:r>
          </a:p>
          <a:p xmlns:a="http://schemas.openxmlformats.org/drawingml/2006/main">
            <a:r>
              <a:t>Didaktische Zuordnung: CUR-013 / CUR-016.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Frage: Brauche ich für diese ersten Beispiele schon ChatGPT, Copilot oder ein Cloudkonto? Antwort: Nein. Die festen T-SQL-Werte und die Distanzberechnung rufen keinen Modellservice auf. Frage: Welchen Teil können wir schon ohne Modellzugang verstehen? Antwort: Datentyp, Distanzberechnung, tabellarische Resultate und die Prüfung eines festen Antwortbelegs. Das ist der bewusst kleine Einstiegspfad. Er belegt keine Sprachmodellqualität und führt keinen Provideraufruf aus. Für Personen ohne laufenden SQL Server können die festen Eingaben und erwarteten Werte zunächst gemeinsam auf den Folien besprochen werden. Die praktische Vorführung benötigt anschließend eine passend vorbereitete Testinstanz mit einem Queryclient. Der vorhandene Demo-Ausführungsleitfaden übernimmt spätere vollständige Demos mit ihren eigenen Verträgen. Übergang: Die häufigste erste Hürde ist die Trennung von Server und Client.</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SRC-072: Vector data type</a:t>
            </a:r>
          </a:p>
          <a:p xmlns:a="http://schemas.openxmlformats.org/drawingml/2006/main">
            <a:r>
              <a:t>https://learn.microsoft.com/en-us/sql/t-sql/data-types/vector-data-type?view=sql-server-ver17</a:t>
            </a:r>
          </a:p>
          <a:p xmlns:a="http://schemas.openxmlformats.org/drawingml/2006/main">
            <a:r>
              <a:t>Abrufdatum laut Quellenregister: 2026-10-11</a:t>
            </a:r>
          </a:p>
          <a:p xmlns:a="http://schemas.openxmlformats.org/drawingml/2006/main">
            <a:r>
              <a:t/>
            </a:r>
          </a:p>
          <a:p xmlns:a="http://schemas.openxmlformats.org/drawingml/2006/main">
            <a:r>
              <a:t>SRC-073: VECTOR_DISTANCE</a:t>
            </a:r>
          </a:p>
          <a:p xmlns:a="http://schemas.openxmlformats.org/drawingml/2006/main">
            <a:r>
              <a:t>https://learn.microsoft.com/en-us/sql/t-sql/functions/vector-distance-transact-sql?view=sql-server-ver17</a:t>
            </a:r>
          </a:p>
          <a:p xmlns:a="http://schemas.openxmlformats.org/drawingml/2006/main">
            <a:r>
              <a:t>Abrufdatum laut Quellenregister: 2026-10-11</a:t>
            </a:r>
          </a:p>
          <a:p xmlns:a="http://schemas.openxmlformats.org/drawingml/2006/main">
            <a:r>
              <a:t/>
            </a:r>
          </a:p>
          <a:p xmlns:a="http://schemas.openxmlformats.org/drawingml/2006/main">
            <a:r>
              <a:t>Projektquelle: Documentation/HowTo/SQL_SERVER_2025_AI_OFFLINE_TRAINER_GUIDE.md</a:t>
            </a:r>
          </a:p>
          <a:p xmlns:a="http://schemas.openxmlformats.org/drawingml/2006/main">
            <a:r>
              <a:t/>
            </a:r>
          </a:p>
          <a:p xmlns:a="http://schemas.openxmlformats.org/drawingml/2006/main">
            <a:r>
              <a:t>Projektquelle: Documentation/HowTo/LOCAL_TEST_ENVIRONMENT.md</a:t>
            </a:r>
          </a:p>
          <a:p xmlns:a="http://schemas.openxmlformats.org/drawingml/2006/main">
            <a:r>
              <a:t/>
            </a:r>
          </a:p>
          <a:p xmlns:a="http://schemas.openxmlformats.org/drawingml/2006/main">
            <a:r>
              <a:t>Didaktische Zuordnung: CUR-013 / CUR-014.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Erklären Sie Engine als das SQL-Server-Programm, das die Query ausführt. Ein Client ist zum Beispiel ein Queryeditor oder sqlcmd. Compatibility Level steuert bestimmte Datenbankverhaltensweisen und ist nicht identisch mit der installierten Engineversion. VECTOR ist laut Microsoft unter allen Compatibility Levels der geeigneten Engine verfügbar. Das vollständige Schulungsprofil verwendet dennoch CL170, unter anderem wegen AI_GENERATE_CHUNKS. Frage: Beweist ein neuer Queryeditor die Verfügbarkeit von VECTOR auf einem älteren Server? Antwort: Nein. Wenn die Engine ungeeignet ist, wird die vorbereitete SQL-2025-Testumgebung benötigt. Es wird hier keine Installation oder Änderung ausgeführt. Übergang: Zwei read-only Abfragen zeigen die getrennten Werte.</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SRC-072: Vector data type</a:t>
            </a:r>
          </a:p>
          <a:p xmlns:a="http://schemas.openxmlformats.org/drawingml/2006/main">
            <a:r>
              <a:t>https://learn.microsoft.com/en-us/sql/t-sql/data-types/vector-data-type?view=sql-server-ver17</a:t>
            </a:r>
          </a:p>
          <a:p xmlns:a="http://schemas.openxmlformats.org/drawingml/2006/main">
            <a:r>
              <a:t>Abrufdatum laut Quellenregister: 2026-10-11</a:t>
            </a:r>
          </a:p>
          <a:p xmlns:a="http://schemas.openxmlformats.org/drawingml/2006/main">
            <a:r>
              <a:t/>
            </a:r>
          </a:p>
          <a:p xmlns:a="http://schemas.openxmlformats.org/drawingml/2006/main">
            <a:r>
              <a:t>SRC-079: AI_GENERATE_CHUNKS</a:t>
            </a:r>
          </a:p>
          <a:p xmlns:a="http://schemas.openxmlformats.org/drawingml/2006/main">
            <a:r>
              <a:t>https://learn.microsoft.com/en-us/sql/t-sql/functions/ai-generate-chunks-transact-sql?view=sql-server-ver17</a:t>
            </a:r>
          </a:p>
          <a:p xmlns:a="http://schemas.openxmlformats.org/drawingml/2006/main">
            <a:r>
              <a:t>Abrufdatum laut Quellenregister: 2026-10-11</a:t>
            </a:r>
          </a:p>
          <a:p xmlns:a="http://schemas.openxmlformats.org/drawingml/2006/main">
            <a:r>
              <a:t/>
            </a:r>
          </a:p>
          <a:p xmlns:a="http://schemas.openxmlformats.org/drawingml/2006/main">
            <a:r>
              <a:t>SRC-089: GitHub Copilot in SSMS overview</a:t>
            </a:r>
          </a:p>
          <a:p xmlns:a="http://schemas.openxmlformats.org/drawingml/2006/main">
            <a:r>
              <a:t>https://learn.microsoft.com/en-us/ssms/github-copilot/overview</a:t>
            </a:r>
          </a:p>
          <a:p xmlns:a="http://schemas.openxmlformats.org/drawingml/2006/main">
            <a:r>
              <a:t>Abrufdatum laut Quellenregister: 2026-10-11</a:t>
            </a:r>
          </a:p>
          <a:p xmlns:a="http://schemas.openxmlformats.org/drawingml/2006/main">
            <a:r>
              <a:t/>
            </a:r>
          </a:p>
          <a:p xmlns:a="http://schemas.openxmlformats.org/drawingml/2006/main">
            <a:r>
              <a:t>Projektquelle: Documentation/Research/SQL_SERVER_2025_AI_FEATURE_MATRIX.md</a:t>
            </a:r>
          </a:p>
          <a:p xmlns:a="http://schemas.openxmlformats.org/drawingml/2006/main">
            <a:r>
              <a:t/>
            </a:r>
          </a:p>
          <a:p xmlns:a="http://schemas.openxmlformats.org/drawingml/2006/main">
            <a:r>
              <a:t>Didaktische Zuordnung: CUR-014 / CUR-016.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Der Code ist read-only. Die angezeigten Werte sind tatsächliche Umgebungswerte eines späteren praktischen Versuchs und werden nicht für diesen Entwurf als gemessen behauptet. Erwartung im vorbereiteten Schulungsprofil: Major17 und CL170. Eine Ausgabe Major16 ist kein SQL Server2025. Eine17.x-Engine kann eine Datenbank mit niedrigerem CL betreiben. Die Abfrage beweist noch nicht Edition, Rechte, verfügbare Komponente, Clienttransport oder die vollständigen Demovoraussetzungen. Frage: Was tun bei einer Abweichung? Antwort: Erst das Ziel und den vorgesehenen Preflight mit der Lehrperson klären. Keine automatische ALTER-Anweisung ergänzen. Den Compatibility-Level-Bezug entnehmen wir SRC079 und dem gewählten Projektprofil. Reale Namen oder Verbindungsdetails werden nicht in Unterlagen übernommen.</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SRC-072: Vector data type</a:t>
            </a:r>
          </a:p>
          <a:p xmlns:a="http://schemas.openxmlformats.org/drawingml/2006/main">
            <a:r>
              <a:t>https://learn.microsoft.com/en-us/sql/t-sql/data-types/vector-data-type?view=sql-server-ver17</a:t>
            </a:r>
          </a:p>
          <a:p xmlns:a="http://schemas.openxmlformats.org/drawingml/2006/main">
            <a:r>
              <a:t>Abrufdatum laut Quellenregister: 2026-10-11</a:t>
            </a:r>
          </a:p>
          <a:p xmlns:a="http://schemas.openxmlformats.org/drawingml/2006/main">
            <a:r>
              <a:t/>
            </a:r>
          </a:p>
          <a:p xmlns:a="http://schemas.openxmlformats.org/drawingml/2006/main">
            <a:r>
              <a:t>SRC-079: AI_GENERATE_CHUNKS</a:t>
            </a:r>
          </a:p>
          <a:p xmlns:a="http://schemas.openxmlformats.org/drawingml/2006/main">
            <a:r>
              <a:t>https://learn.microsoft.com/en-us/sql/t-sql/functions/ai-generate-chunks-transact-sql?view=sql-server-ver17</a:t>
            </a:r>
          </a:p>
          <a:p xmlns:a="http://schemas.openxmlformats.org/drawingml/2006/main">
            <a:r>
              <a:t>Abrufdatum laut Quellenregister: 2026-10-11</a:t>
            </a:r>
          </a:p>
          <a:p xmlns:a="http://schemas.openxmlformats.org/drawingml/2006/main">
            <a:r>
              <a:t/>
            </a:r>
          </a:p>
          <a:p xmlns:a="http://schemas.openxmlformats.org/drawingml/2006/main">
            <a:r>
              <a:t>Projektquelle: Documentation/HowTo/DEMO_EXECUTION_GUIDE.md</a:t>
            </a:r>
          </a:p>
          <a:p xmlns:a="http://schemas.openxmlformats.org/drawingml/2006/main">
            <a:r>
              <a:t/>
            </a:r>
          </a:p>
          <a:p xmlns:a="http://schemas.openxmlformats.org/drawingml/2006/main">
            <a:r>
              <a:t>Projektquelle: Documentation/Research/SQL_SERVER_2025_AI_FEATURE_MATRIX.md</a:t>
            </a:r>
          </a:p>
          <a:p xmlns:a="http://schemas.openxmlformats.org/drawingml/2006/main">
            <a:r>
              <a:t/>
            </a:r>
          </a:p>
          <a:p xmlns:a="http://schemas.openxmlformats.org/drawingml/2006/main">
            <a:r>
              <a:t>Didaktische Zuordnung: CUR-014.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Frage: Benötigt die Person, die eine Query versteht, automatisch dieselben Rechte wie die Person, die das Lab einrichtet? Antwort: Nein. Eigene Demo-Setups können Datenbanken oder Rollen anlegen, während unsere DECLARE-/VALUES-/SELECT-Übung keine solchen Rechte benötigt. Die Lehrperson nutzt den vorhandenen Ausführungsleitfaden und bei fehlender Testinstanz die passende Umgebungsanleitung. Der Container-Quickstart ist für sein dort beschriebenes Szenario qualifiziert und wird nicht pauschal zur Freigabe sämtlicher KI-Pfade erklärt. Ein Berechtigungsfehler wird als Voraussetzung untersucht. Er wird nicht mit einer ungeprüften Rechteerweiterung gelöst. Die praktische Übung erfolgt auf dem vorbereiteten Schulungsziel. Übergang: Nun können wir die festen Zahlen kennenlernen.</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Projektquelle: Documentation/HowTo/LOCAL_TEST_ENVIRONMENT.md</a:t>
            </a:r>
          </a:p>
          <a:p xmlns:a="http://schemas.openxmlformats.org/drawingml/2006/main">
            <a:r>
              <a:t/>
            </a:r>
          </a:p>
          <a:p xmlns:a="http://schemas.openxmlformats.org/drawingml/2006/main">
            <a:r>
              <a:t>Projektquelle: Documentation/HowTo/CONTAINER_QUICKSTART.md</a:t>
            </a:r>
          </a:p>
          <a:p xmlns:a="http://schemas.openxmlformats.org/drawingml/2006/main">
            <a:r>
              <a:t/>
            </a:r>
          </a:p>
          <a:p xmlns:a="http://schemas.openxmlformats.org/drawingml/2006/main">
            <a:r>
              <a:t>Projektquelle: Documentation/HowTo/DEMO_EXECUTION_GUIDE.md</a:t>
            </a:r>
          </a:p>
          <a:p xmlns:a="http://schemas.openxmlformats.org/drawingml/2006/main">
            <a:r>
              <a:t/>
            </a:r>
          </a:p>
          <a:p xmlns:a="http://schemas.openxmlformats.org/drawingml/2006/main">
            <a:r>
              <a:t>Didaktische Zuordnung: CUR-014 / CUR-018.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Zeigen Sie die drei Positionen in [1,0,0], ohne ihnen Wörter oder eine gemessene Sprachbedeutung zuzuweisen. In dieser geometrischen Übung stellen sie Koordinaten dar. Dimension3 bedeutet drei Komponenten. Die Richtung [1,0,0] zeigt entlang einer Achse, [0,1,0] entlang einer anderen und [-1,0,0] in die Gegenrichtung. Alle drei Vektoren sind Nichtnullvektoren mit Länge1. Die Cosine-Distanz wird deshalb an einem besonders einfachen Fall erklärt. Frage: Hat SQL hier Textverständnis erzeugt? Antwort: Nein, wir haben Zahlen vorgegeben und werden Mathematik anwenden. Echte Textembeddings erläutern wir erst nach der Übung.</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SRC-072: Vector data type</a:t>
            </a:r>
          </a:p>
          <a:p xmlns:a="http://schemas.openxmlformats.org/drawingml/2006/main">
            <a:r>
              <a:t>https://learn.microsoft.com/en-us/sql/t-sql/data-types/vector-data-type?view=sql-server-ver17</a:t>
            </a:r>
          </a:p>
          <a:p xmlns:a="http://schemas.openxmlformats.org/drawingml/2006/main">
            <a:r>
              <a:t>Abrufdatum laut Quellenregister: 2026-10-11</a:t>
            </a:r>
          </a:p>
          <a:p xmlns:a="http://schemas.openxmlformats.org/drawingml/2006/main">
            <a:r>
              <a:t/>
            </a:r>
          </a:p>
          <a:p xmlns:a="http://schemas.openxmlformats.org/drawingml/2006/main">
            <a:r>
              <a:t>SRC-073: VECTOR_DISTANCE</a:t>
            </a:r>
          </a:p>
          <a:p xmlns:a="http://schemas.openxmlformats.org/drawingml/2006/main">
            <a:r>
              <a:t>https://learn.microsoft.com/en-us/sql/t-sql/functions/vector-distance-transact-sql?view=sql-server-ver17</a:t>
            </a:r>
          </a:p>
          <a:p xmlns:a="http://schemas.openxmlformats.org/drawingml/2006/main">
            <a:r>
              <a:t>Abrufdatum laut Quellenregister: 2026-10-11</a:t>
            </a:r>
          </a:p>
          <a:p xmlns:a="http://schemas.openxmlformats.org/drawingml/2006/main">
            <a:r>
              <a:t/>
            </a:r>
          </a:p>
          <a:p xmlns:a="http://schemas.openxmlformats.org/drawingml/2006/main">
            <a:r>
              <a:t>Projektquelle: Documentation/HowTo/SQL_SERVER_2025_AI_OFFLINE_GLOSSARY.md</a:t>
            </a:r>
          </a:p>
          <a:p xmlns:a="http://schemas.openxmlformats.org/drawingml/2006/main">
            <a:r>
              <a:t/>
            </a:r>
          </a:p>
          <a:p xmlns:a="http://schemas.openxmlformats.org/drawingml/2006/main">
            <a:r>
              <a:t>Didaktische Zuordnung: CUR-013 / CUR-014.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Lassen Sie zunächst nur die Rangfolge vorhersagen. Erwartete Reihenfolge: Id1, Id2, Id3. Begründen lassen: Gleiche Richtung ist näher als senkrechte und entgegengesetzte Richtung. Die verwendete Distanz ist eins minus Cosine-Ähnlichkeit. Für unsere Nichtnull-Einheitsvektoren sind die Ähnlichkeiten1,0,−1 und die Distanzen deshalb0,1,2. Diese Werte sind mathematische Sollwerte des ausdrücklich konstruierten Falls, kein protokollierter SQL-Lauf. Erklären Sie bei Bedarf die Begriffe senkrecht und Gegenrichtung verbal. Erst die folgende Query zeigt die Zuordnung zum SQL-Ausdruck. Es gibt hier keine realen Dokumentembeddings oder Relevanzurteile.</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SRC-073: VECTOR_DISTANCE</a:t>
            </a:r>
          </a:p>
          <a:p xmlns:a="http://schemas.openxmlformats.org/drawingml/2006/main">
            <a:r>
              <a:t>https://learn.microsoft.com/en-us/sql/t-sql/functions/vector-distance-transact-sql?view=sql-server-ver17</a:t>
            </a:r>
          </a:p>
          <a:p xmlns:a="http://schemas.openxmlformats.org/drawingml/2006/main">
            <a:r>
              <a:t>Abrufdatum laut Quellenregister: 2026-10-11</a:t>
            </a:r>
          </a:p>
          <a:p xmlns:a="http://schemas.openxmlformats.org/drawingml/2006/main">
            <a:r>
              <a:t/>
            </a:r>
          </a:p>
          <a:p xmlns:a="http://schemas.openxmlformats.org/drawingml/2006/main">
            <a:r>
              <a:t>Projektquelle: Documentation/HowTo/SQL_SERVER_2025_AI_OFFLINE_GLOSSARY.md</a:t>
            </a:r>
          </a:p>
          <a:p xmlns:a="http://schemas.openxmlformats.org/drawingml/2006/main">
            <a:r>
              <a:t/>
            </a:r>
          </a:p>
          <a:p xmlns:a="http://schemas.openxmlformats.org/drawingml/2006/main">
            <a:r>
              <a:t>Didaktische Zuordnung: CUR-014.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Vollständiges kopierbares Lehrbeispiel:</a:t>
            </a:r>
          </a:p>
          <a:p xmlns:a="http://schemas.openxmlformats.org/drawingml/2006/main">
            <a:r>
              <a:t>DECLARE @q VECTOR(3) = '[1,0,0]';</a:t>
            </a:r>
          </a:p>
          <a:p xmlns:a="http://schemas.openxmlformats.org/drawingml/2006/main">
            <a:r>
              <a:t>SELECT Id, VECTOR_DISTANCE('cosine', @q, CAST(V AS VECTOR(3))) AS D</a:t>
            </a:r>
          </a:p>
          <a:p xmlns:a="http://schemas.openxmlformats.org/drawingml/2006/main">
            <a:r>
              <a:t>FROM (VALUES (1,'[1,0,0]'),(2,'[0,1,0]'),(3,'[-1,0,0]')) d(Id,V)</a:t>
            </a:r>
          </a:p>
          <a:p xmlns:a="http://schemas.openxmlformats.org/drawingml/2006/main">
            <a:r>
              <a:t>ORDER BY D, Id;</a:t>
            </a:r>
          </a:p>
          <a:p xmlns:a="http://schemas.openxmlformats.org/drawingml/2006/main">
            <a:r>
              <a:t/>
            </a:r>
          </a:p>
          <a:p xmlns:a="http://schemas.openxmlformats.org/drawingml/2006/main">
            <a:r>
              <a:t>Diese Query legt keine Tabelle an, schreibt keine Daten und ruft kein Modell auf. Die angeleitete Vorführung setzt die vorbereitete Engine 17.x voraus. Frage: Welche Zahl ist der Fragevektor? Antwort: @q. Welche Werte werden verglichen? Antwort: Die drei ausdrücklich angegebenen V-Zeichenfolgen nach der Konvertierung zu VECTOR(3). Die Funktion berechnet für jede Row eine exakte Distanz. ORDER BY D,Id legt die Reihenfolge fest und löst gleiche Distanzwerte nach Id auf. VECTOR_DISTANCE nutzt dafür keinen Vector Index. Die resultierenden Sollwerte stehen auf der nächsten Folie. Diese angeleitete Vorführung ist ein didaktischer read-only Ausdruck, keine neue katalogisierte Demo, keine bewertete Arbeitsheftaufgabe und keine zusätzliche Runtimefreigabe. Es gibt hierfür keine neue Rubrik. Die bestehenden bewerteten Aufgaben, Trainerlösungen und Bewertungsrubrik bleiben ausschließlich im Arbeitsheft.</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SRC-072: Vector data type</a:t>
            </a:r>
          </a:p>
          <a:p xmlns:a="http://schemas.openxmlformats.org/drawingml/2006/main">
            <a:r>
              <a:t>https://learn.microsoft.com/en-us/sql/t-sql/data-types/vector-data-type?view=sql-server-ver17</a:t>
            </a:r>
          </a:p>
          <a:p xmlns:a="http://schemas.openxmlformats.org/drawingml/2006/main">
            <a:r>
              <a:t>Abrufdatum laut Quellenregister: 2026-10-11</a:t>
            </a:r>
          </a:p>
          <a:p xmlns:a="http://schemas.openxmlformats.org/drawingml/2006/main">
            <a:r>
              <a:t/>
            </a:r>
          </a:p>
          <a:p xmlns:a="http://schemas.openxmlformats.org/drawingml/2006/main">
            <a:r>
              <a:t>SRC-073: VECTOR_DISTANCE</a:t>
            </a:r>
          </a:p>
          <a:p xmlns:a="http://schemas.openxmlformats.org/drawingml/2006/main">
            <a:r>
              <a:t>https://learn.microsoft.com/en-us/sql/t-sql/functions/vector-distance-transact-sql?view=sql-server-ver17</a:t>
            </a:r>
          </a:p>
          <a:p xmlns:a="http://schemas.openxmlformats.org/drawingml/2006/main">
            <a:r>
              <a:t>Abrufdatum laut Quellenregister: 2026-10-11</a:t>
            </a:r>
          </a:p>
          <a:p xmlns:a="http://schemas.openxmlformats.org/drawingml/2006/main">
            <a:r>
              <a:t/>
            </a:r>
          </a:p>
          <a:p xmlns:a="http://schemas.openxmlformats.org/drawingml/2006/main">
            <a:r>
              <a:t>Projektquelle: Documentation/HowTo/SQL_SERVER_2025_AI_OFFLINE_GLOSSARY.md</a:t>
            </a:r>
          </a:p>
          <a:p xmlns:a="http://schemas.openxmlformats.org/drawingml/2006/main">
            <a:r>
              <a:t/>
            </a:r>
          </a:p>
          <a:p xmlns:a="http://schemas.openxmlformats.org/drawingml/2006/main">
            <a:r>
              <a:t>Didaktische Zuordnung: CUR-014.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Frage: Was bedeutet der erste Treffer? Antwort: Id1 ist unter der gewählten Metric und den vorgegebenen Zahlen am nächsten. Frage: Bedeutet Distanz0, dass ein Antworttext mit100Prozent Wahrscheinlichkeit wahr ist? Antwort: Nein. Die Distanz bezieht sich auf Zahlen im gewählten Raum und ist keine Antwortwahrscheinlichkeit. Die mathematischen Sollwerte0,1,2 sind direkt aus den drei Einheitsvektoren hergeleitet, keine erhobene Runtimeevidenz. Bei einem praktischen Lauf erst tatsächliche Rows und die sichtbare numerische Darstellung lesen. Sehr kleine Rundungsabweichungen werden begründet eingeordnet und dürfen keine geänderten Kandidaten oder andere Metric verbergen. Übergang: Für Textsuche muss noch erklärt werden, wo geeignete Zahlen überhaupt herkommen.</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SRC-073: VECTOR_DISTANCE</a:t>
            </a:r>
          </a:p>
          <a:p xmlns:a="http://schemas.openxmlformats.org/drawingml/2006/main">
            <a:r>
              <a:t>https://learn.microsoft.com/en-us/sql/t-sql/functions/vector-distance-transact-sql?view=sql-server-ver17</a:t>
            </a:r>
          </a:p>
          <a:p xmlns:a="http://schemas.openxmlformats.org/drawingml/2006/main">
            <a:r>
              <a:t>Abrufdatum laut Quellenregister: 2026-10-11</a:t>
            </a:r>
          </a:p>
          <a:p xmlns:a="http://schemas.openxmlformats.org/drawingml/2006/main">
            <a:r>
              <a:t/>
            </a:r>
          </a:p>
          <a:p xmlns:a="http://schemas.openxmlformats.org/drawingml/2006/main">
            <a:r>
              <a:t>Projektquelle: Documentation/HowTo/SQL_SERVER_2025_AI_OFFLINE_GLOSSARY.md</a:t>
            </a:r>
          </a:p>
          <a:p xmlns:a="http://schemas.openxmlformats.org/drawingml/2006/main">
            <a:r>
              <a:t/>
            </a:r>
          </a:p>
          <a:p xmlns:a="http://schemas.openxmlformats.org/drawingml/2006/main">
            <a:r>
              <a:t>Didaktische Zuordnung: CUR-014.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Embedding bedeutet hier eine modellabhängige numerische Repräsentation von Text. Rückbezug zur Frage Wann verschwinden die Logeinträge: Ein geeignetes Textmodell könnte unterschiedliche Formulierungen nahe abbilden. Das ist eine zu bewertende Anwendungsidee, kein in dieser Einführung gemessenes Ergebnis. Die Frage und die Quellen müssen zum selben geeigneten Modellraum gehören. Gleiche Dimensionszahl allein genügt nicht. Modellversion, Dimension und Normalisierung werden bei gespeicherten Embeddings nachvollziehbar gehalten. Jede Koordinate ist nicht einfach einem verständlichen Wort zuzuordnen. Das Suchmodell und ein Modell zur Antwortformulierung können unterschiedliche Komponenten sein. Übergang: Der echte Modellpfad bringt zusätzliche praktische Hürden mit sich.</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SRC-087: Generate embeddings with Azure OpenAI</a:t>
            </a:r>
          </a:p>
          <a:p xmlns:a="http://schemas.openxmlformats.org/drawingml/2006/main">
            <a:r>
              <a:t>https://learn.microsoft.com/en-us/azure/foundry/openai/how-to/embeddings</a:t>
            </a:r>
          </a:p>
          <a:p xmlns:a="http://schemas.openxmlformats.org/drawingml/2006/main">
            <a:r>
              <a:t>Abrufdatum laut Quellenregister: 2026-10-11</a:t>
            </a:r>
          </a:p>
          <a:p xmlns:a="http://schemas.openxmlformats.org/drawingml/2006/main">
            <a:r>
              <a:t/>
            </a:r>
          </a:p>
          <a:p xmlns:a="http://schemas.openxmlformats.org/drawingml/2006/main">
            <a:r>
              <a:t>Projektquelle: Documentation/HowTo/SQL_SERVER_2025_AI_OFFLINE_GLOSSARY.md</a:t>
            </a:r>
          </a:p>
          <a:p xmlns:a="http://schemas.openxmlformats.org/drawingml/2006/main">
            <a:r>
              <a:t/>
            </a:r>
          </a:p>
          <a:p xmlns:a="http://schemas.openxmlformats.org/drawingml/2006/main">
            <a:r>
              <a:t>Projektquelle: Documentation/Project_Planning/SQL_SERVER_2025_AI_WORKSTREAM_PLAN.md</a:t>
            </a:r>
          </a:p>
          <a:p xmlns:a="http://schemas.openxmlformats.org/drawingml/2006/main">
            <a:r>
              <a:t/>
            </a:r>
          </a:p>
          <a:p xmlns:a="http://schemas.openxmlformats.org/drawingml/2006/main">
            <a:r>
              <a:t>Didaktische Zuordnung: CUR-013 / CUR-016.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Ein Provider ist der Dienst, der das vorbereitete Modell ausführt. Im direkten SQL-External-Modelpfad verlangt Microsoft einen HTTPS-Endpunkt mit TLS, einem Verfahren für verschlüsselten Transport. Diese Prüfung ist mehr als die Frage, ob ein Dienst im Browser antwortet. Bei Containern bezeichnet localhost den jeweiligen Ausführungskontext. Rechte für Modellnutzung bleiben von Einrichtungs- und Credentialrechten getrennt. Ein lokal laufendes Modell benötigt ebenfalls Prüfung von Modelllizenz, Ressourcen und Eingaben. Das bedeutet nicht, dass sämtliche Daten automatisch das Gerät verlassen. Der jeweilige Datenfluss entscheidet. Kostenangaben, Retention und Verarbeitung unterscheiden sich nach Modell und Dienst. Es gibt keine allgemeine Nullkosten- oder Datenschutzgarantie. Diese Folie erklärt einen späteren Pfad und startet keinen Modellcall, keine Cloudbereitstellung und keine Instanzaktivierung. Bei fehlenden Voraussetzungen bleiben wir beim Offlineeinstieg. Frage: Welche dieser Hürden entfällt in unserer festen Zahlenübung? Antwort: Ein Modellrequest und dessen Providerkonfiguration sind dort nicht beteiligt.</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SRC-080: CREATE EXTERNAL MODEL</a:t>
            </a:r>
          </a:p>
          <a:p xmlns:a="http://schemas.openxmlformats.org/drawingml/2006/main">
            <a:r>
              <a:t>https://learn.microsoft.com/en-us/sql/t-sql/statements/create-external-model-transact-sql?view=sql-server-ver17</a:t>
            </a:r>
          </a:p>
          <a:p xmlns:a="http://schemas.openxmlformats.org/drawingml/2006/main">
            <a:r>
              <a:t>Abrufdatum laut Quellenregister: 2026-10-11</a:t>
            </a:r>
          </a:p>
          <a:p xmlns:a="http://schemas.openxmlformats.org/drawingml/2006/main">
            <a:r>
              <a:t/>
            </a:r>
          </a:p>
          <a:p xmlns:a="http://schemas.openxmlformats.org/drawingml/2006/main">
            <a:r>
              <a:t>SRC-082: sp_invoke_external_rest_endpoint</a:t>
            </a:r>
          </a:p>
          <a:p xmlns:a="http://schemas.openxmlformats.org/drawingml/2006/main">
            <a:r>
              <a:t>https://learn.microsoft.com/en-us/sql/relational-databases/system-stored-procedures/sp-invoke-external-rest-endpoint-transact-sql?view=sql-server-ver17</a:t>
            </a:r>
          </a:p>
          <a:p xmlns:a="http://schemas.openxmlformats.org/drawingml/2006/main">
            <a:r>
              <a:t>Abrufdatum laut Quellenregister: 2026-10-11</a:t>
            </a:r>
          </a:p>
          <a:p xmlns:a="http://schemas.openxmlformats.org/drawingml/2006/main">
            <a:r>
              <a:t/>
            </a:r>
          </a:p>
          <a:p xmlns:a="http://schemas.openxmlformats.org/drawingml/2006/main">
            <a:r>
              <a:t>SRC-088: Foundry Models data privacy</a:t>
            </a:r>
          </a:p>
          <a:p xmlns:a="http://schemas.openxmlformats.org/drawingml/2006/main">
            <a:r>
              <a:t>https://learn.microsoft.com/en-us/azure/foundry/responsible-ai/openai/data-privacy</a:t>
            </a:r>
          </a:p>
          <a:p xmlns:a="http://schemas.openxmlformats.org/drawingml/2006/main">
            <a:r>
              <a:t>Abrufdatum laut Quellenregister: 2026-10-11</a:t>
            </a:r>
          </a:p>
          <a:p xmlns:a="http://schemas.openxmlformats.org/drawingml/2006/main">
            <a:r>
              <a:t/>
            </a:r>
          </a:p>
          <a:p xmlns:a="http://schemas.openxmlformats.org/drawingml/2006/main">
            <a:r>
              <a:t>Projektquelle: Documentation/HowTo/SQL_SERVER_2025_AI_MODEL_PATHS.md</a:t>
            </a:r>
          </a:p>
          <a:p xmlns:a="http://schemas.openxmlformats.org/drawingml/2006/main">
            <a:r>
              <a:t/>
            </a:r>
          </a:p>
          <a:p xmlns:a="http://schemas.openxmlformats.org/drawingml/2006/main">
            <a:r>
              <a:t>Projektquelle: Documentation/Research/SQL_SERVER_2025_AI_FEATURE_MATRIX.md</a:t>
            </a:r>
          </a:p>
          <a:p xmlns:a="http://schemas.openxmlformats.org/drawingml/2006/main">
            <a:r>
              <a:t/>
            </a:r>
          </a:p>
          <a:p xmlns:a="http://schemas.openxmlformats.org/drawingml/2006/main">
            <a:r>
              <a:t>Didaktische Zuordnung: CUR-016 / CUR-018.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Für den kurzen Einstiegssatz kann der gesamte Satz ein Textbereich sein. Bei längeren Dokumenten entstehen mehrere Chunks. Provenienz bedeutet nachvollziehbare Herkunft und Verarbeitung. Dazu gehören Dokumentkennung, Fassung, Reihenfolge, Anfang und Länge des Bereichs. Diese Felder werden in den anschließenden Demos konkret untersucht. Die SQL-Funktion AI_GENERATE_CHUNKS benötigt mindestens Compatibility Level170. Ihr FIXED-Verfahren verwendet Zeichenbereiche und ist kein Modelltokenizer. Frage: Was verlieren wir, wenn wir nur den Satz und seine Zahlenliste speichern? Antwort: Die Verbindung zur überprüfbaren Quelle und ihrer aktuellen Fassung. Übergang: Ein solcher erlaubter Quellenausschnitt kann Kontext für einen Antwortentwurf bilden.</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SRC-079: AI_GENERATE_CHUNKS</a:t>
            </a:r>
          </a:p>
          <a:p xmlns:a="http://schemas.openxmlformats.org/drawingml/2006/main">
            <a:r>
              <a:t>https://learn.microsoft.com/en-us/sql/t-sql/functions/ai-generate-chunks-transact-sql?view=sql-server-ver17</a:t>
            </a:r>
          </a:p>
          <a:p xmlns:a="http://schemas.openxmlformats.org/drawingml/2006/main">
            <a:r>
              <a:t>Abrufdatum laut Quellenregister: 2026-10-11</a:t>
            </a:r>
          </a:p>
          <a:p xmlns:a="http://schemas.openxmlformats.org/drawingml/2006/main">
            <a:r>
              <a:t/>
            </a:r>
          </a:p>
          <a:p xmlns:a="http://schemas.openxmlformats.org/drawingml/2006/main">
            <a:r>
              <a:t>Projektquelle: Documentation/Project_Planning/SQL_SERVER_2025_AI_WORKSTREAM_PLAN.md</a:t>
            </a:r>
          </a:p>
          <a:p xmlns:a="http://schemas.openxmlformats.org/drawingml/2006/main">
            <a:r>
              <a:t/>
            </a:r>
          </a:p>
          <a:p xmlns:a="http://schemas.openxmlformats.org/drawingml/2006/main">
            <a:r>
              <a:t>Didaktische Zuordnung: CUR-015 / CUR-017.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RAG bezeichnet die Verbindung von abgerufenem Kontext und generativer Antwort. Retrieval heißt hier das Suchen und Bereitstellen von Quellen. Die Architektur wurde bereits mit den getrennten Rollen vorbereitet. Frage: Trainieren wir das Modell mit jeder neuen Frage automatisch neu? Antwort: Nein, die Anwendung kann dem vorbereiteten Modell neuen Kontext bereitstellen. Sie muss dabei sowohl Zugriffsrechte als auch Quellenstand beachten. Ein erlaubter Text allein stützt noch nicht jeden erzeugten Satz. Der kurze folgende Fall arbeitet mit ausdrücklich vorgegebenen Antworten, damit die Gruppe die Belegentscheidung gemeinsam prüfen kann. Das ist ein Offline-Kontrollfall und keine Livegeneration. Übergang: Wir lesen Frage, Quelle und Antwort nebeneinander.</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Projektquelle: Documentation/HowTo/SQL_SERVER_2025_AI_OFFLINE_GLOSSARY.md</a:t>
            </a:r>
          </a:p>
          <a:p xmlns:a="http://schemas.openxmlformats.org/drawingml/2006/main">
            <a:r>
              <a:t/>
            </a:r>
          </a:p>
          <a:p xmlns:a="http://schemas.openxmlformats.org/drawingml/2006/main">
            <a:r>
              <a:t>Projektquelle: Documentation/Project_Planning/SQL_SERVER_2025_AI_WORKSTREAM_PLAN.md</a:t>
            </a:r>
          </a:p>
          <a:p xmlns:a="http://schemas.openxmlformats.org/drawingml/2006/main">
            <a:r>
              <a:t/>
            </a:r>
          </a:p>
          <a:p xmlns:a="http://schemas.openxmlformats.org/drawingml/2006/main">
            <a:r>
              <a:t>Didaktische Zuordnung: CUR-017.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Lassen Sie die Gruppe die Antwort freigeben oder zurückweisen und die Entscheidung an einem sichtbaren Beleg festmachen. Erwartete Entscheidung für diesen festen Lehrfall: Die Fristaussage ist durch die aktuelle erlaubte Quelle gestützt. Frage: Welche zusätzliche Behauptung wäre noch nicht belegt? Antwort: Eine Begründung, warum die Frist sieben Tage beträgt. Unser Dokument nennt keinen Grund. Die Existenz einer Dokumentkennung genügt nicht, wenn der zitierte Satz außerhalb des tatsächlich gelieferten Kontexts liegt. Der Antwortentwurf ist hier vorgegeben und nicht mit einem Modell erzeugt. Übergang: Jetzt prüfen wir dieselbe Regel an einer falschen und an einer unbeantwortbaren Frage.</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Projektquelle: Documentation/HowTo/SQL_SERVER_2025_AI_OFFLINE_WORKBOOK.md</a:t>
            </a:r>
          </a:p>
          <a:p xmlns:a="http://schemas.openxmlformats.org/drawingml/2006/main">
            <a:r>
              <a:t/>
            </a:r>
          </a:p>
          <a:p xmlns:a="http://schemas.openxmlformats.org/drawingml/2006/main">
            <a:r>
              <a:t>Projektquelle: Documentation/Project_Planning/SQL_SERVER_2025_AI_WORKSTREAM_PLAN.md</a:t>
            </a:r>
          </a:p>
          <a:p xmlns:a="http://schemas.openxmlformats.org/drawingml/2006/main">
            <a:r>
              <a:t/>
            </a:r>
          </a:p>
          <a:p xmlns:a="http://schemas.openxmlformats.org/drawingml/2006/main">
            <a:r>
              <a:t>Didaktische Zuordnung: CUR-017.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Geben Sie dieselbe aktuelle Quelle aus Dokument2 vor. Erst die falsche14-Tage-Antwort besprechen. Frage: Reicht eine korrekte Quellenkennung für diese Antwort? Antwort: Nein, ihr Inhalt widerspricht dem Quelleninhalt. Danach die Warum-Frage behandeln. Der passende feste Nichtantworttext lautet: Die aktuelle Anleitung nennt sieben Tage, erklärt den Grund aber nicht. Die Gruppe soll zwischen falscher Antwort und fehlender Information unterscheiden. Eine leere Ausgabe allein erklärt keine dieser Situationen. Eine begründete Nichtantwort macht die fehlende Evidenz sichtbar. Diese Lehrfälle greifen die späteren Offline-RAG-Kontrollen auf, ersetzen aber deren vollständigen Ergebnisvertrag nicht. Übergang: Mit diesen Kriterien können wir nun die konkreten SQL-Demos verstehen.</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Projektquelle: Documentation/HowTo/SQL_SERVER_2025_AI_OFFLINE_WORKBOOK.md</a:t>
            </a:r>
          </a:p>
          <a:p xmlns:a="http://schemas.openxmlformats.org/drawingml/2006/main">
            <a:r>
              <a:t/>
            </a:r>
          </a:p>
          <a:p xmlns:a="http://schemas.openxmlformats.org/drawingml/2006/main">
            <a:r>
              <a:t>Projektquelle: Documentation/HowTo/SQL_SERVER_2025_AI_OFFLINE_TRAINER_GUIDE.md</a:t>
            </a:r>
          </a:p>
          <a:p xmlns:a="http://schemas.openxmlformats.org/drawingml/2006/main">
            <a:r>
              <a:t/>
            </a:r>
          </a:p>
          <a:p xmlns:a="http://schemas.openxmlformats.org/drawingml/2006/main">
            <a:r>
              <a:t>Didaktische Zuordnung: CUR-017 / CUR-022.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Kurzer Verständnischeck vor dem Übergang: Woher stammen unsere ersten drei Vektoren? Antwort: Aus ausdrücklich gesetzten Geometriewerten. Was liefert ein echtes Embedding-Modell? Antwort: Eine modellabhängige numerische Repräsentation der Eingabe. Was prüft unsere sieben-Tage-Antwort? Antwort: Eine konkrete aktuelle Quellenstelle im erlaubten Kontext. Was tun wir bei fehlendem Modellzugang? Antwort: Den lokalen Offlinepfad und seine begrenzten Lernziele nutzen. Die folgenden vorhandenen Folien führen die konkreten Demo-IDs, Voraussetzungen, Ergebnisverträge und offenen Vertiefungspfade ein. Keine zusätzlichen Modell-, Cloud- oder Hosteffekte aus den Einführungscodebeispielen ableiten. Lehrperson fragt vor dem Demostart nach tatsächlichem Ziel, Preflight und dokumentiertem Cleanup. Lehrzeiten und Lernwirksamkeit dieser neuen Einsteigerfolge sind noch nicht erprobt.</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Projektquelle: Documentation/HowTo/SQL_SERVER_2025_AI_OFFLINE_TRAINER_GUIDE.md</a:t>
            </a:r>
          </a:p>
          <a:p xmlns:a="http://schemas.openxmlformats.org/drawingml/2006/main">
            <a:r>
              <a:t/>
            </a:r>
          </a:p>
          <a:p xmlns:a="http://schemas.openxmlformats.org/drawingml/2006/main">
            <a:r>
              <a:t>Projektquelle: Documentation/HowTo/DEMO_EXECUTION_GUIDE.md</a:t>
            </a:r>
          </a:p>
          <a:p xmlns:a="http://schemas.openxmlformats.org/drawingml/2006/main">
            <a:r>
              <a:t/>
            </a:r>
          </a:p>
          <a:p xmlns:a="http://schemas.openxmlformats.org/drawingml/2006/main">
            <a:r>
              <a:t>Didaktische Zuordnung: CUR-013 / CUR-014 / CUR-017 / CUR-018.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Machine Learning bezeichnet Verfahren, die Muster aus Trainingsdaten lernen. Ein Large Language Model ist ein Sprachmodell, dessen generative Verwendung neue Textfolgen erzeugt. Tokens sind die vom Modell verarbeiteten Einheiten. Sie können Teile eines Wortes, Zeichen oder andere vom Tokenizer definierte Einheiten sein. Zeichenzahl und Tokenzahl sind deshalb verschieden. Ein Embedding-Modell ordnet Eingaben einem numerischen Raum zu. Lassen Sie die Gruppe erklären, welches Ergebnis SQL deterministisch liefert und welche zusätzliche Unsicherheit eine generative Antwort einführt. Kein Modellschritt garantiert fachlich richtige Antworten. Das Lernziel ist eine begründete Auswahl und Prüfung des jeweiligen Pfads. Bei fehlendem Vorwissen werden SQL-Parameter und eingeschränkte Rollen am synthetischen Fall erläutert.</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SRC-072: Vector data type</a:t>
            </a:r>
          </a:p>
          <a:p xmlns:a="http://schemas.openxmlformats.org/drawingml/2006/main">
            <a:r>
              <a:t>https://learn.microsoft.com/en-us/sql/t-sql/data-types/vector-data-type?view=sql-server-ver17</a:t>
            </a:r>
          </a:p>
          <a:p xmlns:a="http://schemas.openxmlformats.org/drawingml/2006/main">
            <a:r>
              <a:t>Abrufdatum laut Quellenregister: 2026-10-11</a:t>
            </a:r>
          </a:p>
          <a:p xmlns:a="http://schemas.openxmlformats.org/drawingml/2006/main">
            <a:r>
              <a:t/>
            </a:r>
          </a:p>
          <a:p xmlns:a="http://schemas.openxmlformats.org/drawingml/2006/main">
            <a:r>
              <a:t>SRC-087: Generate embeddings with Azure OpenAI</a:t>
            </a:r>
          </a:p>
          <a:p xmlns:a="http://schemas.openxmlformats.org/drawingml/2006/main">
            <a:r>
              <a:t>https://learn.microsoft.com/en-us/azure/foundry/openai/how-to/embeddings</a:t>
            </a:r>
          </a:p>
          <a:p xmlns:a="http://schemas.openxmlformats.org/drawingml/2006/main">
            <a:r>
              <a:t>Abrufdatum laut Quellenregister: 2026-10-11</a:t>
            </a:r>
          </a:p>
          <a:p xmlns:a="http://schemas.openxmlformats.org/drawingml/2006/main">
            <a:r>
              <a:t/>
            </a:r>
          </a:p>
          <a:p xmlns:a="http://schemas.openxmlformats.org/drawingml/2006/main">
            <a:r>
              <a:t>SRC-095: Retrieval-Augmented Generation for Knowledge-Intensive NLP Tasks</a:t>
            </a:r>
          </a:p>
          <a:p xmlns:a="http://schemas.openxmlformats.org/drawingml/2006/main">
            <a:r>
              <a:t>https://papers.nips.cc/paper_files/paper/2020/hash/6b493230205f780e1bc26945df7481e5-Abstract.html</a:t>
            </a:r>
          </a:p>
          <a:p xmlns:a="http://schemas.openxmlformats.org/drawingml/2006/main">
            <a:r>
              <a:t>Abrufdatum laut Quellenregister: 2026-10-11</a:t>
            </a:r>
          </a:p>
          <a:p xmlns:a="http://schemas.openxmlformats.org/drawingml/2006/main">
            <a:r>
              <a:t/>
            </a:r>
          </a:p>
          <a:p xmlns:a="http://schemas.openxmlformats.org/drawingml/2006/main">
            <a:r>
              <a:t>Projektquelle: Documentation/Curriculum/TRACEABILITY_MATRIX.md</a:t>
            </a:r>
          </a:p>
          <a:p xmlns:a="http://schemas.openxmlformats.org/drawingml/2006/main">
            <a:r>
              <a:t/>
            </a:r>
          </a:p>
          <a:p xmlns:a="http://schemas.openxmlformats.org/drawingml/2006/main">
            <a:r>
              <a:t>Didaktische Zuordnung: CUR-013–CUR-022.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Der neue Grundlagenblock ist der gemeinsame Einstieg. Die Fachmodule sind zusätzliches Material, das die Lehrperson abhängig von Zielgruppe und verfügbarer Zeit auswählt. Die alten Planwerte von150/390/640 Minuten beschreiben keine gemessene Dauer dieses erweiterten Decks. Installation, Downloads, Fragen und Übungen benötigen zusätzliche Zeit. Es ist nicht vorgesehen, alle Folien unverändert in eine kurze BASIS-Einheit zu pressen. STANDARD ergänzt den zusammenhängenden Offlinepfad. VERTIEFUNG behandelt offene Performance-, Provider- und Betriebsfragen als eigenständige Aufgaben mit ihren Gates. Kursdauer und Lernwirksamkeit müssen erst in einer Generalprobe ermittelt werden.</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Projektquelle: Documentation/Project_Planning/SQL_SERVER_2025_AI_WORKSTREAM_PLAN.md</a:t>
            </a:r>
          </a:p>
          <a:p xmlns:a="http://schemas.openxmlformats.org/drawingml/2006/main">
            <a:r>
              <a:t/>
            </a:r>
          </a:p>
          <a:p xmlns:a="http://schemas.openxmlformats.org/drawingml/2006/main">
            <a:r>
              <a:t>Didaktische Zuordnung: CUR-013–CUR-022.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Erklären Sie den Ablauf an einer synthetischen technischen Frage. Ingestion läuft vor der Suche: Dokumentversion importieren, Chunks erzeugen, Embeddings prüfen und speichern. Zur Suchzeit kommen Frageembedding und authentifizierter Tenant hinzu. Der Retrievalpfad liefert ausschließlich erlaubte Quellen. Die Anwendung prüft diese Quellen und stellt einen begrenzten Kontext zusammen. Die generative Stufe liegt in der Anwendung. Ein SQL External Model mit MODEL_TYPE=EMBEDDINGS ist kein allgemeines Chatmodell im Database Engine Prozess.</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SRC-079: AI_GENERATE_CHUNKS</a:t>
            </a:r>
          </a:p>
          <a:p xmlns:a="http://schemas.openxmlformats.org/drawingml/2006/main">
            <a:r>
              <a:t>https://learn.microsoft.com/en-us/sql/t-sql/functions/ai-generate-chunks-transact-sql?view=sql-server-ver17</a:t>
            </a:r>
          </a:p>
          <a:p xmlns:a="http://schemas.openxmlformats.org/drawingml/2006/main">
            <a:r>
              <a:t>Abrufdatum laut Quellenregister: 2026-10-11</a:t>
            </a:r>
          </a:p>
          <a:p xmlns:a="http://schemas.openxmlformats.org/drawingml/2006/main">
            <a:r>
              <a:t/>
            </a:r>
          </a:p>
          <a:p xmlns:a="http://schemas.openxmlformats.org/drawingml/2006/main">
            <a:r>
              <a:t>SRC-080: CREATE EXTERNAL MODEL</a:t>
            </a:r>
          </a:p>
          <a:p xmlns:a="http://schemas.openxmlformats.org/drawingml/2006/main">
            <a:r>
              <a:t>https://learn.microsoft.com/en-us/sql/t-sql/statements/create-external-model-transact-sql?view=sql-server-ver17</a:t>
            </a:r>
          </a:p>
          <a:p xmlns:a="http://schemas.openxmlformats.org/drawingml/2006/main">
            <a:r>
              <a:t>Abrufdatum laut Quellenregister: 2026-10-11</a:t>
            </a:r>
          </a:p>
          <a:p xmlns:a="http://schemas.openxmlformats.org/drawingml/2006/main">
            <a:r>
              <a:t/>
            </a:r>
          </a:p>
          <a:p xmlns:a="http://schemas.openxmlformats.org/drawingml/2006/main">
            <a:r>
              <a:t>SRC-081: AI_GENERATE_EMBEDDINGS</a:t>
            </a:r>
          </a:p>
          <a:p xmlns:a="http://schemas.openxmlformats.org/drawingml/2006/main">
            <a:r>
              <a:t>https://learn.microsoft.com/en-us/sql/t-sql/functions/ai-generate-embeddings-transact-sql?view=sql-server-ver17</a:t>
            </a:r>
          </a:p>
          <a:p xmlns:a="http://schemas.openxmlformats.org/drawingml/2006/main">
            <a:r>
              <a:t>Abrufdatum laut Quellenregister: 2026-10-11</a:t>
            </a:r>
          </a:p>
          <a:p xmlns:a="http://schemas.openxmlformats.org/drawingml/2006/main">
            <a:r>
              <a:t/>
            </a:r>
          </a:p>
          <a:p xmlns:a="http://schemas.openxmlformats.org/drawingml/2006/main">
            <a:r>
              <a:t>SRC-095: Retrieval-Augmented Generation for Knowledge-Intensive NLP Tasks</a:t>
            </a:r>
          </a:p>
          <a:p xmlns:a="http://schemas.openxmlformats.org/drawingml/2006/main">
            <a:r>
              <a:t>https://papers.nips.cc/paper_files/paper/2020/hash/6b493230205f780e1bc26945df7481e5-Abstract.html</a:t>
            </a:r>
          </a:p>
          <a:p xmlns:a="http://schemas.openxmlformats.org/drawingml/2006/main">
            <a:r>
              <a:t>Abrufdatum laut Quellenregister: 2026-10-11</a:t>
            </a:r>
          </a:p>
          <a:p xmlns:a="http://schemas.openxmlformats.org/drawingml/2006/main">
            <a:r>
              <a:t/>
            </a:r>
          </a:p>
          <a:p xmlns:a="http://schemas.openxmlformats.org/drawingml/2006/main">
            <a:r>
              <a:t>Projektquelle: Documentation/Project_Planning/SQL_SERVER_2025_AI_WORKSTREAM_PLAN.md</a:t>
            </a:r>
          </a:p>
          <a:p xmlns:a="http://schemas.openxmlformats.org/drawingml/2006/main">
            <a:r>
              <a:t/>
            </a:r>
          </a:p>
          <a:p xmlns:a="http://schemas.openxmlformats.org/drawingml/2006/main">
            <a:r>
              <a:t>Didaktische Zuordnung: CUR-013 / CUR-016 / CUR-017.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Engineversion und Compatibility Level sind getrennte Eigenschaften. Der gewählte Workstream verwendet CL170, selbst wenn eine einzelne Funktion kein solches Minimum dokumentiert. SQL Server 2022 besitzt die hier besprochenen nativen VECTOR-/AI-Funktionen nicht. Clientassistenz kann dagegen auch mit älteren Engines arbeiten. Die lokale Offlinequalifikation betrifft Linux/Docker und ergänzend Podman. Andere Editionen und Windows werden daraus nicht abgeleitet. float16 und ANN (Approximate Nearest Neighbor; näherungsweise Suche nach ähnlichen Vektoren) bleiben Preview. Azure-spezifische Syntax wird nicht ungeprüft auf SQL Server übertragen.</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SRC-072: Vector data type</a:t>
            </a:r>
          </a:p>
          <a:p xmlns:a="http://schemas.openxmlformats.org/drawingml/2006/main">
            <a:r>
              <a:t>https://learn.microsoft.com/en-us/sql/t-sql/data-types/vector-data-type?view=sql-server-ver17</a:t>
            </a:r>
          </a:p>
          <a:p xmlns:a="http://schemas.openxmlformats.org/drawingml/2006/main">
            <a:r>
              <a:t>Abrufdatum laut Quellenregister: 2026-10-11</a:t>
            </a:r>
          </a:p>
          <a:p xmlns:a="http://schemas.openxmlformats.org/drawingml/2006/main">
            <a:r>
              <a:t/>
            </a:r>
          </a:p>
          <a:p xmlns:a="http://schemas.openxmlformats.org/drawingml/2006/main">
            <a:r>
              <a:t>SRC-073: VECTOR_DISTANCE</a:t>
            </a:r>
          </a:p>
          <a:p xmlns:a="http://schemas.openxmlformats.org/drawingml/2006/main">
            <a:r>
              <a:t>https://learn.microsoft.com/en-us/sql/t-sql/functions/vector-distance-transact-sql?view=sql-server-ver17</a:t>
            </a:r>
          </a:p>
          <a:p xmlns:a="http://schemas.openxmlformats.org/drawingml/2006/main">
            <a:r>
              <a:t>Abrufdatum laut Quellenregister: 2026-10-11</a:t>
            </a:r>
          </a:p>
          <a:p xmlns:a="http://schemas.openxmlformats.org/drawingml/2006/main">
            <a:r>
              <a:t/>
            </a:r>
          </a:p>
          <a:p xmlns:a="http://schemas.openxmlformats.org/drawingml/2006/main">
            <a:r>
              <a:t>SRC-077: CREATE VECTOR INDEX</a:t>
            </a:r>
          </a:p>
          <a:p xmlns:a="http://schemas.openxmlformats.org/drawingml/2006/main">
            <a:r>
              <a:t>https://learn.microsoft.com/en-us/sql/t-sql/statements/create-vector-index-transact-sql?view=sql-server-ver17</a:t>
            </a:r>
          </a:p>
          <a:p xmlns:a="http://schemas.openxmlformats.org/drawingml/2006/main">
            <a:r>
              <a:t>Abrufdatum laut Quellenregister: 2026-10-11</a:t>
            </a:r>
          </a:p>
          <a:p xmlns:a="http://schemas.openxmlformats.org/drawingml/2006/main">
            <a:r>
              <a:t/>
            </a:r>
          </a:p>
          <a:p xmlns:a="http://schemas.openxmlformats.org/drawingml/2006/main">
            <a:r>
              <a:t>SRC-078: VECTOR_SEARCH</a:t>
            </a:r>
          </a:p>
          <a:p xmlns:a="http://schemas.openxmlformats.org/drawingml/2006/main">
            <a:r>
              <a:t>https://learn.microsoft.com/en-us/sql/t-sql/functions/vector-search-transact-sql?view=sql-server-ver17</a:t>
            </a:r>
          </a:p>
          <a:p xmlns:a="http://schemas.openxmlformats.org/drawingml/2006/main">
            <a:r>
              <a:t>Abrufdatum laut Quellenregister: 2026-10-11</a:t>
            </a:r>
          </a:p>
          <a:p xmlns:a="http://schemas.openxmlformats.org/drawingml/2006/main">
            <a:r>
              <a:t/>
            </a:r>
          </a:p>
          <a:p xmlns:a="http://schemas.openxmlformats.org/drawingml/2006/main">
            <a:r>
              <a:t>SRC-079: AI_GENERATE_CHUNKS</a:t>
            </a:r>
          </a:p>
          <a:p xmlns:a="http://schemas.openxmlformats.org/drawingml/2006/main">
            <a:r>
              <a:t>https://learn.microsoft.com/en-us/sql/t-sql/functions/ai-generate-chunks-transact-sql?view=sql-server-ver17</a:t>
            </a:r>
          </a:p>
          <a:p xmlns:a="http://schemas.openxmlformats.org/drawingml/2006/main">
            <a:r>
              <a:t>Abrufdatum laut Quellenregister: 2026-10-11</a:t>
            </a:r>
          </a:p>
          <a:p xmlns:a="http://schemas.openxmlformats.org/drawingml/2006/main">
            <a:r>
              <a:t/>
            </a:r>
          </a:p>
          <a:p xmlns:a="http://schemas.openxmlformats.org/drawingml/2006/main">
            <a:r>
              <a:t>SRC-083: SQL Server 2025 editions</a:t>
            </a:r>
          </a:p>
          <a:p xmlns:a="http://schemas.openxmlformats.org/drawingml/2006/main">
            <a:r>
              <a:t>https://learn.microsoft.com/en-us/sql/sql-server/editions-and-components-of-sql-server-2025?view=sql-server-ver17</a:t>
            </a:r>
          </a:p>
          <a:p xmlns:a="http://schemas.openxmlformats.org/drawingml/2006/main">
            <a:r>
              <a:t>Abrufdatum laut Quellenregister: 2026-10-11</a:t>
            </a:r>
          </a:p>
          <a:p xmlns:a="http://schemas.openxmlformats.org/drawingml/2006/main">
            <a:r>
              <a:t/>
            </a:r>
          </a:p>
          <a:p xmlns:a="http://schemas.openxmlformats.org/drawingml/2006/main">
            <a:r>
              <a:t>SRC-084: SQL Server 2025 on Linux editions</a:t>
            </a:r>
          </a:p>
          <a:p xmlns:a="http://schemas.openxmlformats.org/drawingml/2006/main">
            <a:r>
              <a:t>https://learn.microsoft.com/en-us/sql/linux/sql-server-linux-editions-and-components-2025?view=sql-server-ver17</a:t>
            </a:r>
          </a:p>
          <a:p xmlns:a="http://schemas.openxmlformats.org/drawingml/2006/main">
            <a:r>
              <a:t>Abrufdatum laut Quellenregister: 2026-10-11</a:t>
            </a:r>
          </a:p>
          <a:p xmlns:a="http://schemas.openxmlformats.org/drawingml/2006/main">
            <a:r>
              <a:t/>
            </a:r>
          </a:p>
          <a:p xmlns:a="http://schemas.openxmlformats.org/drawingml/2006/main">
            <a:r>
              <a:t>SRC-089: GitHub Copilot in SSMS overview</a:t>
            </a:r>
          </a:p>
          <a:p xmlns:a="http://schemas.openxmlformats.org/drawingml/2006/main">
            <a:r>
              <a:t>https://learn.microsoft.com/en-us/ssms/github-copilot/overview</a:t>
            </a:r>
          </a:p>
          <a:p xmlns:a="http://schemas.openxmlformats.org/drawingml/2006/main">
            <a:r>
              <a:t>Abrufdatum laut Quellenregister: 2026-10-11</a:t>
            </a:r>
          </a:p>
          <a:p xmlns:a="http://schemas.openxmlformats.org/drawingml/2006/main">
            <a:r>
              <a:t/>
            </a:r>
          </a:p>
          <a:p xmlns:a="http://schemas.openxmlformats.org/drawingml/2006/main">
            <a:r>
              <a:t>Projektquelle: Documentation/Research/SQL_SERVER_2025_AI_FEATURE_MATRIX.md</a:t>
            </a:r>
          </a:p>
          <a:p xmlns:a="http://schemas.openxmlformats.org/drawingml/2006/main">
            <a:r>
              <a:t/>
            </a:r>
          </a:p>
          <a:p xmlns:a="http://schemas.openxmlformats.org/drawingml/2006/main">
            <a:r>
              <a:t>Didaktische Zuordnung: CUR-014 / CUR-016 / CUR-019.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Verwenden Sie ausschließlich den manifestbasierten Aufrufer aus Documentation/HowTo/DEMO_EXECUTION_GUIDE.md auf einer eigenen dedizierten Testinstanz. Nach Einrichten der dort dokumentierten Funktion lautet ein konkreter Aufruf: Invoke-SqlPerfDemo -DemoId QRY-014 -Server $server -Authentication $authentication -Username $username. Für SQL-Authentifizierung kommt das Passwort ausschließlich aus SQLCMDPASSWORD in der Umgebung. Der Aufrufer führt die tatsächlichen Manifestphasen aus. Summary, Assertions und unabhängige eigene DB-Abwesenheit gemeinsam lesen. PASS gilt für den konkreten Vertrag. WARN, SKIP und FAIL bleiben sichtbar. Bei Abbruch nur den dokumentierten markergebundenen Recovery verwenden. Ein Namensmuster autorisiert keinen DROP. Die neun zusätzlichen PROPOSED-Entwürfe folgen später in der Vertiefung.</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Projektquelle: Documentation/Demo_Catalog/README.md</a:t>
            </a:r>
          </a:p>
          <a:p xmlns:a="http://schemas.openxmlformats.org/drawingml/2006/main">
            <a:r>
              <a:t/>
            </a:r>
          </a:p>
          <a:p xmlns:a="http://schemas.openxmlformats.org/drawingml/2006/main">
            <a:r>
              <a:t>Projektquelle: Documentation/HowTo/DEMO_EXECUTION_GUIDE.md</a:t>
            </a:r>
          </a:p>
          <a:p xmlns:a="http://schemas.openxmlformats.org/drawingml/2006/main">
            <a:r>
              <a:t/>
            </a:r>
          </a:p>
          <a:p xmlns:a="http://schemas.openxmlformats.org/drawingml/2006/main">
            <a:r>
              <a:t>Projektquelle: Documentation/HowTo/SQL_SERVER_2025_AI_OFFLINE_TRAINER_GUIDE.md</a:t>
            </a:r>
          </a:p>
          <a:p xmlns:a="http://schemas.openxmlformats.org/drawingml/2006/main">
            <a:r>
              <a:t/>
            </a:r>
          </a:p>
          <a:p xmlns:a="http://schemas.openxmlformats.org/drawingml/2006/main">
            <a:r>
              <a:t>Didaktische Zuordnung: CUR-013–CUR-022.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Das synthetische Beispiel verwendet geometrische Vektoren mit drei Komponenten. Es benötigt kein Modell und erklärt keine reale Sprachsemantik. Die Payloadabschätzung 4d beziehungsweise 2d ist kein gemessener Tabellen- oder Indexspeicher. Tatsächliche Allocations und weitere Spalten sind gesondert zu messen. VECTORPROPERTY liefert Dimensions- und Basistypinformation. Diese Metadaten ersetzen keine Modellkennung, keinen Digest und keine Versionsbindung. Bei Modellwechsel sind getrennte Spalten oder Tabellen vorgesehen.</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SRC-072: Vector data type</a:t>
            </a:r>
          </a:p>
          <a:p xmlns:a="http://schemas.openxmlformats.org/drawingml/2006/main">
            <a:r>
              <a:t>https://learn.microsoft.com/en-us/sql/t-sql/data-types/vector-data-type?view=sql-server-ver17</a:t>
            </a:r>
          </a:p>
          <a:p xmlns:a="http://schemas.openxmlformats.org/drawingml/2006/main">
            <a:r>
              <a:t>Abrufdatum laut Quellenregister: 2026-10-11</a:t>
            </a:r>
          </a:p>
          <a:p xmlns:a="http://schemas.openxmlformats.org/drawingml/2006/main">
            <a:r>
              <a:t/>
            </a:r>
          </a:p>
          <a:p xmlns:a="http://schemas.openxmlformats.org/drawingml/2006/main">
            <a:r>
              <a:t>SRC-076: VECTORPROPERTY</a:t>
            </a:r>
          </a:p>
          <a:p xmlns:a="http://schemas.openxmlformats.org/drawingml/2006/main">
            <a:r>
              <a:t>https://learn.microsoft.com/en-us/sql/t-sql/functions/vectorproperty-transact-sql?view=sql-server-ver17</a:t>
            </a:r>
          </a:p>
          <a:p xmlns:a="http://schemas.openxmlformats.org/drawingml/2006/main">
            <a:r>
              <a:t>Abrufdatum laut Quellenregister: 2026-10-11</a:t>
            </a:r>
          </a:p>
          <a:p xmlns:a="http://schemas.openxmlformats.org/drawingml/2006/main">
            <a:r>
              <a:t/>
            </a:r>
          </a:p>
          <a:p xmlns:a="http://schemas.openxmlformats.org/drawingml/2006/main">
            <a:r>
              <a:t>Projektquelle: Demos/09_AI_SQL_Server_2025/QRY-014_Vector_Type/README.md</a:t>
            </a:r>
          </a:p>
          <a:p xmlns:a="http://schemas.openxmlformats.org/drawingml/2006/main">
            <a:r>
              <a:t/>
            </a:r>
          </a:p>
          <a:p xmlns:a="http://schemas.openxmlformats.org/drawingml/2006/main">
            <a:r>
              <a:t>Didaktische Zuordnung: CUR-013 / CUR-014.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Die Lehrperson zeigt zuerst die Vorhersagefrage und startet anschließend QRY-014 über den Ausführungsleitfaden. Lesen Sie die fünf synthetischen Rows und die festen Assertions. Vergleichen Sie einen syntaktisch ungültigen Wert mit einem gültigen Vektor aus einem anderen Modellraum. Lassen Sie zwei zusätzliche Provenienzfelder nennen, etwa Modellversion und Normalisierung. Die Gegenmaßnahme ist eine vorgelagerte Modell-/Dimensionsprüfung. Cleanup und eigene DB-Abwesenheit abschließen. float16 ist ein separat begrenzter Previewpfad und gehört nicht zur hier behaupteten Sprachmodellqualität.</a:t>
            </a:r>
          </a:p>
          <a:p xmlns:a="http://schemas.openxmlformats.org/drawingml/2006/main">
            <a:r>
              <a:t/>
            </a:r>
          </a:p>
          <a:p xmlns:a="http://schemas.openxmlformats.org/drawingml/2006/main">
            <a:r>
              <a:t>Konkreter Aufruf nach Einrichtung gemäß DEMO_EXECUTION_GUIDE.md:</a:t>
            </a:r>
          </a:p>
          <a:p xmlns:a="http://schemas.openxmlformats.org/drawingml/2006/main">
            <a:r>
              <a:t>Invoke-SqlPerfDemo -DemoId QRY-014 -Server $server -Authentication $authentication -Username $username</a:t>
            </a:r>
          </a:p>
          <a:p xmlns:a="http://schemas.openxmlformats.org/drawingml/2006/main">
            <a:r>
              <a:t>Phasen und Abbruch: manifest.json sowie 90_Cleanup.sql. Vier vollständige Eigentumsmarker und denselben RunToken prüfen. Anschließend unabhängige Abwesenheit der eigenen DB bestätigen.</a:t>
            </a:r>
          </a:p>
          <a:p xmlns:a="http://schemas.openxmlformats.org/drawingml/2006/main">
            <a:r>
              <a:t>Demoquelle: Demos/09_AI_SQL_Server_2025/QRY-014_Vector_Type/README.md</a:t>
            </a:r>
          </a:p>
          <a:p xmlns:a="http://schemas.openxmlformats.org/drawingml/2006/main">
            <a:r>
              <a:t>Ergebnisvertrag: Demos/09_AI_SQL_Server_2025/QRY-014_Vector_Type/Expected/result-contract.json</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SRC-072: Vector data type</a:t>
            </a:r>
          </a:p>
          <a:p xmlns:a="http://schemas.openxmlformats.org/drawingml/2006/main">
            <a:r>
              <a:t>https://learn.microsoft.com/en-us/sql/t-sql/data-types/vector-data-type?view=sql-server-ver17</a:t>
            </a:r>
          </a:p>
          <a:p xmlns:a="http://schemas.openxmlformats.org/drawingml/2006/main">
            <a:r>
              <a:t>Abrufdatum laut Quellenregister: 2026-10-11</a:t>
            </a:r>
          </a:p>
          <a:p xmlns:a="http://schemas.openxmlformats.org/drawingml/2006/main">
            <a:r>
              <a:t/>
            </a:r>
          </a:p>
          <a:p xmlns:a="http://schemas.openxmlformats.org/drawingml/2006/main">
            <a:r>
              <a:t>SRC-076: VECTORPROPERTY</a:t>
            </a:r>
          </a:p>
          <a:p xmlns:a="http://schemas.openxmlformats.org/drawingml/2006/main">
            <a:r>
              <a:t>https://learn.microsoft.com/en-us/sql/t-sql/functions/vectorproperty-transact-sql?view=sql-server-ver17</a:t>
            </a:r>
          </a:p>
          <a:p xmlns:a="http://schemas.openxmlformats.org/drawingml/2006/main">
            <a:r>
              <a:t>Abrufdatum laut Quellenregister: 2026-10-11</a:t>
            </a:r>
          </a:p>
          <a:p xmlns:a="http://schemas.openxmlformats.org/drawingml/2006/main">
            <a:r>
              <a:t/>
            </a:r>
          </a:p>
          <a:p xmlns:a="http://schemas.openxmlformats.org/drawingml/2006/main">
            <a:r>
              <a:t>Didaktische Zuordnung: CUR-014.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Leiten Sie norm2 als Wurzel aus 3²+4² her. VECTOR_NORMALIZE mit norm2 skaliert diesen Vektor auf [0.6,0.8,0]. Die Metric entscheidet, ob Magnitude die Rangfolge beeinflusst. VECTOR_DISTANCE berechnet exakte Distanz und nutzt dafür keinen Vector Index. Das negatives Dot Product kann negative Werte liefern. Self-Dot ist deshalb nicht generell null. Null- und Zero-Vektoren werden als eigene Eingabefälle geprüft. Floating-Point-Toleranzen und deterministische Ties gehören zum jeweiligen Ergebnisvertrag.</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SRC-073: VECTOR_DISTANCE</a:t>
            </a:r>
          </a:p>
          <a:p xmlns:a="http://schemas.openxmlformats.org/drawingml/2006/main">
            <a:r>
              <a:t>https://learn.microsoft.com/en-us/sql/t-sql/functions/vector-distance-transact-sql?view=sql-server-ver17</a:t>
            </a:r>
          </a:p>
          <a:p xmlns:a="http://schemas.openxmlformats.org/drawingml/2006/main">
            <a:r>
              <a:t>Abrufdatum laut Quellenregister: 2026-10-11</a:t>
            </a:r>
          </a:p>
          <a:p xmlns:a="http://schemas.openxmlformats.org/drawingml/2006/main">
            <a:r>
              <a:t/>
            </a:r>
          </a:p>
          <a:p xmlns:a="http://schemas.openxmlformats.org/drawingml/2006/main">
            <a:r>
              <a:t>SRC-074: VECTOR_NORM</a:t>
            </a:r>
          </a:p>
          <a:p xmlns:a="http://schemas.openxmlformats.org/drawingml/2006/main">
            <a:r>
              <a:t>https://learn.microsoft.com/en-us/sql/t-sql/functions/vector-norm-transact-sql?view=sql-server-ver17</a:t>
            </a:r>
          </a:p>
          <a:p xmlns:a="http://schemas.openxmlformats.org/drawingml/2006/main">
            <a:r>
              <a:t>Abrufdatum laut Quellenregister: 2026-10-11</a:t>
            </a:r>
          </a:p>
          <a:p xmlns:a="http://schemas.openxmlformats.org/drawingml/2006/main">
            <a:r>
              <a:t/>
            </a:r>
          </a:p>
          <a:p xmlns:a="http://schemas.openxmlformats.org/drawingml/2006/main">
            <a:r>
              <a:t>SRC-075: VECTOR_NORMALIZE</a:t>
            </a:r>
          </a:p>
          <a:p xmlns:a="http://schemas.openxmlformats.org/drawingml/2006/main">
            <a:r>
              <a:t>https://learn.microsoft.com/en-us/sql/t-sql/functions/vector-normalize-transact-sql?view=sql-server-ver17</a:t>
            </a:r>
          </a:p>
          <a:p xmlns:a="http://schemas.openxmlformats.org/drawingml/2006/main">
            <a:r>
              <a:t>Abrufdatum laut Quellenregister: 2026-10-11</a:t>
            </a:r>
          </a:p>
          <a:p xmlns:a="http://schemas.openxmlformats.org/drawingml/2006/main">
            <a:r>
              <a:t/>
            </a:r>
          </a:p>
          <a:p xmlns:a="http://schemas.openxmlformats.org/drawingml/2006/main">
            <a:r>
              <a:t>Didaktische Zuordnung: CUR-014.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Diese Query ist ein tatsächlicher Auszug aus der Implementierung, kein separater freier Demolauf. Der vollständige native Code enthält Kontext- und Eigentumsmarkerprüfungen. Starten Sie QRY-015 über den manifestbasierten Aufrufer. Der rohe Dot-Ersttreffer hat Id2 aufgrund seiner Magnitude. Baseline und Comparison erklären den Unterschied zur Euclidean-Suche sowie zur Normalisierung. ORDER BY Distance,Id löst Ties deterministisch. Lassen Sie die Werte 7,5,4 und −25 aus der vorherigen Folie berechnen. Eine deterministische Rangfolge belegt hier keine Sprachrelevanz.</a:t>
            </a:r>
          </a:p>
          <a:p xmlns:a="http://schemas.openxmlformats.org/drawingml/2006/main">
            <a:r>
              <a:t/>
            </a:r>
          </a:p>
          <a:p xmlns:a="http://schemas.openxmlformats.org/drawingml/2006/main">
            <a:r>
              <a:t>Konkreter Aufruf nach Einrichtung gemäß DEMO_EXECUTION_GUIDE.md:</a:t>
            </a:r>
          </a:p>
          <a:p xmlns:a="http://schemas.openxmlformats.org/drawingml/2006/main">
            <a:r>
              <a:t>Invoke-SqlPerfDemo -DemoId QRY-015 -Server $server -Authentication $authentication -Username $username</a:t>
            </a:r>
          </a:p>
          <a:p xmlns:a="http://schemas.openxmlformats.org/drawingml/2006/main">
            <a:r>
              <a:t>Phasen und Abbruch: manifest.json sowie 90_Cleanup.sql. Vier vollständige Eigentumsmarker und denselben RunToken prüfen. Anschließend unabhängige Abwesenheit der eigenen DB bestätigen.</a:t>
            </a:r>
          </a:p>
          <a:p xmlns:a="http://schemas.openxmlformats.org/drawingml/2006/main">
            <a:r>
              <a:t>Demoquelle: Demos/09_AI_SQL_Server_2025/QRY-015_Vector_Metrics/README.md</a:t>
            </a:r>
          </a:p>
          <a:p xmlns:a="http://schemas.openxmlformats.org/drawingml/2006/main">
            <a:r>
              <a:t>Ergebnisvertrag: Demos/09_AI_SQL_Server_2025/QRY-015_Vector_Metrics/Expected/result-contract.json</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SRC-073: VECTOR_DISTANCE</a:t>
            </a:r>
          </a:p>
          <a:p xmlns:a="http://schemas.openxmlformats.org/drawingml/2006/main">
            <a:r>
              <a:t>https://learn.microsoft.com/en-us/sql/t-sql/functions/vector-distance-transact-sql?view=sql-server-ver17</a:t>
            </a:r>
          </a:p>
          <a:p xmlns:a="http://schemas.openxmlformats.org/drawingml/2006/main">
            <a:r>
              <a:t>Abrufdatum laut Quellenregister: 2026-10-11</a:t>
            </a:r>
          </a:p>
          <a:p xmlns:a="http://schemas.openxmlformats.org/drawingml/2006/main">
            <a:r>
              <a:t/>
            </a:r>
          </a:p>
          <a:p xmlns:a="http://schemas.openxmlformats.org/drawingml/2006/main">
            <a:r>
              <a:t>SRC-074: VECTOR_NORM</a:t>
            </a:r>
          </a:p>
          <a:p xmlns:a="http://schemas.openxmlformats.org/drawingml/2006/main">
            <a:r>
              <a:t>https://learn.microsoft.com/en-us/sql/t-sql/functions/vector-norm-transact-sql?view=sql-server-ver17</a:t>
            </a:r>
          </a:p>
          <a:p xmlns:a="http://schemas.openxmlformats.org/drawingml/2006/main">
            <a:r>
              <a:t>Abrufdatum laut Quellenregister: 2026-10-11</a:t>
            </a:r>
          </a:p>
          <a:p xmlns:a="http://schemas.openxmlformats.org/drawingml/2006/main">
            <a:r>
              <a:t/>
            </a:r>
          </a:p>
          <a:p xmlns:a="http://schemas.openxmlformats.org/drawingml/2006/main">
            <a:r>
              <a:t>SRC-075: VECTOR_NORMALIZE</a:t>
            </a:r>
          </a:p>
          <a:p xmlns:a="http://schemas.openxmlformats.org/drawingml/2006/main">
            <a:r>
              <a:t>https://learn.microsoft.com/en-us/sql/t-sql/functions/vector-normalize-transact-sql?view=sql-server-ver17</a:t>
            </a:r>
          </a:p>
          <a:p xmlns:a="http://schemas.openxmlformats.org/drawingml/2006/main">
            <a:r>
              <a:t>Abrufdatum laut Quellenregister: 2026-10-11</a:t>
            </a:r>
          </a:p>
          <a:p xmlns:a="http://schemas.openxmlformats.org/drawingml/2006/main">
            <a:r>
              <a:t/>
            </a:r>
          </a:p>
          <a:p xmlns:a="http://schemas.openxmlformats.org/drawingml/2006/main">
            <a:r>
              <a:t>Didaktische Zuordnung: CUR-014.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Erklären Sie Chunking zunächst ohne Modell. AI_GENERATE_CHUNKS ist eine lokale Tabellenfunktion und benötigt CL170. Ein Modelltokenizer kann denselben Text anders aufteilen. Die Summe überlappender Bereichslängen ist größer als die eindeutige Quelltextmenge. ENABLE_CHUNK_SET_ID kann Gruppen markieren, ersetzt aber keine dauerhafte Dokumentversionsbindung. Bei Dokumentupdate werden alte und neue Version nicht still vermischt. Chunkparameter und Embeddingprovenienz ermöglichen eine spätere Rekonstruktion.</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SRC-079: AI_GENERATE_CHUNKS</a:t>
            </a:r>
          </a:p>
          <a:p xmlns:a="http://schemas.openxmlformats.org/drawingml/2006/main">
            <a:r>
              <a:t>https://learn.microsoft.com/en-us/sql/t-sql/functions/ai-generate-chunks-transact-sql?view=sql-server-ver17</a:t>
            </a:r>
          </a:p>
          <a:p xmlns:a="http://schemas.openxmlformats.org/drawingml/2006/main">
            <a:r>
              <a:t>Abrufdatum laut Quellenregister: 2026-10-11</a:t>
            </a:r>
          </a:p>
          <a:p xmlns:a="http://schemas.openxmlformats.org/drawingml/2006/main">
            <a:r>
              <a:t/>
            </a:r>
          </a:p>
          <a:p xmlns:a="http://schemas.openxmlformats.org/drawingml/2006/main">
            <a:r>
              <a:t>SRC-081: AI_GENERATE_EMBEDDINGS</a:t>
            </a:r>
          </a:p>
          <a:p xmlns:a="http://schemas.openxmlformats.org/drawingml/2006/main">
            <a:r>
              <a:t>https://learn.microsoft.com/en-us/sql/t-sql/functions/ai-generate-embeddings-transact-sql?view=sql-server-ver17</a:t>
            </a:r>
          </a:p>
          <a:p xmlns:a="http://schemas.openxmlformats.org/drawingml/2006/main">
            <a:r>
              <a:t>Abrufdatum laut Quellenregister: 2026-10-11</a:t>
            </a:r>
          </a:p>
          <a:p xmlns:a="http://schemas.openxmlformats.org/drawingml/2006/main">
            <a:r>
              <a:t/>
            </a:r>
          </a:p>
          <a:p xmlns:a="http://schemas.openxmlformats.org/drawingml/2006/main">
            <a:r>
              <a:t>Projektquelle: Demos/09_AI_SQL_Server_2025/QRY-016_Chunk_Provenance/README.md</a:t>
            </a:r>
          </a:p>
          <a:p xmlns:a="http://schemas.openxmlformats.org/drawingml/2006/main">
            <a:r>
              <a:t/>
            </a:r>
          </a:p>
          <a:p xmlns:a="http://schemas.openxmlformats.org/drawingml/2006/main">
            <a:r>
              <a:t>Didaktische Zuordnung: CUR-015.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Starten Sie QRY-016 manifestbasiert. Die Fixture enthält zwei synthetische Dokumentversionen. Lassen Sie die Gruppe DocId, Version, chunk_order, chunk_offset und chunk_length ablesen und einen Bereich im Quelltext wiederfinden. Besprechen Sie getrennt den fachlichen Rekonstruktionsbeleg und die doppelt gezählten Bereiche durch Overlap. Gegenmaßnahme: Chunk und Embeddingversion zusammen halten, neue Dokumentversion getrennt importieren. Die Erwartungsresultate und die Trainerlösung liegen im Offline-Arbeitsheft. Cleanup und unabhängige eigene DB-Abwesenheit abschließen.</a:t>
            </a:r>
          </a:p>
          <a:p xmlns:a="http://schemas.openxmlformats.org/drawingml/2006/main">
            <a:r>
              <a:t/>
            </a:r>
          </a:p>
          <a:p xmlns:a="http://schemas.openxmlformats.org/drawingml/2006/main">
            <a:r>
              <a:t>Konkreter Aufruf nach Einrichtung gemäß DEMO_EXECUTION_GUIDE.md:</a:t>
            </a:r>
          </a:p>
          <a:p xmlns:a="http://schemas.openxmlformats.org/drawingml/2006/main">
            <a:r>
              <a:t>Invoke-SqlPerfDemo -DemoId QRY-016 -Server $server -Authentication $authentication -Username $username</a:t>
            </a:r>
          </a:p>
          <a:p xmlns:a="http://schemas.openxmlformats.org/drawingml/2006/main">
            <a:r>
              <a:t>Phasen und Abbruch: manifest.json sowie 90_Cleanup.sql. Vier vollständige Eigentumsmarker und denselben RunToken prüfen. Anschließend unabhängige Abwesenheit der eigenen DB bestätigen.</a:t>
            </a:r>
          </a:p>
          <a:p xmlns:a="http://schemas.openxmlformats.org/drawingml/2006/main">
            <a:r>
              <a:t>Demoquelle: Demos/09_AI_SQL_Server_2025/QRY-016_Chunk_Provenance/README.md</a:t>
            </a:r>
          </a:p>
          <a:p xmlns:a="http://schemas.openxmlformats.org/drawingml/2006/main">
            <a:r>
              <a:t>Ergebnisvertrag: Demos/09_AI_SQL_Server_2025/QRY-016_Chunk_Provenance/Expected/result-contract.json</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SRC-079: AI_GENERATE_CHUNKS</a:t>
            </a:r>
          </a:p>
          <a:p xmlns:a="http://schemas.openxmlformats.org/drawingml/2006/main">
            <a:r>
              <a:t>https://learn.microsoft.com/en-us/sql/t-sql/functions/ai-generate-chunks-transact-sql?view=sql-server-ver17</a:t>
            </a:r>
          </a:p>
          <a:p xmlns:a="http://schemas.openxmlformats.org/drawingml/2006/main">
            <a:r>
              <a:t>Abrufdatum laut Quellenregister: 2026-10-11</a:t>
            </a:r>
          </a:p>
          <a:p xmlns:a="http://schemas.openxmlformats.org/drawingml/2006/main">
            <a:r>
              <a:t/>
            </a:r>
          </a:p>
          <a:p xmlns:a="http://schemas.openxmlformats.org/drawingml/2006/main">
            <a:r>
              <a:t>Didaktische Zuordnung: CUR-015.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Der verpflichtende Offlinepfad braucht keinen Provider. Der lokale Modellpfad braucht zusätzlich einen ausdrücklich vorbereiteten Modellservice mit Lizenz, Digest und endlichen Request-/Tokenlimits. Eine lokale Programmierschnittstelle (Application Programming Interface, API) über HTTP (Hypertext Transfer Protocol; Übertragung von Webanfragen und Antworten) erfüllt den direkten SQL-HTTPS-Vertrag noch nicht. Erreichbarkeit wird aus dem Enginekontext geprüft. localhost im SQL-Container bezeichnet den Container selbst. Cloud und ONNX (Open Neural Network Exchange; Austauschformat für Modelle) werden in dieser Einheit als Architekturvarianten besprochen und nicht aktiviert. Die Linux-Editionstabelle und das konkrete Windows-ONNX-Verfahren sind nicht deckungsgleich, daher bleibt Linux-ONNX ohne Runtimeclaim. Der öffentliche Provider-Livepfad bleibt an DEC-033/SQLcmd-P blockiert.</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SRC-080: CREATE EXTERNAL MODEL</a:t>
            </a:r>
          </a:p>
          <a:p xmlns:a="http://schemas.openxmlformats.org/drawingml/2006/main">
            <a:r>
              <a:t>https://learn.microsoft.com/en-us/sql/t-sql/statements/create-external-model-transact-sql?view=sql-server-ver17</a:t>
            </a:r>
          </a:p>
          <a:p xmlns:a="http://schemas.openxmlformats.org/drawingml/2006/main">
            <a:r>
              <a:t>Abrufdatum laut Quellenregister: 2026-10-11</a:t>
            </a:r>
          </a:p>
          <a:p xmlns:a="http://schemas.openxmlformats.org/drawingml/2006/main">
            <a:r>
              <a:t/>
            </a:r>
          </a:p>
          <a:p xmlns:a="http://schemas.openxmlformats.org/drawingml/2006/main">
            <a:r>
              <a:t>SRC-081: AI_GENERATE_EMBEDDINGS</a:t>
            </a:r>
          </a:p>
          <a:p xmlns:a="http://schemas.openxmlformats.org/drawingml/2006/main">
            <a:r>
              <a:t>https://learn.microsoft.com/en-us/sql/t-sql/functions/ai-generate-embeddings-transact-sql?view=sql-server-ver17</a:t>
            </a:r>
          </a:p>
          <a:p xmlns:a="http://schemas.openxmlformats.org/drawingml/2006/main">
            <a:r>
              <a:t>Abrufdatum laut Quellenregister: 2026-10-11</a:t>
            </a:r>
          </a:p>
          <a:p xmlns:a="http://schemas.openxmlformats.org/drawingml/2006/main">
            <a:r>
              <a:t/>
            </a:r>
          </a:p>
          <a:p xmlns:a="http://schemas.openxmlformats.org/drawingml/2006/main">
            <a:r>
              <a:t>SRC-082: sp_invoke_external_rest_endpoint</a:t>
            </a:r>
          </a:p>
          <a:p xmlns:a="http://schemas.openxmlformats.org/drawingml/2006/main">
            <a:r>
              <a:t>https://learn.microsoft.com/en-us/sql/relational-databases/system-stored-procedures/sp-invoke-external-rest-endpoint-transact-sql?view=sql-server-ver17</a:t>
            </a:r>
          </a:p>
          <a:p xmlns:a="http://schemas.openxmlformats.org/drawingml/2006/main">
            <a:r>
              <a:t>Abrufdatum laut Quellenregister: 2026-10-11</a:t>
            </a:r>
          </a:p>
          <a:p xmlns:a="http://schemas.openxmlformats.org/drawingml/2006/main">
            <a:r>
              <a:t/>
            </a:r>
          </a:p>
          <a:p xmlns:a="http://schemas.openxmlformats.org/drawingml/2006/main">
            <a:r>
              <a:t>SRC-085: Generate embeddings</a:t>
            </a:r>
          </a:p>
          <a:p xmlns:a="http://schemas.openxmlformats.org/drawingml/2006/main">
            <a:r>
              <a:t>https://docs.ollama.com/api/embed</a:t>
            </a:r>
          </a:p>
          <a:p xmlns:a="http://schemas.openxmlformats.org/drawingml/2006/main">
            <a:r>
              <a:t>Abrufdatum laut Quellenregister: 2026-10-11</a:t>
            </a:r>
          </a:p>
          <a:p xmlns:a="http://schemas.openxmlformats.org/drawingml/2006/main">
            <a:r>
              <a:t/>
            </a:r>
          </a:p>
          <a:p xmlns:a="http://schemas.openxmlformats.org/drawingml/2006/main">
            <a:r>
              <a:t>SRC-086: Authentication</a:t>
            </a:r>
          </a:p>
          <a:p xmlns:a="http://schemas.openxmlformats.org/drawingml/2006/main">
            <a:r>
              <a:t>https://docs.ollama.com/api/authentication</a:t>
            </a:r>
          </a:p>
          <a:p xmlns:a="http://schemas.openxmlformats.org/drawingml/2006/main">
            <a:r>
              <a:t>Abrufdatum laut Quellenregister: 2026-10-11</a:t>
            </a:r>
          </a:p>
          <a:p xmlns:a="http://schemas.openxmlformats.org/drawingml/2006/main">
            <a:r>
              <a:t/>
            </a:r>
          </a:p>
          <a:p xmlns:a="http://schemas.openxmlformats.org/drawingml/2006/main">
            <a:r>
              <a:t>SRC-088: Foundry Models data privacy</a:t>
            </a:r>
          </a:p>
          <a:p xmlns:a="http://schemas.openxmlformats.org/drawingml/2006/main">
            <a:r>
              <a:t>https://learn.microsoft.com/en-us/azure/foundry/responsible-ai/openai/data-privacy</a:t>
            </a:r>
          </a:p>
          <a:p xmlns:a="http://schemas.openxmlformats.org/drawingml/2006/main">
            <a:r>
              <a:t>Abrufdatum laut Quellenregister: 2026-10-11</a:t>
            </a:r>
          </a:p>
          <a:p xmlns:a="http://schemas.openxmlformats.org/drawingml/2006/main">
            <a:r>
              <a:t/>
            </a:r>
          </a:p>
          <a:p xmlns:a="http://schemas.openxmlformats.org/drawingml/2006/main">
            <a:r>
              <a:t>Projektquelle: Documentation/HowTo/SQL_SERVER_2025_AI_MODEL_PATHS.md</a:t>
            </a:r>
          </a:p>
          <a:p xmlns:a="http://schemas.openxmlformats.org/drawingml/2006/main">
            <a:r>
              <a:t/>
            </a:r>
          </a:p>
          <a:p xmlns:a="http://schemas.openxmlformats.org/drawingml/2006/main">
            <a:r>
              <a:t>Projektquelle: Documentation/Project_Planning/SQL_SERVER_2025_AI_PROVIDER_REVIEW.md</a:t>
            </a:r>
          </a:p>
          <a:p xmlns:a="http://schemas.openxmlformats.org/drawingml/2006/main">
            <a:r>
              <a:t/>
            </a:r>
          </a:p>
          <a:p xmlns:a="http://schemas.openxmlformats.org/drawingml/2006/main">
            <a:r>
              <a:t>Didaktische Zuordnung: CUR-016.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AI_GENERATE_EMBEDDINGS arbeitet mit einem vorkonfigurierten EMBEDDINGS-Modell. Modell-EXECUTE und Quelltext-SELECT sind von Model-/Credential-DDL (Data Definition Language; Anweisungen zum Definieren und Ändern von Datenbankobjekten) getrennt. Ein dokumentiertes Beispiel ist noch kein kompatibler Transportvertrag. Die aktiven Referenzen besitzen eine Resultattypinkonsistenz zwischen Text und skalaren Beispielen, deshalb bleiben Resultattyp, VECTOR-Konvertierung und Treibertransport Probe-Gates. Das Deck führt keinen Livecall aus und speichert keine Credentials. Datenabfluss, Retention, Kosten und Endpointform werden pro Provider bewertet. Timeouts und Retries verbrauchen ebenfalls das endliche Budget.</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SRC-080: CREATE EXTERNAL MODEL</a:t>
            </a:r>
          </a:p>
          <a:p xmlns:a="http://schemas.openxmlformats.org/drawingml/2006/main">
            <a:r>
              <a:t>https://learn.microsoft.com/en-us/sql/t-sql/statements/create-external-model-transact-sql?view=sql-server-ver17</a:t>
            </a:r>
          </a:p>
          <a:p xmlns:a="http://schemas.openxmlformats.org/drawingml/2006/main">
            <a:r>
              <a:t>Abrufdatum laut Quellenregister: 2026-10-11</a:t>
            </a:r>
          </a:p>
          <a:p xmlns:a="http://schemas.openxmlformats.org/drawingml/2006/main">
            <a:r>
              <a:t/>
            </a:r>
          </a:p>
          <a:p xmlns:a="http://schemas.openxmlformats.org/drawingml/2006/main">
            <a:r>
              <a:t>SRC-081: AI_GENERATE_EMBEDDINGS</a:t>
            </a:r>
          </a:p>
          <a:p xmlns:a="http://schemas.openxmlformats.org/drawingml/2006/main">
            <a:r>
              <a:t>https://learn.microsoft.com/en-us/sql/t-sql/functions/ai-generate-embeddings-transact-sql?view=sql-server-ver17</a:t>
            </a:r>
          </a:p>
          <a:p xmlns:a="http://schemas.openxmlformats.org/drawingml/2006/main">
            <a:r>
              <a:t>Abrufdatum laut Quellenregister: 2026-10-11</a:t>
            </a:r>
          </a:p>
          <a:p xmlns:a="http://schemas.openxmlformats.org/drawingml/2006/main">
            <a:r>
              <a:t/>
            </a:r>
          </a:p>
          <a:p xmlns:a="http://schemas.openxmlformats.org/drawingml/2006/main">
            <a:r>
              <a:t>SRC-082: sp_invoke_external_rest_endpoint</a:t>
            </a:r>
          </a:p>
          <a:p xmlns:a="http://schemas.openxmlformats.org/drawingml/2006/main">
            <a:r>
              <a:t>https://learn.microsoft.com/en-us/sql/relational-databases/system-stored-procedures/sp-invoke-external-rest-endpoint-transact-sql?view=sql-server-ver17</a:t>
            </a:r>
          </a:p>
          <a:p xmlns:a="http://schemas.openxmlformats.org/drawingml/2006/main">
            <a:r>
              <a:t>Abrufdatum laut Quellenregister: 2026-10-11</a:t>
            </a:r>
          </a:p>
          <a:p xmlns:a="http://schemas.openxmlformats.org/drawingml/2006/main">
            <a:r>
              <a:t/>
            </a:r>
          </a:p>
          <a:p xmlns:a="http://schemas.openxmlformats.org/drawingml/2006/main">
            <a:r>
              <a:t>SRC-096: CREATE DATABASE SCOPED CREDENTIAL</a:t>
            </a:r>
          </a:p>
          <a:p xmlns:a="http://schemas.openxmlformats.org/drawingml/2006/main">
            <a:r>
              <a:t>https://learn.microsoft.com/en-us/sql/t-sql/statements/create-database-scoped-credential-transact-sql?view=sql-server-ver17</a:t>
            </a:r>
          </a:p>
          <a:p xmlns:a="http://schemas.openxmlformats.org/drawingml/2006/main">
            <a:r>
              <a:t>Abrufdatum laut Quellenregister: 2026-10-11</a:t>
            </a:r>
          </a:p>
          <a:p xmlns:a="http://schemas.openxmlformats.org/drawingml/2006/main">
            <a:r>
              <a:t/>
            </a:r>
          </a:p>
          <a:p xmlns:a="http://schemas.openxmlformats.org/drawingml/2006/main">
            <a:r>
              <a:t>Projektquelle: Documentation/Research/SQL_SERVER_2025_AI_FEATURE_MATRIX.md</a:t>
            </a:r>
          </a:p>
          <a:p xmlns:a="http://schemas.openxmlformats.org/drawingml/2006/main">
            <a:r>
              <a:t/>
            </a:r>
          </a:p>
          <a:p xmlns:a="http://schemas.openxmlformats.org/drawingml/2006/main">
            <a:r>
              <a:t>Didaktische Zuordnung: CUR-016.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Starten Sie DGN-008 über den Ausführungsleitfaden. Ordnen Sie die SQL-Grants den Rollen zu und lesen Sie die positiven Restbetriebsbelege nach der Grantreduktion. Leere Resultate oder behauptete Rolle allein sind kein Rechtebeleg. Die Demo erstellt tatsächlich ein Offline-External-Modelobjekt, aber keine Inferenz. Lassen Sie die Gruppe die zusätzlichen Bedingungen eines Livecalls nennen: TLS (Transport Layer Security; Verschlüsselungsprotokoll für Verbindungen), Providervertrag, Modellresultat, Requestbudget und kontrollierter Credentialzugang. Ownerharness und Teilnehmerrechte bleiben getrennt. Entfernen Sie nur eigene markergebundene Ressourcen und prüfen Sie die eigene DB-Abwesenheit.</a:t>
            </a:r>
          </a:p>
          <a:p xmlns:a="http://schemas.openxmlformats.org/drawingml/2006/main">
            <a:r>
              <a:t/>
            </a:r>
          </a:p>
          <a:p xmlns:a="http://schemas.openxmlformats.org/drawingml/2006/main">
            <a:r>
              <a:t>Konkreter Aufruf nach Einrichtung gemäß DEMO_EXECUTION_GUIDE.md:</a:t>
            </a:r>
          </a:p>
          <a:p xmlns:a="http://schemas.openxmlformats.org/drawingml/2006/main">
            <a:r>
              <a:t>Invoke-SqlPerfDemo -DemoId DGN-008 -Server $server -Authentication $authentication -Username $username</a:t>
            </a:r>
          </a:p>
          <a:p xmlns:a="http://schemas.openxmlformats.org/drawingml/2006/main">
            <a:r>
              <a:t>Phasen und Abbruch: manifest.json sowie 90_Cleanup.sql. Vier vollständige Eigentumsmarker und denselben RunToken prüfen. Anschließend unabhängige Abwesenheit der eigenen DB bestätigen.</a:t>
            </a:r>
          </a:p>
          <a:p xmlns:a="http://schemas.openxmlformats.org/drawingml/2006/main">
            <a:r>
              <a:t>Demoquelle: Demos/09_AI_SQL_Server_2025/DGN-008_Offline_Model_Rights/README.md</a:t>
            </a:r>
          </a:p>
          <a:p xmlns:a="http://schemas.openxmlformats.org/drawingml/2006/main">
            <a:r>
              <a:t>Ergebnisvertrag: Demos/09_AI_SQL_Server_2025/DGN-008_Offline_Model_Rights/Expected/result-contract.json</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SRC-080: CREATE EXTERNAL MODEL</a:t>
            </a:r>
          </a:p>
          <a:p xmlns:a="http://schemas.openxmlformats.org/drawingml/2006/main">
            <a:r>
              <a:t>https://learn.microsoft.com/en-us/sql/t-sql/statements/create-external-model-transact-sql?view=sql-server-ver17</a:t>
            </a:r>
          </a:p>
          <a:p xmlns:a="http://schemas.openxmlformats.org/drawingml/2006/main">
            <a:r>
              <a:t>Abrufdatum laut Quellenregister: 2026-10-11</a:t>
            </a:r>
          </a:p>
          <a:p xmlns:a="http://schemas.openxmlformats.org/drawingml/2006/main">
            <a:r>
              <a:t/>
            </a:r>
          </a:p>
          <a:p xmlns:a="http://schemas.openxmlformats.org/drawingml/2006/main">
            <a:r>
              <a:t>SRC-082: sp_invoke_external_rest_endpoint</a:t>
            </a:r>
          </a:p>
          <a:p xmlns:a="http://schemas.openxmlformats.org/drawingml/2006/main">
            <a:r>
              <a:t>https://learn.microsoft.com/en-us/sql/relational-databases/system-stored-procedures/sp-invoke-external-rest-endpoint-transact-sql?view=sql-server-ver17</a:t>
            </a:r>
          </a:p>
          <a:p xmlns:a="http://schemas.openxmlformats.org/drawingml/2006/main">
            <a:r>
              <a:t>Abrufdatum laut Quellenregister: 2026-10-11</a:t>
            </a:r>
          </a:p>
          <a:p xmlns:a="http://schemas.openxmlformats.org/drawingml/2006/main">
            <a:r>
              <a:t/>
            </a:r>
          </a:p>
          <a:p xmlns:a="http://schemas.openxmlformats.org/drawingml/2006/main">
            <a:r>
              <a:t>SRC-096: CREATE DATABASE SCOPED CREDENTIAL</a:t>
            </a:r>
          </a:p>
          <a:p xmlns:a="http://schemas.openxmlformats.org/drawingml/2006/main">
            <a:r>
              <a:t>https://learn.microsoft.com/en-us/sql/t-sql/statements/create-database-scoped-credential-transact-sql?view=sql-server-ver17</a:t>
            </a:r>
          </a:p>
          <a:p xmlns:a="http://schemas.openxmlformats.org/drawingml/2006/main">
            <a:r>
              <a:t>Abrufdatum laut Quellenregister: 2026-10-11</a:t>
            </a:r>
          </a:p>
          <a:p xmlns:a="http://schemas.openxmlformats.org/drawingml/2006/main">
            <a:r>
              <a:t/>
            </a:r>
          </a:p>
          <a:p xmlns:a="http://schemas.openxmlformats.org/drawingml/2006/main">
            <a:r>
              <a:t>Didaktische Zuordnung: CUR-016 / CUR-018.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Die Pfade lösen unterschiedliche Suchaufgaben. Eine Identifierfrage kann eine relationale Gleichheit benötigen. Full-Text bewertet lexikalische Suchformen. Vector Search benötigt einen passenden Modellraum und fachliche Relevanzurteile. Exact Top-k ist das Vergleichsoracle für die näherungsweise Vektorsuche (Approximate Nearest Neighbor, ANN), aber selbst kein Beleg fachlicher Relevanz. Relevanz misst man gegen eingefrorene Urteile. Recall@k misst die Überschneidung mit dem Exact Top-k unter demselben Kandidatenscope. Bei fehlendem Full-Text bleibt der Vergleich begrenzt. Keine Suchmethode wird pauschal als schneller oder besser dargestellt.</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SRC-073: VECTOR_DISTANCE</a:t>
            </a:r>
          </a:p>
          <a:p xmlns:a="http://schemas.openxmlformats.org/drawingml/2006/main">
            <a:r>
              <a:t>https://learn.microsoft.com/en-us/sql/t-sql/functions/vector-distance-transact-sql?view=sql-server-ver17</a:t>
            </a:r>
          </a:p>
          <a:p xmlns:a="http://schemas.openxmlformats.org/drawingml/2006/main">
            <a:r>
              <a:t>Abrufdatum laut Quellenregister: 2026-10-11</a:t>
            </a:r>
          </a:p>
          <a:p xmlns:a="http://schemas.openxmlformats.org/drawingml/2006/main">
            <a:r>
              <a:t/>
            </a:r>
          </a:p>
          <a:p xmlns:a="http://schemas.openxmlformats.org/drawingml/2006/main">
            <a:r>
              <a:t>SRC-078: VECTOR_SEARCH</a:t>
            </a:r>
          </a:p>
          <a:p xmlns:a="http://schemas.openxmlformats.org/drawingml/2006/main">
            <a:r>
              <a:t>https://learn.microsoft.com/en-us/sql/t-sql/functions/vector-search-transact-sql?view=sql-server-ver17</a:t>
            </a:r>
          </a:p>
          <a:p xmlns:a="http://schemas.openxmlformats.org/drawingml/2006/main">
            <a:r>
              <a:t>Abrufdatum laut Quellenregister: 2026-10-11</a:t>
            </a:r>
          </a:p>
          <a:p xmlns:a="http://schemas.openxmlformats.org/drawingml/2006/main">
            <a:r>
              <a:t/>
            </a:r>
          </a:p>
          <a:p xmlns:a="http://schemas.openxmlformats.org/drawingml/2006/main">
            <a:r>
              <a:t>SRC-087: Generate embeddings with Azure OpenAI</a:t>
            </a:r>
          </a:p>
          <a:p xmlns:a="http://schemas.openxmlformats.org/drawingml/2006/main">
            <a:r>
              <a:t>https://learn.microsoft.com/en-us/azure/foundry/openai/how-to/embeddings</a:t>
            </a:r>
          </a:p>
          <a:p xmlns:a="http://schemas.openxmlformats.org/drawingml/2006/main">
            <a:r>
              <a:t>Abrufdatum laut Quellenregister: 2026-10-11</a:t>
            </a:r>
          </a:p>
          <a:p xmlns:a="http://schemas.openxmlformats.org/drawingml/2006/main">
            <a:r>
              <a:t/>
            </a:r>
          </a:p>
          <a:p xmlns:a="http://schemas.openxmlformats.org/drawingml/2006/main">
            <a:r>
              <a:t>SRC-100: Full-Text Search</a:t>
            </a:r>
          </a:p>
          <a:p xmlns:a="http://schemas.openxmlformats.org/drawingml/2006/main">
            <a:r>
              <a:t>https://learn.microsoft.com/en-us/sql/relational-databases/search/full-text-search?view=sql-server-ver17</a:t>
            </a:r>
          </a:p>
          <a:p xmlns:a="http://schemas.openxmlformats.org/drawingml/2006/main">
            <a:r>
              <a:t>Abrufdatum laut Quellenregister: 2026-10-11</a:t>
            </a:r>
          </a:p>
          <a:p xmlns:a="http://schemas.openxmlformats.org/drawingml/2006/main">
            <a:r>
              <a:t/>
            </a:r>
          </a:p>
          <a:p xmlns:a="http://schemas.openxmlformats.org/drawingml/2006/main">
            <a:r>
              <a:t>Didaktische Zuordnung: CUR-017 / CUR-020.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Starten Sie QRY-017 über den manifestbasierten Aufrufer. Notieren Sie den tatsächlich erlaubten Identifier-Treffer und dessen Tenant. Full-Text ist ein optionaler Teil und benötigt installierte Komponente sowie einen vollständig populierten Index. Fehlt dies, wird während dieser Einheit nichts nachinstalliert. Der fehlende Teil bleibt WARN. Die kleine Fixture besitzt keinen allgemeinen Performance- oder Semantikclaim. Fragen Sie, welche eingefrorenen Relevanzurteile und welche ausreichend aufgelösten Messungen für eine spätere Pfadempfehlung fehlen. Cleanup und unabhängige eigene DB-Abwesenheit prüfen.</a:t>
            </a:r>
          </a:p>
          <a:p xmlns:a="http://schemas.openxmlformats.org/drawingml/2006/main">
            <a:r>
              <a:t/>
            </a:r>
          </a:p>
          <a:p xmlns:a="http://schemas.openxmlformats.org/drawingml/2006/main">
            <a:r>
              <a:t>Konkreter Aufruf nach Einrichtung gemäß DEMO_EXECUTION_GUIDE.md:</a:t>
            </a:r>
          </a:p>
          <a:p xmlns:a="http://schemas.openxmlformats.org/drawingml/2006/main">
            <a:r>
              <a:t>Invoke-SqlPerfDemo -DemoId QRY-017 -Server $server -Authentication $authentication -Username $username</a:t>
            </a:r>
          </a:p>
          <a:p xmlns:a="http://schemas.openxmlformats.org/drawingml/2006/main">
            <a:r>
              <a:t>Phasen und Abbruch: manifest.json sowie 90_Cleanup.sql. Vier vollständige Eigentumsmarker und denselben RunToken prüfen. Anschließend unabhängige Abwesenheit der eigenen DB bestätigen.</a:t>
            </a:r>
          </a:p>
          <a:p xmlns:a="http://schemas.openxmlformats.org/drawingml/2006/main">
            <a:r>
              <a:t>Demoquelle: Demos/09_AI_SQL_Server_2025/QRY-017_Search_Comparison/README.md</a:t>
            </a:r>
          </a:p>
          <a:p xmlns:a="http://schemas.openxmlformats.org/drawingml/2006/main">
            <a:r>
              <a:t>Ergebnisvertrag: Demos/09_AI_SQL_Server_2025/QRY-017_Search_Comparison/Expected/result-contract.json</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SRC-073: VECTOR_DISTANCE</a:t>
            </a:r>
          </a:p>
          <a:p xmlns:a="http://schemas.openxmlformats.org/drawingml/2006/main">
            <a:r>
              <a:t>https://learn.microsoft.com/en-us/sql/t-sql/functions/vector-distance-transact-sql?view=sql-server-ver17</a:t>
            </a:r>
          </a:p>
          <a:p xmlns:a="http://schemas.openxmlformats.org/drawingml/2006/main">
            <a:r>
              <a:t>Abrufdatum laut Quellenregister: 2026-10-11</a:t>
            </a:r>
          </a:p>
          <a:p xmlns:a="http://schemas.openxmlformats.org/drawingml/2006/main">
            <a:r>
              <a:t/>
            </a:r>
          </a:p>
          <a:p xmlns:a="http://schemas.openxmlformats.org/drawingml/2006/main">
            <a:r>
              <a:t>SRC-100: Full-Text Search</a:t>
            </a:r>
          </a:p>
          <a:p xmlns:a="http://schemas.openxmlformats.org/drawingml/2006/main">
            <a:r>
              <a:t>https://learn.microsoft.com/en-us/sql/relational-databases/search/full-text-search?view=sql-server-ver17</a:t>
            </a:r>
          </a:p>
          <a:p xmlns:a="http://schemas.openxmlformats.org/drawingml/2006/main">
            <a:r>
              <a:t>Abrufdatum laut Quellenregister: 2026-10-11</a:t>
            </a:r>
          </a:p>
          <a:p xmlns:a="http://schemas.openxmlformats.org/drawingml/2006/main">
            <a:r>
              <a:t/>
            </a:r>
          </a:p>
          <a:p xmlns:a="http://schemas.openxmlformats.org/drawingml/2006/main">
            <a:r>
              <a:t>Didaktische Zuordnung: CUR-017 / CUR-020.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RAG (Retrieval-Augmented Generation; Antworterzeugung mit zuvor ausgewählten Quellen) ergänzt eine generative Antwort um abgerufenen Kontext. Weder die Architektur noch eine plausible Antwort garantiert fachliche Richtigkeit. Die Quellenstelle muss den konkreten Claim stützen, in der erlaubten Version vorliegen und Bestandteil des tatsächlich gelieferten Kontexts sein. Ein fern liegender oder widersprüchlicher Treffer kann zur begründeten Nichtantwort führen. Die Anwendung begrenzt Kontextmenge und Claimformat. Offlinefixtures erlauben reproduzierbare Kontrollfälle, ersetzen aber keine unbekannte Livegeneration. Besprechen Sie die Fachbewertung getrennt von Distanz und Retrievalranking.</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SRC-095: Retrieval-Augmented Generation for Knowledge-Intensive NLP Tasks</a:t>
            </a:r>
          </a:p>
          <a:p xmlns:a="http://schemas.openxmlformats.org/drawingml/2006/main">
            <a:r>
              <a:t>https://papers.nips.cc/paper_files/paper/2020/hash/6b493230205f780e1bc26945df7481e5-Abstract.html</a:t>
            </a:r>
          </a:p>
          <a:p xmlns:a="http://schemas.openxmlformats.org/drawingml/2006/main">
            <a:r>
              <a:t>Abrufdatum laut Quellenregister: 2026-10-11</a:t>
            </a:r>
          </a:p>
          <a:p xmlns:a="http://schemas.openxmlformats.org/drawingml/2006/main">
            <a:r>
              <a:t/>
            </a:r>
          </a:p>
          <a:p xmlns:a="http://schemas.openxmlformats.org/drawingml/2006/main">
            <a:r>
              <a:t>Projektquelle: Demos/09_AI_SQL_Server_2025/QRY-018_Offline_RAG/README.md</a:t>
            </a:r>
          </a:p>
          <a:p xmlns:a="http://schemas.openxmlformats.org/drawingml/2006/main">
            <a:r>
              <a:t/>
            </a:r>
          </a:p>
          <a:p xmlns:a="http://schemas.openxmlformats.org/drawingml/2006/main">
            <a:r>
              <a:t>Didaktische Zuordnung: CUR-017.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Lassen Sie die Gruppe die vier Entscheidungen zunächst ohne Lösung vorhersagen. Starten Sie dann QRY-018 manifestbasiert. Lesen Sie Claim, tatsächlich abgerufene Quellenstelle, Version und Ergebnisstatus zusammen. Die vier Fälle ergeben eine akzeptierte, eine abgelehnte und zwei nicht beantwortete Situationen. Die feste Claimprüfung und die Fixture-Distanzschwelle sind keine universelle Antwortkorrektheitsregel. Fragen Sie nach einem zusätzlichen widersprüchlichen Dokument und dem Verhalten bei Revoke. Die einzige Trainerlösung wird im Offline-Arbeitsheft gepflegt. Cleanup und eigene DB-Abwesenheit abschließen.</a:t>
            </a:r>
          </a:p>
          <a:p xmlns:a="http://schemas.openxmlformats.org/drawingml/2006/main">
            <a:r>
              <a:t/>
            </a:r>
          </a:p>
          <a:p xmlns:a="http://schemas.openxmlformats.org/drawingml/2006/main">
            <a:r>
              <a:t>Konkreter Aufruf nach Einrichtung gemäß DEMO_EXECUTION_GUIDE.md:</a:t>
            </a:r>
          </a:p>
          <a:p xmlns:a="http://schemas.openxmlformats.org/drawingml/2006/main">
            <a:r>
              <a:t>Invoke-SqlPerfDemo -DemoId QRY-018 -Server $server -Authentication $authentication -Username $username</a:t>
            </a:r>
          </a:p>
          <a:p xmlns:a="http://schemas.openxmlformats.org/drawingml/2006/main">
            <a:r>
              <a:t>Phasen und Abbruch: manifest.json sowie 90_Cleanup.sql. Vier vollständige Eigentumsmarker und denselben RunToken prüfen. Anschließend unabhängige Abwesenheit der eigenen DB bestätigen.</a:t>
            </a:r>
          </a:p>
          <a:p xmlns:a="http://schemas.openxmlformats.org/drawingml/2006/main">
            <a:r>
              <a:t>Demoquelle: Demos/09_AI_SQL_Server_2025/QRY-018_Offline_RAG/README.md</a:t>
            </a:r>
          </a:p>
          <a:p xmlns:a="http://schemas.openxmlformats.org/drawingml/2006/main">
            <a:r>
              <a:t>Ergebnisvertrag: Demos/09_AI_SQL_Server_2025/QRY-018_Offline_RAG/Expected/result-contract.json</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SRC-095: Retrieval-Augmented Generation for Knowledge-Intensive NLP Tasks</a:t>
            </a:r>
          </a:p>
          <a:p xmlns:a="http://schemas.openxmlformats.org/drawingml/2006/main">
            <a:r>
              <a:t>https://papers.nips.cc/paper_files/paper/2020/hash/6b493230205f780e1bc26945df7481e5-Abstract.html</a:t>
            </a:r>
          </a:p>
          <a:p xmlns:a="http://schemas.openxmlformats.org/drawingml/2006/main">
            <a:r>
              <a:t>Abrufdatum laut Quellenregister: 2026-10-11</a:t>
            </a:r>
          </a:p>
          <a:p xmlns:a="http://schemas.openxmlformats.org/drawingml/2006/main">
            <a:r>
              <a:t/>
            </a:r>
          </a:p>
          <a:p xmlns:a="http://schemas.openxmlformats.org/drawingml/2006/main">
            <a:r>
              <a:t>Didaktische Zuordnung: CUR-017 / CUR-022.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Autorisierung wird vor Übergabe an das LLM (Large Language Model; großes Sprachmodell) umgesetzt. Modelltext und abgerufene Dokumente erhalten keine zusätzliche Ausführungsbefugnis. Ein Promptfilter oder ein Klick zur Bestätigung ersetzt keine SQL-Rechte. Der authentifizierte Kontext muss gegen manipulierbare Tenantwerte und später gegen Pooling geprüft werden. Credentials und Rawdiagnose gehören außerhalb der Schulungsartefakte. Providerabhängige Retention ist separat zu bewerten. Dieses Material demonstriert synthetische Kontrollfälle und beansprucht keine allgemeine Sicherheits- oder Compliancegarantie.</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SRC-088: Foundry Models data privacy</a:t>
            </a:r>
          </a:p>
          <a:p xmlns:a="http://schemas.openxmlformats.org/drawingml/2006/main">
            <a:r>
              <a:t>https://learn.microsoft.com/en-us/azure/foundry/responsible-ai/openai/data-privacy</a:t>
            </a:r>
          </a:p>
          <a:p xmlns:a="http://schemas.openxmlformats.org/drawingml/2006/main">
            <a:r>
              <a:t>Abrufdatum laut Quellenregister: 2026-10-11</a:t>
            </a:r>
          </a:p>
          <a:p xmlns:a="http://schemas.openxmlformats.org/drawingml/2006/main">
            <a:r>
              <a:t/>
            </a:r>
          </a:p>
          <a:p xmlns:a="http://schemas.openxmlformats.org/drawingml/2006/main">
            <a:r>
              <a:t>SRC-091: Execution context for GitHub Copilot</a:t>
            </a:r>
          </a:p>
          <a:p xmlns:a="http://schemas.openxmlformats.org/drawingml/2006/main">
            <a:r>
              <a:t>https://learn.microsoft.com/en-us/ssms/github-copilot/execution-context</a:t>
            </a:r>
          </a:p>
          <a:p xmlns:a="http://schemas.openxmlformats.org/drawingml/2006/main">
            <a:r>
              <a:t>Abrufdatum laut Quellenregister: 2026-10-11</a:t>
            </a:r>
          </a:p>
          <a:p xmlns:a="http://schemas.openxmlformats.org/drawingml/2006/main">
            <a:r>
              <a:t/>
            </a:r>
          </a:p>
          <a:p xmlns:a="http://schemas.openxmlformats.org/drawingml/2006/main">
            <a:r>
              <a:t>SRC-093: Row-Level Security</a:t>
            </a:r>
          </a:p>
          <a:p xmlns:a="http://schemas.openxmlformats.org/drawingml/2006/main">
            <a:r>
              <a:t>https://learn.microsoft.com/en-us/sql/relational-databases/security/row-level-security?view=sql-server-ver17</a:t>
            </a:r>
          </a:p>
          <a:p xmlns:a="http://schemas.openxmlformats.org/drawingml/2006/main">
            <a:r>
              <a:t>Abrufdatum laut Quellenregister: 2026-10-11</a:t>
            </a:r>
          </a:p>
          <a:p xmlns:a="http://schemas.openxmlformats.org/drawingml/2006/main">
            <a:r>
              <a:t/>
            </a:r>
          </a:p>
          <a:p xmlns:a="http://schemas.openxmlformats.org/drawingml/2006/main">
            <a:r>
              <a:t>SRC-096: CREATE DATABASE SCOPED CREDENTIAL</a:t>
            </a:r>
          </a:p>
          <a:p xmlns:a="http://schemas.openxmlformats.org/drawingml/2006/main">
            <a:r>
              <a:t>https://learn.microsoft.com/en-us/sql/t-sql/statements/create-database-scoped-credential-transact-sql?view=sql-server-ver17</a:t>
            </a:r>
          </a:p>
          <a:p xmlns:a="http://schemas.openxmlformats.org/drawingml/2006/main">
            <a:r>
              <a:t>Abrufdatum laut Quellenregister: 2026-10-11</a:t>
            </a:r>
          </a:p>
          <a:p xmlns:a="http://schemas.openxmlformats.org/drawingml/2006/main">
            <a:r>
              <a:t/>
            </a:r>
          </a:p>
          <a:p xmlns:a="http://schemas.openxmlformats.org/drawingml/2006/main">
            <a:r>
              <a:t>SRC-099: SQL Injection</a:t>
            </a:r>
          </a:p>
          <a:p xmlns:a="http://schemas.openxmlformats.org/drawingml/2006/main">
            <a:r>
              <a:t>https://learn.microsoft.com/en-us/sql/relational-databases/security/sql-injection?view=sql-server-ver17</a:t>
            </a:r>
          </a:p>
          <a:p xmlns:a="http://schemas.openxmlformats.org/drawingml/2006/main">
            <a:r>
              <a:t>Abrufdatum laut Quellenregister: 2026-10-11</a:t>
            </a:r>
          </a:p>
          <a:p xmlns:a="http://schemas.openxmlformats.org/drawingml/2006/main">
            <a:r>
              <a:t/>
            </a:r>
          </a:p>
          <a:p xmlns:a="http://schemas.openxmlformats.org/drawingml/2006/main">
            <a:r>
              <a:t>Didaktische Zuordnung: CUR-018.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Starten Sie QRY-019 manifestbasiert. Die Wertparameter werden tatsächlich gebunden, anstatt einen Angriffstext in ein privilegiertes Statement einzufügen. Ein zulässiger Literalwert kann Sonderzeichen enthalten. Die Strukturpolicy lehnt eine zusätzliche Query ab. Tabellen- oder Spaltennamen lassen sich nicht als gewöhnliche Wertparameter substituieren und benötigen eine feste Struktur beziehungsweise geprüfte Allowlist. Zeigen Sie die getrennten SQL-Rechtefehler. Der dbo-Kontrollharness ist kein Teilnehmerrecht. Diese Parametertechnik ist älter als SQL Server 2025, während der Demo-Versions-SKIP die Grenze des Workstreams bezeichnet. Cleanup und eigene DB-Abwesenheit prüfen.</a:t>
            </a:r>
          </a:p>
          <a:p xmlns:a="http://schemas.openxmlformats.org/drawingml/2006/main">
            <a:r>
              <a:t/>
            </a:r>
          </a:p>
          <a:p xmlns:a="http://schemas.openxmlformats.org/drawingml/2006/main">
            <a:r>
              <a:t>Konkreter Aufruf nach Einrichtung gemäß DEMO_EXECUTION_GUIDE.md:</a:t>
            </a:r>
          </a:p>
          <a:p xmlns:a="http://schemas.openxmlformats.org/drawingml/2006/main">
            <a:r>
              <a:t>Invoke-SqlPerfDemo -DemoId QRY-019 -Server $server -Authentication $authentication -Username $username</a:t>
            </a:r>
          </a:p>
          <a:p xmlns:a="http://schemas.openxmlformats.org/drawingml/2006/main">
            <a:r>
              <a:t>Phasen und Abbruch: manifest.json sowie 90_Cleanup.sql. Vier vollständige Eigentumsmarker und denselben RunToken prüfen. Anschließend unabhängige Abwesenheit der eigenen DB bestätigen.</a:t>
            </a:r>
          </a:p>
          <a:p xmlns:a="http://schemas.openxmlformats.org/drawingml/2006/main">
            <a:r>
              <a:t>Demoquelle: Demos/09_AI_SQL_Server_2025/QRY-019_SQL_Input_Policy/README.md</a:t>
            </a:r>
          </a:p>
          <a:p xmlns:a="http://schemas.openxmlformats.org/drawingml/2006/main">
            <a:r>
              <a:t>Ergebnisvertrag: Demos/09_AI_SQL_Server_2025/QRY-019_SQL_Input_Policy/Expected/result-contract.json</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SRC-099: SQL Injection</a:t>
            </a:r>
          </a:p>
          <a:p xmlns:a="http://schemas.openxmlformats.org/drawingml/2006/main">
            <a:r>
              <a:t>https://learn.microsoft.com/en-us/sql/relational-databases/security/sql-injection?view=sql-server-ver17</a:t>
            </a:r>
          </a:p>
          <a:p xmlns:a="http://schemas.openxmlformats.org/drawingml/2006/main">
            <a:r>
              <a:t>Abrufdatum laut Quellenregister: 2026-10-11</a:t>
            </a:r>
          </a:p>
          <a:p xmlns:a="http://schemas.openxmlformats.org/drawingml/2006/main">
            <a:r>
              <a:t/>
            </a:r>
          </a:p>
          <a:p xmlns:a="http://schemas.openxmlformats.org/drawingml/2006/main">
            <a:r>
              <a:t>SRC-091: Execution context for GitHub Copilot</a:t>
            </a:r>
          </a:p>
          <a:p xmlns:a="http://schemas.openxmlformats.org/drawingml/2006/main">
            <a:r>
              <a:t>https://learn.microsoft.com/en-us/ssms/github-copilot/execution-context</a:t>
            </a:r>
          </a:p>
          <a:p xmlns:a="http://schemas.openxmlformats.org/drawingml/2006/main">
            <a:r>
              <a:t>Abrufdatum laut Quellenregister: 2026-10-11</a:t>
            </a:r>
          </a:p>
          <a:p xmlns:a="http://schemas.openxmlformats.org/drawingml/2006/main">
            <a:r>
              <a:t/>
            </a:r>
          </a:p>
          <a:p xmlns:a="http://schemas.openxmlformats.org/drawingml/2006/main">
            <a:r>
              <a:t>Didaktische Zuordnung: CUR-018 / CUR-021.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Starten Sie DGN-009 über den Ausführungsleitfaden. Verfolgen Sie zuerst den tatsächlichen Retrievalpfad der manipulierten Quelle. Danach zeigen Sie die feste Antwort- und Toolfixture. Die Policy entscheidet unabhängig vom Wortlaut des Quelleninhalts. Zusätzlich belegen echte SQL-Rechtefehler die Datenbankgrenze. Eine feste Fixture ermöglicht eine wiederholbare Beobachtung, beweist aber keine Resistenz jedes späteren LLMs gegen Prompt Injection. Der Transferauftrag fragt nach einem erlaubten Dokument, das eine unerlaubte Toolaktion verlangt. Keine unbekannten Tools oder Provider aktivieren. Cleanup und eigene DB-Abwesenheit prüfen.</a:t>
            </a:r>
          </a:p>
          <a:p xmlns:a="http://schemas.openxmlformats.org/drawingml/2006/main">
            <a:r>
              <a:t/>
            </a:r>
          </a:p>
          <a:p xmlns:a="http://schemas.openxmlformats.org/drawingml/2006/main">
            <a:r>
              <a:t>Konkreter Aufruf nach Einrichtung gemäß DEMO_EXECUTION_GUIDE.md:</a:t>
            </a:r>
          </a:p>
          <a:p xmlns:a="http://schemas.openxmlformats.org/drawingml/2006/main">
            <a:r>
              <a:t>Invoke-SqlPerfDemo -DemoId DGN-009 -Server $server -Authentication $authentication -Username $username</a:t>
            </a:r>
          </a:p>
          <a:p xmlns:a="http://schemas.openxmlformats.org/drawingml/2006/main">
            <a:r>
              <a:t>Phasen und Abbruch: manifest.json sowie 90_Cleanup.sql. Vier vollständige Eigentumsmarker und denselben RunToken prüfen. Anschließend unabhängige Abwesenheit der eigenen DB bestätigen.</a:t>
            </a:r>
          </a:p>
          <a:p xmlns:a="http://schemas.openxmlformats.org/drawingml/2006/main">
            <a:r>
              <a:t>Demoquelle: Demos/09_AI_SQL_Server_2025/DGN-009_Offline_Injection/README.md</a:t>
            </a:r>
          </a:p>
          <a:p xmlns:a="http://schemas.openxmlformats.org/drawingml/2006/main">
            <a:r>
              <a:t>Ergebnisvertrag: Demos/09_AI_SQL_Server_2025/DGN-009_Offline_Injection/Expected/result-contract.json</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SRC-090: SSMS Agent mode</a:t>
            </a:r>
          </a:p>
          <a:p xmlns:a="http://schemas.openxmlformats.org/drawingml/2006/main">
            <a:r>
              <a:t>https://learn.microsoft.com/en-us/ssms/github-copilot/agent-mode</a:t>
            </a:r>
          </a:p>
          <a:p xmlns:a="http://schemas.openxmlformats.org/drawingml/2006/main">
            <a:r>
              <a:t>Abrufdatum laut Quellenregister: 2026-10-11</a:t>
            </a:r>
          </a:p>
          <a:p xmlns:a="http://schemas.openxmlformats.org/drawingml/2006/main">
            <a:r>
              <a:t/>
            </a:r>
          </a:p>
          <a:p xmlns:a="http://schemas.openxmlformats.org/drawingml/2006/main">
            <a:r>
              <a:t>SRC-091: Execution context for GitHub Copilot</a:t>
            </a:r>
          </a:p>
          <a:p xmlns:a="http://schemas.openxmlformats.org/drawingml/2006/main">
            <a:r>
              <a:t>https://learn.microsoft.com/en-us/ssms/github-copilot/execution-context</a:t>
            </a:r>
          </a:p>
          <a:p xmlns:a="http://schemas.openxmlformats.org/drawingml/2006/main">
            <a:r>
              <a:t>Abrufdatum laut Quellenregister: 2026-10-11</a:t>
            </a:r>
          </a:p>
          <a:p xmlns:a="http://schemas.openxmlformats.org/drawingml/2006/main">
            <a:r>
              <a:t/>
            </a:r>
          </a:p>
          <a:p xmlns:a="http://schemas.openxmlformats.org/drawingml/2006/main">
            <a:r>
              <a:t>SRC-099: SQL Injection</a:t>
            </a:r>
          </a:p>
          <a:p xmlns:a="http://schemas.openxmlformats.org/drawingml/2006/main">
            <a:r>
              <a:t>https://learn.microsoft.com/en-us/sql/relational-databases/security/sql-injection?view=sql-server-ver17</a:t>
            </a:r>
          </a:p>
          <a:p xmlns:a="http://schemas.openxmlformats.org/drawingml/2006/main">
            <a:r>
              <a:t>Abrufdatum laut Quellenregister: 2026-10-11</a:t>
            </a:r>
          </a:p>
          <a:p xmlns:a="http://schemas.openxmlformats.org/drawingml/2006/main">
            <a:r>
              <a:t/>
            </a:r>
          </a:p>
          <a:p xmlns:a="http://schemas.openxmlformats.org/drawingml/2006/main">
            <a:r>
              <a:t>Didaktische Zuordnung: CUR-018.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Starten Sie CON-010 manifestbasiert. Prüfen Sie zwei Baselinezeilen, zwei erlaubte vollständige Quellenkontexte, null fremde Rows, drei Rechteverweigerungen, null Rows nach Revoke und einen Kontextreset. Die drei WITHOUT LOGIN Benutzer besitzen ausschließlich die sechs geprüften CONNECT-/SELECT-Grants. Der privilegierte Labowner ist im eingefrorenen Prädikat ausdrücklich zugelassen, um Fixture und Cleanup zu verwalten. Die Demo schützt deshalb nicht vor diesem Owner. RLS (Row-Level Security; zeilenbezogene Zugriffskontrolle) filtert dbo, wenn ein Prädikat keine entsprechende Ausnahme besitzt. Reale Serverlogins, mehrere Sessions, Pooling, Filterung nach einer näherungsweisen Vektorsuche (Approximate Nearest Neighbor, ANN) und Seitenkanäle brauchen eigene Nachweise. Cleanup ist markergebunden und unabhängig zu bestätigen.</a:t>
            </a:r>
          </a:p>
          <a:p xmlns:a="http://schemas.openxmlformats.org/drawingml/2006/main">
            <a:r>
              <a:t/>
            </a:r>
          </a:p>
          <a:p xmlns:a="http://schemas.openxmlformats.org/drawingml/2006/main">
            <a:r>
              <a:t>Konkreter Aufruf nach Einrichtung gemäß DEMO_EXECUTION_GUIDE.md:</a:t>
            </a:r>
          </a:p>
          <a:p xmlns:a="http://schemas.openxmlformats.org/drawingml/2006/main">
            <a:r>
              <a:t>Invoke-SqlPerfDemo -DemoId CON-010 -Server $server -Authentication $authentication -Username $username</a:t>
            </a:r>
          </a:p>
          <a:p xmlns:a="http://schemas.openxmlformats.org/drawingml/2006/main">
            <a:r>
              <a:t>Phasen und Abbruch: manifest.json sowie 90_Cleanup.sql. Vier vollständige Eigentumsmarker und denselben RunToken prüfen. Anschließend unabhängige Abwesenheit der eigenen DB bestätigen.</a:t>
            </a:r>
          </a:p>
          <a:p xmlns:a="http://schemas.openxmlformats.org/drawingml/2006/main">
            <a:r>
              <a:t>Demoquelle: Demos/09_AI_SQL_Server_2025/CON-010_Tenant_Isolation/README.md</a:t>
            </a:r>
          </a:p>
          <a:p xmlns:a="http://schemas.openxmlformats.org/drawingml/2006/main">
            <a:r>
              <a:t>Ergebnisvertrag: Demos/09_AI_SQL_Server_2025/CON-010_Tenant_Isolation/Expected/result-contract.json</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SRC-093: Row-Level Security</a:t>
            </a:r>
          </a:p>
          <a:p xmlns:a="http://schemas.openxmlformats.org/drawingml/2006/main">
            <a:r>
              <a:t>https://learn.microsoft.com/en-us/sql/relational-databases/security/row-level-security?view=sql-server-ver17</a:t>
            </a:r>
          </a:p>
          <a:p xmlns:a="http://schemas.openxmlformats.org/drawingml/2006/main">
            <a:r>
              <a:t>Abrufdatum laut Quellenregister: 2026-10-11</a:t>
            </a:r>
          </a:p>
          <a:p xmlns:a="http://schemas.openxmlformats.org/drawingml/2006/main">
            <a:r>
              <a:t/>
            </a:r>
          </a:p>
          <a:p xmlns:a="http://schemas.openxmlformats.org/drawingml/2006/main">
            <a:r>
              <a:t>Didaktische Zuordnung: CUR-018.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DiskANN beschreibt eine approximative Suche. Das Forschungspaper erklärt das Konzept, verspricht aber keine SQL-Internals oder Performance. Ein kompatibler Vector Index und die passende Metric sind notwendige Prüfobjekte. Ein kNN-Fallback kann bei fehlendem kompatiblem Index für näherungsweise Vektorsuche (Approximate Nearest Neighbor, ANN) auftreten. Daher ist der Name VECTOR_SEARCH allein kein ANN-Beweis. SQL Server 2025 und neue Azure-Indexformen besitzen unterschiedliche Syntax- und Filtergrenzen. In der lokalen Quelle ist ein begrenztes Legacy-TOP_N-Profil auf 17.0.5005.3 erlaubt, bei numerischer Generation UNKNOWN/WARN. Ein Treffer nach Postfilter kann zu weniger als k Rows führen.</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SRC-073: VECTOR_DISTANCE</a:t>
            </a:r>
          </a:p>
          <a:p xmlns:a="http://schemas.openxmlformats.org/drawingml/2006/main">
            <a:r>
              <a:t>https://learn.microsoft.com/en-us/sql/t-sql/functions/vector-distance-transact-sql?view=sql-server-ver17</a:t>
            </a:r>
          </a:p>
          <a:p xmlns:a="http://schemas.openxmlformats.org/drawingml/2006/main">
            <a:r>
              <a:t>Abrufdatum laut Quellenregister: 2026-10-11</a:t>
            </a:r>
          </a:p>
          <a:p xmlns:a="http://schemas.openxmlformats.org/drawingml/2006/main">
            <a:r>
              <a:t/>
            </a:r>
          </a:p>
          <a:p xmlns:a="http://schemas.openxmlformats.org/drawingml/2006/main">
            <a:r>
              <a:t>SRC-077: CREATE VECTOR INDEX</a:t>
            </a:r>
          </a:p>
          <a:p xmlns:a="http://schemas.openxmlformats.org/drawingml/2006/main">
            <a:r>
              <a:t>https://learn.microsoft.com/en-us/sql/t-sql/statements/create-vector-index-transact-sql?view=sql-server-ver17</a:t>
            </a:r>
          </a:p>
          <a:p xmlns:a="http://schemas.openxmlformats.org/drawingml/2006/main">
            <a:r>
              <a:t>Abrufdatum laut Quellenregister: 2026-10-11</a:t>
            </a:r>
          </a:p>
          <a:p xmlns:a="http://schemas.openxmlformats.org/drawingml/2006/main">
            <a:r>
              <a:t/>
            </a:r>
          </a:p>
          <a:p xmlns:a="http://schemas.openxmlformats.org/drawingml/2006/main">
            <a:r>
              <a:t>SRC-078: VECTOR_SEARCH</a:t>
            </a:r>
          </a:p>
          <a:p xmlns:a="http://schemas.openxmlformats.org/drawingml/2006/main">
            <a:r>
              <a:t>https://learn.microsoft.com/en-us/sql/t-sql/functions/vector-search-transact-sql?view=sql-server-ver17</a:t>
            </a:r>
          </a:p>
          <a:p xmlns:a="http://schemas.openxmlformats.org/drawingml/2006/main">
            <a:r>
              <a:t>Abrufdatum laut Quellenregister: 2026-10-11</a:t>
            </a:r>
          </a:p>
          <a:p xmlns:a="http://schemas.openxmlformats.org/drawingml/2006/main">
            <a:r>
              <a:t/>
            </a:r>
          </a:p>
          <a:p xmlns:a="http://schemas.openxmlformats.org/drawingml/2006/main">
            <a:r>
              <a:t>SRC-094: DiskANN: Fast Accurate Billion-point Nearest Neighbor Search on a Single Node</a:t>
            </a:r>
          </a:p>
          <a:p xmlns:a="http://schemas.openxmlformats.org/drawingml/2006/main">
            <a:r>
              <a:t>https://www.microsoft.com/en-us/research/publication/diskann-fast-accurate-billion-point-nearest-neighbor-search-on-a-single-node/</a:t>
            </a:r>
          </a:p>
          <a:p xmlns:a="http://schemas.openxmlformats.org/drawingml/2006/main">
            <a:r>
              <a:t>Abrufdatum laut Quellenregister: 2026-10-11</a:t>
            </a:r>
          </a:p>
          <a:p xmlns:a="http://schemas.openxmlformats.org/drawingml/2006/main">
            <a:r>
              <a:t/>
            </a:r>
          </a:p>
          <a:p xmlns:a="http://schemas.openxmlformats.org/drawingml/2006/main">
            <a:r>
              <a:t>SRC-097: sys.vector_indexes</a:t>
            </a:r>
          </a:p>
          <a:p xmlns:a="http://schemas.openxmlformats.org/drawingml/2006/main">
            <a:r>
              <a:t>https://learn.microsoft.com/en-us/sql/relational-databases/system-catalog-views/sys-vector-indexes-transact-sql?view=sql-server-ver17</a:t>
            </a:r>
          </a:p>
          <a:p xmlns:a="http://schemas.openxmlformats.org/drawingml/2006/main">
            <a:r>
              <a:t>Abrufdatum laut Quellenregister: 2026-10-11</a:t>
            </a:r>
          </a:p>
          <a:p xmlns:a="http://schemas.openxmlformats.org/drawingml/2006/main">
            <a:r>
              <a:t/>
            </a:r>
          </a:p>
          <a:p xmlns:a="http://schemas.openxmlformats.org/drawingml/2006/main">
            <a:r>
              <a:t>Projektquelle: Documentation/Project_Planning/SQL_SERVER_2025_AI_ANN_PROFILE_DECISION.md</a:t>
            </a:r>
          </a:p>
          <a:p xmlns:a="http://schemas.openxmlformats.org/drawingml/2006/main">
            <a:r>
              <a:t/>
            </a:r>
          </a:p>
          <a:p xmlns:a="http://schemas.openxmlformats.org/drawingml/2006/main">
            <a:r>
              <a:t>Didaktische Zuordnung: CUR-019.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Dies ist eine Besprechung vorhandener gebundener Nachweise, kein zusätzlich gestarteter Qualifikationslauf. Lesen Sie den aktuellen IDX011-Runtime- und Benchmarkvertrag. Im kleinen Korpus dienen konstruierte Vektoren und unabhängige Distanzoracles der Mechanikprüfung. Recallgrenze und Tie-Regeln sind Profilbedingungen, keine universellen Qualitätswerte. Die begrenzte Requestmessung enthält Mess- und Ergebnisspeicheraufwand. Zeitquantisierung kann Nullfenster erzeugen, daher keine Speedupratio aus einer Nullbaseline berechnen. INDEXgeneration UNKNOWN bleibt sichtbar. Für einen späteren praktischen Lauf gelten der aktuelle öffentliche CLI- und Cleanupvertrag sowie Preview-/Ownergrenzen.</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SRC-073: VECTOR_DISTANCE</a:t>
            </a:r>
          </a:p>
          <a:p xmlns:a="http://schemas.openxmlformats.org/drawingml/2006/main">
            <a:r>
              <a:t>https://learn.microsoft.com/en-us/sql/t-sql/functions/vector-distance-transact-sql?view=sql-server-ver17</a:t>
            </a:r>
          </a:p>
          <a:p xmlns:a="http://schemas.openxmlformats.org/drawingml/2006/main">
            <a:r>
              <a:t>Abrufdatum laut Quellenregister: 2026-10-11</a:t>
            </a:r>
          </a:p>
          <a:p xmlns:a="http://schemas.openxmlformats.org/drawingml/2006/main">
            <a:r>
              <a:t/>
            </a:r>
          </a:p>
          <a:p xmlns:a="http://schemas.openxmlformats.org/drawingml/2006/main">
            <a:r>
              <a:t>SRC-077: CREATE VECTOR INDEX</a:t>
            </a:r>
          </a:p>
          <a:p xmlns:a="http://schemas.openxmlformats.org/drawingml/2006/main">
            <a:r>
              <a:t>https://learn.microsoft.com/en-us/sql/t-sql/statements/create-vector-index-transact-sql?view=sql-server-ver17</a:t>
            </a:r>
          </a:p>
          <a:p xmlns:a="http://schemas.openxmlformats.org/drawingml/2006/main">
            <a:r>
              <a:t>Abrufdatum laut Quellenregister: 2026-10-11</a:t>
            </a:r>
          </a:p>
          <a:p xmlns:a="http://schemas.openxmlformats.org/drawingml/2006/main">
            <a:r>
              <a:t/>
            </a:r>
          </a:p>
          <a:p xmlns:a="http://schemas.openxmlformats.org/drawingml/2006/main">
            <a:r>
              <a:t>SRC-078: VECTOR_SEARCH</a:t>
            </a:r>
          </a:p>
          <a:p xmlns:a="http://schemas.openxmlformats.org/drawingml/2006/main">
            <a:r>
              <a:t>https://learn.microsoft.com/en-us/sql/t-sql/functions/vector-search-transact-sql?view=sql-server-ver17</a:t>
            </a:r>
          </a:p>
          <a:p xmlns:a="http://schemas.openxmlformats.org/drawingml/2006/main">
            <a:r>
              <a:t>Abrufdatum laut Quellenregister: 2026-10-11</a:t>
            </a:r>
          </a:p>
          <a:p xmlns:a="http://schemas.openxmlformats.org/drawingml/2006/main">
            <a:r>
              <a:t/>
            </a:r>
          </a:p>
          <a:p xmlns:a="http://schemas.openxmlformats.org/drawingml/2006/main">
            <a:r>
              <a:t>SRC-097: sys.vector_indexes</a:t>
            </a:r>
          </a:p>
          <a:p xmlns:a="http://schemas.openxmlformats.org/drawingml/2006/main">
            <a:r>
              <a:t>https://learn.microsoft.com/en-us/sql/relational-databases/system-catalog-views/sys-vector-indexes-transact-sql?view=sql-server-ver17</a:t>
            </a:r>
          </a:p>
          <a:p xmlns:a="http://schemas.openxmlformats.org/drawingml/2006/main">
            <a:r>
              <a:t>Abrufdatum laut Quellenregister: 2026-10-11</a:t>
            </a:r>
          </a:p>
          <a:p xmlns:a="http://schemas.openxmlformats.org/drawingml/2006/main">
            <a:r>
              <a:t/>
            </a:r>
          </a:p>
          <a:p xmlns:a="http://schemas.openxmlformats.org/drawingml/2006/main">
            <a:r>
              <a:t>Projektquelle: Documentation/Project_Planning/SQL_SERVER_2025_AI_IDX011_RUNTIME_REVIEW.md</a:t>
            </a:r>
          </a:p>
          <a:p xmlns:a="http://schemas.openxmlformats.org/drawingml/2006/main">
            <a:r>
              <a:t/>
            </a:r>
          </a:p>
          <a:p xmlns:a="http://schemas.openxmlformats.org/drawingml/2006/main">
            <a:r>
              <a:t>Projektquelle: Documentation/Project_Planning/SQL_SERVER_2025_AI_IDX011_BENCHMARK_CONTRACT.md</a:t>
            </a:r>
          </a:p>
          <a:p xmlns:a="http://schemas.openxmlformats.org/drawingml/2006/main">
            <a:r>
              <a:t/>
            </a:r>
          </a:p>
          <a:p xmlns:a="http://schemas.openxmlformats.org/drawingml/2006/main">
            <a:r>
              <a:t>Projektquelle: Documentation/Project_Planning/SQL_SERVER_2025_AI_ANN_MEASUREMENT_REVIEW.md</a:t>
            </a:r>
          </a:p>
          <a:p xmlns:a="http://schemas.openxmlformats.org/drawingml/2006/main">
            <a:r>
              <a:t/>
            </a:r>
          </a:p>
          <a:p xmlns:a="http://schemas.openxmlformats.org/drawingml/2006/main">
            <a:r>
              <a:t>Didaktische Zuordnung: CUR-019.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Besprechen Sie die öffentliche Vorstufe und die gebundenen Teilnachweise ohne einen neuen Lauf. Die dokumentierte SQL-2025-Einschränkung kann MAXDOP (Maximum Degree of Parallelism; konfigurierte Grenze für den Parallelitätsgrad) an CREATE VECTOR INDEX beziehungsweise VECTOR_SEARCH ignorieren. Ein gesetzter DBwert ist ebenfalls kein gemessener Workerbeleg. Sessionwrites zählen Dirty-Page-Markierungen und sind keine tatsächlichen Datei-Writes. Dateicounter umfassen alle Writer einer eigenen Datei im Zeitfenster. TempDB-Deltas abgeschlossener eigener Tasks decken nicht automatisch alle laufenden Tasks ab. Buildkosten, Fähigkeit zu Datenänderungen (Data Manipulation Language, DML), Ergebnisqualität und Wiederherstellung gehören zusammen. Zusätzlicher Speicher ist auch ohne Suchgewinn relevant.</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SRC-077: CREATE VECTOR INDEX</a:t>
            </a:r>
          </a:p>
          <a:p xmlns:a="http://schemas.openxmlformats.org/drawingml/2006/main">
            <a:r>
              <a:t>https://learn.microsoft.com/en-us/sql/t-sql/statements/create-vector-index-transact-sql?view=sql-server-ver17</a:t>
            </a:r>
          </a:p>
          <a:p xmlns:a="http://schemas.openxmlformats.org/drawingml/2006/main">
            <a:r>
              <a:t>Abrufdatum laut Quellenregister: 2026-10-11</a:t>
            </a:r>
          </a:p>
          <a:p xmlns:a="http://schemas.openxmlformats.org/drawingml/2006/main">
            <a:r>
              <a:t/>
            </a:r>
          </a:p>
          <a:p xmlns:a="http://schemas.openxmlformats.org/drawingml/2006/main">
            <a:r>
              <a:t>SRC-078: VECTOR_SEARCH</a:t>
            </a:r>
          </a:p>
          <a:p xmlns:a="http://schemas.openxmlformats.org/drawingml/2006/main">
            <a:r>
              <a:t>https://learn.microsoft.com/en-us/sql/t-sql/functions/vector-search-transact-sql?view=sql-server-ver17</a:t>
            </a:r>
          </a:p>
          <a:p xmlns:a="http://schemas.openxmlformats.org/drawingml/2006/main">
            <a:r>
              <a:t>Abrufdatum laut Quellenregister: 2026-10-11</a:t>
            </a:r>
          </a:p>
          <a:p xmlns:a="http://schemas.openxmlformats.org/drawingml/2006/main">
            <a:r>
              <a:t/>
            </a:r>
          </a:p>
          <a:p xmlns:a="http://schemas.openxmlformats.org/drawingml/2006/main">
            <a:r>
              <a:t>SRC-097: sys.vector_indexes</a:t>
            </a:r>
          </a:p>
          <a:p xmlns:a="http://schemas.openxmlformats.org/drawingml/2006/main">
            <a:r>
              <a:t>https://learn.microsoft.com/en-us/sql/relational-databases/system-catalog-views/sys-vector-indexes-transact-sql?view=sql-server-ver17</a:t>
            </a:r>
          </a:p>
          <a:p xmlns:a="http://schemas.openxmlformats.org/drawingml/2006/main">
            <a:r>
              <a:t>Abrufdatum laut Quellenregister: 2026-10-11</a:t>
            </a:r>
          </a:p>
          <a:p xmlns:a="http://schemas.openxmlformats.org/drawingml/2006/main">
            <a:r>
              <a:t/>
            </a:r>
          </a:p>
          <a:p xmlns:a="http://schemas.openxmlformats.org/drawingml/2006/main">
            <a:r>
              <a:t>SRC-106: SQL Server 2025 known issues</a:t>
            </a:r>
          </a:p>
          <a:p xmlns:a="http://schemas.openxmlformats.org/drawingml/2006/main">
            <a:r>
              <a:t>https://learn.microsoft.com/en-us/sql/sql-server/sql-server-2025-known-issues?view=sql-server-ver17#vector-index</a:t>
            </a:r>
          </a:p>
          <a:p xmlns:a="http://schemas.openxmlformats.org/drawingml/2006/main">
            <a:r>
              <a:t>Abrufdatum laut Quellenregister: 2026-10-11</a:t>
            </a:r>
          </a:p>
          <a:p xmlns:a="http://schemas.openxmlformats.org/drawingml/2006/main">
            <a:r>
              <a:t/>
            </a:r>
          </a:p>
          <a:p xmlns:a="http://schemas.openxmlformats.org/drawingml/2006/main">
            <a:r>
              <a:t>Projektquelle: Documentation/Project_Planning/SQL_SERVER_2025_AI_IDX012_COST_REVIEW.md</a:t>
            </a:r>
          </a:p>
          <a:p xmlns:a="http://schemas.openxmlformats.org/drawingml/2006/main">
            <a:r>
              <a:t/>
            </a:r>
          </a:p>
          <a:p xmlns:a="http://schemas.openxmlformats.org/drawingml/2006/main">
            <a:r>
              <a:t>Projektquelle: Documentation/Project_Planning/SQL_SERVER_2025_AI_IDX012_DML_BOUNDARY_REVIEW.md</a:t>
            </a:r>
          </a:p>
          <a:p xmlns:a="http://schemas.openxmlformats.org/drawingml/2006/main">
            <a:r>
              <a:t/>
            </a:r>
          </a:p>
          <a:p xmlns:a="http://schemas.openxmlformats.org/drawingml/2006/main">
            <a:r>
              <a:t>Didaktische Zuordnung: CUR-019.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bezeichnet die Baseline und B die gezielte Gegenmaßnahme. AB/BA verteilt Reihenfolgeeffekte, AA zeigt Variation ohne Änderung. Das ersetzt keine ausreichende Stichprobe oder vollständige Ursacheanalyse. Ergebnisse und Quellen müssen vor und nach dem Fenster gleich bleiben. Der Requestschlüssel bindet Counterpunkte an dieselbe eigene Ausführung. Ein Actual Plan ist eine repräsentative Laufzeitbeobachtung und kein Beweis vollständiger Systemkosten. Batchdauer und individuelle Querylatenz sind unterschiedliche Größen. Query Store liefert keinen direkten p99-Beleg der Anwendung. Auf Nullbaseline wird N/A statt einer erfundenen Ratio berichtet.</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SRC-027: Monitor performance by using the Query Store</a:t>
            </a:r>
          </a:p>
          <a:p xmlns:a="http://schemas.openxmlformats.org/drawingml/2006/main">
            <a:r>
              <a:t>https://learn.microsoft.com/en-us/sql/relational-databases/performance/monitoring-performance-by-using-the-query-store?view=sql-server-ver17</a:t>
            </a:r>
          </a:p>
          <a:p xmlns:a="http://schemas.openxmlformats.org/drawingml/2006/main">
            <a:r>
              <a:t>Abrufdatum laut Quellenregister: 2026-07-24</a:t>
            </a:r>
          </a:p>
          <a:p xmlns:a="http://schemas.openxmlformats.org/drawingml/2006/main">
            <a:r>
              <a:t/>
            </a:r>
          </a:p>
          <a:p xmlns:a="http://schemas.openxmlformats.org/drawingml/2006/main">
            <a:r>
              <a:t>SRC-028: Performance monitoring and tuning tools</a:t>
            </a:r>
          </a:p>
          <a:p xmlns:a="http://schemas.openxmlformats.org/drawingml/2006/main">
            <a:r>
              <a:t>https://learn.microsoft.com/en-us/sql/relational-databases/performance/performance-monitoring-and-tuning-tools?view=sql-server-ver17</a:t>
            </a:r>
          </a:p>
          <a:p xmlns:a="http://schemas.openxmlformats.org/drawingml/2006/main">
            <a:r>
              <a:t>Abrufdatum laut Quellenregister: 2026-07-24</a:t>
            </a:r>
          </a:p>
          <a:p xmlns:a="http://schemas.openxmlformats.org/drawingml/2006/main">
            <a:r>
              <a:t/>
            </a:r>
          </a:p>
          <a:p xmlns:a="http://schemas.openxmlformats.org/drawingml/2006/main">
            <a:r>
              <a:t>SRC-032: Tune nonclustered indexes with missing index suggestions</a:t>
            </a:r>
          </a:p>
          <a:p xmlns:a="http://schemas.openxmlformats.org/drawingml/2006/main">
            <a:r>
              <a:t>https://learn.microsoft.com/en-us/sql/relational-databases/indexes/tune-nonclustered-missing-index-suggestions?view=sql-server-ver17</a:t>
            </a:r>
          </a:p>
          <a:p xmlns:a="http://schemas.openxmlformats.org/drawingml/2006/main">
            <a:r>
              <a:t>Abrufdatum laut Quellenregister: 2026-07-24</a:t>
            </a:r>
          </a:p>
          <a:p xmlns:a="http://schemas.openxmlformats.org/drawingml/2006/main">
            <a:r>
              <a:t/>
            </a:r>
          </a:p>
          <a:p xmlns:a="http://schemas.openxmlformats.org/drawingml/2006/main">
            <a:r>
              <a:t>Projektquelle: Documentation/Project_Planning/SQL_SERVER_2025_AI_WORKSTREAM_PLAN.md</a:t>
            </a:r>
          </a:p>
          <a:p xmlns:a="http://schemas.openxmlformats.org/drawingml/2006/main">
            <a:r>
              <a:t/>
            </a:r>
          </a:p>
          <a:p xmlns:a="http://schemas.openxmlformats.org/drawingml/2006/main">
            <a:r>
              <a:t>Didaktische Zuordnung: CUR-020 / CUR-021.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Die Werte stammen unverändert aus der gebundenen RES008-Aggregation. Vier Populationen enthalten je100 synthetische float32-Vektoren. Je vollständigem Profil gehören20 Warmups und54 Messfenster zu5420 Queryoracles. Warmups und AA werden getrennt ausgewertet. Die Tabelle zeigt nur die AB/BA-Mediane aus Lauf1, keine vollständigen Records. Für1536 enthält die A-Elapsed-Seite ein Nullfenster. LIVE_REQUEST-Counter umfassen Arbeit an ihren eigenen Messgrenzen, während Elapsed die100-Query-Schleife einschließlich Tempresult-Inserts umfasst. Diese Bereiche sind nicht identisch. CPU (Central Processing Unit; Prozessor) und Elapsed besitzen beim384-Paar verschiedene Richtungen. Die30 numerischen FWK-PASSs je Profil stehen neben Gesamt-WARN, repräsentativen Plänen und offener Modellqualität. Der zweite Lauf, Min/Max, AA, physische Reads und Writes bleiben im kanonischen Nachweis. Kein p99, keine individuelle Querylatenz und kein allgemeiner Speedup.</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Projektquelle: Documentation/Project_Planning/SQL_SERVER_2025_AI_RESOURCE_AGGREGATION_REVIEW.md</a:t>
            </a:r>
          </a:p>
          <a:p xmlns:a="http://schemas.openxmlformats.org/drawingml/2006/main">
            <a:r>
              <a:t/>
            </a:r>
          </a:p>
          <a:p xmlns:a="http://schemas.openxmlformats.org/drawingml/2006/main">
            <a:r>
              <a:t>Projektquelle: Documentation/HowTo/SQL_SERVER_2025_AI_OFFLINE_WORKBOOK.md</a:t>
            </a:r>
          </a:p>
          <a:p xmlns:a="http://schemas.openxmlformats.org/drawingml/2006/main">
            <a:r>
              <a:t/>
            </a:r>
          </a:p>
          <a:p xmlns:a="http://schemas.openxmlformats.org/drawingml/2006/main">
            <a:r>
              <a:t>Didaktische Zuordnung: CUR-020.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Lassen Sie eine langsame Antwort als Hypothese in SQL-, Netz-, Queue- und Modellanteile zerlegen. RES009 benötigt begrenzte eigene Sessions, endliche Ressourcen und Stopbedingungen. DGN011 benötigt bei realer Inferenz einen gesondert freigegebenen Provider. Fehler bei der Authentifizierung, Verbindungsverschlüsselung (Transport Layer Security, TLS) oder Vektordimension werden vor der Persistenz erkannt. Erfassen Sie endliche Requestrohwerte für belastbare Quantile und Fehlerraten. Waits sind Diagnosehinweise, keine isolierten Ursachenbeweise. Die kanonischen Entwürfe liefern den späteren Lifecycle. Dieses Deck startet weder einen Concurrent Workload noch einen Netz- oder Modellcall.</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SRC-027: Monitor performance by using the Query Store</a:t>
            </a:r>
          </a:p>
          <a:p xmlns:a="http://schemas.openxmlformats.org/drawingml/2006/main">
            <a:r>
              <a:t>https://learn.microsoft.com/en-us/sql/relational-databases/performance/monitoring-performance-by-using-the-query-store?view=sql-server-ver17</a:t>
            </a:r>
          </a:p>
          <a:p xmlns:a="http://schemas.openxmlformats.org/drawingml/2006/main">
            <a:r>
              <a:t>Abrufdatum laut Quellenregister: 2026-07-24</a:t>
            </a:r>
          </a:p>
          <a:p xmlns:a="http://schemas.openxmlformats.org/drawingml/2006/main">
            <a:r>
              <a:t/>
            </a:r>
          </a:p>
          <a:p xmlns:a="http://schemas.openxmlformats.org/drawingml/2006/main">
            <a:r>
              <a:t>SRC-028: Performance monitoring and tuning tools</a:t>
            </a:r>
          </a:p>
          <a:p xmlns:a="http://schemas.openxmlformats.org/drawingml/2006/main">
            <a:r>
              <a:t>https://learn.microsoft.com/en-us/sql/relational-databases/performance/performance-monitoring-and-tuning-tools?view=sql-server-ver17</a:t>
            </a:r>
          </a:p>
          <a:p xmlns:a="http://schemas.openxmlformats.org/drawingml/2006/main">
            <a:r>
              <a:t>Abrufdatum laut Quellenregister: 2026-07-24</a:t>
            </a:r>
          </a:p>
          <a:p xmlns:a="http://schemas.openxmlformats.org/drawingml/2006/main">
            <a:r>
              <a:t/>
            </a:r>
          </a:p>
          <a:p xmlns:a="http://schemas.openxmlformats.org/drawingml/2006/main">
            <a:r>
              <a:t>SRC-032: Tune nonclustered indexes with missing index suggestions</a:t>
            </a:r>
          </a:p>
          <a:p xmlns:a="http://schemas.openxmlformats.org/drawingml/2006/main">
            <a:r>
              <a:t>https://learn.microsoft.com/en-us/sql/relational-databases/indexes/tune-nonclustered-missing-index-suggestions?view=sql-server-ver17</a:t>
            </a:r>
          </a:p>
          <a:p xmlns:a="http://schemas.openxmlformats.org/drawingml/2006/main">
            <a:r>
              <a:t>Abrufdatum laut Quellenregister: 2026-07-24</a:t>
            </a:r>
          </a:p>
          <a:p xmlns:a="http://schemas.openxmlformats.org/drawingml/2006/main">
            <a:r>
              <a:t/>
            </a:r>
          </a:p>
          <a:p xmlns:a="http://schemas.openxmlformats.org/drawingml/2006/main">
            <a:r>
              <a:t>SRC-081: AI_GENERATE_EMBEDDINGS</a:t>
            </a:r>
          </a:p>
          <a:p xmlns:a="http://schemas.openxmlformats.org/drawingml/2006/main">
            <a:r>
              <a:t>https://learn.microsoft.com/en-us/sql/t-sql/functions/ai-generate-embeddings-transact-sql?view=sql-server-ver17</a:t>
            </a:r>
          </a:p>
          <a:p xmlns:a="http://schemas.openxmlformats.org/drawingml/2006/main">
            <a:r>
              <a:t>Abrufdatum laut Quellenregister: 2026-10-11</a:t>
            </a:r>
          </a:p>
          <a:p xmlns:a="http://schemas.openxmlformats.org/drawingml/2006/main">
            <a:r>
              <a:t/>
            </a:r>
          </a:p>
          <a:p xmlns:a="http://schemas.openxmlformats.org/drawingml/2006/main">
            <a:r>
              <a:t>SRC-082: sp_invoke_external_rest_endpoint</a:t>
            </a:r>
          </a:p>
          <a:p xmlns:a="http://schemas.openxmlformats.org/drawingml/2006/main">
            <a:r>
              <a:t>https://learn.microsoft.com/en-us/sql/relational-databases/system-stored-procedures/sp-invoke-external-rest-endpoint-transact-sql?view=sql-server-ver17</a:t>
            </a:r>
          </a:p>
          <a:p xmlns:a="http://schemas.openxmlformats.org/drawingml/2006/main">
            <a:r>
              <a:t>Abrufdatum laut Quellenregister: 2026-10-11</a:t>
            </a:r>
          </a:p>
          <a:p xmlns:a="http://schemas.openxmlformats.org/drawingml/2006/main">
            <a:r>
              <a:t/>
            </a:r>
          </a:p>
          <a:p xmlns:a="http://schemas.openxmlformats.org/drawingml/2006/main">
            <a:r>
              <a:t>Projektquelle: Documentation/Demo_Catalog/SQL_SERVER_2025_AI_DEMO_DESIGNS.md</a:t>
            </a:r>
          </a:p>
          <a:p xmlns:a="http://schemas.openxmlformats.org/drawingml/2006/main">
            <a:r>
              <a:t/>
            </a:r>
          </a:p>
          <a:p xmlns:a="http://schemas.openxmlformats.org/drawingml/2006/main">
            <a:r>
              <a:t>Didaktische Zuordnung: CUR-020.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Ein geeigneter synthetischer Prompt lautet: Erkläre diese feste Query und nenne eine widerlegbare Performancehypothese für Engine17.x und CL170. Welche Belege zu Resultaten, Plänen, Lesezugriffen und Datenänderungen (Data Manipulation Language, DML) fehlen vor einer Änderung? Ergänzen Sie keine echten Querytexte oder Diagnosepläne. Die Lehrperson lässt die Gruppe unklare Annahmen benennen. Ein LLM (Large Language Model; großes Sprachmodell) kann falsche Syntax, Versionsgrenzen oder Rechte voraussetzen. Konfigurationsänderungen brauchen einen eigenen Wirkungs- und Rückfallvertrag. Eine erfolgreiche Ausführung beweist weder fachliche Gleichheit noch Performancegewinn. Die kontrollierte Offlinefixture erlaubt den gleichen Vorschlag in wiederholbaren Versuchen.</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SRC-027: Monitor performance by using the Query Store</a:t>
            </a:r>
          </a:p>
          <a:p xmlns:a="http://schemas.openxmlformats.org/drawingml/2006/main">
            <a:r>
              <a:t>https://learn.microsoft.com/en-us/sql/relational-databases/performance/monitoring-performance-by-using-the-query-store?view=sql-server-ver17</a:t>
            </a:r>
          </a:p>
          <a:p xmlns:a="http://schemas.openxmlformats.org/drawingml/2006/main">
            <a:r>
              <a:t>Abrufdatum laut Quellenregister: 2026-07-24</a:t>
            </a:r>
          </a:p>
          <a:p xmlns:a="http://schemas.openxmlformats.org/drawingml/2006/main">
            <a:r>
              <a:t/>
            </a:r>
          </a:p>
          <a:p xmlns:a="http://schemas.openxmlformats.org/drawingml/2006/main">
            <a:r>
              <a:t>SRC-028: Performance monitoring and tuning tools</a:t>
            </a:r>
          </a:p>
          <a:p xmlns:a="http://schemas.openxmlformats.org/drawingml/2006/main">
            <a:r>
              <a:t>https://learn.microsoft.com/en-us/sql/relational-databases/performance/performance-monitoring-and-tuning-tools?view=sql-server-ver17</a:t>
            </a:r>
          </a:p>
          <a:p xmlns:a="http://schemas.openxmlformats.org/drawingml/2006/main">
            <a:r>
              <a:t>Abrufdatum laut Quellenregister: 2026-07-24</a:t>
            </a:r>
          </a:p>
          <a:p xmlns:a="http://schemas.openxmlformats.org/drawingml/2006/main">
            <a:r>
              <a:t/>
            </a:r>
          </a:p>
          <a:p xmlns:a="http://schemas.openxmlformats.org/drawingml/2006/main">
            <a:r>
              <a:t>SRC-089: GitHub Copilot in SSMS overview</a:t>
            </a:r>
          </a:p>
          <a:p xmlns:a="http://schemas.openxmlformats.org/drawingml/2006/main">
            <a:r>
              <a:t>https://learn.microsoft.com/en-us/ssms/github-copilot/overview</a:t>
            </a:r>
          </a:p>
          <a:p xmlns:a="http://schemas.openxmlformats.org/drawingml/2006/main">
            <a:r>
              <a:t>Abrufdatum laut Quellenregister: 2026-10-11</a:t>
            </a:r>
          </a:p>
          <a:p xmlns:a="http://schemas.openxmlformats.org/drawingml/2006/main">
            <a:r>
              <a:t/>
            </a:r>
          </a:p>
          <a:p xmlns:a="http://schemas.openxmlformats.org/drawingml/2006/main">
            <a:r>
              <a:t>SRC-091: Execution context for GitHub Copilot</a:t>
            </a:r>
          </a:p>
          <a:p xmlns:a="http://schemas.openxmlformats.org/drawingml/2006/main">
            <a:r>
              <a:t>https://learn.microsoft.com/en-us/ssms/github-copilot/execution-context</a:t>
            </a:r>
          </a:p>
          <a:p xmlns:a="http://schemas.openxmlformats.org/drawingml/2006/main">
            <a:r>
              <a:t>Abrufdatum laut Quellenregister: 2026-10-11</a:t>
            </a:r>
          </a:p>
          <a:p xmlns:a="http://schemas.openxmlformats.org/drawingml/2006/main">
            <a:r>
              <a:t/>
            </a:r>
          </a:p>
          <a:p xmlns:a="http://schemas.openxmlformats.org/drawingml/2006/main">
            <a:r>
              <a:t>SRC-099: SQL Injection</a:t>
            </a:r>
          </a:p>
          <a:p xmlns:a="http://schemas.openxmlformats.org/drawingml/2006/main">
            <a:r>
              <a:t>https://learn.microsoft.com/en-us/sql/relational-databases/security/sql-injection?view=sql-server-ver17</a:t>
            </a:r>
          </a:p>
          <a:p xmlns:a="http://schemas.openxmlformats.org/drawingml/2006/main">
            <a:r>
              <a:t>Abrufdatum laut Quellenregister: 2026-10-11</a:t>
            </a:r>
          </a:p>
          <a:p xmlns:a="http://schemas.openxmlformats.org/drawingml/2006/main">
            <a:r>
              <a:t/>
            </a:r>
          </a:p>
          <a:p xmlns:a="http://schemas.openxmlformats.org/drawingml/2006/main">
            <a:r>
              <a:t>Projektquelle: Documentation/Project_Planning/SQL_SERVER_2025_AI_WORKSTREAM_PLAN.md</a:t>
            </a:r>
          </a:p>
          <a:p xmlns:a="http://schemas.openxmlformats.org/drawingml/2006/main">
            <a:r>
              <a:t/>
            </a:r>
          </a:p>
          <a:p xmlns:a="http://schemas.openxmlformats.org/drawingml/2006/main">
            <a:r>
              <a:t>Didaktische Zuordnung: CUR-021.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Besprechen Sie den Vorschlag zuerst ohne einen neuen SQL-Lauf. Die vorhandenen Teilbelege betreffen einen kleinen synthetischen 1000-Row-Fall. Zwei private vollständige Original-Readerplanprofile bestätigen inzwischen je den Wechsel Clustered Index Seek auf dem vorhandenen PK (Primary Key; Primärschlüssel), Index Seek auf dem eigenen Candidate und wieder Clustered Index Seek nach dem Abbau. Je Actualplan sind Ergebnisroot 10, Source 10, eine Ausführung und die ursprünglichen Runtimeparameter 101/110 an die echte Readerausführung gebunden. Die zusätzliche Instrumentierung bleibt von bisherigen Performancefenstern getrennt. Diese begrenzte Beobachtung bestätigt keinen Indexnettonutzen. Der INSERT-Versuch enthält OUTPUT, Roworacles, BEGIN/ROLLBACK und Abwesenheitskontrollen, daher ist seine Batchdauer keine reine INSERT- oder Commitzeit. SYSrequestWrites 0 beweist keine Abwesenheit von Ein- und Ausgabezugriffen (Input/Output, I/O) des Transaktionslogs. Vollständige Laufprüfungen, Performance-Testprofile (TP-PERF), Kosten für Indexaufbau, Datenänderungen (Data Manipulation Language, DML), Worker und Speicher sowie der Nettonutzen bleiben zu qualifizieren. Quellenstand dieser neuen Readerplanaussage: main 4bfb1914623c3c49fcc287ee8079013a0fad6ddb, 2026-10-12. Der Transferauftrag fordert den nächsten Versuch, der den behaupteten Lesegewinn widerlegen könnte.</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SRC-027: Monitor performance by using the Query Store</a:t>
            </a:r>
          </a:p>
          <a:p xmlns:a="http://schemas.openxmlformats.org/drawingml/2006/main">
            <a:r>
              <a:t>https://learn.microsoft.com/en-us/sql/relational-databases/performance/monitoring-performance-by-using-the-query-store?view=sql-server-ver17</a:t>
            </a:r>
          </a:p>
          <a:p xmlns:a="http://schemas.openxmlformats.org/drawingml/2006/main">
            <a:r>
              <a:t>Abrufdatum laut Quellenregister: 2026-07-24</a:t>
            </a:r>
          </a:p>
          <a:p xmlns:a="http://schemas.openxmlformats.org/drawingml/2006/main">
            <a:r>
              <a:t/>
            </a:r>
          </a:p>
          <a:p xmlns:a="http://schemas.openxmlformats.org/drawingml/2006/main">
            <a:r>
              <a:t>SRC-028: Performance monitoring and tuning tools</a:t>
            </a:r>
          </a:p>
          <a:p xmlns:a="http://schemas.openxmlformats.org/drawingml/2006/main">
            <a:r>
              <a:t>https://learn.microsoft.com/en-us/sql/relational-databases/performance/performance-monitoring-and-tuning-tools?view=sql-server-ver17</a:t>
            </a:r>
          </a:p>
          <a:p xmlns:a="http://schemas.openxmlformats.org/drawingml/2006/main">
            <a:r>
              <a:t>Abrufdatum laut Quellenregister: 2026-07-24</a:t>
            </a:r>
          </a:p>
          <a:p xmlns:a="http://schemas.openxmlformats.org/drawingml/2006/main">
            <a:r>
              <a:t/>
            </a:r>
          </a:p>
          <a:p xmlns:a="http://schemas.openxmlformats.org/drawingml/2006/main">
            <a:r>
              <a:t>Projektquelle: Documentation/Project_Planning/SQL_SERVER_2025_AI_DGN010_BENCHMARK_CONTRACT.md</a:t>
            </a:r>
          </a:p>
          <a:p xmlns:a="http://schemas.openxmlformats.org/drawingml/2006/main">
            <a:r>
              <a:t/>
            </a:r>
          </a:p>
          <a:p xmlns:a="http://schemas.openxmlformats.org/drawingml/2006/main">
            <a:r>
              <a:t>Projektquelle: Documentation/Project_Planning/SQL_SERVER_2025_AI_DGN010_USAGE_REVIEW.md</a:t>
            </a:r>
          </a:p>
          <a:p xmlns:a="http://schemas.openxmlformats.org/drawingml/2006/main">
            <a:r>
              <a:t/>
            </a:r>
          </a:p>
          <a:p xmlns:a="http://schemas.openxmlformats.org/drawingml/2006/main">
            <a:r>
              <a:t>Projektquelle: Documentation/Project_Planning/SQL_SERVER_2025_AI_DGN010_INSERT_REVIEW.md</a:t>
            </a:r>
          </a:p>
          <a:p xmlns:a="http://schemas.openxmlformats.org/drawingml/2006/main">
            <a:r>
              <a:t/>
            </a:r>
          </a:p>
          <a:p xmlns:a="http://schemas.openxmlformats.org/drawingml/2006/main">
            <a:r>
              <a:t>Projektquelle: Documentation/Project_Planning/SQL_SERVER_2025_AI_DGN010_READER_CLOCK_REVIEW.md</a:t>
            </a:r>
          </a:p>
          <a:p xmlns:a="http://schemas.openxmlformats.org/drawingml/2006/main">
            <a:r>
              <a:t/>
            </a:r>
          </a:p>
          <a:p xmlns:a="http://schemas.openxmlformats.org/drawingml/2006/main">
            <a:r>
              <a:t>Didaktische Zuordnung: CUR-021.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Die registrierten Microsoft-Quellen unterscheiden Clientassistenz und Enginefunktion. Agent Mode erschien ab Version 22.7; die Release Notes weisen die allgemeine Produktverfügbarkeit (General Availability, GA) ab Version 22.10.2 aus. Der tatsächlich eingesetzte Clientbuild ist für verfügbare Tools maßgeblich. Ein Zugang über das Model Context Protocol (MCP; Anbindung von Werkzeugen und Kontextquellen) oder andere Werkzeuge erweitert keine SQL-Rechte automatisch, kann aber einen anderen ausdrücklich konfigurierten Ausführungskontext verwenden. Diesen Kontext prüfen. Vor einem Providerzugang Datenklassifikation, Administrationspolicy, Egress, Kosten und Zugang klären. In dieser Schulung nutzt die Diskussion synthetische Prompts und feste SQLfixtures. Eine Live-Copilot-Sitzung gehört nicht zu den durch das Deck qualifizierten Offline-Demos.</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SRC-089: GitHub Copilot in SSMS overview</a:t>
            </a:r>
          </a:p>
          <a:p xmlns:a="http://schemas.openxmlformats.org/drawingml/2006/main">
            <a:r>
              <a:t>https://learn.microsoft.com/en-us/ssms/github-copilot/overview</a:t>
            </a:r>
          </a:p>
          <a:p xmlns:a="http://schemas.openxmlformats.org/drawingml/2006/main">
            <a:r>
              <a:t>Abrufdatum laut Quellenregister: 2026-10-11</a:t>
            </a:r>
          </a:p>
          <a:p xmlns:a="http://schemas.openxmlformats.org/drawingml/2006/main">
            <a:r>
              <a:t/>
            </a:r>
          </a:p>
          <a:p xmlns:a="http://schemas.openxmlformats.org/drawingml/2006/main">
            <a:r>
              <a:t>SRC-090: SSMS Agent mode</a:t>
            </a:r>
          </a:p>
          <a:p xmlns:a="http://schemas.openxmlformats.org/drawingml/2006/main">
            <a:r>
              <a:t>https://learn.microsoft.com/en-us/ssms/github-copilot/agent-mode</a:t>
            </a:r>
          </a:p>
          <a:p xmlns:a="http://schemas.openxmlformats.org/drawingml/2006/main">
            <a:r>
              <a:t>Abrufdatum laut Quellenregister: 2026-10-11</a:t>
            </a:r>
          </a:p>
          <a:p xmlns:a="http://schemas.openxmlformats.org/drawingml/2006/main">
            <a:r>
              <a:t/>
            </a:r>
          </a:p>
          <a:p xmlns:a="http://schemas.openxmlformats.org/drawingml/2006/main">
            <a:r>
              <a:t>SRC-091: Execution context for GitHub Copilot</a:t>
            </a:r>
          </a:p>
          <a:p xmlns:a="http://schemas.openxmlformats.org/drawingml/2006/main">
            <a:r>
              <a:t>https://learn.microsoft.com/en-us/ssms/github-copilot/execution-context</a:t>
            </a:r>
          </a:p>
          <a:p xmlns:a="http://schemas.openxmlformats.org/drawingml/2006/main">
            <a:r>
              <a:t>Abrufdatum laut Quellenregister: 2026-10-11</a:t>
            </a:r>
          </a:p>
          <a:p xmlns:a="http://schemas.openxmlformats.org/drawingml/2006/main">
            <a:r>
              <a:t/>
            </a:r>
          </a:p>
          <a:p xmlns:a="http://schemas.openxmlformats.org/drawingml/2006/main">
            <a:r>
              <a:t>SRC-092: SSMS 22 release notes</a:t>
            </a:r>
          </a:p>
          <a:p xmlns:a="http://schemas.openxmlformats.org/drawingml/2006/main">
            <a:r>
              <a:t>https://learn.microsoft.com/en-us/ssms/release-notes-22</a:t>
            </a:r>
          </a:p>
          <a:p xmlns:a="http://schemas.openxmlformats.org/drawingml/2006/main">
            <a:r>
              <a:t>Abrufdatum laut Quellenregister: 2026-10-11</a:t>
            </a:r>
          </a:p>
          <a:p xmlns:a="http://schemas.openxmlformats.org/drawingml/2006/main">
            <a:r>
              <a:t/>
            </a:r>
          </a:p>
          <a:p xmlns:a="http://schemas.openxmlformats.org/drawingml/2006/main">
            <a:r>
              <a:t>SRC-098: SSMS Copilot admin controls</a:t>
            </a:r>
          </a:p>
          <a:p xmlns:a="http://schemas.openxmlformats.org/drawingml/2006/main">
            <a:r>
              <a:t>https://learn.microsoft.com/en-us/ssms/github-copilot/admin-controls</a:t>
            </a:r>
          </a:p>
          <a:p xmlns:a="http://schemas.openxmlformats.org/drawingml/2006/main">
            <a:r>
              <a:t>Abrufdatum laut Quellenregister: 2026-10-11</a:t>
            </a:r>
          </a:p>
          <a:p xmlns:a="http://schemas.openxmlformats.org/drawingml/2006/main">
            <a:r>
              <a:t/>
            </a:r>
          </a:p>
          <a:p xmlns:a="http://schemas.openxmlformats.org/drawingml/2006/main">
            <a:r>
              <a:t>Didaktische Zuordnung: CUR-021 / CUR-022.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Der Status stammt aus den kanonischen Quellen am12.10.2026. PROPOSED bedeutet hier nicht, dass keine Arbeit existiert. Für IDX011, IDX012, RES008 und DGN010 liegen öffentliche Vorstufen sowie begrenzte gebundene Teilbelege vor. Diese lösen jeweils eine konkrete Frage und ersetzen nicht die noch offenen vollständigen Demo-/TP-PERF-Gates. Eine Freigabe für Live-Provider, Cloud oder die Ausführung von Modellen im Austauschformat ONNX (Open Neural Network Exchange) wird nicht aus einer Folie abgeleitet. Der aktuelle Ausführungsstand bleibt die Pflegeautorität für neue Befunde. Allgemeine Runtime-, Testprofil- und Lehrpfadabnahme bleiben getrennt. Keine private Forschungs- oder PR-Historie ist für den Unterricht erforderlich.</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Projektquelle: Documentation/Demo_Catalog/SQL_SERVER_2025_AI_DEMO_DESIGNS.md</a:t>
            </a:r>
          </a:p>
          <a:p xmlns:a="http://schemas.openxmlformats.org/drawingml/2006/main">
            <a:r>
              <a:t/>
            </a:r>
          </a:p>
          <a:p xmlns:a="http://schemas.openxmlformats.org/drawingml/2006/main">
            <a:r>
              <a:t>Projektquelle: Documentation/Demo_Catalog/README.md</a:t>
            </a:r>
          </a:p>
          <a:p xmlns:a="http://schemas.openxmlformats.org/drawingml/2006/main">
            <a:r>
              <a:t/>
            </a:r>
          </a:p>
          <a:p xmlns:a="http://schemas.openxmlformats.org/drawingml/2006/main">
            <a:r>
              <a:t>Projektquelle: Documentation/Project_Planning/CURRENT_EXECUTION_STATUS.md</a:t>
            </a:r>
          </a:p>
          <a:p xmlns:a="http://schemas.openxmlformats.org/drawingml/2006/main">
            <a:r>
              <a:t/>
            </a:r>
          </a:p>
          <a:p xmlns:a="http://schemas.openxmlformats.org/drawingml/2006/main">
            <a:r>
              <a:t>Didaktische Zuordnung: CUR-016 / CUR-019 / CUR-020 / CUR-021.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Verwenden Sie die vorhandene Rubrik und die einzige gepflegte Trainerlösung im Offline-Arbeitsheft. Lassen Sie die Gruppe einen nachvollziehbaren Datenfluss und mindestens eine Gegenprobe beschreiben. Erwartete Elemente sind authentifizierter Tenantkontext, aktuelle Quellenbereiche, passende Modellprovenienz, feste Wertbindung und begrenzter Kontext. Ein Quellenwiderspruch erlaubt eine begründete Nichtantwort. Der Indexvorschlag benötigt gleiche Resultate, geeignete Messfenster und Kosten für Datenänderungen (Data Manipulation Language, DML), Speicherung und Indexaufbau. Die Rubrik hat keine festgelegte Bestehensgrenze und beweist keine gemessene Lernwirksamkeit. CON010 und Vertiefungsaufträge werden getrennt besprochen. Sammeln Sie keine Namen, Rawpläne oder Daten realer Systeme. Tatsächliche Lehrzeiten und Teilnehmerabnahme folgen erst in der Generalprobe.</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Projektquelle: Documentation/HowTo/SQL_SERVER_2025_AI_OFFLINE_WORKBOOK.md</a:t>
            </a:r>
          </a:p>
          <a:p xmlns:a="http://schemas.openxmlformats.org/drawingml/2006/main">
            <a:r>
              <a:t/>
            </a:r>
          </a:p>
          <a:p xmlns:a="http://schemas.openxmlformats.org/drawingml/2006/main">
            <a:r>
              <a:t>Projektquelle: Documentation/HowTo/SQL_SERVER_2025_AI_OFFLINE_TRAINER_GUIDE.md</a:t>
            </a:r>
          </a:p>
          <a:p xmlns:a="http://schemas.openxmlformats.org/drawingml/2006/main">
            <a:r>
              <a:t/>
            </a:r>
          </a:p>
          <a:p xmlns:a="http://schemas.openxmlformats.org/drawingml/2006/main">
            <a:r>
              <a:t>Projektquelle: Documentation/Project_Planning/SQL_SERVER_2025_AI_WORKSTREAM_PLAN.md</a:t>
            </a:r>
          </a:p>
          <a:p xmlns:a="http://schemas.openxmlformats.org/drawingml/2006/main">
            <a:r>
              <a:t/>
            </a:r>
          </a:p>
          <a:p xmlns:a="http://schemas.openxmlformats.org/drawingml/2006/main">
            <a:r>
              <a:t>Didaktische Zuordnung: CUR-022.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379d7c206d654c25"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65e1f756536b4082"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8c422e87ff244add"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7ebae00d018d489b"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a9e80bda68a74750"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9c7f9ce7d32445bc"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B8883E72-7FAD-4261-8B16-874B699E0924}"/>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53FFAE13-F969-4F93-B23B-4FFF7B56E72E}"/>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DB322F1C-B7D0-47A3-8326-D4B599149E6E}"/>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05B3669A-01D6-4383-9D35-C14E78A8B561}"/>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3089B349-8F9F-4A1C-B3B6-D75E9F244096}"/>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A5E632AD-385A-452F-A5B7-294BD25C5035}"/>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60B0C813-B8CD-4D86-BE90-1581B2E5D3ED}"/>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1F60A8F6-3496-488F-BAF6-DDFD8358FBF2}"/>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7E0A0625-E753-4A18-A027-B2B5BCBD9337}"/>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90E27707-AE87-4AFC-AE8E-B6AEB3A29007}"/>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9c7167d5c6b7406c" /><Relationship Type="http://schemas.openxmlformats.org/officeDocument/2006/relationships/slideLayout" Target="/ppt/slideLayouts/slideLayout1.xml" Id="Rcb41b99ebc994c24" /><Relationship Type="http://schemas.openxmlformats.org/officeDocument/2006/relationships/slideLayout" Target="/ppt/slideLayouts/slideLayout2.xml" Id="Rb58ec70a693a4d5a" /><Relationship Type="http://schemas.openxmlformats.org/officeDocument/2006/relationships/slideLayout" Target="/ppt/slideLayouts/slideLayout3.xml" Id="R90ce0511dcdd4bab" /><Relationship Type="http://schemas.openxmlformats.org/officeDocument/2006/relationships/slideLayout" Target="/ppt/slideLayouts/slideLayout4.xml" Id="R34e978bc0a4c4891" /><Relationship Type="http://schemas.openxmlformats.org/officeDocument/2006/relationships/slideLayout" Target="/ppt/slideLayouts/slideLayout5.xml" Id="Rdcb6fd436f294695" /><Relationship Type="http://schemas.openxmlformats.org/officeDocument/2006/relationships/slideLayout" Target="/ppt/slideLayouts/slideLayout6.xml" Id="R840482d38c0a447a"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cb41b99ebc994c24"/>
    <p:sldLayoutId xmlns:r="http://schemas.openxmlformats.org/officeDocument/2006/relationships" id="2147483650" r:id="Rb58ec70a693a4d5a"/>
    <p:sldLayoutId xmlns:r="http://schemas.openxmlformats.org/officeDocument/2006/relationships" id="2147483651" r:id="R90ce0511dcdd4bab"/>
    <p:sldLayoutId xmlns:r="http://schemas.openxmlformats.org/officeDocument/2006/relationships" id="2147483652" r:id="R34e978bc0a4c4891"/>
    <p:sldLayoutId xmlns:r="http://schemas.openxmlformats.org/officeDocument/2006/relationships" id="2147483653" r:id="Rdcb6fd436f294695"/>
    <p:sldLayoutId xmlns:r="http://schemas.openxmlformats.org/officeDocument/2006/relationships" id="2147483654" r:id="R840482d38c0a447a"/>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0a9d780ebabc4bfe" /><Relationship Type="http://schemas.openxmlformats.org/officeDocument/2006/relationships/notesSlide" Target="/ppt/notesSlides/notesSlide1.xml" Id="R5e9176b35b1c4e30"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3ad3b53ef37a4715" /><Relationship Type="http://schemas.openxmlformats.org/officeDocument/2006/relationships/notesSlide" Target="/ppt/notesSlides/notesSlide2.xml" Id="R60c7dd78bad741af"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305ed8a7d71348e0" /><Relationship Type="http://schemas.openxmlformats.org/officeDocument/2006/relationships/notesSlide" Target="/ppt/notesSlides/notesSlide3.xml" Id="R72c3da70a9b24b7c"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9e98c86c1d934553" /><Relationship Type="http://schemas.openxmlformats.org/officeDocument/2006/relationships/notesSlide" Target="/ppt/notesSlides/notesSlide4.xml" Id="R168955b97e764c87"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e6e3ae0aa96849f5" /><Relationship Type="http://schemas.openxmlformats.org/officeDocument/2006/relationships/notesSlide" Target="/ppt/notesSlides/notesSlide5.xml" Id="Rc70ecdc52675405e"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a7768e1a02a749d6" /><Relationship Type="http://schemas.openxmlformats.org/officeDocument/2006/relationships/notesSlide" Target="/ppt/notesSlides/notesSlide6.xml" Id="Rfd3ed40cefec4312"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353cc9b512e44bd2" /><Relationship Type="http://schemas.openxmlformats.org/officeDocument/2006/relationships/notesSlide" Target="/ppt/notesSlides/notesSlide7.xml" Id="R783a7e1cc44f4976"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e4f3892aed224ac5" /><Relationship Type="http://schemas.openxmlformats.org/officeDocument/2006/relationships/notesSlide" Target="/ppt/notesSlides/notesSlide8.xml" Id="R08e647b3ecdf4245"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d23311574e484a76" /><Relationship Type="http://schemas.openxmlformats.org/officeDocument/2006/relationships/notesSlide" Target="/ppt/notesSlides/notesSlide9.xml" Id="R49e4e1f6b6f54a7e"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b77b8142232745ef" /><Relationship Type="http://schemas.openxmlformats.org/officeDocument/2006/relationships/notesSlide" Target="/ppt/notesSlides/notesSlide10.xml" Id="Rf58fefb5060e4b24"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32670e6ffb384063" /><Relationship Type="http://schemas.openxmlformats.org/officeDocument/2006/relationships/notesSlide" Target="/ppt/notesSlides/notesSlide11.xml" Id="R1ce77ebcf946473c"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0af63110a74a484b" /><Relationship Type="http://schemas.openxmlformats.org/officeDocument/2006/relationships/notesSlide" Target="/ppt/notesSlides/notesSlide12.xml" Id="R2d59dbf2c19a48b5"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f01e58d1960544b1" /><Relationship Type="http://schemas.openxmlformats.org/officeDocument/2006/relationships/notesSlide" Target="/ppt/notesSlides/notesSlide13.xml" Id="Rd12300af80bb484f"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dfb913aae0c84c94" /><Relationship Type="http://schemas.openxmlformats.org/officeDocument/2006/relationships/notesSlide" Target="/ppt/notesSlides/notesSlide14.xml" Id="Rcd4be5b0f0784163"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4c44be6573734d8f" /><Relationship Type="http://schemas.openxmlformats.org/officeDocument/2006/relationships/notesSlide" Target="/ppt/notesSlides/notesSlide15.xml" Id="R0824d6a0a9b74d34"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d833eb0d7f744746" /><Relationship Type="http://schemas.openxmlformats.org/officeDocument/2006/relationships/notesSlide" Target="/ppt/notesSlides/notesSlide16.xml" Id="R9fbfdeaa9a934d70"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5687dbdc47224b2c" /><Relationship Type="http://schemas.openxmlformats.org/officeDocument/2006/relationships/notesSlide" Target="/ppt/notesSlides/notesSlide17.xml" Id="R35396930e5c043ce"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6ad36dc106854db9" /><Relationship Type="http://schemas.openxmlformats.org/officeDocument/2006/relationships/notesSlide" Target="/ppt/notesSlides/notesSlide18.xml" Id="R2f2bca7e79ac4ddb"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1bf36c6864b0460d" /><Relationship Type="http://schemas.openxmlformats.org/officeDocument/2006/relationships/notesSlide" Target="/ppt/notesSlides/notesSlide19.xml" Id="Rfbc45067c48f4506"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2e4a555fee8f4caa" /><Relationship Type="http://schemas.openxmlformats.org/officeDocument/2006/relationships/notesSlide" Target="/ppt/notesSlides/notesSlide20.xml" Id="Rfb66129dd1aa4b14"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431f1b785cd74a93" /><Relationship Type="http://schemas.openxmlformats.org/officeDocument/2006/relationships/notesSlide" Target="/ppt/notesSlides/notesSlide21.xml" Id="R6a728debf4164aae"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43e9c6c4a6d34b32" /><Relationship Type="http://schemas.openxmlformats.org/officeDocument/2006/relationships/notesSlide" Target="/ppt/notesSlides/notesSlide22.xml" Id="R3d813307d98741c8"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2107ff0cf03d4341" /><Relationship Type="http://schemas.openxmlformats.org/officeDocument/2006/relationships/notesSlide" Target="/ppt/notesSlides/notesSlide23.xml" Id="R126205000eb34271"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af155a6a32924dde" /><Relationship Type="http://schemas.openxmlformats.org/officeDocument/2006/relationships/notesSlide" Target="/ppt/notesSlides/notesSlide24.xml" Id="Rff0bc9ec52db4b7a"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e0f08b7477824a75" /><Relationship Type="http://schemas.openxmlformats.org/officeDocument/2006/relationships/notesSlide" Target="/ppt/notesSlides/notesSlide25.xml" Id="R569dbe4c24644881"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bc32a6376ae34ca4" /><Relationship Type="http://schemas.openxmlformats.org/officeDocument/2006/relationships/notesSlide" Target="/ppt/notesSlides/notesSlide26.xml" Id="R50f4488f53504789"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9858b2a1b7f94c4f" /><Relationship Type="http://schemas.openxmlformats.org/officeDocument/2006/relationships/notesSlide" Target="/ppt/notesSlides/notesSlide27.xml" Id="R3d1892986d5043c0"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dfa3649ebe434858" /><Relationship Type="http://schemas.openxmlformats.org/officeDocument/2006/relationships/notesSlide" Target="/ppt/notesSlides/notesSlide28.xml" Id="Ra17963b90693426c"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e0279ef1bbf5451c" /><Relationship Type="http://schemas.openxmlformats.org/officeDocument/2006/relationships/notesSlide" Target="/ppt/notesSlides/notesSlide29.xml" Id="R089d6fa7ef7c4ad0"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57ea0b7feb1a448c" /><Relationship Type="http://schemas.openxmlformats.org/officeDocument/2006/relationships/notesSlide" Target="/ppt/notesSlides/notesSlide30.xml" Id="R574211a03eef4d39"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53bdb86a02104506" /><Relationship Type="http://schemas.openxmlformats.org/officeDocument/2006/relationships/notesSlide" Target="/ppt/notesSlides/notesSlide31.xml" Id="R8903feebfcaa4f8d"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80a9bec309f64dc5" /><Relationship Type="http://schemas.openxmlformats.org/officeDocument/2006/relationships/notesSlide" Target="/ppt/notesSlides/notesSlide32.xml" Id="R4776b2a28d7042b7" /></Relationships>
</file>

<file path=ppt/slides/_rels/slide33.xml.rels>&#65279;<?xml version="1.0" encoding="utf-8"?><Relationships xmlns="http://schemas.openxmlformats.org/package/2006/relationships"><Relationship Type="http://schemas.openxmlformats.org/officeDocument/2006/relationships/slideLayout" Target="/ppt/slideLayouts/slideLayout6.xml" Id="R6bad20a65d0648d9" /><Relationship Type="http://schemas.openxmlformats.org/officeDocument/2006/relationships/notesSlide" Target="/ppt/notesSlides/notesSlide33.xml" Id="R33f917e75e444f15" /></Relationships>
</file>

<file path=ppt/slides/_rels/slide34.xml.rels>&#65279;<?xml version="1.0" encoding="utf-8"?><Relationships xmlns="http://schemas.openxmlformats.org/package/2006/relationships"><Relationship Type="http://schemas.openxmlformats.org/officeDocument/2006/relationships/slideLayout" Target="/ppt/slideLayouts/slideLayout6.xml" Id="R2c8041e526ac4956" /><Relationship Type="http://schemas.openxmlformats.org/officeDocument/2006/relationships/notesSlide" Target="/ppt/notesSlides/notesSlide34.xml" Id="R94d4b4109b0441cd" /></Relationships>
</file>

<file path=ppt/slides/_rels/slide35.xml.rels>&#65279;<?xml version="1.0" encoding="utf-8"?><Relationships xmlns="http://schemas.openxmlformats.org/package/2006/relationships"><Relationship Type="http://schemas.openxmlformats.org/officeDocument/2006/relationships/slideLayout" Target="/ppt/slideLayouts/slideLayout6.xml" Id="Rb92781bb05b148f4" /><Relationship Type="http://schemas.openxmlformats.org/officeDocument/2006/relationships/notesSlide" Target="/ppt/notesSlides/notesSlide35.xml" Id="R2fbd727db06d4242" /></Relationships>
</file>

<file path=ppt/slides/_rels/slide36.xml.rels>&#65279;<?xml version="1.0" encoding="utf-8"?><Relationships xmlns="http://schemas.openxmlformats.org/package/2006/relationships"><Relationship Type="http://schemas.openxmlformats.org/officeDocument/2006/relationships/slideLayout" Target="/ppt/slideLayouts/slideLayout6.xml" Id="Rc38db70b6c58435e" /><Relationship Type="http://schemas.openxmlformats.org/officeDocument/2006/relationships/notesSlide" Target="/ppt/notesSlides/notesSlide36.xml" Id="R08208b9e69304ac1" /></Relationships>
</file>

<file path=ppt/slides/_rels/slide37.xml.rels>&#65279;<?xml version="1.0" encoding="utf-8"?><Relationships xmlns="http://schemas.openxmlformats.org/package/2006/relationships"><Relationship Type="http://schemas.openxmlformats.org/officeDocument/2006/relationships/slideLayout" Target="/ppt/slideLayouts/slideLayout6.xml" Id="R814542d736e84d54" /><Relationship Type="http://schemas.openxmlformats.org/officeDocument/2006/relationships/notesSlide" Target="/ppt/notesSlides/notesSlide37.xml" Id="R2bf0e26001244792" /></Relationships>
</file>

<file path=ppt/slides/_rels/slide38.xml.rels>&#65279;<?xml version="1.0" encoding="utf-8"?><Relationships xmlns="http://schemas.openxmlformats.org/package/2006/relationships"><Relationship Type="http://schemas.openxmlformats.org/officeDocument/2006/relationships/slideLayout" Target="/ppt/slideLayouts/slideLayout6.xml" Id="Rae6d69761dde4bbb" /><Relationship Type="http://schemas.openxmlformats.org/officeDocument/2006/relationships/notesSlide" Target="/ppt/notesSlides/notesSlide38.xml" Id="R2e5eba41aa2a460d" /></Relationships>
</file>

<file path=ppt/slides/_rels/slide39.xml.rels>&#65279;<?xml version="1.0" encoding="utf-8"?><Relationships xmlns="http://schemas.openxmlformats.org/package/2006/relationships"><Relationship Type="http://schemas.openxmlformats.org/officeDocument/2006/relationships/slideLayout" Target="/ppt/slideLayouts/slideLayout6.xml" Id="R02341f88d7d745a3" /><Relationship Type="http://schemas.openxmlformats.org/officeDocument/2006/relationships/notesSlide" Target="/ppt/notesSlides/notesSlide39.xml" Id="R249b5bb16119411c" /></Relationships>
</file>

<file path=ppt/slides/_rels/slide40.xml.rels>&#65279;<?xml version="1.0" encoding="utf-8"?><Relationships xmlns="http://schemas.openxmlformats.org/package/2006/relationships"><Relationship Type="http://schemas.openxmlformats.org/officeDocument/2006/relationships/slideLayout" Target="/ppt/slideLayouts/slideLayout6.xml" Id="R3111515eef8c4589" /><Relationship Type="http://schemas.openxmlformats.org/officeDocument/2006/relationships/notesSlide" Target="/ppt/notesSlides/notesSlide40.xml" Id="R65736aa023844e05" /></Relationships>
</file>

<file path=ppt/slides/_rels/slide41.xml.rels>&#65279;<?xml version="1.0" encoding="utf-8"?><Relationships xmlns="http://schemas.openxmlformats.org/package/2006/relationships"><Relationship Type="http://schemas.openxmlformats.org/officeDocument/2006/relationships/slideLayout" Target="/ppt/slideLayouts/slideLayout6.xml" Id="R547297de634c44d4" /><Relationship Type="http://schemas.openxmlformats.org/officeDocument/2006/relationships/notesSlide" Target="/ppt/notesSlides/notesSlide41.xml" Id="Rebaf464dbfa243b0" /></Relationships>
</file>

<file path=ppt/slides/_rels/slide42.xml.rels>&#65279;<?xml version="1.0" encoding="utf-8"?><Relationships xmlns="http://schemas.openxmlformats.org/package/2006/relationships"><Relationship Type="http://schemas.openxmlformats.org/officeDocument/2006/relationships/slideLayout" Target="/ppt/slideLayouts/slideLayout6.xml" Id="R5fdc83d2ec7b44ce" /><Relationship Type="http://schemas.openxmlformats.org/officeDocument/2006/relationships/notesSlide" Target="/ppt/notesSlides/notesSlide42.xml" Id="R2f4b8b0f65ca4d97" /></Relationships>
</file>

<file path=ppt/slides/_rels/slide43.xml.rels>&#65279;<?xml version="1.0" encoding="utf-8"?><Relationships xmlns="http://schemas.openxmlformats.org/package/2006/relationships"><Relationship Type="http://schemas.openxmlformats.org/officeDocument/2006/relationships/slideLayout" Target="/ppt/slideLayouts/slideLayout6.xml" Id="R736b840691b54cb3" /><Relationship Type="http://schemas.openxmlformats.org/officeDocument/2006/relationships/notesSlide" Target="/ppt/notesSlides/notesSlide43.xml" Id="Rd808bc4920414c52" /></Relationships>
</file>

<file path=ppt/slides/_rels/slide44.xml.rels>&#65279;<?xml version="1.0" encoding="utf-8"?><Relationships xmlns="http://schemas.openxmlformats.org/package/2006/relationships"><Relationship Type="http://schemas.openxmlformats.org/officeDocument/2006/relationships/slideLayout" Target="/ppt/slideLayouts/slideLayout6.xml" Id="Rbc0df52bf8a841b1" /><Relationship Type="http://schemas.openxmlformats.org/officeDocument/2006/relationships/notesSlide" Target="/ppt/notesSlides/notesSlide44.xml" Id="Rec308d4f5104496c" /></Relationships>
</file>

<file path=ppt/slides/_rels/slide45.xml.rels>&#65279;<?xml version="1.0" encoding="utf-8"?><Relationships xmlns="http://schemas.openxmlformats.org/package/2006/relationships"><Relationship Type="http://schemas.openxmlformats.org/officeDocument/2006/relationships/slideLayout" Target="/ppt/slideLayouts/slideLayout6.xml" Id="R8825d614899f431c" /><Relationship Type="http://schemas.openxmlformats.org/officeDocument/2006/relationships/notesSlide" Target="/ppt/notesSlides/notesSlide45.xml" Id="R610ea251c4004f94" /></Relationships>
</file>

<file path=ppt/slides/_rels/slide46.xml.rels>&#65279;<?xml version="1.0" encoding="utf-8"?><Relationships xmlns="http://schemas.openxmlformats.org/package/2006/relationships"><Relationship Type="http://schemas.openxmlformats.org/officeDocument/2006/relationships/slideLayout" Target="/ppt/slideLayouts/slideLayout6.xml" Id="R2ae7cc0c796a4a75" /><Relationship Type="http://schemas.openxmlformats.org/officeDocument/2006/relationships/notesSlide" Target="/ppt/notesSlides/notesSlide46.xml" Id="Rbc0a9afce3124dae" /></Relationships>
</file>

<file path=ppt/slides/_rels/slide47.xml.rels>&#65279;<?xml version="1.0" encoding="utf-8"?><Relationships xmlns="http://schemas.openxmlformats.org/package/2006/relationships"><Relationship Type="http://schemas.openxmlformats.org/officeDocument/2006/relationships/slideLayout" Target="/ppt/slideLayouts/slideLayout6.xml" Id="R267ab6b20bf24bfd" /><Relationship Type="http://schemas.openxmlformats.org/officeDocument/2006/relationships/notesSlide" Target="/ppt/notesSlides/notesSlide47.xml" Id="R368d8ceea93f4e6d" /></Relationships>
</file>

<file path=ppt/slides/_rels/slide48.xml.rels>&#65279;<?xml version="1.0" encoding="utf-8"?><Relationships xmlns="http://schemas.openxmlformats.org/package/2006/relationships"><Relationship Type="http://schemas.openxmlformats.org/officeDocument/2006/relationships/slideLayout" Target="/ppt/slideLayouts/slideLayout6.xml" Id="R528740bf1fe346f8" /><Relationship Type="http://schemas.openxmlformats.org/officeDocument/2006/relationships/notesSlide" Target="/ppt/notesSlides/notesSlide48.xml" Id="R43b81fc3d4d74253" /></Relationships>
</file>

<file path=ppt/slides/_rels/slide49.xml.rels>&#65279;<?xml version="1.0" encoding="utf-8"?><Relationships xmlns="http://schemas.openxmlformats.org/package/2006/relationships"><Relationship Type="http://schemas.openxmlformats.org/officeDocument/2006/relationships/slideLayout" Target="/ppt/slideLayouts/slideLayout6.xml" Id="R9b6bfb786d664774" /><Relationship Type="http://schemas.openxmlformats.org/officeDocument/2006/relationships/notesSlide" Target="/ppt/notesSlides/notesSlide49.xml" Id="R5c30f665efde45c3" /></Relationships>
</file>

<file path=ppt/slides/_rels/slide50.xml.rels>&#65279;<?xml version="1.0" encoding="utf-8"?><Relationships xmlns="http://schemas.openxmlformats.org/package/2006/relationships"><Relationship Type="http://schemas.openxmlformats.org/officeDocument/2006/relationships/slideLayout" Target="/ppt/slideLayouts/slideLayout6.xml" Id="R002333454a9d43f6" /><Relationship Type="http://schemas.openxmlformats.org/officeDocument/2006/relationships/notesSlide" Target="/ppt/notesSlides/notesSlide50.xml" Id="R1def24442cd5499b" /></Relationships>
</file>

<file path=ppt/slides/_rels/slide51.xml.rels>&#65279;<?xml version="1.0" encoding="utf-8"?><Relationships xmlns="http://schemas.openxmlformats.org/package/2006/relationships"><Relationship Type="http://schemas.openxmlformats.org/officeDocument/2006/relationships/slideLayout" Target="/ppt/slideLayouts/slideLayout6.xml" Id="R1d29fe0e49814515" /><Relationship Type="http://schemas.openxmlformats.org/officeDocument/2006/relationships/notesSlide" Target="/ppt/notesSlides/notesSlide51.xml" Id="Rece9021ec28646e1" /></Relationships>
</file>

<file path=ppt/slides/_rels/slide52.xml.rels>&#65279;<?xml version="1.0" encoding="utf-8"?><Relationships xmlns="http://schemas.openxmlformats.org/package/2006/relationships"><Relationship Type="http://schemas.openxmlformats.org/officeDocument/2006/relationships/slideLayout" Target="/ppt/slideLayouts/slideLayout6.xml" Id="Re85c58738dc141aa" /><Relationship Type="http://schemas.openxmlformats.org/officeDocument/2006/relationships/notesSlide" Target="/ppt/notesSlides/notesSlide52.xml" Id="R77ea3cbb31094442" /></Relationships>
</file>

<file path=ppt/slides/_rels/slide53.xml.rels>&#65279;<?xml version="1.0" encoding="utf-8"?><Relationships xmlns="http://schemas.openxmlformats.org/package/2006/relationships"><Relationship Type="http://schemas.openxmlformats.org/officeDocument/2006/relationships/slideLayout" Target="/ppt/slideLayouts/slideLayout6.xml" Id="Rec7527de238f4afb" /><Relationship Type="http://schemas.openxmlformats.org/officeDocument/2006/relationships/notesSlide" Target="/ppt/notesSlides/notesSlide53.xml" Id="R950045e2a0d2496f" /></Relationships>
</file>

<file path=ppt/slides/_rels/slide54.xml.rels>&#65279;<?xml version="1.0" encoding="utf-8"?><Relationships xmlns="http://schemas.openxmlformats.org/package/2006/relationships"><Relationship Type="http://schemas.openxmlformats.org/officeDocument/2006/relationships/slideLayout" Target="/ppt/slideLayouts/slideLayout6.xml" Id="Rb79c21dd433a4ccd" /><Relationship Type="http://schemas.openxmlformats.org/officeDocument/2006/relationships/notesSlide" Target="/ppt/notesSlides/notesSlide54.xml" Id="R9f196fc7f53b418b" /></Relationships>
</file>

<file path=ppt/slides/_rels/slide55.xml.rels>&#65279;<?xml version="1.0" encoding="utf-8"?><Relationships xmlns="http://schemas.openxmlformats.org/package/2006/relationships"><Relationship Type="http://schemas.openxmlformats.org/officeDocument/2006/relationships/slideLayout" Target="/ppt/slideLayouts/slideLayout6.xml" Id="R0dc2598964f04b81" /><Relationship Type="http://schemas.openxmlformats.org/officeDocument/2006/relationships/notesSlide" Target="/ppt/notesSlides/notesSlide55.xml" Id="R06e24deedd85458d" /></Relationships>
</file>

<file path=ppt/slides/_rels/slide56.xml.rels>&#65279;<?xml version="1.0" encoding="utf-8"?><Relationships xmlns="http://schemas.openxmlformats.org/package/2006/relationships"><Relationship Type="http://schemas.openxmlformats.org/officeDocument/2006/relationships/slideLayout" Target="/ppt/slideLayouts/slideLayout6.xml" Id="R6c6612e1e6b54e0c" /><Relationship Type="http://schemas.openxmlformats.org/officeDocument/2006/relationships/notesSlide" Target="/ppt/notesSlides/notesSlide56.xml" Id="R9fc90dd66cda46b0" /></Relationships>
</file>

<file path=ppt/slides/_rels/slide57.xml.rels>&#65279;<?xml version="1.0" encoding="utf-8"?><Relationships xmlns="http://schemas.openxmlformats.org/package/2006/relationships"><Relationship Type="http://schemas.openxmlformats.org/officeDocument/2006/relationships/slideLayout" Target="/ppt/slideLayouts/slideLayout6.xml" Id="Raf4d0745380145d1" /><Relationship Type="http://schemas.openxmlformats.org/officeDocument/2006/relationships/notesSlide" Target="/ppt/notesSlides/notesSlide57.xml" Id="Rd441aac3618e4975" /></Relationships>
</file>

<file path=ppt/slides/_rels/slide58.xml.rels>&#65279;<?xml version="1.0" encoding="utf-8"?><Relationships xmlns="http://schemas.openxmlformats.org/package/2006/relationships"><Relationship Type="http://schemas.openxmlformats.org/officeDocument/2006/relationships/slideLayout" Target="/ppt/slideLayouts/slideLayout6.xml" Id="R1d456d88e41a4391" /><Relationship Type="http://schemas.openxmlformats.org/officeDocument/2006/relationships/notesSlide" Target="/ppt/notesSlides/notesSlide58.xml" Id="R3bfeb8e62e0d4a14" /></Relationships>
</file>

<file path=ppt/slides/_rels/slide59.xml.rels>&#65279;<?xml version="1.0" encoding="utf-8"?><Relationships xmlns="http://schemas.openxmlformats.org/package/2006/relationships"><Relationship Type="http://schemas.openxmlformats.org/officeDocument/2006/relationships/slideLayout" Target="/ppt/slideLayouts/slideLayout6.xml" Id="Rc041c3ee6fec4ecf" /><Relationship Type="http://schemas.openxmlformats.org/officeDocument/2006/relationships/notesSlide" Target="/ppt/notesSlides/notesSlide59.xml" Id="Rf4e2c77e036f497a" /></Relationships>
</file>

<file path=ppt/slides/_rels/slide60.xml.rels>&#65279;<?xml version="1.0" encoding="utf-8"?><Relationships xmlns="http://schemas.openxmlformats.org/package/2006/relationships"><Relationship Type="http://schemas.openxmlformats.org/officeDocument/2006/relationships/slideLayout" Target="/ppt/slideLayouts/slideLayout6.xml" Id="R0af0c5ecef1444f6" /><Relationship Type="http://schemas.openxmlformats.org/officeDocument/2006/relationships/notesSlide" Target="/ppt/notesSlides/notesSlide60.xml" Id="Rcabd3024c31b417b" /></Relationships>
</file>

<file path=ppt/slides/_rels/slide61.xml.rels>&#65279;<?xml version="1.0" encoding="utf-8"?><Relationships xmlns="http://schemas.openxmlformats.org/package/2006/relationships"><Relationship Type="http://schemas.openxmlformats.org/officeDocument/2006/relationships/slideLayout" Target="/ppt/slideLayouts/slideLayout6.xml" Id="Rde02efcc1e9c4999" /><Relationship Type="http://schemas.openxmlformats.org/officeDocument/2006/relationships/notesSlide" Target="/ppt/notesSlides/notesSlide61.xml" Id="Rc091f1d420324f7c"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0">
            <a:extLst xmlns:a="http://schemas.openxmlformats.org/drawingml/2006/main">
              <a:ext uri="{FF2B5EF4-FFF2-40B4-BE49-F238E27FC236}">
                <a16:creationId xmlns:a16="http://schemas.microsoft.com/office/drawing/2014/main" id="{4C6C50D1-9B74-4733-8688-4F7CDA72E0EF}"/>
              </a:ext>
            </a:extLst>
          </p:cNvPr>
          <p:cNvSpPr>
            <a:spLocks xmlns:a="http://schemas.openxmlformats.org/drawingml/2006/main" noGrp="1"/>
          </p:cNvSpPr>
          <p:nvPr/>
        </p:nvSpPr>
        <p:spPr>
          <a:xfrm xmlns:a="http://schemas.openxmlformats.org/drawingml/2006/main">
            <a:off x="762000" y="1476375"/>
            <a:ext cx="10668000" cy="2095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4800" b="1">
                <a:solidFill>
                  <a:srgbClr val="15283D"/>
                </a:solidFill>
                <a:latin typeface="Arial"/>
                <a:ea typeface="Arial"/>
                <a:cs typeface="Arial"/>
              </a:defRPr>
            </a:defPPr>
            <a:lvl1pPr>
              <a:defRPr sz="4800" b="1">
                <a:solidFill>
                  <a:srgbClr val="15283D"/>
                </a:solidFill>
                <a:latin typeface="Arial"/>
                <a:ea typeface="Arial"/>
                <a:cs typeface="Arial"/>
              </a:defRPr>
            </a:lvl1pPr>
            <a:lvl2pPr>
              <a:defRPr sz="4800" b="1">
                <a:solidFill>
                  <a:srgbClr val="15283D"/>
                </a:solidFill>
                <a:latin typeface="Arial"/>
                <a:ea typeface="Arial"/>
                <a:cs typeface="Arial"/>
              </a:defRPr>
            </a:lvl2pPr>
            <a:lvl3pPr>
              <a:defRPr sz="4800" b="1">
                <a:solidFill>
                  <a:srgbClr val="15283D"/>
                </a:solidFill>
                <a:latin typeface="Arial"/>
                <a:ea typeface="Arial"/>
                <a:cs typeface="Arial"/>
              </a:defRPr>
            </a:lvl3pPr>
            <a:lvl4pPr>
              <a:defRPr sz="4800" b="1">
                <a:solidFill>
                  <a:srgbClr val="15283D"/>
                </a:solidFill>
                <a:latin typeface="Arial"/>
                <a:ea typeface="Arial"/>
                <a:cs typeface="Arial"/>
              </a:defRPr>
            </a:lvl4pPr>
            <a:lvl5pPr>
              <a:defRPr sz="4800" b="1">
                <a:solidFill>
                  <a:srgbClr val="15283D"/>
                </a:solidFill>
                <a:latin typeface="Arial"/>
                <a:ea typeface="Arial"/>
                <a:cs typeface="Arial"/>
              </a:defRPr>
            </a:lvl5pPr>
            <a:lvl6pPr>
              <a:defRPr sz="4800" b="1">
                <a:solidFill>
                  <a:srgbClr val="15283D"/>
                </a:solidFill>
                <a:latin typeface="Arial"/>
                <a:ea typeface="Arial"/>
                <a:cs typeface="Arial"/>
              </a:defRPr>
            </a:lvl6pPr>
            <a:lvl7pPr>
              <a:defRPr sz="4800" b="1">
                <a:solidFill>
                  <a:srgbClr val="15283D"/>
                </a:solidFill>
                <a:latin typeface="Arial"/>
                <a:ea typeface="Arial"/>
                <a:cs typeface="Arial"/>
              </a:defRPr>
            </a:lvl7pPr>
            <a:lvl8pPr>
              <a:defRPr sz="4800" b="1">
                <a:solidFill>
                  <a:srgbClr val="15283D"/>
                </a:solidFill>
                <a:latin typeface="Arial"/>
                <a:ea typeface="Arial"/>
                <a:cs typeface="Arial"/>
              </a:defRPr>
            </a:lvl8pPr>
            <a:lvl9pPr>
              <a:defRPr sz="4800" b="1">
                <a:solidFill>
                  <a:srgbClr val="15283D"/>
                </a:solidFill>
                <a:latin typeface="Arial"/>
                <a:ea typeface="Arial"/>
                <a:cs typeface="Arial"/>
              </a:defRPr>
            </a:lvl9pPr>
          </a:lstStyle>
          <a:p xmlns:a="http://schemas.openxmlformats.org/drawingml/2006/main">
            <a:pPr>
              <a:defRPr sz="4800" b="1">
                <a:solidFill>
                  <a:srgbClr val="15283D"/>
                </a:solidFill>
                <a:latin typeface="Arial"/>
                <a:ea typeface="Arial"/>
                <a:cs typeface="Arial"/>
              </a:defRPr>
            </a:pPr>
            <a:r>
              <a:rPr sz="4800" b="1">
                <a:solidFill>
                  <a:srgbClr val="15283D"/>
                </a:solidFill>
                <a:latin typeface="Arial"/>
                <a:ea typeface="Arial"/>
                <a:cs typeface="Arial"/>
              </a:rPr>
              <a:t>KI mit und für</a:t>
            </a:r>
          </a:p>
          <a:p xmlns:a="http://schemas.openxmlformats.org/drawingml/2006/main">
            <a:pPr>
              <a:defRPr sz="4800" b="1">
                <a:solidFill>
                  <a:srgbClr val="15283D"/>
                </a:solidFill>
                <a:latin typeface="Arial"/>
                <a:ea typeface="Arial"/>
                <a:cs typeface="Arial"/>
              </a:defRPr>
            </a:pPr>
            <a:r>
              <a:rPr sz="4800" b="1">
                <a:solidFill>
                  <a:srgbClr val="15283D"/>
                </a:solidFill>
                <a:latin typeface="Arial"/>
                <a:ea typeface="Arial"/>
                <a:cs typeface="Arial"/>
              </a:rPr>
              <a:t>Microsoft SQL Server 2025</a:t>
            </a:r>
          </a:p>
        </p:txBody>
      </p:sp>
      <p:sp>
        <p:nvSpPr>
          <p:cNvPr id="2" name="text-1">
            <a:extLst xmlns:a="http://schemas.openxmlformats.org/drawingml/2006/main">
              <a:ext uri="{FF2B5EF4-FFF2-40B4-BE49-F238E27FC236}">
                <a16:creationId xmlns:a16="http://schemas.microsoft.com/office/drawing/2014/main" id="{12F43759-7B45-426F-B541-4DFC2192AF4C}"/>
              </a:ext>
            </a:extLst>
          </p:cNvPr>
          <p:cNvSpPr>
            <a:spLocks xmlns:a="http://schemas.openxmlformats.org/drawingml/2006/main" noGrp="1"/>
          </p:cNvSpPr>
          <p:nvPr/>
        </p:nvSpPr>
        <p:spPr>
          <a:xfrm xmlns:a="http://schemas.openxmlformats.org/drawingml/2006/main">
            <a:off x="762000" y="4143375"/>
            <a:ext cx="104775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400" b="0">
                <a:solidFill>
                  <a:srgbClr val="52647A"/>
                </a:solidFill>
                <a:latin typeface="Arial"/>
                <a:ea typeface="Arial"/>
                <a:cs typeface="Arial"/>
              </a:defRPr>
            </a:defPPr>
            <a:lvl1pPr>
              <a:defRPr sz="2400" b="0">
                <a:solidFill>
                  <a:srgbClr val="52647A"/>
                </a:solidFill>
                <a:latin typeface="Arial"/>
                <a:ea typeface="Arial"/>
                <a:cs typeface="Arial"/>
              </a:defRPr>
            </a:lvl1pPr>
            <a:lvl2pPr>
              <a:defRPr sz="2400" b="0">
                <a:solidFill>
                  <a:srgbClr val="52647A"/>
                </a:solidFill>
                <a:latin typeface="Arial"/>
                <a:ea typeface="Arial"/>
                <a:cs typeface="Arial"/>
              </a:defRPr>
            </a:lvl2pPr>
            <a:lvl3pPr>
              <a:defRPr sz="2400" b="0">
                <a:solidFill>
                  <a:srgbClr val="52647A"/>
                </a:solidFill>
                <a:latin typeface="Arial"/>
                <a:ea typeface="Arial"/>
                <a:cs typeface="Arial"/>
              </a:defRPr>
            </a:lvl3pPr>
            <a:lvl4pPr>
              <a:defRPr sz="2400" b="0">
                <a:solidFill>
                  <a:srgbClr val="52647A"/>
                </a:solidFill>
                <a:latin typeface="Arial"/>
                <a:ea typeface="Arial"/>
                <a:cs typeface="Arial"/>
              </a:defRPr>
            </a:lvl4pPr>
            <a:lvl5pPr>
              <a:defRPr sz="2400" b="0">
                <a:solidFill>
                  <a:srgbClr val="52647A"/>
                </a:solidFill>
                <a:latin typeface="Arial"/>
                <a:ea typeface="Arial"/>
                <a:cs typeface="Arial"/>
              </a:defRPr>
            </a:lvl5pPr>
            <a:lvl6pPr>
              <a:defRPr sz="2400" b="0">
                <a:solidFill>
                  <a:srgbClr val="52647A"/>
                </a:solidFill>
                <a:latin typeface="Arial"/>
                <a:ea typeface="Arial"/>
                <a:cs typeface="Arial"/>
              </a:defRPr>
            </a:lvl6pPr>
            <a:lvl7pPr>
              <a:defRPr sz="2400" b="0">
                <a:solidFill>
                  <a:srgbClr val="52647A"/>
                </a:solidFill>
                <a:latin typeface="Arial"/>
                <a:ea typeface="Arial"/>
                <a:cs typeface="Arial"/>
              </a:defRPr>
            </a:lvl7pPr>
            <a:lvl8pPr>
              <a:defRPr sz="2400" b="0">
                <a:solidFill>
                  <a:srgbClr val="52647A"/>
                </a:solidFill>
                <a:latin typeface="Arial"/>
                <a:ea typeface="Arial"/>
                <a:cs typeface="Arial"/>
              </a:defRPr>
            </a:lvl8pPr>
            <a:lvl9pPr>
              <a:defRPr sz="2400" b="0">
                <a:solidFill>
                  <a:srgbClr val="52647A"/>
                </a:solidFill>
                <a:latin typeface="Arial"/>
                <a:ea typeface="Arial"/>
                <a:cs typeface="Arial"/>
              </a:defRPr>
            </a:lvl9pPr>
          </a:lstStyle>
          <a:p xmlns:a="http://schemas.openxmlformats.org/drawingml/2006/main">
            <a:pPr>
              <a:defRPr sz="2400" b="0">
                <a:solidFill>
                  <a:srgbClr val="52647A"/>
                </a:solidFill>
                <a:latin typeface="Arial"/>
                <a:ea typeface="Arial"/>
                <a:cs typeface="Arial"/>
              </a:defRPr>
            </a:pPr>
            <a:r>
              <a:rPr sz="2400" b="0">
                <a:solidFill>
                  <a:srgbClr val="52647A"/>
                </a:solidFill>
                <a:latin typeface="Arial"/>
                <a:ea typeface="Arial"/>
                <a:cs typeface="Arial"/>
              </a:rPr>
              <a:t>Grundlagen, erster SQL-Versuch und fachliche Vertiefung</a:t>
            </a:r>
          </a:p>
        </p:txBody>
      </p:sp>
      <p:sp>
        <p:nvSpPr>
          <p:cNvPr id="3" name="text-2">
            <a:extLst xmlns:a="http://schemas.openxmlformats.org/drawingml/2006/main">
              <a:ext uri="{FF2B5EF4-FFF2-40B4-BE49-F238E27FC236}">
                <a16:creationId xmlns:a16="http://schemas.microsoft.com/office/drawing/2014/main" id="{55C0AFF1-CD27-437F-BDDF-5D7212D401D1}"/>
              </a:ext>
            </a:extLst>
          </p:cNvPr>
          <p:cNvSpPr>
            <a:spLocks xmlns:a="http://schemas.openxmlformats.org/drawingml/2006/main" noGrp="1"/>
          </p:cNvSpPr>
          <p:nvPr/>
        </p:nvSpPr>
        <p:spPr>
          <a:xfrm xmlns:a="http://schemas.openxmlformats.org/drawingml/2006/main">
            <a:off x="762000" y="5810250"/>
            <a:ext cx="10287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0">
                <a:solidFill>
                  <a:srgbClr val="007A83"/>
                </a:solidFill>
                <a:latin typeface="Arial"/>
                <a:ea typeface="Arial"/>
                <a:cs typeface="Arial"/>
              </a:defRPr>
            </a:defPPr>
            <a:lvl1pPr>
              <a:defRPr sz="1800" b="0">
                <a:solidFill>
                  <a:srgbClr val="007A83"/>
                </a:solidFill>
                <a:latin typeface="Arial"/>
                <a:ea typeface="Arial"/>
                <a:cs typeface="Arial"/>
              </a:defRPr>
            </a:lvl1pPr>
            <a:lvl2pPr>
              <a:defRPr sz="1800" b="0">
                <a:solidFill>
                  <a:srgbClr val="007A83"/>
                </a:solidFill>
                <a:latin typeface="Arial"/>
                <a:ea typeface="Arial"/>
                <a:cs typeface="Arial"/>
              </a:defRPr>
            </a:lvl2pPr>
            <a:lvl3pPr>
              <a:defRPr sz="1800" b="0">
                <a:solidFill>
                  <a:srgbClr val="007A83"/>
                </a:solidFill>
                <a:latin typeface="Arial"/>
                <a:ea typeface="Arial"/>
                <a:cs typeface="Arial"/>
              </a:defRPr>
            </a:lvl3pPr>
            <a:lvl4pPr>
              <a:defRPr sz="1800" b="0">
                <a:solidFill>
                  <a:srgbClr val="007A83"/>
                </a:solidFill>
                <a:latin typeface="Arial"/>
                <a:ea typeface="Arial"/>
                <a:cs typeface="Arial"/>
              </a:defRPr>
            </a:lvl4pPr>
            <a:lvl5pPr>
              <a:defRPr sz="1800" b="0">
                <a:solidFill>
                  <a:srgbClr val="007A83"/>
                </a:solidFill>
                <a:latin typeface="Arial"/>
                <a:ea typeface="Arial"/>
                <a:cs typeface="Arial"/>
              </a:defRPr>
            </a:lvl5pPr>
            <a:lvl6pPr>
              <a:defRPr sz="1800" b="0">
                <a:solidFill>
                  <a:srgbClr val="007A83"/>
                </a:solidFill>
                <a:latin typeface="Arial"/>
                <a:ea typeface="Arial"/>
                <a:cs typeface="Arial"/>
              </a:defRPr>
            </a:lvl6pPr>
            <a:lvl7pPr>
              <a:defRPr sz="1800" b="0">
                <a:solidFill>
                  <a:srgbClr val="007A83"/>
                </a:solidFill>
                <a:latin typeface="Arial"/>
                <a:ea typeface="Arial"/>
                <a:cs typeface="Arial"/>
              </a:defRPr>
            </a:lvl7pPr>
            <a:lvl8pPr>
              <a:defRPr sz="1800" b="0">
                <a:solidFill>
                  <a:srgbClr val="007A83"/>
                </a:solidFill>
                <a:latin typeface="Arial"/>
                <a:ea typeface="Arial"/>
                <a:cs typeface="Arial"/>
              </a:defRPr>
            </a:lvl8pPr>
            <a:lvl9pPr>
              <a:defRPr sz="1800" b="0">
                <a:solidFill>
                  <a:srgbClr val="007A83"/>
                </a:solidFill>
                <a:latin typeface="Arial"/>
                <a:ea typeface="Arial"/>
                <a:cs typeface="Arial"/>
              </a:defRPr>
            </a:lvl9pPr>
          </a:lstStyle>
          <a:p xmlns:a="http://schemas.openxmlformats.org/drawingml/2006/main">
            <a:pPr>
              <a:defRPr sz="1800" b="0">
                <a:solidFill>
                  <a:srgbClr val="007A83"/>
                </a:solidFill>
                <a:latin typeface="Arial"/>
                <a:ea typeface="Arial"/>
                <a:cs typeface="Arial"/>
              </a:defRPr>
            </a:pPr>
            <a:r>
              <a:rPr sz="1800" b="0">
                <a:solidFill>
                  <a:srgbClr val="007A83"/>
                </a:solidFill>
                <a:latin typeface="Arial"/>
                <a:ea typeface="Arial"/>
                <a:cs typeface="Arial"/>
              </a:rPr>
              <a:t>Schulungsunterlagen · Stand 2026-10-12</a:t>
            </a:r>
          </a:p>
        </p:txBody>
      </p:sp>
    </p:spTree>
    <p:extLst>
      <p:ext uri="{BB962C8B-B14F-4D97-AF65-F5344CB8AC3E}">
        <p14:creationId xmlns:p14="http://schemas.microsoft.com/office/powerpoint/2010/main" val="1983714333"/>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text-0">
            <a:extLst xmlns:a="http://schemas.openxmlformats.org/drawingml/2006/main">
              <a:ext uri="{FF2B5EF4-FFF2-40B4-BE49-F238E27FC236}">
                <a16:creationId xmlns:a16="http://schemas.microsoft.com/office/drawing/2014/main" id="{3CC52D04-4BFA-4AFB-B549-80605EDC33B1}"/>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vl1pPr>
              <a:defRPr sz="3300" b="1">
                <a:solidFill>
                  <a:srgbClr val="15283D"/>
                </a:solidFill>
                <a:latin typeface="Arial"/>
                <a:ea typeface="Arial"/>
                <a:cs typeface="Arial"/>
              </a:defRPr>
            </a:lvl1pPr>
            <a:lvl2pPr>
              <a:defRPr sz="3300" b="1">
                <a:solidFill>
                  <a:srgbClr val="15283D"/>
                </a:solidFill>
                <a:latin typeface="Arial"/>
                <a:ea typeface="Arial"/>
                <a:cs typeface="Arial"/>
              </a:defRPr>
            </a:lvl2pPr>
            <a:lvl3pPr>
              <a:defRPr sz="3300" b="1">
                <a:solidFill>
                  <a:srgbClr val="15283D"/>
                </a:solidFill>
                <a:latin typeface="Arial"/>
                <a:ea typeface="Arial"/>
                <a:cs typeface="Arial"/>
              </a:defRPr>
            </a:lvl3pPr>
            <a:lvl4pPr>
              <a:defRPr sz="3300" b="1">
                <a:solidFill>
                  <a:srgbClr val="15283D"/>
                </a:solidFill>
                <a:latin typeface="Arial"/>
                <a:ea typeface="Arial"/>
                <a:cs typeface="Arial"/>
              </a:defRPr>
            </a:lvl4pPr>
            <a:lvl5pPr>
              <a:defRPr sz="3300" b="1">
                <a:solidFill>
                  <a:srgbClr val="15283D"/>
                </a:solidFill>
                <a:latin typeface="Arial"/>
                <a:ea typeface="Arial"/>
                <a:cs typeface="Arial"/>
              </a:defRPr>
            </a:lvl5pPr>
            <a:lvl6pPr>
              <a:defRPr sz="3300" b="1">
                <a:solidFill>
                  <a:srgbClr val="15283D"/>
                </a:solidFill>
                <a:latin typeface="Arial"/>
                <a:ea typeface="Arial"/>
                <a:cs typeface="Arial"/>
              </a:defRPr>
            </a:lvl6pPr>
            <a:lvl7pPr>
              <a:defRPr sz="3300" b="1">
                <a:solidFill>
                  <a:srgbClr val="15283D"/>
                </a:solidFill>
                <a:latin typeface="Arial"/>
                <a:ea typeface="Arial"/>
                <a:cs typeface="Arial"/>
              </a:defRPr>
            </a:lvl7pPr>
            <a:lvl8pPr>
              <a:defRPr sz="3300" b="1">
                <a:solidFill>
                  <a:srgbClr val="15283D"/>
                </a:solidFill>
                <a:latin typeface="Arial"/>
                <a:ea typeface="Arial"/>
                <a:cs typeface="Arial"/>
              </a:defRPr>
            </a:lvl8pPr>
            <a:lvl9pPr>
              <a:defRPr sz="3300" b="1">
                <a:solidFill>
                  <a:srgbClr val="15283D"/>
                </a:solidFill>
                <a:latin typeface="Arial"/>
                <a:ea typeface="Arial"/>
                <a:cs typeface="Arial"/>
              </a:defRPr>
            </a:lvl9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Einstieg mit bekannten SQL-Grundlagen</a:t>
            </a:r>
          </a:p>
        </p:txBody>
      </p:sp>
      <p:sp>
        <p:nvSpPr>
          <p:cNvPr id="2" name="text-1">
            <a:extLst xmlns:a="http://schemas.openxmlformats.org/drawingml/2006/main">
              <a:ext uri="{FF2B5EF4-FFF2-40B4-BE49-F238E27FC236}">
                <a16:creationId xmlns:a16="http://schemas.microsoft.com/office/drawing/2014/main" id="{8E285660-DFF2-4071-8B2A-377CDB208488}"/>
              </a:ext>
            </a:extLst>
          </p:cNvPr>
          <p:cNvSpPr>
            <a:spLocks xmlns:a="http://schemas.openxmlformats.org/drawingml/2006/main" noGrp="1"/>
          </p:cNvSpPr>
          <p:nvPr/>
        </p:nvSpPr>
        <p:spPr>
          <a:xfrm xmlns:a="http://schemas.openxmlformats.org/drawingml/2006/main">
            <a:off x="685800" y="177165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Ausgangspunkt</a:t>
            </a:r>
          </a:p>
        </p:txBody>
      </p:sp>
      <p:sp>
        <p:nvSpPr>
          <p:cNvPr id="3" name="text-2">
            <a:extLst xmlns:a="http://schemas.openxmlformats.org/drawingml/2006/main">
              <a:ext uri="{FF2B5EF4-FFF2-40B4-BE49-F238E27FC236}">
                <a16:creationId xmlns:a16="http://schemas.microsoft.com/office/drawing/2014/main" id="{2DA6CDB6-0BE9-418E-84BF-D4F3979D7C19}"/>
              </a:ext>
            </a:extLst>
          </p:cNvPr>
          <p:cNvSpPr>
            <a:spLocks xmlns:a="http://schemas.openxmlformats.org/drawingml/2006/main" noGrp="1"/>
          </p:cNvSpPr>
          <p:nvPr/>
        </p:nvSpPr>
        <p:spPr>
          <a:xfrm xmlns:a="http://schemas.openxmlformats.org/drawingml/2006/main">
            <a:off x="3190875" y="177165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Sie kennen SELECT und Tabellen. Erfahrung mit KI brauchen Sie für diesen Einstieg nicht.</a:t>
            </a:r>
          </a:p>
        </p:txBody>
      </p:sp>
      <p:sp>
        <p:nvSpPr>
          <p:cNvPr id="4" name="text-3">
            <a:extLst xmlns:a="http://schemas.openxmlformats.org/drawingml/2006/main">
              <a:ext uri="{FF2B5EF4-FFF2-40B4-BE49-F238E27FC236}">
                <a16:creationId xmlns:a16="http://schemas.microsoft.com/office/drawing/2014/main" id="{356EFEC7-34D8-4014-A724-D95A976CE36C}"/>
              </a:ext>
            </a:extLst>
          </p:cNvPr>
          <p:cNvSpPr>
            <a:spLocks xmlns:a="http://schemas.openxmlformats.org/drawingml/2006/main" noGrp="1"/>
          </p:cNvSpPr>
          <p:nvPr/>
        </p:nvSpPr>
        <p:spPr>
          <a:xfrm xmlns:a="http://schemas.openxmlformats.org/drawingml/2006/main">
            <a:off x="685800" y="3057525"/>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Unser Fall</a:t>
            </a:r>
          </a:p>
        </p:txBody>
      </p:sp>
      <p:sp>
        <p:nvSpPr>
          <p:cNvPr id="5" name="text-4">
            <a:extLst xmlns:a="http://schemas.openxmlformats.org/drawingml/2006/main">
              <a:ext uri="{FF2B5EF4-FFF2-40B4-BE49-F238E27FC236}">
                <a16:creationId xmlns:a16="http://schemas.microsoft.com/office/drawing/2014/main" id="{6A960A61-7AF6-4CB0-97A4-74A49B792E4A}"/>
              </a:ext>
            </a:extLst>
          </p:cNvPr>
          <p:cNvSpPr>
            <a:spLocks xmlns:a="http://schemas.openxmlformats.org/drawingml/2006/main" noGrp="1"/>
          </p:cNvSpPr>
          <p:nvPr/>
        </p:nvSpPr>
        <p:spPr>
          <a:xfrm xmlns:a="http://schemas.openxmlformats.org/drawingml/2006/main">
            <a:off x="3190875" y="3057525"/>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Eine kleine technische Wissensbasis soll eine nachvollziehbare Antwort liefern.</a:t>
            </a:r>
          </a:p>
        </p:txBody>
      </p:sp>
      <p:sp>
        <p:nvSpPr>
          <p:cNvPr id="6" name="text-5">
            <a:extLst xmlns:a="http://schemas.openxmlformats.org/drawingml/2006/main">
              <a:ext uri="{FF2B5EF4-FFF2-40B4-BE49-F238E27FC236}">
                <a16:creationId xmlns:a16="http://schemas.microsoft.com/office/drawing/2014/main" id="{3B819171-6A6A-459A-B3D2-D9FC6495AC4A}"/>
              </a:ext>
            </a:extLst>
          </p:cNvPr>
          <p:cNvSpPr>
            <a:spLocks xmlns:a="http://schemas.openxmlformats.org/drawingml/2006/main" noGrp="1"/>
          </p:cNvSpPr>
          <p:nvPr/>
        </p:nvSpPr>
        <p:spPr>
          <a:xfrm xmlns:a="http://schemas.openxmlformats.org/drawingml/2006/main">
            <a:off x="685800" y="434340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Erstes Ergebnis</a:t>
            </a:r>
          </a:p>
        </p:txBody>
      </p:sp>
      <p:sp>
        <p:nvSpPr>
          <p:cNvPr id="7" name="text-6">
            <a:extLst xmlns:a="http://schemas.openxmlformats.org/drawingml/2006/main">
              <a:ext uri="{FF2B5EF4-FFF2-40B4-BE49-F238E27FC236}">
                <a16:creationId xmlns:a16="http://schemas.microsoft.com/office/drawing/2014/main" id="{AC5F75B3-7DA3-4001-A6CC-869BD00E8019}"/>
              </a:ext>
            </a:extLst>
          </p:cNvPr>
          <p:cNvSpPr>
            <a:spLocks xmlns:a="http://schemas.openxmlformats.org/drawingml/2006/main" noGrp="1"/>
          </p:cNvSpPr>
          <p:nvPr/>
        </p:nvSpPr>
        <p:spPr>
          <a:xfrm xmlns:a="http://schemas.openxmlformats.org/drawingml/2006/main">
            <a:off x="3190875" y="434340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Wir lesen Quellen und vergleichen feste Zahlen. Ein Modellzugang ist dafür noch nicht nötig.</a:t>
            </a:r>
          </a:p>
        </p:txBody>
      </p:sp>
      <p:sp>
        <p:nvSpPr>
          <p:cNvPr id="8" name="text-7">
            <a:extLst xmlns:a="http://schemas.openxmlformats.org/drawingml/2006/main">
              <a:ext uri="{FF2B5EF4-FFF2-40B4-BE49-F238E27FC236}">
                <a16:creationId xmlns:a16="http://schemas.microsoft.com/office/drawing/2014/main" id="{9D1E61E2-165E-40E3-BEA0-8FBC98B6FD70}"/>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vl1pPr>
              <a:defRPr sz="1350" b="0">
                <a:solidFill>
                  <a:srgbClr val="52647A"/>
                </a:solidFill>
                <a:latin typeface="Arial"/>
                <a:ea typeface="Arial"/>
                <a:cs typeface="Arial"/>
              </a:defRPr>
            </a:lvl1pPr>
            <a:lvl2pPr>
              <a:defRPr sz="1350" b="0">
                <a:solidFill>
                  <a:srgbClr val="52647A"/>
                </a:solidFill>
                <a:latin typeface="Arial"/>
                <a:ea typeface="Arial"/>
                <a:cs typeface="Arial"/>
              </a:defRPr>
            </a:lvl2pPr>
            <a:lvl3pPr>
              <a:defRPr sz="1350" b="0">
                <a:solidFill>
                  <a:srgbClr val="52647A"/>
                </a:solidFill>
                <a:latin typeface="Arial"/>
                <a:ea typeface="Arial"/>
                <a:cs typeface="Arial"/>
              </a:defRPr>
            </a:lvl3pPr>
            <a:lvl4pPr>
              <a:defRPr sz="1350" b="0">
                <a:solidFill>
                  <a:srgbClr val="52647A"/>
                </a:solidFill>
                <a:latin typeface="Arial"/>
                <a:ea typeface="Arial"/>
                <a:cs typeface="Arial"/>
              </a:defRPr>
            </a:lvl4pPr>
            <a:lvl5pPr>
              <a:defRPr sz="1350" b="0">
                <a:solidFill>
                  <a:srgbClr val="52647A"/>
                </a:solidFill>
                <a:latin typeface="Arial"/>
                <a:ea typeface="Arial"/>
                <a:cs typeface="Arial"/>
              </a:defRPr>
            </a:lvl5pPr>
            <a:lvl6pPr>
              <a:defRPr sz="1350" b="0">
                <a:solidFill>
                  <a:srgbClr val="52647A"/>
                </a:solidFill>
                <a:latin typeface="Arial"/>
                <a:ea typeface="Arial"/>
                <a:cs typeface="Arial"/>
              </a:defRPr>
            </a:lvl6pPr>
            <a:lvl7pPr>
              <a:defRPr sz="1350" b="0">
                <a:solidFill>
                  <a:srgbClr val="52647A"/>
                </a:solidFill>
                <a:latin typeface="Arial"/>
                <a:ea typeface="Arial"/>
                <a:cs typeface="Arial"/>
              </a:defRPr>
            </a:lvl7pPr>
            <a:lvl8pPr>
              <a:defRPr sz="1350" b="0">
                <a:solidFill>
                  <a:srgbClr val="52647A"/>
                </a:solidFill>
                <a:latin typeface="Arial"/>
                <a:ea typeface="Arial"/>
                <a:cs typeface="Arial"/>
              </a:defRPr>
            </a:lvl8pPr>
            <a:lvl9pPr>
              <a:defRPr sz="1350" b="0">
                <a:solidFill>
                  <a:srgbClr val="52647A"/>
                </a:solidFill>
                <a:latin typeface="Arial"/>
                <a:ea typeface="Arial"/>
                <a:cs typeface="Arial"/>
              </a:defRPr>
            </a:lvl9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02  CUR-013</a:t>
            </a:r>
          </a:p>
        </p:txBody>
      </p:sp>
    </p:spTree>
    <p:extLst>
      <p:ext uri="{BB962C8B-B14F-4D97-AF65-F5344CB8AC3E}">
        <p14:creationId xmlns:p14="http://schemas.microsoft.com/office/powerpoint/2010/main" val="154464062"/>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text-0">
            <a:extLst xmlns:a="http://schemas.openxmlformats.org/drawingml/2006/main">
              <a:ext uri="{FF2B5EF4-FFF2-40B4-BE49-F238E27FC236}">
                <a16:creationId xmlns:a16="http://schemas.microsoft.com/office/drawing/2014/main" id="{7AC940C0-543C-4EFF-85E0-B977B943C076}"/>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vl1pPr>
              <a:defRPr sz="3300" b="1">
                <a:solidFill>
                  <a:srgbClr val="15283D"/>
                </a:solidFill>
                <a:latin typeface="Arial"/>
                <a:ea typeface="Arial"/>
                <a:cs typeface="Arial"/>
              </a:defRPr>
            </a:lvl1pPr>
            <a:lvl2pPr>
              <a:defRPr sz="3300" b="1">
                <a:solidFill>
                  <a:srgbClr val="15283D"/>
                </a:solidFill>
                <a:latin typeface="Arial"/>
                <a:ea typeface="Arial"/>
                <a:cs typeface="Arial"/>
              </a:defRPr>
            </a:lvl2pPr>
            <a:lvl3pPr>
              <a:defRPr sz="3300" b="1">
                <a:solidFill>
                  <a:srgbClr val="15283D"/>
                </a:solidFill>
                <a:latin typeface="Arial"/>
                <a:ea typeface="Arial"/>
                <a:cs typeface="Arial"/>
              </a:defRPr>
            </a:lvl3pPr>
            <a:lvl4pPr>
              <a:defRPr sz="3300" b="1">
                <a:solidFill>
                  <a:srgbClr val="15283D"/>
                </a:solidFill>
                <a:latin typeface="Arial"/>
                <a:ea typeface="Arial"/>
                <a:cs typeface="Arial"/>
              </a:defRPr>
            </a:lvl4pPr>
            <a:lvl5pPr>
              <a:defRPr sz="3300" b="1">
                <a:solidFill>
                  <a:srgbClr val="15283D"/>
                </a:solidFill>
                <a:latin typeface="Arial"/>
                <a:ea typeface="Arial"/>
                <a:cs typeface="Arial"/>
              </a:defRPr>
            </a:lvl5pPr>
            <a:lvl6pPr>
              <a:defRPr sz="3300" b="1">
                <a:solidFill>
                  <a:srgbClr val="15283D"/>
                </a:solidFill>
                <a:latin typeface="Arial"/>
                <a:ea typeface="Arial"/>
                <a:cs typeface="Arial"/>
              </a:defRPr>
            </a:lvl6pPr>
            <a:lvl7pPr>
              <a:defRPr sz="3300" b="1">
                <a:solidFill>
                  <a:srgbClr val="15283D"/>
                </a:solidFill>
                <a:latin typeface="Arial"/>
                <a:ea typeface="Arial"/>
                <a:cs typeface="Arial"/>
              </a:defRPr>
            </a:lvl7pPr>
            <a:lvl8pPr>
              <a:defRPr sz="3300" b="1">
                <a:solidFill>
                  <a:srgbClr val="15283D"/>
                </a:solidFill>
                <a:latin typeface="Arial"/>
                <a:ea typeface="Arial"/>
                <a:cs typeface="Arial"/>
              </a:defRPr>
            </a:lvl8pPr>
            <a:lvl9pPr>
              <a:defRPr sz="3300" b="1">
                <a:solidFill>
                  <a:srgbClr val="15283D"/>
                </a:solidFill>
                <a:latin typeface="Arial"/>
                <a:ea typeface="Arial"/>
                <a:cs typeface="Arial"/>
              </a:defRPr>
            </a:lvl9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Eine Frage aus der technischen Wissensbasis</a:t>
            </a:r>
          </a:p>
        </p:txBody>
      </p:sp>
      <p:sp>
        <p:nvSpPr>
          <p:cNvPr id="2" name="text-1">
            <a:extLst xmlns:a="http://schemas.openxmlformats.org/drawingml/2006/main">
              <a:ext uri="{FF2B5EF4-FFF2-40B4-BE49-F238E27FC236}">
                <a16:creationId xmlns:a16="http://schemas.microsoft.com/office/drawing/2014/main" id="{3E13C3B7-7B2B-4ABD-AA3D-0A38E5890B6A}"/>
              </a:ext>
            </a:extLst>
          </p:cNvPr>
          <p:cNvSpPr>
            <a:spLocks xmlns:a="http://schemas.openxmlformats.org/drawingml/2006/main" noGrp="1"/>
          </p:cNvSpPr>
          <p:nvPr/>
        </p:nvSpPr>
        <p:spPr>
          <a:xfrm xmlns:a="http://schemas.openxmlformats.org/drawingml/2006/main">
            <a:off x="685800" y="177165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Frage</a:t>
            </a:r>
          </a:p>
        </p:txBody>
      </p:sp>
      <p:sp>
        <p:nvSpPr>
          <p:cNvPr id="3" name="text-2">
            <a:extLst xmlns:a="http://schemas.openxmlformats.org/drawingml/2006/main">
              <a:ext uri="{FF2B5EF4-FFF2-40B4-BE49-F238E27FC236}">
                <a16:creationId xmlns:a16="http://schemas.microsoft.com/office/drawing/2014/main" id="{4B6C049D-751B-4532-AED0-E5537CF14DE1}"/>
              </a:ext>
            </a:extLst>
          </p:cNvPr>
          <p:cNvSpPr>
            <a:spLocks xmlns:a="http://schemas.openxmlformats.org/drawingml/2006/main" noGrp="1"/>
          </p:cNvSpPr>
          <p:nvPr/>
        </p:nvSpPr>
        <p:spPr>
          <a:xfrm xmlns:a="http://schemas.openxmlformats.org/drawingml/2006/main">
            <a:off x="3190875" y="177165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Wie lange bleiben die Protokolle des Moduls MOD_A erhalten?</a:t>
            </a:r>
          </a:p>
        </p:txBody>
      </p:sp>
      <p:sp>
        <p:nvSpPr>
          <p:cNvPr id="4" name="text-3">
            <a:extLst xmlns:a="http://schemas.openxmlformats.org/drawingml/2006/main">
              <a:ext uri="{FF2B5EF4-FFF2-40B4-BE49-F238E27FC236}">
                <a16:creationId xmlns:a16="http://schemas.microsoft.com/office/drawing/2014/main" id="{292A7917-A02A-4F0C-8651-09404FFB920D}"/>
              </a:ext>
            </a:extLst>
          </p:cNvPr>
          <p:cNvSpPr>
            <a:spLocks xmlns:a="http://schemas.openxmlformats.org/drawingml/2006/main" noGrp="1"/>
          </p:cNvSpPr>
          <p:nvPr/>
        </p:nvSpPr>
        <p:spPr>
          <a:xfrm xmlns:a="http://schemas.openxmlformats.org/drawingml/2006/main">
            <a:off x="685800" y="3057525"/>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Quellen</a:t>
            </a:r>
          </a:p>
        </p:txBody>
      </p:sp>
      <p:sp>
        <p:nvSpPr>
          <p:cNvPr id="5" name="text-4">
            <a:extLst xmlns:a="http://schemas.openxmlformats.org/drawingml/2006/main">
              <a:ext uri="{FF2B5EF4-FFF2-40B4-BE49-F238E27FC236}">
                <a16:creationId xmlns:a16="http://schemas.microsoft.com/office/drawing/2014/main" id="{8D662C26-7AAA-4B7C-A005-5A98CA422E47}"/>
              </a:ext>
            </a:extLst>
          </p:cNvPr>
          <p:cNvSpPr>
            <a:spLocks xmlns:a="http://schemas.openxmlformats.org/drawingml/2006/main" noGrp="1"/>
          </p:cNvSpPr>
          <p:nvPr/>
        </p:nvSpPr>
        <p:spPr>
          <a:xfrm xmlns:a="http://schemas.openxmlformats.org/drawingml/2006/main">
            <a:off x="3190875" y="3057525"/>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Eine alte Anleitung nennt fünf Tage. Die aktuelle Anleitung nennt sieben Tage.</a:t>
            </a:r>
          </a:p>
        </p:txBody>
      </p:sp>
      <p:sp>
        <p:nvSpPr>
          <p:cNvPr id="6" name="text-5">
            <a:extLst xmlns:a="http://schemas.openxmlformats.org/drawingml/2006/main">
              <a:ext uri="{FF2B5EF4-FFF2-40B4-BE49-F238E27FC236}">
                <a16:creationId xmlns:a16="http://schemas.microsoft.com/office/drawing/2014/main" id="{12032183-1EC1-40E3-9692-679DBC866B82}"/>
              </a:ext>
            </a:extLst>
          </p:cNvPr>
          <p:cNvSpPr>
            <a:spLocks xmlns:a="http://schemas.openxmlformats.org/drawingml/2006/main" noGrp="1"/>
          </p:cNvSpPr>
          <p:nvPr/>
        </p:nvSpPr>
        <p:spPr>
          <a:xfrm xmlns:a="http://schemas.openxmlformats.org/drawingml/2006/main">
            <a:off x="685800" y="434340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Erwartung</a:t>
            </a:r>
          </a:p>
        </p:txBody>
      </p:sp>
      <p:sp>
        <p:nvSpPr>
          <p:cNvPr id="7" name="text-6">
            <a:extLst xmlns:a="http://schemas.openxmlformats.org/drawingml/2006/main">
              <a:ext uri="{FF2B5EF4-FFF2-40B4-BE49-F238E27FC236}">
                <a16:creationId xmlns:a16="http://schemas.microsoft.com/office/drawing/2014/main" id="{0EE485CD-7AE4-4070-9BCD-552C3B94B2BE}"/>
              </a:ext>
            </a:extLst>
          </p:cNvPr>
          <p:cNvSpPr>
            <a:spLocks xmlns:a="http://schemas.openxmlformats.org/drawingml/2006/main" noGrp="1"/>
          </p:cNvSpPr>
          <p:nvPr/>
        </p:nvSpPr>
        <p:spPr>
          <a:xfrm xmlns:a="http://schemas.openxmlformats.org/drawingml/2006/main">
            <a:off x="3190875" y="434340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Die Antwort muss zur aktuellen Anleitung passen und ihre Quelle nennen.</a:t>
            </a:r>
          </a:p>
        </p:txBody>
      </p:sp>
      <p:sp>
        <p:nvSpPr>
          <p:cNvPr id="8" name="text-7">
            <a:extLst xmlns:a="http://schemas.openxmlformats.org/drawingml/2006/main">
              <a:ext uri="{FF2B5EF4-FFF2-40B4-BE49-F238E27FC236}">
                <a16:creationId xmlns:a16="http://schemas.microsoft.com/office/drawing/2014/main" id="{64C05455-7E82-45C9-B0C2-B4460C45BB52}"/>
              </a:ext>
            </a:extLst>
          </p:cNvPr>
          <p:cNvSpPr>
            <a:spLocks xmlns:a="http://schemas.openxmlformats.org/drawingml/2006/main" noGrp="1"/>
          </p:cNvSpPr>
          <p:nvPr/>
        </p:nvSpPr>
        <p:spPr>
          <a:xfrm xmlns:a="http://schemas.openxmlformats.org/drawingml/2006/main">
            <a:off x="685800" y="5876925"/>
            <a:ext cx="10553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0">
                <a:solidFill>
                  <a:srgbClr val="52647A"/>
                </a:solidFill>
                <a:latin typeface="Arial"/>
                <a:ea typeface="Arial"/>
                <a:cs typeface="Arial"/>
              </a:defRPr>
            </a:defPPr>
            <a:lvl1pPr>
              <a:defRPr sz="1800" b="0">
                <a:solidFill>
                  <a:srgbClr val="52647A"/>
                </a:solidFill>
                <a:latin typeface="Arial"/>
                <a:ea typeface="Arial"/>
                <a:cs typeface="Arial"/>
              </a:defRPr>
            </a:lvl1pPr>
            <a:lvl2pPr>
              <a:defRPr sz="1800" b="0">
                <a:solidFill>
                  <a:srgbClr val="52647A"/>
                </a:solidFill>
                <a:latin typeface="Arial"/>
                <a:ea typeface="Arial"/>
                <a:cs typeface="Arial"/>
              </a:defRPr>
            </a:lvl2pPr>
            <a:lvl3pPr>
              <a:defRPr sz="1800" b="0">
                <a:solidFill>
                  <a:srgbClr val="52647A"/>
                </a:solidFill>
                <a:latin typeface="Arial"/>
                <a:ea typeface="Arial"/>
                <a:cs typeface="Arial"/>
              </a:defRPr>
            </a:lvl3pPr>
            <a:lvl4pPr>
              <a:defRPr sz="1800" b="0">
                <a:solidFill>
                  <a:srgbClr val="52647A"/>
                </a:solidFill>
                <a:latin typeface="Arial"/>
                <a:ea typeface="Arial"/>
                <a:cs typeface="Arial"/>
              </a:defRPr>
            </a:lvl4pPr>
            <a:lvl5pPr>
              <a:defRPr sz="1800" b="0">
                <a:solidFill>
                  <a:srgbClr val="52647A"/>
                </a:solidFill>
                <a:latin typeface="Arial"/>
                <a:ea typeface="Arial"/>
                <a:cs typeface="Arial"/>
              </a:defRPr>
            </a:lvl5pPr>
            <a:lvl6pPr>
              <a:defRPr sz="1800" b="0">
                <a:solidFill>
                  <a:srgbClr val="52647A"/>
                </a:solidFill>
                <a:latin typeface="Arial"/>
                <a:ea typeface="Arial"/>
                <a:cs typeface="Arial"/>
              </a:defRPr>
            </a:lvl6pPr>
            <a:lvl7pPr>
              <a:defRPr sz="1800" b="0">
                <a:solidFill>
                  <a:srgbClr val="52647A"/>
                </a:solidFill>
                <a:latin typeface="Arial"/>
                <a:ea typeface="Arial"/>
                <a:cs typeface="Arial"/>
              </a:defRPr>
            </a:lvl7pPr>
            <a:lvl8pPr>
              <a:defRPr sz="1800" b="0">
                <a:solidFill>
                  <a:srgbClr val="52647A"/>
                </a:solidFill>
                <a:latin typeface="Arial"/>
                <a:ea typeface="Arial"/>
                <a:cs typeface="Arial"/>
              </a:defRPr>
            </a:lvl8pPr>
            <a:lvl9pPr>
              <a:defRPr sz="1800" b="0">
                <a:solidFill>
                  <a:srgbClr val="52647A"/>
                </a:solidFill>
                <a:latin typeface="Arial"/>
                <a:ea typeface="Arial"/>
                <a:cs typeface="Arial"/>
              </a:defRPr>
            </a:lvl9pPr>
          </a:lstStyle>
          <a:p xmlns:a="http://schemas.openxmlformats.org/drawingml/2006/main">
            <a:pPr>
              <a:defRPr sz="1800" b="0">
                <a:solidFill>
                  <a:srgbClr val="52647A"/>
                </a:solidFill>
                <a:latin typeface="Arial"/>
                <a:ea typeface="Arial"/>
                <a:cs typeface="Arial"/>
              </a:defRPr>
            </a:pPr>
            <a:r>
              <a:rPr sz="1800" b="0">
                <a:solidFill>
                  <a:srgbClr val="52647A"/>
                </a:solidFill>
                <a:latin typeface="Arial"/>
                <a:ea typeface="Arial"/>
                <a:cs typeface="Arial"/>
              </a:rPr>
              <a:t>MOD_A und alle Dokumente sind frei erfundene Schulungsdaten.</a:t>
            </a:r>
          </a:p>
        </p:txBody>
      </p:sp>
      <p:sp>
        <p:nvSpPr>
          <p:cNvPr id="9" name="text-8">
            <a:extLst xmlns:a="http://schemas.openxmlformats.org/drawingml/2006/main">
              <a:ext uri="{FF2B5EF4-FFF2-40B4-BE49-F238E27FC236}">
                <a16:creationId xmlns:a16="http://schemas.microsoft.com/office/drawing/2014/main" id="{83E7F961-4B65-463A-B3CE-4F52056E2328}"/>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vl1pPr>
              <a:defRPr sz="1350" b="0">
                <a:solidFill>
                  <a:srgbClr val="52647A"/>
                </a:solidFill>
                <a:latin typeface="Arial"/>
                <a:ea typeface="Arial"/>
                <a:cs typeface="Arial"/>
              </a:defRPr>
            </a:lvl1pPr>
            <a:lvl2pPr>
              <a:defRPr sz="1350" b="0">
                <a:solidFill>
                  <a:srgbClr val="52647A"/>
                </a:solidFill>
                <a:latin typeface="Arial"/>
                <a:ea typeface="Arial"/>
                <a:cs typeface="Arial"/>
              </a:defRPr>
            </a:lvl2pPr>
            <a:lvl3pPr>
              <a:defRPr sz="1350" b="0">
                <a:solidFill>
                  <a:srgbClr val="52647A"/>
                </a:solidFill>
                <a:latin typeface="Arial"/>
                <a:ea typeface="Arial"/>
                <a:cs typeface="Arial"/>
              </a:defRPr>
            </a:lvl3pPr>
            <a:lvl4pPr>
              <a:defRPr sz="1350" b="0">
                <a:solidFill>
                  <a:srgbClr val="52647A"/>
                </a:solidFill>
                <a:latin typeface="Arial"/>
                <a:ea typeface="Arial"/>
                <a:cs typeface="Arial"/>
              </a:defRPr>
            </a:lvl4pPr>
            <a:lvl5pPr>
              <a:defRPr sz="1350" b="0">
                <a:solidFill>
                  <a:srgbClr val="52647A"/>
                </a:solidFill>
                <a:latin typeface="Arial"/>
                <a:ea typeface="Arial"/>
                <a:cs typeface="Arial"/>
              </a:defRPr>
            </a:lvl5pPr>
            <a:lvl6pPr>
              <a:defRPr sz="1350" b="0">
                <a:solidFill>
                  <a:srgbClr val="52647A"/>
                </a:solidFill>
                <a:latin typeface="Arial"/>
                <a:ea typeface="Arial"/>
                <a:cs typeface="Arial"/>
              </a:defRPr>
            </a:lvl6pPr>
            <a:lvl7pPr>
              <a:defRPr sz="1350" b="0">
                <a:solidFill>
                  <a:srgbClr val="52647A"/>
                </a:solidFill>
                <a:latin typeface="Arial"/>
                <a:ea typeface="Arial"/>
                <a:cs typeface="Arial"/>
              </a:defRPr>
            </a:lvl7pPr>
            <a:lvl8pPr>
              <a:defRPr sz="1350" b="0">
                <a:solidFill>
                  <a:srgbClr val="52647A"/>
                </a:solidFill>
                <a:latin typeface="Arial"/>
                <a:ea typeface="Arial"/>
                <a:cs typeface="Arial"/>
              </a:defRPr>
            </a:lvl8pPr>
            <a:lvl9pPr>
              <a:defRPr sz="1350" b="0">
                <a:solidFill>
                  <a:srgbClr val="52647A"/>
                </a:solidFill>
                <a:latin typeface="Arial"/>
                <a:ea typeface="Arial"/>
                <a:cs typeface="Arial"/>
              </a:defRPr>
            </a:lvl9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03  CUR-013 / CUR-017</a:t>
            </a:r>
          </a:p>
        </p:txBody>
      </p:sp>
    </p:spTree>
    <p:extLst>
      <p:ext uri="{BB962C8B-B14F-4D97-AF65-F5344CB8AC3E}">
        <p14:creationId xmlns:p14="http://schemas.microsoft.com/office/powerpoint/2010/main" val="278930655"/>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0">
            <a:extLst xmlns:a="http://schemas.openxmlformats.org/drawingml/2006/main">
              <a:ext uri="{FF2B5EF4-FFF2-40B4-BE49-F238E27FC236}">
                <a16:creationId xmlns:a16="http://schemas.microsoft.com/office/drawing/2014/main" id="{FE9BBFF4-6BE5-4DD3-BA47-D9FB0A12D7E1}"/>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vl1pPr>
              <a:defRPr sz="3300" b="1">
                <a:solidFill>
                  <a:srgbClr val="15283D"/>
                </a:solidFill>
                <a:latin typeface="Arial"/>
                <a:ea typeface="Arial"/>
                <a:cs typeface="Arial"/>
              </a:defRPr>
            </a:lvl1pPr>
            <a:lvl2pPr>
              <a:defRPr sz="3300" b="1">
                <a:solidFill>
                  <a:srgbClr val="15283D"/>
                </a:solidFill>
                <a:latin typeface="Arial"/>
                <a:ea typeface="Arial"/>
                <a:cs typeface="Arial"/>
              </a:defRPr>
            </a:lvl2pPr>
            <a:lvl3pPr>
              <a:defRPr sz="3300" b="1">
                <a:solidFill>
                  <a:srgbClr val="15283D"/>
                </a:solidFill>
                <a:latin typeface="Arial"/>
                <a:ea typeface="Arial"/>
                <a:cs typeface="Arial"/>
              </a:defRPr>
            </a:lvl3pPr>
            <a:lvl4pPr>
              <a:defRPr sz="3300" b="1">
                <a:solidFill>
                  <a:srgbClr val="15283D"/>
                </a:solidFill>
                <a:latin typeface="Arial"/>
                <a:ea typeface="Arial"/>
                <a:cs typeface="Arial"/>
              </a:defRPr>
            </a:lvl4pPr>
            <a:lvl5pPr>
              <a:defRPr sz="3300" b="1">
                <a:solidFill>
                  <a:srgbClr val="15283D"/>
                </a:solidFill>
                <a:latin typeface="Arial"/>
                <a:ea typeface="Arial"/>
                <a:cs typeface="Arial"/>
              </a:defRPr>
            </a:lvl5pPr>
            <a:lvl6pPr>
              <a:defRPr sz="3300" b="1">
                <a:solidFill>
                  <a:srgbClr val="15283D"/>
                </a:solidFill>
                <a:latin typeface="Arial"/>
                <a:ea typeface="Arial"/>
                <a:cs typeface="Arial"/>
              </a:defRPr>
            </a:lvl6pPr>
            <a:lvl7pPr>
              <a:defRPr sz="3300" b="1">
                <a:solidFill>
                  <a:srgbClr val="15283D"/>
                </a:solidFill>
                <a:latin typeface="Arial"/>
                <a:ea typeface="Arial"/>
                <a:cs typeface="Arial"/>
              </a:defRPr>
            </a:lvl7pPr>
            <a:lvl8pPr>
              <a:defRPr sz="3300" b="1">
                <a:solidFill>
                  <a:srgbClr val="15283D"/>
                </a:solidFill>
                <a:latin typeface="Arial"/>
                <a:ea typeface="Arial"/>
                <a:cs typeface="Arial"/>
              </a:defRPr>
            </a:lvl8pPr>
            <a:lvl9pPr>
              <a:defRPr sz="3300" b="1">
                <a:solidFill>
                  <a:srgbClr val="15283D"/>
                </a:solidFill>
                <a:latin typeface="Arial"/>
                <a:ea typeface="Arial"/>
                <a:cs typeface="Arial"/>
              </a:defRPr>
            </a:lvl9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Drei überschaubare Quelldokumente</a:t>
            </a:r>
          </a:p>
        </p:txBody>
      </p:sp>
      <p:graphicFrame>
        <p:nvGraphicFramePr>
          <p:cNvPr id="2" name="">
            <a:extLst xmlns:a="http://schemas.openxmlformats.org/drawingml/2006/main">
              <a:ext uri="{FF2B5EF4-FFF2-40B4-BE49-F238E27FC236}">
                <a16:creationId xmlns:a16="http://schemas.microsoft.com/office/drawing/2014/main" id="{2C45665C-2E37-4C11-893C-6704BA723DFA}"/>
              </a:ext>
            </a:extLst>
          </p:cNvPr>
          <p:cNvGraphicFramePr/>
          <p:nvPr/>
        </p:nvGraphicFramePr>
        <p:xfrm>
          <a:off xmlns:a="http://schemas.openxmlformats.org/drawingml/2006/main" x="685800" y="1771650"/>
          <a:ext xmlns:a="http://schemas.openxmlformats.org/drawingml/2006/main" cx="10668000" cy="3143250"/>
        </p:xfrm>
        <a:graphic xmlns:a="http://schemas.openxmlformats.org/drawingml/2006/main">
          <a:graphicData uri="http://schemas.openxmlformats.org/drawingml/2006/table">
            <a:tbl>
              <a:tblPr/>
              <a:tblGrid>
                <a:gridCol w="2190750"/>
                <a:gridCol w="2190750"/>
                <a:gridCol w="6286500"/>
              </a:tblGrid>
              <a:tr h="785813">
                <a:tc>
                  <a:txBody>
                    <a:bodyPr/>
                    <a:lstStyle/>
                    <a:p>
                      <a:r>
                        <a:rPr sz="1800" b="1">
                          <a:solidFill>
                            <a:srgbClr val="15283D"/>
                          </a:solidFill>
                          <a:latin typeface="Arial"/>
                          <a:ea typeface="Arial"/>
                          <a:cs typeface="Arial"/>
                        </a:rPr>
                        <a:t>Dokument</a:t>
                      </a:r>
                    </a:p>
                  </a:txBody>
                  <a:tcPr marL="114300" marR="114300" marT="47625" marB="47625" anchor="ctr">
                    <a:lnL w="9525">
                      <a:solidFill>
                        <a:srgbClr val="C8D5DE"/>
                      </a:solidFill>
                      <a:prstDash val="solid"/>
                    </a:lnL>
                    <a:lnR w="9525">
                      <a:solidFill>
                        <a:srgbClr val="C8D5DE"/>
                      </a:solidFill>
                      <a:prstDash val="solid"/>
                    </a:lnR>
                    <a:lnT w="9525">
                      <a:solidFill>
                        <a:srgbClr val="C8D5DE"/>
                      </a:solidFill>
                      <a:prstDash val="solid"/>
                    </a:lnT>
                    <a:lnB w="9525">
                      <a:solidFill>
                        <a:srgbClr val="C8D5DE"/>
                      </a:solidFill>
                      <a:prstDash val="solid"/>
                    </a:lnB>
                    <a:solidFill>
                      <a:srgbClr val="E8F2F2"/>
                    </a:solidFill>
                  </a:tcPr>
                </a:tc>
                <a:tc>
                  <a:txBody>
                    <a:bodyPr/>
                    <a:lstStyle/>
                    <a:p>
                      <a:r>
                        <a:rPr sz="1800" b="1">
                          <a:solidFill>
                            <a:srgbClr val="15283D"/>
                          </a:solidFill>
                          <a:latin typeface="Arial"/>
                          <a:ea typeface="Arial"/>
                          <a:cs typeface="Arial"/>
                        </a:rPr>
                        <a:t>Fassung</a:t>
                      </a:r>
                    </a:p>
                  </a:txBody>
                  <a:tcPr marL="114300" marR="114300" marT="47625" marB="47625" anchor="ctr">
                    <a:lnR w="9525">
                      <a:solidFill>
                        <a:srgbClr val="C8D5DE"/>
                      </a:solidFill>
                      <a:prstDash val="solid"/>
                    </a:lnR>
                    <a:lnT w="9525">
                      <a:solidFill>
                        <a:srgbClr val="C8D5DE"/>
                      </a:solidFill>
                      <a:prstDash val="solid"/>
                    </a:lnT>
                    <a:lnB w="9525">
                      <a:solidFill>
                        <a:srgbClr val="C8D5DE"/>
                      </a:solidFill>
                      <a:prstDash val="solid"/>
                    </a:lnB>
                    <a:solidFill>
                      <a:srgbClr val="E8F2F2"/>
                    </a:solidFill>
                  </a:tcPr>
                </a:tc>
                <a:tc>
                  <a:txBody>
                    <a:bodyPr/>
                    <a:lstStyle/>
                    <a:p>
                      <a:r>
                        <a:rPr sz="1800" b="1">
                          <a:solidFill>
                            <a:srgbClr val="15283D"/>
                          </a:solidFill>
                          <a:latin typeface="Arial"/>
                          <a:ea typeface="Arial"/>
                          <a:cs typeface="Arial"/>
                        </a:rPr>
                        <a:t>Quelltext</a:t>
                      </a:r>
                    </a:p>
                  </a:txBody>
                  <a:tcPr marL="114300" marR="114300" marT="47625" marB="47625" anchor="ctr">
                    <a:lnR w="9525">
                      <a:solidFill>
                        <a:srgbClr val="C8D5DE"/>
                      </a:solidFill>
                      <a:prstDash val="solid"/>
                    </a:lnR>
                    <a:lnT w="9525">
                      <a:solidFill>
                        <a:srgbClr val="C8D5DE"/>
                      </a:solidFill>
                      <a:prstDash val="solid"/>
                    </a:lnT>
                    <a:lnB w="9525">
                      <a:solidFill>
                        <a:srgbClr val="C8D5DE"/>
                      </a:solidFill>
                      <a:prstDash val="solid"/>
                    </a:lnB>
                    <a:solidFill>
                      <a:srgbClr val="E8F2F2"/>
                    </a:solidFill>
                  </a:tcPr>
                </a:tc>
              </a:tr>
              <a:tr h="785813">
                <a:tc>
                  <a:txBody>
                    <a:bodyPr/>
                    <a:lstStyle/>
                    <a:p>
                      <a:r>
                        <a:rPr sz="1800" b="0">
                          <a:solidFill>
                            <a:srgbClr val="15283D"/>
                          </a:solidFill>
                          <a:latin typeface="Arial"/>
                          <a:ea typeface="Arial"/>
                          <a:cs typeface="Arial"/>
                        </a:rPr>
                        <a:t>1: MOD_A</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v1, veraltet</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MOD_A bewahrt Protokolle fünf Tage auf.</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r h="785813">
                <a:tc>
                  <a:txBody>
                    <a:bodyPr/>
                    <a:lstStyle/>
                    <a:p>
                      <a:r>
                        <a:rPr sz="1800" b="0">
                          <a:solidFill>
                            <a:srgbClr val="15283D"/>
                          </a:solidFill>
                          <a:latin typeface="Arial"/>
                          <a:ea typeface="Arial"/>
                          <a:cs typeface="Arial"/>
                        </a:rPr>
                        <a:t>2: MOD_A</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v2, aktuell</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MOD_A bewahrt Protokolle sieben Tage auf.</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r h="785813">
                <a:tc>
                  <a:txBody>
                    <a:bodyPr/>
                    <a:lstStyle/>
                    <a:p>
                      <a:r>
                        <a:rPr sz="1800" b="0">
                          <a:solidFill>
                            <a:srgbClr val="15283D"/>
                          </a:solidFill>
                          <a:latin typeface="Arial"/>
                          <a:ea typeface="Arial"/>
                          <a:cs typeface="Arial"/>
                        </a:rPr>
                        <a:t>3: MOD_B</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v1, aktuell</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MOD_B bewahrt Protokolle neun Tage auf.</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bl>
          </a:graphicData>
        </a:graphic>
      </p:graphicFrame>
      <p:sp>
        <p:nvSpPr>
          <p:cNvPr id="3" name="text-1">
            <a:extLst xmlns:a="http://schemas.openxmlformats.org/drawingml/2006/main">
              <a:ext uri="{FF2B5EF4-FFF2-40B4-BE49-F238E27FC236}">
                <a16:creationId xmlns:a16="http://schemas.microsoft.com/office/drawing/2014/main" id="{9CB6C96F-F6D1-42EB-B90B-BD85660BDC15}"/>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vl1pPr>
              <a:defRPr sz="1350" b="0">
                <a:solidFill>
                  <a:srgbClr val="52647A"/>
                </a:solidFill>
                <a:latin typeface="Arial"/>
                <a:ea typeface="Arial"/>
                <a:cs typeface="Arial"/>
              </a:defRPr>
            </a:lvl1pPr>
            <a:lvl2pPr>
              <a:defRPr sz="1350" b="0">
                <a:solidFill>
                  <a:srgbClr val="52647A"/>
                </a:solidFill>
                <a:latin typeface="Arial"/>
                <a:ea typeface="Arial"/>
                <a:cs typeface="Arial"/>
              </a:defRPr>
            </a:lvl2pPr>
            <a:lvl3pPr>
              <a:defRPr sz="1350" b="0">
                <a:solidFill>
                  <a:srgbClr val="52647A"/>
                </a:solidFill>
                <a:latin typeface="Arial"/>
                <a:ea typeface="Arial"/>
                <a:cs typeface="Arial"/>
              </a:defRPr>
            </a:lvl3pPr>
            <a:lvl4pPr>
              <a:defRPr sz="1350" b="0">
                <a:solidFill>
                  <a:srgbClr val="52647A"/>
                </a:solidFill>
                <a:latin typeface="Arial"/>
                <a:ea typeface="Arial"/>
                <a:cs typeface="Arial"/>
              </a:defRPr>
            </a:lvl4pPr>
            <a:lvl5pPr>
              <a:defRPr sz="1350" b="0">
                <a:solidFill>
                  <a:srgbClr val="52647A"/>
                </a:solidFill>
                <a:latin typeface="Arial"/>
                <a:ea typeface="Arial"/>
                <a:cs typeface="Arial"/>
              </a:defRPr>
            </a:lvl5pPr>
            <a:lvl6pPr>
              <a:defRPr sz="1350" b="0">
                <a:solidFill>
                  <a:srgbClr val="52647A"/>
                </a:solidFill>
                <a:latin typeface="Arial"/>
                <a:ea typeface="Arial"/>
                <a:cs typeface="Arial"/>
              </a:defRPr>
            </a:lvl6pPr>
            <a:lvl7pPr>
              <a:defRPr sz="1350" b="0">
                <a:solidFill>
                  <a:srgbClr val="52647A"/>
                </a:solidFill>
                <a:latin typeface="Arial"/>
                <a:ea typeface="Arial"/>
                <a:cs typeface="Arial"/>
              </a:defRPr>
            </a:lvl7pPr>
            <a:lvl8pPr>
              <a:defRPr sz="1350" b="0">
                <a:solidFill>
                  <a:srgbClr val="52647A"/>
                </a:solidFill>
                <a:latin typeface="Arial"/>
                <a:ea typeface="Arial"/>
                <a:cs typeface="Arial"/>
              </a:defRPr>
            </a:lvl8pPr>
            <a:lvl9pPr>
              <a:defRPr sz="1350" b="0">
                <a:solidFill>
                  <a:srgbClr val="52647A"/>
                </a:solidFill>
                <a:latin typeface="Arial"/>
                <a:ea typeface="Arial"/>
                <a:cs typeface="Arial"/>
              </a:defRPr>
            </a:lvl9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04  CUR-013 / CUR-015</a:t>
            </a:r>
          </a:p>
        </p:txBody>
      </p:sp>
    </p:spTree>
    <p:extLst>
      <p:ext uri="{BB962C8B-B14F-4D97-AF65-F5344CB8AC3E}">
        <p14:creationId xmlns:p14="http://schemas.microsoft.com/office/powerpoint/2010/main" val="406171651"/>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text-0">
            <a:extLst xmlns:a="http://schemas.openxmlformats.org/drawingml/2006/main">
              <a:ext uri="{FF2B5EF4-FFF2-40B4-BE49-F238E27FC236}">
                <a16:creationId xmlns:a16="http://schemas.microsoft.com/office/drawing/2014/main" id="{E2BD010C-3904-461F-BDFA-17CF86561CAB}"/>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vl1pPr>
              <a:defRPr sz="3300" b="1">
                <a:solidFill>
                  <a:srgbClr val="15283D"/>
                </a:solidFill>
                <a:latin typeface="Arial"/>
                <a:ea typeface="Arial"/>
                <a:cs typeface="Arial"/>
              </a:defRPr>
            </a:lvl1pPr>
            <a:lvl2pPr>
              <a:defRPr sz="3300" b="1">
                <a:solidFill>
                  <a:srgbClr val="15283D"/>
                </a:solidFill>
                <a:latin typeface="Arial"/>
                <a:ea typeface="Arial"/>
                <a:cs typeface="Arial"/>
              </a:defRPr>
            </a:lvl2pPr>
            <a:lvl3pPr>
              <a:defRPr sz="3300" b="1">
                <a:solidFill>
                  <a:srgbClr val="15283D"/>
                </a:solidFill>
                <a:latin typeface="Arial"/>
                <a:ea typeface="Arial"/>
                <a:cs typeface="Arial"/>
              </a:defRPr>
            </a:lvl3pPr>
            <a:lvl4pPr>
              <a:defRPr sz="3300" b="1">
                <a:solidFill>
                  <a:srgbClr val="15283D"/>
                </a:solidFill>
                <a:latin typeface="Arial"/>
                <a:ea typeface="Arial"/>
                <a:cs typeface="Arial"/>
              </a:defRPr>
            </a:lvl4pPr>
            <a:lvl5pPr>
              <a:defRPr sz="3300" b="1">
                <a:solidFill>
                  <a:srgbClr val="15283D"/>
                </a:solidFill>
                <a:latin typeface="Arial"/>
                <a:ea typeface="Arial"/>
                <a:cs typeface="Arial"/>
              </a:defRPr>
            </a:lvl5pPr>
            <a:lvl6pPr>
              <a:defRPr sz="3300" b="1">
                <a:solidFill>
                  <a:srgbClr val="15283D"/>
                </a:solidFill>
                <a:latin typeface="Arial"/>
                <a:ea typeface="Arial"/>
                <a:cs typeface="Arial"/>
              </a:defRPr>
            </a:lvl6pPr>
            <a:lvl7pPr>
              <a:defRPr sz="3300" b="1">
                <a:solidFill>
                  <a:srgbClr val="15283D"/>
                </a:solidFill>
                <a:latin typeface="Arial"/>
                <a:ea typeface="Arial"/>
                <a:cs typeface="Arial"/>
              </a:defRPr>
            </a:lvl7pPr>
            <a:lvl8pPr>
              <a:defRPr sz="3300" b="1">
                <a:solidFill>
                  <a:srgbClr val="15283D"/>
                </a:solidFill>
                <a:latin typeface="Arial"/>
                <a:ea typeface="Arial"/>
                <a:cs typeface="Arial"/>
              </a:defRPr>
            </a:lvl8pPr>
            <a:lvl9pPr>
              <a:defRPr sz="3300" b="1">
                <a:solidFill>
                  <a:srgbClr val="15283D"/>
                </a:solidFill>
                <a:latin typeface="Arial"/>
                <a:ea typeface="Arial"/>
                <a:cs typeface="Arial"/>
              </a:defRPr>
            </a:lvl9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Eine vertraute SELECT-Abfrage</a:t>
            </a:r>
          </a:p>
        </p:txBody>
      </p:sp>
      <p:sp>
        <p:nvSpPr>
          <p:cNvPr id="2" name="text-1">
            <a:extLst xmlns:a="http://schemas.openxmlformats.org/drawingml/2006/main">
              <a:ext uri="{FF2B5EF4-FFF2-40B4-BE49-F238E27FC236}">
                <a16:creationId xmlns:a16="http://schemas.microsoft.com/office/drawing/2014/main" id="{0DC360C8-B61F-41E9-802E-D3E1FCAF0F16}"/>
              </a:ext>
            </a:extLst>
          </p:cNvPr>
          <p:cNvSpPr>
            <a:spLocks xmlns:a="http://schemas.openxmlformats.org/drawingml/2006/main" noGrp="1"/>
          </p:cNvSpPr>
          <p:nvPr/>
        </p:nvSpPr>
        <p:spPr>
          <a:xfrm xmlns:a="http://schemas.openxmlformats.org/drawingml/2006/main">
            <a:off x="685800" y="1771650"/>
            <a:ext cx="1082040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0">
                <a:solidFill>
                  <a:srgbClr val="007A83"/>
                </a:solidFill>
                <a:latin typeface="Arial"/>
                <a:ea typeface="Arial"/>
                <a:cs typeface="Arial"/>
              </a:defRPr>
            </a:defPPr>
            <a:lvl1pPr>
              <a:defRPr sz="2100" b="0">
                <a:solidFill>
                  <a:srgbClr val="007A83"/>
                </a:solidFill>
                <a:latin typeface="Arial"/>
                <a:ea typeface="Arial"/>
                <a:cs typeface="Arial"/>
              </a:defRPr>
            </a:lvl1pPr>
            <a:lvl2pPr>
              <a:defRPr sz="2100" b="0">
                <a:solidFill>
                  <a:srgbClr val="007A83"/>
                </a:solidFill>
                <a:latin typeface="Arial"/>
                <a:ea typeface="Arial"/>
                <a:cs typeface="Arial"/>
              </a:defRPr>
            </a:lvl2pPr>
            <a:lvl3pPr>
              <a:defRPr sz="2100" b="0">
                <a:solidFill>
                  <a:srgbClr val="007A83"/>
                </a:solidFill>
                <a:latin typeface="Arial"/>
                <a:ea typeface="Arial"/>
                <a:cs typeface="Arial"/>
              </a:defRPr>
            </a:lvl3pPr>
            <a:lvl4pPr>
              <a:defRPr sz="2100" b="0">
                <a:solidFill>
                  <a:srgbClr val="007A83"/>
                </a:solidFill>
                <a:latin typeface="Arial"/>
                <a:ea typeface="Arial"/>
                <a:cs typeface="Arial"/>
              </a:defRPr>
            </a:lvl4pPr>
            <a:lvl5pPr>
              <a:defRPr sz="2100" b="0">
                <a:solidFill>
                  <a:srgbClr val="007A83"/>
                </a:solidFill>
                <a:latin typeface="Arial"/>
                <a:ea typeface="Arial"/>
                <a:cs typeface="Arial"/>
              </a:defRPr>
            </a:lvl5pPr>
            <a:lvl6pPr>
              <a:defRPr sz="2100" b="0">
                <a:solidFill>
                  <a:srgbClr val="007A83"/>
                </a:solidFill>
                <a:latin typeface="Arial"/>
                <a:ea typeface="Arial"/>
                <a:cs typeface="Arial"/>
              </a:defRPr>
            </a:lvl6pPr>
            <a:lvl7pPr>
              <a:defRPr sz="2100" b="0">
                <a:solidFill>
                  <a:srgbClr val="007A83"/>
                </a:solidFill>
                <a:latin typeface="Arial"/>
                <a:ea typeface="Arial"/>
                <a:cs typeface="Arial"/>
              </a:defRPr>
            </a:lvl7pPr>
            <a:lvl8pPr>
              <a:defRPr sz="2100" b="0">
                <a:solidFill>
                  <a:srgbClr val="007A83"/>
                </a:solidFill>
                <a:latin typeface="Arial"/>
                <a:ea typeface="Arial"/>
                <a:cs typeface="Arial"/>
              </a:defRPr>
            </a:lvl8pPr>
            <a:lvl9pPr>
              <a:defRPr sz="2100" b="0">
                <a:solidFill>
                  <a:srgbClr val="007A83"/>
                </a:solidFill>
                <a:latin typeface="Arial"/>
                <a:ea typeface="Arial"/>
                <a:cs typeface="Arial"/>
              </a:defRPr>
            </a:lvl9pPr>
          </a:lstStyle>
          <a:p xmlns:a="http://schemas.openxmlformats.org/drawingml/2006/main">
            <a:pPr>
              <a:defRPr sz="2100" b="0">
                <a:solidFill>
                  <a:srgbClr val="007A83"/>
                </a:solidFill>
                <a:latin typeface="Arial"/>
                <a:ea typeface="Arial"/>
                <a:cs typeface="Arial"/>
              </a:defRPr>
            </a:pPr>
            <a:r>
              <a:rPr sz="2100" b="0">
                <a:solidFill>
                  <a:srgbClr val="007A83"/>
                </a:solidFill>
                <a:latin typeface="Arial"/>
                <a:ea typeface="Arial"/>
                <a:cs typeface="Arial"/>
              </a:rPr>
              <a:t>SELECT DocId, Fassung, Text</a:t>
            </a:r>
          </a:p>
          <a:p xmlns:a="http://schemas.openxmlformats.org/drawingml/2006/main">
            <a:pPr>
              <a:defRPr sz="2100" b="0">
                <a:solidFill>
                  <a:srgbClr val="007A83"/>
                </a:solidFill>
                <a:latin typeface="Arial"/>
                <a:ea typeface="Arial"/>
                <a:cs typeface="Arial"/>
              </a:defRPr>
            </a:pPr>
            <a:r>
              <a:rPr sz="2100" b="0">
                <a:solidFill>
                  <a:srgbClr val="007A83"/>
                </a:solidFill>
                <a:latin typeface="Arial"/>
                <a:ea typeface="Arial"/>
                <a:cs typeface="Arial"/>
              </a:rPr>
              <a:t>FROM (VALUES</a:t>
            </a:r>
          </a:p>
          <a:p xmlns:a="http://schemas.openxmlformats.org/drawingml/2006/main">
            <a:pPr>
              <a:defRPr sz="2100" b="0">
                <a:solidFill>
                  <a:srgbClr val="007A83"/>
                </a:solidFill>
                <a:latin typeface="Arial"/>
                <a:ea typeface="Arial"/>
                <a:cs typeface="Arial"/>
              </a:defRPr>
            </a:pPr>
            <a:r>
              <a:rPr sz="2100" b="0">
                <a:solidFill>
                  <a:srgbClr val="007A83"/>
                </a:solidFill>
                <a:latin typeface="Arial"/>
                <a:ea typeface="Arial"/>
                <a:cs typeface="Arial"/>
              </a:rPr>
              <a:t>  (2, N'v2', N'MOD_A: sieben Tage')</a:t>
            </a:r>
          </a:p>
          <a:p xmlns:a="http://schemas.openxmlformats.org/drawingml/2006/main">
            <a:pPr>
              <a:defRPr sz="2100" b="0">
                <a:solidFill>
                  <a:srgbClr val="007A83"/>
                </a:solidFill>
                <a:latin typeface="Arial"/>
                <a:ea typeface="Arial"/>
                <a:cs typeface="Arial"/>
              </a:defRPr>
            </a:pPr>
            <a:r>
              <a:rPr sz="2100" b="0">
                <a:solidFill>
                  <a:srgbClr val="007A83"/>
                </a:solidFill>
                <a:latin typeface="Arial"/>
                <a:ea typeface="Arial"/>
                <a:cs typeface="Arial"/>
              </a:rPr>
              <a:t>) AS d(DocId, Fassung, Text);</a:t>
            </a:r>
          </a:p>
        </p:txBody>
      </p:sp>
      <p:sp>
        <p:nvSpPr>
          <p:cNvPr id="3" name="text-2">
            <a:extLst xmlns:a="http://schemas.openxmlformats.org/drawingml/2006/main">
              <a:ext uri="{FF2B5EF4-FFF2-40B4-BE49-F238E27FC236}">
                <a16:creationId xmlns:a16="http://schemas.microsoft.com/office/drawing/2014/main" id="{3006F88E-4146-4347-B7AE-C15A0F7E6B14}"/>
              </a:ext>
            </a:extLst>
          </p:cNvPr>
          <p:cNvSpPr>
            <a:spLocks xmlns:a="http://schemas.openxmlformats.org/drawingml/2006/main" noGrp="1"/>
          </p:cNvSpPr>
          <p:nvPr/>
        </p:nvSpPr>
        <p:spPr>
          <a:xfrm xmlns:a="http://schemas.openxmlformats.org/drawingml/2006/main">
            <a:off x="685800" y="3724275"/>
            <a:ext cx="2333625" cy="2047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Ergebnis</a:t>
            </a:r>
          </a:p>
        </p:txBody>
      </p:sp>
      <p:sp>
        <p:nvSpPr>
          <p:cNvPr id="4" name="text-3">
            <a:extLst xmlns:a="http://schemas.openxmlformats.org/drawingml/2006/main">
              <a:ext uri="{FF2B5EF4-FFF2-40B4-BE49-F238E27FC236}">
                <a16:creationId xmlns:a16="http://schemas.microsoft.com/office/drawing/2014/main" id="{49E793F1-9BB4-422A-B78D-E4190DB24613}"/>
              </a:ext>
            </a:extLst>
          </p:cNvPr>
          <p:cNvSpPr>
            <a:spLocks xmlns:a="http://schemas.openxmlformats.org/drawingml/2006/main" noGrp="1"/>
          </p:cNvSpPr>
          <p:nvPr/>
        </p:nvSpPr>
        <p:spPr>
          <a:xfrm xmlns:a="http://schemas.openxmlformats.org/drawingml/2006/main">
            <a:off x="3190875" y="3724275"/>
            <a:ext cx="8239125" cy="2047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Eine Row mit DocId 2, Fassung v2 und dem festen Text MOD_A: sieben Tage.</a:t>
            </a:r>
          </a:p>
        </p:txBody>
      </p:sp>
      <p:sp>
        <p:nvSpPr>
          <p:cNvPr id="5" name="text-4">
            <a:extLst xmlns:a="http://schemas.openxmlformats.org/drawingml/2006/main">
              <a:ext uri="{FF2B5EF4-FFF2-40B4-BE49-F238E27FC236}">
                <a16:creationId xmlns:a16="http://schemas.microsoft.com/office/drawing/2014/main" id="{29108C37-73B4-43D6-8C51-068BBAB38D38}"/>
              </a:ext>
            </a:extLst>
          </p:cNvPr>
          <p:cNvSpPr>
            <a:spLocks xmlns:a="http://schemas.openxmlformats.org/drawingml/2006/main" noGrp="1"/>
          </p:cNvSpPr>
          <p:nvPr/>
        </p:nvSpPr>
        <p:spPr>
          <a:xfrm xmlns:a="http://schemas.openxmlformats.org/drawingml/2006/main">
            <a:off x="685800" y="5876925"/>
            <a:ext cx="10553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0">
                <a:solidFill>
                  <a:srgbClr val="52647A"/>
                </a:solidFill>
                <a:latin typeface="Arial"/>
                <a:ea typeface="Arial"/>
                <a:cs typeface="Arial"/>
              </a:defRPr>
            </a:defPPr>
            <a:lvl1pPr>
              <a:defRPr sz="1800" b="0">
                <a:solidFill>
                  <a:srgbClr val="52647A"/>
                </a:solidFill>
                <a:latin typeface="Arial"/>
                <a:ea typeface="Arial"/>
                <a:cs typeface="Arial"/>
              </a:defRPr>
            </a:lvl1pPr>
            <a:lvl2pPr>
              <a:defRPr sz="1800" b="0">
                <a:solidFill>
                  <a:srgbClr val="52647A"/>
                </a:solidFill>
                <a:latin typeface="Arial"/>
                <a:ea typeface="Arial"/>
                <a:cs typeface="Arial"/>
              </a:defRPr>
            </a:lvl2pPr>
            <a:lvl3pPr>
              <a:defRPr sz="1800" b="0">
                <a:solidFill>
                  <a:srgbClr val="52647A"/>
                </a:solidFill>
                <a:latin typeface="Arial"/>
                <a:ea typeface="Arial"/>
                <a:cs typeface="Arial"/>
              </a:defRPr>
            </a:lvl3pPr>
            <a:lvl4pPr>
              <a:defRPr sz="1800" b="0">
                <a:solidFill>
                  <a:srgbClr val="52647A"/>
                </a:solidFill>
                <a:latin typeface="Arial"/>
                <a:ea typeface="Arial"/>
                <a:cs typeface="Arial"/>
              </a:defRPr>
            </a:lvl4pPr>
            <a:lvl5pPr>
              <a:defRPr sz="1800" b="0">
                <a:solidFill>
                  <a:srgbClr val="52647A"/>
                </a:solidFill>
                <a:latin typeface="Arial"/>
                <a:ea typeface="Arial"/>
                <a:cs typeface="Arial"/>
              </a:defRPr>
            </a:lvl5pPr>
            <a:lvl6pPr>
              <a:defRPr sz="1800" b="0">
                <a:solidFill>
                  <a:srgbClr val="52647A"/>
                </a:solidFill>
                <a:latin typeface="Arial"/>
                <a:ea typeface="Arial"/>
                <a:cs typeface="Arial"/>
              </a:defRPr>
            </a:lvl6pPr>
            <a:lvl7pPr>
              <a:defRPr sz="1800" b="0">
                <a:solidFill>
                  <a:srgbClr val="52647A"/>
                </a:solidFill>
                <a:latin typeface="Arial"/>
                <a:ea typeface="Arial"/>
                <a:cs typeface="Arial"/>
              </a:defRPr>
            </a:lvl7pPr>
            <a:lvl8pPr>
              <a:defRPr sz="1800" b="0">
                <a:solidFill>
                  <a:srgbClr val="52647A"/>
                </a:solidFill>
                <a:latin typeface="Arial"/>
                <a:ea typeface="Arial"/>
                <a:cs typeface="Arial"/>
              </a:defRPr>
            </a:lvl8pPr>
            <a:lvl9pPr>
              <a:defRPr sz="1800" b="0">
                <a:solidFill>
                  <a:srgbClr val="52647A"/>
                </a:solidFill>
                <a:latin typeface="Arial"/>
                <a:ea typeface="Arial"/>
                <a:cs typeface="Arial"/>
              </a:defRPr>
            </a:lvl9pPr>
          </a:lstStyle>
          <a:p xmlns:a="http://schemas.openxmlformats.org/drawingml/2006/main">
            <a:pPr>
              <a:defRPr sz="1800" b="0">
                <a:solidFill>
                  <a:srgbClr val="52647A"/>
                </a:solidFill>
                <a:latin typeface="Arial"/>
                <a:ea typeface="Arial"/>
                <a:cs typeface="Arial"/>
              </a:defRPr>
            </a:pPr>
            <a:r>
              <a:rPr sz="1800" b="0">
                <a:solidFill>
                  <a:srgbClr val="52647A"/>
                </a:solidFill>
                <a:latin typeface="Arial"/>
                <a:ea typeface="Arial"/>
                <a:cs typeface="Arial"/>
              </a:rPr>
              <a:t>Read-only-Beispiel. VALUES stellt eine feste Row bereit, ohne eine Tabelle anzulegen.</a:t>
            </a:r>
          </a:p>
        </p:txBody>
      </p:sp>
      <p:sp>
        <p:nvSpPr>
          <p:cNvPr id="6" name="text-5">
            <a:extLst xmlns:a="http://schemas.openxmlformats.org/drawingml/2006/main">
              <a:ext uri="{FF2B5EF4-FFF2-40B4-BE49-F238E27FC236}">
                <a16:creationId xmlns:a16="http://schemas.microsoft.com/office/drawing/2014/main" id="{2D0F6E67-4A36-4E26-9C63-2A7057CEA99D}"/>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vl1pPr>
              <a:defRPr sz="1350" b="0">
                <a:solidFill>
                  <a:srgbClr val="52647A"/>
                </a:solidFill>
                <a:latin typeface="Arial"/>
                <a:ea typeface="Arial"/>
                <a:cs typeface="Arial"/>
              </a:defRPr>
            </a:lvl1pPr>
            <a:lvl2pPr>
              <a:defRPr sz="1350" b="0">
                <a:solidFill>
                  <a:srgbClr val="52647A"/>
                </a:solidFill>
                <a:latin typeface="Arial"/>
                <a:ea typeface="Arial"/>
                <a:cs typeface="Arial"/>
              </a:defRPr>
            </a:lvl2pPr>
            <a:lvl3pPr>
              <a:defRPr sz="1350" b="0">
                <a:solidFill>
                  <a:srgbClr val="52647A"/>
                </a:solidFill>
                <a:latin typeface="Arial"/>
                <a:ea typeface="Arial"/>
                <a:cs typeface="Arial"/>
              </a:defRPr>
            </a:lvl3pPr>
            <a:lvl4pPr>
              <a:defRPr sz="1350" b="0">
                <a:solidFill>
                  <a:srgbClr val="52647A"/>
                </a:solidFill>
                <a:latin typeface="Arial"/>
                <a:ea typeface="Arial"/>
                <a:cs typeface="Arial"/>
              </a:defRPr>
            </a:lvl4pPr>
            <a:lvl5pPr>
              <a:defRPr sz="1350" b="0">
                <a:solidFill>
                  <a:srgbClr val="52647A"/>
                </a:solidFill>
                <a:latin typeface="Arial"/>
                <a:ea typeface="Arial"/>
                <a:cs typeface="Arial"/>
              </a:defRPr>
            </a:lvl5pPr>
            <a:lvl6pPr>
              <a:defRPr sz="1350" b="0">
                <a:solidFill>
                  <a:srgbClr val="52647A"/>
                </a:solidFill>
                <a:latin typeface="Arial"/>
                <a:ea typeface="Arial"/>
                <a:cs typeface="Arial"/>
              </a:defRPr>
            </a:lvl6pPr>
            <a:lvl7pPr>
              <a:defRPr sz="1350" b="0">
                <a:solidFill>
                  <a:srgbClr val="52647A"/>
                </a:solidFill>
                <a:latin typeface="Arial"/>
                <a:ea typeface="Arial"/>
                <a:cs typeface="Arial"/>
              </a:defRPr>
            </a:lvl7pPr>
            <a:lvl8pPr>
              <a:defRPr sz="1350" b="0">
                <a:solidFill>
                  <a:srgbClr val="52647A"/>
                </a:solidFill>
                <a:latin typeface="Arial"/>
                <a:ea typeface="Arial"/>
                <a:cs typeface="Arial"/>
              </a:defRPr>
            </a:lvl8pPr>
            <a:lvl9pPr>
              <a:defRPr sz="1350" b="0">
                <a:solidFill>
                  <a:srgbClr val="52647A"/>
                </a:solidFill>
                <a:latin typeface="Arial"/>
                <a:ea typeface="Arial"/>
                <a:cs typeface="Arial"/>
              </a:defRPr>
            </a:lvl9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05  CUR-013</a:t>
            </a:r>
          </a:p>
        </p:txBody>
      </p:sp>
    </p:spTree>
    <p:extLst>
      <p:ext uri="{BB962C8B-B14F-4D97-AF65-F5344CB8AC3E}">
        <p14:creationId xmlns:p14="http://schemas.microsoft.com/office/powerpoint/2010/main" val="1890612719"/>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0">
            <a:extLst xmlns:a="http://schemas.openxmlformats.org/drawingml/2006/main">
              <a:ext uri="{FF2B5EF4-FFF2-40B4-BE49-F238E27FC236}">
                <a16:creationId xmlns:a16="http://schemas.microsoft.com/office/drawing/2014/main" id="{5E698A7B-167F-43D3-BF4B-18F5F19968DA}"/>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vl1pPr>
              <a:defRPr sz="3300" b="1">
                <a:solidFill>
                  <a:srgbClr val="15283D"/>
                </a:solidFill>
                <a:latin typeface="Arial"/>
                <a:ea typeface="Arial"/>
                <a:cs typeface="Arial"/>
              </a:defRPr>
            </a:lvl1pPr>
            <a:lvl2pPr>
              <a:defRPr sz="3300" b="1">
                <a:solidFill>
                  <a:srgbClr val="15283D"/>
                </a:solidFill>
                <a:latin typeface="Arial"/>
                <a:ea typeface="Arial"/>
                <a:cs typeface="Arial"/>
              </a:defRPr>
            </a:lvl2pPr>
            <a:lvl3pPr>
              <a:defRPr sz="3300" b="1">
                <a:solidFill>
                  <a:srgbClr val="15283D"/>
                </a:solidFill>
                <a:latin typeface="Arial"/>
                <a:ea typeface="Arial"/>
                <a:cs typeface="Arial"/>
              </a:defRPr>
            </a:lvl3pPr>
            <a:lvl4pPr>
              <a:defRPr sz="3300" b="1">
                <a:solidFill>
                  <a:srgbClr val="15283D"/>
                </a:solidFill>
                <a:latin typeface="Arial"/>
                <a:ea typeface="Arial"/>
                <a:cs typeface="Arial"/>
              </a:defRPr>
            </a:lvl4pPr>
            <a:lvl5pPr>
              <a:defRPr sz="3300" b="1">
                <a:solidFill>
                  <a:srgbClr val="15283D"/>
                </a:solidFill>
                <a:latin typeface="Arial"/>
                <a:ea typeface="Arial"/>
                <a:cs typeface="Arial"/>
              </a:defRPr>
            </a:lvl5pPr>
            <a:lvl6pPr>
              <a:defRPr sz="3300" b="1">
                <a:solidFill>
                  <a:srgbClr val="15283D"/>
                </a:solidFill>
                <a:latin typeface="Arial"/>
                <a:ea typeface="Arial"/>
                <a:cs typeface="Arial"/>
              </a:defRPr>
            </a:lvl6pPr>
            <a:lvl7pPr>
              <a:defRPr sz="3300" b="1">
                <a:solidFill>
                  <a:srgbClr val="15283D"/>
                </a:solidFill>
                <a:latin typeface="Arial"/>
                <a:ea typeface="Arial"/>
                <a:cs typeface="Arial"/>
              </a:defRPr>
            </a:lvl7pPr>
            <a:lvl8pPr>
              <a:defRPr sz="3300" b="1">
                <a:solidFill>
                  <a:srgbClr val="15283D"/>
                </a:solidFill>
                <a:latin typeface="Arial"/>
                <a:ea typeface="Arial"/>
                <a:cs typeface="Arial"/>
              </a:defRPr>
            </a:lvl8pPr>
            <a:lvl9pPr>
              <a:defRPr sz="3300" b="1">
                <a:solidFill>
                  <a:srgbClr val="15283D"/>
                </a:solidFill>
                <a:latin typeface="Arial"/>
                <a:ea typeface="Arial"/>
                <a:cs typeface="Arial"/>
              </a:defRPr>
            </a:lvl9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Unterschiedliche Fragen an dieselben Daten</a:t>
            </a:r>
          </a:p>
        </p:txBody>
      </p:sp>
      <p:graphicFrame>
        <p:nvGraphicFramePr>
          <p:cNvPr id="2" name="">
            <a:extLst xmlns:a="http://schemas.openxmlformats.org/drawingml/2006/main">
              <a:ext uri="{FF2B5EF4-FFF2-40B4-BE49-F238E27FC236}">
                <a16:creationId xmlns:a16="http://schemas.microsoft.com/office/drawing/2014/main" id="{47EA68D6-C25D-4ACD-8460-3FFBCC402986}"/>
              </a:ext>
            </a:extLst>
          </p:cNvPr>
          <p:cNvGraphicFramePr/>
          <p:nvPr/>
        </p:nvGraphicFramePr>
        <p:xfrm>
          <a:off xmlns:a="http://schemas.openxmlformats.org/drawingml/2006/main" x="685800" y="1771650"/>
          <a:ext xmlns:a="http://schemas.openxmlformats.org/drawingml/2006/main" cx="10668000" cy="3143250"/>
        </p:xfrm>
        <a:graphic xmlns:a="http://schemas.openxmlformats.org/drawingml/2006/main">
          <a:graphicData uri="http://schemas.openxmlformats.org/drawingml/2006/table">
            <a:tbl>
              <a:tblPr/>
              <a:tblGrid>
                <a:gridCol w="4762500"/>
                <a:gridCol w="5905500"/>
              </a:tblGrid>
              <a:tr h="785813">
                <a:tc>
                  <a:txBody>
                    <a:bodyPr/>
                    <a:lstStyle/>
                    <a:p>
                      <a:r>
                        <a:rPr sz="1800" b="1">
                          <a:solidFill>
                            <a:srgbClr val="15283D"/>
                          </a:solidFill>
                          <a:latin typeface="Arial"/>
                          <a:ea typeface="Arial"/>
                          <a:cs typeface="Arial"/>
                        </a:rPr>
                        <a:t>Frage</a:t>
                      </a:r>
                    </a:p>
                  </a:txBody>
                  <a:tcPr marL="114300" marR="114300" marT="47625" marB="47625" anchor="ctr">
                    <a:lnL w="9525">
                      <a:solidFill>
                        <a:srgbClr val="C8D5DE"/>
                      </a:solidFill>
                      <a:prstDash val="solid"/>
                    </a:lnL>
                    <a:lnR w="9525">
                      <a:solidFill>
                        <a:srgbClr val="C8D5DE"/>
                      </a:solidFill>
                      <a:prstDash val="solid"/>
                    </a:lnR>
                    <a:lnT w="9525">
                      <a:solidFill>
                        <a:srgbClr val="C8D5DE"/>
                      </a:solidFill>
                      <a:prstDash val="solid"/>
                    </a:lnT>
                    <a:lnB w="9525">
                      <a:solidFill>
                        <a:srgbClr val="C8D5DE"/>
                      </a:solidFill>
                      <a:prstDash val="solid"/>
                    </a:lnB>
                    <a:solidFill>
                      <a:srgbClr val="E8F2F2"/>
                    </a:solidFill>
                  </a:tcPr>
                </a:tc>
                <a:tc>
                  <a:txBody>
                    <a:bodyPr/>
                    <a:lstStyle/>
                    <a:p>
                      <a:r>
                        <a:rPr sz="1800" b="1">
                          <a:solidFill>
                            <a:srgbClr val="15283D"/>
                          </a:solidFill>
                          <a:latin typeface="Arial"/>
                          <a:ea typeface="Arial"/>
                          <a:cs typeface="Arial"/>
                        </a:rPr>
                        <a:t>Was wir benötigen</a:t>
                      </a:r>
                    </a:p>
                  </a:txBody>
                  <a:tcPr marL="114300" marR="114300" marT="47625" marB="47625" anchor="ctr">
                    <a:lnR w="9525">
                      <a:solidFill>
                        <a:srgbClr val="C8D5DE"/>
                      </a:solidFill>
                      <a:prstDash val="solid"/>
                    </a:lnR>
                    <a:lnT w="9525">
                      <a:solidFill>
                        <a:srgbClr val="C8D5DE"/>
                      </a:solidFill>
                      <a:prstDash val="solid"/>
                    </a:lnT>
                    <a:lnB w="9525">
                      <a:solidFill>
                        <a:srgbClr val="C8D5DE"/>
                      </a:solidFill>
                      <a:prstDash val="solid"/>
                    </a:lnB>
                    <a:solidFill>
                      <a:srgbClr val="E8F2F2"/>
                    </a:solidFill>
                  </a:tcPr>
                </a:tc>
              </a:tr>
              <a:tr h="785813">
                <a:tc>
                  <a:txBody>
                    <a:bodyPr/>
                    <a:lstStyle/>
                    <a:p>
                      <a:r>
                        <a:rPr sz="1800" b="0">
                          <a:solidFill>
                            <a:srgbClr val="15283D"/>
                          </a:solidFill>
                          <a:latin typeface="Arial"/>
                          <a:ea typeface="Arial"/>
                          <a:cs typeface="Arial"/>
                        </a:rPr>
                        <a:t>Was steht aktuell zu MOD_A?</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Richtiges Modul und aktuelle Fassung</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r h="785813">
                <a:tc>
                  <a:txBody>
                    <a:bodyPr/>
                    <a:lstStyle/>
                    <a:p>
                      <a:r>
                        <a:rPr sz="1800" b="0">
                          <a:solidFill>
                            <a:srgbClr val="15283D"/>
                          </a:solidFill>
                          <a:latin typeface="Arial"/>
                          <a:ea typeface="Arial"/>
                          <a:cs typeface="Arial"/>
                        </a:rPr>
                        <a:t>Wann verschwinden die Logeinträge?</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Passende Bedeutung trotz anderer Wortwahl</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r h="785813">
                <a:tc>
                  <a:txBody>
                    <a:bodyPr/>
                    <a:lstStyle/>
                    <a:p>
                      <a:r>
                        <a:rPr sz="1800" b="0">
                          <a:solidFill>
                            <a:srgbClr val="15283D"/>
                          </a:solidFill>
                          <a:latin typeface="Arial"/>
                          <a:ea typeface="Arial"/>
                          <a:cs typeface="Arial"/>
                        </a:rPr>
                        <a:t>Warum sind es genau sieben Tage?</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Eine Quelle, die den Grund tatsächlich erklärt</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bl>
          </a:graphicData>
        </a:graphic>
      </p:graphicFrame>
      <p:sp>
        <p:nvSpPr>
          <p:cNvPr id="3" name="text-1">
            <a:extLst xmlns:a="http://schemas.openxmlformats.org/drawingml/2006/main">
              <a:ext uri="{FF2B5EF4-FFF2-40B4-BE49-F238E27FC236}">
                <a16:creationId xmlns:a16="http://schemas.microsoft.com/office/drawing/2014/main" id="{1B8D7F08-B8DB-4848-AC43-2EF2D5F48116}"/>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vl1pPr>
              <a:defRPr sz="1350" b="0">
                <a:solidFill>
                  <a:srgbClr val="52647A"/>
                </a:solidFill>
                <a:latin typeface="Arial"/>
                <a:ea typeface="Arial"/>
                <a:cs typeface="Arial"/>
              </a:defRPr>
            </a:lvl1pPr>
            <a:lvl2pPr>
              <a:defRPr sz="1350" b="0">
                <a:solidFill>
                  <a:srgbClr val="52647A"/>
                </a:solidFill>
                <a:latin typeface="Arial"/>
                <a:ea typeface="Arial"/>
                <a:cs typeface="Arial"/>
              </a:defRPr>
            </a:lvl2pPr>
            <a:lvl3pPr>
              <a:defRPr sz="1350" b="0">
                <a:solidFill>
                  <a:srgbClr val="52647A"/>
                </a:solidFill>
                <a:latin typeface="Arial"/>
                <a:ea typeface="Arial"/>
                <a:cs typeface="Arial"/>
              </a:defRPr>
            </a:lvl3pPr>
            <a:lvl4pPr>
              <a:defRPr sz="1350" b="0">
                <a:solidFill>
                  <a:srgbClr val="52647A"/>
                </a:solidFill>
                <a:latin typeface="Arial"/>
                <a:ea typeface="Arial"/>
                <a:cs typeface="Arial"/>
              </a:defRPr>
            </a:lvl4pPr>
            <a:lvl5pPr>
              <a:defRPr sz="1350" b="0">
                <a:solidFill>
                  <a:srgbClr val="52647A"/>
                </a:solidFill>
                <a:latin typeface="Arial"/>
                <a:ea typeface="Arial"/>
                <a:cs typeface="Arial"/>
              </a:defRPr>
            </a:lvl5pPr>
            <a:lvl6pPr>
              <a:defRPr sz="1350" b="0">
                <a:solidFill>
                  <a:srgbClr val="52647A"/>
                </a:solidFill>
                <a:latin typeface="Arial"/>
                <a:ea typeface="Arial"/>
                <a:cs typeface="Arial"/>
              </a:defRPr>
            </a:lvl6pPr>
            <a:lvl7pPr>
              <a:defRPr sz="1350" b="0">
                <a:solidFill>
                  <a:srgbClr val="52647A"/>
                </a:solidFill>
                <a:latin typeface="Arial"/>
                <a:ea typeface="Arial"/>
                <a:cs typeface="Arial"/>
              </a:defRPr>
            </a:lvl7pPr>
            <a:lvl8pPr>
              <a:defRPr sz="1350" b="0">
                <a:solidFill>
                  <a:srgbClr val="52647A"/>
                </a:solidFill>
                <a:latin typeface="Arial"/>
                <a:ea typeface="Arial"/>
                <a:cs typeface="Arial"/>
              </a:defRPr>
            </a:lvl8pPr>
            <a:lvl9pPr>
              <a:defRPr sz="1350" b="0">
                <a:solidFill>
                  <a:srgbClr val="52647A"/>
                </a:solidFill>
                <a:latin typeface="Arial"/>
                <a:ea typeface="Arial"/>
                <a:cs typeface="Arial"/>
              </a:defRPr>
            </a:lvl9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06  CUR-013 / CUR-017</a:t>
            </a:r>
          </a:p>
        </p:txBody>
      </p:sp>
    </p:spTree>
    <p:extLst>
      <p:ext uri="{BB962C8B-B14F-4D97-AF65-F5344CB8AC3E}">
        <p14:creationId xmlns:p14="http://schemas.microsoft.com/office/powerpoint/2010/main" val="2083964456"/>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text-0">
            <a:extLst xmlns:a="http://schemas.openxmlformats.org/drawingml/2006/main">
              <a:ext uri="{FF2B5EF4-FFF2-40B4-BE49-F238E27FC236}">
                <a16:creationId xmlns:a16="http://schemas.microsoft.com/office/drawing/2014/main" id="{A4935C6F-34A8-4B80-BF48-09699ACB2CB1}"/>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vl1pPr>
              <a:defRPr sz="3300" b="1">
                <a:solidFill>
                  <a:srgbClr val="15283D"/>
                </a:solidFill>
                <a:latin typeface="Arial"/>
                <a:ea typeface="Arial"/>
                <a:cs typeface="Arial"/>
              </a:defRPr>
            </a:lvl1pPr>
            <a:lvl2pPr>
              <a:defRPr sz="3300" b="1">
                <a:solidFill>
                  <a:srgbClr val="15283D"/>
                </a:solidFill>
                <a:latin typeface="Arial"/>
                <a:ea typeface="Arial"/>
                <a:cs typeface="Arial"/>
              </a:defRPr>
            </a:lvl2pPr>
            <a:lvl3pPr>
              <a:defRPr sz="3300" b="1">
                <a:solidFill>
                  <a:srgbClr val="15283D"/>
                </a:solidFill>
                <a:latin typeface="Arial"/>
                <a:ea typeface="Arial"/>
                <a:cs typeface="Arial"/>
              </a:defRPr>
            </a:lvl3pPr>
            <a:lvl4pPr>
              <a:defRPr sz="3300" b="1">
                <a:solidFill>
                  <a:srgbClr val="15283D"/>
                </a:solidFill>
                <a:latin typeface="Arial"/>
                <a:ea typeface="Arial"/>
                <a:cs typeface="Arial"/>
              </a:defRPr>
            </a:lvl4pPr>
            <a:lvl5pPr>
              <a:defRPr sz="3300" b="1">
                <a:solidFill>
                  <a:srgbClr val="15283D"/>
                </a:solidFill>
                <a:latin typeface="Arial"/>
                <a:ea typeface="Arial"/>
                <a:cs typeface="Arial"/>
              </a:defRPr>
            </a:lvl5pPr>
            <a:lvl6pPr>
              <a:defRPr sz="3300" b="1">
                <a:solidFill>
                  <a:srgbClr val="15283D"/>
                </a:solidFill>
                <a:latin typeface="Arial"/>
                <a:ea typeface="Arial"/>
                <a:cs typeface="Arial"/>
              </a:defRPr>
            </a:lvl6pPr>
            <a:lvl7pPr>
              <a:defRPr sz="3300" b="1">
                <a:solidFill>
                  <a:srgbClr val="15283D"/>
                </a:solidFill>
                <a:latin typeface="Arial"/>
                <a:ea typeface="Arial"/>
                <a:cs typeface="Arial"/>
              </a:defRPr>
            </a:lvl7pPr>
            <a:lvl8pPr>
              <a:defRPr sz="3300" b="1">
                <a:solidFill>
                  <a:srgbClr val="15283D"/>
                </a:solidFill>
                <a:latin typeface="Arial"/>
                <a:ea typeface="Arial"/>
                <a:cs typeface="Arial"/>
              </a:defRPr>
            </a:lvl8pPr>
            <a:lvl9pPr>
              <a:defRPr sz="3300" b="1">
                <a:solidFill>
                  <a:srgbClr val="15283D"/>
                </a:solidFill>
                <a:latin typeface="Arial"/>
                <a:ea typeface="Arial"/>
                <a:cs typeface="Arial"/>
              </a:defRPr>
            </a:lvl9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KI-Anwendungen rund um SQL Server</a:t>
            </a:r>
          </a:p>
        </p:txBody>
      </p:sp>
      <p:graphicFrame>
        <p:nvGraphicFramePr>
          <p:cNvPr id="2" name="">
            <a:extLst xmlns:a="http://schemas.openxmlformats.org/drawingml/2006/main">
              <a:ext uri="{FF2B5EF4-FFF2-40B4-BE49-F238E27FC236}">
                <a16:creationId xmlns:a16="http://schemas.microsoft.com/office/drawing/2014/main" id="{1AEB2E65-F869-4B2A-9861-0094D697028B}"/>
              </a:ext>
            </a:extLst>
          </p:cNvPr>
          <p:cNvGraphicFramePr/>
          <p:nvPr/>
        </p:nvGraphicFramePr>
        <p:xfrm>
          <a:off xmlns:a="http://schemas.openxmlformats.org/drawingml/2006/main" x="685800" y="1771650"/>
          <a:ext xmlns:a="http://schemas.openxmlformats.org/drawingml/2006/main" cx="10668000" cy="4000500"/>
        </p:xfrm>
        <a:graphic xmlns:a="http://schemas.openxmlformats.org/drawingml/2006/main">
          <a:graphicData uri="http://schemas.openxmlformats.org/drawingml/2006/table">
            <a:tbl>
              <a:tblPr/>
              <a:tblGrid>
                <a:gridCol w="3333750"/>
                <a:gridCol w="7334250"/>
              </a:tblGrid>
              <a:tr h="800100">
                <a:tc>
                  <a:txBody>
                    <a:bodyPr/>
                    <a:lstStyle/>
                    <a:p>
                      <a:r>
                        <a:rPr sz="1800" b="1">
                          <a:solidFill>
                            <a:srgbClr val="15283D"/>
                          </a:solidFill>
                          <a:latin typeface="Arial"/>
                          <a:ea typeface="Arial"/>
                          <a:cs typeface="Arial"/>
                        </a:rPr>
                        <a:t>Anwendung</a:t>
                      </a:r>
                    </a:p>
                  </a:txBody>
                  <a:tcPr marL="114300" marR="114300" marT="47625" marB="47625" anchor="ctr">
                    <a:lnL w="9525">
                      <a:solidFill>
                        <a:srgbClr val="C8D5DE"/>
                      </a:solidFill>
                      <a:prstDash val="solid"/>
                    </a:lnL>
                    <a:lnR w="9525">
                      <a:solidFill>
                        <a:srgbClr val="C8D5DE"/>
                      </a:solidFill>
                      <a:prstDash val="solid"/>
                    </a:lnR>
                    <a:lnT w="9525">
                      <a:solidFill>
                        <a:srgbClr val="C8D5DE"/>
                      </a:solidFill>
                      <a:prstDash val="solid"/>
                    </a:lnT>
                    <a:lnB w="9525">
                      <a:solidFill>
                        <a:srgbClr val="C8D5DE"/>
                      </a:solidFill>
                      <a:prstDash val="solid"/>
                    </a:lnB>
                    <a:solidFill>
                      <a:srgbClr val="E8F2F2"/>
                    </a:solidFill>
                  </a:tcPr>
                </a:tc>
                <a:tc>
                  <a:txBody>
                    <a:bodyPr/>
                    <a:lstStyle/>
                    <a:p>
                      <a:r>
                        <a:rPr sz="1800" b="1">
                          <a:solidFill>
                            <a:srgbClr val="15283D"/>
                          </a:solidFill>
                          <a:latin typeface="Arial"/>
                          <a:ea typeface="Arial"/>
                          <a:cs typeface="Arial"/>
                        </a:rPr>
                        <a:t>Beispiel</a:t>
                      </a:r>
                    </a:p>
                  </a:txBody>
                  <a:tcPr marL="114300" marR="114300" marT="47625" marB="47625" anchor="ctr">
                    <a:lnR w="9525">
                      <a:solidFill>
                        <a:srgbClr val="C8D5DE"/>
                      </a:solidFill>
                      <a:prstDash val="solid"/>
                    </a:lnR>
                    <a:lnT w="9525">
                      <a:solidFill>
                        <a:srgbClr val="C8D5DE"/>
                      </a:solidFill>
                      <a:prstDash val="solid"/>
                    </a:lnT>
                    <a:lnB w="9525">
                      <a:solidFill>
                        <a:srgbClr val="C8D5DE"/>
                      </a:solidFill>
                      <a:prstDash val="solid"/>
                    </a:lnB>
                    <a:solidFill>
                      <a:srgbClr val="E8F2F2"/>
                    </a:solidFill>
                  </a:tcPr>
                </a:tc>
              </a:tr>
              <a:tr h="800100">
                <a:tc>
                  <a:txBody>
                    <a:bodyPr/>
                    <a:lstStyle/>
                    <a:p>
                      <a:r>
                        <a:rPr sz="1800" b="0">
                          <a:solidFill>
                            <a:srgbClr val="15283D"/>
                          </a:solidFill>
                          <a:latin typeface="Arial"/>
                          <a:ea typeface="Arial"/>
                          <a:cs typeface="Arial"/>
                        </a:rPr>
                        <a:t>Wissenssuche</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Passende Anleitung zu einer anders formulierten Frage finden.</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r h="800100">
                <a:tc>
                  <a:txBody>
                    <a:bodyPr/>
                    <a:lstStyle/>
                    <a:p>
                      <a:r>
                        <a:rPr sz="1800" b="0">
                          <a:solidFill>
                            <a:srgbClr val="15283D"/>
                          </a:solidFill>
                          <a:latin typeface="Arial"/>
                          <a:ea typeface="Arial"/>
                          <a:cs typeface="Arial"/>
                        </a:rPr>
                        <a:t>Textaufbereitung</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Aus gelieferten Quellen einen kurzen Antwortentwurf oder eine Zusammenfassung bilden.</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r h="800100">
                <a:tc>
                  <a:txBody>
                    <a:bodyPr/>
                    <a:lstStyle/>
                    <a:p>
                      <a:r>
                        <a:rPr sz="1800" b="0">
                          <a:solidFill>
                            <a:srgbClr val="15283D"/>
                          </a:solidFill>
                          <a:latin typeface="Arial"/>
                          <a:ea typeface="Arial"/>
                          <a:cs typeface="Arial"/>
                        </a:rPr>
                        <a:t>SQL-Assistenz</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Eine Query erklären oder einen Änderungsvorschlag diskutieren.</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r h="800100">
                <a:tc>
                  <a:txBody>
                    <a:bodyPr/>
                    <a:lstStyle/>
                    <a:p>
                      <a:r>
                        <a:rPr sz="1800" b="0">
                          <a:solidFill>
                            <a:srgbClr val="15283D"/>
                          </a:solidFill>
                          <a:latin typeface="Arial"/>
                          <a:ea typeface="Arial"/>
                          <a:cs typeface="Arial"/>
                        </a:rPr>
                        <a:t>Vorhersage und Klassifikation</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Mit einem passenden zusätzlichen Modell einen Wert vorhersagen oder eine Kategorie zuordnen.</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bl>
          </a:graphicData>
        </a:graphic>
      </p:graphicFrame>
      <p:sp>
        <p:nvSpPr>
          <p:cNvPr id="3" name="text-1">
            <a:extLst xmlns:a="http://schemas.openxmlformats.org/drawingml/2006/main">
              <a:ext uri="{FF2B5EF4-FFF2-40B4-BE49-F238E27FC236}">
                <a16:creationId xmlns:a16="http://schemas.microsoft.com/office/drawing/2014/main" id="{2C8FA27D-9539-4574-8D90-96292562F909}"/>
              </a:ext>
            </a:extLst>
          </p:cNvPr>
          <p:cNvSpPr>
            <a:spLocks xmlns:a="http://schemas.openxmlformats.org/drawingml/2006/main" noGrp="1"/>
          </p:cNvSpPr>
          <p:nvPr/>
        </p:nvSpPr>
        <p:spPr>
          <a:xfrm xmlns:a="http://schemas.openxmlformats.org/drawingml/2006/main">
            <a:off x="685800" y="5876925"/>
            <a:ext cx="10553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0">
                <a:solidFill>
                  <a:srgbClr val="52647A"/>
                </a:solidFill>
                <a:latin typeface="Arial"/>
                <a:ea typeface="Arial"/>
                <a:cs typeface="Arial"/>
              </a:defRPr>
            </a:defPPr>
            <a:lvl1pPr>
              <a:defRPr sz="1800" b="0">
                <a:solidFill>
                  <a:srgbClr val="52647A"/>
                </a:solidFill>
                <a:latin typeface="Arial"/>
                <a:ea typeface="Arial"/>
                <a:cs typeface="Arial"/>
              </a:defRPr>
            </a:lvl1pPr>
            <a:lvl2pPr>
              <a:defRPr sz="1800" b="0">
                <a:solidFill>
                  <a:srgbClr val="52647A"/>
                </a:solidFill>
                <a:latin typeface="Arial"/>
                <a:ea typeface="Arial"/>
                <a:cs typeface="Arial"/>
              </a:defRPr>
            </a:lvl2pPr>
            <a:lvl3pPr>
              <a:defRPr sz="1800" b="0">
                <a:solidFill>
                  <a:srgbClr val="52647A"/>
                </a:solidFill>
                <a:latin typeface="Arial"/>
                <a:ea typeface="Arial"/>
                <a:cs typeface="Arial"/>
              </a:defRPr>
            </a:lvl3pPr>
            <a:lvl4pPr>
              <a:defRPr sz="1800" b="0">
                <a:solidFill>
                  <a:srgbClr val="52647A"/>
                </a:solidFill>
                <a:latin typeface="Arial"/>
                <a:ea typeface="Arial"/>
                <a:cs typeface="Arial"/>
              </a:defRPr>
            </a:lvl4pPr>
            <a:lvl5pPr>
              <a:defRPr sz="1800" b="0">
                <a:solidFill>
                  <a:srgbClr val="52647A"/>
                </a:solidFill>
                <a:latin typeface="Arial"/>
                <a:ea typeface="Arial"/>
                <a:cs typeface="Arial"/>
              </a:defRPr>
            </a:lvl5pPr>
            <a:lvl6pPr>
              <a:defRPr sz="1800" b="0">
                <a:solidFill>
                  <a:srgbClr val="52647A"/>
                </a:solidFill>
                <a:latin typeface="Arial"/>
                <a:ea typeface="Arial"/>
                <a:cs typeface="Arial"/>
              </a:defRPr>
            </a:lvl6pPr>
            <a:lvl7pPr>
              <a:defRPr sz="1800" b="0">
                <a:solidFill>
                  <a:srgbClr val="52647A"/>
                </a:solidFill>
                <a:latin typeface="Arial"/>
                <a:ea typeface="Arial"/>
                <a:cs typeface="Arial"/>
              </a:defRPr>
            </a:lvl7pPr>
            <a:lvl8pPr>
              <a:defRPr sz="1800" b="0">
                <a:solidFill>
                  <a:srgbClr val="52647A"/>
                </a:solidFill>
                <a:latin typeface="Arial"/>
                <a:ea typeface="Arial"/>
                <a:cs typeface="Arial"/>
              </a:defRPr>
            </a:lvl8pPr>
            <a:lvl9pPr>
              <a:defRPr sz="1800" b="0">
                <a:solidFill>
                  <a:srgbClr val="52647A"/>
                </a:solidFill>
                <a:latin typeface="Arial"/>
                <a:ea typeface="Arial"/>
                <a:cs typeface="Arial"/>
              </a:defRPr>
            </a:lvl9pPr>
          </a:lstStyle>
          <a:p xmlns:a="http://schemas.openxmlformats.org/drawingml/2006/main">
            <a:pPr>
              <a:defRPr sz="1800" b="0">
                <a:solidFill>
                  <a:srgbClr val="52647A"/>
                </a:solidFill>
                <a:latin typeface="Arial"/>
                <a:ea typeface="Arial"/>
                <a:cs typeface="Arial"/>
              </a:defRPr>
            </a:pPr>
            <a:r>
              <a:rPr sz="1800" b="0">
                <a:solidFill>
                  <a:srgbClr val="52647A"/>
                </a:solidFill>
                <a:latin typeface="Arial"/>
                <a:ea typeface="Arial"/>
                <a:cs typeface="Arial"/>
              </a:rPr>
              <a:t>Die Aufgabe bestimmt das Modell und den Anwendungspfad. Eine Funktion deckt nicht jede Aufgabe ab.</a:t>
            </a:r>
          </a:p>
        </p:txBody>
      </p:sp>
      <p:sp>
        <p:nvSpPr>
          <p:cNvPr id="4" name="text-2">
            <a:extLst xmlns:a="http://schemas.openxmlformats.org/drawingml/2006/main">
              <a:ext uri="{FF2B5EF4-FFF2-40B4-BE49-F238E27FC236}">
                <a16:creationId xmlns:a16="http://schemas.microsoft.com/office/drawing/2014/main" id="{96372AC5-A3AF-45D2-8223-6A9C941934DB}"/>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vl1pPr>
              <a:defRPr sz="1350" b="0">
                <a:solidFill>
                  <a:srgbClr val="52647A"/>
                </a:solidFill>
                <a:latin typeface="Arial"/>
                <a:ea typeface="Arial"/>
                <a:cs typeface="Arial"/>
              </a:defRPr>
            </a:lvl1pPr>
            <a:lvl2pPr>
              <a:defRPr sz="1350" b="0">
                <a:solidFill>
                  <a:srgbClr val="52647A"/>
                </a:solidFill>
                <a:latin typeface="Arial"/>
                <a:ea typeface="Arial"/>
                <a:cs typeface="Arial"/>
              </a:defRPr>
            </a:lvl2pPr>
            <a:lvl3pPr>
              <a:defRPr sz="1350" b="0">
                <a:solidFill>
                  <a:srgbClr val="52647A"/>
                </a:solidFill>
                <a:latin typeface="Arial"/>
                <a:ea typeface="Arial"/>
                <a:cs typeface="Arial"/>
              </a:defRPr>
            </a:lvl3pPr>
            <a:lvl4pPr>
              <a:defRPr sz="1350" b="0">
                <a:solidFill>
                  <a:srgbClr val="52647A"/>
                </a:solidFill>
                <a:latin typeface="Arial"/>
                <a:ea typeface="Arial"/>
                <a:cs typeface="Arial"/>
              </a:defRPr>
            </a:lvl4pPr>
            <a:lvl5pPr>
              <a:defRPr sz="1350" b="0">
                <a:solidFill>
                  <a:srgbClr val="52647A"/>
                </a:solidFill>
                <a:latin typeface="Arial"/>
                <a:ea typeface="Arial"/>
                <a:cs typeface="Arial"/>
              </a:defRPr>
            </a:lvl5pPr>
            <a:lvl6pPr>
              <a:defRPr sz="1350" b="0">
                <a:solidFill>
                  <a:srgbClr val="52647A"/>
                </a:solidFill>
                <a:latin typeface="Arial"/>
                <a:ea typeface="Arial"/>
                <a:cs typeface="Arial"/>
              </a:defRPr>
            </a:lvl6pPr>
            <a:lvl7pPr>
              <a:defRPr sz="1350" b="0">
                <a:solidFill>
                  <a:srgbClr val="52647A"/>
                </a:solidFill>
                <a:latin typeface="Arial"/>
                <a:ea typeface="Arial"/>
                <a:cs typeface="Arial"/>
              </a:defRPr>
            </a:lvl7pPr>
            <a:lvl8pPr>
              <a:defRPr sz="1350" b="0">
                <a:solidFill>
                  <a:srgbClr val="52647A"/>
                </a:solidFill>
                <a:latin typeface="Arial"/>
                <a:ea typeface="Arial"/>
                <a:cs typeface="Arial"/>
              </a:defRPr>
            </a:lvl8pPr>
            <a:lvl9pPr>
              <a:defRPr sz="1350" b="0">
                <a:solidFill>
                  <a:srgbClr val="52647A"/>
                </a:solidFill>
                <a:latin typeface="Arial"/>
                <a:ea typeface="Arial"/>
                <a:cs typeface="Arial"/>
              </a:defRPr>
            </a:lvl9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07  CUR-013 / CUR-016 / CUR-021</a:t>
            </a:r>
          </a:p>
        </p:txBody>
      </p:sp>
    </p:spTree>
    <p:extLst>
      <p:ext uri="{BB962C8B-B14F-4D97-AF65-F5344CB8AC3E}">
        <p14:creationId xmlns:p14="http://schemas.microsoft.com/office/powerpoint/2010/main" val="1910857465"/>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text-0">
            <a:extLst xmlns:a="http://schemas.openxmlformats.org/drawingml/2006/main">
              <a:ext uri="{FF2B5EF4-FFF2-40B4-BE49-F238E27FC236}">
                <a16:creationId xmlns:a16="http://schemas.microsoft.com/office/drawing/2014/main" id="{ADDC4CA2-C1FB-417A-8416-5ED35096EB40}"/>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vl1pPr>
              <a:defRPr sz="3300" b="1">
                <a:solidFill>
                  <a:srgbClr val="15283D"/>
                </a:solidFill>
                <a:latin typeface="Arial"/>
                <a:ea typeface="Arial"/>
                <a:cs typeface="Arial"/>
              </a:defRPr>
            </a:lvl1pPr>
            <a:lvl2pPr>
              <a:defRPr sz="3300" b="1">
                <a:solidFill>
                  <a:srgbClr val="15283D"/>
                </a:solidFill>
                <a:latin typeface="Arial"/>
                <a:ea typeface="Arial"/>
                <a:cs typeface="Arial"/>
              </a:defRPr>
            </a:lvl2pPr>
            <a:lvl3pPr>
              <a:defRPr sz="3300" b="1">
                <a:solidFill>
                  <a:srgbClr val="15283D"/>
                </a:solidFill>
                <a:latin typeface="Arial"/>
                <a:ea typeface="Arial"/>
                <a:cs typeface="Arial"/>
              </a:defRPr>
            </a:lvl3pPr>
            <a:lvl4pPr>
              <a:defRPr sz="3300" b="1">
                <a:solidFill>
                  <a:srgbClr val="15283D"/>
                </a:solidFill>
                <a:latin typeface="Arial"/>
                <a:ea typeface="Arial"/>
                <a:cs typeface="Arial"/>
              </a:defRPr>
            </a:lvl4pPr>
            <a:lvl5pPr>
              <a:defRPr sz="3300" b="1">
                <a:solidFill>
                  <a:srgbClr val="15283D"/>
                </a:solidFill>
                <a:latin typeface="Arial"/>
                <a:ea typeface="Arial"/>
                <a:cs typeface="Arial"/>
              </a:defRPr>
            </a:lvl5pPr>
            <a:lvl6pPr>
              <a:defRPr sz="3300" b="1">
                <a:solidFill>
                  <a:srgbClr val="15283D"/>
                </a:solidFill>
                <a:latin typeface="Arial"/>
                <a:ea typeface="Arial"/>
                <a:cs typeface="Arial"/>
              </a:defRPr>
            </a:lvl6pPr>
            <a:lvl7pPr>
              <a:defRPr sz="3300" b="1">
                <a:solidFill>
                  <a:srgbClr val="15283D"/>
                </a:solidFill>
                <a:latin typeface="Arial"/>
                <a:ea typeface="Arial"/>
                <a:cs typeface="Arial"/>
              </a:defRPr>
            </a:lvl7pPr>
            <a:lvl8pPr>
              <a:defRPr sz="3300" b="1">
                <a:solidFill>
                  <a:srgbClr val="15283D"/>
                </a:solidFill>
                <a:latin typeface="Arial"/>
                <a:ea typeface="Arial"/>
                <a:cs typeface="Arial"/>
              </a:defRPr>
            </a:lvl8pPr>
            <a:lvl9pPr>
              <a:defRPr sz="3300" b="1">
                <a:solidFill>
                  <a:srgbClr val="15283D"/>
                </a:solidFill>
                <a:latin typeface="Arial"/>
                <a:ea typeface="Arial"/>
                <a:cs typeface="Arial"/>
              </a:defRPr>
            </a:lvl9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KI und Machine Learning in einfachen Worten</a:t>
            </a:r>
          </a:p>
        </p:txBody>
      </p:sp>
      <p:sp>
        <p:nvSpPr>
          <p:cNvPr id="2" name="text-1">
            <a:extLst xmlns:a="http://schemas.openxmlformats.org/drawingml/2006/main">
              <a:ext uri="{FF2B5EF4-FFF2-40B4-BE49-F238E27FC236}">
                <a16:creationId xmlns:a16="http://schemas.microsoft.com/office/drawing/2014/main" id="{E5899F10-2AEF-4121-8A12-3C0175F95593}"/>
              </a:ext>
            </a:extLst>
          </p:cNvPr>
          <p:cNvSpPr>
            <a:spLocks xmlns:a="http://schemas.openxmlformats.org/drawingml/2006/main" noGrp="1"/>
          </p:cNvSpPr>
          <p:nvPr/>
        </p:nvSpPr>
        <p:spPr>
          <a:xfrm xmlns:a="http://schemas.openxmlformats.org/drawingml/2006/main">
            <a:off x="685800" y="177165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KI</a:t>
            </a:r>
          </a:p>
        </p:txBody>
      </p:sp>
      <p:sp>
        <p:nvSpPr>
          <p:cNvPr id="3" name="text-2">
            <a:extLst xmlns:a="http://schemas.openxmlformats.org/drawingml/2006/main">
              <a:ext uri="{FF2B5EF4-FFF2-40B4-BE49-F238E27FC236}">
                <a16:creationId xmlns:a16="http://schemas.microsoft.com/office/drawing/2014/main" id="{9D79909A-EA16-44D9-AEDE-280679F7A80C}"/>
              </a:ext>
            </a:extLst>
          </p:cNvPr>
          <p:cNvSpPr>
            <a:spLocks xmlns:a="http://schemas.openxmlformats.org/drawingml/2006/main" noGrp="1"/>
          </p:cNvSpPr>
          <p:nvPr/>
        </p:nvSpPr>
        <p:spPr>
          <a:xfrm xmlns:a="http://schemas.openxmlformats.org/drawingml/2006/main">
            <a:off x="3190875" y="177165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Künstliche Intelligenz umfasst etwa Systeme mit Wissensregeln oder gelernten Mustern. Suche und Texterzeugung sind mögliche Anwendungen.</a:t>
            </a:r>
          </a:p>
        </p:txBody>
      </p:sp>
      <p:sp>
        <p:nvSpPr>
          <p:cNvPr id="4" name="text-3">
            <a:extLst xmlns:a="http://schemas.openxmlformats.org/drawingml/2006/main">
              <a:ext uri="{FF2B5EF4-FFF2-40B4-BE49-F238E27FC236}">
                <a16:creationId xmlns:a16="http://schemas.microsoft.com/office/drawing/2014/main" id="{99C7ADFF-EF20-4571-AD54-5FCDD61EC20F}"/>
              </a:ext>
            </a:extLst>
          </p:cNvPr>
          <p:cNvSpPr>
            <a:spLocks xmlns:a="http://schemas.openxmlformats.org/drawingml/2006/main" noGrp="1"/>
          </p:cNvSpPr>
          <p:nvPr/>
        </p:nvSpPr>
        <p:spPr>
          <a:xfrm xmlns:a="http://schemas.openxmlformats.org/drawingml/2006/main">
            <a:off x="685800" y="3057525"/>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Machine Learning</a:t>
            </a:r>
          </a:p>
        </p:txBody>
      </p:sp>
      <p:sp>
        <p:nvSpPr>
          <p:cNvPr id="5" name="text-4">
            <a:extLst xmlns:a="http://schemas.openxmlformats.org/drawingml/2006/main">
              <a:ext uri="{FF2B5EF4-FFF2-40B4-BE49-F238E27FC236}">
                <a16:creationId xmlns:a16="http://schemas.microsoft.com/office/drawing/2014/main" id="{D338BB69-4CD5-4E5F-A685-C0FD86ADE886}"/>
              </a:ext>
            </a:extLst>
          </p:cNvPr>
          <p:cNvSpPr>
            <a:spLocks xmlns:a="http://schemas.openxmlformats.org/drawingml/2006/main" noGrp="1"/>
          </p:cNvSpPr>
          <p:nvPr/>
        </p:nvSpPr>
        <p:spPr>
          <a:xfrm xmlns:a="http://schemas.openxmlformats.org/drawingml/2006/main">
            <a:off x="3190875" y="3057525"/>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Ein Modell lernt Muster aus Beispielen. Die Abkürzung dafür lautet ML.</a:t>
            </a:r>
          </a:p>
        </p:txBody>
      </p:sp>
      <p:sp>
        <p:nvSpPr>
          <p:cNvPr id="6" name="text-5">
            <a:extLst xmlns:a="http://schemas.openxmlformats.org/drawingml/2006/main">
              <a:ext uri="{FF2B5EF4-FFF2-40B4-BE49-F238E27FC236}">
                <a16:creationId xmlns:a16="http://schemas.microsoft.com/office/drawing/2014/main" id="{D482C03A-5E27-45E3-ACEC-CD0C2946E6F9}"/>
              </a:ext>
            </a:extLst>
          </p:cNvPr>
          <p:cNvSpPr>
            <a:spLocks xmlns:a="http://schemas.openxmlformats.org/drawingml/2006/main" noGrp="1"/>
          </p:cNvSpPr>
          <p:nvPr/>
        </p:nvSpPr>
        <p:spPr>
          <a:xfrm xmlns:a="http://schemas.openxmlformats.org/drawingml/2006/main">
            <a:off x="685800" y="434340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Unser Ziel</a:t>
            </a:r>
          </a:p>
        </p:txBody>
      </p:sp>
      <p:sp>
        <p:nvSpPr>
          <p:cNvPr id="7" name="text-6">
            <a:extLst xmlns:a="http://schemas.openxmlformats.org/drawingml/2006/main">
              <a:ext uri="{FF2B5EF4-FFF2-40B4-BE49-F238E27FC236}">
                <a16:creationId xmlns:a16="http://schemas.microsoft.com/office/drawing/2014/main" id="{17B43696-5B9E-4247-8DA6-B6E71B12EAD6}"/>
              </a:ext>
            </a:extLst>
          </p:cNvPr>
          <p:cNvSpPr>
            <a:spLocks xmlns:a="http://schemas.openxmlformats.org/drawingml/2006/main" noGrp="1"/>
          </p:cNvSpPr>
          <p:nvPr/>
        </p:nvSpPr>
        <p:spPr>
          <a:xfrm xmlns:a="http://schemas.openxmlformats.org/drawingml/2006/main">
            <a:off x="3190875" y="434340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Wir verwenden geeignete Funktionen und prüfen ihr Ergebnis an konkreten Quellen.</a:t>
            </a:r>
          </a:p>
        </p:txBody>
      </p:sp>
      <p:sp>
        <p:nvSpPr>
          <p:cNvPr id="8" name="text-7">
            <a:extLst xmlns:a="http://schemas.openxmlformats.org/drawingml/2006/main">
              <a:ext uri="{FF2B5EF4-FFF2-40B4-BE49-F238E27FC236}">
                <a16:creationId xmlns:a16="http://schemas.microsoft.com/office/drawing/2014/main" id="{E1671EAF-B2E0-4797-861E-515157163412}"/>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vl1pPr>
              <a:defRPr sz="1350" b="0">
                <a:solidFill>
                  <a:srgbClr val="52647A"/>
                </a:solidFill>
                <a:latin typeface="Arial"/>
                <a:ea typeface="Arial"/>
                <a:cs typeface="Arial"/>
              </a:defRPr>
            </a:lvl1pPr>
            <a:lvl2pPr>
              <a:defRPr sz="1350" b="0">
                <a:solidFill>
                  <a:srgbClr val="52647A"/>
                </a:solidFill>
                <a:latin typeface="Arial"/>
                <a:ea typeface="Arial"/>
                <a:cs typeface="Arial"/>
              </a:defRPr>
            </a:lvl2pPr>
            <a:lvl3pPr>
              <a:defRPr sz="1350" b="0">
                <a:solidFill>
                  <a:srgbClr val="52647A"/>
                </a:solidFill>
                <a:latin typeface="Arial"/>
                <a:ea typeface="Arial"/>
                <a:cs typeface="Arial"/>
              </a:defRPr>
            </a:lvl3pPr>
            <a:lvl4pPr>
              <a:defRPr sz="1350" b="0">
                <a:solidFill>
                  <a:srgbClr val="52647A"/>
                </a:solidFill>
                <a:latin typeface="Arial"/>
                <a:ea typeface="Arial"/>
                <a:cs typeface="Arial"/>
              </a:defRPr>
            </a:lvl4pPr>
            <a:lvl5pPr>
              <a:defRPr sz="1350" b="0">
                <a:solidFill>
                  <a:srgbClr val="52647A"/>
                </a:solidFill>
                <a:latin typeface="Arial"/>
                <a:ea typeface="Arial"/>
                <a:cs typeface="Arial"/>
              </a:defRPr>
            </a:lvl5pPr>
            <a:lvl6pPr>
              <a:defRPr sz="1350" b="0">
                <a:solidFill>
                  <a:srgbClr val="52647A"/>
                </a:solidFill>
                <a:latin typeface="Arial"/>
                <a:ea typeface="Arial"/>
                <a:cs typeface="Arial"/>
              </a:defRPr>
            </a:lvl6pPr>
            <a:lvl7pPr>
              <a:defRPr sz="1350" b="0">
                <a:solidFill>
                  <a:srgbClr val="52647A"/>
                </a:solidFill>
                <a:latin typeface="Arial"/>
                <a:ea typeface="Arial"/>
                <a:cs typeface="Arial"/>
              </a:defRPr>
            </a:lvl7pPr>
            <a:lvl8pPr>
              <a:defRPr sz="1350" b="0">
                <a:solidFill>
                  <a:srgbClr val="52647A"/>
                </a:solidFill>
                <a:latin typeface="Arial"/>
                <a:ea typeface="Arial"/>
                <a:cs typeface="Arial"/>
              </a:defRPr>
            </a:lvl8pPr>
            <a:lvl9pPr>
              <a:defRPr sz="1350" b="0">
                <a:solidFill>
                  <a:srgbClr val="52647A"/>
                </a:solidFill>
                <a:latin typeface="Arial"/>
                <a:ea typeface="Arial"/>
                <a:cs typeface="Arial"/>
              </a:defRPr>
            </a:lvl9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08  CUR-013</a:t>
            </a:r>
          </a:p>
        </p:txBody>
      </p:sp>
    </p:spTree>
    <p:extLst>
      <p:ext uri="{BB962C8B-B14F-4D97-AF65-F5344CB8AC3E}">
        <p14:creationId xmlns:p14="http://schemas.microsoft.com/office/powerpoint/2010/main" val="1309204615"/>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text-0">
            <a:extLst xmlns:a="http://schemas.openxmlformats.org/drawingml/2006/main">
              <a:ext uri="{FF2B5EF4-FFF2-40B4-BE49-F238E27FC236}">
                <a16:creationId xmlns:a16="http://schemas.microsoft.com/office/drawing/2014/main" id="{35036A97-28B6-4D13-A81E-82995A1C12D7}"/>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vl1pPr>
              <a:defRPr sz="3300" b="1">
                <a:solidFill>
                  <a:srgbClr val="15283D"/>
                </a:solidFill>
                <a:latin typeface="Arial"/>
                <a:ea typeface="Arial"/>
                <a:cs typeface="Arial"/>
              </a:defRPr>
            </a:lvl1pPr>
            <a:lvl2pPr>
              <a:defRPr sz="3300" b="1">
                <a:solidFill>
                  <a:srgbClr val="15283D"/>
                </a:solidFill>
                <a:latin typeface="Arial"/>
                <a:ea typeface="Arial"/>
                <a:cs typeface="Arial"/>
              </a:defRPr>
            </a:lvl2pPr>
            <a:lvl3pPr>
              <a:defRPr sz="3300" b="1">
                <a:solidFill>
                  <a:srgbClr val="15283D"/>
                </a:solidFill>
                <a:latin typeface="Arial"/>
                <a:ea typeface="Arial"/>
                <a:cs typeface="Arial"/>
              </a:defRPr>
            </a:lvl3pPr>
            <a:lvl4pPr>
              <a:defRPr sz="3300" b="1">
                <a:solidFill>
                  <a:srgbClr val="15283D"/>
                </a:solidFill>
                <a:latin typeface="Arial"/>
                <a:ea typeface="Arial"/>
                <a:cs typeface="Arial"/>
              </a:defRPr>
            </a:lvl4pPr>
            <a:lvl5pPr>
              <a:defRPr sz="3300" b="1">
                <a:solidFill>
                  <a:srgbClr val="15283D"/>
                </a:solidFill>
                <a:latin typeface="Arial"/>
                <a:ea typeface="Arial"/>
                <a:cs typeface="Arial"/>
              </a:defRPr>
            </a:lvl5pPr>
            <a:lvl6pPr>
              <a:defRPr sz="3300" b="1">
                <a:solidFill>
                  <a:srgbClr val="15283D"/>
                </a:solidFill>
                <a:latin typeface="Arial"/>
                <a:ea typeface="Arial"/>
                <a:cs typeface="Arial"/>
              </a:defRPr>
            </a:lvl6pPr>
            <a:lvl7pPr>
              <a:defRPr sz="3300" b="1">
                <a:solidFill>
                  <a:srgbClr val="15283D"/>
                </a:solidFill>
                <a:latin typeface="Arial"/>
                <a:ea typeface="Arial"/>
                <a:cs typeface="Arial"/>
              </a:defRPr>
            </a:lvl7pPr>
            <a:lvl8pPr>
              <a:defRPr sz="3300" b="1">
                <a:solidFill>
                  <a:srgbClr val="15283D"/>
                </a:solidFill>
                <a:latin typeface="Arial"/>
                <a:ea typeface="Arial"/>
                <a:cs typeface="Arial"/>
              </a:defRPr>
            </a:lvl8pPr>
            <a:lvl9pPr>
              <a:defRPr sz="3300" b="1">
                <a:solidFill>
                  <a:srgbClr val="15283D"/>
                </a:solidFill>
                <a:latin typeface="Arial"/>
                <a:ea typeface="Arial"/>
                <a:cs typeface="Arial"/>
              </a:defRPr>
            </a:lvl9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Ein Modell und seine Aufgabe</a:t>
            </a:r>
          </a:p>
        </p:txBody>
      </p:sp>
      <p:sp>
        <p:nvSpPr>
          <p:cNvPr id="2" name="text-1">
            <a:extLst xmlns:a="http://schemas.openxmlformats.org/drawingml/2006/main">
              <a:ext uri="{FF2B5EF4-FFF2-40B4-BE49-F238E27FC236}">
                <a16:creationId xmlns:a16="http://schemas.microsoft.com/office/drawing/2014/main" id="{AEA8DC48-8760-4570-88F9-2E67533EC04B}"/>
              </a:ext>
            </a:extLst>
          </p:cNvPr>
          <p:cNvSpPr>
            <a:spLocks xmlns:a="http://schemas.openxmlformats.org/drawingml/2006/main" noGrp="1"/>
          </p:cNvSpPr>
          <p:nvPr/>
        </p:nvSpPr>
        <p:spPr>
          <a:xfrm xmlns:a="http://schemas.openxmlformats.org/drawingml/2006/main">
            <a:off x="685800" y="177165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Modell</a:t>
            </a:r>
          </a:p>
        </p:txBody>
      </p:sp>
      <p:sp>
        <p:nvSpPr>
          <p:cNvPr id="3" name="text-2">
            <a:extLst xmlns:a="http://schemas.openxmlformats.org/drawingml/2006/main">
              <a:ext uri="{FF2B5EF4-FFF2-40B4-BE49-F238E27FC236}">
                <a16:creationId xmlns:a16="http://schemas.microsoft.com/office/drawing/2014/main" id="{8E27DD87-22C4-4ECC-941E-33C17581233A}"/>
              </a:ext>
            </a:extLst>
          </p:cNvPr>
          <p:cNvSpPr>
            <a:spLocks xmlns:a="http://schemas.openxmlformats.org/drawingml/2006/main" noGrp="1"/>
          </p:cNvSpPr>
          <p:nvPr/>
        </p:nvSpPr>
        <p:spPr>
          <a:xfrm xmlns:a="http://schemas.openxmlformats.org/drawingml/2006/main">
            <a:off x="3190875" y="177165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Eine vorbereitete Rechenvorschrift verarbeitet eine Eingabe und liefert eine Ausgabe.</a:t>
            </a:r>
          </a:p>
        </p:txBody>
      </p:sp>
      <p:sp>
        <p:nvSpPr>
          <p:cNvPr id="4" name="text-3">
            <a:extLst xmlns:a="http://schemas.openxmlformats.org/drawingml/2006/main">
              <a:ext uri="{FF2B5EF4-FFF2-40B4-BE49-F238E27FC236}">
                <a16:creationId xmlns:a16="http://schemas.microsoft.com/office/drawing/2014/main" id="{E6A27949-5391-4C06-9E33-67001042B1B7}"/>
              </a:ext>
            </a:extLst>
          </p:cNvPr>
          <p:cNvSpPr>
            <a:spLocks xmlns:a="http://schemas.openxmlformats.org/drawingml/2006/main" noGrp="1"/>
          </p:cNvSpPr>
          <p:nvPr/>
        </p:nvSpPr>
        <p:spPr>
          <a:xfrm xmlns:a="http://schemas.openxmlformats.org/drawingml/2006/main">
            <a:off x="685800" y="3057525"/>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Aufgabe</a:t>
            </a:r>
          </a:p>
        </p:txBody>
      </p:sp>
      <p:sp>
        <p:nvSpPr>
          <p:cNvPr id="5" name="text-4">
            <a:extLst xmlns:a="http://schemas.openxmlformats.org/drawingml/2006/main">
              <a:ext uri="{FF2B5EF4-FFF2-40B4-BE49-F238E27FC236}">
                <a16:creationId xmlns:a16="http://schemas.microsoft.com/office/drawing/2014/main" id="{3D41A270-9349-4D54-836A-E0C5FE9DD202}"/>
              </a:ext>
            </a:extLst>
          </p:cNvPr>
          <p:cNvSpPr>
            <a:spLocks xmlns:a="http://schemas.openxmlformats.org/drawingml/2006/main" noGrp="1"/>
          </p:cNvSpPr>
          <p:nvPr/>
        </p:nvSpPr>
        <p:spPr>
          <a:xfrm xmlns:a="http://schemas.openxmlformats.org/drawingml/2006/main">
            <a:off x="3190875" y="3057525"/>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Ein Modell kann zum Beispiel Text in Zahlen abbilden oder einen Antworttext erzeugen.</a:t>
            </a:r>
          </a:p>
        </p:txBody>
      </p:sp>
      <p:sp>
        <p:nvSpPr>
          <p:cNvPr id="6" name="text-5">
            <a:extLst xmlns:a="http://schemas.openxmlformats.org/drawingml/2006/main">
              <a:ext uri="{FF2B5EF4-FFF2-40B4-BE49-F238E27FC236}">
                <a16:creationId xmlns:a16="http://schemas.microsoft.com/office/drawing/2014/main" id="{521F0690-4C0A-4A87-A71F-DF9EA1A47A4A}"/>
              </a:ext>
            </a:extLst>
          </p:cNvPr>
          <p:cNvSpPr>
            <a:spLocks xmlns:a="http://schemas.openxmlformats.org/drawingml/2006/main" noGrp="1"/>
          </p:cNvSpPr>
          <p:nvPr/>
        </p:nvSpPr>
        <p:spPr>
          <a:xfrm xmlns:a="http://schemas.openxmlformats.org/drawingml/2006/main">
            <a:off x="685800" y="434340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Prüfung</a:t>
            </a:r>
          </a:p>
        </p:txBody>
      </p:sp>
      <p:sp>
        <p:nvSpPr>
          <p:cNvPr id="7" name="text-6">
            <a:extLst xmlns:a="http://schemas.openxmlformats.org/drawingml/2006/main">
              <a:ext uri="{FF2B5EF4-FFF2-40B4-BE49-F238E27FC236}">
                <a16:creationId xmlns:a16="http://schemas.microsoft.com/office/drawing/2014/main" id="{6382D60A-EA47-4924-9336-DC683F312F6F}"/>
              </a:ext>
            </a:extLst>
          </p:cNvPr>
          <p:cNvSpPr>
            <a:spLocks xmlns:a="http://schemas.openxmlformats.org/drawingml/2006/main" noGrp="1"/>
          </p:cNvSpPr>
          <p:nvPr/>
        </p:nvSpPr>
        <p:spPr>
          <a:xfrm xmlns:a="http://schemas.openxmlformats.org/drawingml/2006/main">
            <a:off x="3190875" y="434340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Wir müssen wissen, welches Modell welche Aufgabe übernimmt und wo seine Ausgabe geprüft wird.</a:t>
            </a:r>
          </a:p>
        </p:txBody>
      </p:sp>
      <p:sp>
        <p:nvSpPr>
          <p:cNvPr id="8" name="text-7">
            <a:extLst xmlns:a="http://schemas.openxmlformats.org/drawingml/2006/main">
              <a:ext uri="{FF2B5EF4-FFF2-40B4-BE49-F238E27FC236}">
                <a16:creationId xmlns:a16="http://schemas.microsoft.com/office/drawing/2014/main" id="{F4E08BE6-3810-47C4-BC60-029E0C157917}"/>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vl1pPr>
              <a:defRPr sz="1350" b="0">
                <a:solidFill>
                  <a:srgbClr val="52647A"/>
                </a:solidFill>
                <a:latin typeface="Arial"/>
                <a:ea typeface="Arial"/>
                <a:cs typeface="Arial"/>
              </a:defRPr>
            </a:lvl1pPr>
            <a:lvl2pPr>
              <a:defRPr sz="1350" b="0">
                <a:solidFill>
                  <a:srgbClr val="52647A"/>
                </a:solidFill>
                <a:latin typeface="Arial"/>
                <a:ea typeface="Arial"/>
                <a:cs typeface="Arial"/>
              </a:defRPr>
            </a:lvl2pPr>
            <a:lvl3pPr>
              <a:defRPr sz="1350" b="0">
                <a:solidFill>
                  <a:srgbClr val="52647A"/>
                </a:solidFill>
                <a:latin typeface="Arial"/>
                <a:ea typeface="Arial"/>
                <a:cs typeface="Arial"/>
              </a:defRPr>
            </a:lvl3pPr>
            <a:lvl4pPr>
              <a:defRPr sz="1350" b="0">
                <a:solidFill>
                  <a:srgbClr val="52647A"/>
                </a:solidFill>
                <a:latin typeface="Arial"/>
                <a:ea typeface="Arial"/>
                <a:cs typeface="Arial"/>
              </a:defRPr>
            </a:lvl4pPr>
            <a:lvl5pPr>
              <a:defRPr sz="1350" b="0">
                <a:solidFill>
                  <a:srgbClr val="52647A"/>
                </a:solidFill>
                <a:latin typeface="Arial"/>
                <a:ea typeface="Arial"/>
                <a:cs typeface="Arial"/>
              </a:defRPr>
            </a:lvl5pPr>
            <a:lvl6pPr>
              <a:defRPr sz="1350" b="0">
                <a:solidFill>
                  <a:srgbClr val="52647A"/>
                </a:solidFill>
                <a:latin typeface="Arial"/>
                <a:ea typeface="Arial"/>
                <a:cs typeface="Arial"/>
              </a:defRPr>
            </a:lvl6pPr>
            <a:lvl7pPr>
              <a:defRPr sz="1350" b="0">
                <a:solidFill>
                  <a:srgbClr val="52647A"/>
                </a:solidFill>
                <a:latin typeface="Arial"/>
                <a:ea typeface="Arial"/>
                <a:cs typeface="Arial"/>
              </a:defRPr>
            </a:lvl7pPr>
            <a:lvl8pPr>
              <a:defRPr sz="1350" b="0">
                <a:solidFill>
                  <a:srgbClr val="52647A"/>
                </a:solidFill>
                <a:latin typeface="Arial"/>
                <a:ea typeface="Arial"/>
                <a:cs typeface="Arial"/>
              </a:defRPr>
            </a:lvl8pPr>
            <a:lvl9pPr>
              <a:defRPr sz="1350" b="0">
                <a:solidFill>
                  <a:srgbClr val="52647A"/>
                </a:solidFill>
                <a:latin typeface="Arial"/>
                <a:ea typeface="Arial"/>
                <a:cs typeface="Arial"/>
              </a:defRPr>
            </a:lvl9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09  CUR-013</a:t>
            </a:r>
          </a:p>
        </p:txBody>
      </p:sp>
    </p:spTree>
    <p:extLst>
      <p:ext uri="{BB962C8B-B14F-4D97-AF65-F5344CB8AC3E}">
        <p14:creationId xmlns:p14="http://schemas.microsoft.com/office/powerpoint/2010/main" val="284347998"/>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0">
            <a:extLst xmlns:a="http://schemas.openxmlformats.org/drawingml/2006/main">
              <a:ext uri="{FF2B5EF4-FFF2-40B4-BE49-F238E27FC236}">
                <a16:creationId xmlns:a16="http://schemas.microsoft.com/office/drawing/2014/main" id="{00708587-1D43-4555-A9A2-F5874BDE0161}"/>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vl1pPr>
              <a:defRPr sz="3300" b="1">
                <a:solidFill>
                  <a:srgbClr val="15283D"/>
                </a:solidFill>
                <a:latin typeface="Arial"/>
                <a:ea typeface="Arial"/>
                <a:cs typeface="Arial"/>
              </a:defRPr>
            </a:lvl1pPr>
            <a:lvl2pPr>
              <a:defRPr sz="3300" b="1">
                <a:solidFill>
                  <a:srgbClr val="15283D"/>
                </a:solidFill>
                <a:latin typeface="Arial"/>
                <a:ea typeface="Arial"/>
                <a:cs typeface="Arial"/>
              </a:defRPr>
            </a:lvl2pPr>
            <a:lvl3pPr>
              <a:defRPr sz="3300" b="1">
                <a:solidFill>
                  <a:srgbClr val="15283D"/>
                </a:solidFill>
                <a:latin typeface="Arial"/>
                <a:ea typeface="Arial"/>
                <a:cs typeface="Arial"/>
              </a:defRPr>
            </a:lvl3pPr>
            <a:lvl4pPr>
              <a:defRPr sz="3300" b="1">
                <a:solidFill>
                  <a:srgbClr val="15283D"/>
                </a:solidFill>
                <a:latin typeface="Arial"/>
                <a:ea typeface="Arial"/>
                <a:cs typeface="Arial"/>
              </a:defRPr>
            </a:lvl4pPr>
            <a:lvl5pPr>
              <a:defRPr sz="3300" b="1">
                <a:solidFill>
                  <a:srgbClr val="15283D"/>
                </a:solidFill>
                <a:latin typeface="Arial"/>
                <a:ea typeface="Arial"/>
                <a:cs typeface="Arial"/>
              </a:defRPr>
            </a:lvl5pPr>
            <a:lvl6pPr>
              <a:defRPr sz="3300" b="1">
                <a:solidFill>
                  <a:srgbClr val="15283D"/>
                </a:solidFill>
                <a:latin typeface="Arial"/>
                <a:ea typeface="Arial"/>
                <a:cs typeface="Arial"/>
              </a:defRPr>
            </a:lvl6pPr>
            <a:lvl7pPr>
              <a:defRPr sz="3300" b="1">
                <a:solidFill>
                  <a:srgbClr val="15283D"/>
                </a:solidFill>
                <a:latin typeface="Arial"/>
                <a:ea typeface="Arial"/>
                <a:cs typeface="Arial"/>
              </a:defRPr>
            </a:lvl7pPr>
            <a:lvl8pPr>
              <a:defRPr sz="3300" b="1">
                <a:solidFill>
                  <a:srgbClr val="15283D"/>
                </a:solidFill>
                <a:latin typeface="Arial"/>
                <a:ea typeface="Arial"/>
                <a:cs typeface="Arial"/>
              </a:defRPr>
            </a:lvl8pPr>
            <a:lvl9pPr>
              <a:defRPr sz="3300" b="1">
                <a:solidFill>
                  <a:srgbClr val="15283D"/>
                </a:solidFill>
                <a:latin typeface="Arial"/>
                <a:ea typeface="Arial"/>
                <a:cs typeface="Arial"/>
              </a:defRPr>
            </a:lvl9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Training und Inferenz</a:t>
            </a:r>
          </a:p>
        </p:txBody>
      </p:sp>
      <p:graphicFrame>
        <p:nvGraphicFramePr>
          <p:cNvPr id="2" name="">
            <a:extLst xmlns:a="http://schemas.openxmlformats.org/drawingml/2006/main">
              <a:ext uri="{FF2B5EF4-FFF2-40B4-BE49-F238E27FC236}">
                <a16:creationId xmlns:a16="http://schemas.microsoft.com/office/drawing/2014/main" id="{DEBAF396-E8A8-4023-A26F-5E5722208CDC}"/>
              </a:ext>
            </a:extLst>
          </p:cNvPr>
          <p:cNvGraphicFramePr/>
          <p:nvPr/>
        </p:nvGraphicFramePr>
        <p:xfrm>
          <a:off xmlns:a="http://schemas.openxmlformats.org/drawingml/2006/main" x="685800" y="1771650"/>
          <a:ext xmlns:a="http://schemas.openxmlformats.org/drawingml/2006/main" cx="10668000" cy="3143250"/>
        </p:xfrm>
        <a:graphic xmlns:a="http://schemas.openxmlformats.org/drawingml/2006/main">
          <a:graphicData uri="http://schemas.openxmlformats.org/drawingml/2006/table">
            <a:tbl>
              <a:tblPr/>
              <a:tblGrid>
                <a:gridCol w="2000250"/>
                <a:gridCol w="4572000"/>
                <a:gridCol w="4095750"/>
              </a:tblGrid>
              <a:tr h="785813">
                <a:tc>
                  <a:txBody>
                    <a:bodyPr/>
                    <a:lstStyle/>
                    <a:p>
                      <a:r>
                        <a:rPr sz="1800" b="1">
                          <a:solidFill>
                            <a:srgbClr val="15283D"/>
                          </a:solidFill>
                          <a:latin typeface="Arial"/>
                          <a:ea typeface="Arial"/>
                          <a:cs typeface="Arial"/>
                        </a:rPr>
                        <a:t>Begriff</a:t>
                      </a:r>
                    </a:p>
                  </a:txBody>
                  <a:tcPr marL="114300" marR="114300" marT="47625" marB="47625" anchor="ctr">
                    <a:lnL w="9525">
                      <a:solidFill>
                        <a:srgbClr val="C8D5DE"/>
                      </a:solidFill>
                      <a:prstDash val="solid"/>
                    </a:lnL>
                    <a:lnR w="9525">
                      <a:solidFill>
                        <a:srgbClr val="C8D5DE"/>
                      </a:solidFill>
                      <a:prstDash val="solid"/>
                    </a:lnR>
                    <a:lnT w="9525">
                      <a:solidFill>
                        <a:srgbClr val="C8D5DE"/>
                      </a:solidFill>
                      <a:prstDash val="solid"/>
                    </a:lnT>
                    <a:lnB w="9525">
                      <a:solidFill>
                        <a:srgbClr val="C8D5DE"/>
                      </a:solidFill>
                      <a:prstDash val="solid"/>
                    </a:lnB>
                    <a:solidFill>
                      <a:srgbClr val="E8F2F2"/>
                    </a:solidFill>
                  </a:tcPr>
                </a:tc>
                <a:tc>
                  <a:txBody>
                    <a:bodyPr/>
                    <a:lstStyle/>
                    <a:p>
                      <a:r>
                        <a:rPr sz="1800" b="1">
                          <a:solidFill>
                            <a:srgbClr val="15283D"/>
                          </a:solidFill>
                          <a:latin typeface="Arial"/>
                          <a:ea typeface="Arial"/>
                          <a:cs typeface="Arial"/>
                        </a:rPr>
                        <a:t>Was geschieht?</a:t>
                      </a:r>
                    </a:p>
                  </a:txBody>
                  <a:tcPr marL="114300" marR="114300" marT="47625" marB="47625" anchor="ctr">
                    <a:lnR w="9525">
                      <a:solidFill>
                        <a:srgbClr val="C8D5DE"/>
                      </a:solidFill>
                      <a:prstDash val="solid"/>
                    </a:lnR>
                    <a:lnT w="9525">
                      <a:solidFill>
                        <a:srgbClr val="C8D5DE"/>
                      </a:solidFill>
                      <a:prstDash val="solid"/>
                    </a:lnT>
                    <a:lnB w="9525">
                      <a:solidFill>
                        <a:srgbClr val="C8D5DE"/>
                      </a:solidFill>
                      <a:prstDash val="solid"/>
                    </a:lnB>
                    <a:solidFill>
                      <a:srgbClr val="E8F2F2"/>
                    </a:solidFill>
                  </a:tcPr>
                </a:tc>
                <a:tc>
                  <a:txBody>
                    <a:bodyPr/>
                    <a:lstStyle/>
                    <a:p>
                      <a:r>
                        <a:rPr sz="1800" b="1">
                          <a:solidFill>
                            <a:srgbClr val="15283D"/>
                          </a:solidFill>
                          <a:latin typeface="Arial"/>
                          <a:ea typeface="Arial"/>
                          <a:cs typeface="Arial"/>
                        </a:rPr>
                        <a:t>In diesem Einstieg</a:t>
                      </a:r>
                    </a:p>
                  </a:txBody>
                  <a:tcPr marL="114300" marR="114300" marT="47625" marB="47625" anchor="ctr">
                    <a:lnR w="9525">
                      <a:solidFill>
                        <a:srgbClr val="C8D5DE"/>
                      </a:solidFill>
                      <a:prstDash val="solid"/>
                    </a:lnR>
                    <a:lnT w="9525">
                      <a:solidFill>
                        <a:srgbClr val="C8D5DE"/>
                      </a:solidFill>
                      <a:prstDash val="solid"/>
                    </a:lnT>
                    <a:lnB w="9525">
                      <a:solidFill>
                        <a:srgbClr val="C8D5DE"/>
                      </a:solidFill>
                      <a:prstDash val="solid"/>
                    </a:lnB>
                    <a:solidFill>
                      <a:srgbClr val="E8F2F2"/>
                    </a:solidFill>
                  </a:tcPr>
                </a:tc>
              </a:tr>
              <a:tr h="785813">
                <a:tc>
                  <a:txBody>
                    <a:bodyPr/>
                    <a:lstStyle/>
                    <a:p>
                      <a:r>
                        <a:rPr sz="1800" b="0">
                          <a:solidFill>
                            <a:srgbClr val="15283D"/>
                          </a:solidFill>
                          <a:latin typeface="Arial"/>
                          <a:ea typeface="Arial"/>
                          <a:cs typeface="Arial"/>
                        </a:rPr>
                        <a:t>Training</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Ein Modell lernt aus Trainingsbeispielen.</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Wir trainieren kein Modell.</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r h="785813">
                <a:tc>
                  <a:txBody>
                    <a:bodyPr/>
                    <a:lstStyle/>
                    <a:p>
                      <a:r>
                        <a:rPr sz="1800" b="0">
                          <a:solidFill>
                            <a:srgbClr val="15283D"/>
                          </a:solidFill>
                          <a:latin typeface="Arial"/>
                          <a:ea typeface="Arial"/>
                          <a:cs typeface="Arial"/>
                        </a:rPr>
                        <a:t>Inferenz</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Ein vorbereitetes Modell verarbeitet neue Eingaben.</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Späterer Modellpfad mit eigenen Voraussetzungen.</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r h="785813">
                <a:tc>
                  <a:txBody>
                    <a:bodyPr/>
                    <a:lstStyle/>
                    <a:p>
                      <a:r>
                        <a:rPr sz="1800" b="0">
                          <a:solidFill>
                            <a:srgbClr val="15283D"/>
                          </a:solidFill>
                          <a:latin typeface="Arial"/>
                          <a:ea typeface="Arial"/>
                          <a:cs typeface="Arial"/>
                        </a:rPr>
                        <a:t>Feste Lehrwerte</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Wir geben Zahlen oder Antworten ausdrücklich vor.</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Das ist unser erster Offlinepfad.</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bl>
          </a:graphicData>
        </a:graphic>
      </p:graphicFrame>
      <p:sp>
        <p:nvSpPr>
          <p:cNvPr id="3" name="text-1">
            <a:extLst xmlns:a="http://schemas.openxmlformats.org/drawingml/2006/main">
              <a:ext uri="{FF2B5EF4-FFF2-40B4-BE49-F238E27FC236}">
                <a16:creationId xmlns:a16="http://schemas.microsoft.com/office/drawing/2014/main" id="{05FA976C-90BD-4DB6-99C6-8064BB8AA16C}"/>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vl1pPr>
              <a:defRPr sz="1350" b="0">
                <a:solidFill>
                  <a:srgbClr val="52647A"/>
                </a:solidFill>
                <a:latin typeface="Arial"/>
                <a:ea typeface="Arial"/>
                <a:cs typeface="Arial"/>
              </a:defRPr>
            </a:lvl1pPr>
            <a:lvl2pPr>
              <a:defRPr sz="1350" b="0">
                <a:solidFill>
                  <a:srgbClr val="52647A"/>
                </a:solidFill>
                <a:latin typeface="Arial"/>
                <a:ea typeface="Arial"/>
                <a:cs typeface="Arial"/>
              </a:defRPr>
            </a:lvl2pPr>
            <a:lvl3pPr>
              <a:defRPr sz="1350" b="0">
                <a:solidFill>
                  <a:srgbClr val="52647A"/>
                </a:solidFill>
                <a:latin typeface="Arial"/>
                <a:ea typeface="Arial"/>
                <a:cs typeface="Arial"/>
              </a:defRPr>
            </a:lvl3pPr>
            <a:lvl4pPr>
              <a:defRPr sz="1350" b="0">
                <a:solidFill>
                  <a:srgbClr val="52647A"/>
                </a:solidFill>
                <a:latin typeface="Arial"/>
                <a:ea typeface="Arial"/>
                <a:cs typeface="Arial"/>
              </a:defRPr>
            </a:lvl4pPr>
            <a:lvl5pPr>
              <a:defRPr sz="1350" b="0">
                <a:solidFill>
                  <a:srgbClr val="52647A"/>
                </a:solidFill>
                <a:latin typeface="Arial"/>
                <a:ea typeface="Arial"/>
                <a:cs typeface="Arial"/>
              </a:defRPr>
            </a:lvl5pPr>
            <a:lvl6pPr>
              <a:defRPr sz="1350" b="0">
                <a:solidFill>
                  <a:srgbClr val="52647A"/>
                </a:solidFill>
                <a:latin typeface="Arial"/>
                <a:ea typeface="Arial"/>
                <a:cs typeface="Arial"/>
              </a:defRPr>
            </a:lvl6pPr>
            <a:lvl7pPr>
              <a:defRPr sz="1350" b="0">
                <a:solidFill>
                  <a:srgbClr val="52647A"/>
                </a:solidFill>
                <a:latin typeface="Arial"/>
                <a:ea typeface="Arial"/>
                <a:cs typeface="Arial"/>
              </a:defRPr>
            </a:lvl7pPr>
            <a:lvl8pPr>
              <a:defRPr sz="1350" b="0">
                <a:solidFill>
                  <a:srgbClr val="52647A"/>
                </a:solidFill>
                <a:latin typeface="Arial"/>
                <a:ea typeface="Arial"/>
                <a:cs typeface="Arial"/>
              </a:defRPr>
            </a:lvl8pPr>
            <a:lvl9pPr>
              <a:defRPr sz="1350" b="0">
                <a:solidFill>
                  <a:srgbClr val="52647A"/>
                </a:solidFill>
                <a:latin typeface="Arial"/>
                <a:ea typeface="Arial"/>
                <a:cs typeface="Arial"/>
              </a:defRPr>
            </a:lvl9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10  CUR-013 / CUR-016</a:t>
            </a:r>
          </a:p>
        </p:txBody>
      </p:sp>
    </p:spTree>
    <p:extLst>
      <p:ext uri="{BB962C8B-B14F-4D97-AF65-F5344CB8AC3E}">
        <p14:creationId xmlns:p14="http://schemas.microsoft.com/office/powerpoint/2010/main" val="1310056737"/>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text-0">
            <a:extLst xmlns:a="http://schemas.openxmlformats.org/drawingml/2006/main">
              <a:ext uri="{FF2B5EF4-FFF2-40B4-BE49-F238E27FC236}">
                <a16:creationId xmlns:a16="http://schemas.microsoft.com/office/drawing/2014/main" id="{CB1251A2-33D5-4BBF-AA99-5FAB77E6D776}"/>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vl1pPr>
              <a:defRPr sz="3300" b="1">
                <a:solidFill>
                  <a:srgbClr val="15283D"/>
                </a:solidFill>
                <a:latin typeface="Arial"/>
                <a:ea typeface="Arial"/>
                <a:cs typeface="Arial"/>
              </a:defRPr>
            </a:lvl1pPr>
            <a:lvl2pPr>
              <a:defRPr sz="3300" b="1">
                <a:solidFill>
                  <a:srgbClr val="15283D"/>
                </a:solidFill>
                <a:latin typeface="Arial"/>
                <a:ea typeface="Arial"/>
                <a:cs typeface="Arial"/>
              </a:defRPr>
            </a:lvl2pPr>
            <a:lvl3pPr>
              <a:defRPr sz="3300" b="1">
                <a:solidFill>
                  <a:srgbClr val="15283D"/>
                </a:solidFill>
                <a:latin typeface="Arial"/>
                <a:ea typeface="Arial"/>
                <a:cs typeface="Arial"/>
              </a:defRPr>
            </a:lvl3pPr>
            <a:lvl4pPr>
              <a:defRPr sz="3300" b="1">
                <a:solidFill>
                  <a:srgbClr val="15283D"/>
                </a:solidFill>
                <a:latin typeface="Arial"/>
                <a:ea typeface="Arial"/>
                <a:cs typeface="Arial"/>
              </a:defRPr>
            </a:lvl4pPr>
            <a:lvl5pPr>
              <a:defRPr sz="3300" b="1">
                <a:solidFill>
                  <a:srgbClr val="15283D"/>
                </a:solidFill>
                <a:latin typeface="Arial"/>
                <a:ea typeface="Arial"/>
                <a:cs typeface="Arial"/>
              </a:defRPr>
            </a:lvl5pPr>
            <a:lvl6pPr>
              <a:defRPr sz="3300" b="1">
                <a:solidFill>
                  <a:srgbClr val="15283D"/>
                </a:solidFill>
                <a:latin typeface="Arial"/>
                <a:ea typeface="Arial"/>
                <a:cs typeface="Arial"/>
              </a:defRPr>
            </a:lvl6pPr>
            <a:lvl7pPr>
              <a:defRPr sz="3300" b="1">
                <a:solidFill>
                  <a:srgbClr val="15283D"/>
                </a:solidFill>
                <a:latin typeface="Arial"/>
                <a:ea typeface="Arial"/>
                <a:cs typeface="Arial"/>
              </a:defRPr>
            </a:lvl7pPr>
            <a:lvl8pPr>
              <a:defRPr sz="3300" b="1">
                <a:solidFill>
                  <a:srgbClr val="15283D"/>
                </a:solidFill>
                <a:latin typeface="Arial"/>
                <a:ea typeface="Arial"/>
                <a:cs typeface="Arial"/>
              </a:defRPr>
            </a:lvl8pPr>
            <a:lvl9pPr>
              <a:defRPr sz="3300" b="1">
                <a:solidFill>
                  <a:srgbClr val="15283D"/>
                </a:solidFill>
                <a:latin typeface="Arial"/>
                <a:ea typeface="Arial"/>
                <a:cs typeface="Arial"/>
              </a:defRPr>
            </a:lvl9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Ein Sprachmodell erzeugt Antworttext</a:t>
            </a:r>
          </a:p>
        </p:txBody>
      </p:sp>
      <p:sp>
        <p:nvSpPr>
          <p:cNvPr id="2" name="text-1">
            <a:extLst xmlns:a="http://schemas.openxmlformats.org/drawingml/2006/main">
              <a:ext uri="{FF2B5EF4-FFF2-40B4-BE49-F238E27FC236}">
                <a16:creationId xmlns:a16="http://schemas.microsoft.com/office/drawing/2014/main" id="{955B0E0F-21AF-4E8A-977E-E20074879603}"/>
              </a:ext>
            </a:extLst>
          </p:cNvPr>
          <p:cNvSpPr>
            <a:spLocks xmlns:a="http://schemas.openxmlformats.org/drawingml/2006/main" noGrp="1"/>
          </p:cNvSpPr>
          <p:nvPr/>
        </p:nvSpPr>
        <p:spPr>
          <a:xfrm xmlns:a="http://schemas.openxmlformats.org/drawingml/2006/main">
            <a:off x="685800" y="177165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Sprachmodell</a:t>
            </a:r>
          </a:p>
        </p:txBody>
      </p:sp>
      <p:sp>
        <p:nvSpPr>
          <p:cNvPr id="3" name="text-2">
            <a:extLst xmlns:a="http://schemas.openxmlformats.org/drawingml/2006/main">
              <a:ext uri="{FF2B5EF4-FFF2-40B4-BE49-F238E27FC236}">
                <a16:creationId xmlns:a16="http://schemas.microsoft.com/office/drawing/2014/main" id="{7482BD23-09D5-49DB-B9A2-85C0C5A16A5E}"/>
              </a:ext>
            </a:extLst>
          </p:cNvPr>
          <p:cNvSpPr>
            <a:spLocks xmlns:a="http://schemas.openxmlformats.org/drawingml/2006/main" noGrp="1"/>
          </p:cNvSpPr>
          <p:nvPr/>
        </p:nvSpPr>
        <p:spPr>
          <a:xfrm xmlns:a="http://schemas.openxmlformats.org/drawingml/2006/main">
            <a:off x="3190875" y="177165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Ein Large Language Model, kurz LLM, verarbeitet Textkontext und kann neue Textfolgen erzeugen.</a:t>
            </a:r>
          </a:p>
        </p:txBody>
      </p:sp>
      <p:sp>
        <p:nvSpPr>
          <p:cNvPr id="4" name="text-3">
            <a:extLst xmlns:a="http://schemas.openxmlformats.org/drawingml/2006/main">
              <a:ext uri="{FF2B5EF4-FFF2-40B4-BE49-F238E27FC236}">
                <a16:creationId xmlns:a16="http://schemas.microsoft.com/office/drawing/2014/main" id="{FC35E39C-AA25-4753-BBA0-3C598ABE51BC}"/>
              </a:ext>
            </a:extLst>
          </p:cNvPr>
          <p:cNvSpPr>
            <a:spLocks xmlns:a="http://schemas.openxmlformats.org/drawingml/2006/main" noGrp="1"/>
          </p:cNvSpPr>
          <p:nvPr/>
        </p:nvSpPr>
        <p:spPr>
          <a:xfrm xmlns:a="http://schemas.openxmlformats.org/drawingml/2006/main">
            <a:off x="685800" y="3057525"/>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Beispiel</a:t>
            </a:r>
          </a:p>
        </p:txBody>
      </p:sp>
      <p:sp>
        <p:nvSpPr>
          <p:cNvPr id="5" name="text-4">
            <a:extLst xmlns:a="http://schemas.openxmlformats.org/drawingml/2006/main">
              <a:ext uri="{FF2B5EF4-FFF2-40B4-BE49-F238E27FC236}">
                <a16:creationId xmlns:a16="http://schemas.microsoft.com/office/drawing/2014/main" id="{BE1AC08A-7646-4B97-AFA4-9F0FF9277E6C}"/>
              </a:ext>
            </a:extLst>
          </p:cNvPr>
          <p:cNvSpPr>
            <a:spLocks xmlns:a="http://schemas.openxmlformats.org/drawingml/2006/main" noGrp="1"/>
          </p:cNvSpPr>
          <p:nvPr/>
        </p:nvSpPr>
        <p:spPr>
          <a:xfrm xmlns:a="http://schemas.openxmlformats.org/drawingml/2006/main">
            <a:off x="3190875" y="3057525"/>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Aus einer gegebenen Quelle könnte die Anwendung den Satz bilden: MOD_A bewahrt Protokolle sieben Tage auf.</a:t>
            </a:r>
          </a:p>
        </p:txBody>
      </p:sp>
      <p:sp>
        <p:nvSpPr>
          <p:cNvPr id="6" name="text-5">
            <a:extLst xmlns:a="http://schemas.openxmlformats.org/drawingml/2006/main">
              <a:ext uri="{FF2B5EF4-FFF2-40B4-BE49-F238E27FC236}">
                <a16:creationId xmlns:a16="http://schemas.microsoft.com/office/drawing/2014/main" id="{C34FF323-5166-4135-AA93-DA732EC8DA84}"/>
              </a:ext>
            </a:extLst>
          </p:cNvPr>
          <p:cNvSpPr>
            <a:spLocks xmlns:a="http://schemas.openxmlformats.org/drawingml/2006/main" noGrp="1"/>
          </p:cNvSpPr>
          <p:nvPr/>
        </p:nvSpPr>
        <p:spPr>
          <a:xfrm xmlns:a="http://schemas.openxmlformats.org/drawingml/2006/main">
            <a:off x="685800" y="434340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Grenze</a:t>
            </a:r>
          </a:p>
        </p:txBody>
      </p:sp>
      <p:sp>
        <p:nvSpPr>
          <p:cNvPr id="7" name="text-6">
            <a:extLst xmlns:a="http://schemas.openxmlformats.org/drawingml/2006/main">
              <a:ext uri="{FF2B5EF4-FFF2-40B4-BE49-F238E27FC236}">
                <a16:creationId xmlns:a16="http://schemas.microsoft.com/office/drawing/2014/main" id="{D0331561-79F1-4DCC-A35D-A5E7717C7244}"/>
              </a:ext>
            </a:extLst>
          </p:cNvPr>
          <p:cNvSpPr>
            <a:spLocks xmlns:a="http://schemas.openxmlformats.org/drawingml/2006/main" noGrp="1"/>
          </p:cNvSpPr>
          <p:nvPr/>
        </p:nvSpPr>
        <p:spPr>
          <a:xfrm xmlns:a="http://schemas.openxmlformats.org/drawingml/2006/main">
            <a:off x="3190875" y="434340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Ein gut formulierter Satz kann sachlich falsch oder durch die Quelle nicht gestützt sein.</a:t>
            </a:r>
          </a:p>
        </p:txBody>
      </p:sp>
      <p:sp>
        <p:nvSpPr>
          <p:cNvPr id="8" name="text-7">
            <a:extLst xmlns:a="http://schemas.openxmlformats.org/drawingml/2006/main">
              <a:ext uri="{FF2B5EF4-FFF2-40B4-BE49-F238E27FC236}">
                <a16:creationId xmlns:a16="http://schemas.microsoft.com/office/drawing/2014/main" id="{CA32985B-27DB-4843-A531-90C002CA2EE3}"/>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vl1pPr>
              <a:defRPr sz="1350" b="0">
                <a:solidFill>
                  <a:srgbClr val="52647A"/>
                </a:solidFill>
                <a:latin typeface="Arial"/>
                <a:ea typeface="Arial"/>
                <a:cs typeface="Arial"/>
              </a:defRPr>
            </a:lvl1pPr>
            <a:lvl2pPr>
              <a:defRPr sz="1350" b="0">
                <a:solidFill>
                  <a:srgbClr val="52647A"/>
                </a:solidFill>
                <a:latin typeface="Arial"/>
                <a:ea typeface="Arial"/>
                <a:cs typeface="Arial"/>
              </a:defRPr>
            </a:lvl2pPr>
            <a:lvl3pPr>
              <a:defRPr sz="1350" b="0">
                <a:solidFill>
                  <a:srgbClr val="52647A"/>
                </a:solidFill>
                <a:latin typeface="Arial"/>
                <a:ea typeface="Arial"/>
                <a:cs typeface="Arial"/>
              </a:defRPr>
            </a:lvl3pPr>
            <a:lvl4pPr>
              <a:defRPr sz="1350" b="0">
                <a:solidFill>
                  <a:srgbClr val="52647A"/>
                </a:solidFill>
                <a:latin typeface="Arial"/>
                <a:ea typeface="Arial"/>
                <a:cs typeface="Arial"/>
              </a:defRPr>
            </a:lvl4pPr>
            <a:lvl5pPr>
              <a:defRPr sz="1350" b="0">
                <a:solidFill>
                  <a:srgbClr val="52647A"/>
                </a:solidFill>
                <a:latin typeface="Arial"/>
                <a:ea typeface="Arial"/>
                <a:cs typeface="Arial"/>
              </a:defRPr>
            </a:lvl5pPr>
            <a:lvl6pPr>
              <a:defRPr sz="1350" b="0">
                <a:solidFill>
                  <a:srgbClr val="52647A"/>
                </a:solidFill>
                <a:latin typeface="Arial"/>
                <a:ea typeface="Arial"/>
                <a:cs typeface="Arial"/>
              </a:defRPr>
            </a:lvl6pPr>
            <a:lvl7pPr>
              <a:defRPr sz="1350" b="0">
                <a:solidFill>
                  <a:srgbClr val="52647A"/>
                </a:solidFill>
                <a:latin typeface="Arial"/>
                <a:ea typeface="Arial"/>
                <a:cs typeface="Arial"/>
              </a:defRPr>
            </a:lvl7pPr>
            <a:lvl8pPr>
              <a:defRPr sz="1350" b="0">
                <a:solidFill>
                  <a:srgbClr val="52647A"/>
                </a:solidFill>
                <a:latin typeface="Arial"/>
                <a:ea typeface="Arial"/>
                <a:cs typeface="Arial"/>
              </a:defRPr>
            </a:lvl8pPr>
            <a:lvl9pPr>
              <a:defRPr sz="1350" b="0">
                <a:solidFill>
                  <a:srgbClr val="52647A"/>
                </a:solidFill>
                <a:latin typeface="Arial"/>
                <a:ea typeface="Arial"/>
                <a:cs typeface="Arial"/>
              </a:defRPr>
            </a:lvl9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11  CUR-013</a:t>
            </a:r>
          </a:p>
        </p:txBody>
      </p:sp>
    </p:spTree>
    <p:extLst>
      <p:ext uri="{BB962C8B-B14F-4D97-AF65-F5344CB8AC3E}">
        <p14:creationId xmlns:p14="http://schemas.microsoft.com/office/powerpoint/2010/main" val="473871493"/>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text-0">
            <a:extLst xmlns:a="http://schemas.openxmlformats.org/drawingml/2006/main">
              <a:ext uri="{FF2B5EF4-FFF2-40B4-BE49-F238E27FC236}">
                <a16:creationId xmlns:a16="http://schemas.microsoft.com/office/drawing/2014/main" id="{47258212-8CF1-4665-838C-1B88BCE63D86}"/>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vl1pPr>
              <a:defRPr sz="3300" b="1">
                <a:solidFill>
                  <a:srgbClr val="15283D"/>
                </a:solidFill>
                <a:latin typeface="Arial"/>
                <a:ea typeface="Arial"/>
                <a:cs typeface="Arial"/>
              </a:defRPr>
            </a:lvl1pPr>
            <a:lvl2pPr>
              <a:defRPr sz="3300" b="1">
                <a:solidFill>
                  <a:srgbClr val="15283D"/>
                </a:solidFill>
                <a:latin typeface="Arial"/>
                <a:ea typeface="Arial"/>
                <a:cs typeface="Arial"/>
              </a:defRPr>
            </a:lvl2pPr>
            <a:lvl3pPr>
              <a:defRPr sz="3300" b="1">
                <a:solidFill>
                  <a:srgbClr val="15283D"/>
                </a:solidFill>
                <a:latin typeface="Arial"/>
                <a:ea typeface="Arial"/>
                <a:cs typeface="Arial"/>
              </a:defRPr>
            </a:lvl3pPr>
            <a:lvl4pPr>
              <a:defRPr sz="3300" b="1">
                <a:solidFill>
                  <a:srgbClr val="15283D"/>
                </a:solidFill>
                <a:latin typeface="Arial"/>
                <a:ea typeface="Arial"/>
                <a:cs typeface="Arial"/>
              </a:defRPr>
            </a:lvl4pPr>
            <a:lvl5pPr>
              <a:defRPr sz="3300" b="1">
                <a:solidFill>
                  <a:srgbClr val="15283D"/>
                </a:solidFill>
                <a:latin typeface="Arial"/>
                <a:ea typeface="Arial"/>
                <a:cs typeface="Arial"/>
              </a:defRPr>
            </a:lvl5pPr>
            <a:lvl6pPr>
              <a:defRPr sz="3300" b="1">
                <a:solidFill>
                  <a:srgbClr val="15283D"/>
                </a:solidFill>
                <a:latin typeface="Arial"/>
                <a:ea typeface="Arial"/>
                <a:cs typeface="Arial"/>
              </a:defRPr>
            </a:lvl6pPr>
            <a:lvl7pPr>
              <a:defRPr sz="3300" b="1">
                <a:solidFill>
                  <a:srgbClr val="15283D"/>
                </a:solidFill>
                <a:latin typeface="Arial"/>
                <a:ea typeface="Arial"/>
                <a:cs typeface="Arial"/>
              </a:defRPr>
            </a:lvl7pPr>
            <a:lvl8pPr>
              <a:defRPr sz="3300" b="1">
                <a:solidFill>
                  <a:srgbClr val="15283D"/>
                </a:solidFill>
                <a:latin typeface="Arial"/>
                <a:ea typeface="Arial"/>
                <a:cs typeface="Arial"/>
              </a:defRPr>
            </a:lvl8pPr>
            <a:lvl9pPr>
              <a:defRPr sz="3300" b="1">
                <a:solidFill>
                  <a:srgbClr val="15283D"/>
                </a:solidFill>
                <a:latin typeface="Arial"/>
                <a:ea typeface="Arial"/>
                <a:cs typeface="Arial"/>
              </a:defRPr>
            </a:lvl9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Tokens und Textlänge</a:t>
            </a:r>
          </a:p>
        </p:txBody>
      </p:sp>
      <p:sp>
        <p:nvSpPr>
          <p:cNvPr id="2" name="text-1">
            <a:extLst xmlns:a="http://schemas.openxmlformats.org/drawingml/2006/main">
              <a:ext uri="{FF2B5EF4-FFF2-40B4-BE49-F238E27FC236}">
                <a16:creationId xmlns:a16="http://schemas.microsoft.com/office/drawing/2014/main" id="{7C9B9028-555B-4759-A909-524E955E03AE}"/>
              </a:ext>
            </a:extLst>
          </p:cNvPr>
          <p:cNvSpPr>
            <a:spLocks xmlns:a="http://schemas.openxmlformats.org/drawingml/2006/main" noGrp="1"/>
          </p:cNvSpPr>
          <p:nvPr/>
        </p:nvSpPr>
        <p:spPr>
          <a:xfrm xmlns:a="http://schemas.openxmlformats.org/drawingml/2006/main">
            <a:off x="685800" y="177165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Token</a:t>
            </a:r>
          </a:p>
        </p:txBody>
      </p:sp>
      <p:sp>
        <p:nvSpPr>
          <p:cNvPr id="3" name="text-2">
            <a:extLst xmlns:a="http://schemas.openxmlformats.org/drawingml/2006/main">
              <a:ext uri="{FF2B5EF4-FFF2-40B4-BE49-F238E27FC236}">
                <a16:creationId xmlns:a16="http://schemas.microsoft.com/office/drawing/2014/main" id="{F414E8B3-167F-48D8-8370-B2395F086185}"/>
              </a:ext>
            </a:extLst>
          </p:cNvPr>
          <p:cNvSpPr>
            <a:spLocks xmlns:a="http://schemas.openxmlformats.org/drawingml/2006/main" noGrp="1"/>
          </p:cNvSpPr>
          <p:nvPr/>
        </p:nvSpPr>
        <p:spPr>
          <a:xfrm xmlns:a="http://schemas.openxmlformats.org/drawingml/2006/main">
            <a:off x="3190875" y="177165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Eine Verarbeitungseinheit des konkreten Sprachmodells. Ein Token kann einen Wortteil darstellen.</a:t>
            </a:r>
          </a:p>
        </p:txBody>
      </p:sp>
      <p:sp>
        <p:nvSpPr>
          <p:cNvPr id="4" name="text-3">
            <a:extLst xmlns:a="http://schemas.openxmlformats.org/drawingml/2006/main">
              <a:ext uri="{FF2B5EF4-FFF2-40B4-BE49-F238E27FC236}">
                <a16:creationId xmlns:a16="http://schemas.microsoft.com/office/drawing/2014/main" id="{2E0F4076-9D0C-4ECD-9C18-7FDD07A9E42B}"/>
              </a:ext>
            </a:extLst>
          </p:cNvPr>
          <p:cNvSpPr>
            <a:spLocks xmlns:a="http://schemas.openxmlformats.org/drawingml/2006/main" noGrp="1"/>
          </p:cNvSpPr>
          <p:nvPr/>
        </p:nvSpPr>
        <p:spPr>
          <a:xfrm xmlns:a="http://schemas.openxmlformats.org/drawingml/2006/main">
            <a:off x="685800" y="3057525"/>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Tokenizer</a:t>
            </a:r>
          </a:p>
        </p:txBody>
      </p:sp>
      <p:sp>
        <p:nvSpPr>
          <p:cNvPr id="5" name="text-4">
            <a:extLst xmlns:a="http://schemas.openxmlformats.org/drawingml/2006/main">
              <a:ext uri="{FF2B5EF4-FFF2-40B4-BE49-F238E27FC236}">
                <a16:creationId xmlns:a16="http://schemas.microsoft.com/office/drawing/2014/main" id="{4FD53D5C-D2AC-4160-97A2-651562CDED4F}"/>
              </a:ext>
            </a:extLst>
          </p:cNvPr>
          <p:cNvSpPr>
            <a:spLocks xmlns:a="http://schemas.openxmlformats.org/drawingml/2006/main" noGrp="1"/>
          </p:cNvSpPr>
          <p:nvPr/>
        </p:nvSpPr>
        <p:spPr>
          <a:xfrm xmlns:a="http://schemas.openxmlformats.org/drawingml/2006/main">
            <a:off x="3190875" y="3057525"/>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Er zerlegt den Text nach den Regeln des verwendeten Modells.</a:t>
            </a:r>
          </a:p>
        </p:txBody>
      </p:sp>
      <p:sp>
        <p:nvSpPr>
          <p:cNvPr id="6" name="text-5">
            <a:extLst xmlns:a="http://schemas.openxmlformats.org/drawingml/2006/main">
              <a:ext uri="{FF2B5EF4-FFF2-40B4-BE49-F238E27FC236}">
                <a16:creationId xmlns:a16="http://schemas.microsoft.com/office/drawing/2014/main" id="{C4F296F3-2354-485B-B7C5-CCC36D3126CF}"/>
              </a:ext>
            </a:extLst>
          </p:cNvPr>
          <p:cNvSpPr>
            <a:spLocks xmlns:a="http://schemas.openxmlformats.org/drawingml/2006/main" noGrp="1"/>
          </p:cNvSpPr>
          <p:nvPr/>
        </p:nvSpPr>
        <p:spPr>
          <a:xfrm xmlns:a="http://schemas.openxmlformats.org/drawingml/2006/main">
            <a:off x="685800" y="434340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Folge</a:t>
            </a:r>
          </a:p>
        </p:txBody>
      </p:sp>
      <p:sp>
        <p:nvSpPr>
          <p:cNvPr id="7" name="text-6">
            <a:extLst xmlns:a="http://schemas.openxmlformats.org/drawingml/2006/main">
              <a:ext uri="{FF2B5EF4-FFF2-40B4-BE49-F238E27FC236}">
                <a16:creationId xmlns:a16="http://schemas.microsoft.com/office/drawing/2014/main" id="{6CFA20BA-4FE4-494B-AE0A-E46572F647B3}"/>
              </a:ext>
            </a:extLst>
          </p:cNvPr>
          <p:cNvSpPr>
            <a:spLocks xmlns:a="http://schemas.openxmlformats.org/drawingml/2006/main" noGrp="1"/>
          </p:cNvSpPr>
          <p:nvPr/>
        </p:nvSpPr>
        <p:spPr>
          <a:xfrm xmlns:a="http://schemas.openxmlformats.org/drawingml/2006/main">
            <a:off x="3190875" y="434340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Zeichenanzahl und Tokenanzahl sind verschieden. Beide Grenzen müssen zum jeweiligen Schritt passen.</a:t>
            </a:r>
          </a:p>
        </p:txBody>
      </p:sp>
      <p:sp>
        <p:nvSpPr>
          <p:cNvPr id="8" name="text-7">
            <a:extLst xmlns:a="http://schemas.openxmlformats.org/drawingml/2006/main">
              <a:ext uri="{FF2B5EF4-FFF2-40B4-BE49-F238E27FC236}">
                <a16:creationId xmlns:a16="http://schemas.microsoft.com/office/drawing/2014/main" id="{58D27E01-A1D6-4FF6-A00A-F9538C055987}"/>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vl1pPr>
              <a:defRPr sz="1350" b="0">
                <a:solidFill>
                  <a:srgbClr val="52647A"/>
                </a:solidFill>
                <a:latin typeface="Arial"/>
                <a:ea typeface="Arial"/>
                <a:cs typeface="Arial"/>
              </a:defRPr>
            </a:lvl1pPr>
            <a:lvl2pPr>
              <a:defRPr sz="1350" b="0">
                <a:solidFill>
                  <a:srgbClr val="52647A"/>
                </a:solidFill>
                <a:latin typeface="Arial"/>
                <a:ea typeface="Arial"/>
                <a:cs typeface="Arial"/>
              </a:defRPr>
            </a:lvl2pPr>
            <a:lvl3pPr>
              <a:defRPr sz="1350" b="0">
                <a:solidFill>
                  <a:srgbClr val="52647A"/>
                </a:solidFill>
                <a:latin typeface="Arial"/>
                <a:ea typeface="Arial"/>
                <a:cs typeface="Arial"/>
              </a:defRPr>
            </a:lvl3pPr>
            <a:lvl4pPr>
              <a:defRPr sz="1350" b="0">
                <a:solidFill>
                  <a:srgbClr val="52647A"/>
                </a:solidFill>
                <a:latin typeface="Arial"/>
                <a:ea typeface="Arial"/>
                <a:cs typeface="Arial"/>
              </a:defRPr>
            </a:lvl4pPr>
            <a:lvl5pPr>
              <a:defRPr sz="1350" b="0">
                <a:solidFill>
                  <a:srgbClr val="52647A"/>
                </a:solidFill>
                <a:latin typeface="Arial"/>
                <a:ea typeface="Arial"/>
                <a:cs typeface="Arial"/>
              </a:defRPr>
            </a:lvl5pPr>
            <a:lvl6pPr>
              <a:defRPr sz="1350" b="0">
                <a:solidFill>
                  <a:srgbClr val="52647A"/>
                </a:solidFill>
                <a:latin typeface="Arial"/>
                <a:ea typeface="Arial"/>
                <a:cs typeface="Arial"/>
              </a:defRPr>
            </a:lvl6pPr>
            <a:lvl7pPr>
              <a:defRPr sz="1350" b="0">
                <a:solidFill>
                  <a:srgbClr val="52647A"/>
                </a:solidFill>
                <a:latin typeface="Arial"/>
                <a:ea typeface="Arial"/>
                <a:cs typeface="Arial"/>
              </a:defRPr>
            </a:lvl7pPr>
            <a:lvl8pPr>
              <a:defRPr sz="1350" b="0">
                <a:solidFill>
                  <a:srgbClr val="52647A"/>
                </a:solidFill>
                <a:latin typeface="Arial"/>
                <a:ea typeface="Arial"/>
                <a:cs typeface="Arial"/>
              </a:defRPr>
            </a:lvl8pPr>
            <a:lvl9pPr>
              <a:defRPr sz="1350" b="0">
                <a:solidFill>
                  <a:srgbClr val="52647A"/>
                </a:solidFill>
                <a:latin typeface="Arial"/>
                <a:ea typeface="Arial"/>
                <a:cs typeface="Arial"/>
              </a:defRPr>
            </a:lvl9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12  CUR-013 / CUR-015</a:t>
            </a:r>
          </a:p>
        </p:txBody>
      </p:sp>
    </p:spTree>
    <p:extLst>
      <p:ext uri="{BB962C8B-B14F-4D97-AF65-F5344CB8AC3E}">
        <p14:creationId xmlns:p14="http://schemas.microsoft.com/office/powerpoint/2010/main" val="388723593"/>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0">
            <a:extLst xmlns:a="http://schemas.openxmlformats.org/drawingml/2006/main">
              <a:ext uri="{FF2B5EF4-FFF2-40B4-BE49-F238E27FC236}">
                <a16:creationId xmlns:a16="http://schemas.microsoft.com/office/drawing/2014/main" id="{35642403-95AB-48C1-B5FB-B122C6024B1E}"/>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vl1pPr>
              <a:defRPr sz="3300" b="1">
                <a:solidFill>
                  <a:srgbClr val="15283D"/>
                </a:solidFill>
                <a:latin typeface="Arial"/>
                <a:ea typeface="Arial"/>
                <a:cs typeface="Arial"/>
              </a:defRPr>
            </a:lvl1pPr>
            <a:lvl2pPr>
              <a:defRPr sz="3300" b="1">
                <a:solidFill>
                  <a:srgbClr val="15283D"/>
                </a:solidFill>
                <a:latin typeface="Arial"/>
                <a:ea typeface="Arial"/>
                <a:cs typeface="Arial"/>
              </a:defRPr>
            </a:lvl2pPr>
            <a:lvl3pPr>
              <a:defRPr sz="3300" b="1">
                <a:solidFill>
                  <a:srgbClr val="15283D"/>
                </a:solidFill>
                <a:latin typeface="Arial"/>
                <a:ea typeface="Arial"/>
                <a:cs typeface="Arial"/>
              </a:defRPr>
            </a:lvl3pPr>
            <a:lvl4pPr>
              <a:defRPr sz="3300" b="1">
                <a:solidFill>
                  <a:srgbClr val="15283D"/>
                </a:solidFill>
                <a:latin typeface="Arial"/>
                <a:ea typeface="Arial"/>
                <a:cs typeface="Arial"/>
              </a:defRPr>
            </a:lvl4pPr>
            <a:lvl5pPr>
              <a:defRPr sz="3300" b="1">
                <a:solidFill>
                  <a:srgbClr val="15283D"/>
                </a:solidFill>
                <a:latin typeface="Arial"/>
                <a:ea typeface="Arial"/>
                <a:cs typeface="Arial"/>
              </a:defRPr>
            </a:lvl5pPr>
            <a:lvl6pPr>
              <a:defRPr sz="3300" b="1">
                <a:solidFill>
                  <a:srgbClr val="15283D"/>
                </a:solidFill>
                <a:latin typeface="Arial"/>
                <a:ea typeface="Arial"/>
                <a:cs typeface="Arial"/>
              </a:defRPr>
            </a:lvl6pPr>
            <a:lvl7pPr>
              <a:defRPr sz="3300" b="1">
                <a:solidFill>
                  <a:srgbClr val="15283D"/>
                </a:solidFill>
                <a:latin typeface="Arial"/>
                <a:ea typeface="Arial"/>
                <a:cs typeface="Arial"/>
              </a:defRPr>
            </a:lvl7pPr>
            <a:lvl8pPr>
              <a:defRPr sz="3300" b="1">
                <a:solidFill>
                  <a:srgbClr val="15283D"/>
                </a:solidFill>
                <a:latin typeface="Arial"/>
                <a:ea typeface="Arial"/>
                <a:cs typeface="Arial"/>
              </a:defRPr>
            </a:lvl8pPr>
            <a:lvl9pPr>
              <a:defRPr sz="3300" b="1">
                <a:solidFill>
                  <a:srgbClr val="15283D"/>
                </a:solidFill>
                <a:latin typeface="Arial"/>
                <a:ea typeface="Arial"/>
                <a:cs typeface="Arial"/>
              </a:defRPr>
            </a:lvl9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SQL Server, Modell und Anwendung</a:t>
            </a:r>
          </a:p>
        </p:txBody>
      </p:sp>
      <p:graphicFrame>
        <p:nvGraphicFramePr>
          <p:cNvPr id="2" name="">
            <a:extLst xmlns:a="http://schemas.openxmlformats.org/drawingml/2006/main">
              <a:ext uri="{FF2B5EF4-FFF2-40B4-BE49-F238E27FC236}">
                <a16:creationId xmlns:a16="http://schemas.microsoft.com/office/drawing/2014/main" id="{D6C45F11-B5E3-4CB7-BB86-D94065B45F1F}"/>
              </a:ext>
            </a:extLst>
          </p:cNvPr>
          <p:cNvGraphicFramePr/>
          <p:nvPr/>
        </p:nvGraphicFramePr>
        <p:xfrm>
          <a:off xmlns:a="http://schemas.openxmlformats.org/drawingml/2006/main" x="685800" y="1771650"/>
          <a:ext xmlns:a="http://schemas.openxmlformats.org/drawingml/2006/main" cx="10668000" cy="3143250"/>
        </p:xfrm>
        <a:graphic xmlns:a="http://schemas.openxmlformats.org/drawingml/2006/main">
          <a:graphicData uri="http://schemas.openxmlformats.org/drawingml/2006/table">
            <a:tbl>
              <a:tblPr/>
              <a:tblGrid>
                <a:gridCol w="3143250"/>
                <a:gridCol w="7524750"/>
              </a:tblGrid>
              <a:tr h="785813">
                <a:tc>
                  <a:txBody>
                    <a:bodyPr/>
                    <a:lstStyle/>
                    <a:p>
                      <a:r>
                        <a:rPr sz="1800" b="1">
                          <a:solidFill>
                            <a:srgbClr val="15283D"/>
                          </a:solidFill>
                          <a:latin typeface="Arial"/>
                          <a:ea typeface="Arial"/>
                          <a:cs typeface="Arial"/>
                        </a:rPr>
                        <a:t>Komponente</a:t>
                      </a:r>
                    </a:p>
                  </a:txBody>
                  <a:tcPr marL="114300" marR="114300" marT="47625" marB="47625" anchor="ctr">
                    <a:lnL w="9525">
                      <a:solidFill>
                        <a:srgbClr val="C8D5DE"/>
                      </a:solidFill>
                      <a:prstDash val="solid"/>
                    </a:lnL>
                    <a:lnR w="9525">
                      <a:solidFill>
                        <a:srgbClr val="C8D5DE"/>
                      </a:solidFill>
                      <a:prstDash val="solid"/>
                    </a:lnR>
                    <a:lnT w="9525">
                      <a:solidFill>
                        <a:srgbClr val="C8D5DE"/>
                      </a:solidFill>
                      <a:prstDash val="solid"/>
                    </a:lnT>
                    <a:lnB w="9525">
                      <a:solidFill>
                        <a:srgbClr val="C8D5DE"/>
                      </a:solidFill>
                      <a:prstDash val="solid"/>
                    </a:lnB>
                    <a:solidFill>
                      <a:srgbClr val="E8F2F2"/>
                    </a:solidFill>
                  </a:tcPr>
                </a:tc>
                <a:tc>
                  <a:txBody>
                    <a:bodyPr/>
                    <a:lstStyle/>
                    <a:p>
                      <a:r>
                        <a:rPr sz="1800" b="1">
                          <a:solidFill>
                            <a:srgbClr val="15283D"/>
                          </a:solidFill>
                          <a:latin typeface="Arial"/>
                          <a:ea typeface="Arial"/>
                          <a:cs typeface="Arial"/>
                        </a:rPr>
                        <a:t>Aufgabe im Wissensbasisfall</a:t>
                      </a:r>
                    </a:p>
                  </a:txBody>
                  <a:tcPr marL="114300" marR="114300" marT="47625" marB="47625" anchor="ctr">
                    <a:lnR w="9525">
                      <a:solidFill>
                        <a:srgbClr val="C8D5DE"/>
                      </a:solidFill>
                      <a:prstDash val="solid"/>
                    </a:lnR>
                    <a:lnT w="9525">
                      <a:solidFill>
                        <a:srgbClr val="C8D5DE"/>
                      </a:solidFill>
                      <a:prstDash val="solid"/>
                    </a:lnT>
                    <a:lnB w="9525">
                      <a:solidFill>
                        <a:srgbClr val="C8D5DE"/>
                      </a:solidFill>
                      <a:prstDash val="solid"/>
                    </a:lnB>
                    <a:solidFill>
                      <a:srgbClr val="E8F2F2"/>
                    </a:solidFill>
                  </a:tcPr>
                </a:tc>
              </a:tr>
              <a:tr h="785813">
                <a:tc>
                  <a:txBody>
                    <a:bodyPr/>
                    <a:lstStyle/>
                    <a:p>
                      <a:r>
                        <a:rPr sz="1800" b="0">
                          <a:solidFill>
                            <a:srgbClr val="15283D"/>
                          </a:solidFill>
                          <a:latin typeface="Arial"/>
                          <a:ea typeface="Arial"/>
                          <a:cs typeface="Arial"/>
                        </a:rPr>
                        <a:t>SQL Server</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Speichert Dokumente und liefert erlaubte Daten.</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r h="785813">
                <a:tc>
                  <a:txBody>
                    <a:bodyPr/>
                    <a:lstStyle/>
                    <a:p>
                      <a:r>
                        <a:rPr sz="1800" b="0">
                          <a:solidFill>
                            <a:srgbClr val="15283D"/>
                          </a:solidFill>
                          <a:latin typeface="Arial"/>
                          <a:ea typeface="Arial"/>
                          <a:cs typeface="Arial"/>
                        </a:rPr>
                        <a:t>Modell</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Verarbeitet bereitgestellte Eingaben für seine Aufgabe.</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r h="785813">
                <a:tc>
                  <a:txBody>
                    <a:bodyPr/>
                    <a:lstStyle/>
                    <a:p>
                      <a:r>
                        <a:rPr sz="1800" b="0">
                          <a:solidFill>
                            <a:srgbClr val="15283D"/>
                          </a:solidFill>
                          <a:latin typeface="Arial"/>
                          <a:ea typeface="Arial"/>
                          <a:cs typeface="Arial"/>
                        </a:rPr>
                        <a:t>Anwendung</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Vermittelt die Frage, sucht Quellen und prüft die Antwort.</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bl>
          </a:graphicData>
        </a:graphic>
      </p:graphicFrame>
      <p:sp>
        <p:nvSpPr>
          <p:cNvPr id="3" name="text-1">
            <a:extLst xmlns:a="http://schemas.openxmlformats.org/drawingml/2006/main">
              <a:ext uri="{FF2B5EF4-FFF2-40B4-BE49-F238E27FC236}">
                <a16:creationId xmlns:a16="http://schemas.microsoft.com/office/drawing/2014/main" id="{8A9A7001-550D-498C-9BEE-E8A324AD207C}"/>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vl1pPr>
              <a:defRPr sz="1350" b="0">
                <a:solidFill>
                  <a:srgbClr val="52647A"/>
                </a:solidFill>
                <a:latin typeface="Arial"/>
                <a:ea typeface="Arial"/>
                <a:cs typeface="Arial"/>
              </a:defRPr>
            </a:lvl1pPr>
            <a:lvl2pPr>
              <a:defRPr sz="1350" b="0">
                <a:solidFill>
                  <a:srgbClr val="52647A"/>
                </a:solidFill>
                <a:latin typeface="Arial"/>
                <a:ea typeface="Arial"/>
                <a:cs typeface="Arial"/>
              </a:defRPr>
            </a:lvl2pPr>
            <a:lvl3pPr>
              <a:defRPr sz="1350" b="0">
                <a:solidFill>
                  <a:srgbClr val="52647A"/>
                </a:solidFill>
                <a:latin typeface="Arial"/>
                <a:ea typeface="Arial"/>
                <a:cs typeface="Arial"/>
              </a:defRPr>
            </a:lvl3pPr>
            <a:lvl4pPr>
              <a:defRPr sz="1350" b="0">
                <a:solidFill>
                  <a:srgbClr val="52647A"/>
                </a:solidFill>
                <a:latin typeface="Arial"/>
                <a:ea typeface="Arial"/>
                <a:cs typeface="Arial"/>
              </a:defRPr>
            </a:lvl4pPr>
            <a:lvl5pPr>
              <a:defRPr sz="1350" b="0">
                <a:solidFill>
                  <a:srgbClr val="52647A"/>
                </a:solidFill>
                <a:latin typeface="Arial"/>
                <a:ea typeface="Arial"/>
                <a:cs typeface="Arial"/>
              </a:defRPr>
            </a:lvl5pPr>
            <a:lvl6pPr>
              <a:defRPr sz="1350" b="0">
                <a:solidFill>
                  <a:srgbClr val="52647A"/>
                </a:solidFill>
                <a:latin typeface="Arial"/>
                <a:ea typeface="Arial"/>
                <a:cs typeface="Arial"/>
              </a:defRPr>
            </a:lvl6pPr>
            <a:lvl7pPr>
              <a:defRPr sz="1350" b="0">
                <a:solidFill>
                  <a:srgbClr val="52647A"/>
                </a:solidFill>
                <a:latin typeface="Arial"/>
                <a:ea typeface="Arial"/>
                <a:cs typeface="Arial"/>
              </a:defRPr>
            </a:lvl7pPr>
            <a:lvl8pPr>
              <a:defRPr sz="1350" b="0">
                <a:solidFill>
                  <a:srgbClr val="52647A"/>
                </a:solidFill>
                <a:latin typeface="Arial"/>
                <a:ea typeface="Arial"/>
                <a:cs typeface="Arial"/>
              </a:defRPr>
            </a:lvl8pPr>
            <a:lvl9pPr>
              <a:defRPr sz="1350" b="0">
                <a:solidFill>
                  <a:srgbClr val="52647A"/>
                </a:solidFill>
                <a:latin typeface="Arial"/>
                <a:ea typeface="Arial"/>
                <a:cs typeface="Arial"/>
              </a:defRPr>
            </a:lvl9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13  CUR-013 / CUR-016</a:t>
            </a:r>
          </a:p>
        </p:txBody>
      </p:sp>
    </p:spTree>
    <p:extLst>
      <p:ext uri="{BB962C8B-B14F-4D97-AF65-F5344CB8AC3E}">
        <p14:creationId xmlns:p14="http://schemas.microsoft.com/office/powerpoint/2010/main" val="866252657"/>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text-0">
            <a:extLst xmlns:a="http://schemas.openxmlformats.org/drawingml/2006/main">
              <a:ext uri="{FF2B5EF4-FFF2-40B4-BE49-F238E27FC236}">
                <a16:creationId xmlns:a16="http://schemas.microsoft.com/office/drawing/2014/main" id="{1A0A1E3A-B7A0-48CD-94D7-18453D85B7C7}"/>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vl1pPr>
              <a:defRPr sz="3300" b="1">
                <a:solidFill>
                  <a:srgbClr val="15283D"/>
                </a:solidFill>
                <a:latin typeface="Arial"/>
                <a:ea typeface="Arial"/>
                <a:cs typeface="Arial"/>
              </a:defRPr>
            </a:lvl1pPr>
            <a:lvl2pPr>
              <a:defRPr sz="3300" b="1">
                <a:solidFill>
                  <a:srgbClr val="15283D"/>
                </a:solidFill>
                <a:latin typeface="Arial"/>
                <a:ea typeface="Arial"/>
                <a:cs typeface="Arial"/>
              </a:defRPr>
            </a:lvl2pPr>
            <a:lvl3pPr>
              <a:defRPr sz="3300" b="1">
                <a:solidFill>
                  <a:srgbClr val="15283D"/>
                </a:solidFill>
                <a:latin typeface="Arial"/>
                <a:ea typeface="Arial"/>
                <a:cs typeface="Arial"/>
              </a:defRPr>
            </a:lvl3pPr>
            <a:lvl4pPr>
              <a:defRPr sz="3300" b="1">
                <a:solidFill>
                  <a:srgbClr val="15283D"/>
                </a:solidFill>
                <a:latin typeface="Arial"/>
                <a:ea typeface="Arial"/>
                <a:cs typeface="Arial"/>
              </a:defRPr>
            </a:lvl4pPr>
            <a:lvl5pPr>
              <a:defRPr sz="3300" b="1">
                <a:solidFill>
                  <a:srgbClr val="15283D"/>
                </a:solidFill>
                <a:latin typeface="Arial"/>
                <a:ea typeface="Arial"/>
                <a:cs typeface="Arial"/>
              </a:defRPr>
            </a:lvl5pPr>
            <a:lvl6pPr>
              <a:defRPr sz="3300" b="1">
                <a:solidFill>
                  <a:srgbClr val="15283D"/>
                </a:solidFill>
                <a:latin typeface="Arial"/>
                <a:ea typeface="Arial"/>
                <a:cs typeface="Arial"/>
              </a:defRPr>
            </a:lvl6pPr>
            <a:lvl7pPr>
              <a:defRPr sz="3300" b="1">
                <a:solidFill>
                  <a:srgbClr val="15283D"/>
                </a:solidFill>
                <a:latin typeface="Arial"/>
                <a:ea typeface="Arial"/>
                <a:cs typeface="Arial"/>
              </a:defRPr>
            </a:lvl7pPr>
            <a:lvl8pPr>
              <a:defRPr sz="3300" b="1">
                <a:solidFill>
                  <a:srgbClr val="15283D"/>
                </a:solidFill>
                <a:latin typeface="Arial"/>
                <a:ea typeface="Arial"/>
                <a:cs typeface="Arial"/>
              </a:defRPr>
            </a:lvl8pPr>
            <a:lvl9pPr>
              <a:defRPr sz="3300" b="1">
                <a:solidFill>
                  <a:srgbClr val="15283D"/>
                </a:solidFill>
                <a:latin typeface="Arial"/>
                <a:ea typeface="Arial"/>
                <a:cs typeface="Arial"/>
              </a:defRPr>
            </a:lvl9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Der erste Offlineeinstieg</a:t>
            </a:r>
          </a:p>
        </p:txBody>
      </p:sp>
      <p:sp>
        <p:nvSpPr>
          <p:cNvPr id="2" name="text-1">
            <a:extLst xmlns:a="http://schemas.openxmlformats.org/drawingml/2006/main">
              <a:ext uri="{FF2B5EF4-FFF2-40B4-BE49-F238E27FC236}">
                <a16:creationId xmlns:a16="http://schemas.microsoft.com/office/drawing/2014/main" id="{79D2ED4E-B647-437A-8502-93DBC5044DC1}"/>
              </a:ext>
            </a:extLst>
          </p:cNvPr>
          <p:cNvSpPr>
            <a:spLocks xmlns:a="http://schemas.openxmlformats.org/drawingml/2006/main" noGrp="1"/>
          </p:cNvSpPr>
          <p:nvPr/>
        </p:nvSpPr>
        <p:spPr>
          <a:xfrm xmlns:a="http://schemas.openxmlformats.org/drawingml/2006/main">
            <a:off x="685800" y="177165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Eingaben</a:t>
            </a:r>
          </a:p>
        </p:txBody>
      </p:sp>
      <p:sp>
        <p:nvSpPr>
          <p:cNvPr id="3" name="text-2">
            <a:extLst xmlns:a="http://schemas.openxmlformats.org/drawingml/2006/main">
              <a:ext uri="{FF2B5EF4-FFF2-40B4-BE49-F238E27FC236}">
                <a16:creationId xmlns:a16="http://schemas.microsoft.com/office/drawing/2014/main" id="{0D07AA94-B7BC-4ED5-B575-2051DB37337D}"/>
              </a:ext>
            </a:extLst>
          </p:cNvPr>
          <p:cNvSpPr>
            <a:spLocks xmlns:a="http://schemas.openxmlformats.org/drawingml/2006/main" noGrp="1"/>
          </p:cNvSpPr>
          <p:nvPr/>
        </p:nvSpPr>
        <p:spPr>
          <a:xfrm xmlns:a="http://schemas.openxmlformats.org/drawingml/2006/main">
            <a:off x="3190875" y="177165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Kleine feste Vektoren und synthetische Texte statt eines Live-Modells.</a:t>
            </a:r>
          </a:p>
        </p:txBody>
      </p:sp>
      <p:sp>
        <p:nvSpPr>
          <p:cNvPr id="4" name="text-3">
            <a:extLst xmlns:a="http://schemas.openxmlformats.org/drawingml/2006/main">
              <a:ext uri="{FF2B5EF4-FFF2-40B4-BE49-F238E27FC236}">
                <a16:creationId xmlns:a16="http://schemas.microsoft.com/office/drawing/2014/main" id="{67C5EB25-1BAF-4361-BB90-57F4BBD38B96}"/>
              </a:ext>
            </a:extLst>
          </p:cNvPr>
          <p:cNvSpPr>
            <a:spLocks xmlns:a="http://schemas.openxmlformats.org/drawingml/2006/main" noGrp="1"/>
          </p:cNvSpPr>
          <p:nvPr/>
        </p:nvSpPr>
        <p:spPr>
          <a:xfrm xmlns:a="http://schemas.openxmlformats.org/drawingml/2006/main">
            <a:off x="685800" y="3057525"/>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Zugang</a:t>
            </a:r>
          </a:p>
        </p:txBody>
      </p:sp>
      <p:sp>
        <p:nvSpPr>
          <p:cNvPr id="5" name="text-4">
            <a:extLst xmlns:a="http://schemas.openxmlformats.org/drawingml/2006/main">
              <a:ext uri="{FF2B5EF4-FFF2-40B4-BE49-F238E27FC236}">
                <a16:creationId xmlns:a16="http://schemas.microsoft.com/office/drawing/2014/main" id="{5A5A2DDB-11B3-456D-8F26-1F4FC8E8F38F}"/>
              </a:ext>
            </a:extLst>
          </p:cNvPr>
          <p:cNvSpPr>
            <a:spLocks xmlns:a="http://schemas.openxmlformats.org/drawingml/2006/main" noGrp="1"/>
          </p:cNvSpPr>
          <p:nvPr/>
        </p:nvSpPr>
        <p:spPr>
          <a:xfrm xmlns:a="http://schemas.openxmlformats.org/drawingml/2006/main">
            <a:off x="3190875" y="3057525"/>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Diese ersten Beispiele benötigen weder ChatGPT noch Copilot oder ein Cloudkonto.</a:t>
            </a:r>
          </a:p>
        </p:txBody>
      </p:sp>
      <p:sp>
        <p:nvSpPr>
          <p:cNvPr id="6" name="text-5">
            <a:extLst xmlns:a="http://schemas.openxmlformats.org/drawingml/2006/main">
              <a:ext uri="{FF2B5EF4-FFF2-40B4-BE49-F238E27FC236}">
                <a16:creationId xmlns:a16="http://schemas.microsoft.com/office/drawing/2014/main" id="{CC3ABA03-968D-4AA8-9259-9FBCA004A4ED}"/>
              </a:ext>
            </a:extLst>
          </p:cNvPr>
          <p:cNvSpPr>
            <a:spLocks xmlns:a="http://schemas.openxmlformats.org/drawingml/2006/main" noGrp="1"/>
          </p:cNvSpPr>
          <p:nvPr/>
        </p:nvSpPr>
        <p:spPr>
          <a:xfrm xmlns:a="http://schemas.openxmlformats.org/drawingml/2006/main">
            <a:off x="685800" y="434340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Beobachtung</a:t>
            </a:r>
          </a:p>
        </p:txBody>
      </p:sp>
      <p:sp>
        <p:nvSpPr>
          <p:cNvPr id="7" name="text-6">
            <a:extLst xmlns:a="http://schemas.openxmlformats.org/drawingml/2006/main">
              <a:ext uri="{FF2B5EF4-FFF2-40B4-BE49-F238E27FC236}">
                <a16:creationId xmlns:a16="http://schemas.microsoft.com/office/drawing/2014/main" id="{4C4D6681-5609-4CDC-873E-3C28907A68DA}"/>
              </a:ext>
            </a:extLst>
          </p:cNvPr>
          <p:cNvSpPr>
            <a:spLocks xmlns:a="http://schemas.openxmlformats.org/drawingml/2006/main" noGrp="1"/>
          </p:cNvSpPr>
          <p:nvPr/>
        </p:nvSpPr>
        <p:spPr>
          <a:xfrm xmlns:a="http://schemas.openxmlformats.org/drawingml/2006/main">
            <a:off x="3190875" y="434340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Werte, Rangfolge und Quellen lassen sich gemeinsam erklären. Es gibt keinen Modellrequest.</a:t>
            </a:r>
          </a:p>
        </p:txBody>
      </p:sp>
      <p:sp>
        <p:nvSpPr>
          <p:cNvPr id="8" name="text-7">
            <a:extLst xmlns:a="http://schemas.openxmlformats.org/drawingml/2006/main">
              <a:ext uri="{FF2B5EF4-FFF2-40B4-BE49-F238E27FC236}">
                <a16:creationId xmlns:a16="http://schemas.microsoft.com/office/drawing/2014/main" id="{42BA8FE5-15FB-4901-AEEA-6BE9B23DF496}"/>
              </a:ext>
            </a:extLst>
          </p:cNvPr>
          <p:cNvSpPr>
            <a:spLocks xmlns:a="http://schemas.openxmlformats.org/drawingml/2006/main" noGrp="1"/>
          </p:cNvSpPr>
          <p:nvPr/>
        </p:nvSpPr>
        <p:spPr>
          <a:xfrm xmlns:a="http://schemas.openxmlformats.org/drawingml/2006/main">
            <a:off x="685800" y="5876925"/>
            <a:ext cx="10553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0">
                <a:solidFill>
                  <a:srgbClr val="52647A"/>
                </a:solidFill>
                <a:latin typeface="Arial"/>
                <a:ea typeface="Arial"/>
                <a:cs typeface="Arial"/>
              </a:defRPr>
            </a:defPPr>
            <a:lvl1pPr>
              <a:defRPr sz="1800" b="0">
                <a:solidFill>
                  <a:srgbClr val="52647A"/>
                </a:solidFill>
                <a:latin typeface="Arial"/>
                <a:ea typeface="Arial"/>
                <a:cs typeface="Arial"/>
              </a:defRPr>
            </a:lvl1pPr>
            <a:lvl2pPr>
              <a:defRPr sz="1800" b="0">
                <a:solidFill>
                  <a:srgbClr val="52647A"/>
                </a:solidFill>
                <a:latin typeface="Arial"/>
                <a:ea typeface="Arial"/>
                <a:cs typeface="Arial"/>
              </a:defRPr>
            </a:lvl2pPr>
            <a:lvl3pPr>
              <a:defRPr sz="1800" b="0">
                <a:solidFill>
                  <a:srgbClr val="52647A"/>
                </a:solidFill>
                <a:latin typeface="Arial"/>
                <a:ea typeface="Arial"/>
                <a:cs typeface="Arial"/>
              </a:defRPr>
            </a:lvl3pPr>
            <a:lvl4pPr>
              <a:defRPr sz="1800" b="0">
                <a:solidFill>
                  <a:srgbClr val="52647A"/>
                </a:solidFill>
                <a:latin typeface="Arial"/>
                <a:ea typeface="Arial"/>
                <a:cs typeface="Arial"/>
              </a:defRPr>
            </a:lvl4pPr>
            <a:lvl5pPr>
              <a:defRPr sz="1800" b="0">
                <a:solidFill>
                  <a:srgbClr val="52647A"/>
                </a:solidFill>
                <a:latin typeface="Arial"/>
                <a:ea typeface="Arial"/>
                <a:cs typeface="Arial"/>
              </a:defRPr>
            </a:lvl5pPr>
            <a:lvl6pPr>
              <a:defRPr sz="1800" b="0">
                <a:solidFill>
                  <a:srgbClr val="52647A"/>
                </a:solidFill>
                <a:latin typeface="Arial"/>
                <a:ea typeface="Arial"/>
                <a:cs typeface="Arial"/>
              </a:defRPr>
            </a:lvl6pPr>
            <a:lvl7pPr>
              <a:defRPr sz="1800" b="0">
                <a:solidFill>
                  <a:srgbClr val="52647A"/>
                </a:solidFill>
                <a:latin typeface="Arial"/>
                <a:ea typeface="Arial"/>
                <a:cs typeface="Arial"/>
              </a:defRPr>
            </a:lvl7pPr>
            <a:lvl8pPr>
              <a:defRPr sz="1800" b="0">
                <a:solidFill>
                  <a:srgbClr val="52647A"/>
                </a:solidFill>
                <a:latin typeface="Arial"/>
                <a:ea typeface="Arial"/>
                <a:cs typeface="Arial"/>
              </a:defRPr>
            </a:lvl8pPr>
            <a:lvl9pPr>
              <a:defRPr sz="1800" b="0">
                <a:solidFill>
                  <a:srgbClr val="52647A"/>
                </a:solidFill>
                <a:latin typeface="Arial"/>
                <a:ea typeface="Arial"/>
                <a:cs typeface="Arial"/>
              </a:defRPr>
            </a:lvl9pPr>
          </a:lstStyle>
          <a:p xmlns:a="http://schemas.openxmlformats.org/drawingml/2006/main">
            <a:pPr>
              <a:defRPr sz="1800" b="0">
                <a:solidFill>
                  <a:srgbClr val="52647A"/>
                </a:solidFill>
                <a:latin typeface="Arial"/>
                <a:ea typeface="Arial"/>
                <a:cs typeface="Arial"/>
              </a:defRPr>
            </a:pPr>
            <a:r>
              <a:rPr sz="1800" b="0">
                <a:solidFill>
                  <a:srgbClr val="52647A"/>
                </a:solidFill>
                <a:latin typeface="Arial"/>
                <a:ea typeface="Arial"/>
                <a:cs typeface="Arial"/>
              </a:rPr>
              <a:t>Für die praktische Vorführung genügt die vorbereitete SQL-Testinstanz mit einem Queryclient.</a:t>
            </a:r>
          </a:p>
        </p:txBody>
      </p:sp>
      <p:sp>
        <p:nvSpPr>
          <p:cNvPr id="9" name="text-8">
            <a:extLst xmlns:a="http://schemas.openxmlformats.org/drawingml/2006/main">
              <a:ext uri="{FF2B5EF4-FFF2-40B4-BE49-F238E27FC236}">
                <a16:creationId xmlns:a16="http://schemas.microsoft.com/office/drawing/2014/main" id="{9890FE51-9972-4326-8302-127A636987FF}"/>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vl1pPr>
              <a:defRPr sz="1350" b="0">
                <a:solidFill>
                  <a:srgbClr val="52647A"/>
                </a:solidFill>
                <a:latin typeface="Arial"/>
                <a:ea typeface="Arial"/>
                <a:cs typeface="Arial"/>
              </a:defRPr>
            </a:lvl1pPr>
            <a:lvl2pPr>
              <a:defRPr sz="1350" b="0">
                <a:solidFill>
                  <a:srgbClr val="52647A"/>
                </a:solidFill>
                <a:latin typeface="Arial"/>
                <a:ea typeface="Arial"/>
                <a:cs typeface="Arial"/>
              </a:defRPr>
            </a:lvl2pPr>
            <a:lvl3pPr>
              <a:defRPr sz="1350" b="0">
                <a:solidFill>
                  <a:srgbClr val="52647A"/>
                </a:solidFill>
                <a:latin typeface="Arial"/>
                <a:ea typeface="Arial"/>
                <a:cs typeface="Arial"/>
              </a:defRPr>
            </a:lvl3pPr>
            <a:lvl4pPr>
              <a:defRPr sz="1350" b="0">
                <a:solidFill>
                  <a:srgbClr val="52647A"/>
                </a:solidFill>
                <a:latin typeface="Arial"/>
                <a:ea typeface="Arial"/>
                <a:cs typeface="Arial"/>
              </a:defRPr>
            </a:lvl4pPr>
            <a:lvl5pPr>
              <a:defRPr sz="1350" b="0">
                <a:solidFill>
                  <a:srgbClr val="52647A"/>
                </a:solidFill>
                <a:latin typeface="Arial"/>
                <a:ea typeface="Arial"/>
                <a:cs typeface="Arial"/>
              </a:defRPr>
            </a:lvl5pPr>
            <a:lvl6pPr>
              <a:defRPr sz="1350" b="0">
                <a:solidFill>
                  <a:srgbClr val="52647A"/>
                </a:solidFill>
                <a:latin typeface="Arial"/>
                <a:ea typeface="Arial"/>
                <a:cs typeface="Arial"/>
              </a:defRPr>
            </a:lvl6pPr>
            <a:lvl7pPr>
              <a:defRPr sz="1350" b="0">
                <a:solidFill>
                  <a:srgbClr val="52647A"/>
                </a:solidFill>
                <a:latin typeface="Arial"/>
                <a:ea typeface="Arial"/>
                <a:cs typeface="Arial"/>
              </a:defRPr>
            </a:lvl7pPr>
            <a:lvl8pPr>
              <a:defRPr sz="1350" b="0">
                <a:solidFill>
                  <a:srgbClr val="52647A"/>
                </a:solidFill>
                <a:latin typeface="Arial"/>
                <a:ea typeface="Arial"/>
                <a:cs typeface="Arial"/>
              </a:defRPr>
            </a:lvl8pPr>
            <a:lvl9pPr>
              <a:defRPr sz="1350" b="0">
                <a:solidFill>
                  <a:srgbClr val="52647A"/>
                </a:solidFill>
                <a:latin typeface="Arial"/>
                <a:ea typeface="Arial"/>
                <a:cs typeface="Arial"/>
              </a:defRPr>
            </a:lvl9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14  CUR-013 / CUR-014</a:t>
            </a:r>
          </a:p>
        </p:txBody>
      </p:sp>
    </p:spTree>
    <p:extLst>
      <p:ext uri="{BB962C8B-B14F-4D97-AF65-F5344CB8AC3E}">
        <p14:creationId xmlns:p14="http://schemas.microsoft.com/office/powerpoint/2010/main" val="889552418"/>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text-0">
            <a:extLst xmlns:a="http://schemas.openxmlformats.org/drawingml/2006/main">
              <a:ext uri="{FF2B5EF4-FFF2-40B4-BE49-F238E27FC236}">
                <a16:creationId xmlns:a16="http://schemas.microsoft.com/office/drawing/2014/main" id="{EDB31FFC-CB59-4BA1-8540-B580A0FAE478}"/>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vl1pPr>
              <a:defRPr sz="3300" b="1">
                <a:solidFill>
                  <a:srgbClr val="15283D"/>
                </a:solidFill>
                <a:latin typeface="Arial"/>
                <a:ea typeface="Arial"/>
                <a:cs typeface="Arial"/>
              </a:defRPr>
            </a:lvl1pPr>
            <a:lvl2pPr>
              <a:defRPr sz="3300" b="1">
                <a:solidFill>
                  <a:srgbClr val="15283D"/>
                </a:solidFill>
                <a:latin typeface="Arial"/>
                <a:ea typeface="Arial"/>
                <a:cs typeface="Arial"/>
              </a:defRPr>
            </a:lvl2pPr>
            <a:lvl3pPr>
              <a:defRPr sz="3300" b="1">
                <a:solidFill>
                  <a:srgbClr val="15283D"/>
                </a:solidFill>
                <a:latin typeface="Arial"/>
                <a:ea typeface="Arial"/>
                <a:cs typeface="Arial"/>
              </a:defRPr>
            </a:lvl3pPr>
            <a:lvl4pPr>
              <a:defRPr sz="3300" b="1">
                <a:solidFill>
                  <a:srgbClr val="15283D"/>
                </a:solidFill>
                <a:latin typeface="Arial"/>
                <a:ea typeface="Arial"/>
                <a:cs typeface="Arial"/>
              </a:defRPr>
            </a:lvl4pPr>
            <a:lvl5pPr>
              <a:defRPr sz="3300" b="1">
                <a:solidFill>
                  <a:srgbClr val="15283D"/>
                </a:solidFill>
                <a:latin typeface="Arial"/>
                <a:ea typeface="Arial"/>
                <a:cs typeface="Arial"/>
              </a:defRPr>
            </a:lvl5pPr>
            <a:lvl6pPr>
              <a:defRPr sz="3300" b="1">
                <a:solidFill>
                  <a:srgbClr val="15283D"/>
                </a:solidFill>
                <a:latin typeface="Arial"/>
                <a:ea typeface="Arial"/>
                <a:cs typeface="Arial"/>
              </a:defRPr>
            </a:lvl6pPr>
            <a:lvl7pPr>
              <a:defRPr sz="3300" b="1">
                <a:solidFill>
                  <a:srgbClr val="15283D"/>
                </a:solidFill>
                <a:latin typeface="Arial"/>
                <a:ea typeface="Arial"/>
                <a:cs typeface="Arial"/>
              </a:defRPr>
            </a:lvl7pPr>
            <a:lvl8pPr>
              <a:defRPr sz="3300" b="1">
                <a:solidFill>
                  <a:srgbClr val="15283D"/>
                </a:solidFill>
                <a:latin typeface="Arial"/>
                <a:ea typeface="Arial"/>
                <a:cs typeface="Arial"/>
              </a:defRPr>
            </a:lvl8pPr>
            <a:lvl9pPr>
              <a:defRPr sz="3300" b="1">
                <a:solidFill>
                  <a:srgbClr val="15283D"/>
                </a:solidFill>
                <a:latin typeface="Arial"/>
                <a:ea typeface="Arial"/>
                <a:cs typeface="Arial"/>
              </a:defRPr>
            </a:lvl9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Serverversion und Client sind verschieden</a:t>
            </a:r>
          </a:p>
        </p:txBody>
      </p:sp>
      <p:sp>
        <p:nvSpPr>
          <p:cNvPr id="2" name="text-1">
            <a:extLst xmlns:a="http://schemas.openxmlformats.org/drawingml/2006/main">
              <a:ext uri="{FF2B5EF4-FFF2-40B4-BE49-F238E27FC236}">
                <a16:creationId xmlns:a16="http://schemas.microsoft.com/office/drawing/2014/main" id="{5AECA798-69C6-40E3-A600-BCDE417D4D82}"/>
              </a:ext>
            </a:extLst>
          </p:cNvPr>
          <p:cNvSpPr>
            <a:spLocks xmlns:a="http://schemas.openxmlformats.org/drawingml/2006/main" noGrp="1"/>
          </p:cNvSpPr>
          <p:nvPr/>
        </p:nvSpPr>
        <p:spPr>
          <a:xfrm xmlns:a="http://schemas.openxmlformats.org/drawingml/2006/main">
            <a:off x="685800" y="177165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SQL Server</a:t>
            </a:r>
          </a:p>
        </p:txBody>
      </p:sp>
      <p:sp>
        <p:nvSpPr>
          <p:cNvPr id="3" name="text-2">
            <a:extLst xmlns:a="http://schemas.openxmlformats.org/drawingml/2006/main">
              <a:ext uri="{FF2B5EF4-FFF2-40B4-BE49-F238E27FC236}">
                <a16:creationId xmlns:a16="http://schemas.microsoft.com/office/drawing/2014/main" id="{DB05145E-1A3D-4D40-9CF2-B740412E611E}"/>
              </a:ext>
            </a:extLst>
          </p:cNvPr>
          <p:cNvSpPr>
            <a:spLocks xmlns:a="http://schemas.openxmlformats.org/drawingml/2006/main" noGrp="1"/>
          </p:cNvSpPr>
          <p:nvPr/>
        </p:nvSpPr>
        <p:spPr>
          <a:xfrm xmlns:a="http://schemas.openxmlformats.org/drawingml/2006/main">
            <a:off x="3190875" y="177165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Unsere VECTOR-Beispiele benötigen SQL Server 2025, Engine 17.x.</a:t>
            </a:r>
          </a:p>
        </p:txBody>
      </p:sp>
      <p:sp>
        <p:nvSpPr>
          <p:cNvPr id="4" name="text-3">
            <a:extLst xmlns:a="http://schemas.openxmlformats.org/drawingml/2006/main">
              <a:ext uri="{FF2B5EF4-FFF2-40B4-BE49-F238E27FC236}">
                <a16:creationId xmlns:a16="http://schemas.microsoft.com/office/drawing/2014/main" id="{B3B06557-2AD9-483E-8471-17EEBCF20156}"/>
              </a:ext>
            </a:extLst>
          </p:cNvPr>
          <p:cNvSpPr>
            <a:spLocks xmlns:a="http://schemas.openxmlformats.org/drawingml/2006/main" noGrp="1"/>
          </p:cNvSpPr>
          <p:nvPr/>
        </p:nvSpPr>
        <p:spPr>
          <a:xfrm xmlns:a="http://schemas.openxmlformats.org/drawingml/2006/main">
            <a:off x="685800" y="3057525"/>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Client</a:t>
            </a:r>
          </a:p>
        </p:txBody>
      </p:sp>
      <p:sp>
        <p:nvSpPr>
          <p:cNvPr id="5" name="text-4">
            <a:extLst xmlns:a="http://schemas.openxmlformats.org/drawingml/2006/main">
              <a:ext uri="{FF2B5EF4-FFF2-40B4-BE49-F238E27FC236}">
                <a16:creationId xmlns:a16="http://schemas.microsoft.com/office/drawing/2014/main" id="{15D2FAF5-552A-4156-A0F5-49DC551FC652}"/>
              </a:ext>
            </a:extLst>
          </p:cNvPr>
          <p:cNvSpPr>
            <a:spLocks xmlns:a="http://schemas.openxmlformats.org/drawingml/2006/main" noGrp="1"/>
          </p:cNvSpPr>
          <p:nvPr/>
        </p:nvSpPr>
        <p:spPr>
          <a:xfrm xmlns:a="http://schemas.openxmlformats.org/drawingml/2006/main">
            <a:off x="3190875" y="3057525"/>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Das Programm zum Senden der Query macht aus einer älteren Engine keine SQL-Server-2025-Engine.</a:t>
            </a:r>
          </a:p>
        </p:txBody>
      </p:sp>
      <p:sp>
        <p:nvSpPr>
          <p:cNvPr id="6" name="text-5">
            <a:extLst xmlns:a="http://schemas.openxmlformats.org/drawingml/2006/main">
              <a:ext uri="{FF2B5EF4-FFF2-40B4-BE49-F238E27FC236}">
                <a16:creationId xmlns:a16="http://schemas.microsoft.com/office/drawing/2014/main" id="{A719BE7A-65C1-4D23-9637-6193C58071BA}"/>
              </a:ext>
            </a:extLst>
          </p:cNvPr>
          <p:cNvSpPr>
            <a:spLocks xmlns:a="http://schemas.openxmlformats.org/drawingml/2006/main" noGrp="1"/>
          </p:cNvSpPr>
          <p:nvPr/>
        </p:nvSpPr>
        <p:spPr>
          <a:xfrm xmlns:a="http://schemas.openxmlformats.org/drawingml/2006/main">
            <a:off x="685800" y="434340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Datenbank</a:t>
            </a:r>
          </a:p>
        </p:txBody>
      </p:sp>
      <p:sp>
        <p:nvSpPr>
          <p:cNvPr id="7" name="text-6">
            <a:extLst xmlns:a="http://schemas.openxmlformats.org/drawingml/2006/main">
              <a:ext uri="{FF2B5EF4-FFF2-40B4-BE49-F238E27FC236}">
                <a16:creationId xmlns:a16="http://schemas.microsoft.com/office/drawing/2014/main" id="{E5A2B4F0-A9F8-49DA-98AA-84A0CEF37150}"/>
              </a:ext>
            </a:extLst>
          </p:cNvPr>
          <p:cNvSpPr>
            <a:spLocks xmlns:a="http://schemas.openxmlformats.org/drawingml/2006/main" noGrp="1"/>
          </p:cNvSpPr>
          <p:nvPr/>
        </p:nvSpPr>
        <p:spPr>
          <a:xfrm xmlns:a="http://schemas.openxmlformats.org/drawingml/2006/main">
            <a:off x="3190875" y="434340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Das Schulungsprofil verwendet Compatibility Level 170. Das ist eine eigene Datenbankeinstellung.</a:t>
            </a:r>
          </a:p>
        </p:txBody>
      </p:sp>
      <p:sp>
        <p:nvSpPr>
          <p:cNvPr id="8" name="text-7">
            <a:extLst xmlns:a="http://schemas.openxmlformats.org/drawingml/2006/main">
              <a:ext uri="{FF2B5EF4-FFF2-40B4-BE49-F238E27FC236}">
                <a16:creationId xmlns:a16="http://schemas.microsoft.com/office/drawing/2014/main" id="{43F85CC1-4789-4D4A-9854-BEA8B30A1689}"/>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vl1pPr>
              <a:defRPr sz="1350" b="0">
                <a:solidFill>
                  <a:srgbClr val="52647A"/>
                </a:solidFill>
                <a:latin typeface="Arial"/>
                <a:ea typeface="Arial"/>
                <a:cs typeface="Arial"/>
              </a:defRPr>
            </a:lvl1pPr>
            <a:lvl2pPr>
              <a:defRPr sz="1350" b="0">
                <a:solidFill>
                  <a:srgbClr val="52647A"/>
                </a:solidFill>
                <a:latin typeface="Arial"/>
                <a:ea typeface="Arial"/>
                <a:cs typeface="Arial"/>
              </a:defRPr>
            </a:lvl2pPr>
            <a:lvl3pPr>
              <a:defRPr sz="1350" b="0">
                <a:solidFill>
                  <a:srgbClr val="52647A"/>
                </a:solidFill>
                <a:latin typeface="Arial"/>
                <a:ea typeface="Arial"/>
                <a:cs typeface="Arial"/>
              </a:defRPr>
            </a:lvl3pPr>
            <a:lvl4pPr>
              <a:defRPr sz="1350" b="0">
                <a:solidFill>
                  <a:srgbClr val="52647A"/>
                </a:solidFill>
                <a:latin typeface="Arial"/>
                <a:ea typeface="Arial"/>
                <a:cs typeface="Arial"/>
              </a:defRPr>
            </a:lvl4pPr>
            <a:lvl5pPr>
              <a:defRPr sz="1350" b="0">
                <a:solidFill>
                  <a:srgbClr val="52647A"/>
                </a:solidFill>
                <a:latin typeface="Arial"/>
                <a:ea typeface="Arial"/>
                <a:cs typeface="Arial"/>
              </a:defRPr>
            </a:lvl5pPr>
            <a:lvl6pPr>
              <a:defRPr sz="1350" b="0">
                <a:solidFill>
                  <a:srgbClr val="52647A"/>
                </a:solidFill>
                <a:latin typeface="Arial"/>
                <a:ea typeface="Arial"/>
                <a:cs typeface="Arial"/>
              </a:defRPr>
            </a:lvl6pPr>
            <a:lvl7pPr>
              <a:defRPr sz="1350" b="0">
                <a:solidFill>
                  <a:srgbClr val="52647A"/>
                </a:solidFill>
                <a:latin typeface="Arial"/>
                <a:ea typeface="Arial"/>
                <a:cs typeface="Arial"/>
              </a:defRPr>
            </a:lvl7pPr>
            <a:lvl8pPr>
              <a:defRPr sz="1350" b="0">
                <a:solidFill>
                  <a:srgbClr val="52647A"/>
                </a:solidFill>
                <a:latin typeface="Arial"/>
                <a:ea typeface="Arial"/>
                <a:cs typeface="Arial"/>
              </a:defRPr>
            </a:lvl8pPr>
            <a:lvl9pPr>
              <a:defRPr sz="1350" b="0">
                <a:solidFill>
                  <a:srgbClr val="52647A"/>
                </a:solidFill>
                <a:latin typeface="Arial"/>
                <a:ea typeface="Arial"/>
                <a:cs typeface="Arial"/>
              </a:defRPr>
            </a:lvl9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15  CUR-014 / CUR-016</a:t>
            </a:r>
          </a:p>
        </p:txBody>
      </p:sp>
    </p:spTree>
    <p:extLst>
      <p:ext uri="{BB962C8B-B14F-4D97-AF65-F5344CB8AC3E}">
        <p14:creationId xmlns:p14="http://schemas.microsoft.com/office/powerpoint/2010/main" val="2084764660"/>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text-0">
            <a:extLst xmlns:a="http://schemas.openxmlformats.org/drawingml/2006/main">
              <a:ext uri="{FF2B5EF4-FFF2-40B4-BE49-F238E27FC236}">
                <a16:creationId xmlns:a16="http://schemas.microsoft.com/office/drawing/2014/main" id="{103B540F-4078-4B3E-B423-E81378C41408}"/>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vl1pPr>
              <a:defRPr sz="3300" b="1">
                <a:solidFill>
                  <a:srgbClr val="15283D"/>
                </a:solidFill>
                <a:latin typeface="Arial"/>
                <a:ea typeface="Arial"/>
                <a:cs typeface="Arial"/>
              </a:defRPr>
            </a:lvl1pPr>
            <a:lvl2pPr>
              <a:defRPr sz="3300" b="1">
                <a:solidFill>
                  <a:srgbClr val="15283D"/>
                </a:solidFill>
                <a:latin typeface="Arial"/>
                <a:ea typeface="Arial"/>
                <a:cs typeface="Arial"/>
              </a:defRPr>
            </a:lvl2pPr>
            <a:lvl3pPr>
              <a:defRPr sz="3300" b="1">
                <a:solidFill>
                  <a:srgbClr val="15283D"/>
                </a:solidFill>
                <a:latin typeface="Arial"/>
                <a:ea typeface="Arial"/>
                <a:cs typeface="Arial"/>
              </a:defRPr>
            </a:lvl3pPr>
            <a:lvl4pPr>
              <a:defRPr sz="3300" b="1">
                <a:solidFill>
                  <a:srgbClr val="15283D"/>
                </a:solidFill>
                <a:latin typeface="Arial"/>
                <a:ea typeface="Arial"/>
                <a:cs typeface="Arial"/>
              </a:defRPr>
            </a:lvl4pPr>
            <a:lvl5pPr>
              <a:defRPr sz="3300" b="1">
                <a:solidFill>
                  <a:srgbClr val="15283D"/>
                </a:solidFill>
                <a:latin typeface="Arial"/>
                <a:ea typeface="Arial"/>
                <a:cs typeface="Arial"/>
              </a:defRPr>
            </a:lvl5pPr>
            <a:lvl6pPr>
              <a:defRPr sz="3300" b="1">
                <a:solidFill>
                  <a:srgbClr val="15283D"/>
                </a:solidFill>
                <a:latin typeface="Arial"/>
                <a:ea typeface="Arial"/>
                <a:cs typeface="Arial"/>
              </a:defRPr>
            </a:lvl6pPr>
            <a:lvl7pPr>
              <a:defRPr sz="3300" b="1">
                <a:solidFill>
                  <a:srgbClr val="15283D"/>
                </a:solidFill>
                <a:latin typeface="Arial"/>
                <a:ea typeface="Arial"/>
                <a:cs typeface="Arial"/>
              </a:defRPr>
            </a:lvl7pPr>
            <a:lvl8pPr>
              <a:defRPr sz="3300" b="1">
                <a:solidFill>
                  <a:srgbClr val="15283D"/>
                </a:solidFill>
                <a:latin typeface="Arial"/>
                <a:ea typeface="Arial"/>
                <a:cs typeface="Arial"/>
              </a:defRPr>
            </a:lvl8pPr>
            <a:lvl9pPr>
              <a:defRPr sz="3300" b="1">
                <a:solidFill>
                  <a:srgbClr val="15283D"/>
                </a:solidFill>
                <a:latin typeface="Arial"/>
                <a:ea typeface="Arial"/>
                <a:cs typeface="Arial"/>
              </a:defRPr>
            </a:lvl9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Version und Datenbankeinstellung lesen</a:t>
            </a:r>
          </a:p>
        </p:txBody>
      </p:sp>
      <p:sp>
        <p:nvSpPr>
          <p:cNvPr id="2" name="text-1">
            <a:extLst xmlns:a="http://schemas.openxmlformats.org/drawingml/2006/main">
              <a:ext uri="{FF2B5EF4-FFF2-40B4-BE49-F238E27FC236}">
                <a16:creationId xmlns:a16="http://schemas.microsoft.com/office/drawing/2014/main" id="{7C082790-5172-44B3-902B-2C5044ABC450}"/>
              </a:ext>
            </a:extLst>
          </p:cNvPr>
          <p:cNvSpPr>
            <a:spLocks xmlns:a="http://schemas.openxmlformats.org/drawingml/2006/main" noGrp="1"/>
          </p:cNvSpPr>
          <p:nvPr/>
        </p:nvSpPr>
        <p:spPr>
          <a:xfrm xmlns:a="http://schemas.openxmlformats.org/drawingml/2006/main">
            <a:off x="685800" y="1771650"/>
            <a:ext cx="1082040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0">
                <a:solidFill>
                  <a:srgbClr val="007A83"/>
                </a:solidFill>
                <a:latin typeface="Arial"/>
                <a:ea typeface="Arial"/>
                <a:cs typeface="Arial"/>
              </a:defRPr>
            </a:defPPr>
            <a:lvl1pPr>
              <a:defRPr sz="2100" b="0">
                <a:solidFill>
                  <a:srgbClr val="007A83"/>
                </a:solidFill>
                <a:latin typeface="Arial"/>
                <a:ea typeface="Arial"/>
                <a:cs typeface="Arial"/>
              </a:defRPr>
            </a:lvl1pPr>
            <a:lvl2pPr>
              <a:defRPr sz="2100" b="0">
                <a:solidFill>
                  <a:srgbClr val="007A83"/>
                </a:solidFill>
                <a:latin typeface="Arial"/>
                <a:ea typeface="Arial"/>
                <a:cs typeface="Arial"/>
              </a:defRPr>
            </a:lvl2pPr>
            <a:lvl3pPr>
              <a:defRPr sz="2100" b="0">
                <a:solidFill>
                  <a:srgbClr val="007A83"/>
                </a:solidFill>
                <a:latin typeface="Arial"/>
                <a:ea typeface="Arial"/>
                <a:cs typeface="Arial"/>
              </a:defRPr>
            </a:lvl3pPr>
            <a:lvl4pPr>
              <a:defRPr sz="2100" b="0">
                <a:solidFill>
                  <a:srgbClr val="007A83"/>
                </a:solidFill>
                <a:latin typeface="Arial"/>
                <a:ea typeface="Arial"/>
                <a:cs typeface="Arial"/>
              </a:defRPr>
            </a:lvl4pPr>
            <a:lvl5pPr>
              <a:defRPr sz="2100" b="0">
                <a:solidFill>
                  <a:srgbClr val="007A83"/>
                </a:solidFill>
                <a:latin typeface="Arial"/>
                <a:ea typeface="Arial"/>
                <a:cs typeface="Arial"/>
              </a:defRPr>
            </a:lvl5pPr>
            <a:lvl6pPr>
              <a:defRPr sz="2100" b="0">
                <a:solidFill>
                  <a:srgbClr val="007A83"/>
                </a:solidFill>
                <a:latin typeface="Arial"/>
                <a:ea typeface="Arial"/>
                <a:cs typeface="Arial"/>
              </a:defRPr>
            </a:lvl6pPr>
            <a:lvl7pPr>
              <a:defRPr sz="2100" b="0">
                <a:solidFill>
                  <a:srgbClr val="007A83"/>
                </a:solidFill>
                <a:latin typeface="Arial"/>
                <a:ea typeface="Arial"/>
                <a:cs typeface="Arial"/>
              </a:defRPr>
            </a:lvl7pPr>
            <a:lvl8pPr>
              <a:defRPr sz="2100" b="0">
                <a:solidFill>
                  <a:srgbClr val="007A83"/>
                </a:solidFill>
                <a:latin typeface="Arial"/>
                <a:ea typeface="Arial"/>
                <a:cs typeface="Arial"/>
              </a:defRPr>
            </a:lvl8pPr>
            <a:lvl9pPr>
              <a:defRPr sz="2100" b="0">
                <a:solidFill>
                  <a:srgbClr val="007A83"/>
                </a:solidFill>
                <a:latin typeface="Arial"/>
                <a:ea typeface="Arial"/>
                <a:cs typeface="Arial"/>
              </a:defRPr>
            </a:lvl9pPr>
          </a:lstStyle>
          <a:p xmlns:a="http://schemas.openxmlformats.org/drawingml/2006/main">
            <a:pPr>
              <a:defRPr sz="2100" b="0">
                <a:solidFill>
                  <a:srgbClr val="007A83"/>
                </a:solidFill>
                <a:latin typeface="Arial"/>
                <a:ea typeface="Arial"/>
                <a:cs typeface="Arial"/>
              </a:defRPr>
            </a:pPr>
            <a:r>
              <a:rPr sz="2100" b="0">
                <a:solidFill>
                  <a:srgbClr val="007A83"/>
                </a:solidFill>
                <a:latin typeface="Arial"/>
                <a:ea typeface="Arial"/>
                <a:cs typeface="Arial"/>
              </a:rPr>
              <a:t>SELECT CAST(SERVERPROPERTY('ProductMajorVersion') AS int) AS Major;</a:t>
            </a:r>
          </a:p>
          <a:p xmlns:a="http://schemas.openxmlformats.org/drawingml/2006/main">
            <a:pPr>
              <a:defRPr sz="2100" b="0">
                <a:solidFill>
                  <a:srgbClr val="007A83"/>
                </a:solidFill>
                <a:latin typeface="Arial"/>
                <a:ea typeface="Arial"/>
                <a:cs typeface="Arial"/>
              </a:defRPr>
            </a:pPr>
            <a:r>
              <a:rPr sz="2100" b="0">
                <a:solidFill>
                  <a:srgbClr val="007A83"/>
                </a:solidFill>
                <a:latin typeface="Arial"/>
                <a:ea typeface="Arial"/>
                <a:cs typeface="Arial"/>
              </a:rPr>
              <a:t>SELECT compatibility_level AS CL</a:t>
            </a:r>
          </a:p>
          <a:p xmlns:a="http://schemas.openxmlformats.org/drawingml/2006/main">
            <a:pPr>
              <a:defRPr sz="2100" b="0">
                <a:solidFill>
                  <a:srgbClr val="007A83"/>
                </a:solidFill>
                <a:latin typeface="Arial"/>
                <a:ea typeface="Arial"/>
                <a:cs typeface="Arial"/>
              </a:defRPr>
            </a:pPr>
            <a:r>
              <a:rPr sz="2100" b="0">
                <a:solidFill>
                  <a:srgbClr val="007A83"/>
                </a:solidFill>
                <a:latin typeface="Arial"/>
                <a:ea typeface="Arial"/>
                <a:cs typeface="Arial"/>
              </a:rPr>
              <a:t>FROM sys.databases WHERE name = DB_NAME();</a:t>
            </a:r>
          </a:p>
        </p:txBody>
      </p:sp>
      <p:sp>
        <p:nvSpPr>
          <p:cNvPr id="3" name="text-2">
            <a:extLst xmlns:a="http://schemas.openxmlformats.org/drawingml/2006/main">
              <a:ext uri="{FF2B5EF4-FFF2-40B4-BE49-F238E27FC236}">
                <a16:creationId xmlns:a16="http://schemas.microsoft.com/office/drawing/2014/main" id="{BACFDBCD-FA38-4EE4-98C5-34D56C962332}"/>
              </a:ext>
            </a:extLst>
          </p:cNvPr>
          <p:cNvSpPr>
            <a:spLocks xmlns:a="http://schemas.openxmlformats.org/drawingml/2006/main" noGrp="1"/>
          </p:cNvSpPr>
          <p:nvPr/>
        </p:nvSpPr>
        <p:spPr>
          <a:xfrm xmlns:a="http://schemas.openxmlformats.org/drawingml/2006/main">
            <a:off x="685800" y="3724275"/>
            <a:ext cx="2333625" cy="2047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Einordnung</a:t>
            </a:r>
          </a:p>
        </p:txBody>
      </p:sp>
      <p:sp>
        <p:nvSpPr>
          <p:cNvPr id="4" name="text-3">
            <a:extLst xmlns:a="http://schemas.openxmlformats.org/drawingml/2006/main">
              <a:ext uri="{FF2B5EF4-FFF2-40B4-BE49-F238E27FC236}">
                <a16:creationId xmlns:a16="http://schemas.microsoft.com/office/drawing/2014/main" id="{28D8CD56-EDDE-46BD-931B-F1397FBDAD56}"/>
              </a:ext>
            </a:extLst>
          </p:cNvPr>
          <p:cNvSpPr>
            <a:spLocks xmlns:a="http://schemas.openxmlformats.org/drawingml/2006/main" noGrp="1"/>
          </p:cNvSpPr>
          <p:nvPr/>
        </p:nvSpPr>
        <p:spPr>
          <a:xfrm xmlns:a="http://schemas.openxmlformats.org/drawingml/2006/main">
            <a:off x="3190875" y="3724275"/>
            <a:ext cx="8239125" cy="2047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Major 17 bezeichnet die Enginefamilie. CL 170 bezeichnet das gewählte Datenbankprofil.</a:t>
            </a:r>
          </a:p>
        </p:txBody>
      </p:sp>
      <p:sp>
        <p:nvSpPr>
          <p:cNvPr id="5" name="text-4">
            <a:extLst xmlns:a="http://schemas.openxmlformats.org/drawingml/2006/main">
              <a:ext uri="{FF2B5EF4-FFF2-40B4-BE49-F238E27FC236}">
                <a16:creationId xmlns:a16="http://schemas.microsoft.com/office/drawing/2014/main" id="{4C6DEF4A-0D7F-4333-95B0-EB727312161F}"/>
              </a:ext>
            </a:extLst>
          </p:cNvPr>
          <p:cNvSpPr>
            <a:spLocks xmlns:a="http://schemas.openxmlformats.org/drawingml/2006/main" noGrp="1"/>
          </p:cNvSpPr>
          <p:nvPr/>
        </p:nvSpPr>
        <p:spPr>
          <a:xfrm xmlns:a="http://schemas.openxmlformats.org/drawingml/2006/main">
            <a:off x="685800" y="5876925"/>
            <a:ext cx="10553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0">
                <a:solidFill>
                  <a:srgbClr val="52647A"/>
                </a:solidFill>
                <a:latin typeface="Arial"/>
                <a:ea typeface="Arial"/>
                <a:cs typeface="Arial"/>
              </a:defRPr>
            </a:defPPr>
            <a:lvl1pPr>
              <a:defRPr sz="1800" b="0">
                <a:solidFill>
                  <a:srgbClr val="52647A"/>
                </a:solidFill>
                <a:latin typeface="Arial"/>
                <a:ea typeface="Arial"/>
                <a:cs typeface="Arial"/>
              </a:defRPr>
            </a:lvl1pPr>
            <a:lvl2pPr>
              <a:defRPr sz="1800" b="0">
                <a:solidFill>
                  <a:srgbClr val="52647A"/>
                </a:solidFill>
                <a:latin typeface="Arial"/>
                <a:ea typeface="Arial"/>
                <a:cs typeface="Arial"/>
              </a:defRPr>
            </a:lvl2pPr>
            <a:lvl3pPr>
              <a:defRPr sz="1800" b="0">
                <a:solidFill>
                  <a:srgbClr val="52647A"/>
                </a:solidFill>
                <a:latin typeface="Arial"/>
                <a:ea typeface="Arial"/>
                <a:cs typeface="Arial"/>
              </a:defRPr>
            </a:lvl3pPr>
            <a:lvl4pPr>
              <a:defRPr sz="1800" b="0">
                <a:solidFill>
                  <a:srgbClr val="52647A"/>
                </a:solidFill>
                <a:latin typeface="Arial"/>
                <a:ea typeface="Arial"/>
                <a:cs typeface="Arial"/>
              </a:defRPr>
            </a:lvl4pPr>
            <a:lvl5pPr>
              <a:defRPr sz="1800" b="0">
                <a:solidFill>
                  <a:srgbClr val="52647A"/>
                </a:solidFill>
                <a:latin typeface="Arial"/>
                <a:ea typeface="Arial"/>
                <a:cs typeface="Arial"/>
              </a:defRPr>
            </a:lvl5pPr>
            <a:lvl6pPr>
              <a:defRPr sz="1800" b="0">
                <a:solidFill>
                  <a:srgbClr val="52647A"/>
                </a:solidFill>
                <a:latin typeface="Arial"/>
                <a:ea typeface="Arial"/>
                <a:cs typeface="Arial"/>
              </a:defRPr>
            </a:lvl6pPr>
            <a:lvl7pPr>
              <a:defRPr sz="1800" b="0">
                <a:solidFill>
                  <a:srgbClr val="52647A"/>
                </a:solidFill>
                <a:latin typeface="Arial"/>
                <a:ea typeface="Arial"/>
                <a:cs typeface="Arial"/>
              </a:defRPr>
            </a:lvl7pPr>
            <a:lvl8pPr>
              <a:defRPr sz="1800" b="0">
                <a:solidFill>
                  <a:srgbClr val="52647A"/>
                </a:solidFill>
                <a:latin typeface="Arial"/>
                <a:ea typeface="Arial"/>
                <a:cs typeface="Arial"/>
              </a:defRPr>
            </a:lvl8pPr>
            <a:lvl9pPr>
              <a:defRPr sz="1800" b="0">
                <a:solidFill>
                  <a:srgbClr val="52647A"/>
                </a:solidFill>
                <a:latin typeface="Arial"/>
                <a:ea typeface="Arial"/>
                <a:cs typeface="Arial"/>
              </a:defRPr>
            </a:lvl9pPr>
          </a:lstStyle>
          <a:p xmlns:a="http://schemas.openxmlformats.org/drawingml/2006/main">
            <a:pPr>
              <a:defRPr sz="1800" b="0">
                <a:solidFill>
                  <a:srgbClr val="52647A"/>
                </a:solidFill>
                <a:latin typeface="Arial"/>
                <a:ea typeface="Arial"/>
                <a:cs typeface="Arial"/>
              </a:defRPr>
            </a:pPr>
            <a:r>
              <a:rPr sz="1800" b="0">
                <a:solidFill>
                  <a:srgbClr val="52647A"/>
                </a:solidFill>
                <a:latin typeface="Arial"/>
                <a:ea typeface="Arial"/>
                <a:cs typeface="Arial"/>
              </a:rPr>
              <a:t>Die Query liest Eigenschaften. Sie ändert weder Server noch Datenbank.</a:t>
            </a:r>
          </a:p>
        </p:txBody>
      </p:sp>
      <p:sp>
        <p:nvSpPr>
          <p:cNvPr id="6" name="text-5">
            <a:extLst xmlns:a="http://schemas.openxmlformats.org/drawingml/2006/main">
              <a:ext uri="{FF2B5EF4-FFF2-40B4-BE49-F238E27FC236}">
                <a16:creationId xmlns:a16="http://schemas.microsoft.com/office/drawing/2014/main" id="{FE9A596F-3637-4FCB-8F9F-20E3A6E78B4A}"/>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vl1pPr>
              <a:defRPr sz="1350" b="0">
                <a:solidFill>
                  <a:srgbClr val="52647A"/>
                </a:solidFill>
                <a:latin typeface="Arial"/>
                <a:ea typeface="Arial"/>
                <a:cs typeface="Arial"/>
              </a:defRPr>
            </a:lvl1pPr>
            <a:lvl2pPr>
              <a:defRPr sz="1350" b="0">
                <a:solidFill>
                  <a:srgbClr val="52647A"/>
                </a:solidFill>
                <a:latin typeface="Arial"/>
                <a:ea typeface="Arial"/>
                <a:cs typeface="Arial"/>
              </a:defRPr>
            </a:lvl2pPr>
            <a:lvl3pPr>
              <a:defRPr sz="1350" b="0">
                <a:solidFill>
                  <a:srgbClr val="52647A"/>
                </a:solidFill>
                <a:latin typeface="Arial"/>
                <a:ea typeface="Arial"/>
                <a:cs typeface="Arial"/>
              </a:defRPr>
            </a:lvl3pPr>
            <a:lvl4pPr>
              <a:defRPr sz="1350" b="0">
                <a:solidFill>
                  <a:srgbClr val="52647A"/>
                </a:solidFill>
                <a:latin typeface="Arial"/>
                <a:ea typeface="Arial"/>
                <a:cs typeface="Arial"/>
              </a:defRPr>
            </a:lvl4pPr>
            <a:lvl5pPr>
              <a:defRPr sz="1350" b="0">
                <a:solidFill>
                  <a:srgbClr val="52647A"/>
                </a:solidFill>
                <a:latin typeface="Arial"/>
                <a:ea typeface="Arial"/>
                <a:cs typeface="Arial"/>
              </a:defRPr>
            </a:lvl5pPr>
            <a:lvl6pPr>
              <a:defRPr sz="1350" b="0">
                <a:solidFill>
                  <a:srgbClr val="52647A"/>
                </a:solidFill>
                <a:latin typeface="Arial"/>
                <a:ea typeface="Arial"/>
                <a:cs typeface="Arial"/>
              </a:defRPr>
            </a:lvl6pPr>
            <a:lvl7pPr>
              <a:defRPr sz="1350" b="0">
                <a:solidFill>
                  <a:srgbClr val="52647A"/>
                </a:solidFill>
                <a:latin typeface="Arial"/>
                <a:ea typeface="Arial"/>
                <a:cs typeface="Arial"/>
              </a:defRPr>
            </a:lvl7pPr>
            <a:lvl8pPr>
              <a:defRPr sz="1350" b="0">
                <a:solidFill>
                  <a:srgbClr val="52647A"/>
                </a:solidFill>
                <a:latin typeface="Arial"/>
                <a:ea typeface="Arial"/>
                <a:cs typeface="Arial"/>
              </a:defRPr>
            </a:lvl8pPr>
            <a:lvl9pPr>
              <a:defRPr sz="1350" b="0">
                <a:solidFill>
                  <a:srgbClr val="52647A"/>
                </a:solidFill>
                <a:latin typeface="Arial"/>
                <a:ea typeface="Arial"/>
                <a:cs typeface="Arial"/>
              </a:defRPr>
            </a:lvl9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16  CUR-014</a:t>
            </a:r>
          </a:p>
        </p:txBody>
      </p:sp>
    </p:spTree>
    <p:extLst>
      <p:ext uri="{BB962C8B-B14F-4D97-AF65-F5344CB8AC3E}">
        <p14:creationId xmlns:p14="http://schemas.microsoft.com/office/powerpoint/2010/main" val="1330610416"/>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text-0">
            <a:extLst xmlns:a="http://schemas.openxmlformats.org/drawingml/2006/main">
              <a:ext uri="{FF2B5EF4-FFF2-40B4-BE49-F238E27FC236}">
                <a16:creationId xmlns:a16="http://schemas.microsoft.com/office/drawing/2014/main" id="{3AD29408-4F61-4E70-8EB2-C3697CCE10F3}"/>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vl1pPr>
              <a:defRPr sz="3300" b="1">
                <a:solidFill>
                  <a:srgbClr val="15283D"/>
                </a:solidFill>
                <a:latin typeface="Arial"/>
                <a:ea typeface="Arial"/>
                <a:cs typeface="Arial"/>
              </a:defRPr>
            </a:lvl1pPr>
            <a:lvl2pPr>
              <a:defRPr sz="3300" b="1">
                <a:solidFill>
                  <a:srgbClr val="15283D"/>
                </a:solidFill>
                <a:latin typeface="Arial"/>
                <a:ea typeface="Arial"/>
                <a:cs typeface="Arial"/>
              </a:defRPr>
            </a:lvl2pPr>
            <a:lvl3pPr>
              <a:defRPr sz="3300" b="1">
                <a:solidFill>
                  <a:srgbClr val="15283D"/>
                </a:solidFill>
                <a:latin typeface="Arial"/>
                <a:ea typeface="Arial"/>
                <a:cs typeface="Arial"/>
              </a:defRPr>
            </a:lvl3pPr>
            <a:lvl4pPr>
              <a:defRPr sz="3300" b="1">
                <a:solidFill>
                  <a:srgbClr val="15283D"/>
                </a:solidFill>
                <a:latin typeface="Arial"/>
                <a:ea typeface="Arial"/>
                <a:cs typeface="Arial"/>
              </a:defRPr>
            </a:lvl4pPr>
            <a:lvl5pPr>
              <a:defRPr sz="3300" b="1">
                <a:solidFill>
                  <a:srgbClr val="15283D"/>
                </a:solidFill>
                <a:latin typeface="Arial"/>
                <a:ea typeface="Arial"/>
                <a:cs typeface="Arial"/>
              </a:defRPr>
            </a:lvl5pPr>
            <a:lvl6pPr>
              <a:defRPr sz="3300" b="1">
                <a:solidFill>
                  <a:srgbClr val="15283D"/>
                </a:solidFill>
                <a:latin typeface="Arial"/>
                <a:ea typeface="Arial"/>
                <a:cs typeface="Arial"/>
              </a:defRPr>
            </a:lvl6pPr>
            <a:lvl7pPr>
              <a:defRPr sz="3300" b="1">
                <a:solidFill>
                  <a:srgbClr val="15283D"/>
                </a:solidFill>
                <a:latin typeface="Arial"/>
                <a:ea typeface="Arial"/>
                <a:cs typeface="Arial"/>
              </a:defRPr>
            </a:lvl7pPr>
            <a:lvl8pPr>
              <a:defRPr sz="3300" b="1">
                <a:solidFill>
                  <a:srgbClr val="15283D"/>
                </a:solidFill>
                <a:latin typeface="Arial"/>
                <a:ea typeface="Arial"/>
                <a:cs typeface="Arial"/>
              </a:defRPr>
            </a:lvl8pPr>
            <a:lvl9pPr>
              <a:defRPr sz="3300" b="1">
                <a:solidFill>
                  <a:srgbClr val="15283D"/>
                </a:solidFill>
                <a:latin typeface="Arial"/>
                <a:ea typeface="Arial"/>
                <a:cs typeface="Arial"/>
              </a:defRPr>
            </a:lvl9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Eine vorbereitete Testumgebung und passende Rechte</a:t>
            </a:r>
          </a:p>
        </p:txBody>
      </p:sp>
      <p:sp>
        <p:nvSpPr>
          <p:cNvPr id="2" name="text-1">
            <a:extLst xmlns:a="http://schemas.openxmlformats.org/drawingml/2006/main">
              <a:ext uri="{FF2B5EF4-FFF2-40B4-BE49-F238E27FC236}">
                <a16:creationId xmlns:a16="http://schemas.microsoft.com/office/drawing/2014/main" id="{CA5C9A99-A82A-4CB7-88BF-B94306E77949}"/>
              </a:ext>
            </a:extLst>
          </p:cNvPr>
          <p:cNvSpPr>
            <a:spLocks xmlns:a="http://schemas.openxmlformats.org/drawingml/2006/main" noGrp="1"/>
          </p:cNvSpPr>
          <p:nvPr/>
        </p:nvSpPr>
        <p:spPr>
          <a:xfrm xmlns:a="http://schemas.openxmlformats.org/drawingml/2006/main">
            <a:off x="685800" y="177165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Umgebung</a:t>
            </a:r>
          </a:p>
        </p:txBody>
      </p:sp>
      <p:sp>
        <p:nvSpPr>
          <p:cNvPr id="3" name="text-2">
            <a:extLst xmlns:a="http://schemas.openxmlformats.org/drawingml/2006/main">
              <a:ext uri="{FF2B5EF4-FFF2-40B4-BE49-F238E27FC236}">
                <a16:creationId xmlns:a16="http://schemas.microsoft.com/office/drawing/2014/main" id="{46EA896D-4780-442B-9FB8-C85AC4826BA3}"/>
              </a:ext>
            </a:extLst>
          </p:cNvPr>
          <p:cNvSpPr>
            <a:spLocks xmlns:a="http://schemas.openxmlformats.org/drawingml/2006/main" noGrp="1"/>
          </p:cNvSpPr>
          <p:nvPr/>
        </p:nvSpPr>
        <p:spPr>
          <a:xfrm xmlns:a="http://schemas.openxmlformats.org/drawingml/2006/main">
            <a:off x="3190875" y="177165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Die Lehrperson bereitet eine dedizierte SQL-Server-2025-Testinstanz vor.</a:t>
            </a:r>
          </a:p>
        </p:txBody>
      </p:sp>
      <p:sp>
        <p:nvSpPr>
          <p:cNvPr id="4" name="text-3">
            <a:extLst xmlns:a="http://schemas.openxmlformats.org/drawingml/2006/main">
              <a:ext uri="{FF2B5EF4-FFF2-40B4-BE49-F238E27FC236}">
                <a16:creationId xmlns:a16="http://schemas.microsoft.com/office/drawing/2014/main" id="{768A2BE9-6B6F-4385-894E-690C9688A69D}"/>
              </a:ext>
            </a:extLst>
          </p:cNvPr>
          <p:cNvSpPr>
            <a:spLocks xmlns:a="http://schemas.openxmlformats.org/drawingml/2006/main" noGrp="1"/>
          </p:cNvSpPr>
          <p:nvPr/>
        </p:nvSpPr>
        <p:spPr>
          <a:xfrm xmlns:a="http://schemas.openxmlformats.org/drawingml/2006/main">
            <a:off x="685800" y="3057525"/>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Teilnehmende</a:t>
            </a:r>
          </a:p>
        </p:txBody>
      </p:sp>
      <p:sp>
        <p:nvSpPr>
          <p:cNvPr id="5" name="text-4">
            <a:extLst xmlns:a="http://schemas.openxmlformats.org/drawingml/2006/main">
              <a:ext uri="{FF2B5EF4-FFF2-40B4-BE49-F238E27FC236}">
                <a16:creationId xmlns:a16="http://schemas.microsoft.com/office/drawing/2014/main" id="{CE89CBBE-6177-47BC-B931-2A0FC5098F00}"/>
              </a:ext>
            </a:extLst>
          </p:cNvPr>
          <p:cNvSpPr>
            <a:spLocks xmlns:a="http://schemas.openxmlformats.org/drawingml/2006/main" noGrp="1"/>
          </p:cNvSpPr>
          <p:nvPr/>
        </p:nvSpPr>
        <p:spPr>
          <a:xfrm xmlns:a="http://schemas.openxmlformats.org/drawingml/2006/main">
            <a:off x="3190875" y="3057525"/>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Für unsere kleinen Beispiele lesen wir feste Werte. Einrichtung und Verwaltung bleiben getrennt.</a:t>
            </a:r>
          </a:p>
        </p:txBody>
      </p:sp>
      <p:sp>
        <p:nvSpPr>
          <p:cNvPr id="6" name="text-5">
            <a:extLst xmlns:a="http://schemas.openxmlformats.org/drawingml/2006/main">
              <a:ext uri="{FF2B5EF4-FFF2-40B4-BE49-F238E27FC236}">
                <a16:creationId xmlns:a16="http://schemas.microsoft.com/office/drawing/2014/main" id="{BE41FCF2-D384-4CBA-B03D-1799E44405F8}"/>
              </a:ext>
            </a:extLst>
          </p:cNvPr>
          <p:cNvSpPr>
            <a:spLocks xmlns:a="http://schemas.openxmlformats.org/drawingml/2006/main" noGrp="1"/>
          </p:cNvSpPr>
          <p:nvPr/>
        </p:nvSpPr>
        <p:spPr>
          <a:xfrm xmlns:a="http://schemas.openxmlformats.org/drawingml/2006/main">
            <a:off x="685800" y="434340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Falls etwas fehlt</a:t>
            </a:r>
          </a:p>
        </p:txBody>
      </p:sp>
      <p:sp>
        <p:nvSpPr>
          <p:cNvPr id="7" name="text-6">
            <a:extLst xmlns:a="http://schemas.openxmlformats.org/drawingml/2006/main">
              <a:ext uri="{FF2B5EF4-FFF2-40B4-BE49-F238E27FC236}">
                <a16:creationId xmlns:a16="http://schemas.microsoft.com/office/drawing/2014/main" id="{764730EB-A9FB-498D-A1F0-8A87DFE0CE2D}"/>
              </a:ext>
            </a:extLst>
          </p:cNvPr>
          <p:cNvSpPr>
            <a:spLocks xmlns:a="http://schemas.openxmlformats.org/drawingml/2006/main" noGrp="1"/>
          </p:cNvSpPr>
          <p:nvPr/>
        </p:nvSpPr>
        <p:spPr>
          <a:xfrm xmlns:a="http://schemas.openxmlformats.org/drawingml/2006/main">
            <a:off x="3190875" y="434340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Verbindung, Ziel und Rechte gemeinsam prüfen. Für die Diskussion können wir zuerst die Sollwerte lesen.</a:t>
            </a:r>
          </a:p>
        </p:txBody>
      </p:sp>
      <p:sp>
        <p:nvSpPr>
          <p:cNvPr id="8" name="text-7">
            <a:extLst xmlns:a="http://schemas.openxmlformats.org/drawingml/2006/main">
              <a:ext uri="{FF2B5EF4-FFF2-40B4-BE49-F238E27FC236}">
                <a16:creationId xmlns:a16="http://schemas.microsoft.com/office/drawing/2014/main" id="{4F265193-67BE-444B-8FC9-35965E505C03}"/>
              </a:ext>
            </a:extLst>
          </p:cNvPr>
          <p:cNvSpPr>
            <a:spLocks xmlns:a="http://schemas.openxmlformats.org/drawingml/2006/main" noGrp="1"/>
          </p:cNvSpPr>
          <p:nvPr/>
        </p:nvSpPr>
        <p:spPr>
          <a:xfrm xmlns:a="http://schemas.openxmlformats.org/drawingml/2006/main">
            <a:off x="685800" y="5876925"/>
            <a:ext cx="10553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0">
                <a:solidFill>
                  <a:srgbClr val="52647A"/>
                </a:solidFill>
                <a:latin typeface="Arial"/>
                <a:ea typeface="Arial"/>
                <a:cs typeface="Arial"/>
              </a:defRPr>
            </a:defPPr>
            <a:lvl1pPr>
              <a:defRPr sz="1800" b="0">
                <a:solidFill>
                  <a:srgbClr val="52647A"/>
                </a:solidFill>
                <a:latin typeface="Arial"/>
                <a:ea typeface="Arial"/>
                <a:cs typeface="Arial"/>
              </a:defRPr>
            </a:lvl1pPr>
            <a:lvl2pPr>
              <a:defRPr sz="1800" b="0">
                <a:solidFill>
                  <a:srgbClr val="52647A"/>
                </a:solidFill>
                <a:latin typeface="Arial"/>
                <a:ea typeface="Arial"/>
                <a:cs typeface="Arial"/>
              </a:defRPr>
            </a:lvl2pPr>
            <a:lvl3pPr>
              <a:defRPr sz="1800" b="0">
                <a:solidFill>
                  <a:srgbClr val="52647A"/>
                </a:solidFill>
                <a:latin typeface="Arial"/>
                <a:ea typeface="Arial"/>
                <a:cs typeface="Arial"/>
              </a:defRPr>
            </a:lvl3pPr>
            <a:lvl4pPr>
              <a:defRPr sz="1800" b="0">
                <a:solidFill>
                  <a:srgbClr val="52647A"/>
                </a:solidFill>
                <a:latin typeface="Arial"/>
                <a:ea typeface="Arial"/>
                <a:cs typeface="Arial"/>
              </a:defRPr>
            </a:lvl4pPr>
            <a:lvl5pPr>
              <a:defRPr sz="1800" b="0">
                <a:solidFill>
                  <a:srgbClr val="52647A"/>
                </a:solidFill>
                <a:latin typeface="Arial"/>
                <a:ea typeface="Arial"/>
                <a:cs typeface="Arial"/>
              </a:defRPr>
            </a:lvl5pPr>
            <a:lvl6pPr>
              <a:defRPr sz="1800" b="0">
                <a:solidFill>
                  <a:srgbClr val="52647A"/>
                </a:solidFill>
                <a:latin typeface="Arial"/>
                <a:ea typeface="Arial"/>
                <a:cs typeface="Arial"/>
              </a:defRPr>
            </a:lvl6pPr>
            <a:lvl7pPr>
              <a:defRPr sz="1800" b="0">
                <a:solidFill>
                  <a:srgbClr val="52647A"/>
                </a:solidFill>
                <a:latin typeface="Arial"/>
                <a:ea typeface="Arial"/>
                <a:cs typeface="Arial"/>
              </a:defRPr>
            </a:lvl7pPr>
            <a:lvl8pPr>
              <a:defRPr sz="1800" b="0">
                <a:solidFill>
                  <a:srgbClr val="52647A"/>
                </a:solidFill>
                <a:latin typeface="Arial"/>
                <a:ea typeface="Arial"/>
                <a:cs typeface="Arial"/>
              </a:defRPr>
            </a:lvl8pPr>
            <a:lvl9pPr>
              <a:defRPr sz="1800" b="0">
                <a:solidFill>
                  <a:srgbClr val="52647A"/>
                </a:solidFill>
                <a:latin typeface="Arial"/>
                <a:ea typeface="Arial"/>
                <a:cs typeface="Arial"/>
              </a:defRPr>
            </a:lvl9pPr>
          </a:lstStyle>
          <a:p xmlns:a="http://schemas.openxmlformats.org/drawingml/2006/main">
            <a:pPr>
              <a:defRPr sz="1800" b="0">
                <a:solidFill>
                  <a:srgbClr val="52647A"/>
                </a:solidFill>
                <a:latin typeface="Arial"/>
                <a:ea typeface="Arial"/>
                <a:cs typeface="Arial"/>
              </a:defRPr>
            </a:pPr>
            <a:r>
              <a:rPr sz="1800" b="0">
                <a:solidFill>
                  <a:srgbClr val="52647A"/>
                </a:solidFill>
                <a:latin typeface="Arial"/>
                <a:ea typeface="Arial"/>
                <a:cs typeface="Arial"/>
              </a:rPr>
              <a:t>Spätere vollständige Demos nutzen ihre dokumentierten Setup- und Cleanup-Verträge.</a:t>
            </a:r>
          </a:p>
        </p:txBody>
      </p:sp>
      <p:sp>
        <p:nvSpPr>
          <p:cNvPr id="9" name="text-8">
            <a:extLst xmlns:a="http://schemas.openxmlformats.org/drawingml/2006/main">
              <a:ext uri="{FF2B5EF4-FFF2-40B4-BE49-F238E27FC236}">
                <a16:creationId xmlns:a16="http://schemas.microsoft.com/office/drawing/2014/main" id="{DB9B0A9E-72A4-44CD-9E4B-C32F20469EB6}"/>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vl1pPr>
              <a:defRPr sz="1350" b="0">
                <a:solidFill>
                  <a:srgbClr val="52647A"/>
                </a:solidFill>
                <a:latin typeface="Arial"/>
                <a:ea typeface="Arial"/>
                <a:cs typeface="Arial"/>
              </a:defRPr>
            </a:lvl1pPr>
            <a:lvl2pPr>
              <a:defRPr sz="1350" b="0">
                <a:solidFill>
                  <a:srgbClr val="52647A"/>
                </a:solidFill>
                <a:latin typeface="Arial"/>
                <a:ea typeface="Arial"/>
                <a:cs typeface="Arial"/>
              </a:defRPr>
            </a:lvl2pPr>
            <a:lvl3pPr>
              <a:defRPr sz="1350" b="0">
                <a:solidFill>
                  <a:srgbClr val="52647A"/>
                </a:solidFill>
                <a:latin typeface="Arial"/>
                <a:ea typeface="Arial"/>
                <a:cs typeface="Arial"/>
              </a:defRPr>
            </a:lvl3pPr>
            <a:lvl4pPr>
              <a:defRPr sz="1350" b="0">
                <a:solidFill>
                  <a:srgbClr val="52647A"/>
                </a:solidFill>
                <a:latin typeface="Arial"/>
                <a:ea typeface="Arial"/>
                <a:cs typeface="Arial"/>
              </a:defRPr>
            </a:lvl4pPr>
            <a:lvl5pPr>
              <a:defRPr sz="1350" b="0">
                <a:solidFill>
                  <a:srgbClr val="52647A"/>
                </a:solidFill>
                <a:latin typeface="Arial"/>
                <a:ea typeface="Arial"/>
                <a:cs typeface="Arial"/>
              </a:defRPr>
            </a:lvl5pPr>
            <a:lvl6pPr>
              <a:defRPr sz="1350" b="0">
                <a:solidFill>
                  <a:srgbClr val="52647A"/>
                </a:solidFill>
                <a:latin typeface="Arial"/>
                <a:ea typeface="Arial"/>
                <a:cs typeface="Arial"/>
              </a:defRPr>
            </a:lvl6pPr>
            <a:lvl7pPr>
              <a:defRPr sz="1350" b="0">
                <a:solidFill>
                  <a:srgbClr val="52647A"/>
                </a:solidFill>
                <a:latin typeface="Arial"/>
                <a:ea typeface="Arial"/>
                <a:cs typeface="Arial"/>
              </a:defRPr>
            </a:lvl7pPr>
            <a:lvl8pPr>
              <a:defRPr sz="1350" b="0">
                <a:solidFill>
                  <a:srgbClr val="52647A"/>
                </a:solidFill>
                <a:latin typeface="Arial"/>
                <a:ea typeface="Arial"/>
                <a:cs typeface="Arial"/>
              </a:defRPr>
            </a:lvl8pPr>
            <a:lvl9pPr>
              <a:defRPr sz="1350" b="0">
                <a:solidFill>
                  <a:srgbClr val="52647A"/>
                </a:solidFill>
                <a:latin typeface="Arial"/>
                <a:ea typeface="Arial"/>
                <a:cs typeface="Arial"/>
              </a:defRPr>
            </a:lvl9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17  CUR-014 / CUR-018</a:t>
            </a:r>
          </a:p>
        </p:txBody>
      </p:sp>
    </p:spTree>
    <p:extLst>
      <p:ext uri="{BB962C8B-B14F-4D97-AF65-F5344CB8AC3E}">
        <p14:creationId xmlns:p14="http://schemas.microsoft.com/office/powerpoint/2010/main" val="51354168"/>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text-0">
            <a:extLst xmlns:a="http://schemas.openxmlformats.org/drawingml/2006/main">
              <a:ext uri="{FF2B5EF4-FFF2-40B4-BE49-F238E27FC236}">
                <a16:creationId xmlns:a16="http://schemas.microsoft.com/office/drawing/2014/main" id="{F6B8212F-49BB-4461-8728-3399931AAD84}"/>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vl1pPr>
              <a:defRPr sz="3300" b="1">
                <a:solidFill>
                  <a:srgbClr val="15283D"/>
                </a:solidFill>
                <a:latin typeface="Arial"/>
                <a:ea typeface="Arial"/>
                <a:cs typeface="Arial"/>
              </a:defRPr>
            </a:lvl1pPr>
            <a:lvl2pPr>
              <a:defRPr sz="3300" b="1">
                <a:solidFill>
                  <a:srgbClr val="15283D"/>
                </a:solidFill>
                <a:latin typeface="Arial"/>
                <a:ea typeface="Arial"/>
                <a:cs typeface="Arial"/>
              </a:defRPr>
            </a:lvl2pPr>
            <a:lvl3pPr>
              <a:defRPr sz="3300" b="1">
                <a:solidFill>
                  <a:srgbClr val="15283D"/>
                </a:solidFill>
                <a:latin typeface="Arial"/>
                <a:ea typeface="Arial"/>
                <a:cs typeface="Arial"/>
              </a:defRPr>
            </a:lvl3pPr>
            <a:lvl4pPr>
              <a:defRPr sz="3300" b="1">
                <a:solidFill>
                  <a:srgbClr val="15283D"/>
                </a:solidFill>
                <a:latin typeface="Arial"/>
                <a:ea typeface="Arial"/>
                <a:cs typeface="Arial"/>
              </a:defRPr>
            </a:lvl4pPr>
            <a:lvl5pPr>
              <a:defRPr sz="3300" b="1">
                <a:solidFill>
                  <a:srgbClr val="15283D"/>
                </a:solidFill>
                <a:latin typeface="Arial"/>
                <a:ea typeface="Arial"/>
                <a:cs typeface="Arial"/>
              </a:defRPr>
            </a:lvl5pPr>
            <a:lvl6pPr>
              <a:defRPr sz="3300" b="1">
                <a:solidFill>
                  <a:srgbClr val="15283D"/>
                </a:solidFill>
                <a:latin typeface="Arial"/>
                <a:ea typeface="Arial"/>
                <a:cs typeface="Arial"/>
              </a:defRPr>
            </a:lvl6pPr>
            <a:lvl7pPr>
              <a:defRPr sz="3300" b="1">
                <a:solidFill>
                  <a:srgbClr val="15283D"/>
                </a:solidFill>
                <a:latin typeface="Arial"/>
                <a:ea typeface="Arial"/>
                <a:cs typeface="Arial"/>
              </a:defRPr>
            </a:lvl7pPr>
            <a:lvl8pPr>
              <a:defRPr sz="3300" b="1">
                <a:solidFill>
                  <a:srgbClr val="15283D"/>
                </a:solidFill>
                <a:latin typeface="Arial"/>
                <a:ea typeface="Arial"/>
                <a:cs typeface="Arial"/>
              </a:defRPr>
            </a:lvl8pPr>
            <a:lvl9pPr>
              <a:defRPr sz="3300" b="1">
                <a:solidFill>
                  <a:srgbClr val="15283D"/>
                </a:solidFill>
                <a:latin typeface="Arial"/>
                <a:ea typeface="Arial"/>
                <a:cs typeface="Arial"/>
              </a:defRPr>
            </a:lvl9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Ein Vektor als kleine Zahlenliste</a:t>
            </a:r>
          </a:p>
        </p:txBody>
      </p:sp>
      <p:sp>
        <p:nvSpPr>
          <p:cNvPr id="2" name="text-1">
            <a:extLst xmlns:a="http://schemas.openxmlformats.org/drawingml/2006/main">
              <a:ext uri="{FF2B5EF4-FFF2-40B4-BE49-F238E27FC236}">
                <a16:creationId xmlns:a16="http://schemas.microsoft.com/office/drawing/2014/main" id="{EA027A64-70BE-428E-AED4-CB4669A0B093}"/>
              </a:ext>
            </a:extLst>
          </p:cNvPr>
          <p:cNvSpPr>
            <a:spLocks xmlns:a="http://schemas.openxmlformats.org/drawingml/2006/main" noGrp="1"/>
          </p:cNvSpPr>
          <p:nvPr/>
        </p:nvSpPr>
        <p:spPr>
          <a:xfrm xmlns:a="http://schemas.openxmlformats.org/drawingml/2006/main">
            <a:off x="685800" y="177165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Drei Komponenten</a:t>
            </a:r>
          </a:p>
        </p:txBody>
      </p:sp>
      <p:sp>
        <p:nvSpPr>
          <p:cNvPr id="3" name="text-2">
            <a:extLst xmlns:a="http://schemas.openxmlformats.org/drawingml/2006/main">
              <a:ext uri="{FF2B5EF4-FFF2-40B4-BE49-F238E27FC236}">
                <a16:creationId xmlns:a16="http://schemas.microsoft.com/office/drawing/2014/main" id="{31017007-BA3D-41FD-A0F4-DDC294FB2053}"/>
              </a:ext>
            </a:extLst>
          </p:cNvPr>
          <p:cNvSpPr>
            <a:spLocks xmlns:a="http://schemas.openxmlformats.org/drawingml/2006/main" noGrp="1"/>
          </p:cNvSpPr>
          <p:nvPr/>
        </p:nvSpPr>
        <p:spPr>
          <a:xfrm xmlns:a="http://schemas.openxmlformats.org/drawingml/2006/main">
            <a:off x="3190875" y="177165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VECTOR(3) enthält drei numerische Werte, zum Beispiel [1,0,0].</a:t>
            </a:r>
          </a:p>
        </p:txBody>
      </p:sp>
      <p:sp>
        <p:nvSpPr>
          <p:cNvPr id="4" name="text-3">
            <a:extLst xmlns:a="http://schemas.openxmlformats.org/drawingml/2006/main">
              <a:ext uri="{FF2B5EF4-FFF2-40B4-BE49-F238E27FC236}">
                <a16:creationId xmlns:a16="http://schemas.microsoft.com/office/drawing/2014/main" id="{B55D235B-E04B-469A-863F-E78B6C5FC719}"/>
              </a:ext>
            </a:extLst>
          </p:cNvPr>
          <p:cNvSpPr>
            <a:spLocks xmlns:a="http://schemas.openxmlformats.org/drawingml/2006/main" noGrp="1"/>
          </p:cNvSpPr>
          <p:nvPr/>
        </p:nvSpPr>
        <p:spPr>
          <a:xfrm xmlns:a="http://schemas.openxmlformats.org/drawingml/2006/main">
            <a:off x="685800" y="3057525"/>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Unsere Lehrwerte</a:t>
            </a:r>
          </a:p>
        </p:txBody>
      </p:sp>
      <p:sp>
        <p:nvSpPr>
          <p:cNvPr id="5" name="text-4">
            <a:extLst xmlns:a="http://schemas.openxmlformats.org/drawingml/2006/main">
              <a:ext uri="{FF2B5EF4-FFF2-40B4-BE49-F238E27FC236}">
                <a16:creationId xmlns:a16="http://schemas.microsoft.com/office/drawing/2014/main" id="{47966AA7-7EC7-42CA-866A-A87633CC5A6D}"/>
              </a:ext>
            </a:extLst>
          </p:cNvPr>
          <p:cNvSpPr>
            <a:spLocks xmlns:a="http://schemas.openxmlformats.org/drawingml/2006/main" noGrp="1"/>
          </p:cNvSpPr>
          <p:nvPr/>
        </p:nvSpPr>
        <p:spPr>
          <a:xfrm xmlns:a="http://schemas.openxmlformats.org/drawingml/2006/main">
            <a:off x="3190875" y="3057525"/>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Wir geben alle Zahlen ausdrücklich vor. Sie stammen aus keinem Textmodell.</a:t>
            </a:r>
          </a:p>
        </p:txBody>
      </p:sp>
      <p:sp>
        <p:nvSpPr>
          <p:cNvPr id="6" name="text-5">
            <a:extLst xmlns:a="http://schemas.openxmlformats.org/drawingml/2006/main">
              <a:ext uri="{FF2B5EF4-FFF2-40B4-BE49-F238E27FC236}">
                <a16:creationId xmlns:a16="http://schemas.microsoft.com/office/drawing/2014/main" id="{CFDCF66B-E730-457F-AF04-092D1DDE7021}"/>
              </a:ext>
            </a:extLst>
          </p:cNvPr>
          <p:cNvSpPr>
            <a:spLocks xmlns:a="http://schemas.openxmlformats.org/drawingml/2006/main" noGrp="1"/>
          </p:cNvSpPr>
          <p:nvPr/>
        </p:nvSpPr>
        <p:spPr>
          <a:xfrm xmlns:a="http://schemas.openxmlformats.org/drawingml/2006/main">
            <a:off x="685800" y="434340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Vergleich</a:t>
            </a:r>
          </a:p>
        </p:txBody>
      </p:sp>
      <p:sp>
        <p:nvSpPr>
          <p:cNvPr id="7" name="text-6">
            <a:extLst xmlns:a="http://schemas.openxmlformats.org/drawingml/2006/main">
              <a:ext uri="{FF2B5EF4-FFF2-40B4-BE49-F238E27FC236}">
                <a16:creationId xmlns:a16="http://schemas.microsoft.com/office/drawing/2014/main" id="{31FEB5AC-9D0F-4DFD-821C-79A24126A149}"/>
              </a:ext>
            </a:extLst>
          </p:cNvPr>
          <p:cNvSpPr>
            <a:spLocks xmlns:a="http://schemas.openxmlformats.org/drawingml/2006/main" noGrp="1"/>
          </p:cNvSpPr>
          <p:nvPr/>
        </p:nvSpPr>
        <p:spPr>
          <a:xfrm xmlns:a="http://schemas.openxmlformats.org/drawingml/2006/main">
            <a:off x="3190875" y="434340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Die Cosine-Distanz vergleicht die Richtung der beiden Zahlenlisten.</a:t>
            </a:r>
          </a:p>
        </p:txBody>
      </p:sp>
      <p:sp>
        <p:nvSpPr>
          <p:cNvPr id="8" name="text-7">
            <a:extLst xmlns:a="http://schemas.openxmlformats.org/drawingml/2006/main">
              <a:ext uri="{FF2B5EF4-FFF2-40B4-BE49-F238E27FC236}">
                <a16:creationId xmlns:a16="http://schemas.microsoft.com/office/drawing/2014/main" id="{05505FA1-80FB-442E-9E45-4F40C425DA4D}"/>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vl1pPr>
              <a:defRPr sz="1350" b="0">
                <a:solidFill>
                  <a:srgbClr val="52647A"/>
                </a:solidFill>
                <a:latin typeface="Arial"/>
                <a:ea typeface="Arial"/>
                <a:cs typeface="Arial"/>
              </a:defRPr>
            </a:lvl1pPr>
            <a:lvl2pPr>
              <a:defRPr sz="1350" b="0">
                <a:solidFill>
                  <a:srgbClr val="52647A"/>
                </a:solidFill>
                <a:latin typeface="Arial"/>
                <a:ea typeface="Arial"/>
                <a:cs typeface="Arial"/>
              </a:defRPr>
            </a:lvl2pPr>
            <a:lvl3pPr>
              <a:defRPr sz="1350" b="0">
                <a:solidFill>
                  <a:srgbClr val="52647A"/>
                </a:solidFill>
                <a:latin typeface="Arial"/>
                <a:ea typeface="Arial"/>
                <a:cs typeface="Arial"/>
              </a:defRPr>
            </a:lvl3pPr>
            <a:lvl4pPr>
              <a:defRPr sz="1350" b="0">
                <a:solidFill>
                  <a:srgbClr val="52647A"/>
                </a:solidFill>
                <a:latin typeface="Arial"/>
                <a:ea typeface="Arial"/>
                <a:cs typeface="Arial"/>
              </a:defRPr>
            </a:lvl4pPr>
            <a:lvl5pPr>
              <a:defRPr sz="1350" b="0">
                <a:solidFill>
                  <a:srgbClr val="52647A"/>
                </a:solidFill>
                <a:latin typeface="Arial"/>
                <a:ea typeface="Arial"/>
                <a:cs typeface="Arial"/>
              </a:defRPr>
            </a:lvl5pPr>
            <a:lvl6pPr>
              <a:defRPr sz="1350" b="0">
                <a:solidFill>
                  <a:srgbClr val="52647A"/>
                </a:solidFill>
                <a:latin typeface="Arial"/>
                <a:ea typeface="Arial"/>
                <a:cs typeface="Arial"/>
              </a:defRPr>
            </a:lvl6pPr>
            <a:lvl7pPr>
              <a:defRPr sz="1350" b="0">
                <a:solidFill>
                  <a:srgbClr val="52647A"/>
                </a:solidFill>
                <a:latin typeface="Arial"/>
                <a:ea typeface="Arial"/>
                <a:cs typeface="Arial"/>
              </a:defRPr>
            </a:lvl7pPr>
            <a:lvl8pPr>
              <a:defRPr sz="1350" b="0">
                <a:solidFill>
                  <a:srgbClr val="52647A"/>
                </a:solidFill>
                <a:latin typeface="Arial"/>
                <a:ea typeface="Arial"/>
                <a:cs typeface="Arial"/>
              </a:defRPr>
            </a:lvl8pPr>
            <a:lvl9pPr>
              <a:defRPr sz="1350" b="0">
                <a:solidFill>
                  <a:srgbClr val="52647A"/>
                </a:solidFill>
                <a:latin typeface="Arial"/>
                <a:ea typeface="Arial"/>
                <a:cs typeface="Arial"/>
              </a:defRPr>
            </a:lvl9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18  CUR-013 / CUR-014</a:t>
            </a:r>
          </a:p>
        </p:txBody>
      </p:sp>
    </p:spTree>
    <p:extLst>
      <p:ext uri="{BB962C8B-B14F-4D97-AF65-F5344CB8AC3E}">
        <p14:creationId xmlns:p14="http://schemas.microsoft.com/office/powerpoint/2010/main" val="1905920122"/>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text-0">
            <a:extLst xmlns:a="http://schemas.openxmlformats.org/drawingml/2006/main">
              <a:ext uri="{FF2B5EF4-FFF2-40B4-BE49-F238E27FC236}">
                <a16:creationId xmlns:a16="http://schemas.microsoft.com/office/drawing/2014/main" id="{7B8D8E6E-5E3C-4DD4-92E0-BC4F7E518EDC}"/>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vl1pPr>
              <a:defRPr sz="3300" b="1">
                <a:solidFill>
                  <a:srgbClr val="15283D"/>
                </a:solidFill>
                <a:latin typeface="Arial"/>
                <a:ea typeface="Arial"/>
                <a:cs typeface="Arial"/>
              </a:defRPr>
            </a:lvl1pPr>
            <a:lvl2pPr>
              <a:defRPr sz="3300" b="1">
                <a:solidFill>
                  <a:srgbClr val="15283D"/>
                </a:solidFill>
                <a:latin typeface="Arial"/>
                <a:ea typeface="Arial"/>
                <a:cs typeface="Arial"/>
              </a:defRPr>
            </a:lvl2pPr>
            <a:lvl3pPr>
              <a:defRPr sz="3300" b="1">
                <a:solidFill>
                  <a:srgbClr val="15283D"/>
                </a:solidFill>
                <a:latin typeface="Arial"/>
                <a:ea typeface="Arial"/>
                <a:cs typeface="Arial"/>
              </a:defRPr>
            </a:lvl3pPr>
            <a:lvl4pPr>
              <a:defRPr sz="3300" b="1">
                <a:solidFill>
                  <a:srgbClr val="15283D"/>
                </a:solidFill>
                <a:latin typeface="Arial"/>
                <a:ea typeface="Arial"/>
                <a:cs typeface="Arial"/>
              </a:defRPr>
            </a:lvl4pPr>
            <a:lvl5pPr>
              <a:defRPr sz="3300" b="1">
                <a:solidFill>
                  <a:srgbClr val="15283D"/>
                </a:solidFill>
                <a:latin typeface="Arial"/>
                <a:ea typeface="Arial"/>
                <a:cs typeface="Arial"/>
              </a:defRPr>
            </a:lvl5pPr>
            <a:lvl6pPr>
              <a:defRPr sz="3300" b="1">
                <a:solidFill>
                  <a:srgbClr val="15283D"/>
                </a:solidFill>
                <a:latin typeface="Arial"/>
                <a:ea typeface="Arial"/>
                <a:cs typeface="Arial"/>
              </a:defRPr>
            </a:lvl6pPr>
            <a:lvl7pPr>
              <a:defRPr sz="3300" b="1">
                <a:solidFill>
                  <a:srgbClr val="15283D"/>
                </a:solidFill>
                <a:latin typeface="Arial"/>
                <a:ea typeface="Arial"/>
                <a:cs typeface="Arial"/>
              </a:defRPr>
            </a:lvl7pPr>
            <a:lvl8pPr>
              <a:defRPr sz="3300" b="1">
                <a:solidFill>
                  <a:srgbClr val="15283D"/>
                </a:solidFill>
                <a:latin typeface="Arial"/>
                <a:ea typeface="Arial"/>
                <a:cs typeface="Arial"/>
              </a:defRPr>
            </a:lvl8pPr>
            <a:lvl9pPr>
              <a:defRPr sz="3300" b="1">
                <a:solidFill>
                  <a:srgbClr val="15283D"/>
                </a:solidFill>
                <a:latin typeface="Arial"/>
                <a:ea typeface="Arial"/>
                <a:cs typeface="Arial"/>
              </a:defRPr>
            </a:lvl9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Vorhersage für drei Richtungen</a:t>
            </a:r>
          </a:p>
        </p:txBody>
      </p:sp>
      <p:graphicFrame>
        <p:nvGraphicFramePr>
          <p:cNvPr id="2" name="">
            <a:extLst xmlns:a="http://schemas.openxmlformats.org/drawingml/2006/main">
              <a:ext uri="{FF2B5EF4-FFF2-40B4-BE49-F238E27FC236}">
                <a16:creationId xmlns:a16="http://schemas.microsoft.com/office/drawing/2014/main" id="{EB8EAA46-8D61-432C-9AE2-50E95FC9ABB0}"/>
              </a:ext>
            </a:extLst>
          </p:cNvPr>
          <p:cNvGraphicFramePr/>
          <p:nvPr/>
        </p:nvGraphicFramePr>
        <p:xfrm>
          <a:off xmlns:a="http://schemas.openxmlformats.org/drawingml/2006/main" x="685800" y="1771650"/>
          <a:ext xmlns:a="http://schemas.openxmlformats.org/drawingml/2006/main" cx="10668000" cy="3143250"/>
        </p:xfrm>
        <a:graphic xmlns:a="http://schemas.openxmlformats.org/drawingml/2006/main">
          <a:graphicData uri="http://schemas.openxmlformats.org/drawingml/2006/table">
            <a:tbl>
              <a:tblPr/>
              <a:tblGrid>
                <a:gridCol w="1428750"/>
                <a:gridCol w="2952750"/>
                <a:gridCol w="6286500"/>
              </a:tblGrid>
              <a:tr h="785813">
                <a:tc>
                  <a:txBody>
                    <a:bodyPr/>
                    <a:lstStyle/>
                    <a:p>
                      <a:r>
                        <a:rPr sz="1800" b="1">
                          <a:solidFill>
                            <a:srgbClr val="15283D"/>
                          </a:solidFill>
                          <a:latin typeface="Arial"/>
                          <a:ea typeface="Arial"/>
                          <a:cs typeface="Arial"/>
                        </a:rPr>
                        <a:t>Id</a:t>
                      </a:r>
                    </a:p>
                  </a:txBody>
                  <a:tcPr marL="114300" marR="114300" marT="47625" marB="47625" anchor="ctr">
                    <a:lnL w="9525">
                      <a:solidFill>
                        <a:srgbClr val="C8D5DE"/>
                      </a:solidFill>
                      <a:prstDash val="solid"/>
                    </a:lnL>
                    <a:lnR w="9525">
                      <a:solidFill>
                        <a:srgbClr val="C8D5DE"/>
                      </a:solidFill>
                      <a:prstDash val="solid"/>
                    </a:lnR>
                    <a:lnT w="9525">
                      <a:solidFill>
                        <a:srgbClr val="C8D5DE"/>
                      </a:solidFill>
                      <a:prstDash val="solid"/>
                    </a:lnT>
                    <a:lnB w="9525">
                      <a:solidFill>
                        <a:srgbClr val="C8D5DE"/>
                      </a:solidFill>
                      <a:prstDash val="solid"/>
                    </a:lnB>
                    <a:solidFill>
                      <a:srgbClr val="E8F2F2"/>
                    </a:solidFill>
                  </a:tcPr>
                </a:tc>
                <a:tc>
                  <a:txBody>
                    <a:bodyPr/>
                    <a:lstStyle/>
                    <a:p>
                      <a:r>
                        <a:rPr sz="1800" b="1">
                          <a:solidFill>
                            <a:srgbClr val="15283D"/>
                          </a:solidFill>
                          <a:latin typeface="Arial"/>
                          <a:ea typeface="Arial"/>
                          <a:cs typeface="Arial"/>
                        </a:rPr>
                        <a:t>Vektor</a:t>
                      </a:r>
                    </a:p>
                  </a:txBody>
                  <a:tcPr marL="114300" marR="114300" marT="47625" marB="47625" anchor="ctr">
                    <a:lnR w="9525">
                      <a:solidFill>
                        <a:srgbClr val="C8D5DE"/>
                      </a:solidFill>
                      <a:prstDash val="solid"/>
                    </a:lnR>
                    <a:lnT w="9525">
                      <a:solidFill>
                        <a:srgbClr val="C8D5DE"/>
                      </a:solidFill>
                      <a:prstDash val="solid"/>
                    </a:lnT>
                    <a:lnB w="9525">
                      <a:solidFill>
                        <a:srgbClr val="C8D5DE"/>
                      </a:solidFill>
                      <a:prstDash val="solid"/>
                    </a:lnB>
                    <a:solidFill>
                      <a:srgbClr val="E8F2F2"/>
                    </a:solidFill>
                  </a:tcPr>
                </a:tc>
                <a:tc>
                  <a:txBody>
                    <a:bodyPr/>
                    <a:lstStyle/>
                    <a:p>
                      <a:r>
                        <a:rPr sz="1800" b="1">
                          <a:solidFill>
                            <a:srgbClr val="15283D"/>
                          </a:solidFill>
                          <a:latin typeface="Arial"/>
                          <a:ea typeface="Arial"/>
                          <a:cs typeface="Arial"/>
                        </a:rPr>
                        <a:t>Richtung zur Frage [1,0,0]</a:t>
                      </a:r>
                    </a:p>
                  </a:txBody>
                  <a:tcPr marL="114300" marR="114300" marT="47625" marB="47625" anchor="ctr">
                    <a:lnR w="9525">
                      <a:solidFill>
                        <a:srgbClr val="C8D5DE"/>
                      </a:solidFill>
                      <a:prstDash val="solid"/>
                    </a:lnR>
                    <a:lnT w="9525">
                      <a:solidFill>
                        <a:srgbClr val="C8D5DE"/>
                      </a:solidFill>
                      <a:prstDash val="solid"/>
                    </a:lnT>
                    <a:lnB w="9525">
                      <a:solidFill>
                        <a:srgbClr val="C8D5DE"/>
                      </a:solidFill>
                      <a:prstDash val="solid"/>
                    </a:lnB>
                    <a:solidFill>
                      <a:srgbClr val="E8F2F2"/>
                    </a:solidFill>
                  </a:tcPr>
                </a:tc>
              </a:tr>
              <a:tr h="785813">
                <a:tc>
                  <a:txBody>
                    <a:bodyPr/>
                    <a:lstStyle/>
                    <a:p>
                      <a:r>
                        <a:rPr sz="1800" b="0">
                          <a:solidFill>
                            <a:srgbClr val="15283D"/>
                          </a:solidFill>
                          <a:latin typeface="Arial"/>
                          <a:ea typeface="Arial"/>
                          <a:cs typeface="Arial"/>
                        </a:rPr>
                        <a:t>1</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[1,0,0]</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Gleiche Richtung</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r h="785813">
                <a:tc>
                  <a:txBody>
                    <a:bodyPr/>
                    <a:lstStyle/>
                    <a:p>
                      <a:r>
                        <a:rPr sz="1800" b="0">
                          <a:solidFill>
                            <a:srgbClr val="15283D"/>
                          </a:solidFill>
                          <a:latin typeface="Arial"/>
                          <a:ea typeface="Arial"/>
                          <a:cs typeface="Arial"/>
                        </a:rPr>
                        <a:t>2</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[0,1,0]</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Senkrechte Richtung</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r h="785813">
                <a:tc>
                  <a:txBody>
                    <a:bodyPr/>
                    <a:lstStyle/>
                    <a:p>
                      <a:r>
                        <a:rPr sz="1800" b="0">
                          <a:solidFill>
                            <a:srgbClr val="15283D"/>
                          </a:solidFill>
                          <a:latin typeface="Arial"/>
                          <a:ea typeface="Arial"/>
                          <a:cs typeface="Arial"/>
                        </a:rPr>
                        <a:t>3</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[-1,0,0]</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Entgegengesetzte Richtung</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bl>
          </a:graphicData>
        </a:graphic>
      </p:graphicFrame>
      <p:sp>
        <p:nvSpPr>
          <p:cNvPr id="3" name="text-1">
            <a:extLst xmlns:a="http://schemas.openxmlformats.org/drawingml/2006/main">
              <a:ext uri="{FF2B5EF4-FFF2-40B4-BE49-F238E27FC236}">
                <a16:creationId xmlns:a16="http://schemas.microsoft.com/office/drawing/2014/main" id="{D8C4F06C-D5D8-4F64-8299-E70D3C7ED0D4}"/>
              </a:ext>
            </a:extLst>
          </p:cNvPr>
          <p:cNvSpPr>
            <a:spLocks xmlns:a="http://schemas.openxmlformats.org/drawingml/2006/main" noGrp="1"/>
          </p:cNvSpPr>
          <p:nvPr/>
        </p:nvSpPr>
        <p:spPr>
          <a:xfrm xmlns:a="http://schemas.openxmlformats.org/drawingml/2006/main">
            <a:off x="685800" y="5876925"/>
            <a:ext cx="10553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0">
                <a:solidFill>
                  <a:srgbClr val="52647A"/>
                </a:solidFill>
                <a:latin typeface="Arial"/>
                <a:ea typeface="Arial"/>
                <a:cs typeface="Arial"/>
              </a:defRPr>
            </a:defPPr>
            <a:lvl1pPr>
              <a:defRPr sz="1800" b="0">
                <a:solidFill>
                  <a:srgbClr val="52647A"/>
                </a:solidFill>
                <a:latin typeface="Arial"/>
                <a:ea typeface="Arial"/>
                <a:cs typeface="Arial"/>
              </a:defRPr>
            </a:lvl1pPr>
            <a:lvl2pPr>
              <a:defRPr sz="1800" b="0">
                <a:solidFill>
                  <a:srgbClr val="52647A"/>
                </a:solidFill>
                <a:latin typeface="Arial"/>
                <a:ea typeface="Arial"/>
                <a:cs typeface="Arial"/>
              </a:defRPr>
            </a:lvl2pPr>
            <a:lvl3pPr>
              <a:defRPr sz="1800" b="0">
                <a:solidFill>
                  <a:srgbClr val="52647A"/>
                </a:solidFill>
                <a:latin typeface="Arial"/>
                <a:ea typeface="Arial"/>
                <a:cs typeface="Arial"/>
              </a:defRPr>
            </a:lvl3pPr>
            <a:lvl4pPr>
              <a:defRPr sz="1800" b="0">
                <a:solidFill>
                  <a:srgbClr val="52647A"/>
                </a:solidFill>
                <a:latin typeface="Arial"/>
                <a:ea typeface="Arial"/>
                <a:cs typeface="Arial"/>
              </a:defRPr>
            </a:lvl4pPr>
            <a:lvl5pPr>
              <a:defRPr sz="1800" b="0">
                <a:solidFill>
                  <a:srgbClr val="52647A"/>
                </a:solidFill>
                <a:latin typeface="Arial"/>
                <a:ea typeface="Arial"/>
                <a:cs typeface="Arial"/>
              </a:defRPr>
            </a:lvl5pPr>
            <a:lvl6pPr>
              <a:defRPr sz="1800" b="0">
                <a:solidFill>
                  <a:srgbClr val="52647A"/>
                </a:solidFill>
                <a:latin typeface="Arial"/>
                <a:ea typeface="Arial"/>
                <a:cs typeface="Arial"/>
              </a:defRPr>
            </a:lvl6pPr>
            <a:lvl7pPr>
              <a:defRPr sz="1800" b="0">
                <a:solidFill>
                  <a:srgbClr val="52647A"/>
                </a:solidFill>
                <a:latin typeface="Arial"/>
                <a:ea typeface="Arial"/>
                <a:cs typeface="Arial"/>
              </a:defRPr>
            </a:lvl7pPr>
            <a:lvl8pPr>
              <a:defRPr sz="1800" b="0">
                <a:solidFill>
                  <a:srgbClr val="52647A"/>
                </a:solidFill>
                <a:latin typeface="Arial"/>
                <a:ea typeface="Arial"/>
                <a:cs typeface="Arial"/>
              </a:defRPr>
            </a:lvl8pPr>
            <a:lvl9pPr>
              <a:defRPr sz="1800" b="0">
                <a:solidFill>
                  <a:srgbClr val="52647A"/>
                </a:solidFill>
                <a:latin typeface="Arial"/>
                <a:ea typeface="Arial"/>
                <a:cs typeface="Arial"/>
              </a:defRPr>
            </a:lvl9pPr>
          </a:lstStyle>
          <a:p xmlns:a="http://schemas.openxmlformats.org/drawingml/2006/main">
            <a:pPr>
              <a:defRPr sz="1800" b="0">
                <a:solidFill>
                  <a:srgbClr val="52647A"/>
                </a:solidFill>
                <a:latin typeface="Arial"/>
                <a:ea typeface="Arial"/>
                <a:cs typeface="Arial"/>
              </a:defRPr>
            </a:pPr>
            <a:r>
              <a:rPr sz="1800" b="0">
                <a:solidFill>
                  <a:srgbClr val="52647A"/>
                </a:solidFill>
                <a:latin typeface="Arial"/>
                <a:ea typeface="Arial"/>
                <a:cs typeface="Arial"/>
              </a:rPr>
              <a:t>Vorhersage: Welcher Vektor soll bei aufsteigender Cosine-Distanz zuerst erscheinen?</a:t>
            </a:r>
          </a:p>
        </p:txBody>
      </p:sp>
      <p:sp>
        <p:nvSpPr>
          <p:cNvPr id="4" name="text-2">
            <a:extLst xmlns:a="http://schemas.openxmlformats.org/drawingml/2006/main">
              <a:ext uri="{FF2B5EF4-FFF2-40B4-BE49-F238E27FC236}">
                <a16:creationId xmlns:a16="http://schemas.microsoft.com/office/drawing/2014/main" id="{D7CC36C3-F536-41E6-B9E2-FABBC82EF019}"/>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vl1pPr>
              <a:defRPr sz="1350" b="0">
                <a:solidFill>
                  <a:srgbClr val="52647A"/>
                </a:solidFill>
                <a:latin typeface="Arial"/>
                <a:ea typeface="Arial"/>
                <a:cs typeface="Arial"/>
              </a:defRPr>
            </a:lvl1pPr>
            <a:lvl2pPr>
              <a:defRPr sz="1350" b="0">
                <a:solidFill>
                  <a:srgbClr val="52647A"/>
                </a:solidFill>
                <a:latin typeface="Arial"/>
                <a:ea typeface="Arial"/>
                <a:cs typeface="Arial"/>
              </a:defRPr>
            </a:lvl2pPr>
            <a:lvl3pPr>
              <a:defRPr sz="1350" b="0">
                <a:solidFill>
                  <a:srgbClr val="52647A"/>
                </a:solidFill>
                <a:latin typeface="Arial"/>
                <a:ea typeface="Arial"/>
                <a:cs typeface="Arial"/>
              </a:defRPr>
            </a:lvl3pPr>
            <a:lvl4pPr>
              <a:defRPr sz="1350" b="0">
                <a:solidFill>
                  <a:srgbClr val="52647A"/>
                </a:solidFill>
                <a:latin typeface="Arial"/>
                <a:ea typeface="Arial"/>
                <a:cs typeface="Arial"/>
              </a:defRPr>
            </a:lvl4pPr>
            <a:lvl5pPr>
              <a:defRPr sz="1350" b="0">
                <a:solidFill>
                  <a:srgbClr val="52647A"/>
                </a:solidFill>
                <a:latin typeface="Arial"/>
                <a:ea typeface="Arial"/>
                <a:cs typeface="Arial"/>
              </a:defRPr>
            </a:lvl5pPr>
            <a:lvl6pPr>
              <a:defRPr sz="1350" b="0">
                <a:solidFill>
                  <a:srgbClr val="52647A"/>
                </a:solidFill>
                <a:latin typeface="Arial"/>
                <a:ea typeface="Arial"/>
                <a:cs typeface="Arial"/>
              </a:defRPr>
            </a:lvl6pPr>
            <a:lvl7pPr>
              <a:defRPr sz="1350" b="0">
                <a:solidFill>
                  <a:srgbClr val="52647A"/>
                </a:solidFill>
                <a:latin typeface="Arial"/>
                <a:ea typeface="Arial"/>
                <a:cs typeface="Arial"/>
              </a:defRPr>
            </a:lvl7pPr>
            <a:lvl8pPr>
              <a:defRPr sz="1350" b="0">
                <a:solidFill>
                  <a:srgbClr val="52647A"/>
                </a:solidFill>
                <a:latin typeface="Arial"/>
                <a:ea typeface="Arial"/>
                <a:cs typeface="Arial"/>
              </a:defRPr>
            </a:lvl8pPr>
            <a:lvl9pPr>
              <a:defRPr sz="1350" b="0">
                <a:solidFill>
                  <a:srgbClr val="52647A"/>
                </a:solidFill>
                <a:latin typeface="Arial"/>
                <a:ea typeface="Arial"/>
                <a:cs typeface="Arial"/>
              </a:defRPr>
            </a:lvl9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19  CUR-014</a:t>
            </a:r>
          </a:p>
        </p:txBody>
      </p:sp>
    </p:spTree>
    <p:extLst>
      <p:ext uri="{BB962C8B-B14F-4D97-AF65-F5344CB8AC3E}">
        <p14:creationId xmlns:p14="http://schemas.microsoft.com/office/powerpoint/2010/main" val="1428139086"/>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text-0">
            <a:extLst xmlns:a="http://schemas.openxmlformats.org/drawingml/2006/main">
              <a:ext uri="{FF2B5EF4-FFF2-40B4-BE49-F238E27FC236}">
                <a16:creationId xmlns:a16="http://schemas.microsoft.com/office/drawing/2014/main" id="{A7CC7B41-6389-48DF-8F7B-46E70DA51393}"/>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vl1pPr>
              <a:defRPr sz="3300" b="1">
                <a:solidFill>
                  <a:srgbClr val="15283D"/>
                </a:solidFill>
                <a:latin typeface="Arial"/>
                <a:ea typeface="Arial"/>
                <a:cs typeface="Arial"/>
              </a:defRPr>
            </a:lvl1pPr>
            <a:lvl2pPr>
              <a:defRPr sz="3300" b="1">
                <a:solidFill>
                  <a:srgbClr val="15283D"/>
                </a:solidFill>
                <a:latin typeface="Arial"/>
                <a:ea typeface="Arial"/>
                <a:cs typeface="Arial"/>
              </a:defRPr>
            </a:lvl2pPr>
            <a:lvl3pPr>
              <a:defRPr sz="3300" b="1">
                <a:solidFill>
                  <a:srgbClr val="15283D"/>
                </a:solidFill>
                <a:latin typeface="Arial"/>
                <a:ea typeface="Arial"/>
                <a:cs typeface="Arial"/>
              </a:defRPr>
            </a:lvl3pPr>
            <a:lvl4pPr>
              <a:defRPr sz="3300" b="1">
                <a:solidFill>
                  <a:srgbClr val="15283D"/>
                </a:solidFill>
                <a:latin typeface="Arial"/>
                <a:ea typeface="Arial"/>
                <a:cs typeface="Arial"/>
              </a:defRPr>
            </a:lvl4pPr>
            <a:lvl5pPr>
              <a:defRPr sz="3300" b="1">
                <a:solidFill>
                  <a:srgbClr val="15283D"/>
                </a:solidFill>
                <a:latin typeface="Arial"/>
                <a:ea typeface="Arial"/>
                <a:cs typeface="Arial"/>
              </a:defRPr>
            </a:lvl5pPr>
            <a:lvl6pPr>
              <a:defRPr sz="3300" b="1">
                <a:solidFill>
                  <a:srgbClr val="15283D"/>
                </a:solidFill>
                <a:latin typeface="Arial"/>
                <a:ea typeface="Arial"/>
                <a:cs typeface="Arial"/>
              </a:defRPr>
            </a:lvl6pPr>
            <a:lvl7pPr>
              <a:defRPr sz="3300" b="1">
                <a:solidFill>
                  <a:srgbClr val="15283D"/>
                </a:solidFill>
                <a:latin typeface="Arial"/>
                <a:ea typeface="Arial"/>
                <a:cs typeface="Arial"/>
              </a:defRPr>
            </a:lvl7pPr>
            <a:lvl8pPr>
              <a:defRPr sz="3300" b="1">
                <a:solidFill>
                  <a:srgbClr val="15283D"/>
                </a:solidFill>
                <a:latin typeface="Arial"/>
                <a:ea typeface="Arial"/>
                <a:cs typeface="Arial"/>
              </a:defRPr>
            </a:lvl8pPr>
            <a:lvl9pPr>
              <a:defRPr sz="3300" b="1">
                <a:solidFill>
                  <a:srgbClr val="15283D"/>
                </a:solidFill>
                <a:latin typeface="Arial"/>
                <a:ea typeface="Arial"/>
                <a:cs typeface="Arial"/>
              </a:defRPr>
            </a:lvl9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Eine vollständige read-only Vektorquery</a:t>
            </a:r>
          </a:p>
        </p:txBody>
      </p:sp>
      <p:sp>
        <p:nvSpPr>
          <p:cNvPr id="2" name="text-1">
            <a:extLst xmlns:a="http://schemas.openxmlformats.org/drawingml/2006/main">
              <a:ext uri="{FF2B5EF4-FFF2-40B4-BE49-F238E27FC236}">
                <a16:creationId xmlns:a16="http://schemas.microsoft.com/office/drawing/2014/main" id="{82EAAF8D-F6E8-4EAE-88DD-5C0A0A798A46}"/>
              </a:ext>
            </a:extLst>
          </p:cNvPr>
          <p:cNvSpPr>
            <a:spLocks xmlns:a="http://schemas.openxmlformats.org/drawingml/2006/main" noGrp="1"/>
          </p:cNvSpPr>
          <p:nvPr/>
        </p:nvSpPr>
        <p:spPr>
          <a:xfrm xmlns:a="http://schemas.openxmlformats.org/drawingml/2006/main">
            <a:off x="685800" y="1771650"/>
            <a:ext cx="1082040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0">
                <a:solidFill>
                  <a:srgbClr val="007A83"/>
                </a:solidFill>
                <a:latin typeface="Arial"/>
                <a:ea typeface="Arial"/>
                <a:cs typeface="Arial"/>
              </a:defRPr>
            </a:defPPr>
            <a:lvl1pPr>
              <a:defRPr sz="2100" b="0">
                <a:solidFill>
                  <a:srgbClr val="007A83"/>
                </a:solidFill>
                <a:latin typeface="Arial"/>
                <a:ea typeface="Arial"/>
                <a:cs typeface="Arial"/>
              </a:defRPr>
            </a:lvl1pPr>
            <a:lvl2pPr>
              <a:defRPr sz="2100" b="0">
                <a:solidFill>
                  <a:srgbClr val="007A83"/>
                </a:solidFill>
                <a:latin typeface="Arial"/>
                <a:ea typeface="Arial"/>
                <a:cs typeface="Arial"/>
              </a:defRPr>
            </a:lvl2pPr>
            <a:lvl3pPr>
              <a:defRPr sz="2100" b="0">
                <a:solidFill>
                  <a:srgbClr val="007A83"/>
                </a:solidFill>
                <a:latin typeface="Arial"/>
                <a:ea typeface="Arial"/>
                <a:cs typeface="Arial"/>
              </a:defRPr>
            </a:lvl3pPr>
            <a:lvl4pPr>
              <a:defRPr sz="2100" b="0">
                <a:solidFill>
                  <a:srgbClr val="007A83"/>
                </a:solidFill>
                <a:latin typeface="Arial"/>
                <a:ea typeface="Arial"/>
                <a:cs typeface="Arial"/>
              </a:defRPr>
            </a:lvl4pPr>
            <a:lvl5pPr>
              <a:defRPr sz="2100" b="0">
                <a:solidFill>
                  <a:srgbClr val="007A83"/>
                </a:solidFill>
                <a:latin typeface="Arial"/>
                <a:ea typeface="Arial"/>
                <a:cs typeface="Arial"/>
              </a:defRPr>
            </a:lvl5pPr>
            <a:lvl6pPr>
              <a:defRPr sz="2100" b="0">
                <a:solidFill>
                  <a:srgbClr val="007A83"/>
                </a:solidFill>
                <a:latin typeface="Arial"/>
                <a:ea typeface="Arial"/>
                <a:cs typeface="Arial"/>
              </a:defRPr>
            </a:lvl6pPr>
            <a:lvl7pPr>
              <a:defRPr sz="2100" b="0">
                <a:solidFill>
                  <a:srgbClr val="007A83"/>
                </a:solidFill>
                <a:latin typeface="Arial"/>
                <a:ea typeface="Arial"/>
                <a:cs typeface="Arial"/>
              </a:defRPr>
            </a:lvl7pPr>
            <a:lvl8pPr>
              <a:defRPr sz="2100" b="0">
                <a:solidFill>
                  <a:srgbClr val="007A83"/>
                </a:solidFill>
                <a:latin typeface="Arial"/>
                <a:ea typeface="Arial"/>
                <a:cs typeface="Arial"/>
              </a:defRPr>
            </a:lvl8pPr>
            <a:lvl9pPr>
              <a:defRPr sz="2100" b="0">
                <a:solidFill>
                  <a:srgbClr val="007A83"/>
                </a:solidFill>
                <a:latin typeface="Arial"/>
                <a:ea typeface="Arial"/>
                <a:cs typeface="Arial"/>
              </a:defRPr>
            </a:lvl9pPr>
          </a:lstStyle>
          <a:p xmlns:a="http://schemas.openxmlformats.org/drawingml/2006/main">
            <a:pPr>
              <a:defRPr sz="2100" b="0">
                <a:solidFill>
                  <a:srgbClr val="007A83"/>
                </a:solidFill>
                <a:latin typeface="Arial"/>
                <a:ea typeface="Arial"/>
                <a:cs typeface="Arial"/>
              </a:defRPr>
            </a:pPr>
            <a:r>
              <a:rPr sz="2100" b="0">
                <a:solidFill>
                  <a:srgbClr val="007A83"/>
                </a:solidFill>
                <a:latin typeface="Arial"/>
                <a:ea typeface="Arial"/>
                <a:cs typeface="Arial"/>
              </a:rPr>
              <a:t>DECLARE @q VECTOR(3) = '[1,0,0]';</a:t>
            </a:r>
          </a:p>
          <a:p xmlns:a="http://schemas.openxmlformats.org/drawingml/2006/main">
            <a:pPr>
              <a:defRPr sz="2100" b="0">
                <a:solidFill>
                  <a:srgbClr val="007A83"/>
                </a:solidFill>
                <a:latin typeface="Arial"/>
                <a:ea typeface="Arial"/>
                <a:cs typeface="Arial"/>
              </a:defRPr>
            </a:pPr>
            <a:r>
              <a:rPr sz="2100" b="0">
                <a:solidFill>
                  <a:srgbClr val="007A83"/>
                </a:solidFill>
                <a:latin typeface="Arial"/>
                <a:ea typeface="Arial"/>
                <a:cs typeface="Arial"/>
              </a:rPr>
              <a:t>SELECT Id, VECTOR_DISTANCE('cosine', @q, CAST(V AS VECTOR(3))) AS D</a:t>
            </a:r>
          </a:p>
          <a:p xmlns:a="http://schemas.openxmlformats.org/drawingml/2006/main">
            <a:pPr>
              <a:defRPr sz="2100" b="0">
                <a:solidFill>
                  <a:srgbClr val="007A83"/>
                </a:solidFill>
                <a:latin typeface="Arial"/>
                <a:ea typeface="Arial"/>
                <a:cs typeface="Arial"/>
              </a:defRPr>
            </a:pPr>
            <a:r>
              <a:rPr sz="2100" b="0">
                <a:solidFill>
                  <a:srgbClr val="007A83"/>
                </a:solidFill>
                <a:latin typeface="Arial"/>
                <a:ea typeface="Arial"/>
                <a:cs typeface="Arial"/>
              </a:rPr>
              <a:t>FROM (VALUES (1,'[1,0,0]'),(2,'[0,1,0]'),(3,'[-1,0,0]')) d(Id,V)</a:t>
            </a:r>
          </a:p>
          <a:p xmlns:a="http://schemas.openxmlformats.org/drawingml/2006/main">
            <a:pPr>
              <a:defRPr sz="2100" b="0">
                <a:solidFill>
                  <a:srgbClr val="007A83"/>
                </a:solidFill>
                <a:latin typeface="Arial"/>
                <a:ea typeface="Arial"/>
                <a:cs typeface="Arial"/>
              </a:defRPr>
            </a:pPr>
            <a:r>
              <a:rPr sz="2100" b="0">
                <a:solidFill>
                  <a:srgbClr val="007A83"/>
                </a:solidFill>
                <a:latin typeface="Arial"/>
                <a:ea typeface="Arial"/>
                <a:cs typeface="Arial"/>
              </a:rPr>
              <a:t>ORDER BY D, Id;</a:t>
            </a:r>
          </a:p>
        </p:txBody>
      </p:sp>
      <p:sp>
        <p:nvSpPr>
          <p:cNvPr id="3" name="text-2">
            <a:extLst xmlns:a="http://schemas.openxmlformats.org/drawingml/2006/main">
              <a:ext uri="{FF2B5EF4-FFF2-40B4-BE49-F238E27FC236}">
                <a16:creationId xmlns:a16="http://schemas.microsoft.com/office/drawing/2014/main" id="{88E07255-7C67-4478-9D0C-4575AC43A44D}"/>
              </a:ext>
            </a:extLst>
          </p:cNvPr>
          <p:cNvSpPr>
            <a:spLocks xmlns:a="http://schemas.openxmlformats.org/drawingml/2006/main" noGrp="1"/>
          </p:cNvSpPr>
          <p:nvPr/>
        </p:nvSpPr>
        <p:spPr>
          <a:xfrm xmlns:a="http://schemas.openxmlformats.org/drawingml/2006/main">
            <a:off x="685800" y="5876925"/>
            <a:ext cx="10553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0">
                <a:solidFill>
                  <a:srgbClr val="52647A"/>
                </a:solidFill>
                <a:latin typeface="Arial"/>
                <a:ea typeface="Arial"/>
                <a:cs typeface="Arial"/>
              </a:defRPr>
            </a:defPPr>
            <a:lvl1pPr>
              <a:defRPr sz="1800" b="0">
                <a:solidFill>
                  <a:srgbClr val="52647A"/>
                </a:solidFill>
                <a:latin typeface="Arial"/>
                <a:ea typeface="Arial"/>
                <a:cs typeface="Arial"/>
              </a:defRPr>
            </a:lvl1pPr>
            <a:lvl2pPr>
              <a:defRPr sz="1800" b="0">
                <a:solidFill>
                  <a:srgbClr val="52647A"/>
                </a:solidFill>
                <a:latin typeface="Arial"/>
                <a:ea typeface="Arial"/>
                <a:cs typeface="Arial"/>
              </a:defRPr>
            </a:lvl2pPr>
            <a:lvl3pPr>
              <a:defRPr sz="1800" b="0">
                <a:solidFill>
                  <a:srgbClr val="52647A"/>
                </a:solidFill>
                <a:latin typeface="Arial"/>
                <a:ea typeface="Arial"/>
                <a:cs typeface="Arial"/>
              </a:defRPr>
            </a:lvl3pPr>
            <a:lvl4pPr>
              <a:defRPr sz="1800" b="0">
                <a:solidFill>
                  <a:srgbClr val="52647A"/>
                </a:solidFill>
                <a:latin typeface="Arial"/>
                <a:ea typeface="Arial"/>
                <a:cs typeface="Arial"/>
              </a:defRPr>
            </a:lvl4pPr>
            <a:lvl5pPr>
              <a:defRPr sz="1800" b="0">
                <a:solidFill>
                  <a:srgbClr val="52647A"/>
                </a:solidFill>
                <a:latin typeface="Arial"/>
                <a:ea typeface="Arial"/>
                <a:cs typeface="Arial"/>
              </a:defRPr>
            </a:lvl5pPr>
            <a:lvl6pPr>
              <a:defRPr sz="1800" b="0">
                <a:solidFill>
                  <a:srgbClr val="52647A"/>
                </a:solidFill>
                <a:latin typeface="Arial"/>
                <a:ea typeface="Arial"/>
                <a:cs typeface="Arial"/>
              </a:defRPr>
            </a:lvl6pPr>
            <a:lvl7pPr>
              <a:defRPr sz="1800" b="0">
                <a:solidFill>
                  <a:srgbClr val="52647A"/>
                </a:solidFill>
                <a:latin typeface="Arial"/>
                <a:ea typeface="Arial"/>
                <a:cs typeface="Arial"/>
              </a:defRPr>
            </a:lvl7pPr>
            <a:lvl8pPr>
              <a:defRPr sz="1800" b="0">
                <a:solidFill>
                  <a:srgbClr val="52647A"/>
                </a:solidFill>
                <a:latin typeface="Arial"/>
                <a:ea typeface="Arial"/>
                <a:cs typeface="Arial"/>
              </a:defRPr>
            </a:lvl8pPr>
            <a:lvl9pPr>
              <a:defRPr sz="1800" b="0">
                <a:solidFill>
                  <a:srgbClr val="52647A"/>
                </a:solidFill>
                <a:latin typeface="Arial"/>
                <a:ea typeface="Arial"/>
                <a:cs typeface="Arial"/>
              </a:defRPr>
            </a:lvl9pPr>
          </a:lstStyle>
          <a:p xmlns:a="http://schemas.openxmlformats.org/drawingml/2006/main">
            <a:pPr>
              <a:defRPr sz="1800" b="0">
                <a:solidFill>
                  <a:srgbClr val="52647A"/>
                </a:solidFill>
                <a:latin typeface="Arial"/>
                <a:ea typeface="Arial"/>
                <a:cs typeface="Arial"/>
              </a:defRPr>
            </a:pPr>
            <a:r>
              <a:rPr sz="1800" b="0">
                <a:solidFill>
                  <a:srgbClr val="52647A"/>
                </a:solidFill>
                <a:latin typeface="Arial"/>
                <a:ea typeface="Arial"/>
                <a:cs typeface="Arial"/>
              </a:rPr>
              <a:t>DECLARE definiert den Fragevektor. VALUES liefert Kandidaten. SELECT berechnet und sortiert.</a:t>
            </a:r>
          </a:p>
        </p:txBody>
      </p:sp>
      <p:sp>
        <p:nvSpPr>
          <p:cNvPr id="4" name="text-3">
            <a:extLst xmlns:a="http://schemas.openxmlformats.org/drawingml/2006/main">
              <a:ext uri="{FF2B5EF4-FFF2-40B4-BE49-F238E27FC236}">
                <a16:creationId xmlns:a16="http://schemas.microsoft.com/office/drawing/2014/main" id="{BF40DD33-3257-4121-B67A-0D7D888A91E8}"/>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vl1pPr>
              <a:defRPr sz="1350" b="0">
                <a:solidFill>
                  <a:srgbClr val="52647A"/>
                </a:solidFill>
                <a:latin typeface="Arial"/>
                <a:ea typeface="Arial"/>
                <a:cs typeface="Arial"/>
              </a:defRPr>
            </a:lvl1pPr>
            <a:lvl2pPr>
              <a:defRPr sz="1350" b="0">
                <a:solidFill>
                  <a:srgbClr val="52647A"/>
                </a:solidFill>
                <a:latin typeface="Arial"/>
                <a:ea typeface="Arial"/>
                <a:cs typeface="Arial"/>
              </a:defRPr>
            </a:lvl2pPr>
            <a:lvl3pPr>
              <a:defRPr sz="1350" b="0">
                <a:solidFill>
                  <a:srgbClr val="52647A"/>
                </a:solidFill>
                <a:latin typeface="Arial"/>
                <a:ea typeface="Arial"/>
                <a:cs typeface="Arial"/>
              </a:defRPr>
            </a:lvl3pPr>
            <a:lvl4pPr>
              <a:defRPr sz="1350" b="0">
                <a:solidFill>
                  <a:srgbClr val="52647A"/>
                </a:solidFill>
                <a:latin typeface="Arial"/>
                <a:ea typeface="Arial"/>
                <a:cs typeface="Arial"/>
              </a:defRPr>
            </a:lvl4pPr>
            <a:lvl5pPr>
              <a:defRPr sz="1350" b="0">
                <a:solidFill>
                  <a:srgbClr val="52647A"/>
                </a:solidFill>
                <a:latin typeface="Arial"/>
                <a:ea typeface="Arial"/>
                <a:cs typeface="Arial"/>
              </a:defRPr>
            </a:lvl5pPr>
            <a:lvl6pPr>
              <a:defRPr sz="1350" b="0">
                <a:solidFill>
                  <a:srgbClr val="52647A"/>
                </a:solidFill>
                <a:latin typeface="Arial"/>
                <a:ea typeface="Arial"/>
                <a:cs typeface="Arial"/>
              </a:defRPr>
            </a:lvl6pPr>
            <a:lvl7pPr>
              <a:defRPr sz="1350" b="0">
                <a:solidFill>
                  <a:srgbClr val="52647A"/>
                </a:solidFill>
                <a:latin typeface="Arial"/>
                <a:ea typeface="Arial"/>
                <a:cs typeface="Arial"/>
              </a:defRPr>
            </a:lvl7pPr>
            <a:lvl8pPr>
              <a:defRPr sz="1350" b="0">
                <a:solidFill>
                  <a:srgbClr val="52647A"/>
                </a:solidFill>
                <a:latin typeface="Arial"/>
                <a:ea typeface="Arial"/>
                <a:cs typeface="Arial"/>
              </a:defRPr>
            </a:lvl8pPr>
            <a:lvl9pPr>
              <a:defRPr sz="1350" b="0">
                <a:solidFill>
                  <a:srgbClr val="52647A"/>
                </a:solidFill>
                <a:latin typeface="Arial"/>
                <a:ea typeface="Arial"/>
                <a:cs typeface="Arial"/>
              </a:defRPr>
            </a:lvl9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20  CUR-014</a:t>
            </a:r>
          </a:p>
        </p:txBody>
      </p:sp>
    </p:spTree>
    <p:extLst>
      <p:ext uri="{BB962C8B-B14F-4D97-AF65-F5344CB8AC3E}">
        <p14:creationId xmlns:p14="http://schemas.microsoft.com/office/powerpoint/2010/main" val="1380198636"/>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text-0">
            <a:extLst xmlns:a="http://schemas.openxmlformats.org/drawingml/2006/main">
              <a:ext uri="{FF2B5EF4-FFF2-40B4-BE49-F238E27FC236}">
                <a16:creationId xmlns:a16="http://schemas.microsoft.com/office/drawing/2014/main" id="{C83F376A-111E-4E55-BA42-FE697852C947}"/>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vl1pPr>
              <a:defRPr sz="3300" b="1">
                <a:solidFill>
                  <a:srgbClr val="15283D"/>
                </a:solidFill>
                <a:latin typeface="Arial"/>
                <a:ea typeface="Arial"/>
                <a:cs typeface="Arial"/>
              </a:defRPr>
            </a:lvl1pPr>
            <a:lvl2pPr>
              <a:defRPr sz="3300" b="1">
                <a:solidFill>
                  <a:srgbClr val="15283D"/>
                </a:solidFill>
                <a:latin typeface="Arial"/>
                <a:ea typeface="Arial"/>
                <a:cs typeface="Arial"/>
              </a:defRPr>
            </a:lvl2pPr>
            <a:lvl3pPr>
              <a:defRPr sz="3300" b="1">
                <a:solidFill>
                  <a:srgbClr val="15283D"/>
                </a:solidFill>
                <a:latin typeface="Arial"/>
                <a:ea typeface="Arial"/>
                <a:cs typeface="Arial"/>
              </a:defRPr>
            </a:lvl3pPr>
            <a:lvl4pPr>
              <a:defRPr sz="3300" b="1">
                <a:solidFill>
                  <a:srgbClr val="15283D"/>
                </a:solidFill>
                <a:latin typeface="Arial"/>
                <a:ea typeface="Arial"/>
                <a:cs typeface="Arial"/>
              </a:defRPr>
            </a:lvl4pPr>
            <a:lvl5pPr>
              <a:defRPr sz="3300" b="1">
                <a:solidFill>
                  <a:srgbClr val="15283D"/>
                </a:solidFill>
                <a:latin typeface="Arial"/>
                <a:ea typeface="Arial"/>
                <a:cs typeface="Arial"/>
              </a:defRPr>
            </a:lvl5pPr>
            <a:lvl6pPr>
              <a:defRPr sz="3300" b="1">
                <a:solidFill>
                  <a:srgbClr val="15283D"/>
                </a:solidFill>
                <a:latin typeface="Arial"/>
                <a:ea typeface="Arial"/>
                <a:cs typeface="Arial"/>
              </a:defRPr>
            </a:lvl6pPr>
            <a:lvl7pPr>
              <a:defRPr sz="3300" b="1">
                <a:solidFill>
                  <a:srgbClr val="15283D"/>
                </a:solidFill>
                <a:latin typeface="Arial"/>
                <a:ea typeface="Arial"/>
                <a:cs typeface="Arial"/>
              </a:defRPr>
            </a:lvl7pPr>
            <a:lvl8pPr>
              <a:defRPr sz="3300" b="1">
                <a:solidFill>
                  <a:srgbClr val="15283D"/>
                </a:solidFill>
                <a:latin typeface="Arial"/>
                <a:ea typeface="Arial"/>
                <a:cs typeface="Arial"/>
              </a:defRPr>
            </a:lvl8pPr>
            <a:lvl9pPr>
              <a:defRPr sz="3300" b="1">
                <a:solidFill>
                  <a:srgbClr val="15283D"/>
                </a:solidFill>
                <a:latin typeface="Arial"/>
                <a:ea typeface="Arial"/>
                <a:cs typeface="Arial"/>
              </a:defRPr>
            </a:lvl9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Ergebnisbesprechung der Vektorquery</a:t>
            </a:r>
          </a:p>
        </p:txBody>
      </p:sp>
      <p:graphicFrame>
        <p:nvGraphicFramePr>
          <p:cNvPr id="2" name="">
            <a:extLst xmlns:a="http://schemas.openxmlformats.org/drawingml/2006/main">
              <a:ext uri="{FF2B5EF4-FFF2-40B4-BE49-F238E27FC236}">
                <a16:creationId xmlns:a16="http://schemas.microsoft.com/office/drawing/2014/main" id="{252553C1-55FE-40C0-B656-A64591BBB6CA}"/>
              </a:ext>
            </a:extLst>
          </p:cNvPr>
          <p:cNvGraphicFramePr/>
          <p:nvPr/>
        </p:nvGraphicFramePr>
        <p:xfrm>
          <a:off xmlns:a="http://schemas.openxmlformats.org/drawingml/2006/main" x="685800" y="1771650"/>
          <a:ext xmlns:a="http://schemas.openxmlformats.org/drawingml/2006/main" cx="10668000" cy="3143250"/>
        </p:xfrm>
        <a:graphic xmlns:a="http://schemas.openxmlformats.org/drawingml/2006/main">
          <a:graphicData uri="http://schemas.openxmlformats.org/drawingml/2006/table">
            <a:tbl>
              <a:tblPr/>
              <a:tblGrid>
                <a:gridCol w="2190750"/>
                <a:gridCol w="2762250"/>
                <a:gridCol w="5715000"/>
              </a:tblGrid>
              <a:tr h="785813">
                <a:tc>
                  <a:txBody>
                    <a:bodyPr/>
                    <a:lstStyle/>
                    <a:p>
                      <a:r>
                        <a:rPr sz="1800" b="1">
                          <a:solidFill>
                            <a:srgbClr val="15283D"/>
                          </a:solidFill>
                          <a:latin typeface="Arial"/>
                          <a:ea typeface="Arial"/>
                          <a:cs typeface="Arial"/>
                        </a:rPr>
                        <a:t>Ausgabe Id</a:t>
                      </a:r>
                    </a:p>
                  </a:txBody>
                  <a:tcPr marL="114300" marR="114300" marT="47625" marB="47625" anchor="ctr">
                    <a:lnL w="9525">
                      <a:solidFill>
                        <a:srgbClr val="C8D5DE"/>
                      </a:solidFill>
                      <a:prstDash val="solid"/>
                    </a:lnL>
                    <a:lnR w="9525">
                      <a:solidFill>
                        <a:srgbClr val="C8D5DE"/>
                      </a:solidFill>
                      <a:prstDash val="solid"/>
                    </a:lnR>
                    <a:lnT w="9525">
                      <a:solidFill>
                        <a:srgbClr val="C8D5DE"/>
                      </a:solidFill>
                      <a:prstDash val="solid"/>
                    </a:lnT>
                    <a:lnB w="9525">
                      <a:solidFill>
                        <a:srgbClr val="C8D5DE"/>
                      </a:solidFill>
                      <a:prstDash val="solid"/>
                    </a:lnB>
                    <a:solidFill>
                      <a:srgbClr val="E8F2F2"/>
                    </a:solidFill>
                  </a:tcPr>
                </a:tc>
                <a:tc>
                  <a:txBody>
                    <a:bodyPr/>
                    <a:lstStyle/>
                    <a:p>
                      <a:r>
                        <a:rPr sz="1800" b="1">
                          <a:solidFill>
                            <a:srgbClr val="15283D"/>
                          </a:solidFill>
                          <a:latin typeface="Arial"/>
                          <a:ea typeface="Arial"/>
                          <a:cs typeface="Arial"/>
                        </a:rPr>
                        <a:t>Cosine-Distanz D</a:t>
                      </a:r>
                    </a:p>
                  </a:txBody>
                  <a:tcPr marL="114300" marR="114300" marT="47625" marB="47625" anchor="ctr">
                    <a:lnR w="9525">
                      <a:solidFill>
                        <a:srgbClr val="C8D5DE"/>
                      </a:solidFill>
                      <a:prstDash val="solid"/>
                    </a:lnR>
                    <a:lnT w="9525">
                      <a:solidFill>
                        <a:srgbClr val="C8D5DE"/>
                      </a:solidFill>
                      <a:prstDash val="solid"/>
                    </a:lnT>
                    <a:lnB w="9525">
                      <a:solidFill>
                        <a:srgbClr val="C8D5DE"/>
                      </a:solidFill>
                      <a:prstDash val="solid"/>
                    </a:lnB>
                    <a:solidFill>
                      <a:srgbClr val="E8F2F2"/>
                    </a:solidFill>
                  </a:tcPr>
                </a:tc>
                <a:tc>
                  <a:txBody>
                    <a:bodyPr/>
                    <a:lstStyle/>
                    <a:p>
                      <a:r>
                        <a:rPr sz="1800" b="1">
                          <a:solidFill>
                            <a:srgbClr val="15283D"/>
                          </a:solidFill>
                          <a:latin typeface="Arial"/>
                          <a:ea typeface="Arial"/>
                          <a:cs typeface="Arial"/>
                        </a:rPr>
                        <a:t>Erklärung</a:t>
                      </a:r>
                    </a:p>
                  </a:txBody>
                  <a:tcPr marL="114300" marR="114300" marT="47625" marB="47625" anchor="ctr">
                    <a:lnR w="9525">
                      <a:solidFill>
                        <a:srgbClr val="C8D5DE"/>
                      </a:solidFill>
                      <a:prstDash val="solid"/>
                    </a:lnR>
                    <a:lnT w="9525">
                      <a:solidFill>
                        <a:srgbClr val="C8D5DE"/>
                      </a:solidFill>
                      <a:prstDash val="solid"/>
                    </a:lnT>
                    <a:lnB w="9525">
                      <a:solidFill>
                        <a:srgbClr val="C8D5DE"/>
                      </a:solidFill>
                      <a:prstDash val="solid"/>
                    </a:lnB>
                    <a:solidFill>
                      <a:srgbClr val="E8F2F2"/>
                    </a:solidFill>
                  </a:tcPr>
                </a:tc>
              </a:tr>
              <a:tr h="785813">
                <a:tc>
                  <a:txBody>
                    <a:bodyPr/>
                    <a:lstStyle/>
                    <a:p>
                      <a:r>
                        <a:rPr sz="1800" b="0">
                          <a:solidFill>
                            <a:srgbClr val="15283D"/>
                          </a:solidFill>
                          <a:latin typeface="Arial"/>
                          <a:ea typeface="Arial"/>
                          <a:cs typeface="Arial"/>
                        </a:rPr>
                        <a:t>1</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0</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Gleiche Richtung wie die Frage</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r h="785813">
                <a:tc>
                  <a:txBody>
                    <a:bodyPr/>
                    <a:lstStyle/>
                    <a:p>
                      <a:r>
                        <a:rPr sz="1800" b="0">
                          <a:solidFill>
                            <a:srgbClr val="15283D"/>
                          </a:solidFill>
                          <a:latin typeface="Arial"/>
                          <a:ea typeface="Arial"/>
                          <a:cs typeface="Arial"/>
                        </a:rPr>
                        <a:t>2</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1</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Senkrecht zur Frage</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r h="785813">
                <a:tc>
                  <a:txBody>
                    <a:bodyPr/>
                    <a:lstStyle/>
                    <a:p>
                      <a:r>
                        <a:rPr sz="1800" b="0">
                          <a:solidFill>
                            <a:srgbClr val="15283D"/>
                          </a:solidFill>
                          <a:latin typeface="Arial"/>
                          <a:ea typeface="Arial"/>
                          <a:cs typeface="Arial"/>
                        </a:rPr>
                        <a:t>3</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2</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Entgegengesetzte Richtung</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bl>
          </a:graphicData>
        </a:graphic>
      </p:graphicFrame>
      <p:sp>
        <p:nvSpPr>
          <p:cNvPr id="3" name="text-1">
            <a:extLst xmlns:a="http://schemas.openxmlformats.org/drawingml/2006/main">
              <a:ext uri="{FF2B5EF4-FFF2-40B4-BE49-F238E27FC236}">
                <a16:creationId xmlns:a16="http://schemas.microsoft.com/office/drawing/2014/main" id="{8439943F-8F8B-4123-BEFC-9AE18C1497FE}"/>
              </a:ext>
            </a:extLst>
          </p:cNvPr>
          <p:cNvSpPr>
            <a:spLocks xmlns:a="http://schemas.openxmlformats.org/drawingml/2006/main" noGrp="1"/>
          </p:cNvSpPr>
          <p:nvPr/>
        </p:nvSpPr>
        <p:spPr>
          <a:xfrm xmlns:a="http://schemas.openxmlformats.org/drawingml/2006/main">
            <a:off x="685800" y="5876925"/>
            <a:ext cx="10553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0">
                <a:solidFill>
                  <a:srgbClr val="52647A"/>
                </a:solidFill>
                <a:latin typeface="Arial"/>
                <a:ea typeface="Arial"/>
                <a:cs typeface="Arial"/>
              </a:defRPr>
            </a:defPPr>
            <a:lvl1pPr>
              <a:defRPr sz="1800" b="0">
                <a:solidFill>
                  <a:srgbClr val="52647A"/>
                </a:solidFill>
                <a:latin typeface="Arial"/>
                <a:ea typeface="Arial"/>
                <a:cs typeface="Arial"/>
              </a:defRPr>
            </a:lvl1pPr>
            <a:lvl2pPr>
              <a:defRPr sz="1800" b="0">
                <a:solidFill>
                  <a:srgbClr val="52647A"/>
                </a:solidFill>
                <a:latin typeface="Arial"/>
                <a:ea typeface="Arial"/>
                <a:cs typeface="Arial"/>
              </a:defRPr>
            </a:lvl2pPr>
            <a:lvl3pPr>
              <a:defRPr sz="1800" b="0">
                <a:solidFill>
                  <a:srgbClr val="52647A"/>
                </a:solidFill>
                <a:latin typeface="Arial"/>
                <a:ea typeface="Arial"/>
                <a:cs typeface="Arial"/>
              </a:defRPr>
            </a:lvl3pPr>
            <a:lvl4pPr>
              <a:defRPr sz="1800" b="0">
                <a:solidFill>
                  <a:srgbClr val="52647A"/>
                </a:solidFill>
                <a:latin typeface="Arial"/>
                <a:ea typeface="Arial"/>
                <a:cs typeface="Arial"/>
              </a:defRPr>
            </a:lvl4pPr>
            <a:lvl5pPr>
              <a:defRPr sz="1800" b="0">
                <a:solidFill>
                  <a:srgbClr val="52647A"/>
                </a:solidFill>
                <a:latin typeface="Arial"/>
                <a:ea typeface="Arial"/>
                <a:cs typeface="Arial"/>
              </a:defRPr>
            </a:lvl5pPr>
            <a:lvl6pPr>
              <a:defRPr sz="1800" b="0">
                <a:solidFill>
                  <a:srgbClr val="52647A"/>
                </a:solidFill>
                <a:latin typeface="Arial"/>
                <a:ea typeface="Arial"/>
                <a:cs typeface="Arial"/>
              </a:defRPr>
            </a:lvl6pPr>
            <a:lvl7pPr>
              <a:defRPr sz="1800" b="0">
                <a:solidFill>
                  <a:srgbClr val="52647A"/>
                </a:solidFill>
                <a:latin typeface="Arial"/>
                <a:ea typeface="Arial"/>
                <a:cs typeface="Arial"/>
              </a:defRPr>
            </a:lvl7pPr>
            <a:lvl8pPr>
              <a:defRPr sz="1800" b="0">
                <a:solidFill>
                  <a:srgbClr val="52647A"/>
                </a:solidFill>
                <a:latin typeface="Arial"/>
                <a:ea typeface="Arial"/>
                <a:cs typeface="Arial"/>
              </a:defRPr>
            </a:lvl8pPr>
            <a:lvl9pPr>
              <a:defRPr sz="1800" b="0">
                <a:solidFill>
                  <a:srgbClr val="52647A"/>
                </a:solidFill>
                <a:latin typeface="Arial"/>
                <a:ea typeface="Arial"/>
                <a:cs typeface="Arial"/>
              </a:defRPr>
            </a:lvl9pPr>
          </a:lstStyle>
          <a:p xmlns:a="http://schemas.openxmlformats.org/drawingml/2006/main">
            <a:pPr>
              <a:defRPr sz="1800" b="0">
                <a:solidFill>
                  <a:srgbClr val="52647A"/>
                </a:solidFill>
                <a:latin typeface="Arial"/>
                <a:ea typeface="Arial"/>
                <a:cs typeface="Arial"/>
              </a:defRPr>
            </a:pPr>
            <a:r>
              <a:rPr sz="1800" b="0">
                <a:solidFill>
                  <a:srgbClr val="52647A"/>
                </a:solidFill>
                <a:latin typeface="Arial"/>
                <a:ea typeface="Arial"/>
                <a:cs typeface="Arial"/>
              </a:rPr>
              <a:t>Mathematische Sollwerte des festen Lehrfalls. Kleine Floating-Point-Abweichungen fachlich einordnen.</a:t>
            </a:r>
          </a:p>
        </p:txBody>
      </p:sp>
      <p:sp>
        <p:nvSpPr>
          <p:cNvPr id="4" name="text-2">
            <a:extLst xmlns:a="http://schemas.openxmlformats.org/drawingml/2006/main">
              <a:ext uri="{FF2B5EF4-FFF2-40B4-BE49-F238E27FC236}">
                <a16:creationId xmlns:a16="http://schemas.microsoft.com/office/drawing/2014/main" id="{5A5DF3EF-BE6F-4B56-AA38-917EE9A680DA}"/>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vl1pPr>
              <a:defRPr sz="1350" b="0">
                <a:solidFill>
                  <a:srgbClr val="52647A"/>
                </a:solidFill>
                <a:latin typeface="Arial"/>
                <a:ea typeface="Arial"/>
                <a:cs typeface="Arial"/>
              </a:defRPr>
            </a:lvl1pPr>
            <a:lvl2pPr>
              <a:defRPr sz="1350" b="0">
                <a:solidFill>
                  <a:srgbClr val="52647A"/>
                </a:solidFill>
                <a:latin typeface="Arial"/>
                <a:ea typeface="Arial"/>
                <a:cs typeface="Arial"/>
              </a:defRPr>
            </a:lvl2pPr>
            <a:lvl3pPr>
              <a:defRPr sz="1350" b="0">
                <a:solidFill>
                  <a:srgbClr val="52647A"/>
                </a:solidFill>
                <a:latin typeface="Arial"/>
                <a:ea typeface="Arial"/>
                <a:cs typeface="Arial"/>
              </a:defRPr>
            </a:lvl3pPr>
            <a:lvl4pPr>
              <a:defRPr sz="1350" b="0">
                <a:solidFill>
                  <a:srgbClr val="52647A"/>
                </a:solidFill>
                <a:latin typeface="Arial"/>
                <a:ea typeface="Arial"/>
                <a:cs typeface="Arial"/>
              </a:defRPr>
            </a:lvl4pPr>
            <a:lvl5pPr>
              <a:defRPr sz="1350" b="0">
                <a:solidFill>
                  <a:srgbClr val="52647A"/>
                </a:solidFill>
                <a:latin typeface="Arial"/>
                <a:ea typeface="Arial"/>
                <a:cs typeface="Arial"/>
              </a:defRPr>
            </a:lvl5pPr>
            <a:lvl6pPr>
              <a:defRPr sz="1350" b="0">
                <a:solidFill>
                  <a:srgbClr val="52647A"/>
                </a:solidFill>
                <a:latin typeface="Arial"/>
                <a:ea typeface="Arial"/>
                <a:cs typeface="Arial"/>
              </a:defRPr>
            </a:lvl6pPr>
            <a:lvl7pPr>
              <a:defRPr sz="1350" b="0">
                <a:solidFill>
                  <a:srgbClr val="52647A"/>
                </a:solidFill>
                <a:latin typeface="Arial"/>
                <a:ea typeface="Arial"/>
                <a:cs typeface="Arial"/>
              </a:defRPr>
            </a:lvl7pPr>
            <a:lvl8pPr>
              <a:defRPr sz="1350" b="0">
                <a:solidFill>
                  <a:srgbClr val="52647A"/>
                </a:solidFill>
                <a:latin typeface="Arial"/>
                <a:ea typeface="Arial"/>
                <a:cs typeface="Arial"/>
              </a:defRPr>
            </a:lvl8pPr>
            <a:lvl9pPr>
              <a:defRPr sz="1350" b="0">
                <a:solidFill>
                  <a:srgbClr val="52647A"/>
                </a:solidFill>
                <a:latin typeface="Arial"/>
                <a:ea typeface="Arial"/>
                <a:cs typeface="Arial"/>
              </a:defRPr>
            </a:lvl9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21  CUR-014</a:t>
            </a:r>
          </a:p>
        </p:txBody>
      </p:sp>
    </p:spTree>
    <p:extLst>
      <p:ext uri="{BB962C8B-B14F-4D97-AF65-F5344CB8AC3E}">
        <p14:creationId xmlns:p14="http://schemas.microsoft.com/office/powerpoint/2010/main" val="379346211"/>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text-0">
            <a:extLst xmlns:a="http://schemas.openxmlformats.org/drawingml/2006/main">
              <a:ext uri="{FF2B5EF4-FFF2-40B4-BE49-F238E27FC236}">
                <a16:creationId xmlns:a16="http://schemas.microsoft.com/office/drawing/2014/main" id="{B729475E-F08A-4900-BD62-5A7434BB30EA}"/>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vl1pPr>
              <a:defRPr sz="3300" b="1">
                <a:solidFill>
                  <a:srgbClr val="15283D"/>
                </a:solidFill>
                <a:latin typeface="Arial"/>
                <a:ea typeface="Arial"/>
                <a:cs typeface="Arial"/>
              </a:defRPr>
            </a:lvl1pPr>
            <a:lvl2pPr>
              <a:defRPr sz="3300" b="1">
                <a:solidFill>
                  <a:srgbClr val="15283D"/>
                </a:solidFill>
                <a:latin typeface="Arial"/>
                <a:ea typeface="Arial"/>
                <a:cs typeface="Arial"/>
              </a:defRPr>
            </a:lvl2pPr>
            <a:lvl3pPr>
              <a:defRPr sz="3300" b="1">
                <a:solidFill>
                  <a:srgbClr val="15283D"/>
                </a:solidFill>
                <a:latin typeface="Arial"/>
                <a:ea typeface="Arial"/>
                <a:cs typeface="Arial"/>
              </a:defRPr>
            </a:lvl3pPr>
            <a:lvl4pPr>
              <a:defRPr sz="3300" b="1">
                <a:solidFill>
                  <a:srgbClr val="15283D"/>
                </a:solidFill>
                <a:latin typeface="Arial"/>
                <a:ea typeface="Arial"/>
                <a:cs typeface="Arial"/>
              </a:defRPr>
            </a:lvl4pPr>
            <a:lvl5pPr>
              <a:defRPr sz="3300" b="1">
                <a:solidFill>
                  <a:srgbClr val="15283D"/>
                </a:solidFill>
                <a:latin typeface="Arial"/>
                <a:ea typeface="Arial"/>
                <a:cs typeface="Arial"/>
              </a:defRPr>
            </a:lvl5pPr>
            <a:lvl6pPr>
              <a:defRPr sz="3300" b="1">
                <a:solidFill>
                  <a:srgbClr val="15283D"/>
                </a:solidFill>
                <a:latin typeface="Arial"/>
                <a:ea typeface="Arial"/>
                <a:cs typeface="Arial"/>
              </a:defRPr>
            </a:lvl6pPr>
            <a:lvl7pPr>
              <a:defRPr sz="3300" b="1">
                <a:solidFill>
                  <a:srgbClr val="15283D"/>
                </a:solidFill>
                <a:latin typeface="Arial"/>
                <a:ea typeface="Arial"/>
                <a:cs typeface="Arial"/>
              </a:defRPr>
            </a:lvl7pPr>
            <a:lvl8pPr>
              <a:defRPr sz="3300" b="1">
                <a:solidFill>
                  <a:srgbClr val="15283D"/>
                </a:solidFill>
                <a:latin typeface="Arial"/>
                <a:ea typeface="Arial"/>
                <a:cs typeface="Arial"/>
              </a:defRPr>
            </a:lvl8pPr>
            <a:lvl9pPr>
              <a:defRPr sz="3300" b="1">
                <a:solidFill>
                  <a:srgbClr val="15283D"/>
                </a:solidFill>
                <a:latin typeface="Arial"/>
                <a:ea typeface="Arial"/>
                <a:cs typeface="Arial"/>
              </a:defRPr>
            </a:lvl9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Text als Zahlen: ein Embedding</a:t>
            </a:r>
          </a:p>
        </p:txBody>
      </p:sp>
      <p:sp>
        <p:nvSpPr>
          <p:cNvPr id="2" name="text-1">
            <a:extLst xmlns:a="http://schemas.openxmlformats.org/drawingml/2006/main">
              <a:ext uri="{FF2B5EF4-FFF2-40B4-BE49-F238E27FC236}">
                <a16:creationId xmlns:a16="http://schemas.microsoft.com/office/drawing/2014/main" id="{C11504C9-FB9C-4CAE-A32C-01816BEF2D1D}"/>
              </a:ext>
            </a:extLst>
          </p:cNvPr>
          <p:cNvSpPr>
            <a:spLocks xmlns:a="http://schemas.openxmlformats.org/drawingml/2006/main" noGrp="1"/>
          </p:cNvSpPr>
          <p:nvPr/>
        </p:nvSpPr>
        <p:spPr>
          <a:xfrm xmlns:a="http://schemas.openxmlformats.org/drawingml/2006/main">
            <a:off x="685800" y="177165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Embedding</a:t>
            </a:r>
          </a:p>
        </p:txBody>
      </p:sp>
      <p:sp>
        <p:nvSpPr>
          <p:cNvPr id="3" name="text-2">
            <a:extLst xmlns:a="http://schemas.openxmlformats.org/drawingml/2006/main">
              <a:ext uri="{FF2B5EF4-FFF2-40B4-BE49-F238E27FC236}">
                <a16:creationId xmlns:a16="http://schemas.microsoft.com/office/drawing/2014/main" id="{F1172667-319B-48A9-A5EC-BA8A07750BF2}"/>
              </a:ext>
            </a:extLst>
          </p:cNvPr>
          <p:cNvSpPr>
            <a:spLocks xmlns:a="http://schemas.openxmlformats.org/drawingml/2006/main" noGrp="1"/>
          </p:cNvSpPr>
          <p:nvPr/>
        </p:nvSpPr>
        <p:spPr>
          <a:xfrm xmlns:a="http://schemas.openxmlformats.org/drawingml/2006/main">
            <a:off x="3190875" y="177165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Ein bestimmtes Modell bildet einen Text auf einen numerischen Vektor ab.</a:t>
            </a:r>
          </a:p>
        </p:txBody>
      </p:sp>
      <p:sp>
        <p:nvSpPr>
          <p:cNvPr id="4" name="text-3">
            <a:extLst xmlns:a="http://schemas.openxmlformats.org/drawingml/2006/main">
              <a:ext uri="{FF2B5EF4-FFF2-40B4-BE49-F238E27FC236}">
                <a16:creationId xmlns:a16="http://schemas.microsoft.com/office/drawing/2014/main" id="{DD9A0C5F-15F1-4932-94EF-34C2E747936F}"/>
              </a:ext>
            </a:extLst>
          </p:cNvPr>
          <p:cNvSpPr>
            <a:spLocks xmlns:a="http://schemas.openxmlformats.org/drawingml/2006/main" noGrp="1"/>
          </p:cNvSpPr>
          <p:nvPr/>
        </p:nvSpPr>
        <p:spPr>
          <a:xfrm xmlns:a="http://schemas.openxmlformats.org/drawingml/2006/main">
            <a:off x="685800" y="3057525"/>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Suche</a:t>
            </a:r>
          </a:p>
        </p:txBody>
      </p:sp>
      <p:sp>
        <p:nvSpPr>
          <p:cNvPr id="5" name="text-4">
            <a:extLst xmlns:a="http://schemas.openxmlformats.org/drawingml/2006/main">
              <a:ext uri="{FF2B5EF4-FFF2-40B4-BE49-F238E27FC236}">
                <a16:creationId xmlns:a16="http://schemas.microsoft.com/office/drawing/2014/main" id="{E5673406-205D-489F-8BC4-20D5529797D8}"/>
              </a:ext>
            </a:extLst>
          </p:cNvPr>
          <p:cNvSpPr>
            <a:spLocks xmlns:a="http://schemas.openxmlformats.org/drawingml/2006/main" noGrp="1"/>
          </p:cNvSpPr>
          <p:nvPr/>
        </p:nvSpPr>
        <p:spPr>
          <a:xfrm xmlns:a="http://schemas.openxmlformats.org/drawingml/2006/main">
            <a:off x="3190875" y="3057525"/>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Frage und Quellen erhalten vergleichbare Vektoren aus demselben Modellraum.</a:t>
            </a:r>
          </a:p>
        </p:txBody>
      </p:sp>
      <p:sp>
        <p:nvSpPr>
          <p:cNvPr id="6" name="text-5">
            <a:extLst xmlns:a="http://schemas.openxmlformats.org/drawingml/2006/main">
              <a:ext uri="{FF2B5EF4-FFF2-40B4-BE49-F238E27FC236}">
                <a16:creationId xmlns:a16="http://schemas.microsoft.com/office/drawing/2014/main" id="{D1519C58-E160-4F2C-BC68-BA91B88FBC6F}"/>
              </a:ext>
            </a:extLst>
          </p:cNvPr>
          <p:cNvSpPr>
            <a:spLocks xmlns:a="http://schemas.openxmlformats.org/drawingml/2006/main" noGrp="1"/>
          </p:cNvSpPr>
          <p:nvPr/>
        </p:nvSpPr>
        <p:spPr>
          <a:xfrm xmlns:a="http://schemas.openxmlformats.org/drawingml/2006/main">
            <a:off x="685800" y="434340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Bewertung</a:t>
            </a:r>
          </a:p>
        </p:txBody>
      </p:sp>
      <p:sp>
        <p:nvSpPr>
          <p:cNvPr id="7" name="text-6">
            <a:extLst xmlns:a="http://schemas.openxmlformats.org/drawingml/2006/main">
              <a:ext uri="{FF2B5EF4-FFF2-40B4-BE49-F238E27FC236}">
                <a16:creationId xmlns:a16="http://schemas.microsoft.com/office/drawing/2014/main" id="{0266CDDB-D702-452A-A400-A08052E0FF60}"/>
              </a:ext>
            </a:extLst>
          </p:cNvPr>
          <p:cNvSpPr>
            <a:spLocks xmlns:a="http://schemas.openxmlformats.org/drawingml/2006/main" noGrp="1"/>
          </p:cNvSpPr>
          <p:nvPr/>
        </p:nvSpPr>
        <p:spPr>
          <a:xfrm xmlns:a="http://schemas.openxmlformats.org/drawingml/2006/main">
            <a:off x="3190875" y="434340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Ähnliche Vektoren können passende Texte liefern. Die fachliche Relevanz müssen wir prüfen.</a:t>
            </a:r>
          </a:p>
        </p:txBody>
      </p:sp>
      <p:sp>
        <p:nvSpPr>
          <p:cNvPr id="8" name="text-7">
            <a:extLst xmlns:a="http://schemas.openxmlformats.org/drawingml/2006/main">
              <a:ext uri="{FF2B5EF4-FFF2-40B4-BE49-F238E27FC236}">
                <a16:creationId xmlns:a16="http://schemas.microsoft.com/office/drawing/2014/main" id="{CE4040DE-6B84-48FD-8D91-B2355E70B026}"/>
              </a:ext>
            </a:extLst>
          </p:cNvPr>
          <p:cNvSpPr>
            <a:spLocks xmlns:a="http://schemas.openxmlformats.org/drawingml/2006/main" noGrp="1"/>
          </p:cNvSpPr>
          <p:nvPr/>
        </p:nvSpPr>
        <p:spPr>
          <a:xfrm xmlns:a="http://schemas.openxmlformats.org/drawingml/2006/main">
            <a:off x="685800" y="5876925"/>
            <a:ext cx="10553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0">
                <a:solidFill>
                  <a:srgbClr val="52647A"/>
                </a:solidFill>
                <a:latin typeface="Arial"/>
                <a:ea typeface="Arial"/>
                <a:cs typeface="Arial"/>
              </a:defRPr>
            </a:defPPr>
            <a:lvl1pPr>
              <a:defRPr sz="1800" b="0">
                <a:solidFill>
                  <a:srgbClr val="52647A"/>
                </a:solidFill>
                <a:latin typeface="Arial"/>
                <a:ea typeface="Arial"/>
                <a:cs typeface="Arial"/>
              </a:defRPr>
            </a:lvl1pPr>
            <a:lvl2pPr>
              <a:defRPr sz="1800" b="0">
                <a:solidFill>
                  <a:srgbClr val="52647A"/>
                </a:solidFill>
                <a:latin typeface="Arial"/>
                <a:ea typeface="Arial"/>
                <a:cs typeface="Arial"/>
              </a:defRPr>
            </a:lvl2pPr>
            <a:lvl3pPr>
              <a:defRPr sz="1800" b="0">
                <a:solidFill>
                  <a:srgbClr val="52647A"/>
                </a:solidFill>
                <a:latin typeface="Arial"/>
                <a:ea typeface="Arial"/>
                <a:cs typeface="Arial"/>
              </a:defRPr>
            </a:lvl3pPr>
            <a:lvl4pPr>
              <a:defRPr sz="1800" b="0">
                <a:solidFill>
                  <a:srgbClr val="52647A"/>
                </a:solidFill>
                <a:latin typeface="Arial"/>
                <a:ea typeface="Arial"/>
                <a:cs typeface="Arial"/>
              </a:defRPr>
            </a:lvl4pPr>
            <a:lvl5pPr>
              <a:defRPr sz="1800" b="0">
                <a:solidFill>
                  <a:srgbClr val="52647A"/>
                </a:solidFill>
                <a:latin typeface="Arial"/>
                <a:ea typeface="Arial"/>
                <a:cs typeface="Arial"/>
              </a:defRPr>
            </a:lvl5pPr>
            <a:lvl6pPr>
              <a:defRPr sz="1800" b="0">
                <a:solidFill>
                  <a:srgbClr val="52647A"/>
                </a:solidFill>
                <a:latin typeface="Arial"/>
                <a:ea typeface="Arial"/>
                <a:cs typeface="Arial"/>
              </a:defRPr>
            </a:lvl6pPr>
            <a:lvl7pPr>
              <a:defRPr sz="1800" b="0">
                <a:solidFill>
                  <a:srgbClr val="52647A"/>
                </a:solidFill>
                <a:latin typeface="Arial"/>
                <a:ea typeface="Arial"/>
                <a:cs typeface="Arial"/>
              </a:defRPr>
            </a:lvl7pPr>
            <a:lvl8pPr>
              <a:defRPr sz="1800" b="0">
                <a:solidFill>
                  <a:srgbClr val="52647A"/>
                </a:solidFill>
                <a:latin typeface="Arial"/>
                <a:ea typeface="Arial"/>
                <a:cs typeface="Arial"/>
              </a:defRPr>
            </a:lvl8pPr>
            <a:lvl9pPr>
              <a:defRPr sz="1800" b="0">
                <a:solidFill>
                  <a:srgbClr val="52647A"/>
                </a:solidFill>
                <a:latin typeface="Arial"/>
                <a:ea typeface="Arial"/>
                <a:cs typeface="Arial"/>
              </a:defRPr>
            </a:lvl9pPr>
          </a:lstStyle>
          <a:p xmlns:a="http://schemas.openxmlformats.org/drawingml/2006/main">
            <a:pPr>
              <a:defRPr sz="1800" b="0">
                <a:solidFill>
                  <a:srgbClr val="52647A"/>
                </a:solidFill>
                <a:latin typeface="Arial"/>
                <a:ea typeface="Arial"/>
                <a:cs typeface="Arial"/>
              </a:defRPr>
            </a:pPr>
            <a:r>
              <a:rPr sz="1800" b="0">
                <a:solidFill>
                  <a:srgbClr val="52647A"/>
                </a:solidFill>
                <a:latin typeface="Arial"/>
                <a:ea typeface="Arial"/>
                <a:cs typeface="Arial"/>
              </a:rPr>
              <a:t>Unsere VECTOR(3)-Lehrwerte waren handgesetzt. Sie sind keine echten Textembeddings.</a:t>
            </a:r>
          </a:p>
        </p:txBody>
      </p:sp>
      <p:sp>
        <p:nvSpPr>
          <p:cNvPr id="9" name="text-8">
            <a:extLst xmlns:a="http://schemas.openxmlformats.org/drawingml/2006/main">
              <a:ext uri="{FF2B5EF4-FFF2-40B4-BE49-F238E27FC236}">
                <a16:creationId xmlns:a16="http://schemas.microsoft.com/office/drawing/2014/main" id="{E2FE774C-10E3-4691-9626-A634EC0ACE97}"/>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vl1pPr>
              <a:defRPr sz="1350" b="0">
                <a:solidFill>
                  <a:srgbClr val="52647A"/>
                </a:solidFill>
                <a:latin typeface="Arial"/>
                <a:ea typeface="Arial"/>
                <a:cs typeface="Arial"/>
              </a:defRPr>
            </a:lvl1pPr>
            <a:lvl2pPr>
              <a:defRPr sz="1350" b="0">
                <a:solidFill>
                  <a:srgbClr val="52647A"/>
                </a:solidFill>
                <a:latin typeface="Arial"/>
                <a:ea typeface="Arial"/>
                <a:cs typeface="Arial"/>
              </a:defRPr>
            </a:lvl2pPr>
            <a:lvl3pPr>
              <a:defRPr sz="1350" b="0">
                <a:solidFill>
                  <a:srgbClr val="52647A"/>
                </a:solidFill>
                <a:latin typeface="Arial"/>
                <a:ea typeface="Arial"/>
                <a:cs typeface="Arial"/>
              </a:defRPr>
            </a:lvl3pPr>
            <a:lvl4pPr>
              <a:defRPr sz="1350" b="0">
                <a:solidFill>
                  <a:srgbClr val="52647A"/>
                </a:solidFill>
                <a:latin typeface="Arial"/>
                <a:ea typeface="Arial"/>
                <a:cs typeface="Arial"/>
              </a:defRPr>
            </a:lvl4pPr>
            <a:lvl5pPr>
              <a:defRPr sz="1350" b="0">
                <a:solidFill>
                  <a:srgbClr val="52647A"/>
                </a:solidFill>
                <a:latin typeface="Arial"/>
                <a:ea typeface="Arial"/>
                <a:cs typeface="Arial"/>
              </a:defRPr>
            </a:lvl5pPr>
            <a:lvl6pPr>
              <a:defRPr sz="1350" b="0">
                <a:solidFill>
                  <a:srgbClr val="52647A"/>
                </a:solidFill>
                <a:latin typeface="Arial"/>
                <a:ea typeface="Arial"/>
                <a:cs typeface="Arial"/>
              </a:defRPr>
            </a:lvl6pPr>
            <a:lvl7pPr>
              <a:defRPr sz="1350" b="0">
                <a:solidFill>
                  <a:srgbClr val="52647A"/>
                </a:solidFill>
                <a:latin typeface="Arial"/>
                <a:ea typeface="Arial"/>
                <a:cs typeface="Arial"/>
              </a:defRPr>
            </a:lvl7pPr>
            <a:lvl8pPr>
              <a:defRPr sz="1350" b="0">
                <a:solidFill>
                  <a:srgbClr val="52647A"/>
                </a:solidFill>
                <a:latin typeface="Arial"/>
                <a:ea typeface="Arial"/>
                <a:cs typeface="Arial"/>
              </a:defRPr>
            </a:lvl8pPr>
            <a:lvl9pPr>
              <a:defRPr sz="1350" b="0">
                <a:solidFill>
                  <a:srgbClr val="52647A"/>
                </a:solidFill>
                <a:latin typeface="Arial"/>
                <a:ea typeface="Arial"/>
                <a:cs typeface="Arial"/>
              </a:defRPr>
            </a:lvl9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22  CUR-013 / CUR-016</a:t>
            </a:r>
          </a:p>
        </p:txBody>
      </p:sp>
    </p:spTree>
    <p:extLst>
      <p:ext uri="{BB962C8B-B14F-4D97-AF65-F5344CB8AC3E}">
        <p14:creationId xmlns:p14="http://schemas.microsoft.com/office/powerpoint/2010/main" val="1850995028"/>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0">
            <a:extLst xmlns:a="http://schemas.openxmlformats.org/drawingml/2006/main">
              <a:ext uri="{FF2B5EF4-FFF2-40B4-BE49-F238E27FC236}">
                <a16:creationId xmlns:a16="http://schemas.microsoft.com/office/drawing/2014/main" id="{6872194E-61B3-4770-A306-5415E4506ABD}"/>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vl1pPr>
              <a:defRPr sz="3300" b="1">
                <a:solidFill>
                  <a:srgbClr val="15283D"/>
                </a:solidFill>
                <a:latin typeface="Arial"/>
                <a:ea typeface="Arial"/>
                <a:cs typeface="Arial"/>
              </a:defRPr>
            </a:lvl1pPr>
            <a:lvl2pPr>
              <a:defRPr sz="3300" b="1">
                <a:solidFill>
                  <a:srgbClr val="15283D"/>
                </a:solidFill>
                <a:latin typeface="Arial"/>
                <a:ea typeface="Arial"/>
                <a:cs typeface="Arial"/>
              </a:defRPr>
            </a:lvl2pPr>
            <a:lvl3pPr>
              <a:defRPr sz="3300" b="1">
                <a:solidFill>
                  <a:srgbClr val="15283D"/>
                </a:solidFill>
                <a:latin typeface="Arial"/>
                <a:ea typeface="Arial"/>
                <a:cs typeface="Arial"/>
              </a:defRPr>
            </a:lvl3pPr>
            <a:lvl4pPr>
              <a:defRPr sz="3300" b="1">
                <a:solidFill>
                  <a:srgbClr val="15283D"/>
                </a:solidFill>
                <a:latin typeface="Arial"/>
                <a:ea typeface="Arial"/>
                <a:cs typeface="Arial"/>
              </a:defRPr>
            </a:lvl4pPr>
            <a:lvl5pPr>
              <a:defRPr sz="3300" b="1">
                <a:solidFill>
                  <a:srgbClr val="15283D"/>
                </a:solidFill>
                <a:latin typeface="Arial"/>
                <a:ea typeface="Arial"/>
                <a:cs typeface="Arial"/>
              </a:defRPr>
            </a:lvl5pPr>
            <a:lvl6pPr>
              <a:defRPr sz="3300" b="1">
                <a:solidFill>
                  <a:srgbClr val="15283D"/>
                </a:solidFill>
                <a:latin typeface="Arial"/>
                <a:ea typeface="Arial"/>
                <a:cs typeface="Arial"/>
              </a:defRPr>
            </a:lvl6pPr>
            <a:lvl7pPr>
              <a:defRPr sz="3300" b="1">
                <a:solidFill>
                  <a:srgbClr val="15283D"/>
                </a:solidFill>
                <a:latin typeface="Arial"/>
                <a:ea typeface="Arial"/>
                <a:cs typeface="Arial"/>
              </a:defRPr>
            </a:lvl7pPr>
            <a:lvl8pPr>
              <a:defRPr sz="3300" b="1">
                <a:solidFill>
                  <a:srgbClr val="15283D"/>
                </a:solidFill>
                <a:latin typeface="Arial"/>
                <a:ea typeface="Arial"/>
                <a:cs typeface="Arial"/>
              </a:defRPr>
            </a:lvl8pPr>
            <a:lvl9pPr>
              <a:defRPr sz="3300" b="1">
                <a:solidFill>
                  <a:srgbClr val="15283D"/>
                </a:solidFill>
                <a:latin typeface="Arial"/>
                <a:ea typeface="Arial"/>
                <a:cs typeface="Arial"/>
              </a:defRPr>
            </a:lvl9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Zusätzliche Hürden eines echten Modellpfads</a:t>
            </a:r>
          </a:p>
        </p:txBody>
      </p:sp>
      <p:graphicFrame>
        <p:nvGraphicFramePr>
          <p:cNvPr id="2" name="">
            <a:extLst xmlns:a="http://schemas.openxmlformats.org/drawingml/2006/main">
              <a:ext uri="{FF2B5EF4-FFF2-40B4-BE49-F238E27FC236}">
                <a16:creationId xmlns:a16="http://schemas.microsoft.com/office/drawing/2014/main" id="{6E1D09DE-6E9A-499A-8DCC-66A1C7C8F5C1}"/>
              </a:ext>
            </a:extLst>
          </p:cNvPr>
          <p:cNvGraphicFramePr/>
          <p:nvPr/>
        </p:nvGraphicFramePr>
        <p:xfrm>
          <a:off xmlns:a="http://schemas.openxmlformats.org/drawingml/2006/main" x="685800" y="1771650"/>
          <a:ext xmlns:a="http://schemas.openxmlformats.org/drawingml/2006/main" cx="10668000" cy="4000500"/>
        </p:xfrm>
        <a:graphic xmlns:a="http://schemas.openxmlformats.org/drawingml/2006/main">
          <a:graphicData uri="http://schemas.openxmlformats.org/drawingml/2006/table">
            <a:tbl>
              <a:tblPr/>
              <a:tblGrid>
                <a:gridCol w="1809750"/>
                <a:gridCol w="4429125"/>
                <a:gridCol w="4429125"/>
              </a:tblGrid>
              <a:tr h="800100">
                <a:tc>
                  <a:txBody>
                    <a:bodyPr/>
                    <a:lstStyle/>
                    <a:p>
                      <a:r>
                        <a:rPr sz="1800" b="1">
                          <a:solidFill>
                            <a:srgbClr val="15283D"/>
                          </a:solidFill>
                          <a:latin typeface="Arial"/>
                          <a:ea typeface="Arial"/>
                          <a:cs typeface="Arial"/>
                        </a:rPr>
                        <a:t>Hürde</a:t>
                      </a:r>
                    </a:p>
                  </a:txBody>
                  <a:tcPr marL="114300" marR="114300" marT="47625" marB="47625" anchor="ctr">
                    <a:lnL w="9525">
                      <a:solidFill>
                        <a:srgbClr val="C8D5DE"/>
                      </a:solidFill>
                      <a:prstDash val="solid"/>
                    </a:lnL>
                    <a:lnR w="9525">
                      <a:solidFill>
                        <a:srgbClr val="C8D5DE"/>
                      </a:solidFill>
                      <a:prstDash val="solid"/>
                    </a:lnR>
                    <a:lnT w="9525">
                      <a:solidFill>
                        <a:srgbClr val="C8D5DE"/>
                      </a:solidFill>
                      <a:prstDash val="solid"/>
                    </a:lnT>
                    <a:lnB w="9525">
                      <a:solidFill>
                        <a:srgbClr val="C8D5DE"/>
                      </a:solidFill>
                      <a:prstDash val="solid"/>
                    </a:lnB>
                    <a:solidFill>
                      <a:srgbClr val="E8F2F2"/>
                    </a:solidFill>
                  </a:tcPr>
                </a:tc>
                <a:tc>
                  <a:txBody>
                    <a:bodyPr/>
                    <a:lstStyle/>
                    <a:p>
                      <a:r>
                        <a:rPr sz="1800" b="1">
                          <a:solidFill>
                            <a:srgbClr val="15283D"/>
                          </a:solidFill>
                          <a:latin typeface="Arial"/>
                          <a:ea typeface="Arial"/>
                          <a:cs typeface="Arial"/>
                        </a:rPr>
                        <a:t>Vorbereitete Lösung</a:t>
                      </a:r>
                    </a:p>
                  </a:txBody>
                  <a:tcPr marL="114300" marR="114300" marT="47625" marB="47625" anchor="ctr">
                    <a:lnR w="9525">
                      <a:solidFill>
                        <a:srgbClr val="C8D5DE"/>
                      </a:solidFill>
                      <a:prstDash val="solid"/>
                    </a:lnR>
                    <a:lnT w="9525">
                      <a:solidFill>
                        <a:srgbClr val="C8D5DE"/>
                      </a:solidFill>
                      <a:prstDash val="solid"/>
                    </a:lnT>
                    <a:lnB w="9525">
                      <a:solidFill>
                        <a:srgbClr val="C8D5DE"/>
                      </a:solidFill>
                      <a:prstDash val="solid"/>
                    </a:lnB>
                    <a:solidFill>
                      <a:srgbClr val="E8F2F2"/>
                    </a:solidFill>
                  </a:tcPr>
                </a:tc>
                <a:tc>
                  <a:txBody>
                    <a:bodyPr/>
                    <a:lstStyle/>
                    <a:p>
                      <a:r>
                        <a:rPr sz="1800" b="1">
                          <a:solidFill>
                            <a:srgbClr val="15283D"/>
                          </a:solidFill>
                          <a:latin typeface="Arial"/>
                          <a:ea typeface="Arial"/>
                          <a:cs typeface="Arial"/>
                        </a:rPr>
                        <a:t>Sichtbare Prüfung</a:t>
                      </a:r>
                    </a:p>
                  </a:txBody>
                  <a:tcPr marL="114300" marR="114300" marT="47625" marB="47625" anchor="ctr">
                    <a:lnR w="9525">
                      <a:solidFill>
                        <a:srgbClr val="C8D5DE"/>
                      </a:solidFill>
                      <a:prstDash val="solid"/>
                    </a:lnR>
                    <a:lnT w="9525">
                      <a:solidFill>
                        <a:srgbClr val="C8D5DE"/>
                      </a:solidFill>
                      <a:prstDash val="solid"/>
                    </a:lnT>
                    <a:lnB w="9525">
                      <a:solidFill>
                        <a:srgbClr val="C8D5DE"/>
                      </a:solidFill>
                      <a:prstDash val="solid"/>
                    </a:lnB>
                    <a:solidFill>
                      <a:srgbClr val="E8F2F2"/>
                    </a:solidFill>
                  </a:tcPr>
                </a:tc>
              </a:tr>
              <a:tr h="800100">
                <a:tc>
                  <a:txBody>
                    <a:bodyPr/>
                    <a:lstStyle/>
                    <a:p>
                      <a:r>
                        <a:rPr sz="1800" b="0">
                          <a:solidFill>
                            <a:srgbClr val="15283D"/>
                          </a:solidFill>
                          <a:latin typeface="Arial"/>
                          <a:ea typeface="Arial"/>
                          <a:cs typeface="Arial"/>
                        </a:rPr>
                        <a:t>Modell</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Geeignete Version und Dimension festlegen.</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Der Vektor passt zum erwarteten Modellraum.</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r h="800100">
                <a:tc>
                  <a:txBody>
                    <a:bodyPr/>
                    <a:lstStyle/>
                    <a:p>
                      <a:r>
                        <a:rPr sz="1800" b="0">
                          <a:solidFill>
                            <a:srgbClr val="15283D"/>
                          </a:solidFill>
                          <a:latin typeface="Arial"/>
                          <a:ea typeface="Arial"/>
                          <a:cs typeface="Arial"/>
                        </a:rPr>
                        <a:t>Verbindung</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Verschlüsselten Transport und Zertifikat prüfen.</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Der erlaubte Dienst ist aus dem Aufrufer erreichbar.</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r h="800100">
                <a:tc>
                  <a:txBody>
                    <a:bodyPr/>
                    <a:lstStyle/>
                    <a:p>
                      <a:r>
                        <a:rPr sz="1800" b="0">
                          <a:solidFill>
                            <a:srgbClr val="15283D"/>
                          </a:solidFill>
                          <a:latin typeface="Arial"/>
                          <a:ea typeface="Arial"/>
                          <a:cs typeface="Arial"/>
                        </a:rPr>
                        <a:t>Kosten</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Menge der Requests und Wiederholungen begrenzen.</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Verbrauch und Abbruchgrenze bleiben nachvollziehbar.</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r h="800100">
                <a:tc>
                  <a:txBody>
                    <a:bodyPr/>
                    <a:lstStyle/>
                    <a:p>
                      <a:r>
                        <a:rPr sz="1800" b="0">
                          <a:solidFill>
                            <a:srgbClr val="15283D"/>
                          </a:solidFill>
                          <a:latin typeface="Arial"/>
                          <a:ea typeface="Arial"/>
                          <a:cs typeface="Arial"/>
                        </a:rPr>
                        <a:t>Datenschutz</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Erlaubte Daten und Dienstverarbeitung klären.</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Nur freigegebener Kontext verlässt seine Grenze.</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bl>
          </a:graphicData>
        </a:graphic>
      </p:graphicFrame>
      <p:sp>
        <p:nvSpPr>
          <p:cNvPr id="3" name="text-1">
            <a:extLst xmlns:a="http://schemas.openxmlformats.org/drawingml/2006/main">
              <a:ext uri="{FF2B5EF4-FFF2-40B4-BE49-F238E27FC236}">
                <a16:creationId xmlns:a16="http://schemas.microsoft.com/office/drawing/2014/main" id="{DF1E59D9-1486-4A86-A0EB-17A59A41D209}"/>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vl1pPr>
              <a:defRPr sz="1350" b="0">
                <a:solidFill>
                  <a:srgbClr val="52647A"/>
                </a:solidFill>
                <a:latin typeface="Arial"/>
                <a:ea typeface="Arial"/>
                <a:cs typeface="Arial"/>
              </a:defRPr>
            </a:lvl1pPr>
            <a:lvl2pPr>
              <a:defRPr sz="1350" b="0">
                <a:solidFill>
                  <a:srgbClr val="52647A"/>
                </a:solidFill>
                <a:latin typeface="Arial"/>
                <a:ea typeface="Arial"/>
                <a:cs typeface="Arial"/>
              </a:defRPr>
            </a:lvl2pPr>
            <a:lvl3pPr>
              <a:defRPr sz="1350" b="0">
                <a:solidFill>
                  <a:srgbClr val="52647A"/>
                </a:solidFill>
                <a:latin typeface="Arial"/>
                <a:ea typeface="Arial"/>
                <a:cs typeface="Arial"/>
              </a:defRPr>
            </a:lvl3pPr>
            <a:lvl4pPr>
              <a:defRPr sz="1350" b="0">
                <a:solidFill>
                  <a:srgbClr val="52647A"/>
                </a:solidFill>
                <a:latin typeface="Arial"/>
                <a:ea typeface="Arial"/>
                <a:cs typeface="Arial"/>
              </a:defRPr>
            </a:lvl4pPr>
            <a:lvl5pPr>
              <a:defRPr sz="1350" b="0">
                <a:solidFill>
                  <a:srgbClr val="52647A"/>
                </a:solidFill>
                <a:latin typeface="Arial"/>
                <a:ea typeface="Arial"/>
                <a:cs typeface="Arial"/>
              </a:defRPr>
            </a:lvl5pPr>
            <a:lvl6pPr>
              <a:defRPr sz="1350" b="0">
                <a:solidFill>
                  <a:srgbClr val="52647A"/>
                </a:solidFill>
                <a:latin typeface="Arial"/>
                <a:ea typeface="Arial"/>
                <a:cs typeface="Arial"/>
              </a:defRPr>
            </a:lvl6pPr>
            <a:lvl7pPr>
              <a:defRPr sz="1350" b="0">
                <a:solidFill>
                  <a:srgbClr val="52647A"/>
                </a:solidFill>
                <a:latin typeface="Arial"/>
                <a:ea typeface="Arial"/>
                <a:cs typeface="Arial"/>
              </a:defRPr>
            </a:lvl7pPr>
            <a:lvl8pPr>
              <a:defRPr sz="1350" b="0">
                <a:solidFill>
                  <a:srgbClr val="52647A"/>
                </a:solidFill>
                <a:latin typeface="Arial"/>
                <a:ea typeface="Arial"/>
                <a:cs typeface="Arial"/>
              </a:defRPr>
            </a:lvl8pPr>
            <a:lvl9pPr>
              <a:defRPr sz="1350" b="0">
                <a:solidFill>
                  <a:srgbClr val="52647A"/>
                </a:solidFill>
                <a:latin typeface="Arial"/>
                <a:ea typeface="Arial"/>
                <a:cs typeface="Arial"/>
              </a:defRPr>
            </a:lvl9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23  CUR-016 / CUR-018</a:t>
            </a:r>
          </a:p>
        </p:txBody>
      </p:sp>
    </p:spTree>
    <p:extLst>
      <p:ext uri="{BB962C8B-B14F-4D97-AF65-F5344CB8AC3E}">
        <p14:creationId xmlns:p14="http://schemas.microsoft.com/office/powerpoint/2010/main" val="1427271771"/>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text-0">
            <a:extLst xmlns:a="http://schemas.openxmlformats.org/drawingml/2006/main">
              <a:ext uri="{FF2B5EF4-FFF2-40B4-BE49-F238E27FC236}">
                <a16:creationId xmlns:a16="http://schemas.microsoft.com/office/drawing/2014/main" id="{5796B04E-0E06-4826-8997-238DF63CB933}"/>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vl1pPr>
              <a:defRPr sz="3300" b="1">
                <a:solidFill>
                  <a:srgbClr val="15283D"/>
                </a:solidFill>
                <a:latin typeface="Arial"/>
                <a:ea typeface="Arial"/>
                <a:cs typeface="Arial"/>
              </a:defRPr>
            </a:lvl1pPr>
            <a:lvl2pPr>
              <a:defRPr sz="3300" b="1">
                <a:solidFill>
                  <a:srgbClr val="15283D"/>
                </a:solidFill>
                <a:latin typeface="Arial"/>
                <a:ea typeface="Arial"/>
                <a:cs typeface="Arial"/>
              </a:defRPr>
            </a:lvl2pPr>
            <a:lvl3pPr>
              <a:defRPr sz="3300" b="1">
                <a:solidFill>
                  <a:srgbClr val="15283D"/>
                </a:solidFill>
                <a:latin typeface="Arial"/>
                <a:ea typeface="Arial"/>
                <a:cs typeface="Arial"/>
              </a:defRPr>
            </a:lvl3pPr>
            <a:lvl4pPr>
              <a:defRPr sz="3300" b="1">
                <a:solidFill>
                  <a:srgbClr val="15283D"/>
                </a:solidFill>
                <a:latin typeface="Arial"/>
                <a:ea typeface="Arial"/>
                <a:cs typeface="Arial"/>
              </a:defRPr>
            </a:lvl4pPr>
            <a:lvl5pPr>
              <a:defRPr sz="3300" b="1">
                <a:solidFill>
                  <a:srgbClr val="15283D"/>
                </a:solidFill>
                <a:latin typeface="Arial"/>
                <a:ea typeface="Arial"/>
                <a:cs typeface="Arial"/>
              </a:defRPr>
            </a:lvl5pPr>
            <a:lvl6pPr>
              <a:defRPr sz="3300" b="1">
                <a:solidFill>
                  <a:srgbClr val="15283D"/>
                </a:solidFill>
                <a:latin typeface="Arial"/>
                <a:ea typeface="Arial"/>
                <a:cs typeface="Arial"/>
              </a:defRPr>
            </a:lvl6pPr>
            <a:lvl7pPr>
              <a:defRPr sz="3300" b="1">
                <a:solidFill>
                  <a:srgbClr val="15283D"/>
                </a:solidFill>
                <a:latin typeface="Arial"/>
                <a:ea typeface="Arial"/>
                <a:cs typeface="Arial"/>
              </a:defRPr>
            </a:lvl7pPr>
            <a:lvl8pPr>
              <a:defRPr sz="3300" b="1">
                <a:solidFill>
                  <a:srgbClr val="15283D"/>
                </a:solidFill>
                <a:latin typeface="Arial"/>
                <a:ea typeface="Arial"/>
                <a:cs typeface="Arial"/>
              </a:defRPr>
            </a:lvl8pPr>
            <a:lvl9pPr>
              <a:defRPr sz="3300" b="1">
                <a:solidFill>
                  <a:srgbClr val="15283D"/>
                </a:solidFill>
                <a:latin typeface="Arial"/>
                <a:ea typeface="Arial"/>
                <a:cs typeface="Arial"/>
              </a:defRPr>
            </a:lvl9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Ein Textausschnitt braucht seine Herkunft</a:t>
            </a:r>
          </a:p>
        </p:txBody>
      </p:sp>
      <p:sp>
        <p:nvSpPr>
          <p:cNvPr id="2" name="text-1">
            <a:extLst xmlns:a="http://schemas.openxmlformats.org/drawingml/2006/main">
              <a:ext uri="{FF2B5EF4-FFF2-40B4-BE49-F238E27FC236}">
                <a16:creationId xmlns:a16="http://schemas.microsoft.com/office/drawing/2014/main" id="{92E27865-ABF8-4427-BCDE-FC5C8AD5587F}"/>
              </a:ext>
            </a:extLst>
          </p:cNvPr>
          <p:cNvSpPr>
            <a:spLocks xmlns:a="http://schemas.openxmlformats.org/drawingml/2006/main" noGrp="1"/>
          </p:cNvSpPr>
          <p:nvPr/>
        </p:nvSpPr>
        <p:spPr>
          <a:xfrm xmlns:a="http://schemas.openxmlformats.org/drawingml/2006/main">
            <a:off x="685800" y="177165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Quelltext</a:t>
            </a:r>
          </a:p>
        </p:txBody>
      </p:sp>
      <p:sp>
        <p:nvSpPr>
          <p:cNvPr id="3" name="text-2">
            <a:extLst xmlns:a="http://schemas.openxmlformats.org/drawingml/2006/main">
              <a:ext uri="{FF2B5EF4-FFF2-40B4-BE49-F238E27FC236}">
                <a16:creationId xmlns:a16="http://schemas.microsoft.com/office/drawing/2014/main" id="{3DABBE34-C29F-42E3-A0DD-E4C296CC3AE7}"/>
              </a:ext>
            </a:extLst>
          </p:cNvPr>
          <p:cNvSpPr>
            <a:spLocks xmlns:a="http://schemas.openxmlformats.org/drawingml/2006/main" noGrp="1"/>
          </p:cNvSpPr>
          <p:nvPr/>
        </p:nvSpPr>
        <p:spPr>
          <a:xfrm xmlns:a="http://schemas.openxmlformats.org/drawingml/2006/main">
            <a:off x="3190875" y="177165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Dokument 2, v2: MOD_A bewahrt Protokolle sieben Tage auf.</a:t>
            </a:r>
          </a:p>
        </p:txBody>
      </p:sp>
      <p:sp>
        <p:nvSpPr>
          <p:cNvPr id="4" name="text-3">
            <a:extLst xmlns:a="http://schemas.openxmlformats.org/drawingml/2006/main">
              <a:ext uri="{FF2B5EF4-FFF2-40B4-BE49-F238E27FC236}">
                <a16:creationId xmlns:a16="http://schemas.microsoft.com/office/drawing/2014/main" id="{D99FDB47-9354-46DA-8E4C-05F349EFB124}"/>
              </a:ext>
            </a:extLst>
          </p:cNvPr>
          <p:cNvSpPr>
            <a:spLocks xmlns:a="http://schemas.openxmlformats.org/drawingml/2006/main" noGrp="1"/>
          </p:cNvSpPr>
          <p:nvPr/>
        </p:nvSpPr>
        <p:spPr>
          <a:xfrm xmlns:a="http://schemas.openxmlformats.org/drawingml/2006/main">
            <a:off x="685800" y="3057525"/>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Ausschnitt</a:t>
            </a:r>
          </a:p>
        </p:txBody>
      </p:sp>
      <p:sp>
        <p:nvSpPr>
          <p:cNvPr id="5" name="text-4">
            <a:extLst xmlns:a="http://schemas.openxmlformats.org/drawingml/2006/main">
              <a:ext uri="{FF2B5EF4-FFF2-40B4-BE49-F238E27FC236}">
                <a16:creationId xmlns:a16="http://schemas.microsoft.com/office/drawing/2014/main" id="{FA4BAF68-9DC1-49CA-B471-2CC2E0F9EDE0}"/>
              </a:ext>
            </a:extLst>
          </p:cNvPr>
          <p:cNvSpPr>
            <a:spLocks xmlns:a="http://schemas.openxmlformats.org/drawingml/2006/main" noGrp="1"/>
          </p:cNvSpPr>
          <p:nvPr/>
        </p:nvSpPr>
        <p:spPr>
          <a:xfrm xmlns:a="http://schemas.openxmlformats.org/drawingml/2006/main">
            <a:off x="3190875" y="3057525"/>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Ein Chunk ist ein abgegrenzter Textbereich. Er bleibt mit Dokument und Fassung verbunden.</a:t>
            </a:r>
          </a:p>
        </p:txBody>
      </p:sp>
      <p:sp>
        <p:nvSpPr>
          <p:cNvPr id="6" name="text-5">
            <a:extLst xmlns:a="http://schemas.openxmlformats.org/drawingml/2006/main">
              <a:ext uri="{FF2B5EF4-FFF2-40B4-BE49-F238E27FC236}">
                <a16:creationId xmlns:a16="http://schemas.microsoft.com/office/drawing/2014/main" id="{2AEEDF24-CAAD-417E-B558-CDD52B959EE7}"/>
              </a:ext>
            </a:extLst>
          </p:cNvPr>
          <p:cNvSpPr>
            <a:spLocks xmlns:a="http://schemas.openxmlformats.org/drawingml/2006/main" noGrp="1"/>
          </p:cNvSpPr>
          <p:nvPr/>
        </p:nvSpPr>
        <p:spPr>
          <a:xfrm xmlns:a="http://schemas.openxmlformats.org/drawingml/2006/main">
            <a:off x="685800" y="434340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Prüfung</a:t>
            </a:r>
          </a:p>
        </p:txBody>
      </p:sp>
      <p:sp>
        <p:nvSpPr>
          <p:cNvPr id="7" name="text-6">
            <a:extLst xmlns:a="http://schemas.openxmlformats.org/drawingml/2006/main">
              <a:ext uri="{FF2B5EF4-FFF2-40B4-BE49-F238E27FC236}">
                <a16:creationId xmlns:a16="http://schemas.microsoft.com/office/drawing/2014/main" id="{D2CDD96E-636F-410A-9907-F22A84A51F2D}"/>
              </a:ext>
            </a:extLst>
          </p:cNvPr>
          <p:cNvSpPr>
            <a:spLocks xmlns:a="http://schemas.openxmlformats.org/drawingml/2006/main" noGrp="1"/>
          </p:cNvSpPr>
          <p:nvPr/>
        </p:nvSpPr>
        <p:spPr>
          <a:xfrm xmlns:a="http://schemas.openxmlformats.org/drawingml/2006/main">
            <a:off x="3190875" y="434340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Wir können zeigen, wo die gefundene Information steht und ob diese Fassung aktuell ist.</a:t>
            </a:r>
          </a:p>
        </p:txBody>
      </p:sp>
      <p:sp>
        <p:nvSpPr>
          <p:cNvPr id="8" name="text-7">
            <a:extLst xmlns:a="http://schemas.openxmlformats.org/drawingml/2006/main">
              <a:ext uri="{FF2B5EF4-FFF2-40B4-BE49-F238E27FC236}">
                <a16:creationId xmlns:a16="http://schemas.microsoft.com/office/drawing/2014/main" id="{50E4C766-2EC9-437E-AABE-4718B9927C81}"/>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vl1pPr>
              <a:defRPr sz="1350" b="0">
                <a:solidFill>
                  <a:srgbClr val="52647A"/>
                </a:solidFill>
                <a:latin typeface="Arial"/>
                <a:ea typeface="Arial"/>
                <a:cs typeface="Arial"/>
              </a:defRPr>
            </a:lvl1pPr>
            <a:lvl2pPr>
              <a:defRPr sz="1350" b="0">
                <a:solidFill>
                  <a:srgbClr val="52647A"/>
                </a:solidFill>
                <a:latin typeface="Arial"/>
                <a:ea typeface="Arial"/>
                <a:cs typeface="Arial"/>
              </a:defRPr>
            </a:lvl2pPr>
            <a:lvl3pPr>
              <a:defRPr sz="1350" b="0">
                <a:solidFill>
                  <a:srgbClr val="52647A"/>
                </a:solidFill>
                <a:latin typeface="Arial"/>
                <a:ea typeface="Arial"/>
                <a:cs typeface="Arial"/>
              </a:defRPr>
            </a:lvl3pPr>
            <a:lvl4pPr>
              <a:defRPr sz="1350" b="0">
                <a:solidFill>
                  <a:srgbClr val="52647A"/>
                </a:solidFill>
                <a:latin typeface="Arial"/>
                <a:ea typeface="Arial"/>
                <a:cs typeface="Arial"/>
              </a:defRPr>
            </a:lvl4pPr>
            <a:lvl5pPr>
              <a:defRPr sz="1350" b="0">
                <a:solidFill>
                  <a:srgbClr val="52647A"/>
                </a:solidFill>
                <a:latin typeface="Arial"/>
                <a:ea typeface="Arial"/>
                <a:cs typeface="Arial"/>
              </a:defRPr>
            </a:lvl5pPr>
            <a:lvl6pPr>
              <a:defRPr sz="1350" b="0">
                <a:solidFill>
                  <a:srgbClr val="52647A"/>
                </a:solidFill>
                <a:latin typeface="Arial"/>
                <a:ea typeface="Arial"/>
                <a:cs typeface="Arial"/>
              </a:defRPr>
            </a:lvl6pPr>
            <a:lvl7pPr>
              <a:defRPr sz="1350" b="0">
                <a:solidFill>
                  <a:srgbClr val="52647A"/>
                </a:solidFill>
                <a:latin typeface="Arial"/>
                <a:ea typeface="Arial"/>
                <a:cs typeface="Arial"/>
              </a:defRPr>
            </a:lvl7pPr>
            <a:lvl8pPr>
              <a:defRPr sz="1350" b="0">
                <a:solidFill>
                  <a:srgbClr val="52647A"/>
                </a:solidFill>
                <a:latin typeface="Arial"/>
                <a:ea typeface="Arial"/>
                <a:cs typeface="Arial"/>
              </a:defRPr>
            </a:lvl8pPr>
            <a:lvl9pPr>
              <a:defRPr sz="1350" b="0">
                <a:solidFill>
                  <a:srgbClr val="52647A"/>
                </a:solidFill>
                <a:latin typeface="Arial"/>
                <a:ea typeface="Arial"/>
                <a:cs typeface="Arial"/>
              </a:defRPr>
            </a:lvl9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24  CUR-015 / CUR-017</a:t>
            </a:r>
          </a:p>
        </p:txBody>
      </p:sp>
    </p:spTree>
    <p:extLst>
      <p:ext uri="{BB962C8B-B14F-4D97-AF65-F5344CB8AC3E}">
        <p14:creationId xmlns:p14="http://schemas.microsoft.com/office/powerpoint/2010/main" val="1448409817"/>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text-0">
            <a:extLst xmlns:a="http://schemas.openxmlformats.org/drawingml/2006/main">
              <a:ext uri="{FF2B5EF4-FFF2-40B4-BE49-F238E27FC236}">
                <a16:creationId xmlns:a16="http://schemas.microsoft.com/office/drawing/2014/main" id="{9AD48B11-63BD-487E-A5B5-F75A6ED070EC}"/>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vl1pPr>
              <a:defRPr sz="3300" b="1">
                <a:solidFill>
                  <a:srgbClr val="15283D"/>
                </a:solidFill>
                <a:latin typeface="Arial"/>
                <a:ea typeface="Arial"/>
                <a:cs typeface="Arial"/>
              </a:defRPr>
            </a:lvl1pPr>
            <a:lvl2pPr>
              <a:defRPr sz="3300" b="1">
                <a:solidFill>
                  <a:srgbClr val="15283D"/>
                </a:solidFill>
                <a:latin typeface="Arial"/>
                <a:ea typeface="Arial"/>
                <a:cs typeface="Arial"/>
              </a:defRPr>
            </a:lvl2pPr>
            <a:lvl3pPr>
              <a:defRPr sz="3300" b="1">
                <a:solidFill>
                  <a:srgbClr val="15283D"/>
                </a:solidFill>
                <a:latin typeface="Arial"/>
                <a:ea typeface="Arial"/>
                <a:cs typeface="Arial"/>
              </a:defRPr>
            </a:lvl3pPr>
            <a:lvl4pPr>
              <a:defRPr sz="3300" b="1">
                <a:solidFill>
                  <a:srgbClr val="15283D"/>
                </a:solidFill>
                <a:latin typeface="Arial"/>
                <a:ea typeface="Arial"/>
                <a:cs typeface="Arial"/>
              </a:defRPr>
            </a:lvl4pPr>
            <a:lvl5pPr>
              <a:defRPr sz="3300" b="1">
                <a:solidFill>
                  <a:srgbClr val="15283D"/>
                </a:solidFill>
                <a:latin typeface="Arial"/>
                <a:ea typeface="Arial"/>
                <a:cs typeface="Arial"/>
              </a:defRPr>
            </a:lvl5pPr>
            <a:lvl6pPr>
              <a:defRPr sz="3300" b="1">
                <a:solidFill>
                  <a:srgbClr val="15283D"/>
                </a:solidFill>
                <a:latin typeface="Arial"/>
                <a:ea typeface="Arial"/>
                <a:cs typeface="Arial"/>
              </a:defRPr>
            </a:lvl6pPr>
            <a:lvl7pPr>
              <a:defRPr sz="3300" b="1">
                <a:solidFill>
                  <a:srgbClr val="15283D"/>
                </a:solidFill>
                <a:latin typeface="Arial"/>
                <a:ea typeface="Arial"/>
                <a:cs typeface="Arial"/>
              </a:defRPr>
            </a:lvl7pPr>
            <a:lvl8pPr>
              <a:defRPr sz="3300" b="1">
                <a:solidFill>
                  <a:srgbClr val="15283D"/>
                </a:solidFill>
                <a:latin typeface="Arial"/>
                <a:ea typeface="Arial"/>
                <a:cs typeface="Arial"/>
              </a:defRPr>
            </a:lvl8pPr>
            <a:lvl9pPr>
              <a:defRPr sz="3300" b="1">
                <a:solidFill>
                  <a:srgbClr val="15283D"/>
                </a:solidFill>
                <a:latin typeface="Arial"/>
                <a:ea typeface="Arial"/>
                <a:cs typeface="Arial"/>
              </a:defRPr>
            </a:lvl9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Eine Antwort mit abgerufenem Quellenkontext</a:t>
            </a:r>
          </a:p>
        </p:txBody>
      </p:sp>
      <p:sp>
        <p:nvSpPr>
          <p:cNvPr id="2" name="text-1">
            <a:extLst xmlns:a="http://schemas.openxmlformats.org/drawingml/2006/main">
              <a:ext uri="{FF2B5EF4-FFF2-40B4-BE49-F238E27FC236}">
                <a16:creationId xmlns:a16="http://schemas.microsoft.com/office/drawing/2014/main" id="{FD2939C8-BAF8-4F09-877A-E0E35445FE2C}"/>
              </a:ext>
            </a:extLst>
          </p:cNvPr>
          <p:cNvSpPr>
            <a:spLocks xmlns:a="http://schemas.openxmlformats.org/drawingml/2006/main" noGrp="1"/>
          </p:cNvSpPr>
          <p:nvPr/>
        </p:nvSpPr>
        <p:spPr>
          <a:xfrm xmlns:a="http://schemas.openxmlformats.org/drawingml/2006/main">
            <a:off x="685800" y="177165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Suche</a:t>
            </a:r>
          </a:p>
        </p:txBody>
      </p:sp>
      <p:sp>
        <p:nvSpPr>
          <p:cNvPr id="3" name="text-2">
            <a:extLst xmlns:a="http://schemas.openxmlformats.org/drawingml/2006/main">
              <a:ext uri="{FF2B5EF4-FFF2-40B4-BE49-F238E27FC236}">
                <a16:creationId xmlns:a16="http://schemas.microsoft.com/office/drawing/2014/main" id="{7D1E7A43-BFC6-4CA7-B721-09664DF84E97}"/>
              </a:ext>
            </a:extLst>
          </p:cNvPr>
          <p:cNvSpPr>
            <a:spLocks xmlns:a="http://schemas.openxmlformats.org/drawingml/2006/main" noGrp="1"/>
          </p:cNvSpPr>
          <p:nvPr/>
        </p:nvSpPr>
        <p:spPr>
          <a:xfrm xmlns:a="http://schemas.openxmlformats.org/drawingml/2006/main">
            <a:off x="3190875" y="177165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Die Anwendung findet zur Frage erlaubte, aktuelle Quellen.</a:t>
            </a:r>
          </a:p>
        </p:txBody>
      </p:sp>
      <p:sp>
        <p:nvSpPr>
          <p:cNvPr id="4" name="text-3">
            <a:extLst xmlns:a="http://schemas.openxmlformats.org/drawingml/2006/main">
              <a:ext uri="{FF2B5EF4-FFF2-40B4-BE49-F238E27FC236}">
                <a16:creationId xmlns:a16="http://schemas.microsoft.com/office/drawing/2014/main" id="{B8325310-B245-472C-8C57-AEA9367CF9C6}"/>
              </a:ext>
            </a:extLst>
          </p:cNvPr>
          <p:cNvSpPr>
            <a:spLocks xmlns:a="http://schemas.openxmlformats.org/drawingml/2006/main" noGrp="1"/>
          </p:cNvSpPr>
          <p:nvPr/>
        </p:nvSpPr>
        <p:spPr>
          <a:xfrm xmlns:a="http://schemas.openxmlformats.org/drawingml/2006/main">
            <a:off x="685800" y="3057525"/>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Kontext</a:t>
            </a:r>
          </a:p>
        </p:txBody>
      </p:sp>
      <p:sp>
        <p:nvSpPr>
          <p:cNvPr id="5" name="text-4">
            <a:extLst xmlns:a="http://schemas.openxmlformats.org/drawingml/2006/main">
              <a:ext uri="{FF2B5EF4-FFF2-40B4-BE49-F238E27FC236}">
                <a16:creationId xmlns:a16="http://schemas.microsoft.com/office/drawing/2014/main" id="{A8C71A14-0D13-4D04-BB90-C73EE0E2C2D1}"/>
              </a:ext>
            </a:extLst>
          </p:cNvPr>
          <p:cNvSpPr>
            <a:spLocks xmlns:a="http://schemas.openxmlformats.org/drawingml/2006/main" noGrp="1"/>
          </p:cNvSpPr>
          <p:nvPr/>
        </p:nvSpPr>
        <p:spPr>
          <a:xfrm xmlns:a="http://schemas.openxmlformats.org/drawingml/2006/main">
            <a:off x="3190875" y="3057525"/>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Sie gibt passende Ausschnitte zusammen mit der Frage an die Antwortstufe.</a:t>
            </a:r>
          </a:p>
        </p:txBody>
      </p:sp>
      <p:sp>
        <p:nvSpPr>
          <p:cNvPr id="6" name="text-5">
            <a:extLst xmlns:a="http://schemas.openxmlformats.org/drawingml/2006/main">
              <a:ext uri="{FF2B5EF4-FFF2-40B4-BE49-F238E27FC236}">
                <a16:creationId xmlns:a16="http://schemas.microsoft.com/office/drawing/2014/main" id="{173BBBF9-4137-46E8-8752-C24827684CB7}"/>
              </a:ext>
            </a:extLst>
          </p:cNvPr>
          <p:cNvSpPr>
            <a:spLocks xmlns:a="http://schemas.openxmlformats.org/drawingml/2006/main" noGrp="1"/>
          </p:cNvSpPr>
          <p:nvPr/>
        </p:nvSpPr>
        <p:spPr>
          <a:xfrm xmlns:a="http://schemas.openxmlformats.org/drawingml/2006/main">
            <a:off x="685800" y="434340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Antwort</a:t>
            </a:r>
          </a:p>
        </p:txBody>
      </p:sp>
      <p:sp>
        <p:nvSpPr>
          <p:cNvPr id="7" name="text-6">
            <a:extLst xmlns:a="http://schemas.openxmlformats.org/drawingml/2006/main">
              <a:ext uri="{FF2B5EF4-FFF2-40B4-BE49-F238E27FC236}">
                <a16:creationId xmlns:a16="http://schemas.microsoft.com/office/drawing/2014/main" id="{A3C78535-5C2C-4975-A00D-76D2466B5F6E}"/>
              </a:ext>
            </a:extLst>
          </p:cNvPr>
          <p:cNvSpPr>
            <a:spLocks xmlns:a="http://schemas.openxmlformats.org/drawingml/2006/main" noGrp="1"/>
          </p:cNvSpPr>
          <p:nvPr/>
        </p:nvSpPr>
        <p:spPr>
          <a:xfrm xmlns:a="http://schemas.openxmlformats.org/drawingml/2006/main">
            <a:off x="3190875" y="434340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Ein Antwortentwurf nennt seine Belege. Die Anwendung prüft die stützende Quelle.</a:t>
            </a:r>
          </a:p>
        </p:txBody>
      </p:sp>
      <p:sp>
        <p:nvSpPr>
          <p:cNvPr id="8" name="text-7">
            <a:extLst xmlns:a="http://schemas.openxmlformats.org/drawingml/2006/main">
              <a:ext uri="{FF2B5EF4-FFF2-40B4-BE49-F238E27FC236}">
                <a16:creationId xmlns:a16="http://schemas.microsoft.com/office/drawing/2014/main" id="{CC0233FE-B729-4C93-B301-756A5FFFF641}"/>
              </a:ext>
            </a:extLst>
          </p:cNvPr>
          <p:cNvSpPr>
            <a:spLocks xmlns:a="http://schemas.openxmlformats.org/drawingml/2006/main" noGrp="1"/>
          </p:cNvSpPr>
          <p:nvPr/>
        </p:nvSpPr>
        <p:spPr>
          <a:xfrm xmlns:a="http://schemas.openxmlformats.org/drawingml/2006/main">
            <a:off x="685800" y="5876925"/>
            <a:ext cx="10553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0">
                <a:solidFill>
                  <a:srgbClr val="52647A"/>
                </a:solidFill>
                <a:latin typeface="Arial"/>
                <a:ea typeface="Arial"/>
                <a:cs typeface="Arial"/>
              </a:defRPr>
            </a:defPPr>
            <a:lvl1pPr>
              <a:defRPr sz="1800" b="0">
                <a:solidFill>
                  <a:srgbClr val="52647A"/>
                </a:solidFill>
                <a:latin typeface="Arial"/>
                <a:ea typeface="Arial"/>
                <a:cs typeface="Arial"/>
              </a:defRPr>
            </a:lvl1pPr>
            <a:lvl2pPr>
              <a:defRPr sz="1800" b="0">
                <a:solidFill>
                  <a:srgbClr val="52647A"/>
                </a:solidFill>
                <a:latin typeface="Arial"/>
                <a:ea typeface="Arial"/>
                <a:cs typeface="Arial"/>
              </a:defRPr>
            </a:lvl2pPr>
            <a:lvl3pPr>
              <a:defRPr sz="1800" b="0">
                <a:solidFill>
                  <a:srgbClr val="52647A"/>
                </a:solidFill>
                <a:latin typeface="Arial"/>
                <a:ea typeface="Arial"/>
                <a:cs typeface="Arial"/>
              </a:defRPr>
            </a:lvl3pPr>
            <a:lvl4pPr>
              <a:defRPr sz="1800" b="0">
                <a:solidFill>
                  <a:srgbClr val="52647A"/>
                </a:solidFill>
                <a:latin typeface="Arial"/>
                <a:ea typeface="Arial"/>
                <a:cs typeface="Arial"/>
              </a:defRPr>
            </a:lvl4pPr>
            <a:lvl5pPr>
              <a:defRPr sz="1800" b="0">
                <a:solidFill>
                  <a:srgbClr val="52647A"/>
                </a:solidFill>
                <a:latin typeface="Arial"/>
                <a:ea typeface="Arial"/>
                <a:cs typeface="Arial"/>
              </a:defRPr>
            </a:lvl5pPr>
            <a:lvl6pPr>
              <a:defRPr sz="1800" b="0">
                <a:solidFill>
                  <a:srgbClr val="52647A"/>
                </a:solidFill>
                <a:latin typeface="Arial"/>
                <a:ea typeface="Arial"/>
                <a:cs typeface="Arial"/>
              </a:defRPr>
            </a:lvl6pPr>
            <a:lvl7pPr>
              <a:defRPr sz="1800" b="0">
                <a:solidFill>
                  <a:srgbClr val="52647A"/>
                </a:solidFill>
                <a:latin typeface="Arial"/>
                <a:ea typeface="Arial"/>
                <a:cs typeface="Arial"/>
              </a:defRPr>
            </a:lvl7pPr>
            <a:lvl8pPr>
              <a:defRPr sz="1800" b="0">
                <a:solidFill>
                  <a:srgbClr val="52647A"/>
                </a:solidFill>
                <a:latin typeface="Arial"/>
                <a:ea typeface="Arial"/>
                <a:cs typeface="Arial"/>
              </a:defRPr>
            </a:lvl8pPr>
            <a:lvl9pPr>
              <a:defRPr sz="1800" b="0">
                <a:solidFill>
                  <a:srgbClr val="52647A"/>
                </a:solidFill>
                <a:latin typeface="Arial"/>
                <a:ea typeface="Arial"/>
                <a:cs typeface="Arial"/>
              </a:defRPr>
            </a:lvl9pPr>
          </a:lstStyle>
          <a:p xmlns:a="http://schemas.openxmlformats.org/drawingml/2006/main">
            <a:pPr>
              <a:defRPr sz="1800" b="0">
                <a:solidFill>
                  <a:srgbClr val="52647A"/>
                </a:solidFill>
                <a:latin typeface="Arial"/>
                <a:ea typeface="Arial"/>
                <a:cs typeface="Arial"/>
              </a:defRPr>
            </a:pPr>
            <a:r>
              <a:rPr sz="1800" b="0">
                <a:solidFill>
                  <a:srgbClr val="52647A"/>
                </a:solidFill>
                <a:latin typeface="Arial"/>
                <a:ea typeface="Arial"/>
                <a:cs typeface="Arial"/>
              </a:rPr>
              <a:t>Dieser Ablauf heißt Retrieval-Augmented Generation, kurz RAG.</a:t>
            </a:r>
          </a:p>
        </p:txBody>
      </p:sp>
      <p:sp>
        <p:nvSpPr>
          <p:cNvPr id="9" name="text-8">
            <a:extLst xmlns:a="http://schemas.openxmlformats.org/drawingml/2006/main">
              <a:ext uri="{FF2B5EF4-FFF2-40B4-BE49-F238E27FC236}">
                <a16:creationId xmlns:a16="http://schemas.microsoft.com/office/drawing/2014/main" id="{B2AE8284-8A59-4E7C-B097-CAA840BA5EAF}"/>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vl1pPr>
              <a:defRPr sz="1350" b="0">
                <a:solidFill>
                  <a:srgbClr val="52647A"/>
                </a:solidFill>
                <a:latin typeface="Arial"/>
                <a:ea typeface="Arial"/>
                <a:cs typeface="Arial"/>
              </a:defRPr>
            </a:lvl1pPr>
            <a:lvl2pPr>
              <a:defRPr sz="1350" b="0">
                <a:solidFill>
                  <a:srgbClr val="52647A"/>
                </a:solidFill>
                <a:latin typeface="Arial"/>
                <a:ea typeface="Arial"/>
                <a:cs typeface="Arial"/>
              </a:defRPr>
            </a:lvl2pPr>
            <a:lvl3pPr>
              <a:defRPr sz="1350" b="0">
                <a:solidFill>
                  <a:srgbClr val="52647A"/>
                </a:solidFill>
                <a:latin typeface="Arial"/>
                <a:ea typeface="Arial"/>
                <a:cs typeface="Arial"/>
              </a:defRPr>
            </a:lvl3pPr>
            <a:lvl4pPr>
              <a:defRPr sz="1350" b="0">
                <a:solidFill>
                  <a:srgbClr val="52647A"/>
                </a:solidFill>
                <a:latin typeface="Arial"/>
                <a:ea typeface="Arial"/>
                <a:cs typeface="Arial"/>
              </a:defRPr>
            </a:lvl4pPr>
            <a:lvl5pPr>
              <a:defRPr sz="1350" b="0">
                <a:solidFill>
                  <a:srgbClr val="52647A"/>
                </a:solidFill>
                <a:latin typeface="Arial"/>
                <a:ea typeface="Arial"/>
                <a:cs typeface="Arial"/>
              </a:defRPr>
            </a:lvl5pPr>
            <a:lvl6pPr>
              <a:defRPr sz="1350" b="0">
                <a:solidFill>
                  <a:srgbClr val="52647A"/>
                </a:solidFill>
                <a:latin typeface="Arial"/>
                <a:ea typeface="Arial"/>
                <a:cs typeface="Arial"/>
              </a:defRPr>
            </a:lvl6pPr>
            <a:lvl7pPr>
              <a:defRPr sz="1350" b="0">
                <a:solidFill>
                  <a:srgbClr val="52647A"/>
                </a:solidFill>
                <a:latin typeface="Arial"/>
                <a:ea typeface="Arial"/>
                <a:cs typeface="Arial"/>
              </a:defRPr>
            </a:lvl7pPr>
            <a:lvl8pPr>
              <a:defRPr sz="1350" b="0">
                <a:solidFill>
                  <a:srgbClr val="52647A"/>
                </a:solidFill>
                <a:latin typeface="Arial"/>
                <a:ea typeface="Arial"/>
                <a:cs typeface="Arial"/>
              </a:defRPr>
            </a:lvl8pPr>
            <a:lvl9pPr>
              <a:defRPr sz="1350" b="0">
                <a:solidFill>
                  <a:srgbClr val="52647A"/>
                </a:solidFill>
                <a:latin typeface="Arial"/>
                <a:ea typeface="Arial"/>
                <a:cs typeface="Arial"/>
              </a:defRPr>
            </a:lvl9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25  CUR-017</a:t>
            </a:r>
          </a:p>
        </p:txBody>
      </p:sp>
    </p:spTree>
    <p:extLst>
      <p:ext uri="{BB962C8B-B14F-4D97-AF65-F5344CB8AC3E}">
        <p14:creationId xmlns:p14="http://schemas.microsoft.com/office/powerpoint/2010/main" val="1162379147"/>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0">
            <a:extLst xmlns:a="http://schemas.openxmlformats.org/drawingml/2006/main">
              <a:ext uri="{FF2B5EF4-FFF2-40B4-BE49-F238E27FC236}">
                <a16:creationId xmlns:a16="http://schemas.microsoft.com/office/drawing/2014/main" id="{A363D287-F5A9-4799-801E-ED8D359CF303}"/>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vl1pPr>
              <a:defRPr sz="3300" b="1">
                <a:solidFill>
                  <a:srgbClr val="15283D"/>
                </a:solidFill>
                <a:latin typeface="Arial"/>
                <a:ea typeface="Arial"/>
                <a:cs typeface="Arial"/>
              </a:defRPr>
            </a:lvl1pPr>
            <a:lvl2pPr>
              <a:defRPr sz="3300" b="1">
                <a:solidFill>
                  <a:srgbClr val="15283D"/>
                </a:solidFill>
                <a:latin typeface="Arial"/>
                <a:ea typeface="Arial"/>
                <a:cs typeface="Arial"/>
              </a:defRPr>
            </a:lvl2pPr>
            <a:lvl3pPr>
              <a:defRPr sz="3300" b="1">
                <a:solidFill>
                  <a:srgbClr val="15283D"/>
                </a:solidFill>
                <a:latin typeface="Arial"/>
                <a:ea typeface="Arial"/>
                <a:cs typeface="Arial"/>
              </a:defRPr>
            </a:lvl3pPr>
            <a:lvl4pPr>
              <a:defRPr sz="3300" b="1">
                <a:solidFill>
                  <a:srgbClr val="15283D"/>
                </a:solidFill>
                <a:latin typeface="Arial"/>
                <a:ea typeface="Arial"/>
                <a:cs typeface="Arial"/>
              </a:defRPr>
            </a:lvl4pPr>
            <a:lvl5pPr>
              <a:defRPr sz="3300" b="1">
                <a:solidFill>
                  <a:srgbClr val="15283D"/>
                </a:solidFill>
                <a:latin typeface="Arial"/>
                <a:ea typeface="Arial"/>
                <a:cs typeface="Arial"/>
              </a:defRPr>
            </a:lvl5pPr>
            <a:lvl6pPr>
              <a:defRPr sz="3300" b="1">
                <a:solidFill>
                  <a:srgbClr val="15283D"/>
                </a:solidFill>
                <a:latin typeface="Arial"/>
                <a:ea typeface="Arial"/>
                <a:cs typeface="Arial"/>
              </a:defRPr>
            </a:lvl6pPr>
            <a:lvl7pPr>
              <a:defRPr sz="3300" b="1">
                <a:solidFill>
                  <a:srgbClr val="15283D"/>
                </a:solidFill>
                <a:latin typeface="Arial"/>
                <a:ea typeface="Arial"/>
                <a:cs typeface="Arial"/>
              </a:defRPr>
            </a:lvl7pPr>
            <a:lvl8pPr>
              <a:defRPr sz="3300" b="1">
                <a:solidFill>
                  <a:srgbClr val="15283D"/>
                </a:solidFill>
                <a:latin typeface="Arial"/>
                <a:ea typeface="Arial"/>
                <a:cs typeface="Arial"/>
              </a:defRPr>
            </a:lvl8pPr>
            <a:lvl9pPr>
              <a:defRPr sz="3300" b="1">
                <a:solidFill>
                  <a:srgbClr val="15283D"/>
                </a:solidFill>
                <a:latin typeface="Arial"/>
                <a:ea typeface="Arial"/>
                <a:cs typeface="Arial"/>
              </a:defRPr>
            </a:lvl9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Eine belegbare Antwort im Wissensbasisfall</a:t>
            </a:r>
          </a:p>
        </p:txBody>
      </p:sp>
      <p:graphicFrame>
        <p:nvGraphicFramePr>
          <p:cNvPr id="2" name="">
            <a:extLst xmlns:a="http://schemas.openxmlformats.org/drawingml/2006/main">
              <a:ext uri="{FF2B5EF4-FFF2-40B4-BE49-F238E27FC236}">
                <a16:creationId xmlns:a16="http://schemas.microsoft.com/office/drawing/2014/main" id="{5DBF80E7-0BE0-469E-BDDC-35B402C62C73}"/>
              </a:ext>
            </a:extLst>
          </p:cNvPr>
          <p:cNvGraphicFramePr/>
          <p:nvPr/>
        </p:nvGraphicFramePr>
        <p:xfrm>
          <a:off xmlns:a="http://schemas.openxmlformats.org/drawingml/2006/main" x="685800" y="1771650"/>
          <a:ext xmlns:a="http://schemas.openxmlformats.org/drawingml/2006/main" cx="10668000" cy="3143250"/>
        </p:xfrm>
        <a:graphic xmlns:a="http://schemas.openxmlformats.org/drawingml/2006/main">
          <a:graphicData uri="http://schemas.openxmlformats.org/drawingml/2006/table">
            <a:tbl>
              <a:tblPr/>
              <a:tblGrid>
                <a:gridCol w="3048000"/>
                <a:gridCol w="7620000"/>
              </a:tblGrid>
              <a:tr h="785813">
                <a:tc>
                  <a:txBody>
                    <a:bodyPr/>
                    <a:lstStyle/>
                    <a:p>
                      <a:r>
                        <a:rPr sz="1800" b="1">
                          <a:solidFill>
                            <a:srgbClr val="15283D"/>
                          </a:solidFill>
                          <a:latin typeface="Arial"/>
                          <a:ea typeface="Arial"/>
                          <a:cs typeface="Arial"/>
                        </a:rPr>
                        <a:t>Bestandteil</a:t>
                      </a:r>
                    </a:p>
                  </a:txBody>
                  <a:tcPr marL="114300" marR="114300" marT="47625" marB="47625" anchor="ctr">
                    <a:lnL w="9525">
                      <a:solidFill>
                        <a:srgbClr val="C8D5DE"/>
                      </a:solidFill>
                      <a:prstDash val="solid"/>
                    </a:lnL>
                    <a:lnR w="9525">
                      <a:solidFill>
                        <a:srgbClr val="C8D5DE"/>
                      </a:solidFill>
                      <a:prstDash val="solid"/>
                    </a:lnR>
                    <a:lnT w="9525">
                      <a:solidFill>
                        <a:srgbClr val="C8D5DE"/>
                      </a:solidFill>
                      <a:prstDash val="solid"/>
                    </a:lnT>
                    <a:lnB w="9525">
                      <a:solidFill>
                        <a:srgbClr val="C8D5DE"/>
                      </a:solidFill>
                      <a:prstDash val="solid"/>
                    </a:lnB>
                    <a:solidFill>
                      <a:srgbClr val="E8F2F2"/>
                    </a:solidFill>
                  </a:tcPr>
                </a:tc>
                <a:tc>
                  <a:txBody>
                    <a:bodyPr/>
                    <a:lstStyle/>
                    <a:p>
                      <a:r>
                        <a:rPr sz="1800" b="1">
                          <a:solidFill>
                            <a:srgbClr val="15283D"/>
                          </a:solidFill>
                          <a:latin typeface="Arial"/>
                          <a:ea typeface="Arial"/>
                          <a:cs typeface="Arial"/>
                        </a:rPr>
                        <a:t>Sichtbarer Inhalt</a:t>
                      </a:r>
                    </a:p>
                  </a:txBody>
                  <a:tcPr marL="114300" marR="114300" marT="47625" marB="47625" anchor="ctr">
                    <a:lnR w="9525">
                      <a:solidFill>
                        <a:srgbClr val="C8D5DE"/>
                      </a:solidFill>
                      <a:prstDash val="solid"/>
                    </a:lnR>
                    <a:lnT w="9525">
                      <a:solidFill>
                        <a:srgbClr val="C8D5DE"/>
                      </a:solidFill>
                      <a:prstDash val="solid"/>
                    </a:lnT>
                    <a:lnB w="9525">
                      <a:solidFill>
                        <a:srgbClr val="C8D5DE"/>
                      </a:solidFill>
                      <a:prstDash val="solid"/>
                    </a:lnB>
                    <a:solidFill>
                      <a:srgbClr val="E8F2F2"/>
                    </a:solidFill>
                  </a:tcPr>
                </a:tc>
              </a:tr>
              <a:tr h="785813">
                <a:tc>
                  <a:txBody>
                    <a:bodyPr/>
                    <a:lstStyle/>
                    <a:p>
                      <a:r>
                        <a:rPr sz="1800" b="0">
                          <a:solidFill>
                            <a:srgbClr val="15283D"/>
                          </a:solidFill>
                          <a:latin typeface="Arial"/>
                          <a:ea typeface="Arial"/>
                          <a:cs typeface="Arial"/>
                        </a:rPr>
                        <a:t>Frage</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Wie lange bleiben die Protokolle von MOD_A erhalten?</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r h="785813">
                <a:tc>
                  <a:txBody>
                    <a:bodyPr/>
                    <a:lstStyle/>
                    <a:p>
                      <a:r>
                        <a:rPr sz="1800" b="0">
                          <a:solidFill>
                            <a:srgbClr val="15283D"/>
                          </a:solidFill>
                          <a:latin typeface="Arial"/>
                          <a:ea typeface="Arial"/>
                          <a:cs typeface="Arial"/>
                        </a:rPr>
                        <a:t>Gelieferte Quelle</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Dokument 2, v2: MOD_A bewahrt Protokolle sieben Tage auf.</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r h="785813">
                <a:tc>
                  <a:txBody>
                    <a:bodyPr/>
                    <a:lstStyle/>
                    <a:p>
                      <a:r>
                        <a:rPr sz="1800" b="0">
                          <a:solidFill>
                            <a:srgbClr val="15283D"/>
                          </a:solidFill>
                          <a:latin typeface="Arial"/>
                          <a:ea typeface="Arial"/>
                          <a:cs typeface="Arial"/>
                        </a:rPr>
                        <a:t>Fester Antwortentwurf</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Sieben Tage. Beleg: Dokument 2, Fassung v2.</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bl>
          </a:graphicData>
        </a:graphic>
      </p:graphicFrame>
      <p:sp>
        <p:nvSpPr>
          <p:cNvPr id="3" name="text-1">
            <a:extLst xmlns:a="http://schemas.openxmlformats.org/drawingml/2006/main">
              <a:ext uri="{FF2B5EF4-FFF2-40B4-BE49-F238E27FC236}">
                <a16:creationId xmlns:a16="http://schemas.microsoft.com/office/drawing/2014/main" id="{BC4EEC8D-77A0-4BB5-81F4-E5EF92A29AB3}"/>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vl1pPr>
              <a:defRPr sz="1350" b="0">
                <a:solidFill>
                  <a:srgbClr val="52647A"/>
                </a:solidFill>
                <a:latin typeface="Arial"/>
                <a:ea typeface="Arial"/>
                <a:cs typeface="Arial"/>
              </a:defRPr>
            </a:lvl1pPr>
            <a:lvl2pPr>
              <a:defRPr sz="1350" b="0">
                <a:solidFill>
                  <a:srgbClr val="52647A"/>
                </a:solidFill>
                <a:latin typeface="Arial"/>
                <a:ea typeface="Arial"/>
                <a:cs typeface="Arial"/>
              </a:defRPr>
            </a:lvl2pPr>
            <a:lvl3pPr>
              <a:defRPr sz="1350" b="0">
                <a:solidFill>
                  <a:srgbClr val="52647A"/>
                </a:solidFill>
                <a:latin typeface="Arial"/>
                <a:ea typeface="Arial"/>
                <a:cs typeface="Arial"/>
              </a:defRPr>
            </a:lvl3pPr>
            <a:lvl4pPr>
              <a:defRPr sz="1350" b="0">
                <a:solidFill>
                  <a:srgbClr val="52647A"/>
                </a:solidFill>
                <a:latin typeface="Arial"/>
                <a:ea typeface="Arial"/>
                <a:cs typeface="Arial"/>
              </a:defRPr>
            </a:lvl4pPr>
            <a:lvl5pPr>
              <a:defRPr sz="1350" b="0">
                <a:solidFill>
                  <a:srgbClr val="52647A"/>
                </a:solidFill>
                <a:latin typeface="Arial"/>
                <a:ea typeface="Arial"/>
                <a:cs typeface="Arial"/>
              </a:defRPr>
            </a:lvl5pPr>
            <a:lvl6pPr>
              <a:defRPr sz="1350" b="0">
                <a:solidFill>
                  <a:srgbClr val="52647A"/>
                </a:solidFill>
                <a:latin typeface="Arial"/>
                <a:ea typeface="Arial"/>
                <a:cs typeface="Arial"/>
              </a:defRPr>
            </a:lvl6pPr>
            <a:lvl7pPr>
              <a:defRPr sz="1350" b="0">
                <a:solidFill>
                  <a:srgbClr val="52647A"/>
                </a:solidFill>
                <a:latin typeface="Arial"/>
                <a:ea typeface="Arial"/>
                <a:cs typeface="Arial"/>
              </a:defRPr>
            </a:lvl7pPr>
            <a:lvl8pPr>
              <a:defRPr sz="1350" b="0">
                <a:solidFill>
                  <a:srgbClr val="52647A"/>
                </a:solidFill>
                <a:latin typeface="Arial"/>
                <a:ea typeface="Arial"/>
                <a:cs typeface="Arial"/>
              </a:defRPr>
            </a:lvl8pPr>
            <a:lvl9pPr>
              <a:defRPr sz="1350" b="0">
                <a:solidFill>
                  <a:srgbClr val="52647A"/>
                </a:solidFill>
                <a:latin typeface="Arial"/>
                <a:ea typeface="Arial"/>
                <a:cs typeface="Arial"/>
              </a:defRPr>
            </a:lvl9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26  CUR-017</a:t>
            </a:r>
          </a:p>
        </p:txBody>
      </p:sp>
    </p:spTree>
    <p:extLst>
      <p:ext uri="{BB962C8B-B14F-4D97-AF65-F5344CB8AC3E}">
        <p14:creationId xmlns:p14="http://schemas.microsoft.com/office/powerpoint/2010/main" val="1175405481"/>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0">
            <a:extLst xmlns:a="http://schemas.openxmlformats.org/drawingml/2006/main">
              <a:ext uri="{FF2B5EF4-FFF2-40B4-BE49-F238E27FC236}">
                <a16:creationId xmlns:a16="http://schemas.microsoft.com/office/drawing/2014/main" id="{77D26602-AE9F-48D1-B58E-C02371EE28A6}"/>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vl1pPr>
              <a:defRPr sz="3300" b="1">
                <a:solidFill>
                  <a:srgbClr val="15283D"/>
                </a:solidFill>
                <a:latin typeface="Arial"/>
                <a:ea typeface="Arial"/>
                <a:cs typeface="Arial"/>
              </a:defRPr>
            </a:lvl1pPr>
            <a:lvl2pPr>
              <a:defRPr sz="3300" b="1">
                <a:solidFill>
                  <a:srgbClr val="15283D"/>
                </a:solidFill>
                <a:latin typeface="Arial"/>
                <a:ea typeface="Arial"/>
                <a:cs typeface="Arial"/>
              </a:defRPr>
            </a:lvl2pPr>
            <a:lvl3pPr>
              <a:defRPr sz="3300" b="1">
                <a:solidFill>
                  <a:srgbClr val="15283D"/>
                </a:solidFill>
                <a:latin typeface="Arial"/>
                <a:ea typeface="Arial"/>
                <a:cs typeface="Arial"/>
              </a:defRPr>
            </a:lvl3pPr>
            <a:lvl4pPr>
              <a:defRPr sz="3300" b="1">
                <a:solidFill>
                  <a:srgbClr val="15283D"/>
                </a:solidFill>
                <a:latin typeface="Arial"/>
                <a:ea typeface="Arial"/>
                <a:cs typeface="Arial"/>
              </a:defRPr>
            </a:lvl4pPr>
            <a:lvl5pPr>
              <a:defRPr sz="3300" b="1">
                <a:solidFill>
                  <a:srgbClr val="15283D"/>
                </a:solidFill>
                <a:latin typeface="Arial"/>
                <a:ea typeface="Arial"/>
                <a:cs typeface="Arial"/>
              </a:defRPr>
            </a:lvl5pPr>
            <a:lvl6pPr>
              <a:defRPr sz="3300" b="1">
                <a:solidFill>
                  <a:srgbClr val="15283D"/>
                </a:solidFill>
                <a:latin typeface="Arial"/>
                <a:ea typeface="Arial"/>
                <a:cs typeface="Arial"/>
              </a:defRPr>
            </a:lvl6pPr>
            <a:lvl7pPr>
              <a:defRPr sz="3300" b="1">
                <a:solidFill>
                  <a:srgbClr val="15283D"/>
                </a:solidFill>
                <a:latin typeface="Arial"/>
                <a:ea typeface="Arial"/>
                <a:cs typeface="Arial"/>
              </a:defRPr>
            </a:lvl7pPr>
            <a:lvl8pPr>
              <a:defRPr sz="3300" b="1">
                <a:solidFill>
                  <a:srgbClr val="15283D"/>
                </a:solidFill>
                <a:latin typeface="Arial"/>
                <a:ea typeface="Arial"/>
                <a:cs typeface="Arial"/>
              </a:defRPr>
            </a:lvl8pPr>
            <a:lvl9pPr>
              <a:defRPr sz="3300" b="1">
                <a:solidFill>
                  <a:srgbClr val="15283D"/>
                </a:solidFill>
                <a:latin typeface="Arial"/>
                <a:ea typeface="Arial"/>
                <a:cs typeface="Arial"/>
              </a:defRPr>
            </a:lvl9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Falsche und fehlende Antworten erkennen</a:t>
            </a:r>
          </a:p>
        </p:txBody>
      </p:sp>
      <p:graphicFrame>
        <p:nvGraphicFramePr>
          <p:cNvPr id="2" name="">
            <a:extLst xmlns:a="http://schemas.openxmlformats.org/drawingml/2006/main">
              <a:ext uri="{FF2B5EF4-FFF2-40B4-BE49-F238E27FC236}">
                <a16:creationId xmlns:a16="http://schemas.microsoft.com/office/drawing/2014/main" id="{366FDC3E-B2C6-4B06-89FD-A4DBCFEDFC57}"/>
              </a:ext>
            </a:extLst>
          </p:cNvPr>
          <p:cNvGraphicFramePr/>
          <p:nvPr/>
        </p:nvGraphicFramePr>
        <p:xfrm>
          <a:off xmlns:a="http://schemas.openxmlformats.org/drawingml/2006/main" x="685800" y="1771650"/>
          <a:ext xmlns:a="http://schemas.openxmlformats.org/drawingml/2006/main" cx="10668000" cy="3143250"/>
        </p:xfrm>
        <a:graphic xmlns:a="http://schemas.openxmlformats.org/drawingml/2006/main">
          <a:graphicData uri="http://schemas.openxmlformats.org/drawingml/2006/table">
            <a:tbl>
              <a:tblPr/>
              <a:tblGrid>
                <a:gridCol w="5334000"/>
                <a:gridCol w="5334000"/>
              </a:tblGrid>
              <a:tr h="785813">
                <a:tc>
                  <a:txBody>
                    <a:bodyPr/>
                    <a:lstStyle/>
                    <a:p>
                      <a:r>
                        <a:rPr sz="1800" b="1">
                          <a:solidFill>
                            <a:srgbClr val="15283D"/>
                          </a:solidFill>
                          <a:latin typeface="Arial"/>
                          <a:ea typeface="Arial"/>
                          <a:cs typeface="Arial"/>
                        </a:rPr>
                        <a:t>Frage oder Antwortentwurf</a:t>
                      </a:r>
                    </a:p>
                  </a:txBody>
                  <a:tcPr marL="114300" marR="114300" marT="47625" marB="47625" anchor="ctr">
                    <a:lnL w="9525">
                      <a:solidFill>
                        <a:srgbClr val="C8D5DE"/>
                      </a:solidFill>
                      <a:prstDash val="solid"/>
                    </a:lnL>
                    <a:lnR w="9525">
                      <a:solidFill>
                        <a:srgbClr val="C8D5DE"/>
                      </a:solidFill>
                      <a:prstDash val="solid"/>
                    </a:lnR>
                    <a:lnT w="9525">
                      <a:solidFill>
                        <a:srgbClr val="C8D5DE"/>
                      </a:solidFill>
                      <a:prstDash val="solid"/>
                    </a:lnT>
                    <a:lnB w="9525">
                      <a:solidFill>
                        <a:srgbClr val="C8D5DE"/>
                      </a:solidFill>
                      <a:prstDash val="solid"/>
                    </a:lnB>
                    <a:solidFill>
                      <a:srgbClr val="E8F2F2"/>
                    </a:solidFill>
                  </a:tcPr>
                </a:tc>
                <a:tc>
                  <a:txBody>
                    <a:bodyPr/>
                    <a:lstStyle/>
                    <a:p>
                      <a:r>
                        <a:rPr sz="1800" b="1">
                          <a:solidFill>
                            <a:srgbClr val="15283D"/>
                          </a:solidFill>
                          <a:latin typeface="Arial"/>
                          <a:ea typeface="Arial"/>
                          <a:cs typeface="Arial"/>
                        </a:rPr>
                        <a:t>Gemeinsame Entscheidung</a:t>
                      </a:r>
                    </a:p>
                  </a:txBody>
                  <a:tcPr marL="114300" marR="114300" marT="47625" marB="47625" anchor="ctr">
                    <a:lnR w="9525">
                      <a:solidFill>
                        <a:srgbClr val="C8D5DE"/>
                      </a:solidFill>
                      <a:prstDash val="solid"/>
                    </a:lnR>
                    <a:lnT w="9525">
                      <a:solidFill>
                        <a:srgbClr val="C8D5DE"/>
                      </a:solidFill>
                      <a:prstDash val="solid"/>
                    </a:lnT>
                    <a:lnB w="9525">
                      <a:solidFill>
                        <a:srgbClr val="C8D5DE"/>
                      </a:solidFill>
                      <a:prstDash val="solid"/>
                    </a:lnB>
                    <a:solidFill>
                      <a:srgbClr val="E8F2F2"/>
                    </a:solidFill>
                  </a:tcPr>
                </a:tc>
              </a:tr>
              <a:tr h="785813">
                <a:tc>
                  <a:txBody>
                    <a:bodyPr/>
                    <a:lstStyle/>
                    <a:p>
                      <a:r>
                        <a:rPr sz="1800" b="0">
                          <a:solidFill>
                            <a:srgbClr val="15283D"/>
                          </a:solidFill>
                          <a:latin typeface="Arial"/>
                          <a:ea typeface="Arial"/>
                          <a:cs typeface="Arial"/>
                        </a:rPr>
                        <a:t>MOD_A bewahrt Protokolle 14 Tage auf.</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Falsch zum gelieferten Beleg von sieben Tagen.</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r h="785813">
                <a:tc>
                  <a:txBody>
                    <a:bodyPr/>
                    <a:lstStyle/>
                    <a:p>
                      <a:r>
                        <a:rPr sz="1800" b="0">
                          <a:solidFill>
                            <a:srgbClr val="15283D"/>
                          </a:solidFill>
                          <a:latin typeface="Arial"/>
                          <a:ea typeface="Arial"/>
                          <a:cs typeface="Arial"/>
                        </a:rPr>
                        <a:t>Warum sind es genau sieben Tage?</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Der Grund fehlt in der Quelle. Keine Erklärung erfinden.</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r h="785813">
                <a:tc>
                  <a:txBody>
                    <a:bodyPr/>
                    <a:lstStyle/>
                    <a:p>
                      <a:r>
                        <a:rPr sz="1800" b="0">
                          <a:solidFill>
                            <a:srgbClr val="15283D"/>
                          </a:solidFill>
                          <a:latin typeface="Arial"/>
                          <a:ea typeface="Arial"/>
                          <a:cs typeface="Arial"/>
                        </a:rPr>
                        <a:t>Ohne passende Quelle bleibt die Antwort leer.</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Eine begründete Nichtantwort ist nachvollziehbarer.</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bl>
          </a:graphicData>
        </a:graphic>
      </p:graphicFrame>
      <p:sp>
        <p:nvSpPr>
          <p:cNvPr id="3" name="text-1">
            <a:extLst xmlns:a="http://schemas.openxmlformats.org/drawingml/2006/main">
              <a:ext uri="{FF2B5EF4-FFF2-40B4-BE49-F238E27FC236}">
                <a16:creationId xmlns:a16="http://schemas.microsoft.com/office/drawing/2014/main" id="{D638EA4C-E4F9-4598-B598-F7167B5E30BC}"/>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vl1pPr>
              <a:defRPr sz="1350" b="0">
                <a:solidFill>
                  <a:srgbClr val="52647A"/>
                </a:solidFill>
                <a:latin typeface="Arial"/>
                <a:ea typeface="Arial"/>
                <a:cs typeface="Arial"/>
              </a:defRPr>
            </a:lvl1pPr>
            <a:lvl2pPr>
              <a:defRPr sz="1350" b="0">
                <a:solidFill>
                  <a:srgbClr val="52647A"/>
                </a:solidFill>
                <a:latin typeface="Arial"/>
                <a:ea typeface="Arial"/>
                <a:cs typeface="Arial"/>
              </a:defRPr>
            </a:lvl2pPr>
            <a:lvl3pPr>
              <a:defRPr sz="1350" b="0">
                <a:solidFill>
                  <a:srgbClr val="52647A"/>
                </a:solidFill>
                <a:latin typeface="Arial"/>
                <a:ea typeface="Arial"/>
                <a:cs typeface="Arial"/>
              </a:defRPr>
            </a:lvl3pPr>
            <a:lvl4pPr>
              <a:defRPr sz="1350" b="0">
                <a:solidFill>
                  <a:srgbClr val="52647A"/>
                </a:solidFill>
                <a:latin typeface="Arial"/>
                <a:ea typeface="Arial"/>
                <a:cs typeface="Arial"/>
              </a:defRPr>
            </a:lvl4pPr>
            <a:lvl5pPr>
              <a:defRPr sz="1350" b="0">
                <a:solidFill>
                  <a:srgbClr val="52647A"/>
                </a:solidFill>
                <a:latin typeface="Arial"/>
                <a:ea typeface="Arial"/>
                <a:cs typeface="Arial"/>
              </a:defRPr>
            </a:lvl5pPr>
            <a:lvl6pPr>
              <a:defRPr sz="1350" b="0">
                <a:solidFill>
                  <a:srgbClr val="52647A"/>
                </a:solidFill>
                <a:latin typeface="Arial"/>
                <a:ea typeface="Arial"/>
                <a:cs typeface="Arial"/>
              </a:defRPr>
            </a:lvl6pPr>
            <a:lvl7pPr>
              <a:defRPr sz="1350" b="0">
                <a:solidFill>
                  <a:srgbClr val="52647A"/>
                </a:solidFill>
                <a:latin typeface="Arial"/>
                <a:ea typeface="Arial"/>
                <a:cs typeface="Arial"/>
              </a:defRPr>
            </a:lvl7pPr>
            <a:lvl8pPr>
              <a:defRPr sz="1350" b="0">
                <a:solidFill>
                  <a:srgbClr val="52647A"/>
                </a:solidFill>
                <a:latin typeface="Arial"/>
                <a:ea typeface="Arial"/>
                <a:cs typeface="Arial"/>
              </a:defRPr>
            </a:lvl8pPr>
            <a:lvl9pPr>
              <a:defRPr sz="1350" b="0">
                <a:solidFill>
                  <a:srgbClr val="52647A"/>
                </a:solidFill>
                <a:latin typeface="Arial"/>
                <a:ea typeface="Arial"/>
                <a:cs typeface="Arial"/>
              </a:defRPr>
            </a:lvl9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27  CUR-017 / CUR-022</a:t>
            </a:r>
          </a:p>
        </p:txBody>
      </p:sp>
    </p:spTree>
    <p:extLst>
      <p:ext uri="{BB962C8B-B14F-4D97-AF65-F5344CB8AC3E}">
        <p14:creationId xmlns:p14="http://schemas.microsoft.com/office/powerpoint/2010/main" val="456592176"/>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text-0">
            <a:extLst xmlns:a="http://schemas.openxmlformats.org/drawingml/2006/main">
              <a:ext uri="{FF2B5EF4-FFF2-40B4-BE49-F238E27FC236}">
                <a16:creationId xmlns:a16="http://schemas.microsoft.com/office/drawing/2014/main" id="{7DA4F484-BE07-448D-8159-63F434AD785E}"/>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vl1pPr>
              <a:defRPr sz="3300" b="1">
                <a:solidFill>
                  <a:srgbClr val="15283D"/>
                </a:solidFill>
                <a:latin typeface="Arial"/>
                <a:ea typeface="Arial"/>
                <a:cs typeface="Arial"/>
              </a:defRPr>
            </a:lvl1pPr>
            <a:lvl2pPr>
              <a:defRPr sz="3300" b="1">
                <a:solidFill>
                  <a:srgbClr val="15283D"/>
                </a:solidFill>
                <a:latin typeface="Arial"/>
                <a:ea typeface="Arial"/>
                <a:cs typeface="Arial"/>
              </a:defRPr>
            </a:lvl2pPr>
            <a:lvl3pPr>
              <a:defRPr sz="3300" b="1">
                <a:solidFill>
                  <a:srgbClr val="15283D"/>
                </a:solidFill>
                <a:latin typeface="Arial"/>
                <a:ea typeface="Arial"/>
                <a:cs typeface="Arial"/>
              </a:defRPr>
            </a:lvl3pPr>
            <a:lvl4pPr>
              <a:defRPr sz="3300" b="1">
                <a:solidFill>
                  <a:srgbClr val="15283D"/>
                </a:solidFill>
                <a:latin typeface="Arial"/>
                <a:ea typeface="Arial"/>
                <a:cs typeface="Arial"/>
              </a:defRPr>
            </a:lvl4pPr>
            <a:lvl5pPr>
              <a:defRPr sz="3300" b="1">
                <a:solidFill>
                  <a:srgbClr val="15283D"/>
                </a:solidFill>
                <a:latin typeface="Arial"/>
                <a:ea typeface="Arial"/>
                <a:cs typeface="Arial"/>
              </a:defRPr>
            </a:lvl5pPr>
            <a:lvl6pPr>
              <a:defRPr sz="3300" b="1">
                <a:solidFill>
                  <a:srgbClr val="15283D"/>
                </a:solidFill>
                <a:latin typeface="Arial"/>
                <a:ea typeface="Arial"/>
                <a:cs typeface="Arial"/>
              </a:defRPr>
            </a:lvl6pPr>
            <a:lvl7pPr>
              <a:defRPr sz="3300" b="1">
                <a:solidFill>
                  <a:srgbClr val="15283D"/>
                </a:solidFill>
                <a:latin typeface="Arial"/>
                <a:ea typeface="Arial"/>
                <a:cs typeface="Arial"/>
              </a:defRPr>
            </a:lvl7pPr>
            <a:lvl8pPr>
              <a:defRPr sz="3300" b="1">
                <a:solidFill>
                  <a:srgbClr val="15283D"/>
                </a:solidFill>
                <a:latin typeface="Arial"/>
                <a:ea typeface="Arial"/>
                <a:cs typeface="Arial"/>
              </a:defRPr>
            </a:lvl8pPr>
            <a:lvl9pPr>
              <a:defRPr sz="3300" b="1">
                <a:solidFill>
                  <a:srgbClr val="15283D"/>
                </a:solidFill>
                <a:latin typeface="Arial"/>
                <a:ea typeface="Arial"/>
                <a:cs typeface="Arial"/>
              </a:defRPr>
            </a:lvl9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Vorbereitung auf die konkreten Demos</a:t>
            </a:r>
          </a:p>
        </p:txBody>
      </p:sp>
      <p:sp>
        <p:nvSpPr>
          <p:cNvPr id="2" name="text-1">
            <a:extLst xmlns:a="http://schemas.openxmlformats.org/drawingml/2006/main">
              <a:ext uri="{FF2B5EF4-FFF2-40B4-BE49-F238E27FC236}">
                <a16:creationId xmlns:a16="http://schemas.microsoft.com/office/drawing/2014/main" id="{FAE74413-5565-47F1-9C34-0D92D7316BB1}"/>
              </a:ext>
            </a:extLst>
          </p:cNvPr>
          <p:cNvSpPr>
            <a:spLocks xmlns:a="http://schemas.openxmlformats.org/drawingml/2006/main" noGrp="1"/>
          </p:cNvSpPr>
          <p:nvPr/>
        </p:nvSpPr>
        <p:spPr>
          <a:xfrm xmlns:a="http://schemas.openxmlformats.org/drawingml/2006/main">
            <a:off x="685800" y="177165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Zahlen verstehen</a:t>
            </a:r>
          </a:p>
        </p:txBody>
      </p:sp>
      <p:sp>
        <p:nvSpPr>
          <p:cNvPr id="3" name="text-2">
            <a:extLst xmlns:a="http://schemas.openxmlformats.org/drawingml/2006/main">
              <a:ext uri="{FF2B5EF4-FFF2-40B4-BE49-F238E27FC236}">
                <a16:creationId xmlns:a16="http://schemas.microsoft.com/office/drawing/2014/main" id="{812D25ED-0BDD-46FD-B8AB-B4EA321859FB}"/>
              </a:ext>
            </a:extLst>
          </p:cNvPr>
          <p:cNvSpPr>
            <a:spLocks xmlns:a="http://schemas.openxmlformats.org/drawingml/2006/main" noGrp="1"/>
          </p:cNvSpPr>
          <p:nvPr/>
        </p:nvSpPr>
        <p:spPr>
          <a:xfrm xmlns:a="http://schemas.openxmlformats.org/drawingml/2006/main">
            <a:off x="3190875" y="177165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Eine Vektorquery vergleicht Werte. Ihre Distanz beweist noch keine richtige Antwort.</a:t>
            </a:r>
          </a:p>
        </p:txBody>
      </p:sp>
      <p:sp>
        <p:nvSpPr>
          <p:cNvPr id="4" name="text-3">
            <a:extLst xmlns:a="http://schemas.openxmlformats.org/drawingml/2006/main">
              <a:ext uri="{FF2B5EF4-FFF2-40B4-BE49-F238E27FC236}">
                <a16:creationId xmlns:a16="http://schemas.microsoft.com/office/drawing/2014/main" id="{4804CBD6-2477-41F7-B3A3-D74C3C931862}"/>
              </a:ext>
            </a:extLst>
          </p:cNvPr>
          <p:cNvSpPr>
            <a:spLocks xmlns:a="http://schemas.openxmlformats.org/drawingml/2006/main" noGrp="1"/>
          </p:cNvSpPr>
          <p:nvPr/>
        </p:nvSpPr>
        <p:spPr>
          <a:xfrm xmlns:a="http://schemas.openxmlformats.org/drawingml/2006/main">
            <a:off x="685800" y="3057525"/>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Quellen prüfen</a:t>
            </a:r>
          </a:p>
        </p:txBody>
      </p:sp>
      <p:sp>
        <p:nvSpPr>
          <p:cNvPr id="5" name="text-4">
            <a:extLst xmlns:a="http://schemas.openxmlformats.org/drawingml/2006/main">
              <a:ext uri="{FF2B5EF4-FFF2-40B4-BE49-F238E27FC236}">
                <a16:creationId xmlns:a16="http://schemas.microsoft.com/office/drawing/2014/main" id="{A10E2DE4-3A7A-422D-8331-8C50DFD39C34}"/>
              </a:ext>
            </a:extLst>
          </p:cNvPr>
          <p:cNvSpPr>
            <a:spLocks xmlns:a="http://schemas.openxmlformats.org/drawingml/2006/main" noGrp="1"/>
          </p:cNvSpPr>
          <p:nvPr/>
        </p:nvSpPr>
        <p:spPr>
          <a:xfrm xmlns:a="http://schemas.openxmlformats.org/drawingml/2006/main">
            <a:off x="3190875" y="3057525"/>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Dokument, Fassung und erlaubter Kontext gehören zum Ergebnis.</a:t>
            </a:r>
          </a:p>
        </p:txBody>
      </p:sp>
      <p:sp>
        <p:nvSpPr>
          <p:cNvPr id="6" name="text-5">
            <a:extLst xmlns:a="http://schemas.openxmlformats.org/drawingml/2006/main">
              <a:ext uri="{FF2B5EF4-FFF2-40B4-BE49-F238E27FC236}">
                <a16:creationId xmlns:a16="http://schemas.microsoft.com/office/drawing/2014/main" id="{418FE504-FBB1-4DCD-97EC-F8BAD36256C2}"/>
              </a:ext>
            </a:extLst>
          </p:cNvPr>
          <p:cNvSpPr>
            <a:spLocks xmlns:a="http://schemas.openxmlformats.org/drawingml/2006/main" noGrp="1"/>
          </p:cNvSpPr>
          <p:nvPr/>
        </p:nvSpPr>
        <p:spPr>
          <a:xfrm xmlns:a="http://schemas.openxmlformats.org/drawingml/2006/main">
            <a:off x="685800" y="434340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Nächster Schritt</a:t>
            </a:r>
          </a:p>
        </p:txBody>
      </p:sp>
      <p:sp>
        <p:nvSpPr>
          <p:cNvPr id="7" name="text-6">
            <a:extLst xmlns:a="http://schemas.openxmlformats.org/drawingml/2006/main">
              <a:ext uri="{FF2B5EF4-FFF2-40B4-BE49-F238E27FC236}">
                <a16:creationId xmlns:a16="http://schemas.microsoft.com/office/drawing/2014/main" id="{A2CD14F3-57EE-4125-B0B6-644F887A4E63}"/>
              </a:ext>
            </a:extLst>
          </p:cNvPr>
          <p:cNvSpPr>
            <a:spLocks xmlns:a="http://schemas.openxmlformats.org/drawingml/2006/main" noGrp="1"/>
          </p:cNvSpPr>
          <p:nvPr/>
        </p:nvSpPr>
        <p:spPr>
          <a:xfrm xmlns:a="http://schemas.openxmlformats.org/drawingml/2006/main">
            <a:off x="3190875" y="434340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Wir untersuchen nun Datentypen, Suche, Quellen und Rechte an den vorbereiteten Offline-Demos.</a:t>
            </a:r>
          </a:p>
        </p:txBody>
      </p:sp>
      <p:sp>
        <p:nvSpPr>
          <p:cNvPr id="8" name="text-7">
            <a:extLst xmlns:a="http://schemas.openxmlformats.org/drawingml/2006/main">
              <a:ext uri="{FF2B5EF4-FFF2-40B4-BE49-F238E27FC236}">
                <a16:creationId xmlns:a16="http://schemas.microsoft.com/office/drawing/2014/main" id="{CFA2E12C-345C-4E01-ACC8-EAD18FA7B45C}"/>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vl1pPr>
              <a:defRPr sz="1350" b="0">
                <a:solidFill>
                  <a:srgbClr val="52647A"/>
                </a:solidFill>
                <a:latin typeface="Arial"/>
                <a:ea typeface="Arial"/>
                <a:cs typeface="Arial"/>
              </a:defRPr>
            </a:lvl1pPr>
            <a:lvl2pPr>
              <a:defRPr sz="1350" b="0">
                <a:solidFill>
                  <a:srgbClr val="52647A"/>
                </a:solidFill>
                <a:latin typeface="Arial"/>
                <a:ea typeface="Arial"/>
                <a:cs typeface="Arial"/>
              </a:defRPr>
            </a:lvl2pPr>
            <a:lvl3pPr>
              <a:defRPr sz="1350" b="0">
                <a:solidFill>
                  <a:srgbClr val="52647A"/>
                </a:solidFill>
                <a:latin typeface="Arial"/>
                <a:ea typeface="Arial"/>
                <a:cs typeface="Arial"/>
              </a:defRPr>
            </a:lvl3pPr>
            <a:lvl4pPr>
              <a:defRPr sz="1350" b="0">
                <a:solidFill>
                  <a:srgbClr val="52647A"/>
                </a:solidFill>
                <a:latin typeface="Arial"/>
                <a:ea typeface="Arial"/>
                <a:cs typeface="Arial"/>
              </a:defRPr>
            </a:lvl4pPr>
            <a:lvl5pPr>
              <a:defRPr sz="1350" b="0">
                <a:solidFill>
                  <a:srgbClr val="52647A"/>
                </a:solidFill>
                <a:latin typeface="Arial"/>
                <a:ea typeface="Arial"/>
                <a:cs typeface="Arial"/>
              </a:defRPr>
            </a:lvl5pPr>
            <a:lvl6pPr>
              <a:defRPr sz="1350" b="0">
                <a:solidFill>
                  <a:srgbClr val="52647A"/>
                </a:solidFill>
                <a:latin typeface="Arial"/>
                <a:ea typeface="Arial"/>
                <a:cs typeface="Arial"/>
              </a:defRPr>
            </a:lvl6pPr>
            <a:lvl7pPr>
              <a:defRPr sz="1350" b="0">
                <a:solidFill>
                  <a:srgbClr val="52647A"/>
                </a:solidFill>
                <a:latin typeface="Arial"/>
                <a:ea typeface="Arial"/>
                <a:cs typeface="Arial"/>
              </a:defRPr>
            </a:lvl7pPr>
            <a:lvl8pPr>
              <a:defRPr sz="1350" b="0">
                <a:solidFill>
                  <a:srgbClr val="52647A"/>
                </a:solidFill>
                <a:latin typeface="Arial"/>
                <a:ea typeface="Arial"/>
                <a:cs typeface="Arial"/>
              </a:defRPr>
            </a:lvl8pPr>
            <a:lvl9pPr>
              <a:defRPr sz="1350" b="0">
                <a:solidFill>
                  <a:srgbClr val="52647A"/>
                </a:solidFill>
                <a:latin typeface="Arial"/>
                <a:ea typeface="Arial"/>
                <a:cs typeface="Arial"/>
              </a:defRPr>
            </a:lvl9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28  CUR-013 / CUR-014 / CUR-017 / CUR-018</a:t>
            </a:r>
          </a:p>
        </p:txBody>
      </p:sp>
    </p:spTree>
    <p:extLst>
      <p:ext uri="{BB962C8B-B14F-4D97-AF65-F5344CB8AC3E}">
        <p14:creationId xmlns:p14="http://schemas.microsoft.com/office/powerpoint/2010/main" val="183320239"/>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text-0">
            <a:extLst xmlns:a="http://schemas.openxmlformats.org/drawingml/2006/main">
              <a:ext uri="{FF2B5EF4-FFF2-40B4-BE49-F238E27FC236}">
                <a16:creationId xmlns:a16="http://schemas.microsoft.com/office/drawing/2014/main" id="{D7B484C1-40BB-4E02-BEDC-AA36528D8A2F}"/>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vl1pPr>
              <a:defRPr sz="3300" b="1">
                <a:solidFill>
                  <a:srgbClr val="15283D"/>
                </a:solidFill>
                <a:latin typeface="Arial"/>
                <a:ea typeface="Arial"/>
                <a:cs typeface="Arial"/>
              </a:defRPr>
            </a:lvl1pPr>
            <a:lvl2pPr>
              <a:defRPr sz="3300" b="1">
                <a:solidFill>
                  <a:srgbClr val="15283D"/>
                </a:solidFill>
                <a:latin typeface="Arial"/>
                <a:ea typeface="Arial"/>
                <a:cs typeface="Arial"/>
              </a:defRPr>
            </a:lvl2pPr>
            <a:lvl3pPr>
              <a:defRPr sz="3300" b="1">
                <a:solidFill>
                  <a:srgbClr val="15283D"/>
                </a:solidFill>
                <a:latin typeface="Arial"/>
                <a:ea typeface="Arial"/>
                <a:cs typeface="Arial"/>
              </a:defRPr>
            </a:lvl3pPr>
            <a:lvl4pPr>
              <a:defRPr sz="3300" b="1">
                <a:solidFill>
                  <a:srgbClr val="15283D"/>
                </a:solidFill>
                <a:latin typeface="Arial"/>
                <a:ea typeface="Arial"/>
                <a:cs typeface="Arial"/>
              </a:defRPr>
            </a:lvl4pPr>
            <a:lvl5pPr>
              <a:defRPr sz="3300" b="1">
                <a:solidFill>
                  <a:srgbClr val="15283D"/>
                </a:solidFill>
                <a:latin typeface="Arial"/>
                <a:ea typeface="Arial"/>
                <a:cs typeface="Arial"/>
              </a:defRPr>
            </a:lvl5pPr>
            <a:lvl6pPr>
              <a:defRPr sz="3300" b="1">
                <a:solidFill>
                  <a:srgbClr val="15283D"/>
                </a:solidFill>
                <a:latin typeface="Arial"/>
                <a:ea typeface="Arial"/>
                <a:cs typeface="Arial"/>
              </a:defRPr>
            </a:lvl6pPr>
            <a:lvl7pPr>
              <a:defRPr sz="3300" b="1">
                <a:solidFill>
                  <a:srgbClr val="15283D"/>
                </a:solidFill>
                <a:latin typeface="Arial"/>
                <a:ea typeface="Arial"/>
                <a:cs typeface="Arial"/>
              </a:defRPr>
            </a:lvl7pPr>
            <a:lvl8pPr>
              <a:defRPr sz="3300" b="1">
                <a:solidFill>
                  <a:srgbClr val="15283D"/>
                </a:solidFill>
                <a:latin typeface="Arial"/>
                <a:ea typeface="Arial"/>
                <a:cs typeface="Arial"/>
              </a:defRPr>
            </a:lvl8pPr>
            <a:lvl9pPr>
              <a:defRPr sz="3300" b="1">
                <a:solidFill>
                  <a:srgbClr val="15283D"/>
                </a:solidFill>
                <a:latin typeface="Arial"/>
                <a:ea typeface="Arial"/>
                <a:cs typeface="Arial"/>
              </a:defRPr>
            </a:lvl9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Fachmodule und Vertiefung</a:t>
            </a:r>
          </a:p>
        </p:txBody>
      </p:sp>
      <p:sp>
        <p:nvSpPr>
          <p:cNvPr id="2" name="text-1">
            <a:extLst xmlns:a="http://schemas.openxmlformats.org/drawingml/2006/main">
              <a:ext uri="{FF2B5EF4-FFF2-40B4-BE49-F238E27FC236}">
                <a16:creationId xmlns:a16="http://schemas.microsoft.com/office/drawing/2014/main" id="{782654AD-AA33-4FBF-9413-646F1F6C7493}"/>
              </a:ext>
            </a:extLst>
          </p:cNvPr>
          <p:cNvSpPr>
            <a:spLocks xmlns:a="http://schemas.openxmlformats.org/drawingml/2006/main" noGrp="1"/>
          </p:cNvSpPr>
          <p:nvPr/>
        </p:nvSpPr>
        <p:spPr>
          <a:xfrm xmlns:a="http://schemas.openxmlformats.org/drawingml/2006/main">
            <a:off x="685800" y="177165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ML und LLM</a:t>
            </a:r>
          </a:p>
        </p:txBody>
      </p:sp>
      <p:sp>
        <p:nvSpPr>
          <p:cNvPr id="3" name="text-2">
            <a:extLst xmlns:a="http://schemas.openxmlformats.org/drawingml/2006/main">
              <a:ext uri="{FF2B5EF4-FFF2-40B4-BE49-F238E27FC236}">
                <a16:creationId xmlns:a16="http://schemas.microsoft.com/office/drawing/2014/main" id="{246156FB-83E7-46E6-8116-66EB49D19221}"/>
              </a:ext>
            </a:extLst>
          </p:cNvPr>
          <p:cNvSpPr>
            <a:spLocks xmlns:a="http://schemas.openxmlformats.org/drawingml/2006/main" noGrp="1"/>
          </p:cNvSpPr>
          <p:nvPr/>
        </p:nvSpPr>
        <p:spPr>
          <a:xfrm xmlns:a="http://schemas.openxmlformats.org/drawingml/2006/main">
            <a:off x="3190875" y="177165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ML-Modelle lernen Muster aus Daten. Generative LLMs erzeugen Textfolgen aus Tokens.</a:t>
            </a:r>
          </a:p>
        </p:txBody>
      </p:sp>
      <p:sp>
        <p:nvSpPr>
          <p:cNvPr id="4" name="text-3">
            <a:extLst xmlns:a="http://schemas.openxmlformats.org/drawingml/2006/main">
              <a:ext uri="{FF2B5EF4-FFF2-40B4-BE49-F238E27FC236}">
                <a16:creationId xmlns:a16="http://schemas.microsoft.com/office/drawing/2014/main" id="{C78DFE58-2BDB-46E5-93AD-A8CE81A6C9C8}"/>
              </a:ext>
            </a:extLst>
          </p:cNvPr>
          <p:cNvSpPr>
            <a:spLocks xmlns:a="http://schemas.openxmlformats.org/drawingml/2006/main" noGrp="1"/>
          </p:cNvSpPr>
          <p:nvPr/>
        </p:nvSpPr>
        <p:spPr>
          <a:xfrm xmlns:a="http://schemas.openxmlformats.org/drawingml/2006/main">
            <a:off x="685800" y="3057525"/>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Embeddings</a:t>
            </a:r>
          </a:p>
        </p:txBody>
      </p:sp>
      <p:sp>
        <p:nvSpPr>
          <p:cNvPr id="5" name="text-4">
            <a:extLst xmlns:a="http://schemas.openxmlformats.org/drawingml/2006/main">
              <a:ext uri="{FF2B5EF4-FFF2-40B4-BE49-F238E27FC236}">
                <a16:creationId xmlns:a16="http://schemas.microsoft.com/office/drawing/2014/main" id="{448CC9F4-9A7C-4719-9DB0-211D0BBD9D49}"/>
              </a:ext>
            </a:extLst>
          </p:cNvPr>
          <p:cNvSpPr>
            <a:spLocks xmlns:a="http://schemas.openxmlformats.org/drawingml/2006/main" noGrp="1"/>
          </p:cNvSpPr>
          <p:nvPr/>
        </p:nvSpPr>
        <p:spPr>
          <a:xfrm xmlns:a="http://schemas.openxmlformats.org/drawingml/2006/main">
            <a:off x="3190875" y="3057525"/>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Ein Embedding-Modell bildet Eingaben auf numerische Vektoren ab. SQL Server speichert und durchsucht diese Werte.</a:t>
            </a:r>
          </a:p>
        </p:txBody>
      </p:sp>
      <p:sp>
        <p:nvSpPr>
          <p:cNvPr id="6" name="text-5">
            <a:extLst xmlns:a="http://schemas.openxmlformats.org/drawingml/2006/main">
              <a:ext uri="{FF2B5EF4-FFF2-40B4-BE49-F238E27FC236}">
                <a16:creationId xmlns:a16="http://schemas.microsoft.com/office/drawing/2014/main" id="{F8A7F4FB-C1F8-4726-8407-68C6132FA178}"/>
              </a:ext>
            </a:extLst>
          </p:cNvPr>
          <p:cNvSpPr>
            <a:spLocks xmlns:a="http://schemas.openxmlformats.org/drawingml/2006/main" noGrp="1"/>
          </p:cNvSpPr>
          <p:nvPr/>
        </p:nvSpPr>
        <p:spPr>
          <a:xfrm xmlns:a="http://schemas.openxmlformats.org/drawingml/2006/main">
            <a:off x="685800" y="434340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Lernziel</a:t>
            </a:r>
          </a:p>
        </p:txBody>
      </p:sp>
      <p:sp>
        <p:nvSpPr>
          <p:cNvPr id="7" name="text-6">
            <a:extLst xmlns:a="http://schemas.openxmlformats.org/drawingml/2006/main">
              <a:ext uri="{FF2B5EF4-FFF2-40B4-BE49-F238E27FC236}">
                <a16:creationId xmlns:a16="http://schemas.microsoft.com/office/drawing/2014/main" id="{2AD738D5-8D91-4D71-ABF4-D006FD5147A7}"/>
              </a:ext>
            </a:extLst>
          </p:cNvPr>
          <p:cNvSpPr>
            <a:spLocks xmlns:a="http://schemas.openxmlformats.org/drawingml/2006/main" noGrp="1"/>
          </p:cNvSpPr>
          <p:nvPr/>
        </p:nvSpPr>
        <p:spPr>
          <a:xfrm xmlns:a="http://schemas.openxmlformats.org/drawingml/2006/main">
            <a:off x="3190875" y="434340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Quellen und Rechte prüfen. LLM-Vorschläge mit gleichen Ergebnissen, Gegenproben und Kostenmessungen beurteilen.</a:t>
            </a:r>
          </a:p>
        </p:txBody>
      </p:sp>
      <p:sp>
        <p:nvSpPr>
          <p:cNvPr id="8" name="text-7">
            <a:extLst xmlns:a="http://schemas.openxmlformats.org/drawingml/2006/main">
              <a:ext uri="{FF2B5EF4-FFF2-40B4-BE49-F238E27FC236}">
                <a16:creationId xmlns:a16="http://schemas.microsoft.com/office/drawing/2014/main" id="{625BE16A-C3CC-45AE-885D-9E364E41272F}"/>
              </a:ext>
            </a:extLst>
          </p:cNvPr>
          <p:cNvSpPr>
            <a:spLocks xmlns:a="http://schemas.openxmlformats.org/drawingml/2006/main" noGrp="1"/>
          </p:cNvSpPr>
          <p:nvPr/>
        </p:nvSpPr>
        <p:spPr>
          <a:xfrm xmlns:a="http://schemas.openxmlformats.org/drawingml/2006/main">
            <a:off x="685800" y="5876925"/>
            <a:ext cx="10553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0">
                <a:solidFill>
                  <a:srgbClr val="52647A"/>
                </a:solidFill>
                <a:latin typeface="Arial"/>
                <a:ea typeface="Arial"/>
                <a:cs typeface="Arial"/>
              </a:defRPr>
            </a:defPPr>
            <a:lvl1pPr>
              <a:defRPr sz="1800" b="0">
                <a:solidFill>
                  <a:srgbClr val="52647A"/>
                </a:solidFill>
                <a:latin typeface="Arial"/>
                <a:ea typeface="Arial"/>
                <a:cs typeface="Arial"/>
              </a:defRPr>
            </a:lvl1pPr>
            <a:lvl2pPr>
              <a:defRPr sz="1800" b="0">
                <a:solidFill>
                  <a:srgbClr val="52647A"/>
                </a:solidFill>
                <a:latin typeface="Arial"/>
                <a:ea typeface="Arial"/>
                <a:cs typeface="Arial"/>
              </a:defRPr>
            </a:lvl2pPr>
            <a:lvl3pPr>
              <a:defRPr sz="1800" b="0">
                <a:solidFill>
                  <a:srgbClr val="52647A"/>
                </a:solidFill>
                <a:latin typeface="Arial"/>
                <a:ea typeface="Arial"/>
                <a:cs typeface="Arial"/>
              </a:defRPr>
            </a:lvl3pPr>
            <a:lvl4pPr>
              <a:defRPr sz="1800" b="0">
                <a:solidFill>
                  <a:srgbClr val="52647A"/>
                </a:solidFill>
                <a:latin typeface="Arial"/>
                <a:ea typeface="Arial"/>
                <a:cs typeface="Arial"/>
              </a:defRPr>
            </a:lvl4pPr>
            <a:lvl5pPr>
              <a:defRPr sz="1800" b="0">
                <a:solidFill>
                  <a:srgbClr val="52647A"/>
                </a:solidFill>
                <a:latin typeface="Arial"/>
                <a:ea typeface="Arial"/>
                <a:cs typeface="Arial"/>
              </a:defRPr>
            </a:lvl5pPr>
            <a:lvl6pPr>
              <a:defRPr sz="1800" b="0">
                <a:solidFill>
                  <a:srgbClr val="52647A"/>
                </a:solidFill>
                <a:latin typeface="Arial"/>
                <a:ea typeface="Arial"/>
                <a:cs typeface="Arial"/>
              </a:defRPr>
            </a:lvl6pPr>
            <a:lvl7pPr>
              <a:defRPr sz="1800" b="0">
                <a:solidFill>
                  <a:srgbClr val="52647A"/>
                </a:solidFill>
                <a:latin typeface="Arial"/>
                <a:ea typeface="Arial"/>
                <a:cs typeface="Arial"/>
              </a:defRPr>
            </a:lvl7pPr>
            <a:lvl8pPr>
              <a:defRPr sz="1800" b="0">
                <a:solidFill>
                  <a:srgbClr val="52647A"/>
                </a:solidFill>
                <a:latin typeface="Arial"/>
                <a:ea typeface="Arial"/>
                <a:cs typeface="Arial"/>
              </a:defRPr>
            </a:lvl8pPr>
            <a:lvl9pPr>
              <a:defRPr sz="1800" b="0">
                <a:solidFill>
                  <a:srgbClr val="52647A"/>
                </a:solidFill>
                <a:latin typeface="Arial"/>
                <a:ea typeface="Arial"/>
                <a:cs typeface="Arial"/>
              </a:defRPr>
            </a:lvl9pPr>
          </a:lstStyle>
          <a:p xmlns:a="http://schemas.openxmlformats.org/drawingml/2006/main">
            <a:pPr>
              <a:defRPr sz="1800" b="0">
                <a:solidFill>
                  <a:srgbClr val="52647A"/>
                </a:solidFill>
                <a:latin typeface="Arial"/>
                <a:ea typeface="Arial"/>
                <a:cs typeface="Arial"/>
              </a:defRPr>
            </a:pPr>
            <a:r>
              <a:rPr sz="1800" b="0">
                <a:solidFill>
                  <a:srgbClr val="52647A"/>
                </a:solidFill>
                <a:latin typeface="Arial"/>
                <a:ea typeface="Arial"/>
                <a:cs typeface="Arial"/>
              </a:rPr>
              <a:t>Ab hier folgen die fachlichen Details und die vorbereiteten Offline-Demos.</a:t>
            </a:r>
          </a:p>
        </p:txBody>
      </p:sp>
      <p:sp>
        <p:nvSpPr>
          <p:cNvPr id="9" name="text-8">
            <a:extLst xmlns:a="http://schemas.openxmlformats.org/drawingml/2006/main">
              <a:ext uri="{FF2B5EF4-FFF2-40B4-BE49-F238E27FC236}">
                <a16:creationId xmlns:a16="http://schemas.microsoft.com/office/drawing/2014/main" id="{7534A925-5D42-44E6-9434-6FA5FF29709E}"/>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vl1pPr>
              <a:defRPr sz="1350" b="0">
                <a:solidFill>
                  <a:srgbClr val="52647A"/>
                </a:solidFill>
                <a:latin typeface="Arial"/>
                <a:ea typeface="Arial"/>
                <a:cs typeface="Arial"/>
              </a:defRPr>
            </a:lvl1pPr>
            <a:lvl2pPr>
              <a:defRPr sz="1350" b="0">
                <a:solidFill>
                  <a:srgbClr val="52647A"/>
                </a:solidFill>
                <a:latin typeface="Arial"/>
                <a:ea typeface="Arial"/>
                <a:cs typeface="Arial"/>
              </a:defRPr>
            </a:lvl2pPr>
            <a:lvl3pPr>
              <a:defRPr sz="1350" b="0">
                <a:solidFill>
                  <a:srgbClr val="52647A"/>
                </a:solidFill>
                <a:latin typeface="Arial"/>
                <a:ea typeface="Arial"/>
                <a:cs typeface="Arial"/>
              </a:defRPr>
            </a:lvl3pPr>
            <a:lvl4pPr>
              <a:defRPr sz="1350" b="0">
                <a:solidFill>
                  <a:srgbClr val="52647A"/>
                </a:solidFill>
                <a:latin typeface="Arial"/>
                <a:ea typeface="Arial"/>
                <a:cs typeface="Arial"/>
              </a:defRPr>
            </a:lvl4pPr>
            <a:lvl5pPr>
              <a:defRPr sz="1350" b="0">
                <a:solidFill>
                  <a:srgbClr val="52647A"/>
                </a:solidFill>
                <a:latin typeface="Arial"/>
                <a:ea typeface="Arial"/>
                <a:cs typeface="Arial"/>
              </a:defRPr>
            </a:lvl5pPr>
            <a:lvl6pPr>
              <a:defRPr sz="1350" b="0">
                <a:solidFill>
                  <a:srgbClr val="52647A"/>
                </a:solidFill>
                <a:latin typeface="Arial"/>
                <a:ea typeface="Arial"/>
                <a:cs typeface="Arial"/>
              </a:defRPr>
            </a:lvl6pPr>
            <a:lvl7pPr>
              <a:defRPr sz="1350" b="0">
                <a:solidFill>
                  <a:srgbClr val="52647A"/>
                </a:solidFill>
                <a:latin typeface="Arial"/>
                <a:ea typeface="Arial"/>
                <a:cs typeface="Arial"/>
              </a:defRPr>
            </a:lvl7pPr>
            <a:lvl8pPr>
              <a:defRPr sz="1350" b="0">
                <a:solidFill>
                  <a:srgbClr val="52647A"/>
                </a:solidFill>
                <a:latin typeface="Arial"/>
                <a:ea typeface="Arial"/>
                <a:cs typeface="Arial"/>
              </a:defRPr>
            </a:lvl8pPr>
            <a:lvl9pPr>
              <a:defRPr sz="1350" b="0">
                <a:solidFill>
                  <a:srgbClr val="52647A"/>
                </a:solidFill>
                <a:latin typeface="Arial"/>
                <a:ea typeface="Arial"/>
                <a:cs typeface="Arial"/>
              </a:defRPr>
            </a:lvl9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29  CUR-013–CUR-022</a:t>
            </a:r>
          </a:p>
        </p:txBody>
      </p:sp>
    </p:spTree>
    <p:extLst>
      <p:ext uri="{BB962C8B-B14F-4D97-AF65-F5344CB8AC3E}">
        <p14:creationId xmlns:p14="http://schemas.microsoft.com/office/powerpoint/2010/main" val="1528309908"/>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text-0">
            <a:extLst xmlns:a="http://schemas.openxmlformats.org/drawingml/2006/main">
              <a:ext uri="{FF2B5EF4-FFF2-40B4-BE49-F238E27FC236}">
                <a16:creationId xmlns:a16="http://schemas.microsoft.com/office/drawing/2014/main" id="{B9BFC2EE-C61F-4F58-B885-D2326E504A3E}"/>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vl1pPr>
              <a:defRPr sz="3300" b="1">
                <a:solidFill>
                  <a:srgbClr val="15283D"/>
                </a:solidFill>
                <a:latin typeface="Arial"/>
                <a:ea typeface="Arial"/>
                <a:cs typeface="Arial"/>
              </a:defRPr>
            </a:lvl1pPr>
            <a:lvl2pPr>
              <a:defRPr sz="3300" b="1">
                <a:solidFill>
                  <a:srgbClr val="15283D"/>
                </a:solidFill>
                <a:latin typeface="Arial"/>
                <a:ea typeface="Arial"/>
                <a:cs typeface="Arial"/>
              </a:defRPr>
            </a:lvl2pPr>
            <a:lvl3pPr>
              <a:defRPr sz="3300" b="1">
                <a:solidFill>
                  <a:srgbClr val="15283D"/>
                </a:solidFill>
                <a:latin typeface="Arial"/>
                <a:ea typeface="Arial"/>
                <a:cs typeface="Arial"/>
              </a:defRPr>
            </a:lvl3pPr>
            <a:lvl4pPr>
              <a:defRPr sz="3300" b="1">
                <a:solidFill>
                  <a:srgbClr val="15283D"/>
                </a:solidFill>
                <a:latin typeface="Arial"/>
                <a:ea typeface="Arial"/>
                <a:cs typeface="Arial"/>
              </a:defRPr>
            </a:lvl4pPr>
            <a:lvl5pPr>
              <a:defRPr sz="3300" b="1">
                <a:solidFill>
                  <a:srgbClr val="15283D"/>
                </a:solidFill>
                <a:latin typeface="Arial"/>
                <a:ea typeface="Arial"/>
                <a:cs typeface="Arial"/>
              </a:defRPr>
            </a:lvl5pPr>
            <a:lvl6pPr>
              <a:defRPr sz="3300" b="1">
                <a:solidFill>
                  <a:srgbClr val="15283D"/>
                </a:solidFill>
                <a:latin typeface="Arial"/>
                <a:ea typeface="Arial"/>
                <a:cs typeface="Arial"/>
              </a:defRPr>
            </a:lvl6pPr>
            <a:lvl7pPr>
              <a:defRPr sz="3300" b="1">
                <a:solidFill>
                  <a:srgbClr val="15283D"/>
                </a:solidFill>
                <a:latin typeface="Arial"/>
                <a:ea typeface="Arial"/>
                <a:cs typeface="Arial"/>
              </a:defRPr>
            </a:lvl7pPr>
            <a:lvl8pPr>
              <a:defRPr sz="3300" b="1">
                <a:solidFill>
                  <a:srgbClr val="15283D"/>
                </a:solidFill>
                <a:latin typeface="Arial"/>
                <a:ea typeface="Arial"/>
                <a:cs typeface="Arial"/>
              </a:defRPr>
            </a:lvl8pPr>
            <a:lvl9pPr>
              <a:defRPr sz="3300" b="1">
                <a:solidFill>
                  <a:srgbClr val="15283D"/>
                </a:solidFill>
                <a:latin typeface="Arial"/>
                <a:ea typeface="Arial"/>
                <a:cs typeface="Arial"/>
              </a:defRPr>
            </a:lvl9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Unterrichtspfade</a:t>
            </a:r>
          </a:p>
        </p:txBody>
      </p:sp>
      <p:graphicFrame>
        <p:nvGraphicFramePr>
          <p:cNvPr id="2" name="">
            <a:extLst xmlns:a="http://schemas.openxmlformats.org/drawingml/2006/main">
              <a:ext uri="{FF2B5EF4-FFF2-40B4-BE49-F238E27FC236}">
                <a16:creationId xmlns:a16="http://schemas.microsoft.com/office/drawing/2014/main" id="{CCD9CB41-09F9-4BB9-9B55-61AE5337B5D6}"/>
              </a:ext>
            </a:extLst>
          </p:cNvPr>
          <p:cNvGraphicFramePr/>
          <p:nvPr/>
        </p:nvGraphicFramePr>
        <p:xfrm>
          <a:off xmlns:a="http://schemas.openxmlformats.org/drawingml/2006/main" x="685800" y="1771650"/>
          <a:ext xmlns:a="http://schemas.openxmlformats.org/drawingml/2006/main" cx="10668000" cy="3143250"/>
        </p:xfrm>
        <a:graphic xmlns:a="http://schemas.openxmlformats.org/drawingml/2006/main">
          <a:graphicData uri="http://schemas.openxmlformats.org/drawingml/2006/table">
            <a:tbl>
              <a:tblPr/>
              <a:tblGrid>
                <a:gridCol w="2095500"/>
                <a:gridCol w="3905250"/>
                <a:gridCol w="4667250"/>
              </a:tblGrid>
              <a:tr h="785813">
                <a:tc>
                  <a:txBody>
                    <a:bodyPr/>
                    <a:lstStyle/>
                    <a:p>
                      <a:r>
                        <a:rPr sz="1800" b="1">
                          <a:solidFill>
                            <a:srgbClr val="15283D"/>
                          </a:solidFill>
                          <a:latin typeface="Arial"/>
                          <a:ea typeface="Arial"/>
                          <a:cs typeface="Arial"/>
                        </a:rPr>
                        <a:t>Pfad</a:t>
                      </a:r>
                    </a:p>
                  </a:txBody>
                  <a:tcPr marL="114300" marR="114300" marT="47625" marB="47625" anchor="ctr">
                    <a:lnL w="9525">
                      <a:solidFill>
                        <a:srgbClr val="C8D5DE"/>
                      </a:solidFill>
                      <a:prstDash val="solid"/>
                    </a:lnL>
                    <a:lnR w="9525">
                      <a:solidFill>
                        <a:srgbClr val="C8D5DE"/>
                      </a:solidFill>
                      <a:prstDash val="solid"/>
                    </a:lnR>
                    <a:lnT w="9525">
                      <a:solidFill>
                        <a:srgbClr val="C8D5DE"/>
                      </a:solidFill>
                      <a:prstDash val="solid"/>
                    </a:lnT>
                    <a:lnB w="9525">
                      <a:solidFill>
                        <a:srgbClr val="C8D5DE"/>
                      </a:solidFill>
                      <a:prstDash val="solid"/>
                    </a:lnB>
                    <a:solidFill>
                      <a:srgbClr val="E8F2F2"/>
                    </a:solidFill>
                  </a:tcPr>
                </a:tc>
                <a:tc>
                  <a:txBody>
                    <a:bodyPr/>
                    <a:lstStyle/>
                    <a:p>
                      <a:r>
                        <a:rPr sz="1800" b="1">
                          <a:solidFill>
                            <a:srgbClr val="15283D"/>
                          </a:solidFill>
                          <a:latin typeface="Arial"/>
                          <a:ea typeface="Arial"/>
                          <a:cs typeface="Arial"/>
                        </a:rPr>
                        <a:t>Auswahl aus dem Material</a:t>
                      </a:r>
                    </a:p>
                  </a:txBody>
                  <a:tcPr marL="114300" marR="114300" marT="47625" marB="47625" anchor="ctr">
                    <a:lnR w="9525">
                      <a:solidFill>
                        <a:srgbClr val="C8D5DE"/>
                      </a:solidFill>
                      <a:prstDash val="solid"/>
                    </a:lnR>
                    <a:lnT w="9525">
                      <a:solidFill>
                        <a:srgbClr val="C8D5DE"/>
                      </a:solidFill>
                      <a:prstDash val="solid"/>
                    </a:lnT>
                    <a:lnB w="9525">
                      <a:solidFill>
                        <a:srgbClr val="C8D5DE"/>
                      </a:solidFill>
                      <a:prstDash val="solid"/>
                    </a:lnB>
                    <a:solidFill>
                      <a:srgbClr val="E8F2F2"/>
                    </a:solidFill>
                  </a:tcPr>
                </a:tc>
                <a:tc>
                  <a:txBody>
                    <a:bodyPr/>
                    <a:lstStyle/>
                    <a:p>
                      <a:r>
                        <a:rPr sz="1800" b="1">
                          <a:solidFill>
                            <a:srgbClr val="15283D"/>
                          </a:solidFill>
                          <a:latin typeface="Arial"/>
                          <a:ea typeface="Arial"/>
                          <a:cs typeface="Arial"/>
                        </a:rPr>
                        <a:t>Schwerpunkt</a:t>
                      </a:r>
                    </a:p>
                  </a:txBody>
                  <a:tcPr marL="114300" marR="114300" marT="47625" marB="47625" anchor="ctr">
                    <a:lnR w="9525">
                      <a:solidFill>
                        <a:srgbClr val="C8D5DE"/>
                      </a:solidFill>
                      <a:prstDash val="solid"/>
                    </a:lnR>
                    <a:lnT w="9525">
                      <a:solidFill>
                        <a:srgbClr val="C8D5DE"/>
                      </a:solidFill>
                      <a:prstDash val="solid"/>
                    </a:lnT>
                    <a:lnB w="9525">
                      <a:solidFill>
                        <a:srgbClr val="C8D5DE"/>
                      </a:solidFill>
                      <a:prstDash val="solid"/>
                    </a:lnB>
                    <a:solidFill>
                      <a:srgbClr val="E8F2F2"/>
                    </a:solidFill>
                  </a:tcPr>
                </a:tc>
              </a:tr>
              <a:tr h="785813">
                <a:tc>
                  <a:txBody>
                    <a:bodyPr/>
                    <a:lstStyle/>
                    <a:p>
                      <a:r>
                        <a:rPr sz="1800" b="0">
                          <a:solidFill>
                            <a:srgbClr val="15283D"/>
                          </a:solidFill>
                          <a:latin typeface="Arial"/>
                          <a:ea typeface="Arial"/>
                          <a:cs typeface="Arial"/>
                        </a:rPr>
                        <a:t>BASIS</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Einführung und erste SQL-Übung</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Frage, Quelle, Vektor und belegbare Antwort</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r h="785813">
                <a:tc>
                  <a:txBody>
                    <a:bodyPr/>
                    <a:lstStyle/>
                    <a:p>
                      <a:r>
                        <a:rPr sz="1800" b="0">
                          <a:solidFill>
                            <a:srgbClr val="15283D"/>
                          </a:solidFill>
                          <a:latin typeface="Arial"/>
                          <a:ea typeface="Arial"/>
                          <a:cs typeface="Arial"/>
                        </a:rPr>
                        <a:t>STANDARD</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Zusätzlich ausgewählte Offline-Demos</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Chunking, Suche und Rechte am gleichen Fall</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r h="785813">
                <a:tc>
                  <a:txBody>
                    <a:bodyPr/>
                    <a:lstStyle/>
                    <a:p>
                      <a:r>
                        <a:rPr sz="1800" b="0">
                          <a:solidFill>
                            <a:srgbClr val="15283D"/>
                          </a:solidFill>
                          <a:latin typeface="Arial"/>
                          <a:ea typeface="Arial"/>
                          <a:cs typeface="Arial"/>
                        </a:rPr>
                        <a:t>VERTIEFUNG</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Zusätzlich Fachmodule und offene Aufgaben</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Modellzugang, Vektorsuche und Performancebewertung</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bl>
          </a:graphicData>
        </a:graphic>
      </p:graphicFrame>
      <p:sp>
        <p:nvSpPr>
          <p:cNvPr id="3" name="text-1">
            <a:extLst xmlns:a="http://schemas.openxmlformats.org/drawingml/2006/main">
              <a:ext uri="{FF2B5EF4-FFF2-40B4-BE49-F238E27FC236}">
                <a16:creationId xmlns:a16="http://schemas.microsoft.com/office/drawing/2014/main" id="{7A391061-B3F3-4AA0-AAC5-9BB5A165E747}"/>
              </a:ext>
            </a:extLst>
          </p:cNvPr>
          <p:cNvSpPr>
            <a:spLocks xmlns:a="http://schemas.openxmlformats.org/drawingml/2006/main" noGrp="1"/>
          </p:cNvSpPr>
          <p:nvPr/>
        </p:nvSpPr>
        <p:spPr>
          <a:xfrm xmlns:a="http://schemas.openxmlformats.org/drawingml/2006/main">
            <a:off x="685800" y="5876925"/>
            <a:ext cx="10553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0">
                <a:solidFill>
                  <a:srgbClr val="52647A"/>
                </a:solidFill>
                <a:latin typeface="Arial"/>
                <a:ea typeface="Arial"/>
                <a:cs typeface="Arial"/>
              </a:defRPr>
            </a:defPPr>
            <a:lvl1pPr>
              <a:defRPr sz="1800" b="0">
                <a:solidFill>
                  <a:srgbClr val="52647A"/>
                </a:solidFill>
                <a:latin typeface="Arial"/>
                <a:ea typeface="Arial"/>
                <a:cs typeface="Arial"/>
              </a:defRPr>
            </a:lvl1pPr>
            <a:lvl2pPr>
              <a:defRPr sz="1800" b="0">
                <a:solidFill>
                  <a:srgbClr val="52647A"/>
                </a:solidFill>
                <a:latin typeface="Arial"/>
                <a:ea typeface="Arial"/>
                <a:cs typeface="Arial"/>
              </a:defRPr>
            </a:lvl2pPr>
            <a:lvl3pPr>
              <a:defRPr sz="1800" b="0">
                <a:solidFill>
                  <a:srgbClr val="52647A"/>
                </a:solidFill>
                <a:latin typeface="Arial"/>
                <a:ea typeface="Arial"/>
                <a:cs typeface="Arial"/>
              </a:defRPr>
            </a:lvl3pPr>
            <a:lvl4pPr>
              <a:defRPr sz="1800" b="0">
                <a:solidFill>
                  <a:srgbClr val="52647A"/>
                </a:solidFill>
                <a:latin typeface="Arial"/>
                <a:ea typeface="Arial"/>
                <a:cs typeface="Arial"/>
              </a:defRPr>
            </a:lvl4pPr>
            <a:lvl5pPr>
              <a:defRPr sz="1800" b="0">
                <a:solidFill>
                  <a:srgbClr val="52647A"/>
                </a:solidFill>
                <a:latin typeface="Arial"/>
                <a:ea typeface="Arial"/>
                <a:cs typeface="Arial"/>
              </a:defRPr>
            </a:lvl5pPr>
            <a:lvl6pPr>
              <a:defRPr sz="1800" b="0">
                <a:solidFill>
                  <a:srgbClr val="52647A"/>
                </a:solidFill>
                <a:latin typeface="Arial"/>
                <a:ea typeface="Arial"/>
                <a:cs typeface="Arial"/>
              </a:defRPr>
            </a:lvl6pPr>
            <a:lvl7pPr>
              <a:defRPr sz="1800" b="0">
                <a:solidFill>
                  <a:srgbClr val="52647A"/>
                </a:solidFill>
                <a:latin typeface="Arial"/>
                <a:ea typeface="Arial"/>
                <a:cs typeface="Arial"/>
              </a:defRPr>
            </a:lvl7pPr>
            <a:lvl8pPr>
              <a:defRPr sz="1800" b="0">
                <a:solidFill>
                  <a:srgbClr val="52647A"/>
                </a:solidFill>
                <a:latin typeface="Arial"/>
                <a:ea typeface="Arial"/>
                <a:cs typeface="Arial"/>
              </a:defRPr>
            </a:lvl8pPr>
            <a:lvl9pPr>
              <a:defRPr sz="1800" b="0">
                <a:solidFill>
                  <a:srgbClr val="52647A"/>
                </a:solidFill>
                <a:latin typeface="Arial"/>
                <a:ea typeface="Arial"/>
                <a:cs typeface="Arial"/>
              </a:defRPr>
            </a:lvl9pPr>
          </a:lstStyle>
          <a:p xmlns:a="http://schemas.openxmlformats.org/drawingml/2006/main">
            <a:pPr>
              <a:defRPr sz="1800" b="0">
                <a:solidFill>
                  <a:srgbClr val="52647A"/>
                </a:solidFill>
                <a:latin typeface="Arial"/>
                <a:ea typeface="Arial"/>
                <a:cs typeface="Arial"/>
              </a:defRPr>
            </a:pPr>
            <a:r>
              <a:rPr sz="1800" b="0">
                <a:solidFill>
                  <a:srgbClr val="52647A"/>
                </a:solidFill>
                <a:latin typeface="Arial"/>
                <a:ea typeface="Arial"/>
                <a:cs typeface="Arial"/>
              </a:rPr>
              <a:t>Die Lehrperson wählt den Pfad. Lehrzeiten und Teilnehmererprobung stehen aus.</a:t>
            </a:r>
          </a:p>
        </p:txBody>
      </p:sp>
      <p:sp>
        <p:nvSpPr>
          <p:cNvPr id="4" name="text-2">
            <a:extLst xmlns:a="http://schemas.openxmlformats.org/drawingml/2006/main">
              <a:ext uri="{FF2B5EF4-FFF2-40B4-BE49-F238E27FC236}">
                <a16:creationId xmlns:a16="http://schemas.microsoft.com/office/drawing/2014/main" id="{8269E905-3247-4C5D-8EE2-1C5448194469}"/>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vl1pPr>
              <a:defRPr sz="1350" b="0">
                <a:solidFill>
                  <a:srgbClr val="52647A"/>
                </a:solidFill>
                <a:latin typeface="Arial"/>
                <a:ea typeface="Arial"/>
                <a:cs typeface="Arial"/>
              </a:defRPr>
            </a:lvl1pPr>
            <a:lvl2pPr>
              <a:defRPr sz="1350" b="0">
                <a:solidFill>
                  <a:srgbClr val="52647A"/>
                </a:solidFill>
                <a:latin typeface="Arial"/>
                <a:ea typeface="Arial"/>
                <a:cs typeface="Arial"/>
              </a:defRPr>
            </a:lvl2pPr>
            <a:lvl3pPr>
              <a:defRPr sz="1350" b="0">
                <a:solidFill>
                  <a:srgbClr val="52647A"/>
                </a:solidFill>
                <a:latin typeface="Arial"/>
                <a:ea typeface="Arial"/>
                <a:cs typeface="Arial"/>
              </a:defRPr>
            </a:lvl3pPr>
            <a:lvl4pPr>
              <a:defRPr sz="1350" b="0">
                <a:solidFill>
                  <a:srgbClr val="52647A"/>
                </a:solidFill>
                <a:latin typeface="Arial"/>
                <a:ea typeface="Arial"/>
                <a:cs typeface="Arial"/>
              </a:defRPr>
            </a:lvl4pPr>
            <a:lvl5pPr>
              <a:defRPr sz="1350" b="0">
                <a:solidFill>
                  <a:srgbClr val="52647A"/>
                </a:solidFill>
                <a:latin typeface="Arial"/>
                <a:ea typeface="Arial"/>
                <a:cs typeface="Arial"/>
              </a:defRPr>
            </a:lvl5pPr>
            <a:lvl6pPr>
              <a:defRPr sz="1350" b="0">
                <a:solidFill>
                  <a:srgbClr val="52647A"/>
                </a:solidFill>
                <a:latin typeface="Arial"/>
                <a:ea typeface="Arial"/>
                <a:cs typeface="Arial"/>
              </a:defRPr>
            </a:lvl6pPr>
            <a:lvl7pPr>
              <a:defRPr sz="1350" b="0">
                <a:solidFill>
                  <a:srgbClr val="52647A"/>
                </a:solidFill>
                <a:latin typeface="Arial"/>
                <a:ea typeface="Arial"/>
                <a:cs typeface="Arial"/>
              </a:defRPr>
            </a:lvl7pPr>
            <a:lvl8pPr>
              <a:defRPr sz="1350" b="0">
                <a:solidFill>
                  <a:srgbClr val="52647A"/>
                </a:solidFill>
                <a:latin typeface="Arial"/>
                <a:ea typeface="Arial"/>
                <a:cs typeface="Arial"/>
              </a:defRPr>
            </a:lvl8pPr>
            <a:lvl9pPr>
              <a:defRPr sz="1350" b="0">
                <a:solidFill>
                  <a:srgbClr val="52647A"/>
                </a:solidFill>
                <a:latin typeface="Arial"/>
                <a:ea typeface="Arial"/>
                <a:cs typeface="Arial"/>
              </a:defRPr>
            </a:lvl9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30  CUR-013–CUR-022</a:t>
            </a:r>
          </a:p>
        </p:txBody>
      </p:sp>
    </p:spTree>
    <p:extLst>
      <p:ext uri="{BB962C8B-B14F-4D97-AF65-F5344CB8AC3E}">
        <p14:creationId xmlns:p14="http://schemas.microsoft.com/office/powerpoint/2010/main" val="1477813011"/>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0">
            <a:extLst xmlns:a="http://schemas.openxmlformats.org/drawingml/2006/main">
              <a:ext uri="{FF2B5EF4-FFF2-40B4-BE49-F238E27FC236}">
                <a16:creationId xmlns:a16="http://schemas.microsoft.com/office/drawing/2014/main" id="{B155E1CF-A829-4DD7-8EA2-F03E9F546EFC}"/>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vl1pPr>
              <a:defRPr sz="3300" b="1">
                <a:solidFill>
                  <a:srgbClr val="15283D"/>
                </a:solidFill>
                <a:latin typeface="Arial"/>
                <a:ea typeface="Arial"/>
                <a:cs typeface="Arial"/>
              </a:defRPr>
            </a:lvl1pPr>
            <a:lvl2pPr>
              <a:defRPr sz="3300" b="1">
                <a:solidFill>
                  <a:srgbClr val="15283D"/>
                </a:solidFill>
                <a:latin typeface="Arial"/>
                <a:ea typeface="Arial"/>
                <a:cs typeface="Arial"/>
              </a:defRPr>
            </a:lvl2pPr>
            <a:lvl3pPr>
              <a:defRPr sz="3300" b="1">
                <a:solidFill>
                  <a:srgbClr val="15283D"/>
                </a:solidFill>
                <a:latin typeface="Arial"/>
                <a:ea typeface="Arial"/>
                <a:cs typeface="Arial"/>
              </a:defRPr>
            </a:lvl3pPr>
            <a:lvl4pPr>
              <a:defRPr sz="3300" b="1">
                <a:solidFill>
                  <a:srgbClr val="15283D"/>
                </a:solidFill>
                <a:latin typeface="Arial"/>
                <a:ea typeface="Arial"/>
                <a:cs typeface="Arial"/>
              </a:defRPr>
            </a:lvl4pPr>
            <a:lvl5pPr>
              <a:defRPr sz="3300" b="1">
                <a:solidFill>
                  <a:srgbClr val="15283D"/>
                </a:solidFill>
                <a:latin typeface="Arial"/>
                <a:ea typeface="Arial"/>
                <a:cs typeface="Arial"/>
              </a:defRPr>
            </a:lvl5pPr>
            <a:lvl6pPr>
              <a:defRPr sz="3300" b="1">
                <a:solidFill>
                  <a:srgbClr val="15283D"/>
                </a:solidFill>
                <a:latin typeface="Arial"/>
                <a:ea typeface="Arial"/>
                <a:cs typeface="Arial"/>
              </a:defRPr>
            </a:lvl6pPr>
            <a:lvl7pPr>
              <a:defRPr sz="3300" b="1">
                <a:solidFill>
                  <a:srgbClr val="15283D"/>
                </a:solidFill>
                <a:latin typeface="Arial"/>
                <a:ea typeface="Arial"/>
                <a:cs typeface="Arial"/>
              </a:defRPr>
            </a:lvl7pPr>
            <a:lvl8pPr>
              <a:defRPr sz="3300" b="1">
                <a:solidFill>
                  <a:srgbClr val="15283D"/>
                </a:solidFill>
                <a:latin typeface="Arial"/>
                <a:ea typeface="Arial"/>
                <a:cs typeface="Arial"/>
              </a:defRPr>
            </a:lvl8pPr>
            <a:lvl9pPr>
              <a:defRPr sz="3300" b="1">
                <a:solidFill>
                  <a:srgbClr val="15283D"/>
                </a:solidFill>
                <a:latin typeface="Arial"/>
                <a:ea typeface="Arial"/>
                <a:cs typeface="Arial"/>
              </a:defRPr>
            </a:lvl9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Komponenten und Datenfluss</a:t>
            </a:r>
          </a:p>
        </p:txBody>
      </p:sp>
      <p:graphicFrame>
        <p:nvGraphicFramePr>
          <p:cNvPr id="2" name="">
            <a:extLst xmlns:a="http://schemas.openxmlformats.org/drawingml/2006/main">
              <a:ext uri="{FF2B5EF4-FFF2-40B4-BE49-F238E27FC236}">
                <a16:creationId xmlns:a16="http://schemas.microsoft.com/office/drawing/2014/main" id="{726C63E2-0FB7-4E14-8DCE-12B1B98E6085}"/>
              </a:ext>
            </a:extLst>
          </p:cNvPr>
          <p:cNvGraphicFramePr/>
          <p:nvPr/>
        </p:nvGraphicFramePr>
        <p:xfrm>
          <a:off xmlns:a="http://schemas.openxmlformats.org/drawingml/2006/main" x="685800" y="1771650"/>
          <a:ext xmlns:a="http://schemas.openxmlformats.org/drawingml/2006/main" cx="10668000" cy="4000500"/>
        </p:xfrm>
        <a:graphic xmlns:a="http://schemas.openxmlformats.org/drawingml/2006/main">
          <a:graphicData uri="http://schemas.openxmlformats.org/drawingml/2006/table">
            <a:tbl>
              <a:tblPr/>
              <a:tblGrid>
                <a:gridCol w="2762250"/>
                <a:gridCol w="4000500"/>
                <a:gridCol w="3905250"/>
              </a:tblGrid>
              <a:tr h="800100">
                <a:tc>
                  <a:txBody>
                    <a:bodyPr/>
                    <a:lstStyle/>
                    <a:p>
                      <a:r>
                        <a:rPr sz="1800" b="1">
                          <a:solidFill>
                            <a:srgbClr val="15283D"/>
                          </a:solidFill>
                          <a:latin typeface="Arial"/>
                          <a:ea typeface="Arial"/>
                          <a:cs typeface="Arial"/>
                        </a:rPr>
                        <a:t>Komponente</a:t>
                      </a:r>
                    </a:p>
                  </a:txBody>
                  <a:tcPr marL="114300" marR="114300" marT="47625" marB="47625" anchor="ctr">
                    <a:lnL w="9525">
                      <a:solidFill>
                        <a:srgbClr val="C8D5DE"/>
                      </a:solidFill>
                      <a:prstDash val="solid"/>
                    </a:lnL>
                    <a:lnR w="9525">
                      <a:solidFill>
                        <a:srgbClr val="C8D5DE"/>
                      </a:solidFill>
                      <a:prstDash val="solid"/>
                    </a:lnR>
                    <a:lnT w="9525">
                      <a:solidFill>
                        <a:srgbClr val="C8D5DE"/>
                      </a:solidFill>
                      <a:prstDash val="solid"/>
                    </a:lnT>
                    <a:lnB w="9525">
                      <a:solidFill>
                        <a:srgbClr val="C8D5DE"/>
                      </a:solidFill>
                      <a:prstDash val="solid"/>
                    </a:lnB>
                    <a:solidFill>
                      <a:srgbClr val="E8F2F2"/>
                    </a:solidFill>
                  </a:tcPr>
                </a:tc>
                <a:tc>
                  <a:txBody>
                    <a:bodyPr/>
                    <a:lstStyle/>
                    <a:p>
                      <a:r>
                        <a:rPr sz="1800" b="1">
                          <a:solidFill>
                            <a:srgbClr val="15283D"/>
                          </a:solidFill>
                          <a:latin typeface="Arial"/>
                          <a:ea typeface="Arial"/>
                          <a:cs typeface="Arial"/>
                        </a:rPr>
                        <a:t>Aufgabe</a:t>
                      </a:r>
                    </a:p>
                  </a:txBody>
                  <a:tcPr marL="114300" marR="114300" marT="47625" marB="47625" anchor="ctr">
                    <a:lnR w="9525">
                      <a:solidFill>
                        <a:srgbClr val="C8D5DE"/>
                      </a:solidFill>
                      <a:prstDash val="solid"/>
                    </a:lnR>
                    <a:lnT w="9525">
                      <a:solidFill>
                        <a:srgbClr val="C8D5DE"/>
                      </a:solidFill>
                      <a:prstDash val="solid"/>
                    </a:lnT>
                    <a:lnB w="9525">
                      <a:solidFill>
                        <a:srgbClr val="C8D5DE"/>
                      </a:solidFill>
                      <a:prstDash val="solid"/>
                    </a:lnB>
                    <a:solidFill>
                      <a:srgbClr val="E8F2F2"/>
                    </a:solidFill>
                  </a:tcPr>
                </a:tc>
                <a:tc>
                  <a:txBody>
                    <a:bodyPr/>
                    <a:lstStyle/>
                    <a:p>
                      <a:r>
                        <a:rPr sz="1800" b="1">
                          <a:solidFill>
                            <a:srgbClr val="15283D"/>
                          </a:solidFill>
                          <a:latin typeface="Arial"/>
                          <a:ea typeface="Arial"/>
                          <a:cs typeface="Arial"/>
                        </a:rPr>
                        <a:t>Kontrollpunkt</a:t>
                      </a:r>
                    </a:p>
                  </a:txBody>
                  <a:tcPr marL="114300" marR="114300" marT="47625" marB="47625" anchor="ctr">
                    <a:lnR w="9525">
                      <a:solidFill>
                        <a:srgbClr val="C8D5DE"/>
                      </a:solidFill>
                      <a:prstDash val="solid"/>
                    </a:lnR>
                    <a:lnT w="9525">
                      <a:solidFill>
                        <a:srgbClr val="C8D5DE"/>
                      </a:solidFill>
                      <a:prstDash val="solid"/>
                    </a:lnT>
                    <a:lnB w="9525">
                      <a:solidFill>
                        <a:srgbClr val="C8D5DE"/>
                      </a:solidFill>
                      <a:prstDash val="solid"/>
                    </a:lnB>
                    <a:solidFill>
                      <a:srgbClr val="E8F2F2"/>
                    </a:solidFill>
                  </a:tcPr>
                </a:tc>
              </a:tr>
              <a:tr h="800100">
                <a:tc>
                  <a:txBody>
                    <a:bodyPr/>
                    <a:lstStyle/>
                    <a:p>
                      <a:r>
                        <a:rPr sz="1800" b="0">
                          <a:solidFill>
                            <a:srgbClr val="15283D"/>
                          </a:solidFill>
                          <a:latin typeface="Arial"/>
                          <a:ea typeface="Arial"/>
                          <a:cs typeface="Arial"/>
                        </a:rPr>
                        <a:t>Dokumente und Chunking</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Versionierte Quellen in Bereiche zerlegen</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DocId, Version, Offset und Parameter</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r h="800100">
                <a:tc>
                  <a:txBody>
                    <a:bodyPr/>
                    <a:lstStyle/>
                    <a:p>
                      <a:r>
                        <a:rPr sz="1800" b="0">
                          <a:solidFill>
                            <a:srgbClr val="15283D"/>
                          </a:solidFill>
                          <a:latin typeface="Arial"/>
                          <a:ea typeface="Arial"/>
                          <a:cs typeface="Arial"/>
                        </a:rPr>
                        <a:t>Embedding-Modell</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Text in einen Modellraum abbilden</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Modellversion, Dimension und Normalisierung</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r h="800100">
                <a:tc>
                  <a:txBody>
                    <a:bodyPr/>
                    <a:lstStyle/>
                    <a:p>
                      <a:r>
                        <a:rPr sz="1800" b="0">
                          <a:solidFill>
                            <a:srgbClr val="15283D"/>
                          </a:solidFill>
                          <a:latin typeface="Arial"/>
                          <a:ea typeface="Arial"/>
                          <a:cs typeface="Arial"/>
                        </a:rPr>
                        <a:t>SQL Server</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Vektoren speichern und erlaubte Treffer suchen</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Rechte, Quellenbindung und Ergebnisqualität</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r h="800100">
                <a:tc>
                  <a:txBody>
                    <a:bodyPr/>
                    <a:lstStyle/>
                    <a:p>
                      <a:r>
                        <a:rPr sz="1800" b="0">
                          <a:solidFill>
                            <a:srgbClr val="15283D"/>
                          </a:solidFill>
                          <a:latin typeface="Arial"/>
                          <a:ea typeface="Arial"/>
                          <a:cs typeface="Arial"/>
                        </a:rPr>
                        <a:t>Anwendung und LLM</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Kontext begrenzen und Antwort erzeugen</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Claimbeleg oder begründete Nichtantwort</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bl>
          </a:graphicData>
        </a:graphic>
      </p:graphicFrame>
      <p:sp>
        <p:nvSpPr>
          <p:cNvPr id="3" name="text-1">
            <a:extLst xmlns:a="http://schemas.openxmlformats.org/drawingml/2006/main">
              <a:ext uri="{FF2B5EF4-FFF2-40B4-BE49-F238E27FC236}">
                <a16:creationId xmlns:a16="http://schemas.microsoft.com/office/drawing/2014/main" id="{9A7C67AA-F535-461D-B4D6-C36FF8F004A0}"/>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vl1pPr>
              <a:defRPr sz="1350" b="0">
                <a:solidFill>
                  <a:srgbClr val="52647A"/>
                </a:solidFill>
                <a:latin typeface="Arial"/>
                <a:ea typeface="Arial"/>
                <a:cs typeface="Arial"/>
              </a:defRPr>
            </a:lvl1pPr>
            <a:lvl2pPr>
              <a:defRPr sz="1350" b="0">
                <a:solidFill>
                  <a:srgbClr val="52647A"/>
                </a:solidFill>
                <a:latin typeface="Arial"/>
                <a:ea typeface="Arial"/>
                <a:cs typeface="Arial"/>
              </a:defRPr>
            </a:lvl2pPr>
            <a:lvl3pPr>
              <a:defRPr sz="1350" b="0">
                <a:solidFill>
                  <a:srgbClr val="52647A"/>
                </a:solidFill>
                <a:latin typeface="Arial"/>
                <a:ea typeface="Arial"/>
                <a:cs typeface="Arial"/>
              </a:defRPr>
            </a:lvl3pPr>
            <a:lvl4pPr>
              <a:defRPr sz="1350" b="0">
                <a:solidFill>
                  <a:srgbClr val="52647A"/>
                </a:solidFill>
                <a:latin typeface="Arial"/>
                <a:ea typeface="Arial"/>
                <a:cs typeface="Arial"/>
              </a:defRPr>
            </a:lvl4pPr>
            <a:lvl5pPr>
              <a:defRPr sz="1350" b="0">
                <a:solidFill>
                  <a:srgbClr val="52647A"/>
                </a:solidFill>
                <a:latin typeface="Arial"/>
                <a:ea typeface="Arial"/>
                <a:cs typeface="Arial"/>
              </a:defRPr>
            </a:lvl5pPr>
            <a:lvl6pPr>
              <a:defRPr sz="1350" b="0">
                <a:solidFill>
                  <a:srgbClr val="52647A"/>
                </a:solidFill>
                <a:latin typeface="Arial"/>
                <a:ea typeface="Arial"/>
                <a:cs typeface="Arial"/>
              </a:defRPr>
            </a:lvl6pPr>
            <a:lvl7pPr>
              <a:defRPr sz="1350" b="0">
                <a:solidFill>
                  <a:srgbClr val="52647A"/>
                </a:solidFill>
                <a:latin typeface="Arial"/>
                <a:ea typeface="Arial"/>
                <a:cs typeface="Arial"/>
              </a:defRPr>
            </a:lvl7pPr>
            <a:lvl8pPr>
              <a:defRPr sz="1350" b="0">
                <a:solidFill>
                  <a:srgbClr val="52647A"/>
                </a:solidFill>
                <a:latin typeface="Arial"/>
                <a:ea typeface="Arial"/>
                <a:cs typeface="Arial"/>
              </a:defRPr>
            </a:lvl8pPr>
            <a:lvl9pPr>
              <a:defRPr sz="1350" b="0">
                <a:solidFill>
                  <a:srgbClr val="52647A"/>
                </a:solidFill>
                <a:latin typeface="Arial"/>
                <a:ea typeface="Arial"/>
                <a:cs typeface="Arial"/>
              </a:defRPr>
            </a:lvl9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31  CUR-013 / CUR-016 / CUR-017</a:t>
            </a:r>
          </a:p>
        </p:txBody>
      </p:sp>
    </p:spTree>
    <p:extLst>
      <p:ext uri="{BB962C8B-B14F-4D97-AF65-F5344CB8AC3E}">
        <p14:creationId xmlns:p14="http://schemas.microsoft.com/office/powerpoint/2010/main" val="2041820148"/>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text-0">
            <a:extLst xmlns:a="http://schemas.openxmlformats.org/drawingml/2006/main">
              <a:ext uri="{FF2B5EF4-FFF2-40B4-BE49-F238E27FC236}">
                <a16:creationId xmlns:a16="http://schemas.microsoft.com/office/drawing/2014/main" id="{9C01742D-B3D5-4585-83B7-9CD0A97891F9}"/>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vl1pPr>
              <a:defRPr sz="3300" b="1">
                <a:solidFill>
                  <a:srgbClr val="15283D"/>
                </a:solidFill>
                <a:latin typeface="Arial"/>
                <a:ea typeface="Arial"/>
                <a:cs typeface="Arial"/>
              </a:defRPr>
            </a:lvl1pPr>
            <a:lvl2pPr>
              <a:defRPr sz="3300" b="1">
                <a:solidFill>
                  <a:srgbClr val="15283D"/>
                </a:solidFill>
                <a:latin typeface="Arial"/>
                <a:ea typeface="Arial"/>
                <a:cs typeface="Arial"/>
              </a:defRPr>
            </a:lvl2pPr>
            <a:lvl3pPr>
              <a:defRPr sz="3300" b="1">
                <a:solidFill>
                  <a:srgbClr val="15283D"/>
                </a:solidFill>
                <a:latin typeface="Arial"/>
                <a:ea typeface="Arial"/>
                <a:cs typeface="Arial"/>
              </a:defRPr>
            </a:lvl3pPr>
            <a:lvl4pPr>
              <a:defRPr sz="3300" b="1">
                <a:solidFill>
                  <a:srgbClr val="15283D"/>
                </a:solidFill>
                <a:latin typeface="Arial"/>
                <a:ea typeface="Arial"/>
                <a:cs typeface="Arial"/>
              </a:defRPr>
            </a:lvl4pPr>
            <a:lvl5pPr>
              <a:defRPr sz="3300" b="1">
                <a:solidFill>
                  <a:srgbClr val="15283D"/>
                </a:solidFill>
                <a:latin typeface="Arial"/>
                <a:ea typeface="Arial"/>
                <a:cs typeface="Arial"/>
              </a:defRPr>
            </a:lvl5pPr>
            <a:lvl6pPr>
              <a:defRPr sz="3300" b="1">
                <a:solidFill>
                  <a:srgbClr val="15283D"/>
                </a:solidFill>
                <a:latin typeface="Arial"/>
                <a:ea typeface="Arial"/>
                <a:cs typeface="Arial"/>
              </a:defRPr>
            </a:lvl6pPr>
            <a:lvl7pPr>
              <a:defRPr sz="3300" b="1">
                <a:solidFill>
                  <a:srgbClr val="15283D"/>
                </a:solidFill>
                <a:latin typeface="Arial"/>
                <a:ea typeface="Arial"/>
                <a:cs typeface="Arial"/>
              </a:defRPr>
            </a:lvl7pPr>
            <a:lvl8pPr>
              <a:defRPr sz="3300" b="1">
                <a:solidFill>
                  <a:srgbClr val="15283D"/>
                </a:solidFill>
                <a:latin typeface="Arial"/>
                <a:ea typeface="Arial"/>
                <a:cs typeface="Arial"/>
              </a:defRPr>
            </a:lvl8pPr>
            <a:lvl9pPr>
              <a:defRPr sz="3300" b="1">
                <a:solidFill>
                  <a:srgbClr val="15283D"/>
                </a:solidFill>
                <a:latin typeface="Arial"/>
                <a:ea typeface="Arial"/>
                <a:cs typeface="Arial"/>
              </a:defRPr>
            </a:lvl9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Versionen und Featuregrenzen</a:t>
            </a:r>
          </a:p>
        </p:txBody>
      </p:sp>
      <p:graphicFrame>
        <p:nvGraphicFramePr>
          <p:cNvPr id="2" name="">
            <a:extLst xmlns:a="http://schemas.openxmlformats.org/drawingml/2006/main">
              <a:ext uri="{FF2B5EF4-FFF2-40B4-BE49-F238E27FC236}">
                <a16:creationId xmlns:a16="http://schemas.microsoft.com/office/drawing/2014/main" id="{F7A8A728-9157-4BCC-9170-434DE474DE99}"/>
              </a:ext>
            </a:extLst>
          </p:cNvPr>
          <p:cNvGraphicFramePr/>
          <p:nvPr/>
        </p:nvGraphicFramePr>
        <p:xfrm>
          <a:off xmlns:a="http://schemas.openxmlformats.org/drawingml/2006/main" x="685800" y="1771650"/>
          <a:ext xmlns:a="http://schemas.openxmlformats.org/drawingml/2006/main" cx="10668000" cy="4000500"/>
        </p:xfrm>
        <a:graphic xmlns:a="http://schemas.openxmlformats.org/drawingml/2006/main">
          <a:graphicData uri="http://schemas.openxmlformats.org/drawingml/2006/table">
            <a:tbl>
              <a:tblPr/>
              <a:tblGrid>
                <a:gridCol w="3429000"/>
                <a:gridCol w="2476500"/>
                <a:gridCol w="4762500"/>
              </a:tblGrid>
              <a:tr h="666750">
                <a:tc>
                  <a:txBody>
                    <a:bodyPr/>
                    <a:lstStyle/>
                    <a:p>
                      <a:r>
                        <a:rPr sz="1800" b="1">
                          <a:solidFill>
                            <a:srgbClr val="15283D"/>
                          </a:solidFill>
                          <a:latin typeface="Arial"/>
                          <a:ea typeface="Arial"/>
                          <a:cs typeface="Arial"/>
                        </a:rPr>
                        <a:t>Funktion</a:t>
                      </a:r>
                    </a:p>
                  </a:txBody>
                  <a:tcPr marL="114300" marR="114300" marT="47625" marB="47625" anchor="ctr">
                    <a:lnL w="9525">
                      <a:solidFill>
                        <a:srgbClr val="C8D5DE"/>
                      </a:solidFill>
                      <a:prstDash val="solid"/>
                    </a:lnL>
                    <a:lnR w="9525">
                      <a:solidFill>
                        <a:srgbClr val="C8D5DE"/>
                      </a:solidFill>
                      <a:prstDash val="solid"/>
                    </a:lnR>
                    <a:lnT w="9525">
                      <a:solidFill>
                        <a:srgbClr val="C8D5DE"/>
                      </a:solidFill>
                      <a:prstDash val="solid"/>
                    </a:lnT>
                    <a:lnB w="9525">
                      <a:solidFill>
                        <a:srgbClr val="C8D5DE"/>
                      </a:solidFill>
                      <a:prstDash val="solid"/>
                    </a:lnB>
                    <a:solidFill>
                      <a:srgbClr val="E8F2F2"/>
                    </a:solidFill>
                  </a:tcPr>
                </a:tc>
                <a:tc>
                  <a:txBody>
                    <a:bodyPr/>
                    <a:lstStyle/>
                    <a:p>
                      <a:r>
                        <a:rPr sz="1800" b="1">
                          <a:solidFill>
                            <a:srgbClr val="15283D"/>
                          </a:solidFill>
                          <a:latin typeface="Arial"/>
                          <a:ea typeface="Arial"/>
                          <a:cs typeface="Arial"/>
                        </a:rPr>
                        <a:t>SQL Server 2025</a:t>
                      </a:r>
                    </a:p>
                  </a:txBody>
                  <a:tcPr marL="114300" marR="114300" marT="47625" marB="47625" anchor="ctr">
                    <a:lnR w="9525">
                      <a:solidFill>
                        <a:srgbClr val="C8D5DE"/>
                      </a:solidFill>
                      <a:prstDash val="solid"/>
                    </a:lnR>
                    <a:lnT w="9525">
                      <a:solidFill>
                        <a:srgbClr val="C8D5DE"/>
                      </a:solidFill>
                      <a:prstDash val="solid"/>
                    </a:lnT>
                    <a:lnB w="9525">
                      <a:solidFill>
                        <a:srgbClr val="C8D5DE"/>
                      </a:solidFill>
                      <a:prstDash val="solid"/>
                    </a:lnB>
                    <a:solidFill>
                      <a:srgbClr val="E8F2F2"/>
                    </a:solidFill>
                  </a:tcPr>
                </a:tc>
                <a:tc>
                  <a:txBody>
                    <a:bodyPr/>
                    <a:lstStyle/>
                    <a:p>
                      <a:r>
                        <a:rPr sz="1800" b="1">
                          <a:solidFill>
                            <a:srgbClr val="15283D"/>
                          </a:solidFill>
                          <a:latin typeface="Arial"/>
                          <a:ea typeface="Arial"/>
                          <a:cs typeface="Arial"/>
                        </a:rPr>
                        <a:t>Voraussetzung oder Grenze</a:t>
                      </a:r>
                    </a:p>
                  </a:txBody>
                  <a:tcPr marL="114300" marR="114300" marT="47625" marB="47625" anchor="ctr">
                    <a:lnR w="9525">
                      <a:solidFill>
                        <a:srgbClr val="C8D5DE"/>
                      </a:solidFill>
                      <a:prstDash val="solid"/>
                    </a:lnR>
                    <a:lnT w="9525">
                      <a:solidFill>
                        <a:srgbClr val="C8D5DE"/>
                      </a:solidFill>
                      <a:prstDash val="solid"/>
                    </a:lnT>
                    <a:lnB w="9525">
                      <a:solidFill>
                        <a:srgbClr val="C8D5DE"/>
                      </a:solidFill>
                      <a:prstDash val="solid"/>
                    </a:lnB>
                    <a:solidFill>
                      <a:srgbClr val="E8F2F2"/>
                    </a:solidFill>
                  </a:tcPr>
                </a:tc>
              </a:tr>
              <a:tr h="666750">
                <a:tc>
                  <a:txBody>
                    <a:bodyPr/>
                    <a:lstStyle/>
                    <a:p>
                      <a:r>
                        <a:rPr sz="1800" b="0">
                          <a:solidFill>
                            <a:srgbClr val="15283D"/>
                          </a:solidFill>
                          <a:latin typeface="Arial"/>
                          <a:ea typeface="Arial"/>
                          <a:cs typeface="Arial"/>
                        </a:rPr>
                        <a:t>VECTOR float32 und DISTANCE</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Dokumentiert, regulärer Pfad</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Engine 17.x. VECTOR unter allen CLs</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r h="666750">
                <a:tc>
                  <a:txBody>
                    <a:bodyPr/>
                    <a:lstStyle/>
                    <a:p>
                      <a:r>
                        <a:rPr sz="1800" b="0">
                          <a:solidFill>
                            <a:srgbClr val="15283D"/>
                          </a:solidFill>
                          <a:latin typeface="Arial"/>
                          <a:ea typeface="Arial"/>
                          <a:cs typeface="Arial"/>
                        </a:rPr>
                        <a:t>VECTOR float16</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Preview</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PREVIEW_FEATURES in eigener Datenbank</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r h="666750">
                <a:tc>
                  <a:txBody>
                    <a:bodyPr/>
                    <a:lstStyle/>
                    <a:p>
                      <a:r>
                        <a:rPr sz="1800" b="0">
                          <a:solidFill>
                            <a:srgbClr val="15283D"/>
                          </a:solidFill>
                          <a:latin typeface="Arial"/>
                          <a:ea typeface="Arial"/>
                          <a:cs typeface="Arial"/>
                        </a:rPr>
                        <a:t>AI_GENERATE_CHUNKS</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Lokale Funktion</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Compatibility Level mindestens 170</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r h="666750">
                <a:tc>
                  <a:txBody>
                    <a:bodyPr/>
                    <a:lstStyle/>
                    <a:p>
                      <a:r>
                        <a:rPr sz="1800" b="0">
                          <a:solidFill>
                            <a:srgbClr val="15283D"/>
                          </a:solidFill>
                          <a:latin typeface="Arial"/>
                          <a:ea typeface="Arial"/>
                          <a:cs typeface="Arial"/>
                        </a:rPr>
                        <a:t>Vector Index und VECTOR_SEARCH</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Preview</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Build, Syntax und Generation separat prüfen</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r h="666750">
                <a:tc>
                  <a:txBody>
                    <a:bodyPr/>
                    <a:lstStyle/>
                    <a:p>
                      <a:r>
                        <a:rPr sz="1800" b="0">
                          <a:solidFill>
                            <a:srgbClr val="15283D"/>
                          </a:solidFill>
                          <a:latin typeface="Arial"/>
                          <a:ea typeface="Arial"/>
                          <a:cs typeface="Arial"/>
                        </a:rPr>
                        <a:t>Copilot in SSMS</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Clientfunktion</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SQL Server Management Studio (SSMS); Clientversion prüfen</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bl>
          </a:graphicData>
        </a:graphic>
      </p:graphicFrame>
      <p:sp>
        <p:nvSpPr>
          <p:cNvPr id="3" name="text-1">
            <a:extLst xmlns:a="http://schemas.openxmlformats.org/drawingml/2006/main">
              <a:ext uri="{FF2B5EF4-FFF2-40B4-BE49-F238E27FC236}">
                <a16:creationId xmlns:a16="http://schemas.microsoft.com/office/drawing/2014/main" id="{8FAD23E1-5177-4DA3-8156-23D1910FEDCA}"/>
              </a:ext>
            </a:extLst>
          </p:cNvPr>
          <p:cNvSpPr>
            <a:spLocks xmlns:a="http://schemas.openxmlformats.org/drawingml/2006/main" noGrp="1"/>
          </p:cNvSpPr>
          <p:nvPr/>
        </p:nvSpPr>
        <p:spPr>
          <a:xfrm xmlns:a="http://schemas.openxmlformats.org/drawingml/2006/main">
            <a:off x="685800" y="5876925"/>
            <a:ext cx="10553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0">
                <a:solidFill>
                  <a:srgbClr val="52647A"/>
                </a:solidFill>
                <a:latin typeface="Arial"/>
                <a:ea typeface="Arial"/>
                <a:cs typeface="Arial"/>
              </a:defRPr>
            </a:defPPr>
            <a:lvl1pPr>
              <a:defRPr sz="1800" b="0">
                <a:solidFill>
                  <a:srgbClr val="52647A"/>
                </a:solidFill>
                <a:latin typeface="Arial"/>
                <a:ea typeface="Arial"/>
                <a:cs typeface="Arial"/>
              </a:defRPr>
            </a:lvl1pPr>
            <a:lvl2pPr>
              <a:defRPr sz="1800" b="0">
                <a:solidFill>
                  <a:srgbClr val="52647A"/>
                </a:solidFill>
                <a:latin typeface="Arial"/>
                <a:ea typeface="Arial"/>
                <a:cs typeface="Arial"/>
              </a:defRPr>
            </a:lvl2pPr>
            <a:lvl3pPr>
              <a:defRPr sz="1800" b="0">
                <a:solidFill>
                  <a:srgbClr val="52647A"/>
                </a:solidFill>
                <a:latin typeface="Arial"/>
                <a:ea typeface="Arial"/>
                <a:cs typeface="Arial"/>
              </a:defRPr>
            </a:lvl3pPr>
            <a:lvl4pPr>
              <a:defRPr sz="1800" b="0">
                <a:solidFill>
                  <a:srgbClr val="52647A"/>
                </a:solidFill>
                <a:latin typeface="Arial"/>
                <a:ea typeface="Arial"/>
                <a:cs typeface="Arial"/>
              </a:defRPr>
            </a:lvl4pPr>
            <a:lvl5pPr>
              <a:defRPr sz="1800" b="0">
                <a:solidFill>
                  <a:srgbClr val="52647A"/>
                </a:solidFill>
                <a:latin typeface="Arial"/>
                <a:ea typeface="Arial"/>
                <a:cs typeface="Arial"/>
              </a:defRPr>
            </a:lvl5pPr>
            <a:lvl6pPr>
              <a:defRPr sz="1800" b="0">
                <a:solidFill>
                  <a:srgbClr val="52647A"/>
                </a:solidFill>
                <a:latin typeface="Arial"/>
                <a:ea typeface="Arial"/>
                <a:cs typeface="Arial"/>
              </a:defRPr>
            </a:lvl6pPr>
            <a:lvl7pPr>
              <a:defRPr sz="1800" b="0">
                <a:solidFill>
                  <a:srgbClr val="52647A"/>
                </a:solidFill>
                <a:latin typeface="Arial"/>
                <a:ea typeface="Arial"/>
                <a:cs typeface="Arial"/>
              </a:defRPr>
            </a:lvl7pPr>
            <a:lvl8pPr>
              <a:defRPr sz="1800" b="0">
                <a:solidFill>
                  <a:srgbClr val="52647A"/>
                </a:solidFill>
                <a:latin typeface="Arial"/>
                <a:ea typeface="Arial"/>
                <a:cs typeface="Arial"/>
              </a:defRPr>
            </a:lvl8pPr>
            <a:lvl9pPr>
              <a:defRPr sz="1800" b="0">
                <a:solidFill>
                  <a:srgbClr val="52647A"/>
                </a:solidFill>
                <a:latin typeface="Arial"/>
                <a:ea typeface="Arial"/>
                <a:cs typeface="Arial"/>
              </a:defRPr>
            </a:lvl9pPr>
          </a:lstStyle>
          <a:p xmlns:a="http://schemas.openxmlformats.org/drawingml/2006/main">
            <a:pPr>
              <a:defRPr sz="1800" b="0">
                <a:solidFill>
                  <a:srgbClr val="52647A"/>
                </a:solidFill>
                <a:latin typeface="Arial"/>
                <a:ea typeface="Arial"/>
                <a:cs typeface="Arial"/>
              </a:defRPr>
            </a:pPr>
            <a:r>
              <a:rPr sz="1800" b="0">
                <a:solidFill>
                  <a:srgbClr val="52647A"/>
                </a:solidFill>
                <a:latin typeface="Arial"/>
                <a:ea typeface="Arial"/>
                <a:cs typeface="Arial"/>
              </a:rPr>
              <a:t>Laborprofil: Enterprise Developer, Engine 17.x, CL 170. Versions-SKIP vor Setup auf 2019/2022.</a:t>
            </a:r>
          </a:p>
        </p:txBody>
      </p:sp>
      <p:sp>
        <p:nvSpPr>
          <p:cNvPr id="4" name="text-2">
            <a:extLst xmlns:a="http://schemas.openxmlformats.org/drawingml/2006/main">
              <a:ext uri="{FF2B5EF4-FFF2-40B4-BE49-F238E27FC236}">
                <a16:creationId xmlns:a16="http://schemas.microsoft.com/office/drawing/2014/main" id="{F072F811-EAA7-429F-A2B9-768DA28CB837}"/>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vl1pPr>
              <a:defRPr sz="1350" b="0">
                <a:solidFill>
                  <a:srgbClr val="52647A"/>
                </a:solidFill>
                <a:latin typeface="Arial"/>
                <a:ea typeface="Arial"/>
                <a:cs typeface="Arial"/>
              </a:defRPr>
            </a:lvl1pPr>
            <a:lvl2pPr>
              <a:defRPr sz="1350" b="0">
                <a:solidFill>
                  <a:srgbClr val="52647A"/>
                </a:solidFill>
                <a:latin typeface="Arial"/>
                <a:ea typeface="Arial"/>
                <a:cs typeface="Arial"/>
              </a:defRPr>
            </a:lvl2pPr>
            <a:lvl3pPr>
              <a:defRPr sz="1350" b="0">
                <a:solidFill>
                  <a:srgbClr val="52647A"/>
                </a:solidFill>
                <a:latin typeface="Arial"/>
                <a:ea typeface="Arial"/>
                <a:cs typeface="Arial"/>
              </a:defRPr>
            </a:lvl3pPr>
            <a:lvl4pPr>
              <a:defRPr sz="1350" b="0">
                <a:solidFill>
                  <a:srgbClr val="52647A"/>
                </a:solidFill>
                <a:latin typeface="Arial"/>
                <a:ea typeface="Arial"/>
                <a:cs typeface="Arial"/>
              </a:defRPr>
            </a:lvl4pPr>
            <a:lvl5pPr>
              <a:defRPr sz="1350" b="0">
                <a:solidFill>
                  <a:srgbClr val="52647A"/>
                </a:solidFill>
                <a:latin typeface="Arial"/>
                <a:ea typeface="Arial"/>
                <a:cs typeface="Arial"/>
              </a:defRPr>
            </a:lvl5pPr>
            <a:lvl6pPr>
              <a:defRPr sz="1350" b="0">
                <a:solidFill>
                  <a:srgbClr val="52647A"/>
                </a:solidFill>
                <a:latin typeface="Arial"/>
                <a:ea typeface="Arial"/>
                <a:cs typeface="Arial"/>
              </a:defRPr>
            </a:lvl6pPr>
            <a:lvl7pPr>
              <a:defRPr sz="1350" b="0">
                <a:solidFill>
                  <a:srgbClr val="52647A"/>
                </a:solidFill>
                <a:latin typeface="Arial"/>
                <a:ea typeface="Arial"/>
                <a:cs typeface="Arial"/>
              </a:defRPr>
            </a:lvl7pPr>
            <a:lvl8pPr>
              <a:defRPr sz="1350" b="0">
                <a:solidFill>
                  <a:srgbClr val="52647A"/>
                </a:solidFill>
                <a:latin typeface="Arial"/>
                <a:ea typeface="Arial"/>
                <a:cs typeface="Arial"/>
              </a:defRPr>
            </a:lvl8pPr>
            <a:lvl9pPr>
              <a:defRPr sz="1350" b="0">
                <a:solidFill>
                  <a:srgbClr val="52647A"/>
                </a:solidFill>
                <a:latin typeface="Arial"/>
                <a:ea typeface="Arial"/>
                <a:cs typeface="Arial"/>
              </a:defRPr>
            </a:lvl9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32  CUR-014 / CUR-016 / CUR-019</a:t>
            </a:r>
          </a:p>
        </p:txBody>
      </p:sp>
    </p:spTree>
    <p:extLst>
      <p:ext uri="{BB962C8B-B14F-4D97-AF65-F5344CB8AC3E}">
        <p14:creationId xmlns:p14="http://schemas.microsoft.com/office/powerpoint/2010/main" val="1644746886"/>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text-0">
            <a:extLst xmlns:a="http://schemas.openxmlformats.org/drawingml/2006/main">
              <a:ext uri="{FF2B5EF4-FFF2-40B4-BE49-F238E27FC236}">
                <a16:creationId xmlns:a16="http://schemas.microsoft.com/office/drawing/2014/main" id="{8861BD88-7B6B-4383-8BB3-1AF98C62BC7D}"/>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vl1pPr>
              <a:defRPr sz="3300" b="1">
                <a:solidFill>
                  <a:srgbClr val="15283D"/>
                </a:solidFill>
                <a:latin typeface="Arial"/>
                <a:ea typeface="Arial"/>
                <a:cs typeface="Arial"/>
              </a:defRPr>
            </a:lvl1pPr>
            <a:lvl2pPr>
              <a:defRPr sz="3300" b="1">
                <a:solidFill>
                  <a:srgbClr val="15283D"/>
                </a:solidFill>
                <a:latin typeface="Arial"/>
                <a:ea typeface="Arial"/>
                <a:cs typeface="Arial"/>
              </a:defRPr>
            </a:lvl2pPr>
            <a:lvl3pPr>
              <a:defRPr sz="3300" b="1">
                <a:solidFill>
                  <a:srgbClr val="15283D"/>
                </a:solidFill>
                <a:latin typeface="Arial"/>
                <a:ea typeface="Arial"/>
                <a:cs typeface="Arial"/>
              </a:defRPr>
            </a:lvl3pPr>
            <a:lvl4pPr>
              <a:defRPr sz="3300" b="1">
                <a:solidFill>
                  <a:srgbClr val="15283D"/>
                </a:solidFill>
                <a:latin typeface="Arial"/>
                <a:ea typeface="Arial"/>
                <a:cs typeface="Arial"/>
              </a:defRPr>
            </a:lvl4pPr>
            <a:lvl5pPr>
              <a:defRPr sz="3300" b="1">
                <a:solidFill>
                  <a:srgbClr val="15283D"/>
                </a:solidFill>
                <a:latin typeface="Arial"/>
                <a:ea typeface="Arial"/>
                <a:cs typeface="Arial"/>
              </a:defRPr>
            </a:lvl5pPr>
            <a:lvl6pPr>
              <a:defRPr sz="3300" b="1">
                <a:solidFill>
                  <a:srgbClr val="15283D"/>
                </a:solidFill>
                <a:latin typeface="Arial"/>
                <a:ea typeface="Arial"/>
                <a:cs typeface="Arial"/>
              </a:defRPr>
            </a:lvl6pPr>
            <a:lvl7pPr>
              <a:defRPr sz="3300" b="1">
                <a:solidFill>
                  <a:srgbClr val="15283D"/>
                </a:solidFill>
                <a:latin typeface="Arial"/>
                <a:ea typeface="Arial"/>
                <a:cs typeface="Arial"/>
              </a:defRPr>
            </a:lvl7pPr>
            <a:lvl8pPr>
              <a:defRPr sz="3300" b="1">
                <a:solidFill>
                  <a:srgbClr val="15283D"/>
                </a:solidFill>
                <a:latin typeface="Arial"/>
                <a:ea typeface="Arial"/>
                <a:cs typeface="Arial"/>
              </a:defRPr>
            </a:lvl8pPr>
            <a:lvl9pPr>
              <a:defRPr sz="3300" b="1">
                <a:solidFill>
                  <a:srgbClr val="15283D"/>
                </a:solidFill>
                <a:latin typeface="Arial"/>
                <a:ea typeface="Arial"/>
                <a:cs typeface="Arial"/>
              </a:defRPr>
            </a:lvl9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Demoablauf und aktueller Bestand</a:t>
            </a:r>
          </a:p>
        </p:txBody>
      </p:sp>
      <p:graphicFrame>
        <p:nvGraphicFramePr>
          <p:cNvPr id="2" name="">
            <a:extLst xmlns:a="http://schemas.openxmlformats.org/drawingml/2006/main">
              <a:ext uri="{FF2B5EF4-FFF2-40B4-BE49-F238E27FC236}">
                <a16:creationId xmlns:a16="http://schemas.microsoft.com/office/drawing/2014/main" id="{5BAF06B9-C7E6-4C4E-8F9B-7BF65EDB3637}"/>
              </a:ext>
            </a:extLst>
          </p:cNvPr>
          <p:cNvGraphicFramePr/>
          <p:nvPr/>
        </p:nvGraphicFramePr>
        <p:xfrm>
          <a:off xmlns:a="http://schemas.openxmlformats.org/drawingml/2006/main" x="685800" y="1771650"/>
          <a:ext xmlns:a="http://schemas.openxmlformats.org/drawingml/2006/main" cx="10668000" cy="3143250"/>
        </p:xfrm>
        <a:graphic xmlns:a="http://schemas.openxmlformats.org/drawingml/2006/main">
          <a:graphicData uri="http://schemas.openxmlformats.org/drawingml/2006/table">
            <a:tbl>
              <a:tblPr/>
              <a:tblGrid>
                <a:gridCol w="4476750"/>
                <a:gridCol w="6191250"/>
              </a:tblGrid>
              <a:tr h="785813">
                <a:tc>
                  <a:txBody>
                    <a:bodyPr/>
                    <a:lstStyle/>
                    <a:p>
                      <a:r>
                        <a:rPr sz="1800" b="1">
                          <a:solidFill>
                            <a:srgbClr val="15283D"/>
                          </a:solidFill>
                          <a:latin typeface="Arial"/>
                          <a:ea typeface="Arial"/>
                          <a:cs typeface="Arial"/>
                        </a:rPr>
                        <a:t>IMPLEMENTED</a:t>
                      </a:r>
                    </a:p>
                  </a:txBody>
                  <a:tcPr marL="114300" marR="114300" marT="47625" marB="47625" anchor="ctr">
                    <a:lnL w="9525">
                      <a:solidFill>
                        <a:srgbClr val="C8D5DE"/>
                      </a:solidFill>
                      <a:prstDash val="solid"/>
                    </a:lnL>
                    <a:lnR w="9525">
                      <a:solidFill>
                        <a:srgbClr val="C8D5DE"/>
                      </a:solidFill>
                      <a:prstDash val="solid"/>
                    </a:lnR>
                    <a:lnT w="9525">
                      <a:solidFill>
                        <a:srgbClr val="C8D5DE"/>
                      </a:solidFill>
                      <a:prstDash val="solid"/>
                    </a:lnT>
                    <a:lnB w="9525">
                      <a:solidFill>
                        <a:srgbClr val="C8D5DE"/>
                      </a:solidFill>
                      <a:prstDash val="solid"/>
                    </a:lnB>
                    <a:solidFill>
                      <a:srgbClr val="E8F2F2"/>
                    </a:solidFill>
                  </a:tcPr>
                </a:tc>
                <a:tc>
                  <a:txBody>
                    <a:bodyPr/>
                    <a:lstStyle/>
                    <a:p>
                      <a:r>
                        <a:rPr sz="1800" b="1">
                          <a:solidFill>
                            <a:srgbClr val="15283D"/>
                          </a:solidFill>
                          <a:latin typeface="Arial"/>
                          <a:ea typeface="Arial"/>
                          <a:cs typeface="Arial"/>
                        </a:rPr>
                        <a:t>Beobachtungsauftrag</a:t>
                      </a:r>
                    </a:p>
                  </a:txBody>
                  <a:tcPr marL="114300" marR="114300" marT="47625" marB="47625" anchor="ctr">
                    <a:lnR w="9525">
                      <a:solidFill>
                        <a:srgbClr val="C8D5DE"/>
                      </a:solidFill>
                      <a:prstDash val="solid"/>
                    </a:lnR>
                    <a:lnT w="9525">
                      <a:solidFill>
                        <a:srgbClr val="C8D5DE"/>
                      </a:solidFill>
                      <a:prstDash val="solid"/>
                    </a:lnT>
                    <a:lnB w="9525">
                      <a:solidFill>
                        <a:srgbClr val="C8D5DE"/>
                      </a:solidFill>
                      <a:prstDash val="solid"/>
                    </a:lnB>
                    <a:solidFill>
                      <a:srgbClr val="E8F2F2"/>
                    </a:solidFill>
                  </a:tcPr>
                </a:tc>
              </a:tr>
              <a:tr h="785813">
                <a:tc>
                  <a:txBody>
                    <a:bodyPr/>
                    <a:lstStyle/>
                    <a:p>
                      <a:r>
                        <a:rPr sz="1800" b="0">
                          <a:solidFill>
                            <a:srgbClr val="15283D"/>
                          </a:solidFill>
                          <a:latin typeface="Arial"/>
                          <a:ea typeface="Arial"/>
                          <a:cs typeface="Arial"/>
                        </a:rPr>
                        <a:t>QRY-014, QRY-015, QRY-016</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Typ, Metric und Quellenbereich prüfen</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r h="785813">
                <a:tc>
                  <a:txBody>
                    <a:bodyPr/>
                    <a:lstStyle/>
                    <a:p>
                      <a:r>
                        <a:rPr sz="1800" b="0">
                          <a:solidFill>
                            <a:srgbClr val="15283D"/>
                          </a:solidFill>
                          <a:latin typeface="Arial"/>
                          <a:ea typeface="Arial"/>
                          <a:cs typeface="Arial"/>
                        </a:rPr>
                        <a:t>QRY-017, QRY-018, QRY-019</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Suchpfad, Antwortbeleg und SQL-Struktur prüfen</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r h="785813">
                <a:tc>
                  <a:txBody>
                    <a:bodyPr/>
                    <a:lstStyle/>
                    <a:p>
                      <a:r>
                        <a:rPr sz="1800" b="0">
                          <a:solidFill>
                            <a:srgbClr val="15283D"/>
                          </a:solidFill>
                          <a:latin typeface="Arial"/>
                          <a:ea typeface="Arial"/>
                          <a:cs typeface="Arial"/>
                        </a:rPr>
                        <a:t>DGN-008, DGN-009, CON-010</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Modellrechte, manipulierte Quellen und Tenantgrenzen prüfen</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bl>
          </a:graphicData>
        </a:graphic>
      </p:graphicFrame>
      <p:sp>
        <p:nvSpPr>
          <p:cNvPr id="3" name="text-1">
            <a:extLst xmlns:a="http://schemas.openxmlformats.org/drawingml/2006/main">
              <a:ext uri="{FF2B5EF4-FFF2-40B4-BE49-F238E27FC236}">
                <a16:creationId xmlns:a16="http://schemas.microsoft.com/office/drawing/2014/main" id="{CA58136E-22BF-4149-8A0A-E0EF303A1F5C}"/>
              </a:ext>
            </a:extLst>
          </p:cNvPr>
          <p:cNvSpPr>
            <a:spLocks xmlns:a="http://schemas.openxmlformats.org/drawingml/2006/main" noGrp="1"/>
          </p:cNvSpPr>
          <p:nvPr/>
        </p:nvSpPr>
        <p:spPr>
          <a:xfrm xmlns:a="http://schemas.openxmlformats.org/drawingml/2006/main">
            <a:off x="685800" y="5876925"/>
            <a:ext cx="10553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0">
                <a:solidFill>
                  <a:srgbClr val="52647A"/>
                </a:solidFill>
                <a:latin typeface="Arial"/>
                <a:ea typeface="Arial"/>
                <a:cs typeface="Arial"/>
              </a:defRPr>
            </a:defPPr>
            <a:lvl1pPr>
              <a:defRPr sz="1800" b="0">
                <a:solidFill>
                  <a:srgbClr val="52647A"/>
                </a:solidFill>
                <a:latin typeface="Arial"/>
                <a:ea typeface="Arial"/>
                <a:cs typeface="Arial"/>
              </a:defRPr>
            </a:lvl1pPr>
            <a:lvl2pPr>
              <a:defRPr sz="1800" b="0">
                <a:solidFill>
                  <a:srgbClr val="52647A"/>
                </a:solidFill>
                <a:latin typeface="Arial"/>
                <a:ea typeface="Arial"/>
                <a:cs typeface="Arial"/>
              </a:defRPr>
            </a:lvl2pPr>
            <a:lvl3pPr>
              <a:defRPr sz="1800" b="0">
                <a:solidFill>
                  <a:srgbClr val="52647A"/>
                </a:solidFill>
                <a:latin typeface="Arial"/>
                <a:ea typeface="Arial"/>
                <a:cs typeface="Arial"/>
              </a:defRPr>
            </a:lvl3pPr>
            <a:lvl4pPr>
              <a:defRPr sz="1800" b="0">
                <a:solidFill>
                  <a:srgbClr val="52647A"/>
                </a:solidFill>
                <a:latin typeface="Arial"/>
                <a:ea typeface="Arial"/>
                <a:cs typeface="Arial"/>
              </a:defRPr>
            </a:lvl4pPr>
            <a:lvl5pPr>
              <a:defRPr sz="1800" b="0">
                <a:solidFill>
                  <a:srgbClr val="52647A"/>
                </a:solidFill>
                <a:latin typeface="Arial"/>
                <a:ea typeface="Arial"/>
                <a:cs typeface="Arial"/>
              </a:defRPr>
            </a:lvl5pPr>
            <a:lvl6pPr>
              <a:defRPr sz="1800" b="0">
                <a:solidFill>
                  <a:srgbClr val="52647A"/>
                </a:solidFill>
                <a:latin typeface="Arial"/>
                <a:ea typeface="Arial"/>
                <a:cs typeface="Arial"/>
              </a:defRPr>
            </a:lvl6pPr>
            <a:lvl7pPr>
              <a:defRPr sz="1800" b="0">
                <a:solidFill>
                  <a:srgbClr val="52647A"/>
                </a:solidFill>
                <a:latin typeface="Arial"/>
                <a:ea typeface="Arial"/>
                <a:cs typeface="Arial"/>
              </a:defRPr>
            </a:lvl7pPr>
            <a:lvl8pPr>
              <a:defRPr sz="1800" b="0">
                <a:solidFill>
                  <a:srgbClr val="52647A"/>
                </a:solidFill>
                <a:latin typeface="Arial"/>
                <a:ea typeface="Arial"/>
                <a:cs typeface="Arial"/>
              </a:defRPr>
            </a:lvl8pPr>
            <a:lvl9pPr>
              <a:defRPr sz="1800" b="0">
                <a:solidFill>
                  <a:srgbClr val="52647A"/>
                </a:solidFill>
                <a:latin typeface="Arial"/>
                <a:ea typeface="Arial"/>
                <a:cs typeface="Arial"/>
              </a:defRPr>
            </a:lvl9pPr>
          </a:lstStyle>
          <a:p xmlns:a="http://schemas.openxmlformats.org/drawingml/2006/main">
            <a:pPr>
              <a:defRPr sz="1800" b="0">
                <a:solidFill>
                  <a:srgbClr val="52647A"/>
                </a:solidFill>
                <a:latin typeface="Arial"/>
                <a:ea typeface="Arial"/>
                <a:cs typeface="Arial"/>
              </a:defRPr>
            </a:pPr>
            <a:r>
              <a:rPr sz="1800" b="0">
                <a:solidFill>
                  <a:srgbClr val="52647A"/>
                </a:solidFill>
                <a:latin typeface="Arial"/>
                <a:ea typeface="Arial"/>
                <a:cs typeface="Arial"/>
              </a:rPr>
              <a:t>Preflight, Setup, Baseline, Demonstration, Observation, Mitigation, Comparison und Cleanup</a:t>
            </a:r>
          </a:p>
        </p:txBody>
      </p:sp>
      <p:sp>
        <p:nvSpPr>
          <p:cNvPr id="4" name="text-2">
            <a:extLst xmlns:a="http://schemas.openxmlformats.org/drawingml/2006/main">
              <a:ext uri="{FF2B5EF4-FFF2-40B4-BE49-F238E27FC236}">
                <a16:creationId xmlns:a16="http://schemas.microsoft.com/office/drawing/2014/main" id="{9D43452E-EF32-4E21-9A12-912DCB9D198B}"/>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vl1pPr>
              <a:defRPr sz="1350" b="0">
                <a:solidFill>
                  <a:srgbClr val="52647A"/>
                </a:solidFill>
                <a:latin typeface="Arial"/>
                <a:ea typeface="Arial"/>
                <a:cs typeface="Arial"/>
              </a:defRPr>
            </a:lvl1pPr>
            <a:lvl2pPr>
              <a:defRPr sz="1350" b="0">
                <a:solidFill>
                  <a:srgbClr val="52647A"/>
                </a:solidFill>
                <a:latin typeface="Arial"/>
                <a:ea typeface="Arial"/>
                <a:cs typeface="Arial"/>
              </a:defRPr>
            </a:lvl2pPr>
            <a:lvl3pPr>
              <a:defRPr sz="1350" b="0">
                <a:solidFill>
                  <a:srgbClr val="52647A"/>
                </a:solidFill>
                <a:latin typeface="Arial"/>
                <a:ea typeface="Arial"/>
                <a:cs typeface="Arial"/>
              </a:defRPr>
            </a:lvl3pPr>
            <a:lvl4pPr>
              <a:defRPr sz="1350" b="0">
                <a:solidFill>
                  <a:srgbClr val="52647A"/>
                </a:solidFill>
                <a:latin typeface="Arial"/>
                <a:ea typeface="Arial"/>
                <a:cs typeface="Arial"/>
              </a:defRPr>
            </a:lvl4pPr>
            <a:lvl5pPr>
              <a:defRPr sz="1350" b="0">
                <a:solidFill>
                  <a:srgbClr val="52647A"/>
                </a:solidFill>
                <a:latin typeface="Arial"/>
                <a:ea typeface="Arial"/>
                <a:cs typeface="Arial"/>
              </a:defRPr>
            </a:lvl5pPr>
            <a:lvl6pPr>
              <a:defRPr sz="1350" b="0">
                <a:solidFill>
                  <a:srgbClr val="52647A"/>
                </a:solidFill>
                <a:latin typeface="Arial"/>
                <a:ea typeface="Arial"/>
                <a:cs typeface="Arial"/>
              </a:defRPr>
            </a:lvl6pPr>
            <a:lvl7pPr>
              <a:defRPr sz="1350" b="0">
                <a:solidFill>
                  <a:srgbClr val="52647A"/>
                </a:solidFill>
                <a:latin typeface="Arial"/>
                <a:ea typeface="Arial"/>
                <a:cs typeface="Arial"/>
              </a:defRPr>
            </a:lvl7pPr>
            <a:lvl8pPr>
              <a:defRPr sz="1350" b="0">
                <a:solidFill>
                  <a:srgbClr val="52647A"/>
                </a:solidFill>
                <a:latin typeface="Arial"/>
                <a:ea typeface="Arial"/>
                <a:cs typeface="Arial"/>
              </a:defRPr>
            </a:lvl8pPr>
            <a:lvl9pPr>
              <a:defRPr sz="1350" b="0">
                <a:solidFill>
                  <a:srgbClr val="52647A"/>
                </a:solidFill>
                <a:latin typeface="Arial"/>
                <a:ea typeface="Arial"/>
                <a:cs typeface="Arial"/>
              </a:defRPr>
            </a:lvl9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33  CUR-013–CUR-022</a:t>
            </a:r>
          </a:p>
        </p:txBody>
      </p:sp>
    </p:spTree>
    <p:extLst>
      <p:ext uri="{BB962C8B-B14F-4D97-AF65-F5344CB8AC3E}">
        <p14:creationId xmlns:p14="http://schemas.microsoft.com/office/powerpoint/2010/main" val="233410860"/>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text-0">
            <a:extLst xmlns:a="http://schemas.openxmlformats.org/drawingml/2006/main">
              <a:ext uri="{FF2B5EF4-FFF2-40B4-BE49-F238E27FC236}">
                <a16:creationId xmlns:a16="http://schemas.microsoft.com/office/drawing/2014/main" id="{910FDBF2-CE36-4935-BD60-F87AE7643E67}"/>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vl1pPr>
              <a:defRPr sz="3300" b="1">
                <a:solidFill>
                  <a:srgbClr val="15283D"/>
                </a:solidFill>
                <a:latin typeface="Arial"/>
                <a:ea typeface="Arial"/>
                <a:cs typeface="Arial"/>
              </a:defRPr>
            </a:lvl1pPr>
            <a:lvl2pPr>
              <a:defRPr sz="3300" b="1">
                <a:solidFill>
                  <a:srgbClr val="15283D"/>
                </a:solidFill>
                <a:latin typeface="Arial"/>
                <a:ea typeface="Arial"/>
                <a:cs typeface="Arial"/>
              </a:defRPr>
            </a:lvl2pPr>
            <a:lvl3pPr>
              <a:defRPr sz="3300" b="1">
                <a:solidFill>
                  <a:srgbClr val="15283D"/>
                </a:solidFill>
                <a:latin typeface="Arial"/>
                <a:ea typeface="Arial"/>
                <a:cs typeface="Arial"/>
              </a:defRPr>
            </a:lvl3pPr>
            <a:lvl4pPr>
              <a:defRPr sz="3300" b="1">
                <a:solidFill>
                  <a:srgbClr val="15283D"/>
                </a:solidFill>
                <a:latin typeface="Arial"/>
                <a:ea typeface="Arial"/>
                <a:cs typeface="Arial"/>
              </a:defRPr>
            </a:lvl4pPr>
            <a:lvl5pPr>
              <a:defRPr sz="3300" b="1">
                <a:solidFill>
                  <a:srgbClr val="15283D"/>
                </a:solidFill>
                <a:latin typeface="Arial"/>
                <a:ea typeface="Arial"/>
                <a:cs typeface="Arial"/>
              </a:defRPr>
            </a:lvl5pPr>
            <a:lvl6pPr>
              <a:defRPr sz="3300" b="1">
                <a:solidFill>
                  <a:srgbClr val="15283D"/>
                </a:solidFill>
                <a:latin typeface="Arial"/>
                <a:ea typeface="Arial"/>
                <a:cs typeface="Arial"/>
              </a:defRPr>
            </a:lvl6pPr>
            <a:lvl7pPr>
              <a:defRPr sz="3300" b="1">
                <a:solidFill>
                  <a:srgbClr val="15283D"/>
                </a:solidFill>
                <a:latin typeface="Arial"/>
                <a:ea typeface="Arial"/>
                <a:cs typeface="Arial"/>
              </a:defRPr>
            </a:lvl7pPr>
            <a:lvl8pPr>
              <a:defRPr sz="3300" b="1">
                <a:solidFill>
                  <a:srgbClr val="15283D"/>
                </a:solidFill>
                <a:latin typeface="Arial"/>
                <a:ea typeface="Arial"/>
                <a:cs typeface="Arial"/>
              </a:defRPr>
            </a:lvl8pPr>
            <a:lvl9pPr>
              <a:defRPr sz="3300" b="1">
                <a:solidFill>
                  <a:srgbClr val="15283D"/>
                </a:solidFill>
                <a:latin typeface="Arial"/>
                <a:ea typeface="Arial"/>
                <a:cs typeface="Arial"/>
              </a:defRPr>
            </a:lvl9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Vektoren und Embeddingräume</a:t>
            </a:r>
          </a:p>
        </p:txBody>
      </p:sp>
      <p:sp>
        <p:nvSpPr>
          <p:cNvPr id="2" name="text-1">
            <a:extLst xmlns:a="http://schemas.openxmlformats.org/drawingml/2006/main">
              <a:ext uri="{FF2B5EF4-FFF2-40B4-BE49-F238E27FC236}">
                <a16:creationId xmlns:a16="http://schemas.microsoft.com/office/drawing/2014/main" id="{D1CAB637-4C3E-45CD-9208-05B495DC8C4C}"/>
              </a:ext>
            </a:extLst>
          </p:cNvPr>
          <p:cNvSpPr>
            <a:spLocks xmlns:a="http://schemas.openxmlformats.org/drawingml/2006/main" noGrp="1"/>
          </p:cNvSpPr>
          <p:nvPr/>
        </p:nvSpPr>
        <p:spPr>
          <a:xfrm xmlns:a="http://schemas.openxmlformats.org/drawingml/2006/main">
            <a:off x="685800" y="177165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VECTOR(3)</a:t>
            </a:r>
          </a:p>
        </p:txBody>
      </p:sp>
      <p:sp>
        <p:nvSpPr>
          <p:cNvPr id="3" name="text-2">
            <a:extLst xmlns:a="http://schemas.openxmlformats.org/drawingml/2006/main">
              <a:ext uri="{FF2B5EF4-FFF2-40B4-BE49-F238E27FC236}">
                <a16:creationId xmlns:a16="http://schemas.microsoft.com/office/drawing/2014/main" id="{37154EC3-600A-4808-9585-B190E92E149C}"/>
              </a:ext>
            </a:extLst>
          </p:cNvPr>
          <p:cNvSpPr>
            <a:spLocks xmlns:a="http://schemas.openxmlformats.org/drawingml/2006/main" noGrp="1"/>
          </p:cNvSpPr>
          <p:nvPr/>
        </p:nvSpPr>
        <p:spPr>
          <a:xfrm xmlns:a="http://schemas.openxmlformats.org/drawingml/2006/main">
            <a:off x="3190875" y="177165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Ein Wert enthält drei numerische Komponenten. float32 benötigt ungefähr 4 × d Bytes Nutzdaten.</a:t>
            </a:r>
          </a:p>
        </p:txBody>
      </p:sp>
      <p:sp>
        <p:nvSpPr>
          <p:cNvPr id="4" name="text-3">
            <a:extLst xmlns:a="http://schemas.openxmlformats.org/drawingml/2006/main">
              <a:ext uri="{FF2B5EF4-FFF2-40B4-BE49-F238E27FC236}">
                <a16:creationId xmlns:a16="http://schemas.microsoft.com/office/drawing/2014/main" id="{3EB456AB-87D9-4B5E-B758-E71B221D6871}"/>
              </a:ext>
            </a:extLst>
          </p:cNvPr>
          <p:cNvSpPr>
            <a:spLocks xmlns:a="http://schemas.openxmlformats.org/drawingml/2006/main" noGrp="1"/>
          </p:cNvSpPr>
          <p:nvPr/>
        </p:nvSpPr>
        <p:spPr>
          <a:xfrm xmlns:a="http://schemas.openxmlformats.org/drawingml/2006/main">
            <a:off x="685800" y="3057525"/>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Modellraum</a:t>
            </a:r>
          </a:p>
        </p:txBody>
      </p:sp>
      <p:sp>
        <p:nvSpPr>
          <p:cNvPr id="5" name="text-4">
            <a:extLst xmlns:a="http://schemas.openxmlformats.org/drawingml/2006/main">
              <a:ext uri="{FF2B5EF4-FFF2-40B4-BE49-F238E27FC236}">
                <a16:creationId xmlns:a16="http://schemas.microsoft.com/office/drawing/2014/main" id="{ED613829-CF3A-4006-AA79-3367C8F323B0}"/>
              </a:ext>
            </a:extLst>
          </p:cNvPr>
          <p:cNvSpPr>
            <a:spLocks xmlns:a="http://schemas.openxmlformats.org/drawingml/2006/main" noGrp="1"/>
          </p:cNvSpPr>
          <p:nvPr/>
        </p:nvSpPr>
        <p:spPr>
          <a:xfrm xmlns:a="http://schemas.openxmlformats.org/drawingml/2006/main">
            <a:off x="3190875" y="3057525"/>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Gleiche Dimension allein erlaubt keine gemeinsame Suche. Modellversion und Normalisierung gehören zur Provenienz.</a:t>
            </a:r>
          </a:p>
        </p:txBody>
      </p:sp>
      <p:sp>
        <p:nvSpPr>
          <p:cNvPr id="6" name="text-5">
            <a:extLst xmlns:a="http://schemas.openxmlformats.org/drawingml/2006/main">
              <a:ext uri="{FF2B5EF4-FFF2-40B4-BE49-F238E27FC236}">
                <a16:creationId xmlns:a16="http://schemas.microsoft.com/office/drawing/2014/main" id="{8E44997B-7339-4BDC-9E77-29C7C3C914A7}"/>
              </a:ext>
            </a:extLst>
          </p:cNvPr>
          <p:cNvSpPr>
            <a:spLocks xmlns:a="http://schemas.openxmlformats.org/drawingml/2006/main" noGrp="1"/>
          </p:cNvSpPr>
          <p:nvPr/>
        </p:nvSpPr>
        <p:spPr>
          <a:xfrm xmlns:a="http://schemas.openxmlformats.org/drawingml/2006/main">
            <a:off x="685800" y="434340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Grenzen</a:t>
            </a:r>
          </a:p>
        </p:txBody>
      </p:sp>
      <p:sp>
        <p:nvSpPr>
          <p:cNvPr id="7" name="text-6">
            <a:extLst xmlns:a="http://schemas.openxmlformats.org/drawingml/2006/main">
              <a:ext uri="{FF2B5EF4-FFF2-40B4-BE49-F238E27FC236}">
                <a16:creationId xmlns:a16="http://schemas.microsoft.com/office/drawing/2014/main" id="{B5963B25-8C5B-4A9F-B050-A52AEB4B681A}"/>
              </a:ext>
            </a:extLst>
          </p:cNvPr>
          <p:cNvSpPr>
            <a:spLocks xmlns:a="http://schemas.openxmlformats.org/drawingml/2006/main" noGrp="1"/>
          </p:cNvSpPr>
          <p:nvPr/>
        </p:nvSpPr>
        <p:spPr>
          <a:xfrm xmlns:a="http://schemas.openxmlformats.org/drawingml/2006/main">
            <a:off x="3190875" y="434340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float32: 1 bis 1998 Dimensionen. float16: 1 bis 3996 Dimensionen, Preview im SQL-Server-Pfad.</a:t>
            </a:r>
          </a:p>
        </p:txBody>
      </p:sp>
      <p:sp>
        <p:nvSpPr>
          <p:cNvPr id="8" name="text-7">
            <a:extLst xmlns:a="http://schemas.openxmlformats.org/drawingml/2006/main">
              <a:ext uri="{FF2B5EF4-FFF2-40B4-BE49-F238E27FC236}">
                <a16:creationId xmlns:a16="http://schemas.microsoft.com/office/drawing/2014/main" id="{8F75DF79-44CC-4C35-A096-D8DF89D12193}"/>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vl1pPr>
              <a:defRPr sz="1350" b="0">
                <a:solidFill>
                  <a:srgbClr val="52647A"/>
                </a:solidFill>
                <a:latin typeface="Arial"/>
                <a:ea typeface="Arial"/>
                <a:cs typeface="Arial"/>
              </a:defRPr>
            </a:lvl1pPr>
            <a:lvl2pPr>
              <a:defRPr sz="1350" b="0">
                <a:solidFill>
                  <a:srgbClr val="52647A"/>
                </a:solidFill>
                <a:latin typeface="Arial"/>
                <a:ea typeface="Arial"/>
                <a:cs typeface="Arial"/>
              </a:defRPr>
            </a:lvl2pPr>
            <a:lvl3pPr>
              <a:defRPr sz="1350" b="0">
                <a:solidFill>
                  <a:srgbClr val="52647A"/>
                </a:solidFill>
                <a:latin typeface="Arial"/>
                <a:ea typeface="Arial"/>
                <a:cs typeface="Arial"/>
              </a:defRPr>
            </a:lvl3pPr>
            <a:lvl4pPr>
              <a:defRPr sz="1350" b="0">
                <a:solidFill>
                  <a:srgbClr val="52647A"/>
                </a:solidFill>
                <a:latin typeface="Arial"/>
                <a:ea typeface="Arial"/>
                <a:cs typeface="Arial"/>
              </a:defRPr>
            </a:lvl4pPr>
            <a:lvl5pPr>
              <a:defRPr sz="1350" b="0">
                <a:solidFill>
                  <a:srgbClr val="52647A"/>
                </a:solidFill>
                <a:latin typeface="Arial"/>
                <a:ea typeface="Arial"/>
                <a:cs typeface="Arial"/>
              </a:defRPr>
            </a:lvl5pPr>
            <a:lvl6pPr>
              <a:defRPr sz="1350" b="0">
                <a:solidFill>
                  <a:srgbClr val="52647A"/>
                </a:solidFill>
                <a:latin typeface="Arial"/>
                <a:ea typeface="Arial"/>
                <a:cs typeface="Arial"/>
              </a:defRPr>
            </a:lvl6pPr>
            <a:lvl7pPr>
              <a:defRPr sz="1350" b="0">
                <a:solidFill>
                  <a:srgbClr val="52647A"/>
                </a:solidFill>
                <a:latin typeface="Arial"/>
                <a:ea typeface="Arial"/>
                <a:cs typeface="Arial"/>
              </a:defRPr>
            </a:lvl7pPr>
            <a:lvl8pPr>
              <a:defRPr sz="1350" b="0">
                <a:solidFill>
                  <a:srgbClr val="52647A"/>
                </a:solidFill>
                <a:latin typeface="Arial"/>
                <a:ea typeface="Arial"/>
                <a:cs typeface="Arial"/>
              </a:defRPr>
            </a:lvl8pPr>
            <a:lvl9pPr>
              <a:defRPr sz="1350" b="0">
                <a:solidFill>
                  <a:srgbClr val="52647A"/>
                </a:solidFill>
                <a:latin typeface="Arial"/>
                <a:ea typeface="Arial"/>
                <a:cs typeface="Arial"/>
              </a:defRPr>
            </a:lvl9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34  CUR-013 / CUR-014</a:t>
            </a:r>
          </a:p>
        </p:txBody>
      </p:sp>
    </p:spTree>
    <p:extLst>
      <p:ext uri="{BB962C8B-B14F-4D97-AF65-F5344CB8AC3E}">
        <p14:creationId xmlns:p14="http://schemas.microsoft.com/office/powerpoint/2010/main" val="1292621125"/>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text-0">
            <a:extLst xmlns:a="http://schemas.openxmlformats.org/drawingml/2006/main">
              <a:ext uri="{FF2B5EF4-FFF2-40B4-BE49-F238E27FC236}">
                <a16:creationId xmlns:a16="http://schemas.microsoft.com/office/drawing/2014/main" id="{3E19E18D-9DDE-4489-B3F9-E8268F5EF741}"/>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vl1pPr>
              <a:defRPr sz="3300" b="1">
                <a:solidFill>
                  <a:srgbClr val="15283D"/>
                </a:solidFill>
                <a:latin typeface="Arial"/>
                <a:ea typeface="Arial"/>
                <a:cs typeface="Arial"/>
              </a:defRPr>
            </a:lvl1pPr>
            <a:lvl2pPr>
              <a:defRPr sz="3300" b="1">
                <a:solidFill>
                  <a:srgbClr val="15283D"/>
                </a:solidFill>
                <a:latin typeface="Arial"/>
                <a:ea typeface="Arial"/>
                <a:cs typeface="Arial"/>
              </a:defRPr>
            </a:lvl2pPr>
            <a:lvl3pPr>
              <a:defRPr sz="3300" b="1">
                <a:solidFill>
                  <a:srgbClr val="15283D"/>
                </a:solidFill>
                <a:latin typeface="Arial"/>
                <a:ea typeface="Arial"/>
                <a:cs typeface="Arial"/>
              </a:defRPr>
            </a:lvl3pPr>
            <a:lvl4pPr>
              <a:defRPr sz="3300" b="1">
                <a:solidFill>
                  <a:srgbClr val="15283D"/>
                </a:solidFill>
                <a:latin typeface="Arial"/>
                <a:ea typeface="Arial"/>
                <a:cs typeface="Arial"/>
              </a:defRPr>
            </a:lvl4pPr>
            <a:lvl5pPr>
              <a:defRPr sz="3300" b="1">
                <a:solidFill>
                  <a:srgbClr val="15283D"/>
                </a:solidFill>
                <a:latin typeface="Arial"/>
                <a:ea typeface="Arial"/>
                <a:cs typeface="Arial"/>
              </a:defRPr>
            </a:lvl5pPr>
            <a:lvl6pPr>
              <a:defRPr sz="3300" b="1">
                <a:solidFill>
                  <a:srgbClr val="15283D"/>
                </a:solidFill>
                <a:latin typeface="Arial"/>
                <a:ea typeface="Arial"/>
                <a:cs typeface="Arial"/>
              </a:defRPr>
            </a:lvl6pPr>
            <a:lvl7pPr>
              <a:defRPr sz="3300" b="1">
                <a:solidFill>
                  <a:srgbClr val="15283D"/>
                </a:solidFill>
                <a:latin typeface="Arial"/>
                <a:ea typeface="Arial"/>
                <a:cs typeface="Arial"/>
              </a:defRPr>
            </a:lvl7pPr>
            <a:lvl8pPr>
              <a:defRPr sz="3300" b="1">
                <a:solidFill>
                  <a:srgbClr val="15283D"/>
                </a:solidFill>
                <a:latin typeface="Arial"/>
                <a:ea typeface="Arial"/>
                <a:cs typeface="Arial"/>
              </a:defRPr>
            </a:lvl8pPr>
            <a:lvl9pPr>
              <a:defRPr sz="3300" b="1">
                <a:solidFill>
                  <a:srgbClr val="15283D"/>
                </a:solidFill>
                <a:latin typeface="Arial"/>
                <a:ea typeface="Arial"/>
                <a:cs typeface="Arial"/>
              </a:defRPr>
            </a:lvl9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QRY-014: Typ und Modellraum</a:t>
            </a:r>
          </a:p>
        </p:txBody>
      </p:sp>
      <p:sp>
        <p:nvSpPr>
          <p:cNvPr id="2" name="text-1">
            <a:extLst xmlns:a="http://schemas.openxmlformats.org/drawingml/2006/main">
              <a:ext uri="{FF2B5EF4-FFF2-40B4-BE49-F238E27FC236}">
                <a16:creationId xmlns:a16="http://schemas.microsoft.com/office/drawing/2014/main" id="{3A92F100-929A-4720-ABDB-D0C9646E0A79}"/>
              </a:ext>
            </a:extLst>
          </p:cNvPr>
          <p:cNvSpPr>
            <a:spLocks xmlns:a="http://schemas.openxmlformats.org/drawingml/2006/main" noGrp="1"/>
          </p:cNvSpPr>
          <p:nvPr/>
        </p:nvSpPr>
        <p:spPr>
          <a:xfrm xmlns:a="http://schemas.openxmlformats.org/drawingml/2006/main">
            <a:off x="685800" y="177165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Vorhersage</a:t>
            </a:r>
          </a:p>
        </p:txBody>
      </p:sp>
      <p:sp>
        <p:nvSpPr>
          <p:cNvPr id="3" name="text-2">
            <a:extLst xmlns:a="http://schemas.openxmlformats.org/drawingml/2006/main">
              <a:ext uri="{FF2B5EF4-FFF2-40B4-BE49-F238E27FC236}">
                <a16:creationId xmlns:a16="http://schemas.microsoft.com/office/drawing/2014/main" id="{57F6C3A2-8D6C-47D5-AA0C-0955CAD69410}"/>
              </a:ext>
            </a:extLst>
          </p:cNvPr>
          <p:cNvSpPr>
            <a:spLocks xmlns:a="http://schemas.openxmlformats.org/drawingml/2006/main" noGrp="1"/>
          </p:cNvSpPr>
          <p:nvPr/>
        </p:nvSpPr>
        <p:spPr>
          <a:xfrm xmlns:a="http://schemas.openxmlformats.org/drawingml/2006/main">
            <a:off x="3190875" y="177165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Dürfen GEOMETRY_V1 und GEOMETRY_V2 allein wegen VECTOR(3) gemeinsam gesucht werden?</a:t>
            </a:r>
          </a:p>
        </p:txBody>
      </p:sp>
      <p:sp>
        <p:nvSpPr>
          <p:cNvPr id="4" name="text-3">
            <a:extLst xmlns:a="http://schemas.openxmlformats.org/drawingml/2006/main">
              <a:ext uri="{FF2B5EF4-FFF2-40B4-BE49-F238E27FC236}">
                <a16:creationId xmlns:a16="http://schemas.microsoft.com/office/drawing/2014/main" id="{0B347063-28A3-4F87-B23D-0A9079865BA2}"/>
              </a:ext>
            </a:extLst>
          </p:cNvPr>
          <p:cNvSpPr>
            <a:spLocks xmlns:a="http://schemas.openxmlformats.org/drawingml/2006/main" noGrp="1"/>
          </p:cNvSpPr>
          <p:nvPr/>
        </p:nvSpPr>
        <p:spPr>
          <a:xfrm xmlns:a="http://schemas.openxmlformats.org/drawingml/2006/main">
            <a:off x="685800" y="3057525"/>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Beobachtung</a:t>
            </a:r>
          </a:p>
        </p:txBody>
      </p:sp>
      <p:sp>
        <p:nvSpPr>
          <p:cNvPr id="5" name="text-4">
            <a:extLst xmlns:a="http://schemas.openxmlformats.org/drawingml/2006/main">
              <a:ext uri="{FF2B5EF4-FFF2-40B4-BE49-F238E27FC236}">
                <a16:creationId xmlns:a16="http://schemas.microsoft.com/office/drawing/2014/main" id="{F75DC81B-7B58-488D-9583-6C427E75E34D}"/>
              </a:ext>
            </a:extLst>
          </p:cNvPr>
          <p:cNvSpPr>
            <a:spLocks xmlns:a="http://schemas.openxmlformats.org/drawingml/2006/main" noGrp="1"/>
          </p:cNvSpPr>
          <p:nvPr/>
        </p:nvSpPr>
        <p:spPr>
          <a:xfrm xmlns:a="http://schemas.openxmlformats.org/drawingml/2006/main">
            <a:off x="3190875" y="3057525"/>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Fünf Rows, Dimensionszahl und BaseType lesen. Falsche Dimension und ungültiges JSON unterscheiden.</a:t>
            </a:r>
          </a:p>
        </p:txBody>
      </p:sp>
      <p:sp>
        <p:nvSpPr>
          <p:cNvPr id="6" name="text-5">
            <a:extLst xmlns:a="http://schemas.openxmlformats.org/drawingml/2006/main">
              <a:ext uri="{FF2B5EF4-FFF2-40B4-BE49-F238E27FC236}">
                <a16:creationId xmlns:a16="http://schemas.microsoft.com/office/drawing/2014/main" id="{12A10D27-5FEF-4112-822F-1A4291B241A8}"/>
              </a:ext>
            </a:extLst>
          </p:cNvPr>
          <p:cNvSpPr>
            <a:spLocks xmlns:a="http://schemas.openxmlformats.org/drawingml/2006/main" noGrp="1"/>
          </p:cNvSpPr>
          <p:nvPr/>
        </p:nvSpPr>
        <p:spPr>
          <a:xfrm xmlns:a="http://schemas.openxmlformats.org/drawingml/2006/main">
            <a:off x="685800" y="434340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Erklärung</a:t>
            </a:r>
          </a:p>
        </p:txBody>
      </p:sp>
      <p:sp>
        <p:nvSpPr>
          <p:cNvPr id="7" name="text-6">
            <a:extLst xmlns:a="http://schemas.openxmlformats.org/drawingml/2006/main">
              <a:ext uri="{FF2B5EF4-FFF2-40B4-BE49-F238E27FC236}">
                <a16:creationId xmlns:a16="http://schemas.microsoft.com/office/drawing/2014/main" id="{B65C407E-7ADD-4189-9F8B-B5E7CE4A529A}"/>
              </a:ext>
            </a:extLst>
          </p:cNvPr>
          <p:cNvSpPr>
            <a:spLocks xmlns:a="http://schemas.openxmlformats.org/drawingml/2006/main" noGrp="1"/>
          </p:cNvSpPr>
          <p:nvPr/>
        </p:nvSpPr>
        <p:spPr>
          <a:xfrm xmlns:a="http://schemas.openxmlformats.org/drawingml/2006/main">
            <a:off x="3190875" y="434340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Der SQL-Typ prüft die technische Form. Die Anwendung muss den passenden Modellraum sicherstellen.</a:t>
            </a:r>
          </a:p>
        </p:txBody>
      </p:sp>
      <p:sp>
        <p:nvSpPr>
          <p:cNvPr id="8" name="text-7">
            <a:extLst xmlns:a="http://schemas.openxmlformats.org/drawingml/2006/main">
              <a:ext uri="{FF2B5EF4-FFF2-40B4-BE49-F238E27FC236}">
                <a16:creationId xmlns:a16="http://schemas.microsoft.com/office/drawing/2014/main" id="{D26AF8AA-C10E-47BB-B4B8-D7A68E803948}"/>
              </a:ext>
            </a:extLst>
          </p:cNvPr>
          <p:cNvSpPr>
            <a:spLocks xmlns:a="http://schemas.openxmlformats.org/drawingml/2006/main" noGrp="1"/>
          </p:cNvSpPr>
          <p:nvPr/>
        </p:nvSpPr>
        <p:spPr>
          <a:xfrm xmlns:a="http://schemas.openxmlformats.org/drawingml/2006/main">
            <a:off x="685800" y="5876925"/>
            <a:ext cx="10553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0">
                <a:solidFill>
                  <a:srgbClr val="52647A"/>
                </a:solidFill>
                <a:latin typeface="Arial"/>
                <a:ea typeface="Arial"/>
                <a:cs typeface="Arial"/>
              </a:defRPr>
            </a:defPPr>
            <a:lvl1pPr>
              <a:defRPr sz="1800" b="0">
                <a:solidFill>
                  <a:srgbClr val="52647A"/>
                </a:solidFill>
                <a:latin typeface="Arial"/>
                <a:ea typeface="Arial"/>
                <a:cs typeface="Arial"/>
              </a:defRPr>
            </a:lvl1pPr>
            <a:lvl2pPr>
              <a:defRPr sz="1800" b="0">
                <a:solidFill>
                  <a:srgbClr val="52647A"/>
                </a:solidFill>
                <a:latin typeface="Arial"/>
                <a:ea typeface="Arial"/>
                <a:cs typeface="Arial"/>
              </a:defRPr>
            </a:lvl2pPr>
            <a:lvl3pPr>
              <a:defRPr sz="1800" b="0">
                <a:solidFill>
                  <a:srgbClr val="52647A"/>
                </a:solidFill>
                <a:latin typeface="Arial"/>
                <a:ea typeface="Arial"/>
                <a:cs typeface="Arial"/>
              </a:defRPr>
            </a:lvl3pPr>
            <a:lvl4pPr>
              <a:defRPr sz="1800" b="0">
                <a:solidFill>
                  <a:srgbClr val="52647A"/>
                </a:solidFill>
                <a:latin typeface="Arial"/>
                <a:ea typeface="Arial"/>
                <a:cs typeface="Arial"/>
              </a:defRPr>
            </a:lvl4pPr>
            <a:lvl5pPr>
              <a:defRPr sz="1800" b="0">
                <a:solidFill>
                  <a:srgbClr val="52647A"/>
                </a:solidFill>
                <a:latin typeface="Arial"/>
                <a:ea typeface="Arial"/>
                <a:cs typeface="Arial"/>
              </a:defRPr>
            </a:lvl5pPr>
            <a:lvl6pPr>
              <a:defRPr sz="1800" b="0">
                <a:solidFill>
                  <a:srgbClr val="52647A"/>
                </a:solidFill>
                <a:latin typeface="Arial"/>
                <a:ea typeface="Arial"/>
                <a:cs typeface="Arial"/>
              </a:defRPr>
            </a:lvl6pPr>
            <a:lvl7pPr>
              <a:defRPr sz="1800" b="0">
                <a:solidFill>
                  <a:srgbClr val="52647A"/>
                </a:solidFill>
                <a:latin typeface="Arial"/>
                <a:ea typeface="Arial"/>
                <a:cs typeface="Arial"/>
              </a:defRPr>
            </a:lvl7pPr>
            <a:lvl8pPr>
              <a:defRPr sz="1800" b="0">
                <a:solidFill>
                  <a:srgbClr val="52647A"/>
                </a:solidFill>
                <a:latin typeface="Arial"/>
                <a:ea typeface="Arial"/>
                <a:cs typeface="Arial"/>
              </a:defRPr>
            </a:lvl8pPr>
            <a:lvl9pPr>
              <a:defRPr sz="1800" b="0">
                <a:solidFill>
                  <a:srgbClr val="52647A"/>
                </a:solidFill>
                <a:latin typeface="Arial"/>
                <a:ea typeface="Arial"/>
                <a:cs typeface="Arial"/>
              </a:defRPr>
            </a:lvl9pPr>
          </a:lstStyle>
          <a:p xmlns:a="http://schemas.openxmlformats.org/drawingml/2006/main">
            <a:pPr>
              <a:defRPr sz="1800" b="0">
                <a:solidFill>
                  <a:srgbClr val="52647A"/>
                </a:solidFill>
                <a:latin typeface="Arial"/>
                <a:ea typeface="Arial"/>
                <a:cs typeface="Arial"/>
              </a:defRPr>
            </a:pPr>
            <a:r>
              <a:rPr sz="1800" b="0">
                <a:solidFill>
                  <a:srgbClr val="52647A"/>
                </a:solidFill>
                <a:latin typeface="Arial"/>
                <a:ea typeface="Arial"/>
                <a:cs typeface="Arial"/>
              </a:rPr>
              <a:t>IMPLEMENTED. Offline, GREEN, eine Session, Engine 17.x und CL 170.</a:t>
            </a:r>
          </a:p>
        </p:txBody>
      </p:sp>
      <p:sp>
        <p:nvSpPr>
          <p:cNvPr id="9" name="text-8">
            <a:extLst xmlns:a="http://schemas.openxmlformats.org/drawingml/2006/main">
              <a:ext uri="{FF2B5EF4-FFF2-40B4-BE49-F238E27FC236}">
                <a16:creationId xmlns:a16="http://schemas.microsoft.com/office/drawing/2014/main" id="{811704AD-ABBE-4AE0-BDF4-FCE41D15BAE7}"/>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vl1pPr>
              <a:defRPr sz="1350" b="0">
                <a:solidFill>
                  <a:srgbClr val="52647A"/>
                </a:solidFill>
                <a:latin typeface="Arial"/>
                <a:ea typeface="Arial"/>
                <a:cs typeface="Arial"/>
              </a:defRPr>
            </a:lvl1pPr>
            <a:lvl2pPr>
              <a:defRPr sz="1350" b="0">
                <a:solidFill>
                  <a:srgbClr val="52647A"/>
                </a:solidFill>
                <a:latin typeface="Arial"/>
                <a:ea typeface="Arial"/>
                <a:cs typeface="Arial"/>
              </a:defRPr>
            </a:lvl2pPr>
            <a:lvl3pPr>
              <a:defRPr sz="1350" b="0">
                <a:solidFill>
                  <a:srgbClr val="52647A"/>
                </a:solidFill>
                <a:latin typeface="Arial"/>
                <a:ea typeface="Arial"/>
                <a:cs typeface="Arial"/>
              </a:defRPr>
            </a:lvl3pPr>
            <a:lvl4pPr>
              <a:defRPr sz="1350" b="0">
                <a:solidFill>
                  <a:srgbClr val="52647A"/>
                </a:solidFill>
                <a:latin typeface="Arial"/>
                <a:ea typeface="Arial"/>
                <a:cs typeface="Arial"/>
              </a:defRPr>
            </a:lvl4pPr>
            <a:lvl5pPr>
              <a:defRPr sz="1350" b="0">
                <a:solidFill>
                  <a:srgbClr val="52647A"/>
                </a:solidFill>
                <a:latin typeface="Arial"/>
                <a:ea typeface="Arial"/>
                <a:cs typeface="Arial"/>
              </a:defRPr>
            </a:lvl5pPr>
            <a:lvl6pPr>
              <a:defRPr sz="1350" b="0">
                <a:solidFill>
                  <a:srgbClr val="52647A"/>
                </a:solidFill>
                <a:latin typeface="Arial"/>
                <a:ea typeface="Arial"/>
                <a:cs typeface="Arial"/>
              </a:defRPr>
            </a:lvl6pPr>
            <a:lvl7pPr>
              <a:defRPr sz="1350" b="0">
                <a:solidFill>
                  <a:srgbClr val="52647A"/>
                </a:solidFill>
                <a:latin typeface="Arial"/>
                <a:ea typeface="Arial"/>
                <a:cs typeface="Arial"/>
              </a:defRPr>
            </a:lvl7pPr>
            <a:lvl8pPr>
              <a:defRPr sz="1350" b="0">
                <a:solidFill>
                  <a:srgbClr val="52647A"/>
                </a:solidFill>
                <a:latin typeface="Arial"/>
                <a:ea typeface="Arial"/>
                <a:cs typeface="Arial"/>
              </a:defRPr>
            </a:lvl8pPr>
            <a:lvl9pPr>
              <a:defRPr sz="1350" b="0">
                <a:solidFill>
                  <a:srgbClr val="52647A"/>
                </a:solidFill>
                <a:latin typeface="Arial"/>
                <a:ea typeface="Arial"/>
                <a:cs typeface="Arial"/>
              </a:defRPr>
            </a:lvl9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35  CUR-014</a:t>
            </a:r>
          </a:p>
        </p:txBody>
      </p:sp>
    </p:spTree>
    <p:extLst>
      <p:ext uri="{BB962C8B-B14F-4D97-AF65-F5344CB8AC3E}">
        <p14:creationId xmlns:p14="http://schemas.microsoft.com/office/powerpoint/2010/main" val="840474853"/>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text-0">
            <a:extLst xmlns:a="http://schemas.openxmlformats.org/drawingml/2006/main">
              <a:ext uri="{FF2B5EF4-FFF2-40B4-BE49-F238E27FC236}">
                <a16:creationId xmlns:a16="http://schemas.microsoft.com/office/drawing/2014/main" id="{1F67EE80-DAFA-4B8C-8789-F0CE4D50D426}"/>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vl1pPr>
              <a:defRPr sz="3300" b="1">
                <a:solidFill>
                  <a:srgbClr val="15283D"/>
                </a:solidFill>
                <a:latin typeface="Arial"/>
                <a:ea typeface="Arial"/>
                <a:cs typeface="Arial"/>
              </a:defRPr>
            </a:lvl1pPr>
            <a:lvl2pPr>
              <a:defRPr sz="3300" b="1">
                <a:solidFill>
                  <a:srgbClr val="15283D"/>
                </a:solidFill>
                <a:latin typeface="Arial"/>
                <a:ea typeface="Arial"/>
                <a:cs typeface="Arial"/>
              </a:defRPr>
            </a:lvl2pPr>
            <a:lvl3pPr>
              <a:defRPr sz="3300" b="1">
                <a:solidFill>
                  <a:srgbClr val="15283D"/>
                </a:solidFill>
                <a:latin typeface="Arial"/>
                <a:ea typeface="Arial"/>
                <a:cs typeface="Arial"/>
              </a:defRPr>
            </a:lvl3pPr>
            <a:lvl4pPr>
              <a:defRPr sz="3300" b="1">
                <a:solidFill>
                  <a:srgbClr val="15283D"/>
                </a:solidFill>
                <a:latin typeface="Arial"/>
                <a:ea typeface="Arial"/>
                <a:cs typeface="Arial"/>
              </a:defRPr>
            </a:lvl4pPr>
            <a:lvl5pPr>
              <a:defRPr sz="3300" b="1">
                <a:solidFill>
                  <a:srgbClr val="15283D"/>
                </a:solidFill>
                <a:latin typeface="Arial"/>
                <a:ea typeface="Arial"/>
                <a:cs typeface="Arial"/>
              </a:defRPr>
            </a:lvl5pPr>
            <a:lvl6pPr>
              <a:defRPr sz="3300" b="1">
                <a:solidFill>
                  <a:srgbClr val="15283D"/>
                </a:solidFill>
                <a:latin typeface="Arial"/>
                <a:ea typeface="Arial"/>
                <a:cs typeface="Arial"/>
              </a:defRPr>
            </a:lvl6pPr>
            <a:lvl7pPr>
              <a:defRPr sz="3300" b="1">
                <a:solidFill>
                  <a:srgbClr val="15283D"/>
                </a:solidFill>
                <a:latin typeface="Arial"/>
                <a:ea typeface="Arial"/>
                <a:cs typeface="Arial"/>
              </a:defRPr>
            </a:lvl7pPr>
            <a:lvl8pPr>
              <a:defRPr sz="3300" b="1">
                <a:solidFill>
                  <a:srgbClr val="15283D"/>
                </a:solidFill>
                <a:latin typeface="Arial"/>
                <a:ea typeface="Arial"/>
                <a:cs typeface="Arial"/>
              </a:defRPr>
            </a:lvl8pPr>
            <a:lvl9pPr>
              <a:defRPr sz="3300" b="1">
                <a:solidFill>
                  <a:srgbClr val="15283D"/>
                </a:solidFill>
                <a:latin typeface="Arial"/>
                <a:ea typeface="Arial"/>
                <a:cs typeface="Arial"/>
              </a:defRPr>
            </a:lvl9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Distanz, Norm und Normalisierung</a:t>
            </a:r>
          </a:p>
        </p:txBody>
      </p:sp>
      <p:graphicFrame>
        <p:nvGraphicFramePr>
          <p:cNvPr id="2" name="">
            <a:extLst xmlns:a="http://schemas.openxmlformats.org/drawingml/2006/main">
              <a:ext uri="{FF2B5EF4-FFF2-40B4-BE49-F238E27FC236}">
                <a16:creationId xmlns:a16="http://schemas.microsoft.com/office/drawing/2014/main" id="{497A465B-6714-46B7-90E8-3F57C8A92146}"/>
              </a:ext>
            </a:extLst>
          </p:cNvPr>
          <p:cNvGraphicFramePr/>
          <p:nvPr/>
        </p:nvGraphicFramePr>
        <p:xfrm>
          <a:off xmlns:a="http://schemas.openxmlformats.org/drawingml/2006/main" x="685800" y="1771650"/>
          <a:ext xmlns:a="http://schemas.openxmlformats.org/drawingml/2006/main" cx="10668000" cy="4000500"/>
        </p:xfrm>
        <a:graphic xmlns:a="http://schemas.openxmlformats.org/drawingml/2006/main">
          <a:graphicData uri="http://schemas.openxmlformats.org/drawingml/2006/table">
            <a:tbl>
              <a:tblPr/>
              <a:tblGrid>
                <a:gridCol w="2952750"/>
                <a:gridCol w="4572000"/>
                <a:gridCol w="3143250"/>
              </a:tblGrid>
              <a:tr h="800100">
                <a:tc>
                  <a:txBody>
                    <a:bodyPr/>
                    <a:lstStyle/>
                    <a:p>
                      <a:r>
                        <a:rPr sz="1800" b="1">
                          <a:solidFill>
                            <a:srgbClr val="15283D"/>
                          </a:solidFill>
                          <a:latin typeface="Arial"/>
                          <a:ea typeface="Arial"/>
                          <a:cs typeface="Arial"/>
                        </a:rPr>
                        <a:t>Größe</a:t>
                      </a:r>
                    </a:p>
                  </a:txBody>
                  <a:tcPr marL="114300" marR="114300" marT="47625" marB="47625" anchor="ctr">
                    <a:lnL w="9525">
                      <a:solidFill>
                        <a:srgbClr val="C8D5DE"/>
                      </a:solidFill>
                      <a:prstDash val="solid"/>
                    </a:lnL>
                    <a:lnR w="9525">
                      <a:solidFill>
                        <a:srgbClr val="C8D5DE"/>
                      </a:solidFill>
                      <a:prstDash val="solid"/>
                    </a:lnR>
                    <a:lnT w="9525">
                      <a:solidFill>
                        <a:srgbClr val="C8D5DE"/>
                      </a:solidFill>
                      <a:prstDash val="solid"/>
                    </a:lnT>
                    <a:lnB w="9525">
                      <a:solidFill>
                        <a:srgbClr val="C8D5DE"/>
                      </a:solidFill>
                      <a:prstDash val="solid"/>
                    </a:lnB>
                    <a:solidFill>
                      <a:srgbClr val="E8F2F2"/>
                    </a:solidFill>
                  </a:tcPr>
                </a:tc>
                <a:tc>
                  <a:txBody>
                    <a:bodyPr/>
                    <a:lstStyle/>
                    <a:p>
                      <a:r>
                        <a:rPr sz="1800" b="1">
                          <a:solidFill>
                            <a:srgbClr val="15283D"/>
                          </a:solidFill>
                          <a:latin typeface="Arial"/>
                          <a:ea typeface="Arial"/>
                          <a:cs typeface="Arial"/>
                        </a:rPr>
                        <a:t>Bedeutung</a:t>
                      </a:r>
                    </a:p>
                  </a:txBody>
                  <a:tcPr marL="114300" marR="114300" marT="47625" marB="47625" anchor="ctr">
                    <a:lnR w="9525">
                      <a:solidFill>
                        <a:srgbClr val="C8D5DE"/>
                      </a:solidFill>
                      <a:prstDash val="solid"/>
                    </a:lnR>
                    <a:lnT w="9525">
                      <a:solidFill>
                        <a:srgbClr val="C8D5DE"/>
                      </a:solidFill>
                      <a:prstDash val="solid"/>
                    </a:lnT>
                    <a:lnB w="9525">
                      <a:solidFill>
                        <a:srgbClr val="C8D5DE"/>
                      </a:solidFill>
                      <a:prstDash val="solid"/>
                    </a:lnB>
                    <a:solidFill>
                      <a:srgbClr val="E8F2F2"/>
                    </a:solidFill>
                  </a:tcPr>
                </a:tc>
                <a:tc>
                  <a:txBody>
                    <a:bodyPr/>
                    <a:lstStyle/>
                    <a:p>
                      <a:r>
                        <a:rPr sz="1800" b="1">
                          <a:solidFill>
                            <a:srgbClr val="15283D"/>
                          </a:solidFill>
                          <a:latin typeface="Arial"/>
                          <a:ea typeface="Arial"/>
                          <a:cs typeface="Arial"/>
                        </a:rPr>
                        <a:t>Beispiel [3,4,0]</a:t>
                      </a:r>
                    </a:p>
                  </a:txBody>
                  <a:tcPr marL="114300" marR="114300" marT="47625" marB="47625" anchor="ctr">
                    <a:lnR w="9525">
                      <a:solidFill>
                        <a:srgbClr val="C8D5DE"/>
                      </a:solidFill>
                      <a:prstDash val="solid"/>
                    </a:lnR>
                    <a:lnT w="9525">
                      <a:solidFill>
                        <a:srgbClr val="C8D5DE"/>
                      </a:solidFill>
                      <a:prstDash val="solid"/>
                    </a:lnT>
                    <a:lnB w="9525">
                      <a:solidFill>
                        <a:srgbClr val="C8D5DE"/>
                      </a:solidFill>
                      <a:prstDash val="solid"/>
                    </a:lnB>
                    <a:solidFill>
                      <a:srgbClr val="E8F2F2"/>
                    </a:solidFill>
                  </a:tcPr>
                </a:tc>
              </a:tr>
              <a:tr h="800100">
                <a:tc>
                  <a:txBody>
                    <a:bodyPr/>
                    <a:lstStyle/>
                    <a:p>
                      <a:r>
                        <a:rPr sz="1800" b="0">
                          <a:solidFill>
                            <a:srgbClr val="15283D"/>
                          </a:solidFill>
                          <a:latin typeface="Arial"/>
                          <a:ea typeface="Arial"/>
                          <a:cs typeface="Arial"/>
                        </a:rPr>
                        <a:t>Euclidean-Distanz</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Abstand zweier Punkte</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Selbstdistanz 0</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r h="800100">
                <a:tc>
                  <a:txBody>
                    <a:bodyPr/>
                    <a:lstStyle/>
                    <a:p>
                      <a:r>
                        <a:rPr sz="1800" b="0">
                          <a:solidFill>
                            <a:srgbClr val="15283D"/>
                          </a:solidFill>
                          <a:latin typeface="Arial"/>
                          <a:ea typeface="Arial"/>
                          <a:cs typeface="Arial"/>
                        </a:rPr>
                        <a:t>Cosine-Distanz</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Richtung relativ zur Norm</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Selbstdistanz 0 für diesen Nichtnullvektor</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r h="800100">
                <a:tc>
                  <a:txBody>
                    <a:bodyPr/>
                    <a:lstStyle/>
                    <a:p>
                      <a:r>
                        <a:rPr sz="1800" b="0">
                          <a:solidFill>
                            <a:srgbClr val="15283D"/>
                          </a:solidFill>
                          <a:latin typeface="Arial"/>
                          <a:ea typeface="Arial"/>
                          <a:cs typeface="Arial"/>
                        </a:rPr>
                        <a:t>Negatives Dot Product</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Richtung und Magnitude</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Self-Dot-Distanz −25</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r h="800100">
                <a:tc>
                  <a:txBody>
                    <a:bodyPr/>
                    <a:lstStyle/>
                    <a:p>
                      <a:r>
                        <a:rPr sz="1800" b="0">
                          <a:solidFill>
                            <a:srgbClr val="15283D"/>
                          </a:solidFill>
                          <a:latin typeface="Arial"/>
                          <a:ea typeface="Arial"/>
                          <a:cs typeface="Arial"/>
                        </a:rPr>
                        <a:t>norm1 / norm2 / norminf</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Summe / Länge / größter Betrag</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7 / 5 / 4</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bl>
          </a:graphicData>
        </a:graphic>
      </p:graphicFrame>
      <p:sp>
        <p:nvSpPr>
          <p:cNvPr id="3" name="text-1">
            <a:extLst xmlns:a="http://schemas.openxmlformats.org/drawingml/2006/main">
              <a:ext uri="{FF2B5EF4-FFF2-40B4-BE49-F238E27FC236}">
                <a16:creationId xmlns:a16="http://schemas.microsoft.com/office/drawing/2014/main" id="{08D0A30F-684E-4EC0-86C1-04F26272CD19}"/>
              </a:ext>
            </a:extLst>
          </p:cNvPr>
          <p:cNvSpPr>
            <a:spLocks xmlns:a="http://schemas.openxmlformats.org/drawingml/2006/main" noGrp="1"/>
          </p:cNvSpPr>
          <p:nvPr/>
        </p:nvSpPr>
        <p:spPr>
          <a:xfrm xmlns:a="http://schemas.openxmlformats.org/drawingml/2006/main">
            <a:off x="685800" y="5876925"/>
            <a:ext cx="10553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0">
                <a:solidFill>
                  <a:srgbClr val="52647A"/>
                </a:solidFill>
                <a:latin typeface="Arial"/>
                <a:ea typeface="Arial"/>
                <a:cs typeface="Arial"/>
              </a:defRPr>
            </a:defPPr>
            <a:lvl1pPr>
              <a:defRPr sz="1800" b="0">
                <a:solidFill>
                  <a:srgbClr val="52647A"/>
                </a:solidFill>
                <a:latin typeface="Arial"/>
                <a:ea typeface="Arial"/>
                <a:cs typeface="Arial"/>
              </a:defRPr>
            </a:lvl1pPr>
            <a:lvl2pPr>
              <a:defRPr sz="1800" b="0">
                <a:solidFill>
                  <a:srgbClr val="52647A"/>
                </a:solidFill>
                <a:latin typeface="Arial"/>
                <a:ea typeface="Arial"/>
                <a:cs typeface="Arial"/>
              </a:defRPr>
            </a:lvl2pPr>
            <a:lvl3pPr>
              <a:defRPr sz="1800" b="0">
                <a:solidFill>
                  <a:srgbClr val="52647A"/>
                </a:solidFill>
                <a:latin typeface="Arial"/>
                <a:ea typeface="Arial"/>
                <a:cs typeface="Arial"/>
              </a:defRPr>
            </a:lvl3pPr>
            <a:lvl4pPr>
              <a:defRPr sz="1800" b="0">
                <a:solidFill>
                  <a:srgbClr val="52647A"/>
                </a:solidFill>
                <a:latin typeface="Arial"/>
                <a:ea typeface="Arial"/>
                <a:cs typeface="Arial"/>
              </a:defRPr>
            </a:lvl4pPr>
            <a:lvl5pPr>
              <a:defRPr sz="1800" b="0">
                <a:solidFill>
                  <a:srgbClr val="52647A"/>
                </a:solidFill>
                <a:latin typeface="Arial"/>
                <a:ea typeface="Arial"/>
                <a:cs typeface="Arial"/>
              </a:defRPr>
            </a:lvl5pPr>
            <a:lvl6pPr>
              <a:defRPr sz="1800" b="0">
                <a:solidFill>
                  <a:srgbClr val="52647A"/>
                </a:solidFill>
                <a:latin typeface="Arial"/>
                <a:ea typeface="Arial"/>
                <a:cs typeface="Arial"/>
              </a:defRPr>
            </a:lvl6pPr>
            <a:lvl7pPr>
              <a:defRPr sz="1800" b="0">
                <a:solidFill>
                  <a:srgbClr val="52647A"/>
                </a:solidFill>
                <a:latin typeface="Arial"/>
                <a:ea typeface="Arial"/>
                <a:cs typeface="Arial"/>
              </a:defRPr>
            </a:lvl7pPr>
            <a:lvl8pPr>
              <a:defRPr sz="1800" b="0">
                <a:solidFill>
                  <a:srgbClr val="52647A"/>
                </a:solidFill>
                <a:latin typeface="Arial"/>
                <a:ea typeface="Arial"/>
                <a:cs typeface="Arial"/>
              </a:defRPr>
            </a:lvl8pPr>
            <a:lvl9pPr>
              <a:defRPr sz="1800" b="0">
                <a:solidFill>
                  <a:srgbClr val="52647A"/>
                </a:solidFill>
                <a:latin typeface="Arial"/>
                <a:ea typeface="Arial"/>
                <a:cs typeface="Arial"/>
              </a:defRPr>
            </a:lvl9pPr>
          </a:lstStyle>
          <a:p xmlns:a="http://schemas.openxmlformats.org/drawingml/2006/main">
            <a:pPr>
              <a:defRPr sz="1800" b="0">
                <a:solidFill>
                  <a:srgbClr val="52647A"/>
                </a:solidFill>
                <a:latin typeface="Arial"/>
                <a:ea typeface="Arial"/>
                <a:cs typeface="Arial"/>
              </a:defRPr>
            </a:pPr>
            <a:r>
              <a:rPr sz="1800" b="0">
                <a:solidFill>
                  <a:srgbClr val="52647A"/>
                </a:solidFill>
                <a:latin typeface="Arial"/>
                <a:ea typeface="Arial"/>
                <a:cs typeface="Arial"/>
              </a:rPr>
              <a:t>Kleinere Distanz bedeutet Nähe im gewählten Raum. Sie ist keine Antwortwahrscheinlichkeit.</a:t>
            </a:r>
          </a:p>
        </p:txBody>
      </p:sp>
      <p:sp>
        <p:nvSpPr>
          <p:cNvPr id="4" name="text-2">
            <a:extLst xmlns:a="http://schemas.openxmlformats.org/drawingml/2006/main">
              <a:ext uri="{FF2B5EF4-FFF2-40B4-BE49-F238E27FC236}">
                <a16:creationId xmlns:a16="http://schemas.microsoft.com/office/drawing/2014/main" id="{2627F28B-E2C9-4383-B5E5-096F15D553CF}"/>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vl1pPr>
              <a:defRPr sz="1350" b="0">
                <a:solidFill>
                  <a:srgbClr val="52647A"/>
                </a:solidFill>
                <a:latin typeface="Arial"/>
                <a:ea typeface="Arial"/>
                <a:cs typeface="Arial"/>
              </a:defRPr>
            </a:lvl1pPr>
            <a:lvl2pPr>
              <a:defRPr sz="1350" b="0">
                <a:solidFill>
                  <a:srgbClr val="52647A"/>
                </a:solidFill>
                <a:latin typeface="Arial"/>
                <a:ea typeface="Arial"/>
                <a:cs typeface="Arial"/>
              </a:defRPr>
            </a:lvl2pPr>
            <a:lvl3pPr>
              <a:defRPr sz="1350" b="0">
                <a:solidFill>
                  <a:srgbClr val="52647A"/>
                </a:solidFill>
                <a:latin typeface="Arial"/>
                <a:ea typeface="Arial"/>
                <a:cs typeface="Arial"/>
              </a:defRPr>
            </a:lvl3pPr>
            <a:lvl4pPr>
              <a:defRPr sz="1350" b="0">
                <a:solidFill>
                  <a:srgbClr val="52647A"/>
                </a:solidFill>
                <a:latin typeface="Arial"/>
                <a:ea typeface="Arial"/>
                <a:cs typeface="Arial"/>
              </a:defRPr>
            </a:lvl4pPr>
            <a:lvl5pPr>
              <a:defRPr sz="1350" b="0">
                <a:solidFill>
                  <a:srgbClr val="52647A"/>
                </a:solidFill>
                <a:latin typeface="Arial"/>
                <a:ea typeface="Arial"/>
                <a:cs typeface="Arial"/>
              </a:defRPr>
            </a:lvl5pPr>
            <a:lvl6pPr>
              <a:defRPr sz="1350" b="0">
                <a:solidFill>
                  <a:srgbClr val="52647A"/>
                </a:solidFill>
                <a:latin typeface="Arial"/>
                <a:ea typeface="Arial"/>
                <a:cs typeface="Arial"/>
              </a:defRPr>
            </a:lvl6pPr>
            <a:lvl7pPr>
              <a:defRPr sz="1350" b="0">
                <a:solidFill>
                  <a:srgbClr val="52647A"/>
                </a:solidFill>
                <a:latin typeface="Arial"/>
                <a:ea typeface="Arial"/>
                <a:cs typeface="Arial"/>
              </a:defRPr>
            </a:lvl7pPr>
            <a:lvl8pPr>
              <a:defRPr sz="1350" b="0">
                <a:solidFill>
                  <a:srgbClr val="52647A"/>
                </a:solidFill>
                <a:latin typeface="Arial"/>
                <a:ea typeface="Arial"/>
                <a:cs typeface="Arial"/>
              </a:defRPr>
            </a:lvl8pPr>
            <a:lvl9pPr>
              <a:defRPr sz="1350" b="0">
                <a:solidFill>
                  <a:srgbClr val="52647A"/>
                </a:solidFill>
                <a:latin typeface="Arial"/>
                <a:ea typeface="Arial"/>
                <a:cs typeface="Arial"/>
              </a:defRPr>
            </a:lvl9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36  CUR-014</a:t>
            </a:r>
          </a:p>
        </p:txBody>
      </p:sp>
    </p:spTree>
    <p:extLst>
      <p:ext uri="{BB962C8B-B14F-4D97-AF65-F5344CB8AC3E}">
        <p14:creationId xmlns:p14="http://schemas.microsoft.com/office/powerpoint/2010/main" val="977246345"/>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text-0">
            <a:extLst xmlns:a="http://schemas.openxmlformats.org/drawingml/2006/main">
              <a:ext uri="{FF2B5EF4-FFF2-40B4-BE49-F238E27FC236}">
                <a16:creationId xmlns:a16="http://schemas.microsoft.com/office/drawing/2014/main" id="{1B48D658-FD39-4F81-AE73-B24635D66CC8}"/>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vl1pPr>
              <a:defRPr sz="3300" b="1">
                <a:solidFill>
                  <a:srgbClr val="15283D"/>
                </a:solidFill>
                <a:latin typeface="Arial"/>
                <a:ea typeface="Arial"/>
                <a:cs typeface="Arial"/>
              </a:defRPr>
            </a:lvl1pPr>
            <a:lvl2pPr>
              <a:defRPr sz="3300" b="1">
                <a:solidFill>
                  <a:srgbClr val="15283D"/>
                </a:solidFill>
                <a:latin typeface="Arial"/>
                <a:ea typeface="Arial"/>
                <a:cs typeface="Arial"/>
              </a:defRPr>
            </a:lvl2pPr>
            <a:lvl3pPr>
              <a:defRPr sz="3300" b="1">
                <a:solidFill>
                  <a:srgbClr val="15283D"/>
                </a:solidFill>
                <a:latin typeface="Arial"/>
                <a:ea typeface="Arial"/>
                <a:cs typeface="Arial"/>
              </a:defRPr>
            </a:lvl3pPr>
            <a:lvl4pPr>
              <a:defRPr sz="3300" b="1">
                <a:solidFill>
                  <a:srgbClr val="15283D"/>
                </a:solidFill>
                <a:latin typeface="Arial"/>
                <a:ea typeface="Arial"/>
                <a:cs typeface="Arial"/>
              </a:defRPr>
            </a:lvl4pPr>
            <a:lvl5pPr>
              <a:defRPr sz="3300" b="1">
                <a:solidFill>
                  <a:srgbClr val="15283D"/>
                </a:solidFill>
                <a:latin typeface="Arial"/>
                <a:ea typeface="Arial"/>
                <a:cs typeface="Arial"/>
              </a:defRPr>
            </a:lvl5pPr>
            <a:lvl6pPr>
              <a:defRPr sz="3300" b="1">
                <a:solidFill>
                  <a:srgbClr val="15283D"/>
                </a:solidFill>
                <a:latin typeface="Arial"/>
                <a:ea typeface="Arial"/>
                <a:cs typeface="Arial"/>
              </a:defRPr>
            </a:lvl6pPr>
            <a:lvl7pPr>
              <a:defRPr sz="3300" b="1">
                <a:solidFill>
                  <a:srgbClr val="15283D"/>
                </a:solidFill>
                <a:latin typeface="Arial"/>
                <a:ea typeface="Arial"/>
                <a:cs typeface="Arial"/>
              </a:defRPr>
            </a:lvl7pPr>
            <a:lvl8pPr>
              <a:defRPr sz="3300" b="1">
                <a:solidFill>
                  <a:srgbClr val="15283D"/>
                </a:solidFill>
                <a:latin typeface="Arial"/>
                <a:ea typeface="Arial"/>
                <a:cs typeface="Arial"/>
              </a:defRPr>
            </a:lvl8pPr>
            <a:lvl9pPr>
              <a:defRPr sz="3300" b="1">
                <a:solidFill>
                  <a:srgbClr val="15283D"/>
                </a:solidFill>
                <a:latin typeface="Arial"/>
                <a:ea typeface="Arial"/>
                <a:cs typeface="Arial"/>
              </a:defRPr>
            </a:lvl9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QRY-015: Rangfolge vor und nach Normalisierung</a:t>
            </a:r>
          </a:p>
        </p:txBody>
      </p:sp>
      <p:sp>
        <p:nvSpPr>
          <p:cNvPr id="2" name="text-1">
            <a:extLst xmlns:a="http://schemas.openxmlformats.org/drawingml/2006/main">
              <a:ext uri="{FF2B5EF4-FFF2-40B4-BE49-F238E27FC236}">
                <a16:creationId xmlns:a16="http://schemas.microsoft.com/office/drawing/2014/main" id="{FBD31E27-56E2-4EB5-84D1-055E54324C18}"/>
              </a:ext>
            </a:extLst>
          </p:cNvPr>
          <p:cNvSpPr>
            <a:spLocks xmlns:a="http://schemas.openxmlformats.org/drawingml/2006/main" noGrp="1"/>
          </p:cNvSpPr>
          <p:nvPr/>
        </p:nvSpPr>
        <p:spPr>
          <a:xfrm xmlns:a="http://schemas.openxmlformats.org/drawingml/2006/main">
            <a:off x="685800" y="1771650"/>
            <a:ext cx="1082040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0">
                <a:solidFill>
                  <a:srgbClr val="007A83"/>
                </a:solidFill>
                <a:latin typeface="Arial"/>
                <a:ea typeface="Arial"/>
                <a:cs typeface="Arial"/>
              </a:defRPr>
            </a:defPPr>
            <a:lvl1pPr>
              <a:defRPr sz="2100" b="0">
                <a:solidFill>
                  <a:srgbClr val="007A83"/>
                </a:solidFill>
                <a:latin typeface="Arial"/>
                <a:ea typeface="Arial"/>
                <a:cs typeface="Arial"/>
              </a:defRPr>
            </a:lvl1pPr>
            <a:lvl2pPr>
              <a:defRPr sz="2100" b="0">
                <a:solidFill>
                  <a:srgbClr val="007A83"/>
                </a:solidFill>
                <a:latin typeface="Arial"/>
                <a:ea typeface="Arial"/>
                <a:cs typeface="Arial"/>
              </a:defRPr>
            </a:lvl2pPr>
            <a:lvl3pPr>
              <a:defRPr sz="2100" b="0">
                <a:solidFill>
                  <a:srgbClr val="007A83"/>
                </a:solidFill>
                <a:latin typeface="Arial"/>
                <a:ea typeface="Arial"/>
                <a:cs typeface="Arial"/>
              </a:defRPr>
            </a:lvl3pPr>
            <a:lvl4pPr>
              <a:defRPr sz="2100" b="0">
                <a:solidFill>
                  <a:srgbClr val="007A83"/>
                </a:solidFill>
                <a:latin typeface="Arial"/>
                <a:ea typeface="Arial"/>
                <a:cs typeface="Arial"/>
              </a:defRPr>
            </a:lvl4pPr>
            <a:lvl5pPr>
              <a:defRPr sz="2100" b="0">
                <a:solidFill>
                  <a:srgbClr val="007A83"/>
                </a:solidFill>
                <a:latin typeface="Arial"/>
                <a:ea typeface="Arial"/>
                <a:cs typeface="Arial"/>
              </a:defRPr>
            </a:lvl5pPr>
            <a:lvl6pPr>
              <a:defRPr sz="2100" b="0">
                <a:solidFill>
                  <a:srgbClr val="007A83"/>
                </a:solidFill>
                <a:latin typeface="Arial"/>
                <a:ea typeface="Arial"/>
                <a:cs typeface="Arial"/>
              </a:defRPr>
            </a:lvl6pPr>
            <a:lvl7pPr>
              <a:defRPr sz="2100" b="0">
                <a:solidFill>
                  <a:srgbClr val="007A83"/>
                </a:solidFill>
                <a:latin typeface="Arial"/>
                <a:ea typeface="Arial"/>
                <a:cs typeface="Arial"/>
              </a:defRPr>
            </a:lvl7pPr>
            <a:lvl8pPr>
              <a:defRPr sz="2100" b="0">
                <a:solidFill>
                  <a:srgbClr val="007A83"/>
                </a:solidFill>
                <a:latin typeface="Arial"/>
                <a:ea typeface="Arial"/>
                <a:cs typeface="Arial"/>
              </a:defRPr>
            </a:lvl8pPr>
            <a:lvl9pPr>
              <a:defRPr sz="2100" b="0">
                <a:solidFill>
                  <a:srgbClr val="007A83"/>
                </a:solidFill>
                <a:latin typeface="Arial"/>
                <a:ea typeface="Arial"/>
                <a:cs typeface="Arial"/>
              </a:defRPr>
            </a:lvl9pPr>
          </a:lstStyle>
          <a:p xmlns:a="http://schemas.openxmlformats.org/drawingml/2006/main">
            <a:pPr>
              <a:defRPr sz="2100" b="0">
                <a:solidFill>
                  <a:srgbClr val="007A83"/>
                </a:solidFill>
                <a:latin typeface="Arial"/>
                <a:ea typeface="Arial"/>
                <a:cs typeface="Arial"/>
              </a:defRPr>
            </a:pPr>
            <a:r>
              <a:rPr sz="2100" b="0">
                <a:solidFill>
                  <a:srgbClr val="007A83"/>
                </a:solidFill>
                <a:latin typeface="Arial"/>
                <a:ea typeface="Arial"/>
                <a:cs typeface="Arial"/>
              </a:rPr>
              <a:t>DECLARE @q VECTOR(3) = '[1,0,0]';</a:t>
            </a:r>
          </a:p>
          <a:p xmlns:a="http://schemas.openxmlformats.org/drawingml/2006/main">
            <a:pPr>
              <a:defRPr sz="2100" b="0">
                <a:solidFill>
                  <a:srgbClr val="007A83"/>
                </a:solidFill>
                <a:latin typeface="Arial"/>
                <a:ea typeface="Arial"/>
                <a:cs typeface="Arial"/>
              </a:defRPr>
            </a:pPr>
            <a:r>
              <a:rPr sz="2100" b="0">
                <a:solidFill>
                  <a:srgbClr val="007A83"/>
                </a:solidFill>
                <a:latin typeface="Arial"/>
                <a:ea typeface="Arial"/>
                <a:cs typeface="Arial"/>
              </a:rPr>
              <a:t>SELECT Id, VECTOR_DISTANCE('dot', V, @q) AS Distance</a:t>
            </a:r>
          </a:p>
          <a:p xmlns:a="http://schemas.openxmlformats.org/drawingml/2006/main">
            <a:pPr>
              <a:defRPr sz="2100" b="0">
                <a:solidFill>
                  <a:srgbClr val="007A83"/>
                </a:solidFill>
                <a:latin typeface="Arial"/>
                <a:ea typeface="Arial"/>
                <a:cs typeface="Arial"/>
              </a:defRPr>
            </a:pPr>
            <a:r>
              <a:rPr sz="2100" b="0">
                <a:solidFill>
                  <a:srgbClr val="007A83"/>
                </a:solidFill>
                <a:latin typeface="Arial"/>
                <a:ea typeface="Arial"/>
                <a:cs typeface="Arial"/>
              </a:rPr>
              <a:t>FROM lab.VectorFixture</a:t>
            </a:r>
          </a:p>
          <a:p xmlns:a="http://schemas.openxmlformats.org/drawingml/2006/main">
            <a:pPr>
              <a:defRPr sz="2100" b="0">
                <a:solidFill>
                  <a:srgbClr val="007A83"/>
                </a:solidFill>
                <a:latin typeface="Arial"/>
                <a:ea typeface="Arial"/>
                <a:cs typeface="Arial"/>
              </a:defRPr>
            </a:pPr>
            <a:r>
              <a:rPr sz="2100" b="0">
                <a:solidFill>
                  <a:srgbClr val="007A83"/>
                </a:solidFill>
                <a:latin typeface="Arial"/>
                <a:ea typeface="Arial"/>
                <a:cs typeface="Arial"/>
              </a:rPr>
              <a:t>ORDER BY Distance, Id;</a:t>
            </a:r>
          </a:p>
        </p:txBody>
      </p:sp>
      <p:sp>
        <p:nvSpPr>
          <p:cNvPr id="3" name="text-2">
            <a:extLst xmlns:a="http://schemas.openxmlformats.org/drawingml/2006/main">
              <a:ext uri="{FF2B5EF4-FFF2-40B4-BE49-F238E27FC236}">
                <a16:creationId xmlns:a16="http://schemas.microsoft.com/office/drawing/2014/main" id="{BCD413AE-EE10-4F4E-AD89-BCB747EF7589}"/>
              </a:ext>
            </a:extLst>
          </p:cNvPr>
          <p:cNvSpPr>
            <a:spLocks xmlns:a="http://schemas.openxmlformats.org/drawingml/2006/main" noGrp="1"/>
          </p:cNvSpPr>
          <p:nvPr/>
        </p:nvSpPr>
        <p:spPr>
          <a:xfrm xmlns:a="http://schemas.openxmlformats.org/drawingml/2006/main">
            <a:off x="685800" y="3724275"/>
            <a:ext cx="2333625" cy="976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Vorhersage</a:t>
            </a:r>
          </a:p>
        </p:txBody>
      </p:sp>
      <p:sp>
        <p:nvSpPr>
          <p:cNvPr id="4" name="text-3">
            <a:extLst xmlns:a="http://schemas.openxmlformats.org/drawingml/2006/main">
              <a:ext uri="{FF2B5EF4-FFF2-40B4-BE49-F238E27FC236}">
                <a16:creationId xmlns:a16="http://schemas.microsoft.com/office/drawing/2014/main" id="{00385A5B-7123-4154-81CC-D2933A7D194A}"/>
              </a:ext>
            </a:extLst>
          </p:cNvPr>
          <p:cNvSpPr>
            <a:spLocks xmlns:a="http://schemas.openxmlformats.org/drawingml/2006/main" noGrp="1"/>
          </p:cNvSpPr>
          <p:nvPr/>
        </p:nvSpPr>
        <p:spPr>
          <a:xfrm xmlns:a="http://schemas.openxmlformats.org/drawingml/2006/main">
            <a:off x="3190875" y="3724275"/>
            <a:ext cx="8239125" cy="976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Euclidean und rohe Dot-Distanz können verschiedene Ersttreffer liefern.</a:t>
            </a:r>
          </a:p>
        </p:txBody>
      </p:sp>
      <p:sp>
        <p:nvSpPr>
          <p:cNvPr id="5" name="text-4">
            <a:extLst xmlns:a="http://schemas.openxmlformats.org/drawingml/2006/main">
              <a:ext uri="{FF2B5EF4-FFF2-40B4-BE49-F238E27FC236}">
                <a16:creationId xmlns:a16="http://schemas.microsoft.com/office/drawing/2014/main" id="{D0F0F9D4-3820-4E7F-828C-9857A2C6CB9E}"/>
              </a:ext>
            </a:extLst>
          </p:cNvPr>
          <p:cNvSpPr>
            <a:spLocks xmlns:a="http://schemas.openxmlformats.org/drawingml/2006/main" noGrp="1"/>
          </p:cNvSpPr>
          <p:nvPr/>
        </p:nvSpPr>
        <p:spPr>
          <a:xfrm xmlns:a="http://schemas.openxmlformats.org/drawingml/2006/main">
            <a:off x="685800" y="4795838"/>
            <a:ext cx="2333625" cy="976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Beobachtung</a:t>
            </a:r>
          </a:p>
        </p:txBody>
      </p:sp>
      <p:sp>
        <p:nvSpPr>
          <p:cNvPr id="6" name="text-5">
            <a:extLst xmlns:a="http://schemas.openxmlformats.org/drawingml/2006/main">
              <a:ext uri="{FF2B5EF4-FFF2-40B4-BE49-F238E27FC236}">
                <a16:creationId xmlns:a16="http://schemas.microsoft.com/office/drawing/2014/main" id="{0B5ED8B1-C73D-41E6-A7E7-D90A2D41B3A4}"/>
              </a:ext>
            </a:extLst>
          </p:cNvPr>
          <p:cNvSpPr>
            <a:spLocks xmlns:a="http://schemas.openxmlformats.org/drawingml/2006/main" noGrp="1"/>
          </p:cNvSpPr>
          <p:nvPr/>
        </p:nvSpPr>
        <p:spPr>
          <a:xfrm xmlns:a="http://schemas.openxmlformats.org/drawingml/2006/main">
            <a:off x="3190875" y="4795838"/>
            <a:ext cx="8239125" cy="976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Die rohe Dot-Suche liefert im Fixture Id 2. Nach norm2-Normalisierung die Rangfolge erneut erklären.</a:t>
            </a:r>
          </a:p>
        </p:txBody>
      </p:sp>
      <p:sp>
        <p:nvSpPr>
          <p:cNvPr id="7" name="text-6">
            <a:extLst xmlns:a="http://schemas.openxmlformats.org/drawingml/2006/main">
              <a:ext uri="{FF2B5EF4-FFF2-40B4-BE49-F238E27FC236}">
                <a16:creationId xmlns:a16="http://schemas.microsoft.com/office/drawing/2014/main" id="{7ADBDC94-65EF-4782-88E0-6DFD1A174136}"/>
              </a:ext>
            </a:extLst>
          </p:cNvPr>
          <p:cNvSpPr>
            <a:spLocks xmlns:a="http://schemas.openxmlformats.org/drawingml/2006/main" noGrp="1"/>
          </p:cNvSpPr>
          <p:nvPr/>
        </p:nvSpPr>
        <p:spPr>
          <a:xfrm xmlns:a="http://schemas.openxmlformats.org/drawingml/2006/main">
            <a:off x="685800" y="5876925"/>
            <a:ext cx="10553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0">
                <a:solidFill>
                  <a:srgbClr val="52647A"/>
                </a:solidFill>
                <a:latin typeface="Arial"/>
                <a:ea typeface="Arial"/>
                <a:cs typeface="Arial"/>
              </a:defRPr>
            </a:defPPr>
            <a:lvl1pPr>
              <a:defRPr sz="1800" b="0">
                <a:solidFill>
                  <a:srgbClr val="52647A"/>
                </a:solidFill>
                <a:latin typeface="Arial"/>
                <a:ea typeface="Arial"/>
                <a:cs typeface="Arial"/>
              </a:defRPr>
            </a:lvl1pPr>
            <a:lvl2pPr>
              <a:defRPr sz="1800" b="0">
                <a:solidFill>
                  <a:srgbClr val="52647A"/>
                </a:solidFill>
                <a:latin typeface="Arial"/>
                <a:ea typeface="Arial"/>
                <a:cs typeface="Arial"/>
              </a:defRPr>
            </a:lvl2pPr>
            <a:lvl3pPr>
              <a:defRPr sz="1800" b="0">
                <a:solidFill>
                  <a:srgbClr val="52647A"/>
                </a:solidFill>
                <a:latin typeface="Arial"/>
                <a:ea typeface="Arial"/>
                <a:cs typeface="Arial"/>
              </a:defRPr>
            </a:lvl3pPr>
            <a:lvl4pPr>
              <a:defRPr sz="1800" b="0">
                <a:solidFill>
                  <a:srgbClr val="52647A"/>
                </a:solidFill>
                <a:latin typeface="Arial"/>
                <a:ea typeface="Arial"/>
                <a:cs typeface="Arial"/>
              </a:defRPr>
            </a:lvl4pPr>
            <a:lvl5pPr>
              <a:defRPr sz="1800" b="0">
                <a:solidFill>
                  <a:srgbClr val="52647A"/>
                </a:solidFill>
                <a:latin typeface="Arial"/>
                <a:ea typeface="Arial"/>
                <a:cs typeface="Arial"/>
              </a:defRPr>
            </a:lvl5pPr>
            <a:lvl6pPr>
              <a:defRPr sz="1800" b="0">
                <a:solidFill>
                  <a:srgbClr val="52647A"/>
                </a:solidFill>
                <a:latin typeface="Arial"/>
                <a:ea typeface="Arial"/>
                <a:cs typeface="Arial"/>
              </a:defRPr>
            </a:lvl6pPr>
            <a:lvl7pPr>
              <a:defRPr sz="1800" b="0">
                <a:solidFill>
                  <a:srgbClr val="52647A"/>
                </a:solidFill>
                <a:latin typeface="Arial"/>
                <a:ea typeface="Arial"/>
                <a:cs typeface="Arial"/>
              </a:defRPr>
            </a:lvl7pPr>
            <a:lvl8pPr>
              <a:defRPr sz="1800" b="0">
                <a:solidFill>
                  <a:srgbClr val="52647A"/>
                </a:solidFill>
                <a:latin typeface="Arial"/>
                <a:ea typeface="Arial"/>
                <a:cs typeface="Arial"/>
              </a:defRPr>
            </a:lvl8pPr>
            <a:lvl9pPr>
              <a:defRPr sz="1800" b="0">
                <a:solidFill>
                  <a:srgbClr val="52647A"/>
                </a:solidFill>
                <a:latin typeface="Arial"/>
                <a:ea typeface="Arial"/>
                <a:cs typeface="Arial"/>
              </a:defRPr>
            </a:lvl9pPr>
          </a:lstStyle>
          <a:p xmlns:a="http://schemas.openxmlformats.org/drawingml/2006/main">
            <a:pPr>
              <a:defRPr sz="1800" b="0">
                <a:solidFill>
                  <a:srgbClr val="52647A"/>
                </a:solidFill>
                <a:latin typeface="Arial"/>
                <a:ea typeface="Arial"/>
                <a:cs typeface="Arial"/>
              </a:defRPr>
            </a:pPr>
            <a:r>
              <a:rPr sz="1800" b="0">
                <a:solidFill>
                  <a:srgbClr val="52647A"/>
                </a:solidFill>
                <a:latin typeface="Arial"/>
                <a:ea typeface="Arial"/>
                <a:cs typeface="Arial"/>
              </a:rPr>
              <a:t>IMPLEMENTED. Codeauszug aus 30_Demonstration.sql, innerhalb des eigenen Demo-Lifecycles.</a:t>
            </a:r>
          </a:p>
        </p:txBody>
      </p:sp>
      <p:sp>
        <p:nvSpPr>
          <p:cNvPr id="8" name="text-7">
            <a:extLst xmlns:a="http://schemas.openxmlformats.org/drawingml/2006/main">
              <a:ext uri="{FF2B5EF4-FFF2-40B4-BE49-F238E27FC236}">
                <a16:creationId xmlns:a16="http://schemas.microsoft.com/office/drawing/2014/main" id="{7E4AE2CC-CC58-4906-969D-EBCDAB28937B}"/>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vl1pPr>
              <a:defRPr sz="1350" b="0">
                <a:solidFill>
                  <a:srgbClr val="52647A"/>
                </a:solidFill>
                <a:latin typeface="Arial"/>
                <a:ea typeface="Arial"/>
                <a:cs typeface="Arial"/>
              </a:defRPr>
            </a:lvl1pPr>
            <a:lvl2pPr>
              <a:defRPr sz="1350" b="0">
                <a:solidFill>
                  <a:srgbClr val="52647A"/>
                </a:solidFill>
                <a:latin typeface="Arial"/>
                <a:ea typeface="Arial"/>
                <a:cs typeface="Arial"/>
              </a:defRPr>
            </a:lvl2pPr>
            <a:lvl3pPr>
              <a:defRPr sz="1350" b="0">
                <a:solidFill>
                  <a:srgbClr val="52647A"/>
                </a:solidFill>
                <a:latin typeface="Arial"/>
                <a:ea typeface="Arial"/>
                <a:cs typeface="Arial"/>
              </a:defRPr>
            </a:lvl3pPr>
            <a:lvl4pPr>
              <a:defRPr sz="1350" b="0">
                <a:solidFill>
                  <a:srgbClr val="52647A"/>
                </a:solidFill>
                <a:latin typeface="Arial"/>
                <a:ea typeface="Arial"/>
                <a:cs typeface="Arial"/>
              </a:defRPr>
            </a:lvl4pPr>
            <a:lvl5pPr>
              <a:defRPr sz="1350" b="0">
                <a:solidFill>
                  <a:srgbClr val="52647A"/>
                </a:solidFill>
                <a:latin typeface="Arial"/>
                <a:ea typeface="Arial"/>
                <a:cs typeface="Arial"/>
              </a:defRPr>
            </a:lvl5pPr>
            <a:lvl6pPr>
              <a:defRPr sz="1350" b="0">
                <a:solidFill>
                  <a:srgbClr val="52647A"/>
                </a:solidFill>
                <a:latin typeface="Arial"/>
                <a:ea typeface="Arial"/>
                <a:cs typeface="Arial"/>
              </a:defRPr>
            </a:lvl6pPr>
            <a:lvl7pPr>
              <a:defRPr sz="1350" b="0">
                <a:solidFill>
                  <a:srgbClr val="52647A"/>
                </a:solidFill>
                <a:latin typeface="Arial"/>
                <a:ea typeface="Arial"/>
                <a:cs typeface="Arial"/>
              </a:defRPr>
            </a:lvl7pPr>
            <a:lvl8pPr>
              <a:defRPr sz="1350" b="0">
                <a:solidFill>
                  <a:srgbClr val="52647A"/>
                </a:solidFill>
                <a:latin typeface="Arial"/>
                <a:ea typeface="Arial"/>
                <a:cs typeface="Arial"/>
              </a:defRPr>
            </a:lvl8pPr>
            <a:lvl9pPr>
              <a:defRPr sz="1350" b="0">
                <a:solidFill>
                  <a:srgbClr val="52647A"/>
                </a:solidFill>
                <a:latin typeface="Arial"/>
                <a:ea typeface="Arial"/>
                <a:cs typeface="Arial"/>
              </a:defRPr>
            </a:lvl9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37  CUR-014</a:t>
            </a:r>
          </a:p>
        </p:txBody>
      </p:sp>
    </p:spTree>
    <p:extLst>
      <p:ext uri="{BB962C8B-B14F-4D97-AF65-F5344CB8AC3E}">
        <p14:creationId xmlns:p14="http://schemas.microsoft.com/office/powerpoint/2010/main" val="1320543628"/>
      </p:ext>
    </p:extLst>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text-0">
            <a:extLst xmlns:a="http://schemas.openxmlformats.org/drawingml/2006/main">
              <a:ext uri="{FF2B5EF4-FFF2-40B4-BE49-F238E27FC236}">
                <a16:creationId xmlns:a16="http://schemas.microsoft.com/office/drawing/2014/main" id="{A00B8604-BB1F-43BD-BD02-5B7EC45EE65A}"/>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vl1pPr>
              <a:defRPr sz="3300" b="1">
                <a:solidFill>
                  <a:srgbClr val="15283D"/>
                </a:solidFill>
                <a:latin typeface="Arial"/>
                <a:ea typeface="Arial"/>
                <a:cs typeface="Arial"/>
              </a:defRPr>
            </a:lvl1pPr>
            <a:lvl2pPr>
              <a:defRPr sz="3300" b="1">
                <a:solidFill>
                  <a:srgbClr val="15283D"/>
                </a:solidFill>
                <a:latin typeface="Arial"/>
                <a:ea typeface="Arial"/>
                <a:cs typeface="Arial"/>
              </a:defRPr>
            </a:lvl2pPr>
            <a:lvl3pPr>
              <a:defRPr sz="3300" b="1">
                <a:solidFill>
                  <a:srgbClr val="15283D"/>
                </a:solidFill>
                <a:latin typeface="Arial"/>
                <a:ea typeface="Arial"/>
                <a:cs typeface="Arial"/>
              </a:defRPr>
            </a:lvl3pPr>
            <a:lvl4pPr>
              <a:defRPr sz="3300" b="1">
                <a:solidFill>
                  <a:srgbClr val="15283D"/>
                </a:solidFill>
                <a:latin typeface="Arial"/>
                <a:ea typeface="Arial"/>
                <a:cs typeface="Arial"/>
              </a:defRPr>
            </a:lvl4pPr>
            <a:lvl5pPr>
              <a:defRPr sz="3300" b="1">
                <a:solidFill>
                  <a:srgbClr val="15283D"/>
                </a:solidFill>
                <a:latin typeface="Arial"/>
                <a:ea typeface="Arial"/>
                <a:cs typeface="Arial"/>
              </a:defRPr>
            </a:lvl5pPr>
            <a:lvl6pPr>
              <a:defRPr sz="3300" b="1">
                <a:solidFill>
                  <a:srgbClr val="15283D"/>
                </a:solidFill>
                <a:latin typeface="Arial"/>
                <a:ea typeface="Arial"/>
                <a:cs typeface="Arial"/>
              </a:defRPr>
            </a:lvl6pPr>
            <a:lvl7pPr>
              <a:defRPr sz="3300" b="1">
                <a:solidFill>
                  <a:srgbClr val="15283D"/>
                </a:solidFill>
                <a:latin typeface="Arial"/>
                <a:ea typeface="Arial"/>
                <a:cs typeface="Arial"/>
              </a:defRPr>
            </a:lvl7pPr>
            <a:lvl8pPr>
              <a:defRPr sz="3300" b="1">
                <a:solidFill>
                  <a:srgbClr val="15283D"/>
                </a:solidFill>
                <a:latin typeface="Arial"/>
                <a:ea typeface="Arial"/>
                <a:cs typeface="Arial"/>
              </a:defRPr>
            </a:lvl8pPr>
            <a:lvl9pPr>
              <a:defRPr sz="3300" b="1">
                <a:solidFill>
                  <a:srgbClr val="15283D"/>
                </a:solidFill>
                <a:latin typeface="Arial"/>
                <a:ea typeface="Arial"/>
                <a:cs typeface="Arial"/>
              </a:defRPr>
            </a:lvl9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Chunking und belegbare Quellen</a:t>
            </a:r>
          </a:p>
        </p:txBody>
      </p:sp>
      <p:sp>
        <p:nvSpPr>
          <p:cNvPr id="2" name="text-1">
            <a:extLst xmlns:a="http://schemas.openxmlformats.org/drawingml/2006/main">
              <a:ext uri="{FF2B5EF4-FFF2-40B4-BE49-F238E27FC236}">
                <a16:creationId xmlns:a16="http://schemas.microsoft.com/office/drawing/2014/main" id="{B095F88C-3855-4A0F-94CE-7FCECC8BF78B}"/>
              </a:ext>
            </a:extLst>
          </p:cNvPr>
          <p:cNvSpPr>
            <a:spLocks xmlns:a="http://schemas.openxmlformats.org/drawingml/2006/main" noGrp="1"/>
          </p:cNvSpPr>
          <p:nvPr/>
        </p:nvSpPr>
        <p:spPr>
          <a:xfrm xmlns:a="http://schemas.openxmlformats.org/drawingml/2006/main">
            <a:off x="685800" y="177165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Zeichenbereiche</a:t>
            </a:r>
          </a:p>
        </p:txBody>
      </p:sp>
      <p:sp>
        <p:nvSpPr>
          <p:cNvPr id="3" name="text-2">
            <a:extLst xmlns:a="http://schemas.openxmlformats.org/drawingml/2006/main">
              <a:ext uri="{FF2B5EF4-FFF2-40B4-BE49-F238E27FC236}">
                <a16:creationId xmlns:a16="http://schemas.microsoft.com/office/drawing/2014/main" id="{8A77F26F-FA51-48D6-9216-0D189308F9AE}"/>
              </a:ext>
            </a:extLst>
          </p:cNvPr>
          <p:cNvSpPr>
            <a:spLocks xmlns:a="http://schemas.openxmlformats.org/drawingml/2006/main" noGrp="1"/>
          </p:cNvSpPr>
          <p:nvPr/>
        </p:nvSpPr>
        <p:spPr>
          <a:xfrm xmlns:a="http://schemas.openxmlformats.org/drawingml/2006/main">
            <a:off x="3190875" y="177165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FIXED zerlegt Text nach Zeichenanzahl. CHUNK_SIZE belegt kein Tokenlimit eines Modells.</a:t>
            </a:r>
          </a:p>
        </p:txBody>
      </p:sp>
      <p:sp>
        <p:nvSpPr>
          <p:cNvPr id="4" name="text-3">
            <a:extLst xmlns:a="http://schemas.openxmlformats.org/drawingml/2006/main">
              <a:ext uri="{FF2B5EF4-FFF2-40B4-BE49-F238E27FC236}">
                <a16:creationId xmlns:a16="http://schemas.microsoft.com/office/drawing/2014/main" id="{0BB13C1C-9002-4014-B5B9-55CD55CD02DF}"/>
              </a:ext>
            </a:extLst>
          </p:cNvPr>
          <p:cNvSpPr>
            <a:spLocks xmlns:a="http://schemas.openxmlformats.org/drawingml/2006/main" noGrp="1"/>
          </p:cNvSpPr>
          <p:nvPr/>
        </p:nvSpPr>
        <p:spPr>
          <a:xfrm xmlns:a="http://schemas.openxmlformats.org/drawingml/2006/main">
            <a:off x="685800" y="3057525"/>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Overlap</a:t>
            </a:r>
          </a:p>
        </p:txBody>
      </p:sp>
      <p:sp>
        <p:nvSpPr>
          <p:cNvPr id="5" name="text-4">
            <a:extLst xmlns:a="http://schemas.openxmlformats.org/drawingml/2006/main">
              <a:ext uri="{FF2B5EF4-FFF2-40B4-BE49-F238E27FC236}">
                <a16:creationId xmlns:a16="http://schemas.microsoft.com/office/drawing/2014/main" id="{61836BCF-6D77-4E62-9ED3-F5CAA3587BE7}"/>
              </a:ext>
            </a:extLst>
          </p:cNvPr>
          <p:cNvSpPr>
            <a:spLocks xmlns:a="http://schemas.openxmlformats.org/drawingml/2006/main" noGrp="1"/>
          </p:cNvSpPr>
          <p:nvPr/>
        </p:nvSpPr>
        <p:spPr>
          <a:xfrm xmlns:a="http://schemas.openxmlformats.org/drawingml/2006/main">
            <a:off x="3190875" y="3057525"/>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OVERLAP legt 0 bis 50 Prozent Überlappung fest. Wiederholte Bereiche erhöhen die verarbeitete Textmenge.</a:t>
            </a:r>
          </a:p>
        </p:txBody>
      </p:sp>
      <p:sp>
        <p:nvSpPr>
          <p:cNvPr id="6" name="text-5">
            <a:extLst xmlns:a="http://schemas.openxmlformats.org/drawingml/2006/main">
              <a:ext uri="{FF2B5EF4-FFF2-40B4-BE49-F238E27FC236}">
                <a16:creationId xmlns:a16="http://schemas.microsoft.com/office/drawing/2014/main" id="{FD058333-6A45-4EC0-9803-43F82D996098}"/>
              </a:ext>
            </a:extLst>
          </p:cNvPr>
          <p:cNvSpPr>
            <a:spLocks xmlns:a="http://schemas.openxmlformats.org/drawingml/2006/main" noGrp="1"/>
          </p:cNvSpPr>
          <p:nvPr/>
        </p:nvSpPr>
        <p:spPr>
          <a:xfrm xmlns:a="http://schemas.openxmlformats.org/drawingml/2006/main">
            <a:off x="685800" y="434340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Provenienz</a:t>
            </a:r>
          </a:p>
        </p:txBody>
      </p:sp>
      <p:sp>
        <p:nvSpPr>
          <p:cNvPr id="7" name="text-6">
            <a:extLst xmlns:a="http://schemas.openxmlformats.org/drawingml/2006/main">
              <a:ext uri="{FF2B5EF4-FFF2-40B4-BE49-F238E27FC236}">
                <a16:creationId xmlns:a16="http://schemas.microsoft.com/office/drawing/2014/main" id="{09DA7F6E-72E5-4CA5-B2C7-89B807106B96}"/>
              </a:ext>
            </a:extLst>
          </p:cNvPr>
          <p:cNvSpPr>
            <a:spLocks xmlns:a="http://schemas.openxmlformats.org/drawingml/2006/main" noGrp="1"/>
          </p:cNvSpPr>
          <p:nvPr/>
        </p:nvSpPr>
        <p:spPr>
          <a:xfrm xmlns:a="http://schemas.openxmlformats.org/drawingml/2006/main">
            <a:off x="3190875" y="434340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DocId, Version, Reihenfolge, Offset, Länge und Chunkparameter bleiben mit dem Treffer verbunden.</a:t>
            </a:r>
          </a:p>
        </p:txBody>
      </p:sp>
      <p:sp>
        <p:nvSpPr>
          <p:cNvPr id="8" name="text-7">
            <a:extLst xmlns:a="http://schemas.openxmlformats.org/drawingml/2006/main">
              <a:ext uri="{FF2B5EF4-FFF2-40B4-BE49-F238E27FC236}">
                <a16:creationId xmlns:a16="http://schemas.microsoft.com/office/drawing/2014/main" id="{05BAD37C-3544-4CE6-8AD2-85C5F9DA0BD0}"/>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vl1pPr>
              <a:defRPr sz="1350" b="0">
                <a:solidFill>
                  <a:srgbClr val="52647A"/>
                </a:solidFill>
                <a:latin typeface="Arial"/>
                <a:ea typeface="Arial"/>
                <a:cs typeface="Arial"/>
              </a:defRPr>
            </a:lvl1pPr>
            <a:lvl2pPr>
              <a:defRPr sz="1350" b="0">
                <a:solidFill>
                  <a:srgbClr val="52647A"/>
                </a:solidFill>
                <a:latin typeface="Arial"/>
                <a:ea typeface="Arial"/>
                <a:cs typeface="Arial"/>
              </a:defRPr>
            </a:lvl2pPr>
            <a:lvl3pPr>
              <a:defRPr sz="1350" b="0">
                <a:solidFill>
                  <a:srgbClr val="52647A"/>
                </a:solidFill>
                <a:latin typeface="Arial"/>
                <a:ea typeface="Arial"/>
                <a:cs typeface="Arial"/>
              </a:defRPr>
            </a:lvl3pPr>
            <a:lvl4pPr>
              <a:defRPr sz="1350" b="0">
                <a:solidFill>
                  <a:srgbClr val="52647A"/>
                </a:solidFill>
                <a:latin typeface="Arial"/>
                <a:ea typeface="Arial"/>
                <a:cs typeface="Arial"/>
              </a:defRPr>
            </a:lvl4pPr>
            <a:lvl5pPr>
              <a:defRPr sz="1350" b="0">
                <a:solidFill>
                  <a:srgbClr val="52647A"/>
                </a:solidFill>
                <a:latin typeface="Arial"/>
                <a:ea typeface="Arial"/>
                <a:cs typeface="Arial"/>
              </a:defRPr>
            </a:lvl5pPr>
            <a:lvl6pPr>
              <a:defRPr sz="1350" b="0">
                <a:solidFill>
                  <a:srgbClr val="52647A"/>
                </a:solidFill>
                <a:latin typeface="Arial"/>
                <a:ea typeface="Arial"/>
                <a:cs typeface="Arial"/>
              </a:defRPr>
            </a:lvl6pPr>
            <a:lvl7pPr>
              <a:defRPr sz="1350" b="0">
                <a:solidFill>
                  <a:srgbClr val="52647A"/>
                </a:solidFill>
                <a:latin typeface="Arial"/>
                <a:ea typeface="Arial"/>
                <a:cs typeface="Arial"/>
              </a:defRPr>
            </a:lvl7pPr>
            <a:lvl8pPr>
              <a:defRPr sz="1350" b="0">
                <a:solidFill>
                  <a:srgbClr val="52647A"/>
                </a:solidFill>
                <a:latin typeface="Arial"/>
                <a:ea typeface="Arial"/>
                <a:cs typeface="Arial"/>
              </a:defRPr>
            </a:lvl8pPr>
            <a:lvl9pPr>
              <a:defRPr sz="1350" b="0">
                <a:solidFill>
                  <a:srgbClr val="52647A"/>
                </a:solidFill>
                <a:latin typeface="Arial"/>
                <a:ea typeface="Arial"/>
                <a:cs typeface="Arial"/>
              </a:defRPr>
            </a:lvl9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38  CUR-015</a:t>
            </a:r>
          </a:p>
        </p:txBody>
      </p:sp>
    </p:spTree>
    <p:extLst>
      <p:ext uri="{BB962C8B-B14F-4D97-AF65-F5344CB8AC3E}">
        <p14:creationId xmlns:p14="http://schemas.microsoft.com/office/powerpoint/2010/main" val="311985356"/>
      </p:ext>
    </p:extLst>
  </p:cSld>
</p:sld>
</file>

<file path=ppt/slides/slide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text-0">
            <a:extLst xmlns:a="http://schemas.openxmlformats.org/drawingml/2006/main">
              <a:ext uri="{FF2B5EF4-FFF2-40B4-BE49-F238E27FC236}">
                <a16:creationId xmlns:a16="http://schemas.microsoft.com/office/drawing/2014/main" id="{B1D0E4AE-991A-4F88-BD2D-E28AD482379E}"/>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vl1pPr>
              <a:defRPr sz="3300" b="1">
                <a:solidFill>
                  <a:srgbClr val="15283D"/>
                </a:solidFill>
                <a:latin typeface="Arial"/>
                <a:ea typeface="Arial"/>
                <a:cs typeface="Arial"/>
              </a:defRPr>
            </a:lvl1pPr>
            <a:lvl2pPr>
              <a:defRPr sz="3300" b="1">
                <a:solidFill>
                  <a:srgbClr val="15283D"/>
                </a:solidFill>
                <a:latin typeface="Arial"/>
                <a:ea typeface="Arial"/>
                <a:cs typeface="Arial"/>
              </a:defRPr>
            </a:lvl2pPr>
            <a:lvl3pPr>
              <a:defRPr sz="3300" b="1">
                <a:solidFill>
                  <a:srgbClr val="15283D"/>
                </a:solidFill>
                <a:latin typeface="Arial"/>
                <a:ea typeface="Arial"/>
                <a:cs typeface="Arial"/>
              </a:defRPr>
            </a:lvl3pPr>
            <a:lvl4pPr>
              <a:defRPr sz="3300" b="1">
                <a:solidFill>
                  <a:srgbClr val="15283D"/>
                </a:solidFill>
                <a:latin typeface="Arial"/>
                <a:ea typeface="Arial"/>
                <a:cs typeface="Arial"/>
              </a:defRPr>
            </a:lvl4pPr>
            <a:lvl5pPr>
              <a:defRPr sz="3300" b="1">
                <a:solidFill>
                  <a:srgbClr val="15283D"/>
                </a:solidFill>
                <a:latin typeface="Arial"/>
                <a:ea typeface="Arial"/>
                <a:cs typeface="Arial"/>
              </a:defRPr>
            </a:lvl5pPr>
            <a:lvl6pPr>
              <a:defRPr sz="3300" b="1">
                <a:solidFill>
                  <a:srgbClr val="15283D"/>
                </a:solidFill>
                <a:latin typeface="Arial"/>
                <a:ea typeface="Arial"/>
                <a:cs typeface="Arial"/>
              </a:defRPr>
            </a:lvl6pPr>
            <a:lvl7pPr>
              <a:defRPr sz="3300" b="1">
                <a:solidFill>
                  <a:srgbClr val="15283D"/>
                </a:solidFill>
                <a:latin typeface="Arial"/>
                <a:ea typeface="Arial"/>
                <a:cs typeface="Arial"/>
              </a:defRPr>
            </a:lvl7pPr>
            <a:lvl8pPr>
              <a:defRPr sz="3300" b="1">
                <a:solidFill>
                  <a:srgbClr val="15283D"/>
                </a:solidFill>
                <a:latin typeface="Arial"/>
                <a:ea typeface="Arial"/>
                <a:cs typeface="Arial"/>
              </a:defRPr>
            </a:lvl8pPr>
            <a:lvl9pPr>
              <a:defRPr sz="3300" b="1">
                <a:solidFill>
                  <a:srgbClr val="15283D"/>
                </a:solidFill>
                <a:latin typeface="Arial"/>
                <a:ea typeface="Arial"/>
                <a:cs typeface="Arial"/>
              </a:defRPr>
            </a:lvl9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QRY-016: Overlap und Dokumentversion</a:t>
            </a:r>
          </a:p>
        </p:txBody>
      </p:sp>
      <p:sp>
        <p:nvSpPr>
          <p:cNvPr id="2" name="text-1">
            <a:extLst xmlns:a="http://schemas.openxmlformats.org/drawingml/2006/main">
              <a:ext uri="{FF2B5EF4-FFF2-40B4-BE49-F238E27FC236}">
                <a16:creationId xmlns:a16="http://schemas.microsoft.com/office/drawing/2014/main" id="{A57E6579-B319-4FD3-A286-867AB135D507}"/>
              </a:ext>
            </a:extLst>
          </p:cNvPr>
          <p:cNvSpPr>
            <a:spLocks xmlns:a="http://schemas.openxmlformats.org/drawingml/2006/main" noGrp="1"/>
          </p:cNvSpPr>
          <p:nvPr/>
        </p:nvSpPr>
        <p:spPr>
          <a:xfrm xmlns:a="http://schemas.openxmlformats.org/drawingml/2006/main">
            <a:off x="685800" y="177165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Vorhersage</a:t>
            </a:r>
          </a:p>
        </p:txBody>
      </p:sp>
      <p:sp>
        <p:nvSpPr>
          <p:cNvPr id="3" name="text-2">
            <a:extLst xmlns:a="http://schemas.openxmlformats.org/drawingml/2006/main">
              <a:ext uri="{FF2B5EF4-FFF2-40B4-BE49-F238E27FC236}">
                <a16:creationId xmlns:a16="http://schemas.microsoft.com/office/drawing/2014/main" id="{73627311-7ED4-4A40-B875-E0E2FEE38FFC}"/>
              </a:ext>
            </a:extLst>
          </p:cNvPr>
          <p:cNvSpPr>
            <a:spLocks xmlns:a="http://schemas.openxmlformats.org/drawingml/2006/main" noGrp="1"/>
          </p:cNvSpPr>
          <p:nvPr/>
        </p:nvSpPr>
        <p:spPr>
          <a:xfrm xmlns:a="http://schemas.openxmlformats.org/drawingml/2006/main">
            <a:off x="3190875" y="177165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Wie verändert 25 Prozent Overlap die summierte Bereichslänge?</a:t>
            </a:r>
          </a:p>
        </p:txBody>
      </p:sp>
      <p:sp>
        <p:nvSpPr>
          <p:cNvPr id="4" name="text-3">
            <a:extLst xmlns:a="http://schemas.openxmlformats.org/drawingml/2006/main">
              <a:ext uri="{FF2B5EF4-FFF2-40B4-BE49-F238E27FC236}">
                <a16:creationId xmlns:a16="http://schemas.microsoft.com/office/drawing/2014/main" id="{CDB8CC20-3EEA-4564-B6F4-9103105AE3A7}"/>
              </a:ext>
            </a:extLst>
          </p:cNvPr>
          <p:cNvSpPr>
            <a:spLocks xmlns:a="http://schemas.openxmlformats.org/drawingml/2006/main" noGrp="1"/>
          </p:cNvSpPr>
          <p:nvPr/>
        </p:nvSpPr>
        <p:spPr>
          <a:xfrm xmlns:a="http://schemas.openxmlformats.org/drawingml/2006/main">
            <a:off x="685800" y="3057525"/>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Beobachtung</a:t>
            </a:r>
          </a:p>
        </p:txBody>
      </p:sp>
      <p:sp>
        <p:nvSpPr>
          <p:cNvPr id="5" name="text-4">
            <a:extLst xmlns:a="http://schemas.openxmlformats.org/drawingml/2006/main">
              <a:ext uri="{FF2B5EF4-FFF2-40B4-BE49-F238E27FC236}">
                <a16:creationId xmlns:a16="http://schemas.microsoft.com/office/drawing/2014/main" id="{9634E201-42ED-4C2A-ABAC-52283FC19AD8}"/>
              </a:ext>
            </a:extLst>
          </p:cNvPr>
          <p:cNvSpPr>
            <a:spLocks xmlns:a="http://schemas.openxmlformats.org/drawingml/2006/main" noGrp="1"/>
          </p:cNvSpPr>
          <p:nvPr/>
        </p:nvSpPr>
        <p:spPr>
          <a:xfrm xmlns:a="http://schemas.openxmlformats.org/drawingml/2006/main">
            <a:off x="3190875" y="3057525"/>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Je einen Chunk beider Dokumentversionen und der Profile 0/25 dem Originaltext zuordnen.</a:t>
            </a:r>
          </a:p>
        </p:txBody>
      </p:sp>
      <p:sp>
        <p:nvSpPr>
          <p:cNvPr id="6" name="text-5">
            <a:extLst xmlns:a="http://schemas.openxmlformats.org/drawingml/2006/main">
              <a:ext uri="{FF2B5EF4-FFF2-40B4-BE49-F238E27FC236}">
                <a16:creationId xmlns:a16="http://schemas.microsoft.com/office/drawing/2014/main" id="{4C1B9CCD-942D-4C24-9734-7D2A2EC98523}"/>
              </a:ext>
            </a:extLst>
          </p:cNvPr>
          <p:cNvSpPr>
            <a:spLocks xmlns:a="http://schemas.openxmlformats.org/drawingml/2006/main" noGrp="1"/>
          </p:cNvSpPr>
          <p:nvPr/>
        </p:nvSpPr>
        <p:spPr>
          <a:xfrm xmlns:a="http://schemas.openxmlformats.org/drawingml/2006/main">
            <a:off x="685800" y="434340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Vergleich</a:t>
            </a:r>
          </a:p>
        </p:txBody>
      </p:sp>
      <p:sp>
        <p:nvSpPr>
          <p:cNvPr id="7" name="text-6">
            <a:extLst xmlns:a="http://schemas.openxmlformats.org/drawingml/2006/main">
              <a:ext uri="{FF2B5EF4-FFF2-40B4-BE49-F238E27FC236}">
                <a16:creationId xmlns:a16="http://schemas.microsoft.com/office/drawing/2014/main" id="{7C47DA17-716F-443B-A9BC-EA3172DEC70D}"/>
              </a:ext>
            </a:extLst>
          </p:cNvPr>
          <p:cNvSpPr>
            <a:spLocks xmlns:a="http://schemas.openxmlformats.org/drawingml/2006/main" noGrp="1"/>
          </p:cNvSpPr>
          <p:nvPr/>
        </p:nvSpPr>
        <p:spPr>
          <a:xfrm xmlns:a="http://schemas.openxmlformats.org/drawingml/2006/main">
            <a:off x="3190875" y="434340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Reihenfolge, Offset und Länge kontrollieren. Nach dem Update die Version des Treffers eindeutig nennen.</a:t>
            </a:r>
          </a:p>
        </p:txBody>
      </p:sp>
      <p:sp>
        <p:nvSpPr>
          <p:cNvPr id="8" name="text-7">
            <a:extLst xmlns:a="http://schemas.openxmlformats.org/drawingml/2006/main">
              <a:ext uri="{FF2B5EF4-FFF2-40B4-BE49-F238E27FC236}">
                <a16:creationId xmlns:a16="http://schemas.microsoft.com/office/drawing/2014/main" id="{28784CEB-E67B-4B44-9D78-6E1F3FC02C21}"/>
              </a:ext>
            </a:extLst>
          </p:cNvPr>
          <p:cNvSpPr>
            <a:spLocks xmlns:a="http://schemas.openxmlformats.org/drawingml/2006/main" noGrp="1"/>
          </p:cNvSpPr>
          <p:nvPr/>
        </p:nvSpPr>
        <p:spPr>
          <a:xfrm xmlns:a="http://schemas.openxmlformats.org/drawingml/2006/main">
            <a:off x="685800" y="5876925"/>
            <a:ext cx="10553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0">
                <a:solidFill>
                  <a:srgbClr val="52647A"/>
                </a:solidFill>
                <a:latin typeface="Arial"/>
                <a:ea typeface="Arial"/>
                <a:cs typeface="Arial"/>
              </a:defRPr>
            </a:defPPr>
            <a:lvl1pPr>
              <a:defRPr sz="1800" b="0">
                <a:solidFill>
                  <a:srgbClr val="52647A"/>
                </a:solidFill>
                <a:latin typeface="Arial"/>
                <a:ea typeface="Arial"/>
                <a:cs typeface="Arial"/>
              </a:defRPr>
            </a:lvl1pPr>
            <a:lvl2pPr>
              <a:defRPr sz="1800" b="0">
                <a:solidFill>
                  <a:srgbClr val="52647A"/>
                </a:solidFill>
                <a:latin typeface="Arial"/>
                <a:ea typeface="Arial"/>
                <a:cs typeface="Arial"/>
              </a:defRPr>
            </a:lvl2pPr>
            <a:lvl3pPr>
              <a:defRPr sz="1800" b="0">
                <a:solidFill>
                  <a:srgbClr val="52647A"/>
                </a:solidFill>
                <a:latin typeface="Arial"/>
                <a:ea typeface="Arial"/>
                <a:cs typeface="Arial"/>
              </a:defRPr>
            </a:lvl3pPr>
            <a:lvl4pPr>
              <a:defRPr sz="1800" b="0">
                <a:solidFill>
                  <a:srgbClr val="52647A"/>
                </a:solidFill>
                <a:latin typeface="Arial"/>
                <a:ea typeface="Arial"/>
                <a:cs typeface="Arial"/>
              </a:defRPr>
            </a:lvl4pPr>
            <a:lvl5pPr>
              <a:defRPr sz="1800" b="0">
                <a:solidFill>
                  <a:srgbClr val="52647A"/>
                </a:solidFill>
                <a:latin typeface="Arial"/>
                <a:ea typeface="Arial"/>
                <a:cs typeface="Arial"/>
              </a:defRPr>
            </a:lvl5pPr>
            <a:lvl6pPr>
              <a:defRPr sz="1800" b="0">
                <a:solidFill>
                  <a:srgbClr val="52647A"/>
                </a:solidFill>
                <a:latin typeface="Arial"/>
                <a:ea typeface="Arial"/>
                <a:cs typeface="Arial"/>
              </a:defRPr>
            </a:lvl6pPr>
            <a:lvl7pPr>
              <a:defRPr sz="1800" b="0">
                <a:solidFill>
                  <a:srgbClr val="52647A"/>
                </a:solidFill>
                <a:latin typeface="Arial"/>
                <a:ea typeface="Arial"/>
                <a:cs typeface="Arial"/>
              </a:defRPr>
            </a:lvl7pPr>
            <a:lvl8pPr>
              <a:defRPr sz="1800" b="0">
                <a:solidFill>
                  <a:srgbClr val="52647A"/>
                </a:solidFill>
                <a:latin typeface="Arial"/>
                <a:ea typeface="Arial"/>
                <a:cs typeface="Arial"/>
              </a:defRPr>
            </a:lvl8pPr>
            <a:lvl9pPr>
              <a:defRPr sz="1800" b="0">
                <a:solidFill>
                  <a:srgbClr val="52647A"/>
                </a:solidFill>
                <a:latin typeface="Arial"/>
                <a:ea typeface="Arial"/>
                <a:cs typeface="Arial"/>
              </a:defRPr>
            </a:lvl9pPr>
          </a:lstStyle>
          <a:p xmlns:a="http://schemas.openxmlformats.org/drawingml/2006/main">
            <a:pPr>
              <a:defRPr sz="1800" b="0">
                <a:solidFill>
                  <a:srgbClr val="52647A"/>
                </a:solidFill>
                <a:latin typeface="Arial"/>
                <a:ea typeface="Arial"/>
                <a:cs typeface="Arial"/>
              </a:defRPr>
            </a:pPr>
            <a:r>
              <a:rPr sz="1800" b="0">
                <a:solidFill>
                  <a:srgbClr val="52647A"/>
                </a:solidFill>
                <a:latin typeface="Arial"/>
                <a:ea typeface="Arial"/>
                <a:cs typeface="Arial"/>
              </a:rPr>
              <a:t>IMPLEMENTED. Lokales FIXED-Chunking ohne Tokenizer oder Modellcall.</a:t>
            </a:r>
          </a:p>
        </p:txBody>
      </p:sp>
      <p:sp>
        <p:nvSpPr>
          <p:cNvPr id="9" name="text-8">
            <a:extLst xmlns:a="http://schemas.openxmlformats.org/drawingml/2006/main">
              <a:ext uri="{FF2B5EF4-FFF2-40B4-BE49-F238E27FC236}">
                <a16:creationId xmlns:a16="http://schemas.microsoft.com/office/drawing/2014/main" id="{6261B55B-CCA7-4A46-94F0-8E3F28CD90EA}"/>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vl1pPr>
              <a:defRPr sz="1350" b="0">
                <a:solidFill>
                  <a:srgbClr val="52647A"/>
                </a:solidFill>
                <a:latin typeface="Arial"/>
                <a:ea typeface="Arial"/>
                <a:cs typeface="Arial"/>
              </a:defRPr>
            </a:lvl1pPr>
            <a:lvl2pPr>
              <a:defRPr sz="1350" b="0">
                <a:solidFill>
                  <a:srgbClr val="52647A"/>
                </a:solidFill>
                <a:latin typeface="Arial"/>
                <a:ea typeface="Arial"/>
                <a:cs typeface="Arial"/>
              </a:defRPr>
            </a:lvl2pPr>
            <a:lvl3pPr>
              <a:defRPr sz="1350" b="0">
                <a:solidFill>
                  <a:srgbClr val="52647A"/>
                </a:solidFill>
                <a:latin typeface="Arial"/>
                <a:ea typeface="Arial"/>
                <a:cs typeface="Arial"/>
              </a:defRPr>
            </a:lvl3pPr>
            <a:lvl4pPr>
              <a:defRPr sz="1350" b="0">
                <a:solidFill>
                  <a:srgbClr val="52647A"/>
                </a:solidFill>
                <a:latin typeface="Arial"/>
                <a:ea typeface="Arial"/>
                <a:cs typeface="Arial"/>
              </a:defRPr>
            </a:lvl4pPr>
            <a:lvl5pPr>
              <a:defRPr sz="1350" b="0">
                <a:solidFill>
                  <a:srgbClr val="52647A"/>
                </a:solidFill>
                <a:latin typeface="Arial"/>
                <a:ea typeface="Arial"/>
                <a:cs typeface="Arial"/>
              </a:defRPr>
            </a:lvl5pPr>
            <a:lvl6pPr>
              <a:defRPr sz="1350" b="0">
                <a:solidFill>
                  <a:srgbClr val="52647A"/>
                </a:solidFill>
                <a:latin typeface="Arial"/>
                <a:ea typeface="Arial"/>
                <a:cs typeface="Arial"/>
              </a:defRPr>
            </a:lvl6pPr>
            <a:lvl7pPr>
              <a:defRPr sz="1350" b="0">
                <a:solidFill>
                  <a:srgbClr val="52647A"/>
                </a:solidFill>
                <a:latin typeface="Arial"/>
                <a:ea typeface="Arial"/>
                <a:cs typeface="Arial"/>
              </a:defRPr>
            </a:lvl7pPr>
            <a:lvl8pPr>
              <a:defRPr sz="1350" b="0">
                <a:solidFill>
                  <a:srgbClr val="52647A"/>
                </a:solidFill>
                <a:latin typeface="Arial"/>
                <a:ea typeface="Arial"/>
                <a:cs typeface="Arial"/>
              </a:defRPr>
            </a:lvl8pPr>
            <a:lvl9pPr>
              <a:defRPr sz="1350" b="0">
                <a:solidFill>
                  <a:srgbClr val="52647A"/>
                </a:solidFill>
                <a:latin typeface="Arial"/>
                <a:ea typeface="Arial"/>
                <a:cs typeface="Arial"/>
              </a:defRPr>
            </a:lvl9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39  CUR-015</a:t>
            </a:r>
          </a:p>
        </p:txBody>
      </p:sp>
    </p:spTree>
    <p:extLst>
      <p:ext uri="{BB962C8B-B14F-4D97-AF65-F5344CB8AC3E}">
        <p14:creationId xmlns:p14="http://schemas.microsoft.com/office/powerpoint/2010/main" val="1753207143"/>
      </p:ext>
    </p:extLst>
  </p:cSld>
</p:sld>
</file>

<file path=ppt/slides/slide4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0">
            <a:extLst xmlns:a="http://schemas.openxmlformats.org/drawingml/2006/main">
              <a:ext uri="{FF2B5EF4-FFF2-40B4-BE49-F238E27FC236}">
                <a16:creationId xmlns:a16="http://schemas.microsoft.com/office/drawing/2014/main" id="{628D2945-EC8E-4FBD-AA29-B319E4DA62BF}"/>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vl1pPr>
              <a:defRPr sz="3300" b="1">
                <a:solidFill>
                  <a:srgbClr val="15283D"/>
                </a:solidFill>
                <a:latin typeface="Arial"/>
                <a:ea typeface="Arial"/>
                <a:cs typeface="Arial"/>
              </a:defRPr>
            </a:lvl1pPr>
            <a:lvl2pPr>
              <a:defRPr sz="3300" b="1">
                <a:solidFill>
                  <a:srgbClr val="15283D"/>
                </a:solidFill>
                <a:latin typeface="Arial"/>
                <a:ea typeface="Arial"/>
                <a:cs typeface="Arial"/>
              </a:defRPr>
            </a:lvl2pPr>
            <a:lvl3pPr>
              <a:defRPr sz="3300" b="1">
                <a:solidFill>
                  <a:srgbClr val="15283D"/>
                </a:solidFill>
                <a:latin typeface="Arial"/>
                <a:ea typeface="Arial"/>
                <a:cs typeface="Arial"/>
              </a:defRPr>
            </a:lvl3pPr>
            <a:lvl4pPr>
              <a:defRPr sz="3300" b="1">
                <a:solidFill>
                  <a:srgbClr val="15283D"/>
                </a:solidFill>
                <a:latin typeface="Arial"/>
                <a:ea typeface="Arial"/>
                <a:cs typeface="Arial"/>
              </a:defRPr>
            </a:lvl4pPr>
            <a:lvl5pPr>
              <a:defRPr sz="3300" b="1">
                <a:solidFill>
                  <a:srgbClr val="15283D"/>
                </a:solidFill>
                <a:latin typeface="Arial"/>
                <a:ea typeface="Arial"/>
                <a:cs typeface="Arial"/>
              </a:defRPr>
            </a:lvl5pPr>
            <a:lvl6pPr>
              <a:defRPr sz="3300" b="1">
                <a:solidFill>
                  <a:srgbClr val="15283D"/>
                </a:solidFill>
                <a:latin typeface="Arial"/>
                <a:ea typeface="Arial"/>
                <a:cs typeface="Arial"/>
              </a:defRPr>
            </a:lvl6pPr>
            <a:lvl7pPr>
              <a:defRPr sz="3300" b="1">
                <a:solidFill>
                  <a:srgbClr val="15283D"/>
                </a:solidFill>
                <a:latin typeface="Arial"/>
                <a:ea typeface="Arial"/>
                <a:cs typeface="Arial"/>
              </a:defRPr>
            </a:lvl7pPr>
            <a:lvl8pPr>
              <a:defRPr sz="3300" b="1">
                <a:solidFill>
                  <a:srgbClr val="15283D"/>
                </a:solidFill>
                <a:latin typeface="Arial"/>
                <a:ea typeface="Arial"/>
                <a:cs typeface="Arial"/>
              </a:defRPr>
            </a:lvl8pPr>
            <a:lvl9pPr>
              <a:defRPr sz="3300" b="1">
                <a:solidFill>
                  <a:srgbClr val="15283D"/>
                </a:solidFill>
                <a:latin typeface="Arial"/>
                <a:ea typeface="Arial"/>
                <a:cs typeface="Arial"/>
              </a:defRPr>
            </a:lvl9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Modellpfade und ihre Freigaben</a:t>
            </a:r>
          </a:p>
        </p:txBody>
      </p:sp>
      <p:graphicFrame>
        <p:nvGraphicFramePr>
          <p:cNvPr id="2" name="">
            <a:extLst xmlns:a="http://schemas.openxmlformats.org/drawingml/2006/main">
              <a:ext uri="{FF2B5EF4-FFF2-40B4-BE49-F238E27FC236}">
                <a16:creationId xmlns:a16="http://schemas.microsoft.com/office/drawing/2014/main" id="{B09C11F2-54A2-4E46-8037-3510B5B952F4}"/>
              </a:ext>
            </a:extLst>
          </p:cNvPr>
          <p:cNvGraphicFramePr/>
          <p:nvPr/>
        </p:nvGraphicFramePr>
        <p:xfrm>
          <a:off xmlns:a="http://schemas.openxmlformats.org/drawingml/2006/main" x="685800" y="1771650"/>
          <a:ext xmlns:a="http://schemas.openxmlformats.org/drawingml/2006/main" cx="10668000" cy="4000500"/>
        </p:xfrm>
        <a:graphic xmlns:a="http://schemas.openxmlformats.org/drawingml/2006/main">
          <a:graphicData uri="http://schemas.openxmlformats.org/drawingml/2006/table">
            <a:tbl>
              <a:tblPr/>
              <a:tblGrid>
                <a:gridCol w="3048000"/>
                <a:gridCol w="3905250"/>
                <a:gridCol w="3714750"/>
              </a:tblGrid>
              <a:tr h="800100">
                <a:tc>
                  <a:txBody>
                    <a:bodyPr/>
                    <a:lstStyle/>
                    <a:p>
                      <a:r>
                        <a:rPr sz="1800" b="1">
                          <a:solidFill>
                            <a:srgbClr val="15283D"/>
                          </a:solidFill>
                          <a:latin typeface="Arial"/>
                          <a:ea typeface="Arial"/>
                          <a:cs typeface="Arial"/>
                        </a:rPr>
                        <a:t>Pfad</a:t>
                      </a:r>
                    </a:p>
                  </a:txBody>
                  <a:tcPr marL="114300" marR="114300" marT="47625" marB="47625" anchor="ctr">
                    <a:lnL w="9525">
                      <a:solidFill>
                        <a:srgbClr val="C8D5DE"/>
                      </a:solidFill>
                      <a:prstDash val="solid"/>
                    </a:lnL>
                    <a:lnR w="9525">
                      <a:solidFill>
                        <a:srgbClr val="C8D5DE"/>
                      </a:solidFill>
                      <a:prstDash val="solid"/>
                    </a:lnR>
                    <a:lnT w="9525">
                      <a:solidFill>
                        <a:srgbClr val="C8D5DE"/>
                      </a:solidFill>
                      <a:prstDash val="solid"/>
                    </a:lnT>
                    <a:lnB w="9525">
                      <a:solidFill>
                        <a:srgbClr val="C8D5DE"/>
                      </a:solidFill>
                      <a:prstDash val="solid"/>
                    </a:lnB>
                    <a:solidFill>
                      <a:srgbClr val="E8F2F2"/>
                    </a:solidFill>
                  </a:tcPr>
                </a:tc>
                <a:tc>
                  <a:txBody>
                    <a:bodyPr/>
                    <a:lstStyle/>
                    <a:p>
                      <a:r>
                        <a:rPr sz="1800" b="1">
                          <a:solidFill>
                            <a:srgbClr val="15283D"/>
                          </a:solidFill>
                          <a:latin typeface="Arial"/>
                          <a:ea typeface="Arial"/>
                          <a:cs typeface="Arial"/>
                        </a:rPr>
                        <a:t>Was er zeigt</a:t>
                      </a:r>
                    </a:p>
                  </a:txBody>
                  <a:tcPr marL="114300" marR="114300" marT="47625" marB="47625" anchor="ctr">
                    <a:lnR w="9525">
                      <a:solidFill>
                        <a:srgbClr val="C8D5DE"/>
                      </a:solidFill>
                      <a:prstDash val="solid"/>
                    </a:lnR>
                    <a:lnT w="9525">
                      <a:solidFill>
                        <a:srgbClr val="C8D5DE"/>
                      </a:solidFill>
                      <a:prstDash val="solid"/>
                    </a:lnT>
                    <a:lnB w="9525">
                      <a:solidFill>
                        <a:srgbClr val="C8D5DE"/>
                      </a:solidFill>
                      <a:prstDash val="solid"/>
                    </a:lnB>
                    <a:solidFill>
                      <a:srgbClr val="E8F2F2"/>
                    </a:solidFill>
                  </a:tcPr>
                </a:tc>
                <a:tc>
                  <a:txBody>
                    <a:bodyPr/>
                    <a:lstStyle/>
                    <a:p>
                      <a:r>
                        <a:rPr sz="1800" b="1">
                          <a:solidFill>
                            <a:srgbClr val="15283D"/>
                          </a:solidFill>
                          <a:latin typeface="Arial"/>
                          <a:ea typeface="Arial"/>
                          <a:cs typeface="Arial"/>
                        </a:rPr>
                        <a:t>Grenze</a:t>
                      </a:r>
                    </a:p>
                  </a:txBody>
                  <a:tcPr marL="114300" marR="114300" marT="47625" marB="47625" anchor="ctr">
                    <a:lnR w="9525">
                      <a:solidFill>
                        <a:srgbClr val="C8D5DE"/>
                      </a:solidFill>
                      <a:prstDash val="solid"/>
                    </a:lnR>
                    <a:lnT w="9525">
                      <a:solidFill>
                        <a:srgbClr val="C8D5DE"/>
                      </a:solidFill>
                      <a:prstDash val="solid"/>
                    </a:lnT>
                    <a:lnB w="9525">
                      <a:solidFill>
                        <a:srgbClr val="C8D5DE"/>
                      </a:solidFill>
                      <a:prstDash val="solid"/>
                    </a:lnB>
                    <a:solidFill>
                      <a:srgbClr val="E8F2F2"/>
                    </a:solidFill>
                  </a:tcPr>
                </a:tc>
              </a:tr>
              <a:tr h="800100">
                <a:tc>
                  <a:txBody>
                    <a:bodyPr/>
                    <a:lstStyle/>
                    <a:p>
                      <a:r>
                        <a:rPr sz="1800" b="0">
                          <a:solidFill>
                            <a:srgbClr val="15283D"/>
                          </a:solidFill>
                          <a:latin typeface="Arial"/>
                          <a:ea typeface="Arial"/>
                          <a:cs typeface="Arial"/>
                        </a:rPr>
                        <a:t>Geometrie und Offlinefixtures</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SQL-Mechanik und feste Kontrollfälle</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Keine echte Sprachsemantik oder Inferenz</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r h="800100">
                <a:tc>
                  <a:txBody>
                    <a:bodyPr/>
                    <a:lstStyle/>
                    <a:p>
                      <a:r>
                        <a:rPr sz="1800" b="0">
                          <a:solidFill>
                            <a:srgbClr val="15283D"/>
                          </a:solidFill>
                          <a:latin typeface="Arial"/>
                          <a:ea typeface="Arial"/>
                          <a:cs typeface="Arial"/>
                        </a:rPr>
                        <a:t>QRY-020: lokaler Provider</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Geplante echte Embeddings über Ollama</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PROPOSED. Verschlüsselung (TLS), Schnittstelle und Laufzeit prüfen</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r h="800100">
                <a:tc>
                  <a:txBody>
                    <a:bodyPr/>
                    <a:lstStyle/>
                    <a:p>
                      <a:r>
                        <a:rPr sz="1800" b="0">
                          <a:solidFill>
                            <a:srgbClr val="15283D"/>
                          </a:solidFill>
                          <a:latin typeface="Arial"/>
                          <a:ea typeface="Arial"/>
                          <a:cs typeface="Arial"/>
                        </a:rPr>
                        <a:t>QRY-021: externer Provider</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Geplante externe Embeddings</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PROPOSED. Egress, Secrets und Geldbudget</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r h="800100">
                <a:tc>
                  <a:txBody>
                    <a:bodyPr/>
                    <a:lstStyle/>
                    <a:p>
                      <a:r>
                        <a:rPr sz="1800" b="0">
                          <a:solidFill>
                            <a:srgbClr val="15283D"/>
                          </a:solidFill>
                          <a:latin typeface="Arial"/>
                          <a:ea typeface="Arial"/>
                          <a:cs typeface="Arial"/>
                        </a:rPr>
                        <a:t>QRY-022: Modellformat ONNX</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Open Neural Network Exchange für lokale Inferenz</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PROPOSED. Windows und ML Services, Rot</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bl>
          </a:graphicData>
        </a:graphic>
      </p:graphicFrame>
      <p:sp>
        <p:nvSpPr>
          <p:cNvPr id="3" name="text-1">
            <a:extLst xmlns:a="http://schemas.openxmlformats.org/drawingml/2006/main">
              <a:ext uri="{FF2B5EF4-FFF2-40B4-BE49-F238E27FC236}">
                <a16:creationId xmlns:a16="http://schemas.microsoft.com/office/drawing/2014/main" id="{81CBBD70-199E-4662-AFD7-B242DB7DE12B}"/>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vl1pPr>
              <a:defRPr sz="1350" b="0">
                <a:solidFill>
                  <a:srgbClr val="52647A"/>
                </a:solidFill>
                <a:latin typeface="Arial"/>
                <a:ea typeface="Arial"/>
                <a:cs typeface="Arial"/>
              </a:defRPr>
            </a:lvl1pPr>
            <a:lvl2pPr>
              <a:defRPr sz="1350" b="0">
                <a:solidFill>
                  <a:srgbClr val="52647A"/>
                </a:solidFill>
                <a:latin typeface="Arial"/>
                <a:ea typeface="Arial"/>
                <a:cs typeface="Arial"/>
              </a:defRPr>
            </a:lvl2pPr>
            <a:lvl3pPr>
              <a:defRPr sz="1350" b="0">
                <a:solidFill>
                  <a:srgbClr val="52647A"/>
                </a:solidFill>
                <a:latin typeface="Arial"/>
                <a:ea typeface="Arial"/>
                <a:cs typeface="Arial"/>
              </a:defRPr>
            </a:lvl3pPr>
            <a:lvl4pPr>
              <a:defRPr sz="1350" b="0">
                <a:solidFill>
                  <a:srgbClr val="52647A"/>
                </a:solidFill>
                <a:latin typeface="Arial"/>
                <a:ea typeface="Arial"/>
                <a:cs typeface="Arial"/>
              </a:defRPr>
            </a:lvl4pPr>
            <a:lvl5pPr>
              <a:defRPr sz="1350" b="0">
                <a:solidFill>
                  <a:srgbClr val="52647A"/>
                </a:solidFill>
                <a:latin typeface="Arial"/>
                <a:ea typeface="Arial"/>
                <a:cs typeface="Arial"/>
              </a:defRPr>
            </a:lvl5pPr>
            <a:lvl6pPr>
              <a:defRPr sz="1350" b="0">
                <a:solidFill>
                  <a:srgbClr val="52647A"/>
                </a:solidFill>
                <a:latin typeface="Arial"/>
                <a:ea typeface="Arial"/>
                <a:cs typeface="Arial"/>
              </a:defRPr>
            </a:lvl6pPr>
            <a:lvl7pPr>
              <a:defRPr sz="1350" b="0">
                <a:solidFill>
                  <a:srgbClr val="52647A"/>
                </a:solidFill>
                <a:latin typeface="Arial"/>
                <a:ea typeface="Arial"/>
                <a:cs typeface="Arial"/>
              </a:defRPr>
            </a:lvl7pPr>
            <a:lvl8pPr>
              <a:defRPr sz="1350" b="0">
                <a:solidFill>
                  <a:srgbClr val="52647A"/>
                </a:solidFill>
                <a:latin typeface="Arial"/>
                <a:ea typeface="Arial"/>
                <a:cs typeface="Arial"/>
              </a:defRPr>
            </a:lvl8pPr>
            <a:lvl9pPr>
              <a:defRPr sz="1350" b="0">
                <a:solidFill>
                  <a:srgbClr val="52647A"/>
                </a:solidFill>
                <a:latin typeface="Arial"/>
                <a:ea typeface="Arial"/>
                <a:cs typeface="Arial"/>
              </a:defRPr>
            </a:lvl9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40  CUR-016</a:t>
            </a:r>
          </a:p>
        </p:txBody>
      </p:sp>
    </p:spTree>
    <p:extLst>
      <p:ext uri="{BB962C8B-B14F-4D97-AF65-F5344CB8AC3E}">
        <p14:creationId xmlns:p14="http://schemas.microsoft.com/office/powerpoint/2010/main" val="2091154443"/>
      </p:ext>
    </p:extLst>
  </p:cSld>
</p:sld>
</file>

<file path=ppt/slides/slide4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text-0">
            <a:extLst xmlns:a="http://schemas.openxmlformats.org/drawingml/2006/main">
              <a:ext uri="{FF2B5EF4-FFF2-40B4-BE49-F238E27FC236}">
                <a16:creationId xmlns:a16="http://schemas.microsoft.com/office/drawing/2014/main" id="{7DC252CB-7DD7-4C29-A00B-281952F6ABEC}"/>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vl1pPr>
              <a:defRPr sz="3300" b="1">
                <a:solidFill>
                  <a:srgbClr val="15283D"/>
                </a:solidFill>
                <a:latin typeface="Arial"/>
                <a:ea typeface="Arial"/>
                <a:cs typeface="Arial"/>
              </a:defRPr>
            </a:lvl1pPr>
            <a:lvl2pPr>
              <a:defRPr sz="3300" b="1">
                <a:solidFill>
                  <a:srgbClr val="15283D"/>
                </a:solidFill>
                <a:latin typeface="Arial"/>
                <a:ea typeface="Arial"/>
                <a:cs typeface="Arial"/>
              </a:defRPr>
            </a:lvl2pPr>
            <a:lvl3pPr>
              <a:defRPr sz="3300" b="1">
                <a:solidFill>
                  <a:srgbClr val="15283D"/>
                </a:solidFill>
                <a:latin typeface="Arial"/>
                <a:ea typeface="Arial"/>
                <a:cs typeface="Arial"/>
              </a:defRPr>
            </a:lvl3pPr>
            <a:lvl4pPr>
              <a:defRPr sz="3300" b="1">
                <a:solidFill>
                  <a:srgbClr val="15283D"/>
                </a:solidFill>
                <a:latin typeface="Arial"/>
                <a:ea typeface="Arial"/>
                <a:cs typeface="Arial"/>
              </a:defRPr>
            </a:lvl4pPr>
            <a:lvl5pPr>
              <a:defRPr sz="3300" b="1">
                <a:solidFill>
                  <a:srgbClr val="15283D"/>
                </a:solidFill>
                <a:latin typeface="Arial"/>
                <a:ea typeface="Arial"/>
                <a:cs typeface="Arial"/>
              </a:defRPr>
            </a:lvl5pPr>
            <a:lvl6pPr>
              <a:defRPr sz="3300" b="1">
                <a:solidFill>
                  <a:srgbClr val="15283D"/>
                </a:solidFill>
                <a:latin typeface="Arial"/>
                <a:ea typeface="Arial"/>
                <a:cs typeface="Arial"/>
              </a:defRPr>
            </a:lvl6pPr>
            <a:lvl7pPr>
              <a:defRPr sz="3300" b="1">
                <a:solidFill>
                  <a:srgbClr val="15283D"/>
                </a:solidFill>
                <a:latin typeface="Arial"/>
                <a:ea typeface="Arial"/>
                <a:cs typeface="Arial"/>
              </a:defRPr>
            </a:lvl7pPr>
            <a:lvl8pPr>
              <a:defRPr sz="3300" b="1">
                <a:solidFill>
                  <a:srgbClr val="15283D"/>
                </a:solidFill>
                <a:latin typeface="Arial"/>
                <a:ea typeface="Arial"/>
                <a:cs typeface="Arial"/>
              </a:defRPr>
            </a:lvl8pPr>
            <a:lvl9pPr>
              <a:defRPr sz="3300" b="1">
                <a:solidFill>
                  <a:srgbClr val="15283D"/>
                </a:solidFill>
                <a:latin typeface="Arial"/>
                <a:ea typeface="Arial"/>
                <a:cs typeface="Arial"/>
              </a:defRPr>
            </a:lvl9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Embedding-Lifecycle</a:t>
            </a:r>
          </a:p>
        </p:txBody>
      </p:sp>
      <p:sp>
        <p:nvSpPr>
          <p:cNvPr id="2" name="text-1">
            <a:extLst xmlns:a="http://schemas.openxmlformats.org/drawingml/2006/main">
              <a:ext uri="{FF2B5EF4-FFF2-40B4-BE49-F238E27FC236}">
                <a16:creationId xmlns:a16="http://schemas.microsoft.com/office/drawing/2014/main" id="{FCC7D548-A08D-44A6-A77A-69E018CDAC29}"/>
              </a:ext>
            </a:extLst>
          </p:cNvPr>
          <p:cNvSpPr>
            <a:spLocks xmlns:a="http://schemas.openxmlformats.org/drawingml/2006/main" noGrp="1"/>
          </p:cNvSpPr>
          <p:nvPr/>
        </p:nvSpPr>
        <p:spPr>
          <a:xfrm xmlns:a="http://schemas.openxmlformats.org/drawingml/2006/main">
            <a:off x="685800" y="177165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Vor dem Request</a:t>
            </a:r>
          </a:p>
        </p:txBody>
      </p:sp>
      <p:sp>
        <p:nvSpPr>
          <p:cNvPr id="3" name="text-2">
            <a:extLst xmlns:a="http://schemas.openxmlformats.org/drawingml/2006/main">
              <a:ext uri="{FF2B5EF4-FFF2-40B4-BE49-F238E27FC236}">
                <a16:creationId xmlns:a16="http://schemas.microsoft.com/office/drawing/2014/main" id="{D7C2FCFC-9461-4D3F-8A93-31E17976432F}"/>
              </a:ext>
            </a:extLst>
          </p:cNvPr>
          <p:cNvSpPr>
            <a:spLocks xmlns:a="http://schemas.openxmlformats.org/drawingml/2006/main" noGrp="1"/>
          </p:cNvSpPr>
          <p:nvPr/>
        </p:nvSpPr>
        <p:spPr>
          <a:xfrm xmlns:a="http://schemas.openxmlformats.org/drawingml/2006/main">
            <a:off x="3190875" y="177165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Modell, Dimension, Tokenlimit, Lizenz, TLS und authentifizierten Endpoint prüfen.</a:t>
            </a:r>
          </a:p>
        </p:txBody>
      </p:sp>
      <p:sp>
        <p:nvSpPr>
          <p:cNvPr id="4" name="text-3">
            <a:extLst xmlns:a="http://schemas.openxmlformats.org/drawingml/2006/main">
              <a:ext uri="{FF2B5EF4-FFF2-40B4-BE49-F238E27FC236}">
                <a16:creationId xmlns:a16="http://schemas.microsoft.com/office/drawing/2014/main" id="{7A06E6A5-E84F-4F14-8254-C3801B4EC0CB}"/>
              </a:ext>
            </a:extLst>
          </p:cNvPr>
          <p:cNvSpPr>
            <a:spLocks xmlns:a="http://schemas.openxmlformats.org/drawingml/2006/main" noGrp="1"/>
          </p:cNvSpPr>
          <p:nvPr/>
        </p:nvSpPr>
        <p:spPr>
          <a:xfrm xmlns:a="http://schemas.openxmlformats.org/drawingml/2006/main">
            <a:off x="685800" y="3057525"/>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Vor dem INSERT</a:t>
            </a:r>
          </a:p>
        </p:txBody>
      </p:sp>
      <p:sp>
        <p:nvSpPr>
          <p:cNvPr id="5" name="text-4">
            <a:extLst xmlns:a="http://schemas.openxmlformats.org/drawingml/2006/main">
              <a:ext uri="{FF2B5EF4-FFF2-40B4-BE49-F238E27FC236}">
                <a16:creationId xmlns:a16="http://schemas.microsoft.com/office/drawing/2014/main" id="{D653DA2C-E9A8-484B-A474-EBF6AC861287}"/>
              </a:ext>
            </a:extLst>
          </p:cNvPr>
          <p:cNvSpPr>
            <a:spLocks xmlns:a="http://schemas.openxmlformats.org/drawingml/2006/main" noGrp="1"/>
          </p:cNvSpPr>
          <p:nvPr/>
        </p:nvSpPr>
        <p:spPr>
          <a:xfrm xmlns:a="http://schemas.openxmlformats.org/drawingml/2006/main">
            <a:off x="3190875" y="3057525"/>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Resultattyp, Anzahl, Dimension, Truncation und Modellraum kontrollieren.</a:t>
            </a:r>
          </a:p>
        </p:txBody>
      </p:sp>
      <p:sp>
        <p:nvSpPr>
          <p:cNvPr id="6" name="text-5">
            <a:extLst xmlns:a="http://schemas.openxmlformats.org/drawingml/2006/main">
              <a:ext uri="{FF2B5EF4-FFF2-40B4-BE49-F238E27FC236}">
                <a16:creationId xmlns:a16="http://schemas.microsoft.com/office/drawing/2014/main" id="{CB03344A-264F-4BD6-AF28-F76520C64F8E}"/>
              </a:ext>
            </a:extLst>
          </p:cNvPr>
          <p:cNvSpPr>
            <a:spLocks xmlns:a="http://schemas.openxmlformats.org/drawingml/2006/main" noGrp="1"/>
          </p:cNvSpPr>
          <p:nvPr/>
        </p:nvSpPr>
        <p:spPr>
          <a:xfrm xmlns:a="http://schemas.openxmlformats.org/drawingml/2006/main">
            <a:off x="685800" y="434340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Nach Änderungen</a:t>
            </a:r>
          </a:p>
        </p:txBody>
      </p:sp>
      <p:sp>
        <p:nvSpPr>
          <p:cNvPr id="7" name="text-6">
            <a:extLst xmlns:a="http://schemas.openxmlformats.org/drawingml/2006/main">
              <a:ext uri="{FF2B5EF4-FFF2-40B4-BE49-F238E27FC236}">
                <a16:creationId xmlns:a16="http://schemas.microsoft.com/office/drawing/2014/main" id="{C64C5786-B225-4865-B961-715AF88A6C04}"/>
              </a:ext>
            </a:extLst>
          </p:cNvPr>
          <p:cNvSpPr>
            <a:spLocks xmlns:a="http://schemas.openxmlformats.org/drawingml/2006/main" noGrp="1"/>
          </p:cNvSpPr>
          <p:nvPr/>
        </p:nvSpPr>
        <p:spPr>
          <a:xfrm xmlns:a="http://schemas.openxmlformats.org/drawingml/2006/main">
            <a:off x="3190875" y="434340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Re-Embedding nachvollziehbar versionieren. Request-, Retry-, Netz- und Modellzeit getrennt zählen.</a:t>
            </a:r>
          </a:p>
        </p:txBody>
      </p:sp>
      <p:sp>
        <p:nvSpPr>
          <p:cNvPr id="8" name="text-7">
            <a:extLst xmlns:a="http://schemas.openxmlformats.org/drawingml/2006/main">
              <a:ext uri="{FF2B5EF4-FFF2-40B4-BE49-F238E27FC236}">
                <a16:creationId xmlns:a16="http://schemas.microsoft.com/office/drawing/2014/main" id="{8DC93C1C-7E51-4BD4-A29F-A66F65F04C78}"/>
              </a:ext>
            </a:extLst>
          </p:cNvPr>
          <p:cNvSpPr>
            <a:spLocks xmlns:a="http://schemas.openxmlformats.org/drawingml/2006/main" noGrp="1"/>
          </p:cNvSpPr>
          <p:nvPr/>
        </p:nvSpPr>
        <p:spPr>
          <a:xfrm xmlns:a="http://schemas.openxmlformats.org/drawingml/2006/main">
            <a:off x="685800" y="5876925"/>
            <a:ext cx="10553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0">
                <a:solidFill>
                  <a:srgbClr val="52647A"/>
                </a:solidFill>
                <a:latin typeface="Arial"/>
                <a:ea typeface="Arial"/>
                <a:cs typeface="Arial"/>
              </a:defRPr>
            </a:defPPr>
            <a:lvl1pPr>
              <a:defRPr sz="1800" b="0">
                <a:solidFill>
                  <a:srgbClr val="52647A"/>
                </a:solidFill>
                <a:latin typeface="Arial"/>
                <a:ea typeface="Arial"/>
                <a:cs typeface="Arial"/>
              </a:defRPr>
            </a:lvl1pPr>
            <a:lvl2pPr>
              <a:defRPr sz="1800" b="0">
                <a:solidFill>
                  <a:srgbClr val="52647A"/>
                </a:solidFill>
                <a:latin typeface="Arial"/>
                <a:ea typeface="Arial"/>
                <a:cs typeface="Arial"/>
              </a:defRPr>
            </a:lvl2pPr>
            <a:lvl3pPr>
              <a:defRPr sz="1800" b="0">
                <a:solidFill>
                  <a:srgbClr val="52647A"/>
                </a:solidFill>
                <a:latin typeface="Arial"/>
                <a:ea typeface="Arial"/>
                <a:cs typeface="Arial"/>
              </a:defRPr>
            </a:lvl3pPr>
            <a:lvl4pPr>
              <a:defRPr sz="1800" b="0">
                <a:solidFill>
                  <a:srgbClr val="52647A"/>
                </a:solidFill>
                <a:latin typeface="Arial"/>
                <a:ea typeface="Arial"/>
                <a:cs typeface="Arial"/>
              </a:defRPr>
            </a:lvl4pPr>
            <a:lvl5pPr>
              <a:defRPr sz="1800" b="0">
                <a:solidFill>
                  <a:srgbClr val="52647A"/>
                </a:solidFill>
                <a:latin typeface="Arial"/>
                <a:ea typeface="Arial"/>
                <a:cs typeface="Arial"/>
              </a:defRPr>
            </a:lvl5pPr>
            <a:lvl6pPr>
              <a:defRPr sz="1800" b="0">
                <a:solidFill>
                  <a:srgbClr val="52647A"/>
                </a:solidFill>
                <a:latin typeface="Arial"/>
                <a:ea typeface="Arial"/>
                <a:cs typeface="Arial"/>
              </a:defRPr>
            </a:lvl6pPr>
            <a:lvl7pPr>
              <a:defRPr sz="1800" b="0">
                <a:solidFill>
                  <a:srgbClr val="52647A"/>
                </a:solidFill>
                <a:latin typeface="Arial"/>
                <a:ea typeface="Arial"/>
                <a:cs typeface="Arial"/>
              </a:defRPr>
            </a:lvl7pPr>
            <a:lvl8pPr>
              <a:defRPr sz="1800" b="0">
                <a:solidFill>
                  <a:srgbClr val="52647A"/>
                </a:solidFill>
                <a:latin typeface="Arial"/>
                <a:ea typeface="Arial"/>
                <a:cs typeface="Arial"/>
              </a:defRPr>
            </a:lvl8pPr>
            <a:lvl9pPr>
              <a:defRPr sz="1800" b="0">
                <a:solidFill>
                  <a:srgbClr val="52647A"/>
                </a:solidFill>
                <a:latin typeface="Arial"/>
                <a:ea typeface="Arial"/>
                <a:cs typeface="Arial"/>
              </a:defRPr>
            </a:lvl9pPr>
          </a:lstStyle>
          <a:p xmlns:a="http://schemas.openxmlformats.org/drawingml/2006/main">
            <a:pPr>
              <a:defRPr sz="1800" b="0">
                <a:solidFill>
                  <a:srgbClr val="52647A"/>
                </a:solidFill>
                <a:latin typeface="Arial"/>
                <a:ea typeface="Arial"/>
                <a:cs typeface="Arial"/>
              </a:defRPr>
            </a:pPr>
            <a:r>
              <a:rPr sz="1800" b="0">
                <a:solidFill>
                  <a:srgbClr val="52647A"/>
                </a:solidFill>
                <a:latin typeface="Arial"/>
                <a:ea typeface="Arial"/>
                <a:cs typeface="Arial"/>
              </a:rPr>
              <a:t>SQL External Model beschreibt den Embeddingzugang. Die generative Antwort bleibt ein Anwendungsschritt.</a:t>
            </a:r>
          </a:p>
        </p:txBody>
      </p:sp>
      <p:sp>
        <p:nvSpPr>
          <p:cNvPr id="9" name="text-8">
            <a:extLst xmlns:a="http://schemas.openxmlformats.org/drawingml/2006/main">
              <a:ext uri="{FF2B5EF4-FFF2-40B4-BE49-F238E27FC236}">
                <a16:creationId xmlns:a16="http://schemas.microsoft.com/office/drawing/2014/main" id="{EF47AF3B-D8DC-4910-A4E6-E2AC17982C2D}"/>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vl1pPr>
              <a:defRPr sz="1350" b="0">
                <a:solidFill>
                  <a:srgbClr val="52647A"/>
                </a:solidFill>
                <a:latin typeface="Arial"/>
                <a:ea typeface="Arial"/>
                <a:cs typeface="Arial"/>
              </a:defRPr>
            </a:lvl1pPr>
            <a:lvl2pPr>
              <a:defRPr sz="1350" b="0">
                <a:solidFill>
                  <a:srgbClr val="52647A"/>
                </a:solidFill>
                <a:latin typeface="Arial"/>
                <a:ea typeface="Arial"/>
                <a:cs typeface="Arial"/>
              </a:defRPr>
            </a:lvl2pPr>
            <a:lvl3pPr>
              <a:defRPr sz="1350" b="0">
                <a:solidFill>
                  <a:srgbClr val="52647A"/>
                </a:solidFill>
                <a:latin typeface="Arial"/>
                <a:ea typeface="Arial"/>
                <a:cs typeface="Arial"/>
              </a:defRPr>
            </a:lvl3pPr>
            <a:lvl4pPr>
              <a:defRPr sz="1350" b="0">
                <a:solidFill>
                  <a:srgbClr val="52647A"/>
                </a:solidFill>
                <a:latin typeface="Arial"/>
                <a:ea typeface="Arial"/>
                <a:cs typeface="Arial"/>
              </a:defRPr>
            </a:lvl4pPr>
            <a:lvl5pPr>
              <a:defRPr sz="1350" b="0">
                <a:solidFill>
                  <a:srgbClr val="52647A"/>
                </a:solidFill>
                <a:latin typeface="Arial"/>
                <a:ea typeface="Arial"/>
                <a:cs typeface="Arial"/>
              </a:defRPr>
            </a:lvl5pPr>
            <a:lvl6pPr>
              <a:defRPr sz="1350" b="0">
                <a:solidFill>
                  <a:srgbClr val="52647A"/>
                </a:solidFill>
                <a:latin typeface="Arial"/>
                <a:ea typeface="Arial"/>
                <a:cs typeface="Arial"/>
              </a:defRPr>
            </a:lvl6pPr>
            <a:lvl7pPr>
              <a:defRPr sz="1350" b="0">
                <a:solidFill>
                  <a:srgbClr val="52647A"/>
                </a:solidFill>
                <a:latin typeface="Arial"/>
                <a:ea typeface="Arial"/>
                <a:cs typeface="Arial"/>
              </a:defRPr>
            </a:lvl7pPr>
            <a:lvl8pPr>
              <a:defRPr sz="1350" b="0">
                <a:solidFill>
                  <a:srgbClr val="52647A"/>
                </a:solidFill>
                <a:latin typeface="Arial"/>
                <a:ea typeface="Arial"/>
                <a:cs typeface="Arial"/>
              </a:defRPr>
            </a:lvl8pPr>
            <a:lvl9pPr>
              <a:defRPr sz="1350" b="0">
                <a:solidFill>
                  <a:srgbClr val="52647A"/>
                </a:solidFill>
                <a:latin typeface="Arial"/>
                <a:ea typeface="Arial"/>
                <a:cs typeface="Arial"/>
              </a:defRPr>
            </a:lvl9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41  CUR-016</a:t>
            </a:r>
          </a:p>
        </p:txBody>
      </p:sp>
    </p:spTree>
    <p:extLst>
      <p:ext uri="{BB962C8B-B14F-4D97-AF65-F5344CB8AC3E}">
        <p14:creationId xmlns:p14="http://schemas.microsoft.com/office/powerpoint/2010/main" val="2035017690"/>
      </p:ext>
    </p:extLst>
  </p:cSld>
</p:sld>
</file>

<file path=ppt/slides/slide4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text-0">
            <a:extLst xmlns:a="http://schemas.openxmlformats.org/drawingml/2006/main">
              <a:ext uri="{FF2B5EF4-FFF2-40B4-BE49-F238E27FC236}">
                <a16:creationId xmlns:a16="http://schemas.microsoft.com/office/drawing/2014/main" id="{C5B18190-AE1D-4175-B41B-BBE0009D0208}"/>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vl1pPr>
              <a:defRPr sz="3300" b="1">
                <a:solidFill>
                  <a:srgbClr val="15283D"/>
                </a:solidFill>
                <a:latin typeface="Arial"/>
                <a:ea typeface="Arial"/>
                <a:cs typeface="Arial"/>
              </a:defRPr>
            </a:lvl1pPr>
            <a:lvl2pPr>
              <a:defRPr sz="3300" b="1">
                <a:solidFill>
                  <a:srgbClr val="15283D"/>
                </a:solidFill>
                <a:latin typeface="Arial"/>
                <a:ea typeface="Arial"/>
                <a:cs typeface="Arial"/>
              </a:defRPr>
            </a:lvl2pPr>
            <a:lvl3pPr>
              <a:defRPr sz="3300" b="1">
                <a:solidFill>
                  <a:srgbClr val="15283D"/>
                </a:solidFill>
                <a:latin typeface="Arial"/>
                <a:ea typeface="Arial"/>
                <a:cs typeface="Arial"/>
              </a:defRPr>
            </a:lvl3pPr>
            <a:lvl4pPr>
              <a:defRPr sz="3300" b="1">
                <a:solidFill>
                  <a:srgbClr val="15283D"/>
                </a:solidFill>
                <a:latin typeface="Arial"/>
                <a:ea typeface="Arial"/>
                <a:cs typeface="Arial"/>
              </a:defRPr>
            </a:lvl4pPr>
            <a:lvl5pPr>
              <a:defRPr sz="3300" b="1">
                <a:solidFill>
                  <a:srgbClr val="15283D"/>
                </a:solidFill>
                <a:latin typeface="Arial"/>
                <a:ea typeface="Arial"/>
                <a:cs typeface="Arial"/>
              </a:defRPr>
            </a:lvl5pPr>
            <a:lvl6pPr>
              <a:defRPr sz="3300" b="1">
                <a:solidFill>
                  <a:srgbClr val="15283D"/>
                </a:solidFill>
                <a:latin typeface="Arial"/>
                <a:ea typeface="Arial"/>
                <a:cs typeface="Arial"/>
              </a:defRPr>
            </a:lvl6pPr>
            <a:lvl7pPr>
              <a:defRPr sz="3300" b="1">
                <a:solidFill>
                  <a:srgbClr val="15283D"/>
                </a:solidFill>
                <a:latin typeface="Arial"/>
                <a:ea typeface="Arial"/>
                <a:cs typeface="Arial"/>
              </a:defRPr>
            </a:lvl7pPr>
            <a:lvl8pPr>
              <a:defRPr sz="3300" b="1">
                <a:solidFill>
                  <a:srgbClr val="15283D"/>
                </a:solidFill>
                <a:latin typeface="Arial"/>
                <a:ea typeface="Arial"/>
                <a:cs typeface="Arial"/>
              </a:defRPr>
            </a:lvl8pPr>
            <a:lvl9pPr>
              <a:defRPr sz="3300" b="1">
                <a:solidFill>
                  <a:srgbClr val="15283D"/>
                </a:solidFill>
                <a:latin typeface="Arial"/>
                <a:ea typeface="Arial"/>
                <a:cs typeface="Arial"/>
              </a:defRPr>
            </a:lvl9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DGN-008: Getrennte Modellrechte</a:t>
            </a:r>
          </a:p>
        </p:txBody>
      </p:sp>
      <p:sp>
        <p:nvSpPr>
          <p:cNvPr id="2" name="text-1">
            <a:extLst xmlns:a="http://schemas.openxmlformats.org/drawingml/2006/main">
              <a:ext uri="{FF2B5EF4-FFF2-40B4-BE49-F238E27FC236}">
                <a16:creationId xmlns:a16="http://schemas.microsoft.com/office/drawing/2014/main" id="{CDEEA3F2-64B6-4CFE-B245-DA8548B0170C}"/>
              </a:ext>
            </a:extLst>
          </p:cNvPr>
          <p:cNvSpPr>
            <a:spLocks xmlns:a="http://schemas.openxmlformats.org/drawingml/2006/main" noGrp="1"/>
          </p:cNvSpPr>
          <p:nvPr/>
        </p:nvSpPr>
        <p:spPr>
          <a:xfrm xmlns:a="http://schemas.openxmlformats.org/drawingml/2006/main">
            <a:off x="685800" y="177165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Vorhersage</a:t>
            </a:r>
          </a:p>
        </p:txBody>
      </p:sp>
      <p:sp>
        <p:nvSpPr>
          <p:cNvPr id="3" name="text-2">
            <a:extLst xmlns:a="http://schemas.openxmlformats.org/drawingml/2006/main">
              <a:ext uri="{FF2B5EF4-FFF2-40B4-BE49-F238E27FC236}">
                <a16:creationId xmlns:a16="http://schemas.microsoft.com/office/drawing/2014/main" id="{61815BFD-BDCB-407A-9692-ECF0AFE1D69A}"/>
              </a:ext>
            </a:extLst>
          </p:cNvPr>
          <p:cNvSpPr>
            <a:spLocks xmlns:a="http://schemas.openxmlformats.org/drawingml/2006/main" noGrp="1"/>
          </p:cNvSpPr>
          <p:nvPr/>
        </p:nvSpPr>
        <p:spPr>
          <a:xfrm xmlns:a="http://schemas.openxmlformats.org/drawingml/2006/main">
            <a:off x="3190875" y="177165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Welche Rechte brauchen Setup, Ingestion und Retrieval jeweils?</a:t>
            </a:r>
          </a:p>
        </p:txBody>
      </p:sp>
      <p:sp>
        <p:nvSpPr>
          <p:cNvPr id="4" name="text-3">
            <a:extLst xmlns:a="http://schemas.openxmlformats.org/drawingml/2006/main">
              <a:ext uri="{FF2B5EF4-FFF2-40B4-BE49-F238E27FC236}">
                <a16:creationId xmlns:a16="http://schemas.microsoft.com/office/drawing/2014/main" id="{6B49D815-6E4A-43E3-BF63-D9C2BE78660C}"/>
              </a:ext>
            </a:extLst>
          </p:cNvPr>
          <p:cNvSpPr>
            <a:spLocks xmlns:a="http://schemas.openxmlformats.org/drawingml/2006/main" noGrp="1"/>
          </p:cNvSpPr>
          <p:nvPr/>
        </p:nvSpPr>
        <p:spPr>
          <a:xfrm xmlns:a="http://schemas.openxmlformats.org/drawingml/2006/main">
            <a:off x="685800" y="3057525"/>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Beobachtung</a:t>
            </a:r>
          </a:p>
        </p:txBody>
      </p:sp>
      <p:sp>
        <p:nvSpPr>
          <p:cNvPr id="5" name="text-4">
            <a:extLst xmlns:a="http://schemas.openxmlformats.org/drawingml/2006/main">
              <a:ext uri="{FF2B5EF4-FFF2-40B4-BE49-F238E27FC236}">
                <a16:creationId xmlns:a16="http://schemas.microsoft.com/office/drawing/2014/main" id="{F822D36E-FBC8-4BD6-9331-DC319710C258}"/>
              </a:ext>
            </a:extLst>
          </p:cNvPr>
          <p:cNvSpPr>
            <a:spLocks xmlns:a="http://schemas.openxmlformats.org/drawingml/2006/main" noGrp="1"/>
          </p:cNvSpPr>
          <p:nvPr/>
        </p:nvSpPr>
        <p:spPr>
          <a:xfrm xmlns:a="http://schemas.openxmlformats.org/drawingml/2006/main">
            <a:off x="3190875" y="3057525"/>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Offline-Modellmetadaten, drei getrennte Rollen und die tatsächliche Grantreduktion prüfen.</a:t>
            </a:r>
          </a:p>
        </p:txBody>
      </p:sp>
      <p:sp>
        <p:nvSpPr>
          <p:cNvPr id="6" name="text-5">
            <a:extLst xmlns:a="http://schemas.openxmlformats.org/drawingml/2006/main">
              <a:ext uri="{FF2B5EF4-FFF2-40B4-BE49-F238E27FC236}">
                <a16:creationId xmlns:a16="http://schemas.microsoft.com/office/drawing/2014/main" id="{0F98F619-ED2A-4ED3-94A8-6BCCE243D72C}"/>
              </a:ext>
            </a:extLst>
          </p:cNvPr>
          <p:cNvSpPr>
            <a:spLocks xmlns:a="http://schemas.openxmlformats.org/drawingml/2006/main" noGrp="1"/>
          </p:cNvSpPr>
          <p:nvPr/>
        </p:nvSpPr>
        <p:spPr>
          <a:xfrm xmlns:a="http://schemas.openxmlformats.org/drawingml/2006/main">
            <a:off x="685800" y="434340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Interpretation</a:t>
            </a:r>
          </a:p>
        </p:txBody>
      </p:sp>
      <p:sp>
        <p:nvSpPr>
          <p:cNvPr id="7" name="text-6">
            <a:extLst xmlns:a="http://schemas.openxmlformats.org/drawingml/2006/main">
              <a:ext uri="{FF2B5EF4-FFF2-40B4-BE49-F238E27FC236}">
                <a16:creationId xmlns:a16="http://schemas.microsoft.com/office/drawing/2014/main" id="{AEAD0BF4-8259-49DA-B1FB-C50395E0BFA8}"/>
              </a:ext>
            </a:extLst>
          </p:cNvPr>
          <p:cNvSpPr>
            <a:spLocks xmlns:a="http://schemas.openxmlformats.org/drawingml/2006/main" noGrp="1"/>
          </p:cNvSpPr>
          <p:nvPr/>
        </p:nvSpPr>
        <p:spPr>
          <a:xfrm xmlns:a="http://schemas.openxmlformats.org/drawingml/2006/main">
            <a:off x="3190875" y="434340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Model-EXECUTE belegt hier ein Metadatenrecht. Providererreichbarkeit und Inferenz bleiben offen.</a:t>
            </a:r>
          </a:p>
        </p:txBody>
      </p:sp>
      <p:sp>
        <p:nvSpPr>
          <p:cNvPr id="8" name="text-7">
            <a:extLst xmlns:a="http://schemas.openxmlformats.org/drawingml/2006/main">
              <a:ext uri="{FF2B5EF4-FFF2-40B4-BE49-F238E27FC236}">
                <a16:creationId xmlns:a16="http://schemas.microsoft.com/office/drawing/2014/main" id="{EC88C2C9-5015-444D-8806-DEC6A9F04A1D}"/>
              </a:ext>
            </a:extLst>
          </p:cNvPr>
          <p:cNvSpPr>
            <a:spLocks xmlns:a="http://schemas.openxmlformats.org/drawingml/2006/main" noGrp="1"/>
          </p:cNvSpPr>
          <p:nvPr/>
        </p:nvSpPr>
        <p:spPr>
          <a:xfrm xmlns:a="http://schemas.openxmlformats.org/drawingml/2006/main">
            <a:off x="685800" y="5876925"/>
            <a:ext cx="10553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0">
                <a:solidFill>
                  <a:srgbClr val="52647A"/>
                </a:solidFill>
                <a:latin typeface="Arial"/>
                <a:ea typeface="Arial"/>
                <a:cs typeface="Arial"/>
              </a:defRPr>
            </a:defPPr>
            <a:lvl1pPr>
              <a:defRPr sz="1800" b="0">
                <a:solidFill>
                  <a:srgbClr val="52647A"/>
                </a:solidFill>
                <a:latin typeface="Arial"/>
                <a:ea typeface="Arial"/>
                <a:cs typeface="Arial"/>
              </a:defRPr>
            </a:lvl1pPr>
            <a:lvl2pPr>
              <a:defRPr sz="1800" b="0">
                <a:solidFill>
                  <a:srgbClr val="52647A"/>
                </a:solidFill>
                <a:latin typeface="Arial"/>
                <a:ea typeface="Arial"/>
                <a:cs typeface="Arial"/>
              </a:defRPr>
            </a:lvl2pPr>
            <a:lvl3pPr>
              <a:defRPr sz="1800" b="0">
                <a:solidFill>
                  <a:srgbClr val="52647A"/>
                </a:solidFill>
                <a:latin typeface="Arial"/>
                <a:ea typeface="Arial"/>
                <a:cs typeface="Arial"/>
              </a:defRPr>
            </a:lvl3pPr>
            <a:lvl4pPr>
              <a:defRPr sz="1800" b="0">
                <a:solidFill>
                  <a:srgbClr val="52647A"/>
                </a:solidFill>
                <a:latin typeface="Arial"/>
                <a:ea typeface="Arial"/>
                <a:cs typeface="Arial"/>
              </a:defRPr>
            </a:lvl4pPr>
            <a:lvl5pPr>
              <a:defRPr sz="1800" b="0">
                <a:solidFill>
                  <a:srgbClr val="52647A"/>
                </a:solidFill>
                <a:latin typeface="Arial"/>
                <a:ea typeface="Arial"/>
                <a:cs typeface="Arial"/>
              </a:defRPr>
            </a:lvl5pPr>
            <a:lvl6pPr>
              <a:defRPr sz="1800" b="0">
                <a:solidFill>
                  <a:srgbClr val="52647A"/>
                </a:solidFill>
                <a:latin typeface="Arial"/>
                <a:ea typeface="Arial"/>
                <a:cs typeface="Arial"/>
              </a:defRPr>
            </a:lvl6pPr>
            <a:lvl7pPr>
              <a:defRPr sz="1800" b="0">
                <a:solidFill>
                  <a:srgbClr val="52647A"/>
                </a:solidFill>
                <a:latin typeface="Arial"/>
                <a:ea typeface="Arial"/>
                <a:cs typeface="Arial"/>
              </a:defRPr>
            </a:lvl7pPr>
            <a:lvl8pPr>
              <a:defRPr sz="1800" b="0">
                <a:solidFill>
                  <a:srgbClr val="52647A"/>
                </a:solidFill>
                <a:latin typeface="Arial"/>
                <a:ea typeface="Arial"/>
                <a:cs typeface="Arial"/>
              </a:defRPr>
            </a:lvl8pPr>
            <a:lvl9pPr>
              <a:defRPr sz="1800" b="0">
                <a:solidFill>
                  <a:srgbClr val="52647A"/>
                </a:solidFill>
                <a:latin typeface="Arial"/>
                <a:ea typeface="Arial"/>
                <a:cs typeface="Arial"/>
              </a:defRPr>
            </a:lvl9pPr>
          </a:lstStyle>
          <a:p xmlns:a="http://schemas.openxmlformats.org/drawingml/2006/main">
            <a:pPr>
              <a:defRPr sz="1800" b="0">
                <a:solidFill>
                  <a:srgbClr val="52647A"/>
                </a:solidFill>
                <a:latin typeface="Arial"/>
                <a:ea typeface="Arial"/>
                <a:cs typeface="Arial"/>
              </a:defRPr>
            </a:pPr>
            <a:r>
              <a:rPr sz="1800" b="0">
                <a:solidFill>
                  <a:srgbClr val="52647A"/>
                </a:solidFill>
                <a:latin typeface="Arial"/>
                <a:ea typeface="Arial"/>
                <a:cs typeface="Arial"/>
              </a:rPr>
              <a:t>IMPLEMENTED. Ohne Credential, Netzrequest oder Embeddinggenerierung.</a:t>
            </a:r>
          </a:p>
        </p:txBody>
      </p:sp>
      <p:sp>
        <p:nvSpPr>
          <p:cNvPr id="9" name="text-8">
            <a:extLst xmlns:a="http://schemas.openxmlformats.org/drawingml/2006/main">
              <a:ext uri="{FF2B5EF4-FFF2-40B4-BE49-F238E27FC236}">
                <a16:creationId xmlns:a16="http://schemas.microsoft.com/office/drawing/2014/main" id="{2030D405-D757-4C0A-AFDC-5E116A1B3A18}"/>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vl1pPr>
              <a:defRPr sz="1350" b="0">
                <a:solidFill>
                  <a:srgbClr val="52647A"/>
                </a:solidFill>
                <a:latin typeface="Arial"/>
                <a:ea typeface="Arial"/>
                <a:cs typeface="Arial"/>
              </a:defRPr>
            </a:lvl1pPr>
            <a:lvl2pPr>
              <a:defRPr sz="1350" b="0">
                <a:solidFill>
                  <a:srgbClr val="52647A"/>
                </a:solidFill>
                <a:latin typeface="Arial"/>
                <a:ea typeface="Arial"/>
                <a:cs typeface="Arial"/>
              </a:defRPr>
            </a:lvl2pPr>
            <a:lvl3pPr>
              <a:defRPr sz="1350" b="0">
                <a:solidFill>
                  <a:srgbClr val="52647A"/>
                </a:solidFill>
                <a:latin typeface="Arial"/>
                <a:ea typeface="Arial"/>
                <a:cs typeface="Arial"/>
              </a:defRPr>
            </a:lvl3pPr>
            <a:lvl4pPr>
              <a:defRPr sz="1350" b="0">
                <a:solidFill>
                  <a:srgbClr val="52647A"/>
                </a:solidFill>
                <a:latin typeface="Arial"/>
                <a:ea typeface="Arial"/>
                <a:cs typeface="Arial"/>
              </a:defRPr>
            </a:lvl4pPr>
            <a:lvl5pPr>
              <a:defRPr sz="1350" b="0">
                <a:solidFill>
                  <a:srgbClr val="52647A"/>
                </a:solidFill>
                <a:latin typeface="Arial"/>
                <a:ea typeface="Arial"/>
                <a:cs typeface="Arial"/>
              </a:defRPr>
            </a:lvl5pPr>
            <a:lvl6pPr>
              <a:defRPr sz="1350" b="0">
                <a:solidFill>
                  <a:srgbClr val="52647A"/>
                </a:solidFill>
                <a:latin typeface="Arial"/>
                <a:ea typeface="Arial"/>
                <a:cs typeface="Arial"/>
              </a:defRPr>
            </a:lvl6pPr>
            <a:lvl7pPr>
              <a:defRPr sz="1350" b="0">
                <a:solidFill>
                  <a:srgbClr val="52647A"/>
                </a:solidFill>
                <a:latin typeface="Arial"/>
                <a:ea typeface="Arial"/>
                <a:cs typeface="Arial"/>
              </a:defRPr>
            </a:lvl7pPr>
            <a:lvl8pPr>
              <a:defRPr sz="1350" b="0">
                <a:solidFill>
                  <a:srgbClr val="52647A"/>
                </a:solidFill>
                <a:latin typeface="Arial"/>
                <a:ea typeface="Arial"/>
                <a:cs typeface="Arial"/>
              </a:defRPr>
            </a:lvl8pPr>
            <a:lvl9pPr>
              <a:defRPr sz="1350" b="0">
                <a:solidFill>
                  <a:srgbClr val="52647A"/>
                </a:solidFill>
                <a:latin typeface="Arial"/>
                <a:ea typeface="Arial"/>
                <a:cs typeface="Arial"/>
              </a:defRPr>
            </a:lvl9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42  CUR-016 / CUR-018</a:t>
            </a:r>
          </a:p>
        </p:txBody>
      </p:sp>
    </p:spTree>
    <p:extLst>
      <p:ext uri="{BB962C8B-B14F-4D97-AF65-F5344CB8AC3E}">
        <p14:creationId xmlns:p14="http://schemas.microsoft.com/office/powerpoint/2010/main" val="645021254"/>
      </p:ext>
    </p:extLst>
  </p:cSld>
</p:sld>
</file>

<file path=ppt/slides/slide4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0">
            <a:extLst xmlns:a="http://schemas.openxmlformats.org/drawingml/2006/main">
              <a:ext uri="{FF2B5EF4-FFF2-40B4-BE49-F238E27FC236}">
                <a16:creationId xmlns:a16="http://schemas.microsoft.com/office/drawing/2014/main" id="{0ED48AEA-C998-42AA-BEBF-01126435A4FE}"/>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vl1pPr>
              <a:defRPr sz="3300" b="1">
                <a:solidFill>
                  <a:srgbClr val="15283D"/>
                </a:solidFill>
                <a:latin typeface="Arial"/>
                <a:ea typeface="Arial"/>
                <a:cs typeface="Arial"/>
              </a:defRPr>
            </a:lvl1pPr>
            <a:lvl2pPr>
              <a:defRPr sz="3300" b="1">
                <a:solidFill>
                  <a:srgbClr val="15283D"/>
                </a:solidFill>
                <a:latin typeface="Arial"/>
                <a:ea typeface="Arial"/>
                <a:cs typeface="Arial"/>
              </a:defRPr>
            </a:lvl2pPr>
            <a:lvl3pPr>
              <a:defRPr sz="3300" b="1">
                <a:solidFill>
                  <a:srgbClr val="15283D"/>
                </a:solidFill>
                <a:latin typeface="Arial"/>
                <a:ea typeface="Arial"/>
                <a:cs typeface="Arial"/>
              </a:defRPr>
            </a:lvl3pPr>
            <a:lvl4pPr>
              <a:defRPr sz="3300" b="1">
                <a:solidFill>
                  <a:srgbClr val="15283D"/>
                </a:solidFill>
                <a:latin typeface="Arial"/>
                <a:ea typeface="Arial"/>
                <a:cs typeface="Arial"/>
              </a:defRPr>
            </a:lvl4pPr>
            <a:lvl5pPr>
              <a:defRPr sz="3300" b="1">
                <a:solidFill>
                  <a:srgbClr val="15283D"/>
                </a:solidFill>
                <a:latin typeface="Arial"/>
                <a:ea typeface="Arial"/>
                <a:cs typeface="Arial"/>
              </a:defRPr>
            </a:lvl5pPr>
            <a:lvl6pPr>
              <a:defRPr sz="3300" b="1">
                <a:solidFill>
                  <a:srgbClr val="15283D"/>
                </a:solidFill>
                <a:latin typeface="Arial"/>
                <a:ea typeface="Arial"/>
                <a:cs typeface="Arial"/>
              </a:defRPr>
            </a:lvl6pPr>
            <a:lvl7pPr>
              <a:defRPr sz="3300" b="1">
                <a:solidFill>
                  <a:srgbClr val="15283D"/>
                </a:solidFill>
                <a:latin typeface="Arial"/>
                <a:ea typeface="Arial"/>
                <a:cs typeface="Arial"/>
              </a:defRPr>
            </a:lvl7pPr>
            <a:lvl8pPr>
              <a:defRPr sz="3300" b="1">
                <a:solidFill>
                  <a:srgbClr val="15283D"/>
                </a:solidFill>
                <a:latin typeface="Arial"/>
                <a:ea typeface="Arial"/>
                <a:cs typeface="Arial"/>
              </a:defRPr>
            </a:lvl8pPr>
            <a:lvl9pPr>
              <a:defRPr sz="3300" b="1">
                <a:solidFill>
                  <a:srgbClr val="15283D"/>
                </a:solidFill>
                <a:latin typeface="Arial"/>
                <a:ea typeface="Arial"/>
                <a:cs typeface="Arial"/>
              </a:defRPr>
            </a:lvl9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Suchpfade und Qualitätsfragen</a:t>
            </a:r>
          </a:p>
        </p:txBody>
      </p:sp>
      <p:graphicFrame>
        <p:nvGraphicFramePr>
          <p:cNvPr id="2" name="">
            <a:extLst xmlns:a="http://schemas.openxmlformats.org/drawingml/2006/main">
              <a:ext uri="{FF2B5EF4-FFF2-40B4-BE49-F238E27FC236}">
                <a16:creationId xmlns:a16="http://schemas.microsoft.com/office/drawing/2014/main" id="{6464FE5D-72C7-40C0-97B3-9F1C899D30EF}"/>
              </a:ext>
            </a:extLst>
          </p:cNvPr>
          <p:cNvGraphicFramePr/>
          <p:nvPr/>
        </p:nvGraphicFramePr>
        <p:xfrm>
          <a:off xmlns:a="http://schemas.openxmlformats.org/drawingml/2006/main" x="685800" y="1771650"/>
          <a:ext xmlns:a="http://schemas.openxmlformats.org/drawingml/2006/main" cx="10668000" cy="4000500"/>
        </p:xfrm>
        <a:graphic xmlns:a="http://schemas.openxmlformats.org/drawingml/2006/main">
          <a:graphicData uri="http://schemas.openxmlformats.org/drawingml/2006/table">
            <a:tbl>
              <a:tblPr/>
              <a:tblGrid>
                <a:gridCol w="2667000"/>
                <a:gridCol w="3810000"/>
                <a:gridCol w="4191000"/>
              </a:tblGrid>
              <a:tr h="800100">
                <a:tc>
                  <a:txBody>
                    <a:bodyPr/>
                    <a:lstStyle/>
                    <a:p>
                      <a:r>
                        <a:rPr sz="1800" b="1">
                          <a:solidFill>
                            <a:srgbClr val="15283D"/>
                          </a:solidFill>
                          <a:latin typeface="Arial"/>
                          <a:ea typeface="Arial"/>
                          <a:cs typeface="Arial"/>
                        </a:rPr>
                        <a:t>Suchpfad</a:t>
                      </a:r>
                    </a:p>
                  </a:txBody>
                  <a:tcPr marL="114300" marR="114300" marT="47625" marB="47625" anchor="ctr">
                    <a:lnL w="9525">
                      <a:solidFill>
                        <a:srgbClr val="C8D5DE"/>
                      </a:solidFill>
                      <a:prstDash val="solid"/>
                    </a:lnL>
                    <a:lnR w="9525">
                      <a:solidFill>
                        <a:srgbClr val="C8D5DE"/>
                      </a:solidFill>
                      <a:prstDash val="solid"/>
                    </a:lnR>
                    <a:lnT w="9525">
                      <a:solidFill>
                        <a:srgbClr val="C8D5DE"/>
                      </a:solidFill>
                      <a:prstDash val="solid"/>
                    </a:lnT>
                    <a:lnB w="9525">
                      <a:solidFill>
                        <a:srgbClr val="C8D5DE"/>
                      </a:solidFill>
                      <a:prstDash val="solid"/>
                    </a:lnB>
                    <a:solidFill>
                      <a:srgbClr val="E8F2F2"/>
                    </a:solidFill>
                  </a:tcPr>
                </a:tc>
                <a:tc>
                  <a:txBody>
                    <a:bodyPr/>
                    <a:lstStyle/>
                    <a:p>
                      <a:r>
                        <a:rPr sz="1800" b="1">
                          <a:solidFill>
                            <a:srgbClr val="15283D"/>
                          </a:solidFill>
                          <a:latin typeface="Arial"/>
                          <a:ea typeface="Arial"/>
                          <a:cs typeface="Arial"/>
                        </a:rPr>
                        <a:t>Passende Frage</a:t>
                      </a:r>
                    </a:p>
                  </a:txBody>
                  <a:tcPr marL="114300" marR="114300" marT="47625" marB="47625" anchor="ctr">
                    <a:lnR w="9525">
                      <a:solidFill>
                        <a:srgbClr val="C8D5DE"/>
                      </a:solidFill>
                      <a:prstDash val="solid"/>
                    </a:lnR>
                    <a:lnT w="9525">
                      <a:solidFill>
                        <a:srgbClr val="C8D5DE"/>
                      </a:solidFill>
                      <a:prstDash val="solid"/>
                    </a:lnT>
                    <a:lnB w="9525">
                      <a:solidFill>
                        <a:srgbClr val="C8D5DE"/>
                      </a:solidFill>
                      <a:prstDash val="solid"/>
                    </a:lnB>
                    <a:solidFill>
                      <a:srgbClr val="E8F2F2"/>
                    </a:solidFill>
                  </a:tcPr>
                </a:tc>
                <a:tc>
                  <a:txBody>
                    <a:bodyPr/>
                    <a:lstStyle/>
                    <a:p>
                      <a:r>
                        <a:rPr sz="1800" b="1">
                          <a:solidFill>
                            <a:srgbClr val="15283D"/>
                          </a:solidFill>
                          <a:latin typeface="Arial"/>
                          <a:ea typeface="Arial"/>
                          <a:cs typeface="Arial"/>
                        </a:rPr>
                        <a:t>Erforderliche Bewertung</a:t>
                      </a:r>
                    </a:p>
                  </a:txBody>
                  <a:tcPr marL="114300" marR="114300" marT="47625" marB="47625" anchor="ctr">
                    <a:lnR w="9525">
                      <a:solidFill>
                        <a:srgbClr val="C8D5DE"/>
                      </a:solidFill>
                      <a:prstDash val="solid"/>
                    </a:lnR>
                    <a:lnT w="9525">
                      <a:solidFill>
                        <a:srgbClr val="C8D5DE"/>
                      </a:solidFill>
                      <a:prstDash val="solid"/>
                    </a:lnT>
                    <a:lnB w="9525">
                      <a:solidFill>
                        <a:srgbClr val="C8D5DE"/>
                      </a:solidFill>
                      <a:prstDash val="solid"/>
                    </a:lnB>
                    <a:solidFill>
                      <a:srgbClr val="E8F2F2"/>
                    </a:solidFill>
                  </a:tcPr>
                </a:tc>
              </a:tr>
              <a:tr h="800100">
                <a:tc>
                  <a:txBody>
                    <a:bodyPr/>
                    <a:lstStyle/>
                    <a:p>
                      <a:r>
                        <a:rPr sz="1800" b="0">
                          <a:solidFill>
                            <a:srgbClr val="15283D"/>
                          </a:solidFill>
                          <a:latin typeface="Arial"/>
                          <a:ea typeface="Arial"/>
                          <a:cs typeface="Arial"/>
                        </a:rPr>
                        <a:t>Relational</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Exakte Kennung, Bereich oder erlaubter Tenant</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Ergebnisidentität und geeigneter Zugriff</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r h="800100">
                <a:tc>
                  <a:txBody>
                    <a:bodyPr/>
                    <a:lstStyle/>
                    <a:p>
                      <a:r>
                        <a:rPr sz="1800" b="0">
                          <a:solidFill>
                            <a:srgbClr val="15283D"/>
                          </a:solidFill>
                          <a:latin typeface="Arial"/>
                          <a:ea typeface="Arial"/>
                          <a:cs typeface="Arial"/>
                        </a:rPr>
                        <a:t>Full-Text</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Wort oder sprachliche Suchform</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Komponente, Population und Relevanz</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r h="800100">
                <a:tc>
                  <a:txBody>
                    <a:bodyPr/>
                    <a:lstStyle/>
                    <a:p>
                      <a:r>
                        <a:rPr sz="1800" b="0">
                          <a:solidFill>
                            <a:srgbClr val="15283D"/>
                          </a:solidFill>
                          <a:latin typeface="Arial"/>
                          <a:ea typeface="Arial"/>
                          <a:cs typeface="Arial"/>
                        </a:rPr>
                        <a:t>Exact Vector</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Nähe im festgelegten Modellraum</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Gleiche Kandidaten, Metric und Tie-Regel</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r h="800100">
                <a:tc>
                  <a:txBody>
                    <a:bodyPr/>
                    <a:lstStyle/>
                    <a:p>
                      <a:r>
                        <a:rPr sz="1800" b="0">
                          <a:solidFill>
                            <a:srgbClr val="15283D"/>
                          </a:solidFill>
                          <a:latin typeface="Arial"/>
                          <a:ea typeface="Arial"/>
                          <a:cs typeface="Arial"/>
                        </a:rPr>
                        <a:t>Approximate Vector</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Approximation bei größerem Suchbestand</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Recall, Planbeleg, Filter und Gesamtkosten</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bl>
          </a:graphicData>
        </a:graphic>
      </p:graphicFrame>
      <p:sp>
        <p:nvSpPr>
          <p:cNvPr id="3" name="text-1">
            <a:extLst xmlns:a="http://schemas.openxmlformats.org/drawingml/2006/main">
              <a:ext uri="{FF2B5EF4-FFF2-40B4-BE49-F238E27FC236}">
                <a16:creationId xmlns:a16="http://schemas.microsoft.com/office/drawing/2014/main" id="{A70D06CE-9BA0-4E72-844D-4BC9FE957CEF}"/>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vl1pPr>
              <a:defRPr sz="1350" b="0">
                <a:solidFill>
                  <a:srgbClr val="52647A"/>
                </a:solidFill>
                <a:latin typeface="Arial"/>
                <a:ea typeface="Arial"/>
                <a:cs typeface="Arial"/>
              </a:defRPr>
            </a:lvl1pPr>
            <a:lvl2pPr>
              <a:defRPr sz="1350" b="0">
                <a:solidFill>
                  <a:srgbClr val="52647A"/>
                </a:solidFill>
                <a:latin typeface="Arial"/>
                <a:ea typeface="Arial"/>
                <a:cs typeface="Arial"/>
              </a:defRPr>
            </a:lvl2pPr>
            <a:lvl3pPr>
              <a:defRPr sz="1350" b="0">
                <a:solidFill>
                  <a:srgbClr val="52647A"/>
                </a:solidFill>
                <a:latin typeface="Arial"/>
                <a:ea typeface="Arial"/>
                <a:cs typeface="Arial"/>
              </a:defRPr>
            </a:lvl3pPr>
            <a:lvl4pPr>
              <a:defRPr sz="1350" b="0">
                <a:solidFill>
                  <a:srgbClr val="52647A"/>
                </a:solidFill>
                <a:latin typeface="Arial"/>
                <a:ea typeface="Arial"/>
                <a:cs typeface="Arial"/>
              </a:defRPr>
            </a:lvl4pPr>
            <a:lvl5pPr>
              <a:defRPr sz="1350" b="0">
                <a:solidFill>
                  <a:srgbClr val="52647A"/>
                </a:solidFill>
                <a:latin typeface="Arial"/>
                <a:ea typeface="Arial"/>
                <a:cs typeface="Arial"/>
              </a:defRPr>
            </a:lvl5pPr>
            <a:lvl6pPr>
              <a:defRPr sz="1350" b="0">
                <a:solidFill>
                  <a:srgbClr val="52647A"/>
                </a:solidFill>
                <a:latin typeface="Arial"/>
                <a:ea typeface="Arial"/>
                <a:cs typeface="Arial"/>
              </a:defRPr>
            </a:lvl6pPr>
            <a:lvl7pPr>
              <a:defRPr sz="1350" b="0">
                <a:solidFill>
                  <a:srgbClr val="52647A"/>
                </a:solidFill>
                <a:latin typeface="Arial"/>
                <a:ea typeface="Arial"/>
                <a:cs typeface="Arial"/>
              </a:defRPr>
            </a:lvl7pPr>
            <a:lvl8pPr>
              <a:defRPr sz="1350" b="0">
                <a:solidFill>
                  <a:srgbClr val="52647A"/>
                </a:solidFill>
                <a:latin typeface="Arial"/>
                <a:ea typeface="Arial"/>
                <a:cs typeface="Arial"/>
              </a:defRPr>
            </a:lvl8pPr>
            <a:lvl9pPr>
              <a:defRPr sz="1350" b="0">
                <a:solidFill>
                  <a:srgbClr val="52647A"/>
                </a:solidFill>
                <a:latin typeface="Arial"/>
                <a:ea typeface="Arial"/>
                <a:cs typeface="Arial"/>
              </a:defRPr>
            </a:lvl9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43  CUR-017 / CUR-020</a:t>
            </a:r>
          </a:p>
        </p:txBody>
      </p:sp>
    </p:spTree>
    <p:extLst>
      <p:ext uri="{BB962C8B-B14F-4D97-AF65-F5344CB8AC3E}">
        <p14:creationId xmlns:p14="http://schemas.microsoft.com/office/powerpoint/2010/main" val="1241625641"/>
      </p:ext>
    </p:extLst>
  </p:cSld>
</p:sld>
</file>

<file path=ppt/slides/slide4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text-0">
            <a:extLst xmlns:a="http://schemas.openxmlformats.org/drawingml/2006/main">
              <a:ext uri="{FF2B5EF4-FFF2-40B4-BE49-F238E27FC236}">
                <a16:creationId xmlns:a16="http://schemas.microsoft.com/office/drawing/2014/main" id="{6AE5BB5A-6C17-4015-8056-2CFD92DCD8AF}"/>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vl1pPr>
              <a:defRPr sz="3300" b="1">
                <a:solidFill>
                  <a:srgbClr val="15283D"/>
                </a:solidFill>
                <a:latin typeface="Arial"/>
                <a:ea typeface="Arial"/>
                <a:cs typeface="Arial"/>
              </a:defRPr>
            </a:lvl1pPr>
            <a:lvl2pPr>
              <a:defRPr sz="3300" b="1">
                <a:solidFill>
                  <a:srgbClr val="15283D"/>
                </a:solidFill>
                <a:latin typeface="Arial"/>
                <a:ea typeface="Arial"/>
                <a:cs typeface="Arial"/>
              </a:defRPr>
            </a:lvl2pPr>
            <a:lvl3pPr>
              <a:defRPr sz="3300" b="1">
                <a:solidFill>
                  <a:srgbClr val="15283D"/>
                </a:solidFill>
                <a:latin typeface="Arial"/>
                <a:ea typeface="Arial"/>
                <a:cs typeface="Arial"/>
              </a:defRPr>
            </a:lvl3pPr>
            <a:lvl4pPr>
              <a:defRPr sz="3300" b="1">
                <a:solidFill>
                  <a:srgbClr val="15283D"/>
                </a:solidFill>
                <a:latin typeface="Arial"/>
                <a:ea typeface="Arial"/>
                <a:cs typeface="Arial"/>
              </a:defRPr>
            </a:lvl4pPr>
            <a:lvl5pPr>
              <a:defRPr sz="3300" b="1">
                <a:solidFill>
                  <a:srgbClr val="15283D"/>
                </a:solidFill>
                <a:latin typeface="Arial"/>
                <a:ea typeface="Arial"/>
                <a:cs typeface="Arial"/>
              </a:defRPr>
            </a:lvl5pPr>
            <a:lvl6pPr>
              <a:defRPr sz="3300" b="1">
                <a:solidFill>
                  <a:srgbClr val="15283D"/>
                </a:solidFill>
                <a:latin typeface="Arial"/>
                <a:ea typeface="Arial"/>
                <a:cs typeface="Arial"/>
              </a:defRPr>
            </a:lvl6pPr>
            <a:lvl7pPr>
              <a:defRPr sz="3300" b="1">
                <a:solidFill>
                  <a:srgbClr val="15283D"/>
                </a:solidFill>
                <a:latin typeface="Arial"/>
                <a:ea typeface="Arial"/>
                <a:cs typeface="Arial"/>
              </a:defRPr>
            </a:lvl7pPr>
            <a:lvl8pPr>
              <a:defRPr sz="3300" b="1">
                <a:solidFill>
                  <a:srgbClr val="15283D"/>
                </a:solidFill>
                <a:latin typeface="Arial"/>
                <a:ea typeface="Arial"/>
                <a:cs typeface="Arial"/>
              </a:defRPr>
            </a:lvl8pPr>
            <a:lvl9pPr>
              <a:defRPr sz="3300" b="1">
                <a:solidFill>
                  <a:srgbClr val="15283D"/>
                </a:solidFill>
                <a:latin typeface="Arial"/>
                <a:ea typeface="Arial"/>
                <a:cs typeface="Arial"/>
              </a:defRPr>
            </a:lvl9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QRY-017: Suche nach MOD_A</a:t>
            </a:r>
          </a:p>
        </p:txBody>
      </p:sp>
      <p:sp>
        <p:nvSpPr>
          <p:cNvPr id="2" name="text-1">
            <a:extLst xmlns:a="http://schemas.openxmlformats.org/drawingml/2006/main">
              <a:ext uri="{FF2B5EF4-FFF2-40B4-BE49-F238E27FC236}">
                <a16:creationId xmlns:a16="http://schemas.microsoft.com/office/drawing/2014/main" id="{97572D54-5914-41BC-A6F0-7643F0F1324D}"/>
              </a:ext>
            </a:extLst>
          </p:cNvPr>
          <p:cNvSpPr>
            <a:spLocks xmlns:a="http://schemas.openxmlformats.org/drawingml/2006/main" noGrp="1"/>
          </p:cNvSpPr>
          <p:nvPr/>
        </p:nvSpPr>
        <p:spPr>
          <a:xfrm xmlns:a="http://schemas.openxmlformats.org/drawingml/2006/main">
            <a:off x="685800" y="177165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Vorhersage</a:t>
            </a:r>
          </a:p>
        </p:txBody>
      </p:sp>
      <p:sp>
        <p:nvSpPr>
          <p:cNvPr id="3" name="text-2">
            <a:extLst xmlns:a="http://schemas.openxmlformats.org/drawingml/2006/main">
              <a:ext uri="{FF2B5EF4-FFF2-40B4-BE49-F238E27FC236}">
                <a16:creationId xmlns:a16="http://schemas.microsoft.com/office/drawing/2014/main" id="{5AC99B8B-BB6E-452B-9987-50C78826EB84}"/>
              </a:ext>
            </a:extLst>
          </p:cNvPr>
          <p:cNvSpPr>
            <a:spLocks xmlns:a="http://schemas.openxmlformats.org/drawingml/2006/main" noGrp="1"/>
          </p:cNvSpPr>
          <p:nvPr/>
        </p:nvSpPr>
        <p:spPr>
          <a:xfrm xmlns:a="http://schemas.openxmlformats.org/drawingml/2006/main">
            <a:off x="3190875" y="177165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Welcher Pfad beantwortet die exakte synthetische Kennung MOD_A?</a:t>
            </a:r>
          </a:p>
        </p:txBody>
      </p:sp>
      <p:sp>
        <p:nvSpPr>
          <p:cNvPr id="4" name="text-3">
            <a:extLst xmlns:a="http://schemas.openxmlformats.org/drawingml/2006/main">
              <a:ext uri="{FF2B5EF4-FFF2-40B4-BE49-F238E27FC236}">
                <a16:creationId xmlns:a16="http://schemas.microsoft.com/office/drawing/2014/main" id="{222F2010-1D55-4F29-908E-9810F6246C5A}"/>
              </a:ext>
            </a:extLst>
          </p:cNvPr>
          <p:cNvSpPr>
            <a:spLocks xmlns:a="http://schemas.openxmlformats.org/drawingml/2006/main" noGrp="1"/>
          </p:cNvSpPr>
          <p:nvPr/>
        </p:nvSpPr>
        <p:spPr>
          <a:xfrm xmlns:a="http://schemas.openxmlformats.org/drawingml/2006/main">
            <a:off x="685800" y="3057525"/>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Beobachtung</a:t>
            </a:r>
          </a:p>
        </p:txBody>
      </p:sp>
      <p:sp>
        <p:nvSpPr>
          <p:cNvPr id="5" name="text-4">
            <a:extLst xmlns:a="http://schemas.openxmlformats.org/drawingml/2006/main">
              <a:ext uri="{FF2B5EF4-FFF2-40B4-BE49-F238E27FC236}">
                <a16:creationId xmlns:a16="http://schemas.microsoft.com/office/drawing/2014/main" id="{5F769F42-6E15-4BB6-B969-64F19A2A2E48}"/>
              </a:ext>
            </a:extLst>
          </p:cNvPr>
          <p:cNvSpPr>
            <a:spLocks xmlns:a="http://schemas.openxmlformats.org/drawingml/2006/main" noGrp="1"/>
          </p:cNvSpPr>
          <p:nvPr/>
        </p:nvSpPr>
        <p:spPr>
          <a:xfrm xmlns:a="http://schemas.openxmlformats.org/drawingml/2006/main">
            <a:off x="3190875" y="3057525"/>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Relationale Query, LIKE, optionalen Full-Text und Exact Distance an vier Rows vergleichen.</a:t>
            </a:r>
          </a:p>
        </p:txBody>
      </p:sp>
      <p:sp>
        <p:nvSpPr>
          <p:cNvPr id="6" name="text-5">
            <a:extLst xmlns:a="http://schemas.openxmlformats.org/drawingml/2006/main">
              <a:ext uri="{FF2B5EF4-FFF2-40B4-BE49-F238E27FC236}">
                <a16:creationId xmlns:a16="http://schemas.microsoft.com/office/drawing/2014/main" id="{B9A6EEFF-D7FF-4D0D-8604-76C47233F95B}"/>
              </a:ext>
            </a:extLst>
          </p:cNvPr>
          <p:cNvSpPr>
            <a:spLocks xmlns:a="http://schemas.openxmlformats.org/drawingml/2006/main" noGrp="1"/>
          </p:cNvSpPr>
          <p:nvPr/>
        </p:nvSpPr>
        <p:spPr>
          <a:xfrm xmlns:a="http://schemas.openxmlformats.org/drawingml/2006/main">
            <a:off x="685800" y="434340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Erklärung</a:t>
            </a:r>
          </a:p>
        </p:txBody>
      </p:sp>
      <p:sp>
        <p:nvSpPr>
          <p:cNvPr id="7" name="text-6">
            <a:extLst xmlns:a="http://schemas.openxmlformats.org/drawingml/2006/main">
              <a:ext uri="{FF2B5EF4-FFF2-40B4-BE49-F238E27FC236}">
                <a16:creationId xmlns:a16="http://schemas.microsoft.com/office/drawing/2014/main" id="{D0EE5363-1AF2-408A-B64E-7926708EF665}"/>
              </a:ext>
            </a:extLst>
          </p:cNvPr>
          <p:cNvSpPr>
            <a:spLocks xmlns:a="http://schemas.openxmlformats.org/drawingml/2006/main" noGrp="1"/>
          </p:cNvSpPr>
          <p:nvPr/>
        </p:nvSpPr>
        <p:spPr>
          <a:xfrm xmlns:a="http://schemas.openxmlformats.org/drawingml/2006/main">
            <a:off x="3190875" y="434340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Tenantfilter und erlaubten Treffer nennen. Fehlender Full-Text bleibt ein sichtbarer WARN.</a:t>
            </a:r>
          </a:p>
        </p:txBody>
      </p:sp>
      <p:sp>
        <p:nvSpPr>
          <p:cNvPr id="8" name="text-7">
            <a:extLst xmlns:a="http://schemas.openxmlformats.org/drawingml/2006/main">
              <a:ext uri="{FF2B5EF4-FFF2-40B4-BE49-F238E27FC236}">
                <a16:creationId xmlns:a16="http://schemas.microsoft.com/office/drawing/2014/main" id="{3ED4A84D-474E-423C-959C-90A330BFB24A}"/>
              </a:ext>
            </a:extLst>
          </p:cNvPr>
          <p:cNvSpPr>
            <a:spLocks xmlns:a="http://schemas.openxmlformats.org/drawingml/2006/main" noGrp="1"/>
          </p:cNvSpPr>
          <p:nvPr/>
        </p:nvSpPr>
        <p:spPr>
          <a:xfrm xmlns:a="http://schemas.openxmlformats.org/drawingml/2006/main">
            <a:off x="685800" y="5876925"/>
            <a:ext cx="10553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0">
                <a:solidFill>
                  <a:srgbClr val="52647A"/>
                </a:solidFill>
                <a:latin typeface="Arial"/>
                <a:ea typeface="Arial"/>
                <a:cs typeface="Arial"/>
              </a:defRPr>
            </a:defPPr>
            <a:lvl1pPr>
              <a:defRPr sz="1800" b="0">
                <a:solidFill>
                  <a:srgbClr val="52647A"/>
                </a:solidFill>
                <a:latin typeface="Arial"/>
                <a:ea typeface="Arial"/>
                <a:cs typeface="Arial"/>
              </a:defRPr>
            </a:lvl1pPr>
            <a:lvl2pPr>
              <a:defRPr sz="1800" b="0">
                <a:solidFill>
                  <a:srgbClr val="52647A"/>
                </a:solidFill>
                <a:latin typeface="Arial"/>
                <a:ea typeface="Arial"/>
                <a:cs typeface="Arial"/>
              </a:defRPr>
            </a:lvl2pPr>
            <a:lvl3pPr>
              <a:defRPr sz="1800" b="0">
                <a:solidFill>
                  <a:srgbClr val="52647A"/>
                </a:solidFill>
                <a:latin typeface="Arial"/>
                <a:ea typeface="Arial"/>
                <a:cs typeface="Arial"/>
              </a:defRPr>
            </a:lvl3pPr>
            <a:lvl4pPr>
              <a:defRPr sz="1800" b="0">
                <a:solidFill>
                  <a:srgbClr val="52647A"/>
                </a:solidFill>
                <a:latin typeface="Arial"/>
                <a:ea typeface="Arial"/>
                <a:cs typeface="Arial"/>
              </a:defRPr>
            </a:lvl4pPr>
            <a:lvl5pPr>
              <a:defRPr sz="1800" b="0">
                <a:solidFill>
                  <a:srgbClr val="52647A"/>
                </a:solidFill>
                <a:latin typeface="Arial"/>
                <a:ea typeface="Arial"/>
                <a:cs typeface="Arial"/>
              </a:defRPr>
            </a:lvl5pPr>
            <a:lvl6pPr>
              <a:defRPr sz="1800" b="0">
                <a:solidFill>
                  <a:srgbClr val="52647A"/>
                </a:solidFill>
                <a:latin typeface="Arial"/>
                <a:ea typeface="Arial"/>
                <a:cs typeface="Arial"/>
              </a:defRPr>
            </a:lvl6pPr>
            <a:lvl7pPr>
              <a:defRPr sz="1800" b="0">
                <a:solidFill>
                  <a:srgbClr val="52647A"/>
                </a:solidFill>
                <a:latin typeface="Arial"/>
                <a:ea typeface="Arial"/>
                <a:cs typeface="Arial"/>
              </a:defRPr>
            </a:lvl7pPr>
            <a:lvl8pPr>
              <a:defRPr sz="1800" b="0">
                <a:solidFill>
                  <a:srgbClr val="52647A"/>
                </a:solidFill>
                <a:latin typeface="Arial"/>
                <a:ea typeface="Arial"/>
                <a:cs typeface="Arial"/>
              </a:defRPr>
            </a:lvl8pPr>
            <a:lvl9pPr>
              <a:defRPr sz="1800" b="0">
                <a:solidFill>
                  <a:srgbClr val="52647A"/>
                </a:solidFill>
                <a:latin typeface="Arial"/>
                <a:ea typeface="Arial"/>
                <a:cs typeface="Arial"/>
              </a:defRPr>
            </a:lvl9pPr>
          </a:lstStyle>
          <a:p xmlns:a="http://schemas.openxmlformats.org/drawingml/2006/main">
            <a:pPr>
              <a:defRPr sz="1800" b="0">
                <a:solidFill>
                  <a:srgbClr val="52647A"/>
                </a:solidFill>
                <a:latin typeface="Arial"/>
                <a:ea typeface="Arial"/>
                <a:cs typeface="Arial"/>
              </a:defRPr>
            </a:pPr>
            <a:r>
              <a:rPr sz="1800" b="0">
                <a:solidFill>
                  <a:srgbClr val="52647A"/>
                </a:solidFill>
                <a:latin typeface="Arial"/>
                <a:ea typeface="Arial"/>
                <a:cs typeface="Arial"/>
              </a:rPr>
              <a:t>IMPLEMENTED. Konstruierte Vektoren erklären die Mechanik. Sie belegen keine Sprachmodellqualität.</a:t>
            </a:r>
          </a:p>
        </p:txBody>
      </p:sp>
      <p:sp>
        <p:nvSpPr>
          <p:cNvPr id="9" name="text-8">
            <a:extLst xmlns:a="http://schemas.openxmlformats.org/drawingml/2006/main">
              <a:ext uri="{FF2B5EF4-FFF2-40B4-BE49-F238E27FC236}">
                <a16:creationId xmlns:a16="http://schemas.microsoft.com/office/drawing/2014/main" id="{AFB6DFC1-61D7-461C-B0F8-81C59D21B482}"/>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vl1pPr>
              <a:defRPr sz="1350" b="0">
                <a:solidFill>
                  <a:srgbClr val="52647A"/>
                </a:solidFill>
                <a:latin typeface="Arial"/>
                <a:ea typeface="Arial"/>
                <a:cs typeface="Arial"/>
              </a:defRPr>
            </a:lvl1pPr>
            <a:lvl2pPr>
              <a:defRPr sz="1350" b="0">
                <a:solidFill>
                  <a:srgbClr val="52647A"/>
                </a:solidFill>
                <a:latin typeface="Arial"/>
                <a:ea typeface="Arial"/>
                <a:cs typeface="Arial"/>
              </a:defRPr>
            </a:lvl2pPr>
            <a:lvl3pPr>
              <a:defRPr sz="1350" b="0">
                <a:solidFill>
                  <a:srgbClr val="52647A"/>
                </a:solidFill>
                <a:latin typeface="Arial"/>
                <a:ea typeface="Arial"/>
                <a:cs typeface="Arial"/>
              </a:defRPr>
            </a:lvl3pPr>
            <a:lvl4pPr>
              <a:defRPr sz="1350" b="0">
                <a:solidFill>
                  <a:srgbClr val="52647A"/>
                </a:solidFill>
                <a:latin typeface="Arial"/>
                <a:ea typeface="Arial"/>
                <a:cs typeface="Arial"/>
              </a:defRPr>
            </a:lvl4pPr>
            <a:lvl5pPr>
              <a:defRPr sz="1350" b="0">
                <a:solidFill>
                  <a:srgbClr val="52647A"/>
                </a:solidFill>
                <a:latin typeface="Arial"/>
                <a:ea typeface="Arial"/>
                <a:cs typeface="Arial"/>
              </a:defRPr>
            </a:lvl5pPr>
            <a:lvl6pPr>
              <a:defRPr sz="1350" b="0">
                <a:solidFill>
                  <a:srgbClr val="52647A"/>
                </a:solidFill>
                <a:latin typeface="Arial"/>
                <a:ea typeface="Arial"/>
                <a:cs typeface="Arial"/>
              </a:defRPr>
            </a:lvl6pPr>
            <a:lvl7pPr>
              <a:defRPr sz="1350" b="0">
                <a:solidFill>
                  <a:srgbClr val="52647A"/>
                </a:solidFill>
                <a:latin typeface="Arial"/>
                <a:ea typeface="Arial"/>
                <a:cs typeface="Arial"/>
              </a:defRPr>
            </a:lvl7pPr>
            <a:lvl8pPr>
              <a:defRPr sz="1350" b="0">
                <a:solidFill>
                  <a:srgbClr val="52647A"/>
                </a:solidFill>
                <a:latin typeface="Arial"/>
                <a:ea typeface="Arial"/>
                <a:cs typeface="Arial"/>
              </a:defRPr>
            </a:lvl8pPr>
            <a:lvl9pPr>
              <a:defRPr sz="1350" b="0">
                <a:solidFill>
                  <a:srgbClr val="52647A"/>
                </a:solidFill>
                <a:latin typeface="Arial"/>
                <a:ea typeface="Arial"/>
                <a:cs typeface="Arial"/>
              </a:defRPr>
            </a:lvl9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44  CUR-017 / CUR-020</a:t>
            </a:r>
          </a:p>
        </p:txBody>
      </p:sp>
    </p:spTree>
    <p:extLst>
      <p:ext uri="{BB962C8B-B14F-4D97-AF65-F5344CB8AC3E}">
        <p14:creationId xmlns:p14="http://schemas.microsoft.com/office/powerpoint/2010/main" val="1651072539"/>
      </p:ext>
    </p:extLst>
  </p:cSld>
</p:sld>
</file>

<file path=ppt/slides/slide4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text-0">
            <a:extLst xmlns:a="http://schemas.openxmlformats.org/drawingml/2006/main">
              <a:ext uri="{FF2B5EF4-FFF2-40B4-BE49-F238E27FC236}">
                <a16:creationId xmlns:a16="http://schemas.microsoft.com/office/drawing/2014/main" id="{0569D82F-8D7F-45F5-B504-53E966FFF680}"/>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vl1pPr>
              <a:defRPr sz="3300" b="1">
                <a:solidFill>
                  <a:srgbClr val="15283D"/>
                </a:solidFill>
                <a:latin typeface="Arial"/>
                <a:ea typeface="Arial"/>
                <a:cs typeface="Arial"/>
              </a:defRPr>
            </a:lvl1pPr>
            <a:lvl2pPr>
              <a:defRPr sz="3300" b="1">
                <a:solidFill>
                  <a:srgbClr val="15283D"/>
                </a:solidFill>
                <a:latin typeface="Arial"/>
                <a:ea typeface="Arial"/>
                <a:cs typeface="Arial"/>
              </a:defRPr>
            </a:lvl2pPr>
            <a:lvl3pPr>
              <a:defRPr sz="3300" b="1">
                <a:solidFill>
                  <a:srgbClr val="15283D"/>
                </a:solidFill>
                <a:latin typeface="Arial"/>
                <a:ea typeface="Arial"/>
                <a:cs typeface="Arial"/>
              </a:defRPr>
            </a:lvl3pPr>
            <a:lvl4pPr>
              <a:defRPr sz="3300" b="1">
                <a:solidFill>
                  <a:srgbClr val="15283D"/>
                </a:solidFill>
                <a:latin typeface="Arial"/>
                <a:ea typeface="Arial"/>
                <a:cs typeface="Arial"/>
              </a:defRPr>
            </a:lvl4pPr>
            <a:lvl5pPr>
              <a:defRPr sz="3300" b="1">
                <a:solidFill>
                  <a:srgbClr val="15283D"/>
                </a:solidFill>
                <a:latin typeface="Arial"/>
                <a:ea typeface="Arial"/>
                <a:cs typeface="Arial"/>
              </a:defRPr>
            </a:lvl5pPr>
            <a:lvl6pPr>
              <a:defRPr sz="3300" b="1">
                <a:solidFill>
                  <a:srgbClr val="15283D"/>
                </a:solidFill>
                <a:latin typeface="Arial"/>
                <a:ea typeface="Arial"/>
                <a:cs typeface="Arial"/>
              </a:defRPr>
            </a:lvl6pPr>
            <a:lvl7pPr>
              <a:defRPr sz="3300" b="1">
                <a:solidFill>
                  <a:srgbClr val="15283D"/>
                </a:solidFill>
                <a:latin typeface="Arial"/>
                <a:ea typeface="Arial"/>
                <a:cs typeface="Arial"/>
              </a:defRPr>
            </a:lvl7pPr>
            <a:lvl8pPr>
              <a:defRPr sz="3300" b="1">
                <a:solidFill>
                  <a:srgbClr val="15283D"/>
                </a:solidFill>
                <a:latin typeface="Arial"/>
                <a:ea typeface="Arial"/>
                <a:cs typeface="Arial"/>
              </a:defRPr>
            </a:lvl8pPr>
            <a:lvl9pPr>
              <a:defRPr sz="3300" b="1">
                <a:solidFill>
                  <a:srgbClr val="15283D"/>
                </a:solidFill>
                <a:latin typeface="Arial"/>
                <a:ea typeface="Arial"/>
                <a:cs typeface="Arial"/>
              </a:defRPr>
            </a:lvl9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RAG und die Bindung einer Antwort</a:t>
            </a:r>
          </a:p>
        </p:txBody>
      </p:sp>
      <p:sp>
        <p:nvSpPr>
          <p:cNvPr id="2" name="text-1">
            <a:extLst xmlns:a="http://schemas.openxmlformats.org/drawingml/2006/main">
              <a:ext uri="{FF2B5EF4-FFF2-40B4-BE49-F238E27FC236}">
                <a16:creationId xmlns:a16="http://schemas.microsoft.com/office/drawing/2014/main" id="{38DE5C77-6B9F-4497-BB83-3EF26C4A5180}"/>
              </a:ext>
            </a:extLst>
          </p:cNvPr>
          <p:cNvSpPr>
            <a:spLocks xmlns:a="http://schemas.openxmlformats.org/drawingml/2006/main" noGrp="1"/>
          </p:cNvSpPr>
          <p:nvPr/>
        </p:nvSpPr>
        <p:spPr>
          <a:xfrm xmlns:a="http://schemas.openxmlformats.org/drawingml/2006/main">
            <a:off x="685800" y="177165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Retrieval</a:t>
            </a:r>
          </a:p>
        </p:txBody>
      </p:sp>
      <p:sp>
        <p:nvSpPr>
          <p:cNvPr id="3" name="text-2">
            <a:extLst xmlns:a="http://schemas.openxmlformats.org/drawingml/2006/main">
              <a:ext uri="{FF2B5EF4-FFF2-40B4-BE49-F238E27FC236}">
                <a16:creationId xmlns:a16="http://schemas.microsoft.com/office/drawing/2014/main" id="{4EA15FDE-7961-48EE-B531-B567F6D26BDF}"/>
              </a:ext>
            </a:extLst>
          </p:cNvPr>
          <p:cNvSpPr>
            <a:spLocks xmlns:a="http://schemas.openxmlformats.org/drawingml/2006/main" noGrp="1"/>
          </p:cNvSpPr>
          <p:nvPr/>
        </p:nvSpPr>
        <p:spPr>
          <a:xfrm xmlns:a="http://schemas.openxmlformats.org/drawingml/2006/main">
            <a:off x="3190875" y="177165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Nur autorisierte, aktuelle Quellen in den begrenzten Kontext aufnehmen.</a:t>
            </a:r>
          </a:p>
        </p:txBody>
      </p:sp>
      <p:sp>
        <p:nvSpPr>
          <p:cNvPr id="4" name="text-3">
            <a:extLst xmlns:a="http://schemas.openxmlformats.org/drawingml/2006/main">
              <a:ext uri="{FF2B5EF4-FFF2-40B4-BE49-F238E27FC236}">
                <a16:creationId xmlns:a16="http://schemas.microsoft.com/office/drawing/2014/main" id="{ED9F5D3E-DD1E-4BDC-8FC1-63228737948D}"/>
              </a:ext>
            </a:extLst>
          </p:cNvPr>
          <p:cNvSpPr>
            <a:spLocks xmlns:a="http://schemas.openxmlformats.org/drawingml/2006/main" noGrp="1"/>
          </p:cNvSpPr>
          <p:nvPr/>
        </p:nvSpPr>
        <p:spPr>
          <a:xfrm xmlns:a="http://schemas.openxmlformats.org/drawingml/2006/main">
            <a:off x="685800" y="3057525"/>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Claimprüfung</a:t>
            </a:r>
          </a:p>
        </p:txBody>
      </p:sp>
      <p:sp>
        <p:nvSpPr>
          <p:cNvPr id="5" name="text-4">
            <a:extLst xmlns:a="http://schemas.openxmlformats.org/drawingml/2006/main">
              <a:ext uri="{FF2B5EF4-FFF2-40B4-BE49-F238E27FC236}">
                <a16:creationId xmlns:a16="http://schemas.microsoft.com/office/drawing/2014/main" id="{11B3E49E-8E90-4C8D-9E06-1ED7BF8059E9}"/>
              </a:ext>
            </a:extLst>
          </p:cNvPr>
          <p:cNvSpPr>
            <a:spLocks xmlns:a="http://schemas.openxmlformats.org/drawingml/2006/main" noGrp="1"/>
          </p:cNvSpPr>
          <p:nvPr/>
        </p:nvSpPr>
        <p:spPr>
          <a:xfrm xmlns:a="http://schemas.openxmlformats.org/drawingml/2006/main">
            <a:off x="3190875" y="3057525"/>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Für jeden akzeptierten Satz eine stützende Quellenstelle im tatsächlich gelieferten Kontext prüfen.</a:t>
            </a:r>
          </a:p>
        </p:txBody>
      </p:sp>
      <p:sp>
        <p:nvSpPr>
          <p:cNvPr id="6" name="text-5">
            <a:extLst xmlns:a="http://schemas.openxmlformats.org/drawingml/2006/main">
              <a:ext uri="{FF2B5EF4-FFF2-40B4-BE49-F238E27FC236}">
                <a16:creationId xmlns:a16="http://schemas.microsoft.com/office/drawing/2014/main" id="{0EB5B69F-D85E-4B8B-86AB-C77377151EE3}"/>
              </a:ext>
            </a:extLst>
          </p:cNvPr>
          <p:cNvSpPr>
            <a:spLocks xmlns:a="http://schemas.openxmlformats.org/drawingml/2006/main" noGrp="1"/>
          </p:cNvSpPr>
          <p:nvPr/>
        </p:nvSpPr>
        <p:spPr>
          <a:xfrm xmlns:a="http://schemas.openxmlformats.org/drawingml/2006/main">
            <a:off x="685800" y="434340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Nichtantwort</a:t>
            </a:r>
          </a:p>
        </p:txBody>
      </p:sp>
      <p:sp>
        <p:nvSpPr>
          <p:cNvPr id="7" name="text-6">
            <a:extLst xmlns:a="http://schemas.openxmlformats.org/drawingml/2006/main">
              <a:ext uri="{FF2B5EF4-FFF2-40B4-BE49-F238E27FC236}">
                <a16:creationId xmlns:a16="http://schemas.microsoft.com/office/drawing/2014/main" id="{3F3A4CCC-1438-4D47-99D2-88CC68A10588}"/>
              </a:ext>
            </a:extLst>
          </p:cNvPr>
          <p:cNvSpPr>
            <a:spLocks xmlns:a="http://schemas.openxmlformats.org/drawingml/2006/main" noGrp="1"/>
          </p:cNvSpPr>
          <p:nvPr/>
        </p:nvSpPr>
        <p:spPr>
          <a:xfrm xmlns:a="http://schemas.openxmlformats.org/drawingml/2006/main">
            <a:off x="3190875" y="434340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Fehlende Evidenz und widersprüchliche aktuelle Quellen ausdrücklich benennen.</a:t>
            </a:r>
          </a:p>
        </p:txBody>
      </p:sp>
      <p:sp>
        <p:nvSpPr>
          <p:cNvPr id="8" name="text-7">
            <a:extLst xmlns:a="http://schemas.openxmlformats.org/drawingml/2006/main">
              <a:ext uri="{FF2B5EF4-FFF2-40B4-BE49-F238E27FC236}">
                <a16:creationId xmlns:a16="http://schemas.microsoft.com/office/drawing/2014/main" id="{884AC7F8-F063-4112-983C-32BCBA66BD4A}"/>
              </a:ext>
            </a:extLst>
          </p:cNvPr>
          <p:cNvSpPr>
            <a:spLocks xmlns:a="http://schemas.openxmlformats.org/drawingml/2006/main" noGrp="1"/>
          </p:cNvSpPr>
          <p:nvPr/>
        </p:nvSpPr>
        <p:spPr>
          <a:xfrm xmlns:a="http://schemas.openxmlformats.org/drawingml/2006/main">
            <a:off x="685800" y="5876925"/>
            <a:ext cx="10553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0">
                <a:solidFill>
                  <a:srgbClr val="52647A"/>
                </a:solidFill>
                <a:latin typeface="Arial"/>
                <a:ea typeface="Arial"/>
                <a:cs typeface="Arial"/>
              </a:defRPr>
            </a:defPPr>
            <a:lvl1pPr>
              <a:defRPr sz="1800" b="0">
                <a:solidFill>
                  <a:srgbClr val="52647A"/>
                </a:solidFill>
                <a:latin typeface="Arial"/>
                <a:ea typeface="Arial"/>
                <a:cs typeface="Arial"/>
              </a:defRPr>
            </a:lvl1pPr>
            <a:lvl2pPr>
              <a:defRPr sz="1800" b="0">
                <a:solidFill>
                  <a:srgbClr val="52647A"/>
                </a:solidFill>
                <a:latin typeface="Arial"/>
                <a:ea typeface="Arial"/>
                <a:cs typeface="Arial"/>
              </a:defRPr>
            </a:lvl2pPr>
            <a:lvl3pPr>
              <a:defRPr sz="1800" b="0">
                <a:solidFill>
                  <a:srgbClr val="52647A"/>
                </a:solidFill>
                <a:latin typeface="Arial"/>
                <a:ea typeface="Arial"/>
                <a:cs typeface="Arial"/>
              </a:defRPr>
            </a:lvl3pPr>
            <a:lvl4pPr>
              <a:defRPr sz="1800" b="0">
                <a:solidFill>
                  <a:srgbClr val="52647A"/>
                </a:solidFill>
                <a:latin typeface="Arial"/>
                <a:ea typeface="Arial"/>
                <a:cs typeface="Arial"/>
              </a:defRPr>
            </a:lvl4pPr>
            <a:lvl5pPr>
              <a:defRPr sz="1800" b="0">
                <a:solidFill>
                  <a:srgbClr val="52647A"/>
                </a:solidFill>
                <a:latin typeface="Arial"/>
                <a:ea typeface="Arial"/>
                <a:cs typeface="Arial"/>
              </a:defRPr>
            </a:lvl5pPr>
            <a:lvl6pPr>
              <a:defRPr sz="1800" b="0">
                <a:solidFill>
                  <a:srgbClr val="52647A"/>
                </a:solidFill>
                <a:latin typeface="Arial"/>
                <a:ea typeface="Arial"/>
                <a:cs typeface="Arial"/>
              </a:defRPr>
            </a:lvl6pPr>
            <a:lvl7pPr>
              <a:defRPr sz="1800" b="0">
                <a:solidFill>
                  <a:srgbClr val="52647A"/>
                </a:solidFill>
                <a:latin typeface="Arial"/>
                <a:ea typeface="Arial"/>
                <a:cs typeface="Arial"/>
              </a:defRPr>
            </a:lvl7pPr>
            <a:lvl8pPr>
              <a:defRPr sz="1800" b="0">
                <a:solidFill>
                  <a:srgbClr val="52647A"/>
                </a:solidFill>
                <a:latin typeface="Arial"/>
                <a:ea typeface="Arial"/>
                <a:cs typeface="Arial"/>
              </a:defRPr>
            </a:lvl8pPr>
            <a:lvl9pPr>
              <a:defRPr sz="1800" b="0">
                <a:solidFill>
                  <a:srgbClr val="52647A"/>
                </a:solidFill>
                <a:latin typeface="Arial"/>
                <a:ea typeface="Arial"/>
                <a:cs typeface="Arial"/>
              </a:defRPr>
            </a:lvl9pPr>
          </a:lstStyle>
          <a:p xmlns:a="http://schemas.openxmlformats.org/drawingml/2006/main">
            <a:pPr>
              <a:defRPr sz="1800" b="0">
                <a:solidFill>
                  <a:srgbClr val="52647A"/>
                </a:solidFill>
                <a:latin typeface="Arial"/>
                <a:ea typeface="Arial"/>
                <a:cs typeface="Arial"/>
              </a:defRPr>
            </a:pPr>
            <a:r>
              <a:rPr sz="1800" b="0">
                <a:solidFill>
                  <a:srgbClr val="52647A"/>
                </a:solidFill>
                <a:latin typeface="Arial"/>
                <a:ea typeface="Arial"/>
                <a:cs typeface="Arial"/>
              </a:rPr>
              <a:t>Ein vorhandener Quellenlink allein beweist den zugehörigen Satz nicht.</a:t>
            </a:r>
          </a:p>
        </p:txBody>
      </p:sp>
      <p:sp>
        <p:nvSpPr>
          <p:cNvPr id="9" name="text-8">
            <a:extLst xmlns:a="http://schemas.openxmlformats.org/drawingml/2006/main">
              <a:ext uri="{FF2B5EF4-FFF2-40B4-BE49-F238E27FC236}">
                <a16:creationId xmlns:a16="http://schemas.microsoft.com/office/drawing/2014/main" id="{872DAFBE-B10C-44E7-B05A-78BA9127137B}"/>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vl1pPr>
              <a:defRPr sz="1350" b="0">
                <a:solidFill>
                  <a:srgbClr val="52647A"/>
                </a:solidFill>
                <a:latin typeface="Arial"/>
                <a:ea typeface="Arial"/>
                <a:cs typeface="Arial"/>
              </a:defRPr>
            </a:lvl1pPr>
            <a:lvl2pPr>
              <a:defRPr sz="1350" b="0">
                <a:solidFill>
                  <a:srgbClr val="52647A"/>
                </a:solidFill>
                <a:latin typeface="Arial"/>
                <a:ea typeface="Arial"/>
                <a:cs typeface="Arial"/>
              </a:defRPr>
            </a:lvl2pPr>
            <a:lvl3pPr>
              <a:defRPr sz="1350" b="0">
                <a:solidFill>
                  <a:srgbClr val="52647A"/>
                </a:solidFill>
                <a:latin typeface="Arial"/>
                <a:ea typeface="Arial"/>
                <a:cs typeface="Arial"/>
              </a:defRPr>
            </a:lvl3pPr>
            <a:lvl4pPr>
              <a:defRPr sz="1350" b="0">
                <a:solidFill>
                  <a:srgbClr val="52647A"/>
                </a:solidFill>
                <a:latin typeface="Arial"/>
                <a:ea typeface="Arial"/>
                <a:cs typeface="Arial"/>
              </a:defRPr>
            </a:lvl4pPr>
            <a:lvl5pPr>
              <a:defRPr sz="1350" b="0">
                <a:solidFill>
                  <a:srgbClr val="52647A"/>
                </a:solidFill>
                <a:latin typeface="Arial"/>
                <a:ea typeface="Arial"/>
                <a:cs typeface="Arial"/>
              </a:defRPr>
            </a:lvl5pPr>
            <a:lvl6pPr>
              <a:defRPr sz="1350" b="0">
                <a:solidFill>
                  <a:srgbClr val="52647A"/>
                </a:solidFill>
                <a:latin typeface="Arial"/>
                <a:ea typeface="Arial"/>
                <a:cs typeface="Arial"/>
              </a:defRPr>
            </a:lvl6pPr>
            <a:lvl7pPr>
              <a:defRPr sz="1350" b="0">
                <a:solidFill>
                  <a:srgbClr val="52647A"/>
                </a:solidFill>
                <a:latin typeface="Arial"/>
                <a:ea typeface="Arial"/>
                <a:cs typeface="Arial"/>
              </a:defRPr>
            </a:lvl7pPr>
            <a:lvl8pPr>
              <a:defRPr sz="1350" b="0">
                <a:solidFill>
                  <a:srgbClr val="52647A"/>
                </a:solidFill>
                <a:latin typeface="Arial"/>
                <a:ea typeface="Arial"/>
                <a:cs typeface="Arial"/>
              </a:defRPr>
            </a:lvl8pPr>
            <a:lvl9pPr>
              <a:defRPr sz="1350" b="0">
                <a:solidFill>
                  <a:srgbClr val="52647A"/>
                </a:solidFill>
                <a:latin typeface="Arial"/>
                <a:ea typeface="Arial"/>
                <a:cs typeface="Arial"/>
              </a:defRPr>
            </a:lvl9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45  CUR-017</a:t>
            </a:r>
          </a:p>
        </p:txBody>
      </p:sp>
    </p:spTree>
    <p:extLst>
      <p:ext uri="{BB962C8B-B14F-4D97-AF65-F5344CB8AC3E}">
        <p14:creationId xmlns:p14="http://schemas.microsoft.com/office/powerpoint/2010/main" val="745452295"/>
      </p:ext>
    </p:extLst>
  </p:cSld>
</p:sld>
</file>

<file path=ppt/slides/slide4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text-0">
            <a:extLst xmlns:a="http://schemas.openxmlformats.org/drawingml/2006/main">
              <a:ext uri="{FF2B5EF4-FFF2-40B4-BE49-F238E27FC236}">
                <a16:creationId xmlns:a16="http://schemas.microsoft.com/office/drawing/2014/main" id="{11CD668E-3CD1-473C-8375-520E0D3C5386}"/>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vl1pPr>
              <a:defRPr sz="3300" b="1">
                <a:solidFill>
                  <a:srgbClr val="15283D"/>
                </a:solidFill>
                <a:latin typeface="Arial"/>
                <a:ea typeface="Arial"/>
                <a:cs typeface="Arial"/>
              </a:defRPr>
            </a:lvl1pPr>
            <a:lvl2pPr>
              <a:defRPr sz="3300" b="1">
                <a:solidFill>
                  <a:srgbClr val="15283D"/>
                </a:solidFill>
                <a:latin typeface="Arial"/>
                <a:ea typeface="Arial"/>
                <a:cs typeface="Arial"/>
              </a:defRPr>
            </a:lvl2pPr>
            <a:lvl3pPr>
              <a:defRPr sz="3300" b="1">
                <a:solidFill>
                  <a:srgbClr val="15283D"/>
                </a:solidFill>
                <a:latin typeface="Arial"/>
                <a:ea typeface="Arial"/>
                <a:cs typeface="Arial"/>
              </a:defRPr>
            </a:lvl3pPr>
            <a:lvl4pPr>
              <a:defRPr sz="3300" b="1">
                <a:solidFill>
                  <a:srgbClr val="15283D"/>
                </a:solidFill>
                <a:latin typeface="Arial"/>
                <a:ea typeface="Arial"/>
                <a:cs typeface="Arial"/>
              </a:defRPr>
            </a:lvl4pPr>
            <a:lvl5pPr>
              <a:defRPr sz="3300" b="1">
                <a:solidFill>
                  <a:srgbClr val="15283D"/>
                </a:solidFill>
                <a:latin typeface="Arial"/>
                <a:ea typeface="Arial"/>
                <a:cs typeface="Arial"/>
              </a:defRPr>
            </a:lvl5pPr>
            <a:lvl6pPr>
              <a:defRPr sz="3300" b="1">
                <a:solidFill>
                  <a:srgbClr val="15283D"/>
                </a:solidFill>
                <a:latin typeface="Arial"/>
                <a:ea typeface="Arial"/>
                <a:cs typeface="Arial"/>
              </a:defRPr>
            </a:lvl6pPr>
            <a:lvl7pPr>
              <a:defRPr sz="3300" b="1">
                <a:solidFill>
                  <a:srgbClr val="15283D"/>
                </a:solidFill>
                <a:latin typeface="Arial"/>
                <a:ea typeface="Arial"/>
                <a:cs typeface="Arial"/>
              </a:defRPr>
            </a:lvl7pPr>
            <a:lvl8pPr>
              <a:defRPr sz="3300" b="1">
                <a:solidFill>
                  <a:srgbClr val="15283D"/>
                </a:solidFill>
                <a:latin typeface="Arial"/>
                <a:ea typeface="Arial"/>
                <a:cs typeface="Arial"/>
              </a:defRPr>
            </a:lvl8pPr>
            <a:lvl9pPr>
              <a:defRPr sz="3300" b="1">
                <a:solidFill>
                  <a:srgbClr val="15283D"/>
                </a:solidFill>
                <a:latin typeface="Arial"/>
                <a:ea typeface="Arial"/>
                <a:cs typeface="Arial"/>
              </a:defRPr>
            </a:lvl9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QRY-018: Vier Quellenentscheidungen</a:t>
            </a:r>
          </a:p>
        </p:txBody>
      </p:sp>
      <p:graphicFrame>
        <p:nvGraphicFramePr>
          <p:cNvPr id="2" name="">
            <a:extLst xmlns:a="http://schemas.openxmlformats.org/drawingml/2006/main">
              <a:ext uri="{FF2B5EF4-FFF2-40B4-BE49-F238E27FC236}">
                <a16:creationId xmlns:a16="http://schemas.microsoft.com/office/drawing/2014/main" id="{EF3F434D-5139-4490-9860-2F3F590C1C25}"/>
              </a:ext>
            </a:extLst>
          </p:cNvPr>
          <p:cNvGraphicFramePr/>
          <p:nvPr/>
        </p:nvGraphicFramePr>
        <p:xfrm>
          <a:off xmlns:a="http://schemas.openxmlformats.org/drawingml/2006/main" x="685800" y="1771650"/>
          <a:ext xmlns:a="http://schemas.openxmlformats.org/drawingml/2006/main" cx="10668000" cy="4000500"/>
        </p:xfrm>
        <a:graphic xmlns:a="http://schemas.openxmlformats.org/drawingml/2006/main">
          <a:graphicData uri="http://schemas.openxmlformats.org/drawingml/2006/table">
            <a:tbl>
              <a:tblPr/>
              <a:tblGrid>
                <a:gridCol w="4095750"/>
                <a:gridCol w="2190750"/>
                <a:gridCol w="4381500"/>
              </a:tblGrid>
              <a:tr h="800100">
                <a:tc>
                  <a:txBody>
                    <a:bodyPr/>
                    <a:lstStyle/>
                    <a:p>
                      <a:r>
                        <a:rPr sz="1800" b="1">
                          <a:solidFill>
                            <a:srgbClr val="15283D"/>
                          </a:solidFill>
                          <a:latin typeface="Arial"/>
                          <a:ea typeface="Arial"/>
                          <a:cs typeface="Arial"/>
                        </a:rPr>
                        <a:t>Fixture</a:t>
                      </a:r>
                    </a:p>
                  </a:txBody>
                  <a:tcPr marL="114300" marR="114300" marT="47625" marB="47625" anchor="ctr">
                    <a:lnL w="9525">
                      <a:solidFill>
                        <a:srgbClr val="C8D5DE"/>
                      </a:solidFill>
                      <a:prstDash val="solid"/>
                    </a:lnL>
                    <a:lnR w="9525">
                      <a:solidFill>
                        <a:srgbClr val="C8D5DE"/>
                      </a:solidFill>
                      <a:prstDash val="solid"/>
                    </a:lnR>
                    <a:lnT w="9525">
                      <a:solidFill>
                        <a:srgbClr val="C8D5DE"/>
                      </a:solidFill>
                      <a:prstDash val="solid"/>
                    </a:lnT>
                    <a:lnB w="9525">
                      <a:solidFill>
                        <a:srgbClr val="C8D5DE"/>
                      </a:solidFill>
                      <a:prstDash val="solid"/>
                    </a:lnB>
                    <a:solidFill>
                      <a:srgbClr val="E8F2F2"/>
                    </a:solidFill>
                  </a:tcPr>
                </a:tc>
                <a:tc>
                  <a:txBody>
                    <a:bodyPr/>
                    <a:lstStyle/>
                    <a:p>
                      <a:r>
                        <a:rPr sz="1800" b="1">
                          <a:solidFill>
                            <a:srgbClr val="15283D"/>
                          </a:solidFill>
                          <a:latin typeface="Arial"/>
                          <a:ea typeface="Arial"/>
                          <a:cs typeface="Arial"/>
                        </a:rPr>
                        <a:t>Entscheidung</a:t>
                      </a:r>
                    </a:p>
                  </a:txBody>
                  <a:tcPr marL="114300" marR="114300" marT="47625" marB="47625" anchor="ctr">
                    <a:lnR w="9525">
                      <a:solidFill>
                        <a:srgbClr val="C8D5DE"/>
                      </a:solidFill>
                      <a:prstDash val="solid"/>
                    </a:lnR>
                    <a:lnT w="9525">
                      <a:solidFill>
                        <a:srgbClr val="C8D5DE"/>
                      </a:solidFill>
                      <a:prstDash val="solid"/>
                    </a:lnT>
                    <a:lnB w="9525">
                      <a:solidFill>
                        <a:srgbClr val="C8D5DE"/>
                      </a:solidFill>
                      <a:prstDash val="solid"/>
                    </a:lnB>
                    <a:solidFill>
                      <a:srgbClr val="E8F2F2"/>
                    </a:solidFill>
                  </a:tcPr>
                </a:tc>
                <a:tc>
                  <a:txBody>
                    <a:bodyPr/>
                    <a:lstStyle/>
                    <a:p>
                      <a:r>
                        <a:rPr sz="1800" b="1">
                          <a:solidFill>
                            <a:srgbClr val="15283D"/>
                          </a:solidFill>
                          <a:latin typeface="Arial"/>
                          <a:ea typeface="Arial"/>
                          <a:cs typeface="Arial"/>
                        </a:rPr>
                        <a:t>Begründung</a:t>
                      </a:r>
                    </a:p>
                  </a:txBody>
                  <a:tcPr marL="114300" marR="114300" marT="47625" marB="47625" anchor="ctr">
                    <a:lnR w="9525">
                      <a:solidFill>
                        <a:srgbClr val="C8D5DE"/>
                      </a:solidFill>
                      <a:prstDash val="solid"/>
                    </a:lnR>
                    <a:lnT w="9525">
                      <a:solidFill>
                        <a:srgbClr val="C8D5DE"/>
                      </a:solidFill>
                      <a:prstDash val="solid"/>
                    </a:lnT>
                    <a:lnB w="9525">
                      <a:solidFill>
                        <a:srgbClr val="C8D5DE"/>
                      </a:solidFill>
                      <a:prstDash val="solid"/>
                    </a:lnB>
                    <a:solidFill>
                      <a:srgbClr val="E8F2F2"/>
                    </a:solidFill>
                  </a:tcPr>
                </a:tc>
              </a:tr>
              <a:tr h="800100">
                <a:tc>
                  <a:txBody>
                    <a:bodyPr/>
                    <a:lstStyle/>
                    <a:p>
                      <a:r>
                        <a:rPr sz="1800" b="0">
                          <a:solidFill>
                            <a:srgbClr val="15283D"/>
                          </a:solidFill>
                          <a:latin typeface="Arial"/>
                          <a:ea typeface="Arial"/>
                          <a:cs typeface="Arial"/>
                        </a:rPr>
                        <a:t>Aktuelle Sieben-Tage-Quelle</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ACCEPTED</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Stützende Quelle im erlaubten Kontext</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r h="800100">
                <a:tc>
                  <a:txBody>
                    <a:bodyPr/>
                    <a:lstStyle/>
                    <a:p>
                      <a:r>
                        <a:rPr sz="1800" b="0">
                          <a:solidFill>
                            <a:srgbClr val="15283D"/>
                          </a:solidFill>
                          <a:latin typeface="Arial"/>
                          <a:ea typeface="Arial"/>
                          <a:cs typeface="Arial"/>
                        </a:rPr>
                        <a:t>Zitat außerhalb des Kontexts</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REJECTED</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Existenz des Zitats genügt nicht</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r h="800100">
                <a:tc>
                  <a:txBody>
                    <a:bodyPr/>
                    <a:lstStyle/>
                    <a:p>
                      <a:r>
                        <a:rPr sz="1800" b="0">
                          <a:solidFill>
                            <a:srgbClr val="15283D"/>
                          </a:solidFill>
                          <a:latin typeface="Arial"/>
                          <a:ea typeface="Arial"/>
                          <a:cs typeface="Arial"/>
                        </a:rPr>
                        <a:t>Kein ausreichender Kontext</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ABSTAINED</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Begründete Nichtantwort</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r h="800100">
                <a:tc>
                  <a:txBody>
                    <a:bodyPr/>
                    <a:lstStyle/>
                    <a:p>
                      <a:r>
                        <a:rPr sz="1800" b="0">
                          <a:solidFill>
                            <a:srgbClr val="15283D"/>
                          </a:solidFill>
                          <a:latin typeface="Arial"/>
                          <a:ea typeface="Arial"/>
                          <a:cs typeface="Arial"/>
                        </a:rPr>
                        <a:t>Sieben und neun Tage aktuell</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ABSTAINED</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Widerspruch zwischen erlaubten Quellen</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bl>
          </a:graphicData>
        </a:graphic>
      </p:graphicFrame>
      <p:sp>
        <p:nvSpPr>
          <p:cNvPr id="3" name="text-1">
            <a:extLst xmlns:a="http://schemas.openxmlformats.org/drawingml/2006/main">
              <a:ext uri="{FF2B5EF4-FFF2-40B4-BE49-F238E27FC236}">
                <a16:creationId xmlns:a16="http://schemas.microsoft.com/office/drawing/2014/main" id="{1449A907-2F5E-4882-BE85-84C515C3FAD1}"/>
              </a:ext>
            </a:extLst>
          </p:cNvPr>
          <p:cNvSpPr>
            <a:spLocks xmlns:a="http://schemas.openxmlformats.org/drawingml/2006/main" noGrp="1"/>
          </p:cNvSpPr>
          <p:nvPr/>
        </p:nvSpPr>
        <p:spPr>
          <a:xfrm xmlns:a="http://schemas.openxmlformats.org/drawingml/2006/main">
            <a:off x="685800" y="5876925"/>
            <a:ext cx="10553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0">
                <a:solidFill>
                  <a:srgbClr val="52647A"/>
                </a:solidFill>
                <a:latin typeface="Arial"/>
                <a:ea typeface="Arial"/>
                <a:cs typeface="Arial"/>
              </a:defRPr>
            </a:defPPr>
            <a:lvl1pPr>
              <a:defRPr sz="1800" b="0">
                <a:solidFill>
                  <a:srgbClr val="52647A"/>
                </a:solidFill>
                <a:latin typeface="Arial"/>
                <a:ea typeface="Arial"/>
                <a:cs typeface="Arial"/>
              </a:defRPr>
            </a:lvl1pPr>
            <a:lvl2pPr>
              <a:defRPr sz="1800" b="0">
                <a:solidFill>
                  <a:srgbClr val="52647A"/>
                </a:solidFill>
                <a:latin typeface="Arial"/>
                <a:ea typeface="Arial"/>
                <a:cs typeface="Arial"/>
              </a:defRPr>
            </a:lvl2pPr>
            <a:lvl3pPr>
              <a:defRPr sz="1800" b="0">
                <a:solidFill>
                  <a:srgbClr val="52647A"/>
                </a:solidFill>
                <a:latin typeface="Arial"/>
                <a:ea typeface="Arial"/>
                <a:cs typeface="Arial"/>
              </a:defRPr>
            </a:lvl3pPr>
            <a:lvl4pPr>
              <a:defRPr sz="1800" b="0">
                <a:solidFill>
                  <a:srgbClr val="52647A"/>
                </a:solidFill>
                <a:latin typeface="Arial"/>
                <a:ea typeface="Arial"/>
                <a:cs typeface="Arial"/>
              </a:defRPr>
            </a:lvl4pPr>
            <a:lvl5pPr>
              <a:defRPr sz="1800" b="0">
                <a:solidFill>
                  <a:srgbClr val="52647A"/>
                </a:solidFill>
                <a:latin typeface="Arial"/>
                <a:ea typeface="Arial"/>
                <a:cs typeface="Arial"/>
              </a:defRPr>
            </a:lvl5pPr>
            <a:lvl6pPr>
              <a:defRPr sz="1800" b="0">
                <a:solidFill>
                  <a:srgbClr val="52647A"/>
                </a:solidFill>
                <a:latin typeface="Arial"/>
                <a:ea typeface="Arial"/>
                <a:cs typeface="Arial"/>
              </a:defRPr>
            </a:lvl6pPr>
            <a:lvl7pPr>
              <a:defRPr sz="1800" b="0">
                <a:solidFill>
                  <a:srgbClr val="52647A"/>
                </a:solidFill>
                <a:latin typeface="Arial"/>
                <a:ea typeface="Arial"/>
                <a:cs typeface="Arial"/>
              </a:defRPr>
            </a:lvl7pPr>
            <a:lvl8pPr>
              <a:defRPr sz="1800" b="0">
                <a:solidFill>
                  <a:srgbClr val="52647A"/>
                </a:solidFill>
                <a:latin typeface="Arial"/>
                <a:ea typeface="Arial"/>
                <a:cs typeface="Arial"/>
              </a:defRPr>
            </a:lvl8pPr>
            <a:lvl9pPr>
              <a:defRPr sz="1800" b="0">
                <a:solidFill>
                  <a:srgbClr val="52647A"/>
                </a:solidFill>
                <a:latin typeface="Arial"/>
                <a:ea typeface="Arial"/>
                <a:cs typeface="Arial"/>
              </a:defRPr>
            </a:lvl9pPr>
          </a:lstStyle>
          <a:p xmlns:a="http://schemas.openxmlformats.org/drawingml/2006/main">
            <a:pPr>
              <a:defRPr sz="1800" b="0">
                <a:solidFill>
                  <a:srgbClr val="52647A"/>
                </a:solidFill>
                <a:latin typeface="Arial"/>
                <a:ea typeface="Arial"/>
                <a:cs typeface="Arial"/>
              </a:defRPr>
            </a:pPr>
            <a:r>
              <a:rPr sz="1800" b="0">
                <a:solidFill>
                  <a:srgbClr val="52647A"/>
                </a:solidFill>
                <a:latin typeface="Arial"/>
                <a:ea typeface="Arial"/>
                <a:cs typeface="Arial"/>
              </a:rPr>
              <a:t>IMPLEMENTED. Feste Antwortfixtures und Claimprüfung, keine Livegeneration.</a:t>
            </a:r>
          </a:p>
        </p:txBody>
      </p:sp>
      <p:sp>
        <p:nvSpPr>
          <p:cNvPr id="4" name="text-2">
            <a:extLst xmlns:a="http://schemas.openxmlformats.org/drawingml/2006/main">
              <a:ext uri="{FF2B5EF4-FFF2-40B4-BE49-F238E27FC236}">
                <a16:creationId xmlns:a16="http://schemas.microsoft.com/office/drawing/2014/main" id="{A8458B10-E982-4F91-91D8-8E9A8A4A60D8}"/>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vl1pPr>
              <a:defRPr sz="1350" b="0">
                <a:solidFill>
                  <a:srgbClr val="52647A"/>
                </a:solidFill>
                <a:latin typeface="Arial"/>
                <a:ea typeface="Arial"/>
                <a:cs typeface="Arial"/>
              </a:defRPr>
            </a:lvl1pPr>
            <a:lvl2pPr>
              <a:defRPr sz="1350" b="0">
                <a:solidFill>
                  <a:srgbClr val="52647A"/>
                </a:solidFill>
                <a:latin typeface="Arial"/>
                <a:ea typeface="Arial"/>
                <a:cs typeface="Arial"/>
              </a:defRPr>
            </a:lvl2pPr>
            <a:lvl3pPr>
              <a:defRPr sz="1350" b="0">
                <a:solidFill>
                  <a:srgbClr val="52647A"/>
                </a:solidFill>
                <a:latin typeface="Arial"/>
                <a:ea typeface="Arial"/>
                <a:cs typeface="Arial"/>
              </a:defRPr>
            </a:lvl3pPr>
            <a:lvl4pPr>
              <a:defRPr sz="1350" b="0">
                <a:solidFill>
                  <a:srgbClr val="52647A"/>
                </a:solidFill>
                <a:latin typeface="Arial"/>
                <a:ea typeface="Arial"/>
                <a:cs typeface="Arial"/>
              </a:defRPr>
            </a:lvl4pPr>
            <a:lvl5pPr>
              <a:defRPr sz="1350" b="0">
                <a:solidFill>
                  <a:srgbClr val="52647A"/>
                </a:solidFill>
                <a:latin typeface="Arial"/>
                <a:ea typeface="Arial"/>
                <a:cs typeface="Arial"/>
              </a:defRPr>
            </a:lvl5pPr>
            <a:lvl6pPr>
              <a:defRPr sz="1350" b="0">
                <a:solidFill>
                  <a:srgbClr val="52647A"/>
                </a:solidFill>
                <a:latin typeface="Arial"/>
                <a:ea typeface="Arial"/>
                <a:cs typeface="Arial"/>
              </a:defRPr>
            </a:lvl6pPr>
            <a:lvl7pPr>
              <a:defRPr sz="1350" b="0">
                <a:solidFill>
                  <a:srgbClr val="52647A"/>
                </a:solidFill>
                <a:latin typeface="Arial"/>
                <a:ea typeface="Arial"/>
                <a:cs typeface="Arial"/>
              </a:defRPr>
            </a:lvl7pPr>
            <a:lvl8pPr>
              <a:defRPr sz="1350" b="0">
                <a:solidFill>
                  <a:srgbClr val="52647A"/>
                </a:solidFill>
                <a:latin typeface="Arial"/>
                <a:ea typeface="Arial"/>
                <a:cs typeface="Arial"/>
              </a:defRPr>
            </a:lvl8pPr>
            <a:lvl9pPr>
              <a:defRPr sz="1350" b="0">
                <a:solidFill>
                  <a:srgbClr val="52647A"/>
                </a:solidFill>
                <a:latin typeface="Arial"/>
                <a:ea typeface="Arial"/>
                <a:cs typeface="Arial"/>
              </a:defRPr>
            </a:lvl9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46  CUR-017 / CUR-022</a:t>
            </a:r>
          </a:p>
        </p:txBody>
      </p:sp>
    </p:spTree>
    <p:extLst>
      <p:ext uri="{BB962C8B-B14F-4D97-AF65-F5344CB8AC3E}">
        <p14:creationId xmlns:p14="http://schemas.microsoft.com/office/powerpoint/2010/main" val="1281168388"/>
      </p:ext>
    </p:extLst>
  </p:cSld>
</p:sld>
</file>

<file path=ppt/slides/slide4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text-0">
            <a:extLst xmlns:a="http://schemas.openxmlformats.org/drawingml/2006/main">
              <a:ext uri="{FF2B5EF4-FFF2-40B4-BE49-F238E27FC236}">
                <a16:creationId xmlns:a16="http://schemas.microsoft.com/office/drawing/2014/main" id="{B186252D-1F5C-4909-8F86-0A21C4EFAD86}"/>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vl1pPr>
              <a:defRPr sz="3300" b="1">
                <a:solidFill>
                  <a:srgbClr val="15283D"/>
                </a:solidFill>
                <a:latin typeface="Arial"/>
                <a:ea typeface="Arial"/>
                <a:cs typeface="Arial"/>
              </a:defRPr>
            </a:lvl1pPr>
            <a:lvl2pPr>
              <a:defRPr sz="3300" b="1">
                <a:solidFill>
                  <a:srgbClr val="15283D"/>
                </a:solidFill>
                <a:latin typeface="Arial"/>
                <a:ea typeface="Arial"/>
                <a:cs typeface="Arial"/>
              </a:defRPr>
            </a:lvl2pPr>
            <a:lvl3pPr>
              <a:defRPr sz="3300" b="1">
                <a:solidFill>
                  <a:srgbClr val="15283D"/>
                </a:solidFill>
                <a:latin typeface="Arial"/>
                <a:ea typeface="Arial"/>
                <a:cs typeface="Arial"/>
              </a:defRPr>
            </a:lvl3pPr>
            <a:lvl4pPr>
              <a:defRPr sz="3300" b="1">
                <a:solidFill>
                  <a:srgbClr val="15283D"/>
                </a:solidFill>
                <a:latin typeface="Arial"/>
                <a:ea typeface="Arial"/>
                <a:cs typeface="Arial"/>
              </a:defRPr>
            </a:lvl4pPr>
            <a:lvl5pPr>
              <a:defRPr sz="3300" b="1">
                <a:solidFill>
                  <a:srgbClr val="15283D"/>
                </a:solidFill>
                <a:latin typeface="Arial"/>
                <a:ea typeface="Arial"/>
                <a:cs typeface="Arial"/>
              </a:defRPr>
            </a:lvl5pPr>
            <a:lvl6pPr>
              <a:defRPr sz="3300" b="1">
                <a:solidFill>
                  <a:srgbClr val="15283D"/>
                </a:solidFill>
                <a:latin typeface="Arial"/>
                <a:ea typeface="Arial"/>
                <a:cs typeface="Arial"/>
              </a:defRPr>
            </a:lvl6pPr>
            <a:lvl7pPr>
              <a:defRPr sz="3300" b="1">
                <a:solidFill>
                  <a:srgbClr val="15283D"/>
                </a:solidFill>
                <a:latin typeface="Arial"/>
                <a:ea typeface="Arial"/>
                <a:cs typeface="Arial"/>
              </a:defRPr>
            </a:lvl7pPr>
            <a:lvl8pPr>
              <a:defRPr sz="3300" b="1">
                <a:solidFill>
                  <a:srgbClr val="15283D"/>
                </a:solidFill>
                <a:latin typeface="Arial"/>
                <a:ea typeface="Arial"/>
                <a:cs typeface="Arial"/>
              </a:defRPr>
            </a:lvl8pPr>
            <a:lvl9pPr>
              <a:defRPr sz="3300" b="1">
                <a:solidFill>
                  <a:srgbClr val="15283D"/>
                </a:solidFill>
                <a:latin typeface="Arial"/>
                <a:ea typeface="Arial"/>
                <a:cs typeface="Arial"/>
              </a:defRPr>
            </a:lvl9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Securitygrenzen im Datenfluss</a:t>
            </a:r>
          </a:p>
        </p:txBody>
      </p:sp>
      <p:graphicFrame>
        <p:nvGraphicFramePr>
          <p:cNvPr id="2" name="">
            <a:extLst xmlns:a="http://schemas.openxmlformats.org/drawingml/2006/main">
              <a:ext uri="{FF2B5EF4-FFF2-40B4-BE49-F238E27FC236}">
                <a16:creationId xmlns:a16="http://schemas.microsoft.com/office/drawing/2014/main" id="{05F4E955-BE0C-4D03-BA12-153E788FF6F8}"/>
              </a:ext>
            </a:extLst>
          </p:cNvPr>
          <p:cNvGraphicFramePr/>
          <p:nvPr/>
        </p:nvGraphicFramePr>
        <p:xfrm>
          <a:off xmlns:a="http://schemas.openxmlformats.org/drawingml/2006/main" x="685800" y="1771650"/>
          <a:ext xmlns:a="http://schemas.openxmlformats.org/drawingml/2006/main" cx="10668000" cy="4000500"/>
        </p:xfrm>
        <a:graphic xmlns:a="http://schemas.openxmlformats.org/drawingml/2006/main">
          <a:graphicData uri="http://schemas.openxmlformats.org/drawingml/2006/table">
            <a:tbl>
              <a:tblPr/>
              <a:tblGrid>
                <a:gridCol w="4762500"/>
                <a:gridCol w="5905500"/>
              </a:tblGrid>
              <a:tr h="800100">
                <a:tc>
                  <a:txBody>
                    <a:bodyPr/>
                    <a:lstStyle/>
                    <a:p>
                      <a:r>
                        <a:rPr sz="1800" b="1">
                          <a:solidFill>
                            <a:srgbClr val="15283D"/>
                          </a:solidFill>
                          <a:latin typeface="Arial"/>
                          <a:ea typeface="Arial"/>
                          <a:cs typeface="Arial"/>
                        </a:rPr>
                        <a:t>Unvertrauenswürdige Eingabe</a:t>
                      </a:r>
                    </a:p>
                  </a:txBody>
                  <a:tcPr marL="114300" marR="114300" marT="47625" marB="47625" anchor="ctr">
                    <a:lnL w="9525">
                      <a:solidFill>
                        <a:srgbClr val="C8D5DE"/>
                      </a:solidFill>
                      <a:prstDash val="solid"/>
                    </a:lnL>
                    <a:lnR w="9525">
                      <a:solidFill>
                        <a:srgbClr val="C8D5DE"/>
                      </a:solidFill>
                      <a:prstDash val="solid"/>
                    </a:lnR>
                    <a:lnT w="9525">
                      <a:solidFill>
                        <a:srgbClr val="C8D5DE"/>
                      </a:solidFill>
                      <a:prstDash val="solid"/>
                    </a:lnT>
                    <a:lnB w="9525">
                      <a:solidFill>
                        <a:srgbClr val="C8D5DE"/>
                      </a:solidFill>
                      <a:prstDash val="solid"/>
                    </a:lnB>
                    <a:solidFill>
                      <a:srgbClr val="E8F2F2"/>
                    </a:solidFill>
                  </a:tcPr>
                </a:tc>
                <a:tc>
                  <a:txBody>
                    <a:bodyPr/>
                    <a:lstStyle/>
                    <a:p>
                      <a:r>
                        <a:rPr sz="1800" b="1">
                          <a:solidFill>
                            <a:srgbClr val="15283D"/>
                          </a:solidFill>
                          <a:latin typeface="Arial"/>
                          <a:ea typeface="Arial"/>
                          <a:cs typeface="Arial"/>
                        </a:rPr>
                        <a:t>Erzwungene Grenze</a:t>
                      </a:r>
                    </a:p>
                  </a:txBody>
                  <a:tcPr marL="114300" marR="114300" marT="47625" marB="47625" anchor="ctr">
                    <a:lnR w="9525">
                      <a:solidFill>
                        <a:srgbClr val="C8D5DE"/>
                      </a:solidFill>
                      <a:prstDash val="solid"/>
                    </a:lnR>
                    <a:lnT w="9525">
                      <a:solidFill>
                        <a:srgbClr val="C8D5DE"/>
                      </a:solidFill>
                      <a:prstDash val="solid"/>
                    </a:lnT>
                    <a:lnB w="9525">
                      <a:solidFill>
                        <a:srgbClr val="C8D5DE"/>
                      </a:solidFill>
                      <a:prstDash val="solid"/>
                    </a:lnB>
                    <a:solidFill>
                      <a:srgbClr val="E8F2F2"/>
                    </a:solidFill>
                  </a:tcPr>
                </a:tc>
              </a:tr>
              <a:tr h="800100">
                <a:tc>
                  <a:txBody>
                    <a:bodyPr/>
                    <a:lstStyle/>
                    <a:p>
                      <a:r>
                        <a:rPr sz="1800" b="0">
                          <a:solidFill>
                            <a:srgbClr val="15283D"/>
                          </a:solidFill>
                          <a:latin typeface="Arial"/>
                          <a:ea typeface="Arial"/>
                          <a:cs typeface="Arial"/>
                        </a:rPr>
                        <a:t>Prompt und LLM-SQL</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Feste SQL-Struktur, Wertbindung und minimale DB-Rechte</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r h="800100">
                <a:tc>
                  <a:txBody>
                    <a:bodyPr/>
                    <a:lstStyle/>
                    <a:p>
                      <a:r>
                        <a:rPr sz="1800" b="0">
                          <a:solidFill>
                            <a:srgbClr val="15283D"/>
                          </a:solidFill>
                          <a:latin typeface="Arial"/>
                          <a:ea typeface="Arial"/>
                          <a:cs typeface="Arial"/>
                        </a:rPr>
                        <a:t>Retrievalquelle und Toolwunsch</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Quelleninhalt getrennt von Toolpolicy verarbeiten</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r h="800100">
                <a:tc>
                  <a:txBody>
                    <a:bodyPr/>
                    <a:lstStyle/>
                    <a:p>
                      <a:r>
                        <a:rPr sz="1800" b="0">
                          <a:solidFill>
                            <a:srgbClr val="15283D"/>
                          </a:solidFill>
                          <a:latin typeface="Arial"/>
                          <a:ea typeface="Arial"/>
                          <a:cs typeface="Arial"/>
                        </a:rPr>
                        <a:t>Tenantangabe aus dem Prompt</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Authentifizierter Kontext und DB-seitige Zugriffskontrolle</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r h="800100">
                <a:tc>
                  <a:txBody>
                    <a:bodyPr/>
                    <a:lstStyle/>
                    <a:p>
                      <a:r>
                        <a:rPr sz="1800" b="0">
                          <a:solidFill>
                            <a:srgbClr val="15283D"/>
                          </a:solidFill>
                          <a:latin typeface="Arial"/>
                          <a:ea typeface="Arial"/>
                          <a:cs typeface="Arial"/>
                        </a:rPr>
                        <a:t>Modellendpoint und Dateien</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TLS, Egress, Credentials, Lizenz und endliche Budgets</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bl>
          </a:graphicData>
        </a:graphic>
      </p:graphicFrame>
      <p:sp>
        <p:nvSpPr>
          <p:cNvPr id="3" name="text-1">
            <a:extLst xmlns:a="http://schemas.openxmlformats.org/drawingml/2006/main">
              <a:ext uri="{FF2B5EF4-FFF2-40B4-BE49-F238E27FC236}">
                <a16:creationId xmlns:a16="http://schemas.microsoft.com/office/drawing/2014/main" id="{FFE2098B-8B2B-4230-819F-2A5714D5093E}"/>
              </a:ext>
            </a:extLst>
          </p:cNvPr>
          <p:cNvSpPr>
            <a:spLocks xmlns:a="http://schemas.openxmlformats.org/drawingml/2006/main" noGrp="1"/>
          </p:cNvSpPr>
          <p:nvPr/>
        </p:nvSpPr>
        <p:spPr>
          <a:xfrm xmlns:a="http://schemas.openxmlformats.org/drawingml/2006/main">
            <a:off x="685800" y="5876925"/>
            <a:ext cx="10553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0">
                <a:solidFill>
                  <a:srgbClr val="52647A"/>
                </a:solidFill>
                <a:latin typeface="Arial"/>
                <a:ea typeface="Arial"/>
                <a:cs typeface="Arial"/>
              </a:defRPr>
            </a:defPPr>
            <a:lvl1pPr>
              <a:defRPr sz="1800" b="0">
                <a:solidFill>
                  <a:srgbClr val="52647A"/>
                </a:solidFill>
                <a:latin typeface="Arial"/>
                <a:ea typeface="Arial"/>
                <a:cs typeface="Arial"/>
              </a:defRPr>
            </a:lvl1pPr>
            <a:lvl2pPr>
              <a:defRPr sz="1800" b="0">
                <a:solidFill>
                  <a:srgbClr val="52647A"/>
                </a:solidFill>
                <a:latin typeface="Arial"/>
                <a:ea typeface="Arial"/>
                <a:cs typeface="Arial"/>
              </a:defRPr>
            </a:lvl2pPr>
            <a:lvl3pPr>
              <a:defRPr sz="1800" b="0">
                <a:solidFill>
                  <a:srgbClr val="52647A"/>
                </a:solidFill>
                <a:latin typeface="Arial"/>
                <a:ea typeface="Arial"/>
                <a:cs typeface="Arial"/>
              </a:defRPr>
            </a:lvl3pPr>
            <a:lvl4pPr>
              <a:defRPr sz="1800" b="0">
                <a:solidFill>
                  <a:srgbClr val="52647A"/>
                </a:solidFill>
                <a:latin typeface="Arial"/>
                <a:ea typeface="Arial"/>
                <a:cs typeface="Arial"/>
              </a:defRPr>
            </a:lvl4pPr>
            <a:lvl5pPr>
              <a:defRPr sz="1800" b="0">
                <a:solidFill>
                  <a:srgbClr val="52647A"/>
                </a:solidFill>
                <a:latin typeface="Arial"/>
                <a:ea typeface="Arial"/>
                <a:cs typeface="Arial"/>
              </a:defRPr>
            </a:lvl5pPr>
            <a:lvl6pPr>
              <a:defRPr sz="1800" b="0">
                <a:solidFill>
                  <a:srgbClr val="52647A"/>
                </a:solidFill>
                <a:latin typeface="Arial"/>
                <a:ea typeface="Arial"/>
                <a:cs typeface="Arial"/>
              </a:defRPr>
            </a:lvl6pPr>
            <a:lvl7pPr>
              <a:defRPr sz="1800" b="0">
                <a:solidFill>
                  <a:srgbClr val="52647A"/>
                </a:solidFill>
                <a:latin typeface="Arial"/>
                <a:ea typeface="Arial"/>
                <a:cs typeface="Arial"/>
              </a:defRPr>
            </a:lvl7pPr>
            <a:lvl8pPr>
              <a:defRPr sz="1800" b="0">
                <a:solidFill>
                  <a:srgbClr val="52647A"/>
                </a:solidFill>
                <a:latin typeface="Arial"/>
                <a:ea typeface="Arial"/>
                <a:cs typeface="Arial"/>
              </a:defRPr>
            </a:lvl8pPr>
            <a:lvl9pPr>
              <a:defRPr sz="1800" b="0">
                <a:solidFill>
                  <a:srgbClr val="52647A"/>
                </a:solidFill>
                <a:latin typeface="Arial"/>
                <a:ea typeface="Arial"/>
                <a:cs typeface="Arial"/>
              </a:defRPr>
            </a:lvl9pPr>
          </a:lstStyle>
          <a:p xmlns:a="http://schemas.openxmlformats.org/drawingml/2006/main">
            <a:pPr>
              <a:defRPr sz="1800" b="0">
                <a:solidFill>
                  <a:srgbClr val="52647A"/>
                </a:solidFill>
                <a:latin typeface="Arial"/>
                <a:ea typeface="Arial"/>
                <a:cs typeface="Arial"/>
              </a:defRPr>
            </a:pPr>
            <a:r>
              <a:rPr sz="1800" b="0">
                <a:solidFill>
                  <a:srgbClr val="52647A"/>
                </a:solidFill>
                <a:latin typeface="Arial"/>
                <a:ea typeface="Arial"/>
                <a:cs typeface="Arial"/>
              </a:rPr>
              <a:t>Embeddings, Prompts und Antworten können schutzwürdige Information enthalten.</a:t>
            </a:r>
          </a:p>
        </p:txBody>
      </p:sp>
      <p:sp>
        <p:nvSpPr>
          <p:cNvPr id="4" name="text-2">
            <a:extLst xmlns:a="http://schemas.openxmlformats.org/drawingml/2006/main">
              <a:ext uri="{FF2B5EF4-FFF2-40B4-BE49-F238E27FC236}">
                <a16:creationId xmlns:a16="http://schemas.microsoft.com/office/drawing/2014/main" id="{456D6CDA-67A4-4DCC-8203-0715F39144F6}"/>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vl1pPr>
              <a:defRPr sz="1350" b="0">
                <a:solidFill>
                  <a:srgbClr val="52647A"/>
                </a:solidFill>
                <a:latin typeface="Arial"/>
                <a:ea typeface="Arial"/>
                <a:cs typeface="Arial"/>
              </a:defRPr>
            </a:lvl1pPr>
            <a:lvl2pPr>
              <a:defRPr sz="1350" b="0">
                <a:solidFill>
                  <a:srgbClr val="52647A"/>
                </a:solidFill>
                <a:latin typeface="Arial"/>
                <a:ea typeface="Arial"/>
                <a:cs typeface="Arial"/>
              </a:defRPr>
            </a:lvl2pPr>
            <a:lvl3pPr>
              <a:defRPr sz="1350" b="0">
                <a:solidFill>
                  <a:srgbClr val="52647A"/>
                </a:solidFill>
                <a:latin typeface="Arial"/>
                <a:ea typeface="Arial"/>
                <a:cs typeface="Arial"/>
              </a:defRPr>
            </a:lvl3pPr>
            <a:lvl4pPr>
              <a:defRPr sz="1350" b="0">
                <a:solidFill>
                  <a:srgbClr val="52647A"/>
                </a:solidFill>
                <a:latin typeface="Arial"/>
                <a:ea typeface="Arial"/>
                <a:cs typeface="Arial"/>
              </a:defRPr>
            </a:lvl4pPr>
            <a:lvl5pPr>
              <a:defRPr sz="1350" b="0">
                <a:solidFill>
                  <a:srgbClr val="52647A"/>
                </a:solidFill>
                <a:latin typeface="Arial"/>
                <a:ea typeface="Arial"/>
                <a:cs typeface="Arial"/>
              </a:defRPr>
            </a:lvl5pPr>
            <a:lvl6pPr>
              <a:defRPr sz="1350" b="0">
                <a:solidFill>
                  <a:srgbClr val="52647A"/>
                </a:solidFill>
                <a:latin typeface="Arial"/>
                <a:ea typeface="Arial"/>
                <a:cs typeface="Arial"/>
              </a:defRPr>
            </a:lvl6pPr>
            <a:lvl7pPr>
              <a:defRPr sz="1350" b="0">
                <a:solidFill>
                  <a:srgbClr val="52647A"/>
                </a:solidFill>
                <a:latin typeface="Arial"/>
                <a:ea typeface="Arial"/>
                <a:cs typeface="Arial"/>
              </a:defRPr>
            </a:lvl7pPr>
            <a:lvl8pPr>
              <a:defRPr sz="1350" b="0">
                <a:solidFill>
                  <a:srgbClr val="52647A"/>
                </a:solidFill>
                <a:latin typeface="Arial"/>
                <a:ea typeface="Arial"/>
                <a:cs typeface="Arial"/>
              </a:defRPr>
            </a:lvl8pPr>
            <a:lvl9pPr>
              <a:defRPr sz="1350" b="0">
                <a:solidFill>
                  <a:srgbClr val="52647A"/>
                </a:solidFill>
                <a:latin typeface="Arial"/>
                <a:ea typeface="Arial"/>
                <a:cs typeface="Arial"/>
              </a:defRPr>
            </a:lvl9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47  CUR-018</a:t>
            </a:r>
          </a:p>
        </p:txBody>
      </p:sp>
    </p:spTree>
    <p:extLst>
      <p:ext uri="{BB962C8B-B14F-4D97-AF65-F5344CB8AC3E}">
        <p14:creationId xmlns:p14="http://schemas.microsoft.com/office/powerpoint/2010/main" val="1788430100"/>
      </p:ext>
    </p:extLst>
  </p:cSld>
</p:sld>
</file>

<file path=ppt/slides/slide4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text-0">
            <a:extLst xmlns:a="http://schemas.openxmlformats.org/drawingml/2006/main">
              <a:ext uri="{FF2B5EF4-FFF2-40B4-BE49-F238E27FC236}">
                <a16:creationId xmlns:a16="http://schemas.microsoft.com/office/drawing/2014/main" id="{67720FF8-644A-4C32-B99A-627E42BDB7DA}"/>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vl1pPr>
              <a:defRPr sz="3300" b="1">
                <a:solidFill>
                  <a:srgbClr val="15283D"/>
                </a:solidFill>
                <a:latin typeface="Arial"/>
                <a:ea typeface="Arial"/>
                <a:cs typeface="Arial"/>
              </a:defRPr>
            </a:lvl1pPr>
            <a:lvl2pPr>
              <a:defRPr sz="3300" b="1">
                <a:solidFill>
                  <a:srgbClr val="15283D"/>
                </a:solidFill>
                <a:latin typeface="Arial"/>
                <a:ea typeface="Arial"/>
                <a:cs typeface="Arial"/>
              </a:defRPr>
            </a:lvl2pPr>
            <a:lvl3pPr>
              <a:defRPr sz="3300" b="1">
                <a:solidFill>
                  <a:srgbClr val="15283D"/>
                </a:solidFill>
                <a:latin typeface="Arial"/>
                <a:ea typeface="Arial"/>
                <a:cs typeface="Arial"/>
              </a:defRPr>
            </a:lvl3pPr>
            <a:lvl4pPr>
              <a:defRPr sz="3300" b="1">
                <a:solidFill>
                  <a:srgbClr val="15283D"/>
                </a:solidFill>
                <a:latin typeface="Arial"/>
                <a:ea typeface="Arial"/>
                <a:cs typeface="Arial"/>
              </a:defRPr>
            </a:lvl4pPr>
            <a:lvl5pPr>
              <a:defRPr sz="3300" b="1">
                <a:solidFill>
                  <a:srgbClr val="15283D"/>
                </a:solidFill>
                <a:latin typeface="Arial"/>
                <a:ea typeface="Arial"/>
                <a:cs typeface="Arial"/>
              </a:defRPr>
            </a:lvl5pPr>
            <a:lvl6pPr>
              <a:defRPr sz="3300" b="1">
                <a:solidFill>
                  <a:srgbClr val="15283D"/>
                </a:solidFill>
                <a:latin typeface="Arial"/>
                <a:ea typeface="Arial"/>
                <a:cs typeface="Arial"/>
              </a:defRPr>
            </a:lvl6pPr>
            <a:lvl7pPr>
              <a:defRPr sz="3300" b="1">
                <a:solidFill>
                  <a:srgbClr val="15283D"/>
                </a:solidFill>
                <a:latin typeface="Arial"/>
                <a:ea typeface="Arial"/>
                <a:cs typeface="Arial"/>
              </a:defRPr>
            </a:lvl7pPr>
            <a:lvl8pPr>
              <a:defRPr sz="3300" b="1">
                <a:solidFill>
                  <a:srgbClr val="15283D"/>
                </a:solidFill>
                <a:latin typeface="Arial"/>
                <a:ea typeface="Arial"/>
                <a:cs typeface="Arial"/>
              </a:defRPr>
            </a:lvl8pPr>
            <a:lvl9pPr>
              <a:defRPr sz="3300" b="1">
                <a:solidFill>
                  <a:srgbClr val="15283D"/>
                </a:solidFill>
                <a:latin typeface="Arial"/>
                <a:ea typeface="Arial"/>
                <a:cs typeface="Arial"/>
              </a:defRPr>
            </a:lvl9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QRY-019: Wertbindung und SQL-Struktur</a:t>
            </a:r>
          </a:p>
        </p:txBody>
      </p:sp>
      <p:sp>
        <p:nvSpPr>
          <p:cNvPr id="2" name="text-1">
            <a:extLst xmlns:a="http://schemas.openxmlformats.org/drawingml/2006/main">
              <a:ext uri="{FF2B5EF4-FFF2-40B4-BE49-F238E27FC236}">
                <a16:creationId xmlns:a16="http://schemas.microsoft.com/office/drawing/2014/main" id="{B5F7CA58-CC73-4A3C-A84A-2D57DB87F76A}"/>
              </a:ext>
            </a:extLst>
          </p:cNvPr>
          <p:cNvSpPr>
            <a:spLocks xmlns:a="http://schemas.openxmlformats.org/drawingml/2006/main" noGrp="1"/>
          </p:cNvSpPr>
          <p:nvPr/>
        </p:nvSpPr>
        <p:spPr>
          <a:xfrm xmlns:a="http://schemas.openxmlformats.org/drawingml/2006/main">
            <a:off x="685800" y="177165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Vorhersage</a:t>
            </a:r>
          </a:p>
        </p:txBody>
      </p:sp>
      <p:sp>
        <p:nvSpPr>
          <p:cNvPr id="3" name="text-2">
            <a:extLst xmlns:a="http://schemas.openxmlformats.org/drawingml/2006/main">
              <a:ext uri="{FF2B5EF4-FFF2-40B4-BE49-F238E27FC236}">
                <a16:creationId xmlns:a16="http://schemas.microsoft.com/office/drawing/2014/main" id="{D6155FAC-C7E2-4D47-A914-D6954E856EBF}"/>
              </a:ext>
            </a:extLst>
          </p:cNvPr>
          <p:cNvSpPr>
            <a:spLocks xmlns:a="http://schemas.openxmlformats.org/drawingml/2006/main" noGrp="1"/>
          </p:cNvSpPr>
          <p:nvPr/>
        </p:nvSpPr>
        <p:spPr>
          <a:xfrm xmlns:a="http://schemas.openxmlformats.org/drawingml/2006/main">
            <a:off x="3190875" y="177165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Kann Quote-, Semikolon- und DROP-Text als Wert einen Literal-Treffer liefern?</a:t>
            </a:r>
          </a:p>
        </p:txBody>
      </p:sp>
      <p:sp>
        <p:nvSpPr>
          <p:cNvPr id="4" name="text-3">
            <a:extLst xmlns:a="http://schemas.openxmlformats.org/drawingml/2006/main">
              <a:ext uri="{FF2B5EF4-FFF2-40B4-BE49-F238E27FC236}">
                <a16:creationId xmlns:a16="http://schemas.microsoft.com/office/drawing/2014/main" id="{8C090323-9E80-4C4A-8BD6-E0B16C7EFF75}"/>
              </a:ext>
            </a:extLst>
          </p:cNvPr>
          <p:cNvSpPr>
            <a:spLocks xmlns:a="http://schemas.openxmlformats.org/drawingml/2006/main" noGrp="1"/>
          </p:cNvSpPr>
          <p:nvPr/>
        </p:nvSpPr>
        <p:spPr>
          <a:xfrm xmlns:a="http://schemas.openxmlformats.org/drawingml/2006/main">
            <a:off x="685800" y="3057525"/>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Beobachtung</a:t>
            </a:r>
          </a:p>
        </p:txBody>
      </p:sp>
      <p:sp>
        <p:nvSpPr>
          <p:cNvPr id="5" name="text-4">
            <a:extLst xmlns:a="http://schemas.openxmlformats.org/drawingml/2006/main">
              <a:ext uri="{FF2B5EF4-FFF2-40B4-BE49-F238E27FC236}">
                <a16:creationId xmlns:a16="http://schemas.microsoft.com/office/drawing/2014/main" id="{2AA488AD-12B0-4B1A-AB3B-FF7F9907754C}"/>
              </a:ext>
            </a:extLst>
          </p:cNvPr>
          <p:cNvSpPr>
            <a:spLocks xmlns:a="http://schemas.openxmlformats.org/drawingml/2006/main" noGrp="1"/>
          </p:cNvSpPr>
          <p:nvPr/>
        </p:nvSpPr>
        <p:spPr>
          <a:xfrm xmlns:a="http://schemas.openxmlformats.org/drawingml/2006/main">
            <a:off x="3190875" y="3057525"/>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Feste Statementstruktur, getrennte Wertparameter und tatsächliche Readerrechte im Code zeigen.</a:t>
            </a:r>
          </a:p>
        </p:txBody>
      </p:sp>
      <p:sp>
        <p:nvSpPr>
          <p:cNvPr id="6" name="text-5">
            <a:extLst xmlns:a="http://schemas.openxmlformats.org/drawingml/2006/main">
              <a:ext uri="{FF2B5EF4-FFF2-40B4-BE49-F238E27FC236}">
                <a16:creationId xmlns:a16="http://schemas.microsoft.com/office/drawing/2014/main" id="{64BEAB92-ADE0-48A6-85AD-6B7933730D3B}"/>
              </a:ext>
            </a:extLst>
          </p:cNvPr>
          <p:cNvSpPr>
            <a:spLocks xmlns:a="http://schemas.openxmlformats.org/drawingml/2006/main" noGrp="1"/>
          </p:cNvSpPr>
          <p:nvPr/>
        </p:nvSpPr>
        <p:spPr>
          <a:xfrm xmlns:a="http://schemas.openxmlformats.org/drawingml/2006/main">
            <a:off x="685800" y="434340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Gegenprobe</a:t>
            </a:r>
          </a:p>
        </p:txBody>
      </p:sp>
      <p:sp>
        <p:nvSpPr>
          <p:cNvPr id="7" name="text-6">
            <a:extLst xmlns:a="http://schemas.openxmlformats.org/drawingml/2006/main">
              <a:ext uri="{FF2B5EF4-FFF2-40B4-BE49-F238E27FC236}">
                <a16:creationId xmlns:a16="http://schemas.microsoft.com/office/drawing/2014/main" id="{751DAD4D-908E-4AB5-8C8C-3DFB61F1A5F8}"/>
              </a:ext>
            </a:extLst>
          </p:cNvPr>
          <p:cNvSpPr>
            <a:spLocks xmlns:a="http://schemas.openxmlformats.org/drawingml/2006/main" noGrp="1"/>
          </p:cNvSpPr>
          <p:nvPr/>
        </p:nvSpPr>
        <p:spPr>
          <a:xfrm xmlns:a="http://schemas.openxmlformats.org/drawingml/2006/main">
            <a:off x="3190875" y="434340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Zusatzstatement und unerlaubte Aktion ablehnen. Identifier benötigen eine eigene Allowlist.</a:t>
            </a:r>
          </a:p>
        </p:txBody>
      </p:sp>
      <p:sp>
        <p:nvSpPr>
          <p:cNvPr id="8" name="text-7">
            <a:extLst xmlns:a="http://schemas.openxmlformats.org/drawingml/2006/main">
              <a:ext uri="{FF2B5EF4-FFF2-40B4-BE49-F238E27FC236}">
                <a16:creationId xmlns:a16="http://schemas.microsoft.com/office/drawing/2014/main" id="{76ED105C-51AB-4F4F-8D4D-7BF580005703}"/>
              </a:ext>
            </a:extLst>
          </p:cNvPr>
          <p:cNvSpPr>
            <a:spLocks xmlns:a="http://schemas.openxmlformats.org/drawingml/2006/main" noGrp="1"/>
          </p:cNvSpPr>
          <p:nvPr/>
        </p:nvSpPr>
        <p:spPr>
          <a:xfrm xmlns:a="http://schemas.openxmlformats.org/drawingml/2006/main">
            <a:off x="685800" y="5876925"/>
            <a:ext cx="10553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0">
                <a:solidFill>
                  <a:srgbClr val="52647A"/>
                </a:solidFill>
                <a:latin typeface="Arial"/>
                <a:ea typeface="Arial"/>
                <a:cs typeface="Arial"/>
              </a:defRPr>
            </a:defPPr>
            <a:lvl1pPr>
              <a:defRPr sz="1800" b="0">
                <a:solidFill>
                  <a:srgbClr val="52647A"/>
                </a:solidFill>
                <a:latin typeface="Arial"/>
                <a:ea typeface="Arial"/>
                <a:cs typeface="Arial"/>
              </a:defRPr>
            </a:lvl1pPr>
            <a:lvl2pPr>
              <a:defRPr sz="1800" b="0">
                <a:solidFill>
                  <a:srgbClr val="52647A"/>
                </a:solidFill>
                <a:latin typeface="Arial"/>
                <a:ea typeface="Arial"/>
                <a:cs typeface="Arial"/>
              </a:defRPr>
            </a:lvl2pPr>
            <a:lvl3pPr>
              <a:defRPr sz="1800" b="0">
                <a:solidFill>
                  <a:srgbClr val="52647A"/>
                </a:solidFill>
                <a:latin typeface="Arial"/>
                <a:ea typeface="Arial"/>
                <a:cs typeface="Arial"/>
              </a:defRPr>
            </a:lvl3pPr>
            <a:lvl4pPr>
              <a:defRPr sz="1800" b="0">
                <a:solidFill>
                  <a:srgbClr val="52647A"/>
                </a:solidFill>
                <a:latin typeface="Arial"/>
                <a:ea typeface="Arial"/>
                <a:cs typeface="Arial"/>
              </a:defRPr>
            </a:lvl4pPr>
            <a:lvl5pPr>
              <a:defRPr sz="1800" b="0">
                <a:solidFill>
                  <a:srgbClr val="52647A"/>
                </a:solidFill>
                <a:latin typeface="Arial"/>
                <a:ea typeface="Arial"/>
                <a:cs typeface="Arial"/>
              </a:defRPr>
            </a:lvl5pPr>
            <a:lvl6pPr>
              <a:defRPr sz="1800" b="0">
                <a:solidFill>
                  <a:srgbClr val="52647A"/>
                </a:solidFill>
                <a:latin typeface="Arial"/>
                <a:ea typeface="Arial"/>
                <a:cs typeface="Arial"/>
              </a:defRPr>
            </a:lvl6pPr>
            <a:lvl7pPr>
              <a:defRPr sz="1800" b="0">
                <a:solidFill>
                  <a:srgbClr val="52647A"/>
                </a:solidFill>
                <a:latin typeface="Arial"/>
                <a:ea typeface="Arial"/>
                <a:cs typeface="Arial"/>
              </a:defRPr>
            </a:lvl7pPr>
            <a:lvl8pPr>
              <a:defRPr sz="1800" b="0">
                <a:solidFill>
                  <a:srgbClr val="52647A"/>
                </a:solidFill>
                <a:latin typeface="Arial"/>
                <a:ea typeface="Arial"/>
                <a:cs typeface="Arial"/>
              </a:defRPr>
            </a:lvl8pPr>
            <a:lvl9pPr>
              <a:defRPr sz="1800" b="0">
                <a:solidFill>
                  <a:srgbClr val="52647A"/>
                </a:solidFill>
                <a:latin typeface="Arial"/>
                <a:ea typeface="Arial"/>
                <a:cs typeface="Arial"/>
              </a:defRPr>
            </a:lvl9pPr>
          </a:lstStyle>
          <a:p xmlns:a="http://schemas.openxmlformats.org/drawingml/2006/main">
            <a:pPr>
              <a:defRPr sz="1800" b="0">
                <a:solidFill>
                  <a:srgbClr val="52647A"/>
                </a:solidFill>
                <a:latin typeface="Arial"/>
                <a:ea typeface="Arial"/>
                <a:cs typeface="Arial"/>
              </a:defRPr>
            </a:pPr>
            <a:r>
              <a:rPr sz="1800" b="0">
                <a:solidFill>
                  <a:srgbClr val="52647A"/>
                </a:solidFill>
                <a:latin typeface="Arial"/>
                <a:ea typeface="Arial"/>
                <a:cs typeface="Arial"/>
              </a:rPr>
              <a:t>IMPLEMENTED. Feste SQL-/Promptfixtures, kein privilegierter Angriffslauf.</a:t>
            </a:r>
          </a:p>
        </p:txBody>
      </p:sp>
      <p:sp>
        <p:nvSpPr>
          <p:cNvPr id="9" name="text-8">
            <a:extLst xmlns:a="http://schemas.openxmlformats.org/drawingml/2006/main">
              <a:ext uri="{FF2B5EF4-FFF2-40B4-BE49-F238E27FC236}">
                <a16:creationId xmlns:a16="http://schemas.microsoft.com/office/drawing/2014/main" id="{32D4B8C9-4B0A-439C-85CF-29C0A60E1616}"/>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vl1pPr>
              <a:defRPr sz="1350" b="0">
                <a:solidFill>
                  <a:srgbClr val="52647A"/>
                </a:solidFill>
                <a:latin typeface="Arial"/>
                <a:ea typeface="Arial"/>
                <a:cs typeface="Arial"/>
              </a:defRPr>
            </a:lvl1pPr>
            <a:lvl2pPr>
              <a:defRPr sz="1350" b="0">
                <a:solidFill>
                  <a:srgbClr val="52647A"/>
                </a:solidFill>
                <a:latin typeface="Arial"/>
                <a:ea typeface="Arial"/>
                <a:cs typeface="Arial"/>
              </a:defRPr>
            </a:lvl2pPr>
            <a:lvl3pPr>
              <a:defRPr sz="1350" b="0">
                <a:solidFill>
                  <a:srgbClr val="52647A"/>
                </a:solidFill>
                <a:latin typeface="Arial"/>
                <a:ea typeface="Arial"/>
                <a:cs typeface="Arial"/>
              </a:defRPr>
            </a:lvl3pPr>
            <a:lvl4pPr>
              <a:defRPr sz="1350" b="0">
                <a:solidFill>
                  <a:srgbClr val="52647A"/>
                </a:solidFill>
                <a:latin typeface="Arial"/>
                <a:ea typeface="Arial"/>
                <a:cs typeface="Arial"/>
              </a:defRPr>
            </a:lvl4pPr>
            <a:lvl5pPr>
              <a:defRPr sz="1350" b="0">
                <a:solidFill>
                  <a:srgbClr val="52647A"/>
                </a:solidFill>
                <a:latin typeface="Arial"/>
                <a:ea typeface="Arial"/>
                <a:cs typeface="Arial"/>
              </a:defRPr>
            </a:lvl5pPr>
            <a:lvl6pPr>
              <a:defRPr sz="1350" b="0">
                <a:solidFill>
                  <a:srgbClr val="52647A"/>
                </a:solidFill>
                <a:latin typeface="Arial"/>
                <a:ea typeface="Arial"/>
                <a:cs typeface="Arial"/>
              </a:defRPr>
            </a:lvl6pPr>
            <a:lvl7pPr>
              <a:defRPr sz="1350" b="0">
                <a:solidFill>
                  <a:srgbClr val="52647A"/>
                </a:solidFill>
                <a:latin typeface="Arial"/>
                <a:ea typeface="Arial"/>
                <a:cs typeface="Arial"/>
              </a:defRPr>
            </a:lvl7pPr>
            <a:lvl8pPr>
              <a:defRPr sz="1350" b="0">
                <a:solidFill>
                  <a:srgbClr val="52647A"/>
                </a:solidFill>
                <a:latin typeface="Arial"/>
                <a:ea typeface="Arial"/>
                <a:cs typeface="Arial"/>
              </a:defRPr>
            </a:lvl8pPr>
            <a:lvl9pPr>
              <a:defRPr sz="1350" b="0">
                <a:solidFill>
                  <a:srgbClr val="52647A"/>
                </a:solidFill>
                <a:latin typeface="Arial"/>
                <a:ea typeface="Arial"/>
                <a:cs typeface="Arial"/>
              </a:defRPr>
            </a:lvl9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48  CUR-018 / CUR-021</a:t>
            </a:r>
          </a:p>
        </p:txBody>
      </p:sp>
    </p:spTree>
    <p:extLst>
      <p:ext uri="{BB962C8B-B14F-4D97-AF65-F5344CB8AC3E}">
        <p14:creationId xmlns:p14="http://schemas.microsoft.com/office/powerpoint/2010/main" val="1246502104"/>
      </p:ext>
    </p:extLst>
  </p:cSld>
</p:sld>
</file>

<file path=ppt/slides/slide4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text-0">
            <a:extLst xmlns:a="http://schemas.openxmlformats.org/drawingml/2006/main">
              <a:ext uri="{FF2B5EF4-FFF2-40B4-BE49-F238E27FC236}">
                <a16:creationId xmlns:a16="http://schemas.microsoft.com/office/drawing/2014/main" id="{C1835535-8CDB-4574-8623-F45B30B448C2}"/>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vl1pPr>
              <a:defRPr sz="3300" b="1">
                <a:solidFill>
                  <a:srgbClr val="15283D"/>
                </a:solidFill>
                <a:latin typeface="Arial"/>
                <a:ea typeface="Arial"/>
                <a:cs typeface="Arial"/>
              </a:defRPr>
            </a:lvl1pPr>
            <a:lvl2pPr>
              <a:defRPr sz="3300" b="1">
                <a:solidFill>
                  <a:srgbClr val="15283D"/>
                </a:solidFill>
                <a:latin typeface="Arial"/>
                <a:ea typeface="Arial"/>
                <a:cs typeface="Arial"/>
              </a:defRPr>
            </a:lvl2pPr>
            <a:lvl3pPr>
              <a:defRPr sz="3300" b="1">
                <a:solidFill>
                  <a:srgbClr val="15283D"/>
                </a:solidFill>
                <a:latin typeface="Arial"/>
                <a:ea typeface="Arial"/>
                <a:cs typeface="Arial"/>
              </a:defRPr>
            </a:lvl3pPr>
            <a:lvl4pPr>
              <a:defRPr sz="3300" b="1">
                <a:solidFill>
                  <a:srgbClr val="15283D"/>
                </a:solidFill>
                <a:latin typeface="Arial"/>
                <a:ea typeface="Arial"/>
                <a:cs typeface="Arial"/>
              </a:defRPr>
            </a:lvl4pPr>
            <a:lvl5pPr>
              <a:defRPr sz="3300" b="1">
                <a:solidFill>
                  <a:srgbClr val="15283D"/>
                </a:solidFill>
                <a:latin typeface="Arial"/>
                <a:ea typeface="Arial"/>
                <a:cs typeface="Arial"/>
              </a:defRPr>
            </a:lvl5pPr>
            <a:lvl6pPr>
              <a:defRPr sz="3300" b="1">
                <a:solidFill>
                  <a:srgbClr val="15283D"/>
                </a:solidFill>
                <a:latin typeface="Arial"/>
                <a:ea typeface="Arial"/>
                <a:cs typeface="Arial"/>
              </a:defRPr>
            </a:lvl6pPr>
            <a:lvl7pPr>
              <a:defRPr sz="3300" b="1">
                <a:solidFill>
                  <a:srgbClr val="15283D"/>
                </a:solidFill>
                <a:latin typeface="Arial"/>
                <a:ea typeface="Arial"/>
                <a:cs typeface="Arial"/>
              </a:defRPr>
            </a:lvl7pPr>
            <a:lvl8pPr>
              <a:defRPr sz="3300" b="1">
                <a:solidFill>
                  <a:srgbClr val="15283D"/>
                </a:solidFill>
                <a:latin typeface="Arial"/>
                <a:ea typeface="Arial"/>
                <a:cs typeface="Arial"/>
              </a:defRPr>
            </a:lvl8pPr>
            <a:lvl9pPr>
              <a:defRPr sz="3300" b="1">
                <a:solidFill>
                  <a:srgbClr val="15283D"/>
                </a:solidFill>
                <a:latin typeface="Arial"/>
                <a:ea typeface="Arial"/>
                <a:cs typeface="Arial"/>
              </a:defRPr>
            </a:lvl9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DGN-009: Manipulierte Retrievalquelle</a:t>
            </a:r>
          </a:p>
        </p:txBody>
      </p:sp>
      <p:sp>
        <p:nvSpPr>
          <p:cNvPr id="2" name="text-1">
            <a:extLst xmlns:a="http://schemas.openxmlformats.org/drawingml/2006/main">
              <a:ext uri="{FF2B5EF4-FFF2-40B4-BE49-F238E27FC236}">
                <a16:creationId xmlns:a16="http://schemas.microsoft.com/office/drawing/2014/main" id="{E2D43D16-E8AC-4A0D-8996-F952828F6FF4}"/>
              </a:ext>
            </a:extLst>
          </p:cNvPr>
          <p:cNvSpPr>
            <a:spLocks xmlns:a="http://schemas.openxmlformats.org/drawingml/2006/main" noGrp="1"/>
          </p:cNvSpPr>
          <p:nvPr/>
        </p:nvSpPr>
        <p:spPr>
          <a:xfrm xmlns:a="http://schemas.openxmlformats.org/drawingml/2006/main">
            <a:off x="685800" y="177165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Vorhersage</a:t>
            </a:r>
          </a:p>
        </p:txBody>
      </p:sp>
      <p:sp>
        <p:nvSpPr>
          <p:cNvPr id="3" name="text-2">
            <a:extLst xmlns:a="http://schemas.openxmlformats.org/drawingml/2006/main">
              <a:ext uri="{FF2B5EF4-FFF2-40B4-BE49-F238E27FC236}">
                <a16:creationId xmlns:a16="http://schemas.microsoft.com/office/drawing/2014/main" id="{744E763A-6A55-4504-81FC-62EF17FC08DA}"/>
              </a:ext>
            </a:extLst>
          </p:cNvPr>
          <p:cNvSpPr>
            <a:spLocks xmlns:a="http://schemas.openxmlformats.org/drawingml/2006/main" noGrp="1"/>
          </p:cNvSpPr>
          <p:nvPr/>
        </p:nvSpPr>
        <p:spPr>
          <a:xfrm xmlns:a="http://schemas.openxmlformats.org/drawingml/2006/main">
            <a:off x="3190875" y="177165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Eine Quelle fordert eine Zusatzaktion. Welche Befugnis entsteht daraus?</a:t>
            </a:r>
          </a:p>
        </p:txBody>
      </p:sp>
      <p:sp>
        <p:nvSpPr>
          <p:cNvPr id="4" name="text-3">
            <a:extLst xmlns:a="http://schemas.openxmlformats.org/drawingml/2006/main">
              <a:ext uri="{FF2B5EF4-FFF2-40B4-BE49-F238E27FC236}">
                <a16:creationId xmlns:a16="http://schemas.microsoft.com/office/drawing/2014/main" id="{D9011CB0-7866-4853-8DD7-ACD525BFB140}"/>
              </a:ext>
            </a:extLst>
          </p:cNvPr>
          <p:cNvSpPr>
            <a:spLocks xmlns:a="http://schemas.openxmlformats.org/drawingml/2006/main" noGrp="1"/>
          </p:cNvSpPr>
          <p:nvPr/>
        </p:nvSpPr>
        <p:spPr>
          <a:xfrm xmlns:a="http://schemas.openxmlformats.org/drawingml/2006/main">
            <a:off x="685800" y="3057525"/>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Beobachtung</a:t>
            </a:r>
          </a:p>
        </p:txBody>
      </p:sp>
      <p:sp>
        <p:nvSpPr>
          <p:cNvPr id="5" name="text-4">
            <a:extLst xmlns:a="http://schemas.openxmlformats.org/drawingml/2006/main">
              <a:ext uri="{FF2B5EF4-FFF2-40B4-BE49-F238E27FC236}">
                <a16:creationId xmlns:a16="http://schemas.microsoft.com/office/drawing/2014/main" id="{D3EF4453-0108-458A-8F5B-927E78FBA3C1}"/>
              </a:ext>
            </a:extLst>
          </p:cNvPr>
          <p:cNvSpPr>
            <a:spLocks xmlns:a="http://schemas.openxmlformats.org/drawingml/2006/main" noGrp="1"/>
          </p:cNvSpPr>
          <p:nvPr/>
        </p:nvSpPr>
        <p:spPr>
          <a:xfrm xmlns:a="http://schemas.openxmlformats.org/drawingml/2006/main">
            <a:off x="3190875" y="3057525"/>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Den tatsächlich retrievten manipulierten Text von Antwortfixture und Toolpolicy trennen.</a:t>
            </a:r>
          </a:p>
        </p:txBody>
      </p:sp>
      <p:sp>
        <p:nvSpPr>
          <p:cNvPr id="6" name="text-5">
            <a:extLst xmlns:a="http://schemas.openxmlformats.org/drawingml/2006/main">
              <a:ext uri="{FF2B5EF4-FFF2-40B4-BE49-F238E27FC236}">
                <a16:creationId xmlns:a16="http://schemas.microsoft.com/office/drawing/2014/main" id="{7C27DF3A-D262-4241-B3E5-5AC33FFF16EC}"/>
              </a:ext>
            </a:extLst>
          </p:cNvPr>
          <p:cNvSpPr>
            <a:spLocks xmlns:a="http://schemas.openxmlformats.org/drawingml/2006/main" noGrp="1"/>
          </p:cNvSpPr>
          <p:nvPr/>
        </p:nvSpPr>
        <p:spPr>
          <a:xfrm xmlns:a="http://schemas.openxmlformats.org/drawingml/2006/main">
            <a:off x="685800" y="434340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Gegenprobe</a:t>
            </a:r>
          </a:p>
        </p:txBody>
      </p:sp>
      <p:sp>
        <p:nvSpPr>
          <p:cNvPr id="7" name="text-6">
            <a:extLst xmlns:a="http://schemas.openxmlformats.org/drawingml/2006/main">
              <a:ext uri="{FF2B5EF4-FFF2-40B4-BE49-F238E27FC236}">
                <a16:creationId xmlns:a16="http://schemas.microsoft.com/office/drawing/2014/main" id="{9E528D67-63C1-4F24-8F99-B30CEB474DB4}"/>
              </a:ext>
            </a:extLst>
          </p:cNvPr>
          <p:cNvSpPr>
            <a:spLocks xmlns:a="http://schemas.openxmlformats.org/drawingml/2006/main" noGrp="1"/>
          </p:cNvSpPr>
          <p:nvPr/>
        </p:nvSpPr>
        <p:spPr>
          <a:xfrm xmlns:a="http://schemas.openxmlformats.org/drawingml/2006/main">
            <a:off x="3190875" y="434340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Feste Policy und minimale SQL-Rechte verweigern unerlaubte Aktionen tatsächlich.</a:t>
            </a:r>
          </a:p>
        </p:txBody>
      </p:sp>
      <p:sp>
        <p:nvSpPr>
          <p:cNvPr id="8" name="text-7">
            <a:extLst xmlns:a="http://schemas.openxmlformats.org/drawingml/2006/main">
              <a:ext uri="{FF2B5EF4-FFF2-40B4-BE49-F238E27FC236}">
                <a16:creationId xmlns:a16="http://schemas.microsoft.com/office/drawing/2014/main" id="{270C2489-9C00-402F-8BFD-535D5E580491}"/>
              </a:ext>
            </a:extLst>
          </p:cNvPr>
          <p:cNvSpPr>
            <a:spLocks xmlns:a="http://schemas.openxmlformats.org/drawingml/2006/main" noGrp="1"/>
          </p:cNvSpPr>
          <p:nvPr/>
        </p:nvSpPr>
        <p:spPr>
          <a:xfrm xmlns:a="http://schemas.openxmlformats.org/drawingml/2006/main">
            <a:off x="685800" y="5876925"/>
            <a:ext cx="10553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0">
                <a:solidFill>
                  <a:srgbClr val="52647A"/>
                </a:solidFill>
                <a:latin typeface="Arial"/>
                <a:ea typeface="Arial"/>
                <a:cs typeface="Arial"/>
              </a:defRPr>
            </a:defPPr>
            <a:lvl1pPr>
              <a:defRPr sz="1800" b="0">
                <a:solidFill>
                  <a:srgbClr val="52647A"/>
                </a:solidFill>
                <a:latin typeface="Arial"/>
                <a:ea typeface="Arial"/>
                <a:cs typeface="Arial"/>
              </a:defRPr>
            </a:lvl1pPr>
            <a:lvl2pPr>
              <a:defRPr sz="1800" b="0">
                <a:solidFill>
                  <a:srgbClr val="52647A"/>
                </a:solidFill>
                <a:latin typeface="Arial"/>
                <a:ea typeface="Arial"/>
                <a:cs typeface="Arial"/>
              </a:defRPr>
            </a:lvl2pPr>
            <a:lvl3pPr>
              <a:defRPr sz="1800" b="0">
                <a:solidFill>
                  <a:srgbClr val="52647A"/>
                </a:solidFill>
                <a:latin typeface="Arial"/>
                <a:ea typeface="Arial"/>
                <a:cs typeface="Arial"/>
              </a:defRPr>
            </a:lvl3pPr>
            <a:lvl4pPr>
              <a:defRPr sz="1800" b="0">
                <a:solidFill>
                  <a:srgbClr val="52647A"/>
                </a:solidFill>
                <a:latin typeface="Arial"/>
                <a:ea typeface="Arial"/>
                <a:cs typeface="Arial"/>
              </a:defRPr>
            </a:lvl4pPr>
            <a:lvl5pPr>
              <a:defRPr sz="1800" b="0">
                <a:solidFill>
                  <a:srgbClr val="52647A"/>
                </a:solidFill>
                <a:latin typeface="Arial"/>
                <a:ea typeface="Arial"/>
                <a:cs typeface="Arial"/>
              </a:defRPr>
            </a:lvl5pPr>
            <a:lvl6pPr>
              <a:defRPr sz="1800" b="0">
                <a:solidFill>
                  <a:srgbClr val="52647A"/>
                </a:solidFill>
                <a:latin typeface="Arial"/>
                <a:ea typeface="Arial"/>
                <a:cs typeface="Arial"/>
              </a:defRPr>
            </a:lvl6pPr>
            <a:lvl7pPr>
              <a:defRPr sz="1800" b="0">
                <a:solidFill>
                  <a:srgbClr val="52647A"/>
                </a:solidFill>
                <a:latin typeface="Arial"/>
                <a:ea typeface="Arial"/>
                <a:cs typeface="Arial"/>
              </a:defRPr>
            </a:lvl7pPr>
            <a:lvl8pPr>
              <a:defRPr sz="1800" b="0">
                <a:solidFill>
                  <a:srgbClr val="52647A"/>
                </a:solidFill>
                <a:latin typeface="Arial"/>
                <a:ea typeface="Arial"/>
                <a:cs typeface="Arial"/>
              </a:defRPr>
            </a:lvl8pPr>
            <a:lvl9pPr>
              <a:defRPr sz="1800" b="0">
                <a:solidFill>
                  <a:srgbClr val="52647A"/>
                </a:solidFill>
                <a:latin typeface="Arial"/>
                <a:ea typeface="Arial"/>
                <a:cs typeface="Arial"/>
              </a:defRPr>
            </a:lvl9pPr>
          </a:lstStyle>
          <a:p xmlns:a="http://schemas.openxmlformats.org/drawingml/2006/main">
            <a:pPr>
              <a:defRPr sz="1800" b="0">
                <a:solidFill>
                  <a:srgbClr val="52647A"/>
                </a:solidFill>
                <a:latin typeface="Arial"/>
                <a:ea typeface="Arial"/>
                <a:cs typeface="Arial"/>
              </a:defRPr>
            </a:pPr>
            <a:r>
              <a:rPr sz="1800" b="0">
                <a:solidFill>
                  <a:srgbClr val="52647A"/>
                </a:solidFill>
                <a:latin typeface="Arial"/>
                <a:ea typeface="Arial"/>
                <a:cs typeface="Arial"/>
              </a:rPr>
              <a:t>IMPLEMENTED. Offline-Antwort-/Toolfixtures. Verhalten unbekannter Live-Modelle bleibt offen.</a:t>
            </a:r>
          </a:p>
        </p:txBody>
      </p:sp>
      <p:sp>
        <p:nvSpPr>
          <p:cNvPr id="9" name="text-8">
            <a:extLst xmlns:a="http://schemas.openxmlformats.org/drawingml/2006/main">
              <a:ext uri="{FF2B5EF4-FFF2-40B4-BE49-F238E27FC236}">
                <a16:creationId xmlns:a16="http://schemas.microsoft.com/office/drawing/2014/main" id="{F41BBD8F-8DAD-43C9-A37A-6BC1666EB1B2}"/>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vl1pPr>
              <a:defRPr sz="1350" b="0">
                <a:solidFill>
                  <a:srgbClr val="52647A"/>
                </a:solidFill>
                <a:latin typeface="Arial"/>
                <a:ea typeface="Arial"/>
                <a:cs typeface="Arial"/>
              </a:defRPr>
            </a:lvl1pPr>
            <a:lvl2pPr>
              <a:defRPr sz="1350" b="0">
                <a:solidFill>
                  <a:srgbClr val="52647A"/>
                </a:solidFill>
                <a:latin typeface="Arial"/>
                <a:ea typeface="Arial"/>
                <a:cs typeface="Arial"/>
              </a:defRPr>
            </a:lvl2pPr>
            <a:lvl3pPr>
              <a:defRPr sz="1350" b="0">
                <a:solidFill>
                  <a:srgbClr val="52647A"/>
                </a:solidFill>
                <a:latin typeface="Arial"/>
                <a:ea typeface="Arial"/>
                <a:cs typeface="Arial"/>
              </a:defRPr>
            </a:lvl3pPr>
            <a:lvl4pPr>
              <a:defRPr sz="1350" b="0">
                <a:solidFill>
                  <a:srgbClr val="52647A"/>
                </a:solidFill>
                <a:latin typeface="Arial"/>
                <a:ea typeface="Arial"/>
                <a:cs typeface="Arial"/>
              </a:defRPr>
            </a:lvl4pPr>
            <a:lvl5pPr>
              <a:defRPr sz="1350" b="0">
                <a:solidFill>
                  <a:srgbClr val="52647A"/>
                </a:solidFill>
                <a:latin typeface="Arial"/>
                <a:ea typeface="Arial"/>
                <a:cs typeface="Arial"/>
              </a:defRPr>
            </a:lvl5pPr>
            <a:lvl6pPr>
              <a:defRPr sz="1350" b="0">
                <a:solidFill>
                  <a:srgbClr val="52647A"/>
                </a:solidFill>
                <a:latin typeface="Arial"/>
                <a:ea typeface="Arial"/>
                <a:cs typeface="Arial"/>
              </a:defRPr>
            </a:lvl6pPr>
            <a:lvl7pPr>
              <a:defRPr sz="1350" b="0">
                <a:solidFill>
                  <a:srgbClr val="52647A"/>
                </a:solidFill>
                <a:latin typeface="Arial"/>
                <a:ea typeface="Arial"/>
                <a:cs typeface="Arial"/>
              </a:defRPr>
            </a:lvl7pPr>
            <a:lvl8pPr>
              <a:defRPr sz="1350" b="0">
                <a:solidFill>
                  <a:srgbClr val="52647A"/>
                </a:solidFill>
                <a:latin typeface="Arial"/>
                <a:ea typeface="Arial"/>
                <a:cs typeface="Arial"/>
              </a:defRPr>
            </a:lvl8pPr>
            <a:lvl9pPr>
              <a:defRPr sz="1350" b="0">
                <a:solidFill>
                  <a:srgbClr val="52647A"/>
                </a:solidFill>
                <a:latin typeface="Arial"/>
                <a:ea typeface="Arial"/>
                <a:cs typeface="Arial"/>
              </a:defRPr>
            </a:lvl9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49  CUR-018</a:t>
            </a:r>
          </a:p>
        </p:txBody>
      </p:sp>
    </p:spTree>
    <p:extLst>
      <p:ext uri="{BB962C8B-B14F-4D97-AF65-F5344CB8AC3E}">
        <p14:creationId xmlns:p14="http://schemas.microsoft.com/office/powerpoint/2010/main" val="1755736464"/>
      </p:ext>
    </p:extLst>
  </p:cSld>
</p:sld>
</file>

<file path=ppt/slides/slide5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text-0">
            <a:extLst xmlns:a="http://schemas.openxmlformats.org/drawingml/2006/main">
              <a:ext uri="{FF2B5EF4-FFF2-40B4-BE49-F238E27FC236}">
                <a16:creationId xmlns:a16="http://schemas.microsoft.com/office/drawing/2014/main" id="{7D66255D-7F01-4A34-9AF9-A1F7CBD57F3E}"/>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vl1pPr>
              <a:defRPr sz="3300" b="1">
                <a:solidFill>
                  <a:srgbClr val="15283D"/>
                </a:solidFill>
                <a:latin typeface="Arial"/>
                <a:ea typeface="Arial"/>
                <a:cs typeface="Arial"/>
              </a:defRPr>
            </a:lvl1pPr>
            <a:lvl2pPr>
              <a:defRPr sz="3300" b="1">
                <a:solidFill>
                  <a:srgbClr val="15283D"/>
                </a:solidFill>
                <a:latin typeface="Arial"/>
                <a:ea typeface="Arial"/>
                <a:cs typeface="Arial"/>
              </a:defRPr>
            </a:lvl2pPr>
            <a:lvl3pPr>
              <a:defRPr sz="3300" b="1">
                <a:solidFill>
                  <a:srgbClr val="15283D"/>
                </a:solidFill>
                <a:latin typeface="Arial"/>
                <a:ea typeface="Arial"/>
                <a:cs typeface="Arial"/>
              </a:defRPr>
            </a:lvl3pPr>
            <a:lvl4pPr>
              <a:defRPr sz="3300" b="1">
                <a:solidFill>
                  <a:srgbClr val="15283D"/>
                </a:solidFill>
                <a:latin typeface="Arial"/>
                <a:ea typeface="Arial"/>
                <a:cs typeface="Arial"/>
              </a:defRPr>
            </a:lvl4pPr>
            <a:lvl5pPr>
              <a:defRPr sz="3300" b="1">
                <a:solidFill>
                  <a:srgbClr val="15283D"/>
                </a:solidFill>
                <a:latin typeface="Arial"/>
                <a:ea typeface="Arial"/>
                <a:cs typeface="Arial"/>
              </a:defRPr>
            </a:lvl5pPr>
            <a:lvl6pPr>
              <a:defRPr sz="3300" b="1">
                <a:solidFill>
                  <a:srgbClr val="15283D"/>
                </a:solidFill>
                <a:latin typeface="Arial"/>
                <a:ea typeface="Arial"/>
                <a:cs typeface="Arial"/>
              </a:defRPr>
            </a:lvl6pPr>
            <a:lvl7pPr>
              <a:defRPr sz="3300" b="1">
                <a:solidFill>
                  <a:srgbClr val="15283D"/>
                </a:solidFill>
                <a:latin typeface="Arial"/>
                <a:ea typeface="Arial"/>
                <a:cs typeface="Arial"/>
              </a:defRPr>
            </a:lvl7pPr>
            <a:lvl8pPr>
              <a:defRPr sz="3300" b="1">
                <a:solidFill>
                  <a:srgbClr val="15283D"/>
                </a:solidFill>
                <a:latin typeface="Arial"/>
                <a:ea typeface="Arial"/>
                <a:cs typeface="Arial"/>
              </a:defRPr>
            </a:lvl8pPr>
            <a:lvl9pPr>
              <a:defRPr sz="3300" b="1">
                <a:solidFill>
                  <a:srgbClr val="15283D"/>
                </a:solidFill>
                <a:latin typeface="Arial"/>
                <a:ea typeface="Arial"/>
                <a:cs typeface="Arial"/>
              </a:defRPr>
            </a:lvl9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CON-010: Tenant-Isolation vor dem Kontext</a:t>
            </a:r>
          </a:p>
        </p:txBody>
      </p:sp>
      <p:sp>
        <p:nvSpPr>
          <p:cNvPr id="2" name="text-1">
            <a:extLst xmlns:a="http://schemas.openxmlformats.org/drawingml/2006/main">
              <a:ext uri="{FF2B5EF4-FFF2-40B4-BE49-F238E27FC236}">
                <a16:creationId xmlns:a16="http://schemas.microsoft.com/office/drawing/2014/main" id="{00B4A947-7BE1-4ACA-A154-EDE6E8B27F66}"/>
              </a:ext>
            </a:extLst>
          </p:cNvPr>
          <p:cNvSpPr>
            <a:spLocks xmlns:a="http://schemas.openxmlformats.org/drawingml/2006/main" noGrp="1"/>
          </p:cNvSpPr>
          <p:nvPr/>
        </p:nvSpPr>
        <p:spPr>
          <a:xfrm xmlns:a="http://schemas.openxmlformats.org/drawingml/2006/main">
            <a:off x="685800" y="177165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Fixture</a:t>
            </a:r>
          </a:p>
        </p:txBody>
      </p:sp>
      <p:sp>
        <p:nvSpPr>
          <p:cNvPr id="3" name="text-2">
            <a:extLst xmlns:a="http://schemas.openxmlformats.org/drawingml/2006/main">
              <a:ext uri="{FF2B5EF4-FFF2-40B4-BE49-F238E27FC236}">
                <a16:creationId xmlns:a16="http://schemas.microsoft.com/office/drawing/2014/main" id="{E036D6AD-FD59-42C9-B6A4-75782AF2881B}"/>
              </a:ext>
            </a:extLst>
          </p:cNvPr>
          <p:cNvSpPr>
            <a:spLocks xmlns:a="http://schemas.openxmlformats.org/drawingml/2006/main" noGrp="1"/>
          </p:cNvSpPr>
          <p:nvPr/>
        </p:nvSpPr>
        <p:spPr>
          <a:xfrm xmlns:a="http://schemas.openxmlformats.org/drawingml/2006/main">
            <a:off x="3190875" y="177165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Zwei Dokumente besitzen identische VECTOR(3)-Werte. Row-Level Security (RLS), die zeilenbezogene Zugriffskontrolle, bindet Tenant A/B an SQL-Benutzer.</a:t>
            </a:r>
          </a:p>
        </p:txBody>
      </p:sp>
      <p:sp>
        <p:nvSpPr>
          <p:cNvPr id="4" name="text-3">
            <a:extLst xmlns:a="http://schemas.openxmlformats.org/drawingml/2006/main">
              <a:ext uri="{FF2B5EF4-FFF2-40B4-BE49-F238E27FC236}">
                <a16:creationId xmlns:a16="http://schemas.microsoft.com/office/drawing/2014/main" id="{AF64ADAD-67D6-4BDC-A618-187A42683877}"/>
              </a:ext>
            </a:extLst>
          </p:cNvPr>
          <p:cNvSpPr>
            <a:spLocks xmlns:a="http://schemas.openxmlformats.org/drawingml/2006/main" noGrp="1"/>
          </p:cNvSpPr>
          <p:nvPr/>
        </p:nvSpPr>
        <p:spPr>
          <a:xfrm xmlns:a="http://schemas.openxmlformats.org/drawingml/2006/main">
            <a:off x="685800" y="3057525"/>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Beobachtung</a:t>
            </a:r>
          </a:p>
        </p:txBody>
      </p:sp>
      <p:sp>
        <p:nvSpPr>
          <p:cNvPr id="5" name="text-4">
            <a:extLst xmlns:a="http://schemas.openxmlformats.org/drawingml/2006/main">
              <a:ext uri="{FF2B5EF4-FFF2-40B4-BE49-F238E27FC236}">
                <a16:creationId xmlns:a16="http://schemas.microsoft.com/office/drawing/2014/main" id="{14DE1F97-EF08-4FC7-B484-2597C957FBB6}"/>
              </a:ext>
            </a:extLst>
          </p:cNvPr>
          <p:cNvSpPr>
            <a:spLocks xmlns:a="http://schemas.openxmlformats.org/drawingml/2006/main" noGrp="1"/>
          </p:cNvSpPr>
          <p:nvPr/>
        </p:nvSpPr>
        <p:spPr>
          <a:xfrm xmlns:a="http://schemas.openxmlformats.org/drawingml/2006/main">
            <a:off x="3190875" y="3057525"/>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Je Tenant eine erlaubte Quelle. Unmapped erhält keine Zeile. Ein manipulierter Sessionwert ändert Tenant A nicht.</a:t>
            </a:r>
          </a:p>
        </p:txBody>
      </p:sp>
      <p:sp>
        <p:nvSpPr>
          <p:cNvPr id="6" name="text-5">
            <a:extLst xmlns:a="http://schemas.openxmlformats.org/drawingml/2006/main">
              <a:ext uri="{FF2B5EF4-FFF2-40B4-BE49-F238E27FC236}">
                <a16:creationId xmlns:a16="http://schemas.microsoft.com/office/drawing/2014/main" id="{528C907E-78BD-4EA7-836C-E1BC73E8CBDE}"/>
              </a:ext>
            </a:extLst>
          </p:cNvPr>
          <p:cNvSpPr>
            <a:spLocks xmlns:a="http://schemas.openxmlformats.org/drawingml/2006/main" noGrp="1"/>
          </p:cNvSpPr>
          <p:nvPr/>
        </p:nvSpPr>
        <p:spPr>
          <a:xfrm xmlns:a="http://schemas.openxmlformats.org/drawingml/2006/main">
            <a:off x="685800" y="434340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Gegenprobe</a:t>
            </a:r>
          </a:p>
        </p:txBody>
      </p:sp>
      <p:sp>
        <p:nvSpPr>
          <p:cNvPr id="7" name="text-6">
            <a:extLst xmlns:a="http://schemas.openxmlformats.org/drawingml/2006/main">
              <a:ext uri="{FF2B5EF4-FFF2-40B4-BE49-F238E27FC236}">
                <a16:creationId xmlns:a16="http://schemas.microsoft.com/office/drawing/2014/main" id="{58EB4E5D-2BB0-4405-B574-475A7374AF03}"/>
              </a:ext>
            </a:extLst>
          </p:cNvPr>
          <p:cNvSpPr>
            <a:spLocks xmlns:a="http://schemas.openxmlformats.org/drawingml/2006/main" noGrp="1"/>
          </p:cNvSpPr>
          <p:nvPr/>
        </p:nvSpPr>
        <p:spPr>
          <a:xfrm xmlns:a="http://schemas.openxmlformats.org/drawingml/2006/main">
            <a:off x="3190875" y="434340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Policyänderung, fremde Impersonation und SELECT nach Revoke müssen tatsächlich scheitern.</a:t>
            </a:r>
          </a:p>
        </p:txBody>
      </p:sp>
      <p:sp>
        <p:nvSpPr>
          <p:cNvPr id="8" name="text-7">
            <a:extLst xmlns:a="http://schemas.openxmlformats.org/drawingml/2006/main">
              <a:ext uri="{FF2B5EF4-FFF2-40B4-BE49-F238E27FC236}">
                <a16:creationId xmlns:a16="http://schemas.microsoft.com/office/drawing/2014/main" id="{E8E023A1-54A0-44F5-9BA7-DC336F7C552C}"/>
              </a:ext>
            </a:extLst>
          </p:cNvPr>
          <p:cNvSpPr>
            <a:spLocks xmlns:a="http://schemas.openxmlformats.org/drawingml/2006/main" noGrp="1"/>
          </p:cNvSpPr>
          <p:nvPr/>
        </p:nvSpPr>
        <p:spPr>
          <a:xfrm xmlns:a="http://schemas.openxmlformats.org/drawingml/2006/main">
            <a:off x="685800" y="5876925"/>
            <a:ext cx="10553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0">
                <a:solidFill>
                  <a:srgbClr val="52647A"/>
                </a:solidFill>
                <a:latin typeface="Arial"/>
                <a:ea typeface="Arial"/>
                <a:cs typeface="Arial"/>
              </a:defRPr>
            </a:defPPr>
            <a:lvl1pPr>
              <a:defRPr sz="1800" b="0">
                <a:solidFill>
                  <a:srgbClr val="52647A"/>
                </a:solidFill>
                <a:latin typeface="Arial"/>
                <a:ea typeface="Arial"/>
                <a:cs typeface="Arial"/>
              </a:defRPr>
            </a:lvl1pPr>
            <a:lvl2pPr>
              <a:defRPr sz="1800" b="0">
                <a:solidFill>
                  <a:srgbClr val="52647A"/>
                </a:solidFill>
                <a:latin typeface="Arial"/>
                <a:ea typeface="Arial"/>
                <a:cs typeface="Arial"/>
              </a:defRPr>
            </a:lvl2pPr>
            <a:lvl3pPr>
              <a:defRPr sz="1800" b="0">
                <a:solidFill>
                  <a:srgbClr val="52647A"/>
                </a:solidFill>
                <a:latin typeface="Arial"/>
                <a:ea typeface="Arial"/>
                <a:cs typeface="Arial"/>
              </a:defRPr>
            </a:lvl3pPr>
            <a:lvl4pPr>
              <a:defRPr sz="1800" b="0">
                <a:solidFill>
                  <a:srgbClr val="52647A"/>
                </a:solidFill>
                <a:latin typeface="Arial"/>
                <a:ea typeface="Arial"/>
                <a:cs typeface="Arial"/>
              </a:defRPr>
            </a:lvl4pPr>
            <a:lvl5pPr>
              <a:defRPr sz="1800" b="0">
                <a:solidFill>
                  <a:srgbClr val="52647A"/>
                </a:solidFill>
                <a:latin typeface="Arial"/>
                <a:ea typeface="Arial"/>
                <a:cs typeface="Arial"/>
              </a:defRPr>
            </a:lvl5pPr>
            <a:lvl6pPr>
              <a:defRPr sz="1800" b="0">
                <a:solidFill>
                  <a:srgbClr val="52647A"/>
                </a:solidFill>
                <a:latin typeface="Arial"/>
                <a:ea typeface="Arial"/>
                <a:cs typeface="Arial"/>
              </a:defRPr>
            </a:lvl6pPr>
            <a:lvl7pPr>
              <a:defRPr sz="1800" b="0">
                <a:solidFill>
                  <a:srgbClr val="52647A"/>
                </a:solidFill>
                <a:latin typeface="Arial"/>
                <a:ea typeface="Arial"/>
                <a:cs typeface="Arial"/>
              </a:defRPr>
            </a:lvl7pPr>
            <a:lvl8pPr>
              <a:defRPr sz="1800" b="0">
                <a:solidFill>
                  <a:srgbClr val="52647A"/>
                </a:solidFill>
                <a:latin typeface="Arial"/>
                <a:ea typeface="Arial"/>
                <a:cs typeface="Arial"/>
              </a:defRPr>
            </a:lvl8pPr>
            <a:lvl9pPr>
              <a:defRPr sz="1800" b="0">
                <a:solidFill>
                  <a:srgbClr val="52647A"/>
                </a:solidFill>
                <a:latin typeface="Arial"/>
                <a:ea typeface="Arial"/>
                <a:cs typeface="Arial"/>
              </a:defRPr>
            </a:lvl9pPr>
          </a:lstStyle>
          <a:p xmlns:a="http://schemas.openxmlformats.org/drawingml/2006/main">
            <a:pPr>
              <a:defRPr sz="1800" b="0">
                <a:solidFill>
                  <a:srgbClr val="52647A"/>
                </a:solidFill>
                <a:latin typeface="Arial"/>
                <a:ea typeface="Arial"/>
                <a:cs typeface="Arial"/>
              </a:defRPr>
            </a:pPr>
            <a:r>
              <a:rPr sz="1800" b="0">
                <a:solidFill>
                  <a:srgbClr val="52647A"/>
                </a:solidFill>
                <a:latin typeface="Arial"/>
                <a:ea typeface="Arial"/>
                <a:cs typeface="Arial"/>
              </a:rPr>
              <a:t>IMPLEMENTED. Eine Session mit EXECUTE AS. Pooling, Serverlogins und näherungsweise Vektorsuche bleiben nicht abgenommen (UNQUALIFIED).</a:t>
            </a:r>
          </a:p>
        </p:txBody>
      </p:sp>
      <p:sp>
        <p:nvSpPr>
          <p:cNvPr id="9" name="text-8">
            <a:extLst xmlns:a="http://schemas.openxmlformats.org/drawingml/2006/main">
              <a:ext uri="{FF2B5EF4-FFF2-40B4-BE49-F238E27FC236}">
                <a16:creationId xmlns:a16="http://schemas.microsoft.com/office/drawing/2014/main" id="{61E41F4B-C1F3-435E-961C-72255A1512B1}"/>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vl1pPr>
              <a:defRPr sz="1350" b="0">
                <a:solidFill>
                  <a:srgbClr val="52647A"/>
                </a:solidFill>
                <a:latin typeface="Arial"/>
                <a:ea typeface="Arial"/>
                <a:cs typeface="Arial"/>
              </a:defRPr>
            </a:lvl1pPr>
            <a:lvl2pPr>
              <a:defRPr sz="1350" b="0">
                <a:solidFill>
                  <a:srgbClr val="52647A"/>
                </a:solidFill>
                <a:latin typeface="Arial"/>
                <a:ea typeface="Arial"/>
                <a:cs typeface="Arial"/>
              </a:defRPr>
            </a:lvl2pPr>
            <a:lvl3pPr>
              <a:defRPr sz="1350" b="0">
                <a:solidFill>
                  <a:srgbClr val="52647A"/>
                </a:solidFill>
                <a:latin typeface="Arial"/>
                <a:ea typeface="Arial"/>
                <a:cs typeface="Arial"/>
              </a:defRPr>
            </a:lvl3pPr>
            <a:lvl4pPr>
              <a:defRPr sz="1350" b="0">
                <a:solidFill>
                  <a:srgbClr val="52647A"/>
                </a:solidFill>
                <a:latin typeface="Arial"/>
                <a:ea typeface="Arial"/>
                <a:cs typeface="Arial"/>
              </a:defRPr>
            </a:lvl4pPr>
            <a:lvl5pPr>
              <a:defRPr sz="1350" b="0">
                <a:solidFill>
                  <a:srgbClr val="52647A"/>
                </a:solidFill>
                <a:latin typeface="Arial"/>
                <a:ea typeface="Arial"/>
                <a:cs typeface="Arial"/>
              </a:defRPr>
            </a:lvl5pPr>
            <a:lvl6pPr>
              <a:defRPr sz="1350" b="0">
                <a:solidFill>
                  <a:srgbClr val="52647A"/>
                </a:solidFill>
                <a:latin typeface="Arial"/>
                <a:ea typeface="Arial"/>
                <a:cs typeface="Arial"/>
              </a:defRPr>
            </a:lvl6pPr>
            <a:lvl7pPr>
              <a:defRPr sz="1350" b="0">
                <a:solidFill>
                  <a:srgbClr val="52647A"/>
                </a:solidFill>
                <a:latin typeface="Arial"/>
                <a:ea typeface="Arial"/>
                <a:cs typeface="Arial"/>
              </a:defRPr>
            </a:lvl7pPr>
            <a:lvl8pPr>
              <a:defRPr sz="1350" b="0">
                <a:solidFill>
                  <a:srgbClr val="52647A"/>
                </a:solidFill>
                <a:latin typeface="Arial"/>
                <a:ea typeface="Arial"/>
                <a:cs typeface="Arial"/>
              </a:defRPr>
            </a:lvl8pPr>
            <a:lvl9pPr>
              <a:defRPr sz="1350" b="0">
                <a:solidFill>
                  <a:srgbClr val="52647A"/>
                </a:solidFill>
                <a:latin typeface="Arial"/>
                <a:ea typeface="Arial"/>
                <a:cs typeface="Arial"/>
              </a:defRPr>
            </a:lvl9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50  CUR-018</a:t>
            </a:r>
          </a:p>
        </p:txBody>
      </p:sp>
    </p:spTree>
    <p:extLst>
      <p:ext uri="{BB962C8B-B14F-4D97-AF65-F5344CB8AC3E}">
        <p14:creationId xmlns:p14="http://schemas.microsoft.com/office/powerpoint/2010/main" val="1062051386"/>
      </p:ext>
    </p:extLst>
  </p:cSld>
</p:sld>
</file>

<file path=ppt/slides/slide5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text-0">
            <a:extLst xmlns:a="http://schemas.openxmlformats.org/drawingml/2006/main">
              <a:ext uri="{FF2B5EF4-FFF2-40B4-BE49-F238E27FC236}">
                <a16:creationId xmlns:a16="http://schemas.microsoft.com/office/drawing/2014/main" id="{80ACE612-78C8-4C6F-ACE8-E4C0713CE3CD}"/>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vl1pPr>
              <a:defRPr sz="3300" b="1">
                <a:solidFill>
                  <a:srgbClr val="15283D"/>
                </a:solidFill>
                <a:latin typeface="Arial"/>
                <a:ea typeface="Arial"/>
                <a:cs typeface="Arial"/>
              </a:defRPr>
            </a:lvl1pPr>
            <a:lvl2pPr>
              <a:defRPr sz="3300" b="1">
                <a:solidFill>
                  <a:srgbClr val="15283D"/>
                </a:solidFill>
                <a:latin typeface="Arial"/>
                <a:ea typeface="Arial"/>
                <a:cs typeface="Arial"/>
              </a:defRPr>
            </a:lvl2pPr>
            <a:lvl3pPr>
              <a:defRPr sz="3300" b="1">
                <a:solidFill>
                  <a:srgbClr val="15283D"/>
                </a:solidFill>
                <a:latin typeface="Arial"/>
                <a:ea typeface="Arial"/>
                <a:cs typeface="Arial"/>
              </a:defRPr>
            </a:lvl3pPr>
            <a:lvl4pPr>
              <a:defRPr sz="3300" b="1">
                <a:solidFill>
                  <a:srgbClr val="15283D"/>
                </a:solidFill>
                <a:latin typeface="Arial"/>
                <a:ea typeface="Arial"/>
                <a:cs typeface="Arial"/>
              </a:defRPr>
            </a:lvl4pPr>
            <a:lvl5pPr>
              <a:defRPr sz="3300" b="1">
                <a:solidFill>
                  <a:srgbClr val="15283D"/>
                </a:solidFill>
                <a:latin typeface="Arial"/>
                <a:ea typeface="Arial"/>
                <a:cs typeface="Arial"/>
              </a:defRPr>
            </a:lvl5pPr>
            <a:lvl6pPr>
              <a:defRPr sz="3300" b="1">
                <a:solidFill>
                  <a:srgbClr val="15283D"/>
                </a:solidFill>
                <a:latin typeface="Arial"/>
                <a:ea typeface="Arial"/>
                <a:cs typeface="Arial"/>
              </a:defRPr>
            </a:lvl6pPr>
            <a:lvl7pPr>
              <a:defRPr sz="3300" b="1">
                <a:solidFill>
                  <a:srgbClr val="15283D"/>
                </a:solidFill>
                <a:latin typeface="Arial"/>
                <a:ea typeface="Arial"/>
                <a:cs typeface="Arial"/>
              </a:defRPr>
            </a:lvl7pPr>
            <a:lvl8pPr>
              <a:defRPr sz="3300" b="1">
                <a:solidFill>
                  <a:srgbClr val="15283D"/>
                </a:solidFill>
                <a:latin typeface="Arial"/>
                <a:ea typeface="Arial"/>
                <a:cs typeface="Arial"/>
              </a:defRPr>
            </a:lvl8pPr>
            <a:lvl9pPr>
              <a:defRPr sz="3300" b="1">
                <a:solidFill>
                  <a:srgbClr val="15283D"/>
                </a:solidFill>
                <a:latin typeface="Arial"/>
                <a:ea typeface="Arial"/>
                <a:cs typeface="Arial"/>
              </a:defRPr>
            </a:lvl9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Exakte und näherungsweise Vektorsuche</a:t>
            </a:r>
          </a:p>
        </p:txBody>
      </p:sp>
      <p:graphicFrame>
        <p:nvGraphicFramePr>
          <p:cNvPr id="2" name="">
            <a:extLst xmlns:a="http://schemas.openxmlformats.org/drawingml/2006/main">
              <a:ext uri="{FF2B5EF4-FFF2-40B4-BE49-F238E27FC236}">
                <a16:creationId xmlns:a16="http://schemas.microsoft.com/office/drawing/2014/main" id="{5316EFE8-4A7E-4E59-96DC-B10269C5898D}"/>
              </a:ext>
            </a:extLst>
          </p:cNvPr>
          <p:cNvGraphicFramePr/>
          <p:nvPr/>
        </p:nvGraphicFramePr>
        <p:xfrm>
          <a:off xmlns:a="http://schemas.openxmlformats.org/drawingml/2006/main" x="685800" y="1771650"/>
          <a:ext xmlns:a="http://schemas.openxmlformats.org/drawingml/2006/main" cx="10668000" cy="4000500"/>
        </p:xfrm>
        <a:graphic xmlns:a="http://schemas.openxmlformats.org/drawingml/2006/main">
          <a:graphicData uri="http://schemas.openxmlformats.org/drawingml/2006/table">
            <a:tbl>
              <a:tblPr/>
              <a:tblGrid>
                <a:gridCol w="2571750"/>
                <a:gridCol w="4000500"/>
                <a:gridCol w="4095750"/>
              </a:tblGrid>
              <a:tr h="800100">
                <a:tc>
                  <a:txBody>
                    <a:bodyPr/>
                    <a:lstStyle/>
                    <a:p>
                      <a:r>
                        <a:rPr sz="1800" b="1">
                          <a:solidFill>
                            <a:srgbClr val="15283D"/>
                          </a:solidFill>
                          <a:latin typeface="Arial"/>
                          <a:ea typeface="Arial"/>
                          <a:cs typeface="Arial"/>
                        </a:rPr>
                        <a:t>Eigenschaft</a:t>
                      </a:r>
                    </a:p>
                  </a:txBody>
                  <a:tcPr marL="114300" marR="114300" marT="47625" marB="47625" anchor="ctr">
                    <a:lnL w="9525">
                      <a:solidFill>
                        <a:srgbClr val="C8D5DE"/>
                      </a:solidFill>
                      <a:prstDash val="solid"/>
                    </a:lnL>
                    <a:lnR w="9525">
                      <a:solidFill>
                        <a:srgbClr val="C8D5DE"/>
                      </a:solidFill>
                      <a:prstDash val="solid"/>
                    </a:lnR>
                    <a:lnT w="9525">
                      <a:solidFill>
                        <a:srgbClr val="C8D5DE"/>
                      </a:solidFill>
                      <a:prstDash val="solid"/>
                    </a:lnT>
                    <a:lnB w="9525">
                      <a:solidFill>
                        <a:srgbClr val="C8D5DE"/>
                      </a:solidFill>
                      <a:prstDash val="solid"/>
                    </a:lnB>
                    <a:solidFill>
                      <a:srgbClr val="E8F2F2"/>
                    </a:solidFill>
                  </a:tcPr>
                </a:tc>
                <a:tc>
                  <a:txBody>
                    <a:bodyPr/>
                    <a:lstStyle/>
                    <a:p>
                      <a:r>
                        <a:rPr sz="1800" b="1">
                          <a:solidFill>
                            <a:srgbClr val="15283D"/>
                          </a:solidFill>
                          <a:latin typeface="Arial"/>
                          <a:ea typeface="Arial"/>
                          <a:cs typeface="Arial"/>
                        </a:rPr>
                        <a:t>Exact Distance</a:t>
                      </a:r>
                    </a:p>
                  </a:txBody>
                  <a:tcPr marL="114300" marR="114300" marT="47625" marB="47625" anchor="ctr">
                    <a:lnR w="9525">
                      <a:solidFill>
                        <a:srgbClr val="C8D5DE"/>
                      </a:solidFill>
                      <a:prstDash val="solid"/>
                    </a:lnR>
                    <a:lnT w="9525">
                      <a:solidFill>
                        <a:srgbClr val="C8D5DE"/>
                      </a:solidFill>
                      <a:prstDash val="solid"/>
                    </a:lnT>
                    <a:lnB w="9525">
                      <a:solidFill>
                        <a:srgbClr val="C8D5DE"/>
                      </a:solidFill>
                      <a:prstDash val="solid"/>
                    </a:lnB>
                    <a:solidFill>
                      <a:srgbClr val="E8F2F2"/>
                    </a:solidFill>
                  </a:tcPr>
                </a:tc>
                <a:tc>
                  <a:txBody>
                    <a:bodyPr/>
                    <a:lstStyle/>
                    <a:p>
                      <a:r>
                        <a:rPr sz="1800" b="1">
                          <a:solidFill>
                            <a:srgbClr val="15283D"/>
                          </a:solidFill>
                          <a:latin typeface="Arial"/>
                          <a:ea typeface="Arial"/>
                          <a:cs typeface="Arial"/>
                        </a:rPr>
                        <a:t>ANN (Approximate Nearest Neighbor)</a:t>
                      </a:r>
                    </a:p>
                  </a:txBody>
                  <a:tcPr marL="114300" marR="114300" marT="47625" marB="47625" anchor="ctr">
                    <a:lnR w="9525">
                      <a:solidFill>
                        <a:srgbClr val="C8D5DE"/>
                      </a:solidFill>
                      <a:prstDash val="solid"/>
                    </a:lnR>
                    <a:lnT w="9525">
                      <a:solidFill>
                        <a:srgbClr val="C8D5DE"/>
                      </a:solidFill>
                      <a:prstDash val="solid"/>
                    </a:lnT>
                    <a:lnB w="9525">
                      <a:solidFill>
                        <a:srgbClr val="C8D5DE"/>
                      </a:solidFill>
                      <a:prstDash val="solid"/>
                    </a:lnB>
                    <a:solidFill>
                      <a:srgbClr val="E8F2F2"/>
                    </a:solidFill>
                  </a:tcPr>
                </a:tc>
              </a:tr>
              <a:tr h="800100">
                <a:tc>
                  <a:txBody>
                    <a:bodyPr/>
                    <a:lstStyle/>
                    <a:p>
                      <a:r>
                        <a:rPr sz="1800" b="0">
                          <a:solidFill>
                            <a:srgbClr val="15283D"/>
                          </a:solidFill>
                          <a:latin typeface="Arial"/>
                          <a:ea typeface="Arial"/>
                          <a:cs typeface="Arial"/>
                        </a:rPr>
                        <a:t>Suchvertrag</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Distanzen der erlaubten Kandidaten</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Näherungsweise Nachbarsuche; Index/Fallback prüfen</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r h="800100">
                <a:tc>
                  <a:txBody>
                    <a:bodyPr/>
                    <a:lstStyle/>
                    <a:p>
                      <a:r>
                        <a:rPr sz="1800" b="0">
                          <a:solidFill>
                            <a:srgbClr val="15283D"/>
                          </a:solidFill>
                          <a:latin typeface="Arial"/>
                          <a:ea typeface="Arial"/>
                          <a:cs typeface="Arial"/>
                        </a:rPr>
                        <a:t>Qualität</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Deterministisches Top-k mit Tie-Regel</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Recall@k gegen dasselbe Exact-Oracle</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r h="800100">
                <a:tc>
                  <a:txBody>
                    <a:bodyPr/>
                    <a:lstStyle/>
                    <a:p>
                      <a:r>
                        <a:rPr sz="1800" b="0">
                          <a:solidFill>
                            <a:srgbClr val="15283D"/>
                          </a:solidFill>
                          <a:latin typeface="Arial"/>
                          <a:ea typeface="Arial"/>
                          <a:cs typeface="Arial"/>
                        </a:rPr>
                        <a:t>Planbeleg</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Tatsächlichen Zugriff prüfen</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Indexnutzung und Filterwirkung belegen</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r h="800100">
                <a:tc>
                  <a:txBody>
                    <a:bodyPr/>
                    <a:lstStyle/>
                    <a:p>
                      <a:r>
                        <a:rPr sz="1800" b="0">
                          <a:solidFill>
                            <a:srgbClr val="15283D"/>
                          </a:solidFill>
                          <a:latin typeface="Arial"/>
                          <a:ea typeface="Arial"/>
                          <a:cs typeface="Arial"/>
                        </a:rPr>
                        <a:t>SQL-2025-Grenze</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VECTOR_DISTANCE nutzt keinen Vector Index</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Preview. Generation und Build binden</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bl>
          </a:graphicData>
        </a:graphic>
      </p:graphicFrame>
      <p:sp>
        <p:nvSpPr>
          <p:cNvPr id="3" name="text-1">
            <a:extLst xmlns:a="http://schemas.openxmlformats.org/drawingml/2006/main">
              <a:ext uri="{FF2B5EF4-FFF2-40B4-BE49-F238E27FC236}">
                <a16:creationId xmlns:a16="http://schemas.microsoft.com/office/drawing/2014/main" id="{80A424B5-FDDB-42DC-BE5C-A5A852843F31}"/>
              </a:ext>
            </a:extLst>
          </p:cNvPr>
          <p:cNvSpPr>
            <a:spLocks xmlns:a="http://schemas.openxmlformats.org/drawingml/2006/main" noGrp="1"/>
          </p:cNvSpPr>
          <p:nvPr/>
        </p:nvSpPr>
        <p:spPr>
          <a:xfrm xmlns:a="http://schemas.openxmlformats.org/drawingml/2006/main">
            <a:off x="685800" y="5876925"/>
            <a:ext cx="10553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0">
                <a:solidFill>
                  <a:srgbClr val="52647A"/>
                </a:solidFill>
                <a:latin typeface="Arial"/>
                <a:ea typeface="Arial"/>
                <a:cs typeface="Arial"/>
              </a:defRPr>
            </a:defPPr>
            <a:lvl1pPr>
              <a:defRPr sz="1800" b="0">
                <a:solidFill>
                  <a:srgbClr val="52647A"/>
                </a:solidFill>
                <a:latin typeface="Arial"/>
                <a:ea typeface="Arial"/>
                <a:cs typeface="Arial"/>
              </a:defRPr>
            </a:lvl1pPr>
            <a:lvl2pPr>
              <a:defRPr sz="1800" b="0">
                <a:solidFill>
                  <a:srgbClr val="52647A"/>
                </a:solidFill>
                <a:latin typeface="Arial"/>
                <a:ea typeface="Arial"/>
                <a:cs typeface="Arial"/>
              </a:defRPr>
            </a:lvl2pPr>
            <a:lvl3pPr>
              <a:defRPr sz="1800" b="0">
                <a:solidFill>
                  <a:srgbClr val="52647A"/>
                </a:solidFill>
                <a:latin typeface="Arial"/>
                <a:ea typeface="Arial"/>
                <a:cs typeface="Arial"/>
              </a:defRPr>
            </a:lvl3pPr>
            <a:lvl4pPr>
              <a:defRPr sz="1800" b="0">
                <a:solidFill>
                  <a:srgbClr val="52647A"/>
                </a:solidFill>
                <a:latin typeface="Arial"/>
                <a:ea typeface="Arial"/>
                <a:cs typeface="Arial"/>
              </a:defRPr>
            </a:lvl4pPr>
            <a:lvl5pPr>
              <a:defRPr sz="1800" b="0">
                <a:solidFill>
                  <a:srgbClr val="52647A"/>
                </a:solidFill>
                <a:latin typeface="Arial"/>
                <a:ea typeface="Arial"/>
                <a:cs typeface="Arial"/>
              </a:defRPr>
            </a:lvl5pPr>
            <a:lvl6pPr>
              <a:defRPr sz="1800" b="0">
                <a:solidFill>
                  <a:srgbClr val="52647A"/>
                </a:solidFill>
                <a:latin typeface="Arial"/>
                <a:ea typeface="Arial"/>
                <a:cs typeface="Arial"/>
              </a:defRPr>
            </a:lvl6pPr>
            <a:lvl7pPr>
              <a:defRPr sz="1800" b="0">
                <a:solidFill>
                  <a:srgbClr val="52647A"/>
                </a:solidFill>
                <a:latin typeface="Arial"/>
                <a:ea typeface="Arial"/>
                <a:cs typeface="Arial"/>
              </a:defRPr>
            </a:lvl7pPr>
            <a:lvl8pPr>
              <a:defRPr sz="1800" b="0">
                <a:solidFill>
                  <a:srgbClr val="52647A"/>
                </a:solidFill>
                <a:latin typeface="Arial"/>
                <a:ea typeface="Arial"/>
                <a:cs typeface="Arial"/>
              </a:defRPr>
            </a:lvl8pPr>
            <a:lvl9pPr>
              <a:defRPr sz="1800" b="0">
                <a:solidFill>
                  <a:srgbClr val="52647A"/>
                </a:solidFill>
                <a:latin typeface="Arial"/>
                <a:ea typeface="Arial"/>
                <a:cs typeface="Arial"/>
              </a:defRPr>
            </a:lvl9pPr>
          </a:lstStyle>
          <a:p xmlns:a="http://schemas.openxmlformats.org/drawingml/2006/main">
            <a:pPr>
              <a:defRPr sz="1800" b="0">
                <a:solidFill>
                  <a:srgbClr val="52647A"/>
                </a:solidFill>
                <a:latin typeface="Arial"/>
                <a:ea typeface="Arial"/>
                <a:cs typeface="Arial"/>
              </a:defRPr>
            </a:pPr>
            <a:r>
              <a:rPr sz="1800" b="0">
                <a:solidFill>
                  <a:srgbClr val="52647A"/>
                </a:solidFill>
                <a:latin typeface="Arial"/>
                <a:ea typeface="Arial"/>
                <a:cs typeface="Arial"/>
              </a:rPr>
              <a:t>Recall@k = gemeinsame Exact-/ANN-Treffer ÷ k. Fachliche Relevanz benötigt eigene Urteile.</a:t>
            </a:r>
          </a:p>
        </p:txBody>
      </p:sp>
      <p:sp>
        <p:nvSpPr>
          <p:cNvPr id="4" name="text-2">
            <a:extLst xmlns:a="http://schemas.openxmlformats.org/drawingml/2006/main">
              <a:ext uri="{FF2B5EF4-FFF2-40B4-BE49-F238E27FC236}">
                <a16:creationId xmlns:a16="http://schemas.microsoft.com/office/drawing/2014/main" id="{5226C0D6-2F14-4FC8-B2B7-3165822AE98A}"/>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vl1pPr>
              <a:defRPr sz="1350" b="0">
                <a:solidFill>
                  <a:srgbClr val="52647A"/>
                </a:solidFill>
                <a:latin typeface="Arial"/>
                <a:ea typeface="Arial"/>
                <a:cs typeface="Arial"/>
              </a:defRPr>
            </a:lvl1pPr>
            <a:lvl2pPr>
              <a:defRPr sz="1350" b="0">
                <a:solidFill>
                  <a:srgbClr val="52647A"/>
                </a:solidFill>
                <a:latin typeface="Arial"/>
                <a:ea typeface="Arial"/>
                <a:cs typeface="Arial"/>
              </a:defRPr>
            </a:lvl2pPr>
            <a:lvl3pPr>
              <a:defRPr sz="1350" b="0">
                <a:solidFill>
                  <a:srgbClr val="52647A"/>
                </a:solidFill>
                <a:latin typeface="Arial"/>
                <a:ea typeface="Arial"/>
                <a:cs typeface="Arial"/>
              </a:defRPr>
            </a:lvl3pPr>
            <a:lvl4pPr>
              <a:defRPr sz="1350" b="0">
                <a:solidFill>
                  <a:srgbClr val="52647A"/>
                </a:solidFill>
                <a:latin typeface="Arial"/>
                <a:ea typeface="Arial"/>
                <a:cs typeface="Arial"/>
              </a:defRPr>
            </a:lvl4pPr>
            <a:lvl5pPr>
              <a:defRPr sz="1350" b="0">
                <a:solidFill>
                  <a:srgbClr val="52647A"/>
                </a:solidFill>
                <a:latin typeface="Arial"/>
                <a:ea typeface="Arial"/>
                <a:cs typeface="Arial"/>
              </a:defRPr>
            </a:lvl5pPr>
            <a:lvl6pPr>
              <a:defRPr sz="1350" b="0">
                <a:solidFill>
                  <a:srgbClr val="52647A"/>
                </a:solidFill>
                <a:latin typeface="Arial"/>
                <a:ea typeface="Arial"/>
                <a:cs typeface="Arial"/>
              </a:defRPr>
            </a:lvl6pPr>
            <a:lvl7pPr>
              <a:defRPr sz="1350" b="0">
                <a:solidFill>
                  <a:srgbClr val="52647A"/>
                </a:solidFill>
                <a:latin typeface="Arial"/>
                <a:ea typeface="Arial"/>
                <a:cs typeface="Arial"/>
              </a:defRPr>
            </a:lvl7pPr>
            <a:lvl8pPr>
              <a:defRPr sz="1350" b="0">
                <a:solidFill>
                  <a:srgbClr val="52647A"/>
                </a:solidFill>
                <a:latin typeface="Arial"/>
                <a:ea typeface="Arial"/>
                <a:cs typeface="Arial"/>
              </a:defRPr>
            </a:lvl8pPr>
            <a:lvl9pPr>
              <a:defRPr sz="1350" b="0">
                <a:solidFill>
                  <a:srgbClr val="52647A"/>
                </a:solidFill>
                <a:latin typeface="Arial"/>
                <a:ea typeface="Arial"/>
                <a:cs typeface="Arial"/>
              </a:defRPr>
            </a:lvl9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51  CUR-019</a:t>
            </a:r>
          </a:p>
        </p:txBody>
      </p:sp>
    </p:spTree>
    <p:extLst>
      <p:ext uri="{BB962C8B-B14F-4D97-AF65-F5344CB8AC3E}">
        <p14:creationId xmlns:p14="http://schemas.microsoft.com/office/powerpoint/2010/main" val="848372682"/>
      </p:ext>
    </p:extLst>
  </p:cSld>
</p:sld>
</file>

<file path=ppt/slides/slide5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text-0">
            <a:extLst xmlns:a="http://schemas.openxmlformats.org/drawingml/2006/main">
              <a:ext uri="{FF2B5EF4-FFF2-40B4-BE49-F238E27FC236}">
                <a16:creationId xmlns:a16="http://schemas.microsoft.com/office/drawing/2014/main" id="{292EBDCA-5710-411D-840F-70EE18DFF811}"/>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vl1pPr>
              <a:defRPr sz="3300" b="1">
                <a:solidFill>
                  <a:srgbClr val="15283D"/>
                </a:solidFill>
                <a:latin typeface="Arial"/>
                <a:ea typeface="Arial"/>
                <a:cs typeface="Arial"/>
              </a:defRPr>
            </a:lvl1pPr>
            <a:lvl2pPr>
              <a:defRPr sz="3300" b="1">
                <a:solidFill>
                  <a:srgbClr val="15283D"/>
                </a:solidFill>
                <a:latin typeface="Arial"/>
                <a:ea typeface="Arial"/>
                <a:cs typeface="Arial"/>
              </a:defRPr>
            </a:lvl2pPr>
            <a:lvl3pPr>
              <a:defRPr sz="3300" b="1">
                <a:solidFill>
                  <a:srgbClr val="15283D"/>
                </a:solidFill>
                <a:latin typeface="Arial"/>
                <a:ea typeface="Arial"/>
                <a:cs typeface="Arial"/>
              </a:defRPr>
            </a:lvl3pPr>
            <a:lvl4pPr>
              <a:defRPr sz="3300" b="1">
                <a:solidFill>
                  <a:srgbClr val="15283D"/>
                </a:solidFill>
                <a:latin typeface="Arial"/>
                <a:ea typeface="Arial"/>
                <a:cs typeface="Arial"/>
              </a:defRPr>
            </a:lvl4pPr>
            <a:lvl5pPr>
              <a:defRPr sz="3300" b="1">
                <a:solidFill>
                  <a:srgbClr val="15283D"/>
                </a:solidFill>
                <a:latin typeface="Arial"/>
                <a:ea typeface="Arial"/>
                <a:cs typeface="Arial"/>
              </a:defRPr>
            </a:lvl5pPr>
            <a:lvl6pPr>
              <a:defRPr sz="3300" b="1">
                <a:solidFill>
                  <a:srgbClr val="15283D"/>
                </a:solidFill>
                <a:latin typeface="Arial"/>
                <a:ea typeface="Arial"/>
                <a:cs typeface="Arial"/>
              </a:defRPr>
            </a:lvl6pPr>
            <a:lvl7pPr>
              <a:defRPr sz="3300" b="1">
                <a:solidFill>
                  <a:srgbClr val="15283D"/>
                </a:solidFill>
                <a:latin typeface="Arial"/>
                <a:ea typeface="Arial"/>
                <a:cs typeface="Arial"/>
              </a:defRPr>
            </a:lvl7pPr>
            <a:lvl8pPr>
              <a:defRPr sz="3300" b="1">
                <a:solidFill>
                  <a:srgbClr val="15283D"/>
                </a:solidFill>
                <a:latin typeface="Arial"/>
                <a:ea typeface="Arial"/>
                <a:cs typeface="Arial"/>
              </a:defRPr>
            </a:lvl8pPr>
            <a:lvl9pPr>
              <a:defRPr sz="3300" b="1">
                <a:solidFill>
                  <a:srgbClr val="15283D"/>
                </a:solidFill>
                <a:latin typeface="Arial"/>
                <a:ea typeface="Arial"/>
                <a:cs typeface="Arial"/>
              </a:defRPr>
            </a:lvl9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IDX-011: Recall und gebundene Messung</a:t>
            </a:r>
          </a:p>
        </p:txBody>
      </p:sp>
      <p:sp>
        <p:nvSpPr>
          <p:cNvPr id="2" name="text-1">
            <a:extLst xmlns:a="http://schemas.openxmlformats.org/drawingml/2006/main">
              <a:ext uri="{FF2B5EF4-FFF2-40B4-BE49-F238E27FC236}">
                <a16:creationId xmlns:a16="http://schemas.microsoft.com/office/drawing/2014/main" id="{112CB386-6AC8-4EDC-AF3D-D9F2AF3F7A46}"/>
              </a:ext>
            </a:extLst>
          </p:cNvPr>
          <p:cNvSpPr>
            <a:spLocks xmlns:a="http://schemas.openxmlformats.org/drawingml/2006/main" noGrp="1"/>
          </p:cNvSpPr>
          <p:nvPr/>
        </p:nvSpPr>
        <p:spPr>
          <a:xfrm xmlns:a="http://schemas.openxmlformats.org/drawingml/2006/main">
            <a:off x="685800" y="177165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Versuchsauftrag</a:t>
            </a:r>
          </a:p>
        </p:txBody>
      </p:sp>
      <p:sp>
        <p:nvSpPr>
          <p:cNvPr id="3" name="text-2">
            <a:extLst xmlns:a="http://schemas.openxmlformats.org/drawingml/2006/main">
              <a:ext uri="{FF2B5EF4-FFF2-40B4-BE49-F238E27FC236}">
                <a16:creationId xmlns:a16="http://schemas.microsoft.com/office/drawing/2014/main" id="{D0A51AB0-E022-4820-9391-BC117044B9D5}"/>
              </a:ext>
            </a:extLst>
          </p:cNvPr>
          <p:cNvSpPr>
            <a:spLocks xmlns:a="http://schemas.openxmlformats.org/drawingml/2006/main" noGrp="1"/>
          </p:cNvSpPr>
          <p:nvPr/>
        </p:nvSpPr>
        <p:spPr>
          <a:xfrm xmlns:a="http://schemas.openxmlformats.org/drawingml/2006/main">
            <a:off x="3190875" y="177165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Gleicher 1000-Row-Korpus, cosine, k=5 und identische Ergebnisprüfung für Exact und VECTOR_SEARCH.</a:t>
            </a:r>
          </a:p>
        </p:txBody>
      </p:sp>
      <p:sp>
        <p:nvSpPr>
          <p:cNvPr id="4" name="text-3">
            <a:extLst xmlns:a="http://schemas.openxmlformats.org/drawingml/2006/main">
              <a:ext uri="{FF2B5EF4-FFF2-40B4-BE49-F238E27FC236}">
                <a16:creationId xmlns:a16="http://schemas.microsoft.com/office/drawing/2014/main" id="{FF797B06-0DDD-4D68-90AB-359B5E450EE0}"/>
              </a:ext>
            </a:extLst>
          </p:cNvPr>
          <p:cNvSpPr>
            <a:spLocks xmlns:a="http://schemas.openxmlformats.org/drawingml/2006/main" noGrp="1"/>
          </p:cNvSpPr>
          <p:nvPr/>
        </p:nvSpPr>
        <p:spPr>
          <a:xfrm xmlns:a="http://schemas.openxmlformats.org/drawingml/2006/main">
            <a:off x="685800" y="3057525"/>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Vorliegende Evidenz</a:t>
            </a:r>
          </a:p>
        </p:txBody>
      </p:sp>
      <p:sp>
        <p:nvSpPr>
          <p:cNvPr id="5" name="text-4">
            <a:extLst xmlns:a="http://schemas.openxmlformats.org/drawingml/2006/main">
              <a:ext uri="{FF2B5EF4-FFF2-40B4-BE49-F238E27FC236}">
                <a16:creationId xmlns:a16="http://schemas.microsoft.com/office/drawing/2014/main" id="{7DD18D1E-32AB-49CB-A7B1-D2DFA1DE35B4}"/>
              </a:ext>
            </a:extLst>
          </p:cNvPr>
          <p:cNvSpPr>
            <a:spLocks xmlns:a="http://schemas.openxmlformats.org/drawingml/2006/main" noGrp="1"/>
          </p:cNvSpPr>
          <p:nvPr/>
        </p:nvSpPr>
        <p:spPr>
          <a:xfrm xmlns:a="http://schemas.openxmlformats.org/drawingml/2006/main">
            <a:off x="3190875" y="3057525"/>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Begrenzte lokale Such-, Quellen-, Distanz- und Planbelege liegen vor. Generation bleibt UNKNOWN/WARN.</a:t>
            </a:r>
          </a:p>
        </p:txBody>
      </p:sp>
      <p:sp>
        <p:nvSpPr>
          <p:cNvPr id="6" name="text-5">
            <a:extLst xmlns:a="http://schemas.openxmlformats.org/drawingml/2006/main">
              <a:ext uri="{FF2B5EF4-FFF2-40B4-BE49-F238E27FC236}">
                <a16:creationId xmlns:a16="http://schemas.microsoft.com/office/drawing/2014/main" id="{0226A011-0CBE-4E81-902C-548EE5AD6CBF}"/>
              </a:ext>
            </a:extLst>
          </p:cNvPr>
          <p:cNvSpPr>
            <a:spLocks xmlns:a="http://schemas.openxmlformats.org/drawingml/2006/main" noGrp="1"/>
          </p:cNvSpPr>
          <p:nvPr/>
        </p:nvSpPr>
        <p:spPr>
          <a:xfrm xmlns:a="http://schemas.openxmlformats.org/drawingml/2006/main">
            <a:off x="685800" y="434340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Interpretation</a:t>
            </a:r>
          </a:p>
        </p:txBody>
      </p:sp>
      <p:sp>
        <p:nvSpPr>
          <p:cNvPr id="7" name="text-6">
            <a:extLst xmlns:a="http://schemas.openxmlformats.org/drawingml/2006/main">
              <a:ext uri="{FF2B5EF4-FFF2-40B4-BE49-F238E27FC236}">
                <a16:creationId xmlns:a16="http://schemas.microsoft.com/office/drawing/2014/main" id="{A098E2E8-3473-4E64-942B-159F3C60B841}"/>
              </a:ext>
            </a:extLst>
          </p:cNvPr>
          <p:cNvSpPr>
            <a:spLocks xmlns:a="http://schemas.openxmlformats.org/drawingml/2006/main" noGrp="1"/>
          </p:cNvSpPr>
          <p:nvPr/>
        </p:nvSpPr>
        <p:spPr>
          <a:xfrm xmlns:a="http://schemas.openxmlformats.org/drawingml/2006/main">
            <a:off x="3190875" y="434340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Der kleine gebundene Versuch belegt keinen allgemeinen ANN-Performancevorteil und keine Sprachrelevanz.</a:t>
            </a:r>
          </a:p>
        </p:txBody>
      </p:sp>
      <p:sp>
        <p:nvSpPr>
          <p:cNvPr id="8" name="text-7">
            <a:extLst xmlns:a="http://schemas.openxmlformats.org/drawingml/2006/main">
              <a:ext uri="{FF2B5EF4-FFF2-40B4-BE49-F238E27FC236}">
                <a16:creationId xmlns:a16="http://schemas.microsoft.com/office/drawing/2014/main" id="{1CA80E66-03A7-4DAD-905F-D55F3A7101DA}"/>
              </a:ext>
            </a:extLst>
          </p:cNvPr>
          <p:cNvSpPr>
            <a:spLocks xmlns:a="http://schemas.openxmlformats.org/drawingml/2006/main" noGrp="1"/>
          </p:cNvSpPr>
          <p:nvPr/>
        </p:nvSpPr>
        <p:spPr>
          <a:xfrm xmlns:a="http://schemas.openxmlformats.org/drawingml/2006/main">
            <a:off x="685800" y="5876925"/>
            <a:ext cx="10553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0">
                <a:solidFill>
                  <a:srgbClr val="52647A"/>
                </a:solidFill>
                <a:latin typeface="Arial"/>
                <a:ea typeface="Arial"/>
                <a:cs typeface="Arial"/>
              </a:defRPr>
            </a:defPPr>
            <a:lvl1pPr>
              <a:defRPr sz="1800" b="0">
                <a:solidFill>
                  <a:srgbClr val="52647A"/>
                </a:solidFill>
                <a:latin typeface="Arial"/>
                <a:ea typeface="Arial"/>
                <a:cs typeface="Arial"/>
              </a:defRPr>
            </a:lvl1pPr>
            <a:lvl2pPr>
              <a:defRPr sz="1800" b="0">
                <a:solidFill>
                  <a:srgbClr val="52647A"/>
                </a:solidFill>
                <a:latin typeface="Arial"/>
                <a:ea typeface="Arial"/>
                <a:cs typeface="Arial"/>
              </a:defRPr>
            </a:lvl2pPr>
            <a:lvl3pPr>
              <a:defRPr sz="1800" b="0">
                <a:solidFill>
                  <a:srgbClr val="52647A"/>
                </a:solidFill>
                <a:latin typeface="Arial"/>
                <a:ea typeface="Arial"/>
                <a:cs typeface="Arial"/>
              </a:defRPr>
            </a:lvl3pPr>
            <a:lvl4pPr>
              <a:defRPr sz="1800" b="0">
                <a:solidFill>
                  <a:srgbClr val="52647A"/>
                </a:solidFill>
                <a:latin typeface="Arial"/>
                <a:ea typeface="Arial"/>
                <a:cs typeface="Arial"/>
              </a:defRPr>
            </a:lvl4pPr>
            <a:lvl5pPr>
              <a:defRPr sz="1800" b="0">
                <a:solidFill>
                  <a:srgbClr val="52647A"/>
                </a:solidFill>
                <a:latin typeface="Arial"/>
                <a:ea typeface="Arial"/>
                <a:cs typeface="Arial"/>
              </a:defRPr>
            </a:lvl5pPr>
            <a:lvl6pPr>
              <a:defRPr sz="1800" b="0">
                <a:solidFill>
                  <a:srgbClr val="52647A"/>
                </a:solidFill>
                <a:latin typeface="Arial"/>
                <a:ea typeface="Arial"/>
                <a:cs typeface="Arial"/>
              </a:defRPr>
            </a:lvl6pPr>
            <a:lvl7pPr>
              <a:defRPr sz="1800" b="0">
                <a:solidFill>
                  <a:srgbClr val="52647A"/>
                </a:solidFill>
                <a:latin typeface="Arial"/>
                <a:ea typeface="Arial"/>
                <a:cs typeface="Arial"/>
              </a:defRPr>
            </a:lvl7pPr>
            <a:lvl8pPr>
              <a:defRPr sz="1800" b="0">
                <a:solidFill>
                  <a:srgbClr val="52647A"/>
                </a:solidFill>
                <a:latin typeface="Arial"/>
                <a:ea typeface="Arial"/>
                <a:cs typeface="Arial"/>
              </a:defRPr>
            </a:lvl8pPr>
            <a:lvl9pPr>
              <a:defRPr sz="1800" b="0">
                <a:solidFill>
                  <a:srgbClr val="52647A"/>
                </a:solidFill>
                <a:latin typeface="Arial"/>
                <a:ea typeface="Arial"/>
                <a:cs typeface="Arial"/>
              </a:defRPr>
            </a:lvl9pPr>
          </a:lstStyle>
          <a:p xmlns:a="http://schemas.openxmlformats.org/drawingml/2006/main">
            <a:pPr>
              <a:defRPr sz="1800" b="0">
                <a:solidFill>
                  <a:srgbClr val="52647A"/>
                </a:solidFill>
                <a:latin typeface="Arial"/>
                <a:ea typeface="Arial"/>
                <a:cs typeface="Arial"/>
              </a:defRPr>
            </a:pPr>
            <a:r>
              <a:rPr sz="1800" b="0">
                <a:solidFill>
                  <a:srgbClr val="52647A"/>
                </a:solidFill>
                <a:latin typeface="Arial"/>
                <a:ea typeface="Arial"/>
                <a:cs typeface="Arial"/>
              </a:rPr>
              <a:t>PROPOSED. Öffentliche Vorstufe und Teilnachweise ersetzen keine vollständige TP-PERF-Abnahme.</a:t>
            </a:r>
          </a:p>
        </p:txBody>
      </p:sp>
      <p:sp>
        <p:nvSpPr>
          <p:cNvPr id="9" name="text-8">
            <a:extLst xmlns:a="http://schemas.openxmlformats.org/drawingml/2006/main">
              <a:ext uri="{FF2B5EF4-FFF2-40B4-BE49-F238E27FC236}">
                <a16:creationId xmlns:a16="http://schemas.microsoft.com/office/drawing/2014/main" id="{1B4B08B6-8D8C-45BF-9591-9D0D477713F1}"/>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vl1pPr>
              <a:defRPr sz="1350" b="0">
                <a:solidFill>
                  <a:srgbClr val="52647A"/>
                </a:solidFill>
                <a:latin typeface="Arial"/>
                <a:ea typeface="Arial"/>
                <a:cs typeface="Arial"/>
              </a:defRPr>
            </a:lvl1pPr>
            <a:lvl2pPr>
              <a:defRPr sz="1350" b="0">
                <a:solidFill>
                  <a:srgbClr val="52647A"/>
                </a:solidFill>
                <a:latin typeface="Arial"/>
                <a:ea typeface="Arial"/>
                <a:cs typeface="Arial"/>
              </a:defRPr>
            </a:lvl2pPr>
            <a:lvl3pPr>
              <a:defRPr sz="1350" b="0">
                <a:solidFill>
                  <a:srgbClr val="52647A"/>
                </a:solidFill>
                <a:latin typeface="Arial"/>
                <a:ea typeface="Arial"/>
                <a:cs typeface="Arial"/>
              </a:defRPr>
            </a:lvl3pPr>
            <a:lvl4pPr>
              <a:defRPr sz="1350" b="0">
                <a:solidFill>
                  <a:srgbClr val="52647A"/>
                </a:solidFill>
                <a:latin typeface="Arial"/>
                <a:ea typeface="Arial"/>
                <a:cs typeface="Arial"/>
              </a:defRPr>
            </a:lvl4pPr>
            <a:lvl5pPr>
              <a:defRPr sz="1350" b="0">
                <a:solidFill>
                  <a:srgbClr val="52647A"/>
                </a:solidFill>
                <a:latin typeface="Arial"/>
                <a:ea typeface="Arial"/>
                <a:cs typeface="Arial"/>
              </a:defRPr>
            </a:lvl5pPr>
            <a:lvl6pPr>
              <a:defRPr sz="1350" b="0">
                <a:solidFill>
                  <a:srgbClr val="52647A"/>
                </a:solidFill>
                <a:latin typeface="Arial"/>
                <a:ea typeface="Arial"/>
                <a:cs typeface="Arial"/>
              </a:defRPr>
            </a:lvl6pPr>
            <a:lvl7pPr>
              <a:defRPr sz="1350" b="0">
                <a:solidFill>
                  <a:srgbClr val="52647A"/>
                </a:solidFill>
                <a:latin typeface="Arial"/>
                <a:ea typeface="Arial"/>
                <a:cs typeface="Arial"/>
              </a:defRPr>
            </a:lvl7pPr>
            <a:lvl8pPr>
              <a:defRPr sz="1350" b="0">
                <a:solidFill>
                  <a:srgbClr val="52647A"/>
                </a:solidFill>
                <a:latin typeface="Arial"/>
                <a:ea typeface="Arial"/>
                <a:cs typeface="Arial"/>
              </a:defRPr>
            </a:lvl8pPr>
            <a:lvl9pPr>
              <a:defRPr sz="1350" b="0">
                <a:solidFill>
                  <a:srgbClr val="52647A"/>
                </a:solidFill>
                <a:latin typeface="Arial"/>
                <a:ea typeface="Arial"/>
                <a:cs typeface="Arial"/>
              </a:defRPr>
            </a:lvl9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52  CUR-019</a:t>
            </a:r>
          </a:p>
        </p:txBody>
      </p:sp>
    </p:spTree>
    <p:extLst>
      <p:ext uri="{BB962C8B-B14F-4D97-AF65-F5344CB8AC3E}">
        <p14:creationId xmlns:p14="http://schemas.microsoft.com/office/powerpoint/2010/main" val="332045884"/>
      </p:ext>
    </p:extLst>
  </p:cSld>
</p:sld>
</file>

<file path=ppt/slides/slide5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text-0">
            <a:extLst xmlns:a="http://schemas.openxmlformats.org/drawingml/2006/main">
              <a:ext uri="{FF2B5EF4-FFF2-40B4-BE49-F238E27FC236}">
                <a16:creationId xmlns:a16="http://schemas.microsoft.com/office/drawing/2014/main" id="{470B3702-892F-4545-877C-0D6A5AA78E3A}"/>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vl1pPr>
              <a:defRPr sz="3300" b="1">
                <a:solidFill>
                  <a:srgbClr val="15283D"/>
                </a:solidFill>
                <a:latin typeface="Arial"/>
                <a:ea typeface="Arial"/>
                <a:cs typeface="Arial"/>
              </a:defRPr>
            </a:lvl1pPr>
            <a:lvl2pPr>
              <a:defRPr sz="3300" b="1">
                <a:solidFill>
                  <a:srgbClr val="15283D"/>
                </a:solidFill>
                <a:latin typeface="Arial"/>
                <a:ea typeface="Arial"/>
                <a:cs typeface="Arial"/>
              </a:defRPr>
            </a:lvl2pPr>
            <a:lvl3pPr>
              <a:defRPr sz="3300" b="1">
                <a:solidFill>
                  <a:srgbClr val="15283D"/>
                </a:solidFill>
                <a:latin typeface="Arial"/>
                <a:ea typeface="Arial"/>
                <a:cs typeface="Arial"/>
              </a:defRPr>
            </a:lvl3pPr>
            <a:lvl4pPr>
              <a:defRPr sz="3300" b="1">
                <a:solidFill>
                  <a:srgbClr val="15283D"/>
                </a:solidFill>
                <a:latin typeface="Arial"/>
                <a:ea typeface="Arial"/>
                <a:cs typeface="Arial"/>
              </a:defRPr>
            </a:lvl4pPr>
            <a:lvl5pPr>
              <a:defRPr sz="3300" b="1">
                <a:solidFill>
                  <a:srgbClr val="15283D"/>
                </a:solidFill>
                <a:latin typeface="Arial"/>
                <a:ea typeface="Arial"/>
                <a:cs typeface="Arial"/>
              </a:defRPr>
            </a:lvl5pPr>
            <a:lvl6pPr>
              <a:defRPr sz="3300" b="1">
                <a:solidFill>
                  <a:srgbClr val="15283D"/>
                </a:solidFill>
                <a:latin typeface="Arial"/>
                <a:ea typeface="Arial"/>
                <a:cs typeface="Arial"/>
              </a:defRPr>
            </a:lvl6pPr>
            <a:lvl7pPr>
              <a:defRPr sz="3300" b="1">
                <a:solidFill>
                  <a:srgbClr val="15283D"/>
                </a:solidFill>
                <a:latin typeface="Arial"/>
                <a:ea typeface="Arial"/>
                <a:cs typeface="Arial"/>
              </a:defRPr>
            </a:lvl7pPr>
            <a:lvl8pPr>
              <a:defRPr sz="3300" b="1">
                <a:solidFill>
                  <a:srgbClr val="15283D"/>
                </a:solidFill>
                <a:latin typeface="Arial"/>
                <a:ea typeface="Arial"/>
                <a:cs typeface="Arial"/>
              </a:defRPr>
            </a:lvl8pPr>
            <a:lvl9pPr>
              <a:defRPr sz="3300" b="1">
                <a:solidFill>
                  <a:srgbClr val="15283D"/>
                </a:solidFill>
                <a:latin typeface="Arial"/>
                <a:ea typeface="Arial"/>
                <a:cs typeface="Arial"/>
              </a:defRPr>
            </a:lvl9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IDX-012: Index-Lifecycle und Kosten</a:t>
            </a:r>
          </a:p>
        </p:txBody>
      </p:sp>
      <p:sp>
        <p:nvSpPr>
          <p:cNvPr id="2" name="text-1">
            <a:extLst xmlns:a="http://schemas.openxmlformats.org/drawingml/2006/main">
              <a:ext uri="{FF2B5EF4-FFF2-40B4-BE49-F238E27FC236}">
                <a16:creationId xmlns:a16="http://schemas.microsoft.com/office/drawing/2014/main" id="{EDCBA9FD-E43B-4FAB-B08C-533BBB1BFB40}"/>
              </a:ext>
            </a:extLst>
          </p:cNvPr>
          <p:cNvSpPr>
            <a:spLocks xmlns:a="http://schemas.openxmlformats.org/drawingml/2006/main" noGrp="1"/>
          </p:cNvSpPr>
          <p:nvPr/>
        </p:nvSpPr>
        <p:spPr>
          <a:xfrm xmlns:a="http://schemas.openxmlformats.org/drawingml/2006/main">
            <a:off x="685800" y="177165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Lifecycle</a:t>
            </a:r>
          </a:p>
        </p:txBody>
      </p:sp>
      <p:sp>
        <p:nvSpPr>
          <p:cNvPr id="3" name="text-2">
            <a:extLst xmlns:a="http://schemas.openxmlformats.org/drawingml/2006/main">
              <a:ext uri="{FF2B5EF4-FFF2-40B4-BE49-F238E27FC236}">
                <a16:creationId xmlns:a16="http://schemas.microsoft.com/office/drawing/2014/main" id="{9B487BA7-44BE-4567-A8EC-5009FD615CD8}"/>
              </a:ext>
            </a:extLst>
          </p:cNvPr>
          <p:cNvSpPr>
            <a:spLocks xmlns:a="http://schemas.openxmlformats.org/drawingml/2006/main" noGrp="1"/>
          </p:cNvSpPr>
          <p:nvPr/>
        </p:nvSpPr>
        <p:spPr>
          <a:xfrm xmlns:a="http://schemas.openxmlformats.org/drawingml/2006/main">
            <a:off x="3190875" y="177165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Build, Datenänderungen, Drop/Rebuild, Quellenzustand und Wiederherstellung getrennt betrachten.</a:t>
            </a:r>
          </a:p>
        </p:txBody>
      </p:sp>
      <p:sp>
        <p:nvSpPr>
          <p:cNvPr id="4" name="text-3">
            <a:extLst xmlns:a="http://schemas.openxmlformats.org/drawingml/2006/main">
              <a:ext uri="{FF2B5EF4-FFF2-40B4-BE49-F238E27FC236}">
                <a16:creationId xmlns:a16="http://schemas.microsoft.com/office/drawing/2014/main" id="{EDB00CA1-A8F2-426F-A7C2-F72E54EB0194}"/>
              </a:ext>
            </a:extLst>
          </p:cNvPr>
          <p:cNvSpPr>
            <a:spLocks xmlns:a="http://schemas.openxmlformats.org/drawingml/2006/main" noGrp="1"/>
          </p:cNvSpPr>
          <p:nvPr/>
        </p:nvSpPr>
        <p:spPr>
          <a:xfrm xmlns:a="http://schemas.openxmlformats.org/drawingml/2006/main">
            <a:off x="685800" y="3057525"/>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Kosten</a:t>
            </a:r>
          </a:p>
        </p:txBody>
      </p:sp>
      <p:sp>
        <p:nvSpPr>
          <p:cNvPr id="5" name="text-4">
            <a:extLst xmlns:a="http://schemas.openxmlformats.org/drawingml/2006/main">
              <a:ext uri="{FF2B5EF4-FFF2-40B4-BE49-F238E27FC236}">
                <a16:creationId xmlns:a16="http://schemas.microsoft.com/office/drawing/2014/main" id="{AF64EA04-FF27-413D-AC54-F7B8D28CE576}"/>
              </a:ext>
            </a:extLst>
          </p:cNvPr>
          <p:cNvSpPr>
            <a:spLocks xmlns:a="http://schemas.openxmlformats.org/drawingml/2006/main" noGrp="1"/>
          </p:cNvSpPr>
          <p:nvPr/>
        </p:nvSpPr>
        <p:spPr>
          <a:xfrm xmlns:a="http://schemas.openxmlformats.org/drawingml/2006/main">
            <a:off x="3190875" y="3057525"/>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Prozessorzeit (CPU), Datei-Schreibvorgänge, Speicher und eigene TempDB-Belegungen dem Messbereich zuordnen.</a:t>
            </a:r>
          </a:p>
        </p:txBody>
      </p:sp>
      <p:sp>
        <p:nvSpPr>
          <p:cNvPr id="6" name="text-5">
            <a:extLst xmlns:a="http://schemas.openxmlformats.org/drawingml/2006/main">
              <a:ext uri="{FF2B5EF4-FFF2-40B4-BE49-F238E27FC236}">
                <a16:creationId xmlns:a16="http://schemas.microsoft.com/office/drawing/2014/main" id="{897EA744-1300-46F8-BD03-47A39A4A0B65}"/>
              </a:ext>
            </a:extLst>
          </p:cNvPr>
          <p:cNvSpPr>
            <a:spLocks xmlns:a="http://schemas.openxmlformats.org/drawingml/2006/main" noGrp="1"/>
          </p:cNvSpPr>
          <p:nvPr/>
        </p:nvSpPr>
        <p:spPr>
          <a:xfrm xmlns:a="http://schemas.openxmlformats.org/drawingml/2006/main">
            <a:off x="685800" y="434340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Grenze</a:t>
            </a:r>
          </a:p>
        </p:txBody>
      </p:sp>
      <p:sp>
        <p:nvSpPr>
          <p:cNvPr id="7" name="text-6">
            <a:extLst xmlns:a="http://schemas.openxmlformats.org/drawingml/2006/main">
              <a:ext uri="{FF2B5EF4-FFF2-40B4-BE49-F238E27FC236}">
                <a16:creationId xmlns:a16="http://schemas.microsoft.com/office/drawing/2014/main" id="{F081B9DC-E22A-4F88-A662-29A06B713951}"/>
              </a:ext>
            </a:extLst>
          </p:cNvPr>
          <p:cNvSpPr>
            <a:spLocks xmlns:a="http://schemas.openxmlformats.org/drawingml/2006/main" noGrp="1"/>
          </p:cNvSpPr>
          <p:nvPr/>
        </p:nvSpPr>
        <p:spPr>
          <a:xfrm xmlns:a="http://schemas.openxmlformats.org/drawingml/2006/main">
            <a:off x="3190875" y="434340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Der lokale Legacy-Pfad und seine Teilbelege garantieren keine neue Azure-Funktion für Datenänderungen oder Indexpflege.</a:t>
            </a:r>
          </a:p>
        </p:txBody>
      </p:sp>
      <p:sp>
        <p:nvSpPr>
          <p:cNvPr id="8" name="text-7">
            <a:extLst xmlns:a="http://schemas.openxmlformats.org/drawingml/2006/main">
              <a:ext uri="{FF2B5EF4-FFF2-40B4-BE49-F238E27FC236}">
                <a16:creationId xmlns:a16="http://schemas.microsoft.com/office/drawing/2014/main" id="{2054291F-B246-4C7C-A7E6-C156790846D2}"/>
              </a:ext>
            </a:extLst>
          </p:cNvPr>
          <p:cNvSpPr>
            <a:spLocks xmlns:a="http://schemas.openxmlformats.org/drawingml/2006/main" noGrp="1"/>
          </p:cNvSpPr>
          <p:nvPr/>
        </p:nvSpPr>
        <p:spPr>
          <a:xfrm xmlns:a="http://schemas.openxmlformats.org/drawingml/2006/main">
            <a:off x="685800" y="5876925"/>
            <a:ext cx="10553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0">
                <a:solidFill>
                  <a:srgbClr val="52647A"/>
                </a:solidFill>
                <a:latin typeface="Arial"/>
                <a:ea typeface="Arial"/>
                <a:cs typeface="Arial"/>
              </a:defRPr>
            </a:defPPr>
            <a:lvl1pPr>
              <a:defRPr sz="1800" b="0">
                <a:solidFill>
                  <a:srgbClr val="52647A"/>
                </a:solidFill>
                <a:latin typeface="Arial"/>
                <a:ea typeface="Arial"/>
                <a:cs typeface="Arial"/>
              </a:defRPr>
            </a:lvl1pPr>
            <a:lvl2pPr>
              <a:defRPr sz="1800" b="0">
                <a:solidFill>
                  <a:srgbClr val="52647A"/>
                </a:solidFill>
                <a:latin typeface="Arial"/>
                <a:ea typeface="Arial"/>
                <a:cs typeface="Arial"/>
              </a:defRPr>
            </a:lvl2pPr>
            <a:lvl3pPr>
              <a:defRPr sz="1800" b="0">
                <a:solidFill>
                  <a:srgbClr val="52647A"/>
                </a:solidFill>
                <a:latin typeface="Arial"/>
                <a:ea typeface="Arial"/>
                <a:cs typeface="Arial"/>
              </a:defRPr>
            </a:lvl3pPr>
            <a:lvl4pPr>
              <a:defRPr sz="1800" b="0">
                <a:solidFill>
                  <a:srgbClr val="52647A"/>
                </a:solidFill>
                <a:latin typeface="Arial"/>
                <a:ea typeface="Arial"/>
                <a:cs typeface="Arial"/>
              </a:defRPr>
            </a:lvl4pPr>
            <a:lvl5pPr>
              <a:defRPr sz="1800" b="0">
                <a:solidFill>
                  <a:srgbClr val="52647A"/>
                </a:solidFill>
                <a:latin typeface="Arial"/>
                <a:ea typeface="Arial"/>
                <a:cs typeface="Arial"/>
              </a:defRPr>
            </a:lvl5pPr>
            <a:lvl6pPr>
              <a:defRPr sz="1800" b="0">
                <a:solidFill>
                  <a:srgbClr val="52647A"/>
                </a:solidFill>
                <a:latin typeface="Arial"/>
                <a:ea typeface="Arial"/>
                <a:cs typeface="Arial"/>
              </a:defRPr>
            </a:lvl6pPr>
            <a:lvl7pPr>
              <a:defRPr sz="1800" b="0">
                <a:solidFill>
                  <a:srgbClr val="52647A"/>
                </a:solidFill>
                <a:latin typeface="Arial"/>
                <a:ea typeface="Arial"/>
                <a:cs typeface="Arial"/>
              </a:defRPr>
            </a:lvl7pPr>
            <a:lvl8pPr>
              <a:defRPr sz="1800" b="0">
                <a:solidFill>
                  <a:srgbClr val="52647A"/>
                </a:solidFill>
                <a:latin typeface="Arial"/>
                <a:ea typeface="Arial"/>
                <a:cs typeface="Arial"/>
              </a:defRPr>
            </a:lvl8pPr>
            <a:lvl9pPr>
              <a:defRPr sz="1800" b="0">
                <a:solidFill>
                  <a:srgbClr val="52647A"/>
                </a:solidFill>
                <a:latin typeface="Arial"/>
                <a:ea typeface="Arial"/>
                <a:cs typeface="Arial"/>
              </a:defRPr>
            </a:lvl9pPr>
          </a:lstStyle>
          <a:p xmlns:a="http://schemas.openxmlformats.org/drawingml/2006/main">
            <a:pPr>
              <a:defRPr sz="1800" b="0">
                <a:solidFill>
                  <a:srgbClr val="52647A"/>
                </a:solidFill>
                <a:latin typeface="Arial"/>
                <a:ea typeface="Arial"/>
                <a:cs typeface="Arial"/>
              </a:defRPr>
            </a:pPr>
            <a:r>
              <a:rPr sz="1800" b="0">
                <a:solidFill>
                  <a:srgbClr val="52647A"/>
                </a:solidFill>
                <a:latin typeface="Arial"/>
                <a:ea typeface="Arial"/>
                <a:cs typeface="Arial"/>
              </a:rPr>
              <a:t>PROPOSED. MAXDOP: Parallelitätsgrenze als Vorgabe; tatsächlichen Parallelitätsgrad (DOP) messen. Nettonutzen offen.</a:t>
            </a:r>
          </a:p>
        </p:txBody>
      </p:sp>
      <p:sp>
        <p:nvSpPr>
          <p:cNvPr id="9" name="text-8">
            <a:extLst xmlns:a="http://schemas.openxmlformats.org/drawingml/2006/main">
              <a:ext uri="{FF2B5EF4-FFF2-40B4-BE49-F238E27FC236}">
                <a16:creationId xmlns:a16="http://schemas.microsoft.com/office/drawing/2014/main" id="{C9876373-8310-4EDC-92F1-E980AEF57CDD}"/>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vl1pPr>
              <a:defRPr sz="1350" b="0">
                <a:solidFill>
                  <a:srgbClr val="52647A"/>
                </a:solidFill>
                <a:latin typeface="Arial"/>
                <a:ea typeface="Arial"/>
                <a:cs typeface="Arial"/>
              </a:defRPr>
            </a:lvl1pPr>
            <a:lvl2pPr>
              <a:defRPr sz="1350" b="0">
                <a:solidFill>
                  <a:srgbClr val="52647A"/>
                </a:solidFill>
                <a:latin typeface="Arial"/>
                <a:ea typeface="Arial"/>
                <a:cs typeface="Arial"/>
              </a:defRPr>
            </a:lvl2pPr>
            <a:lvl3pPr>
              <a:defRPr sz="1350" b="0">
                <a:solidFill>
                  <a:srgbClr val="52647A"/>
                </a:solidFill>
                <a:latin typeface="Arial"/>
                <a:ea typeface="Arial"/>
                <a:cs typeface="Arial"/>
              </a:defRPr>
            </a:lvl3pPr>
            <a:lvl4pPr>
              <a:defRPr sz="1350" b="0">
                <a:solidFill>
                  <a:srgbClr val="52647A"/>
                </a:solidFill>
                <a:latin typeface="Arial"/>
                <a:ea typeface="Arial"/>
                <a:cs typeface="Arial"/>
              </a:defRPr>
            </a:lvl4pPr>
            <a:lvl5pPr>
              <a:defRPr sz="1350" b="0">
                <a:solidFill>
                  <a:srgbClr val="52647A"/>
                </a:solidFill>
                <a:latin typeface="Arial"/>
                <a:ea typeface="Arial"/>
                <a:cs typeface="Arial"/>
              </a:defRPr>
            </a:lvl5pPr>
            <a:lvl6pPr>
              <a:defRPr sz="1350" b="0">
                <a:solidFill>
                  <a:srgbClr val="52647A"/>
                </a:solidFill>
                <a:latin typeface="Arial"/>
                <a:ea typeface="Arial"/>
                <a:cs typeface="Arial"/>
              </a:defRPr>
            </a:lvl6pPr>
            <a:lvl7pPr>
              <a:defRPr sz="1350" b="0">
                <a:solidFill>
                  <a:srgbClr val="52647A"/>
                </a:solidFill>
                <a:latin typeface="Arial"/>
                <a:ea typeface="Arial"/>
                <a:cs typeface="Arial"/>
              </a:defRPr>
            </a:lvl7pPr>
            <a:lvl8pPr>
              <a:defRPr sz="1350" b="0">
                <a:solidFill>
                  <a:srgbClr val="52647A"/>
                </a:solidFill>
                <a:latin typeface="Arial"/>
                <a:ea typeface="Arial"/>
                <a:cs typeface="Arial"/>
              </a:defRPr>
            </a:lvl8pPr>
            <a:lvl9pPr>
              <a:defRPr sz="1350" b="0">
                <a:solidFill>
                  <a:srgbClr val="52647A"/>
                </a:solidFill>
                <a:latin typeface="Arial"/>
                <a:ea typeface="Arial"/>
                <a:cs typeface="Arial"/>
              </a:defRPr>
            </a:lvl9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53  CUR-019</a:t>
            </a:r>
          </a:p>
        </p:txBody>
      </p:sp>
    </p:spTree>
    <p:extLst>
      <p:ext uri="{BB962C8B-B14F-4D97-AF65-F5344CB8AC3E}">
        <p14:creationId xmlns:p14="http://schemas.microsoft.com/office/powerpoint/2010/main" val="1222071250"/>
      </p:ext>
    </p:extLst>
  </p:cSld>
</p:sld>
</file>

<file path=ppt/slides/slide5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text-0">
            <a:extLst xmlns:a="http://schemas.openxmlformats.org/drawingml/2006/main">
              <a:ext uri="{FF2B5EF4-FFF2-40B4-BE49-F238E27FC236}">
                <a16:creationId xmlns:a16="http://schemas.microsoft.com/office/drawing/2014/main" id="{815C5195-99DA-4870-B6D4-3D0B24B974A6}"/>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vl1pPr>
              <a:defRPr sz="3300" b="1">
                <a:solidFill>
                  <a:srgbClr val="15283D"/>
                </a:solidFill>
                <a:latin typeface="Arial"/>
                <a:ea typeface="Arial"/>
                <a:cs typeface="Arial"/>
              </a:defRPr>
            </a:lvl1pPr>
            <a:lvl2pPr>
              <a:defRPr sz="3300" b="1">
                <a:solidFill>
                  <a:srgbClr val="15283D"/>
                </a:solidFill>
                <a:latin typeface="Arial"/>
                <a:ea typeface="Arial"/>
                <a:cs typeface="Arial"/>
              </a:defRPr>
            </a:lvl2pPr>
            <a:lvl3pPr>
              <a:defRPr sz="3300" b="1">
                <a:solidFill>
                  <a:srgbClr val="15283D"/>
                </a:solidFill>
                <a:latin typeface="Arial"/>
                <a:ea typeface="Arial"/>
                <a:cs typeface="Arial"/>
              </a:defRPr>
            </a:lvl3pPr>
            <a:lvl4pPr>
              <a:defRPr sz="3300" b="1">
                <a:solidFill>
                  <a:srgbClr val="15283D"/>
                </a:solidFill>
                <a:latin typeface="Arial"/>
                <a:ea typeface="Arial"/>
                <a:cs typeface="Arial"/>
              </a:defRPr>
            </a:lvl4pPr>
            <a:lvl5pPr>
              <a:defRPr sz="3300" b="1">
                <a:solidFill>
                  <a:srgbClr val="15283D"/>
                </a:solidFill>
                <a:latin typeface="Arial"/>
                <a:ea typeface="Arial"/>
                <a:cs typeface="Arial"/>
              </a:defRPr>
            </a:lvl5pPr>
            <a:lvl6pPr>
              <a:defRPr sz="3300" b="1">
                <a:solidFill>
                  <a:srgbClr val="15283D"/>
                </a:solidFill>
                <a:latin typeface="Arial"/>
                <a:ea typeface="Arial"/>
                <a:cs typeface="Arial"/>
              </a:defRPr>
            </a:lvl6pPr>
            <a:lvl7pPr>
              <a:defRPr sz="3300" b="1">
                <a:solidFill>
                  <a:srgbClr val="15283D"/>
                </a:solidFill>
                <a:latin typeface="Arial"/>
                <a:ea typeface="Arial"/>
                <a:cs typeface="Arial"/>
              </a:defRPr>
            </a:lvl7pPr>
            <a:lvl8pPr>
              <a:defRPr sz="3300" b="1">
                <a:solidFill>
                  <a:srgbClr val="15283D"/>
                </a:solidFill>
                <a:latin typeface="Arial"/>
                <a:ea typeface="Arial"/>
                <a:cs typeface="Arial"/>
              </a:defRPr>
            </a:lvl8pPr>
            <a:lvl9pPr>
              <a:defRPr sz="3300" b="1">
                <a:solidFill>
                  <a:srgbClr val="15283D"/>
                </a:solidFill>
                <a:latin typeface="Arial"/>
                <a:ea typeface="Arial"/>
                <a:cs typeface="Arial"/>
              </a:defRPr>
            </a:lvl9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Messbereiche und Gegenproben</a:t>
            </a:r>
          </a:p>
        </p:txBody>
      </p:sp>
      <p:graphicFrame>
        <p:nvGraphicFramePr>
          <p:cNvPr id="2" name="">
            <a:extLst xmlns:a="http://schemas.openxmlformats.org/drawingml/2006/main">
              <a:ext uri="{FF2B5EF4-FFF2-40B4-BE49-F238E27FC236}">
                <a16:creationId xmlns:a16="http://schemas.microsoft.com/office/drawing/2014/main" id="{DA54E747-F599-4146-8BC2-223432921AC0}"/>
              </a:ext>
            </a:extLst>
          </p:cNvPr>
          <p:cNvGraphicFramePr/>
          <p:nvPr/>
        </p:nvGraphicFramePr>
        <p:xfrm>
          <a:off xmlns:a="http://schemas.openxmlformats.org/drawingml/2006/main" x="685800" y="1771650"/>
          <a:ext xmlns:a="http://schemas.openxmlformats.org/drawingml/2006/main" cx="10668000" cy="4000500"/>
        </p:xfrm>
        <a:graphic xmlns:a="http://schemas.openxmlformats.org/drawingml/2006/main">
          <a:graphicData uri="http://schemas.openxmlformats.org/drawingml/2006/table">
            <a:tbl>
              <a:tblPr/>
              <a:tblGrid>
                <a:gridCol w="2381250"/>
                <a:gridCol w="4476750"/>
                <a:gridCol w="3810000"/>
              </a:tblGrid>
              <a:tr h="800100">
                <a:tc>
                  <a:txBody>
                    <a:bodyPr/>
                    <a:lstStyle/>
                    <a:p>
                      <a:r>
                        <a:rPr sz="1800" b="1">
                          <a:solidFill>
                            <a:srgbClr val="15283D"/>
                          </a:solidFill>
                          <a:latin typeface="Arial"/>
                          <a:ea typeface="Arial"/>
                          <a:cs typeface="Arial"/>
                        </a:rPr>
                        <a:t>Messbereich</a:t>
                      </a:r>
                    </a:p>
                  </a:txBody>
                  <a:tcPr marL="114300" marR="114300" marT="47625" marB="47625" anchor="ctr">
                    <a:lnL w="9525">
                      <a:solidFill>
                        <a:srgbClr val="C8D5DE"/>
                      </a:solidFill>
                      <a:prstDash val="solid"/>
                    </a:lnL>
                    <a:lnR w="9525">
                      <a:solidFill>
                        <a:srgbClr val="C8D5DE"/>
                      </a:solidFill>
                      <a:prstDash val="solid"/>
                    </a:lnR>
                    <a:lnT w="9525">
                      <a:solidFill>
                        <a:srgbClr val="C8D5DE"/>
                      </a:solidFill>
                      <a:prstDash val="solid"/>
                    </a:lnT>
                    <a:lnB w="9525">
                      <a:solidFill>
                        <a:srgbClr val="C8D5DE"/>
                      </a:solidFill>
                      <a:prstDash val="solid"/>
                    </a:lnB>
                    <a:solidFill>
                      <a:srgbClr val="E8F2F2"/>
                    </a:solidFill>
                  </a:tcPr>
                </a:tc>
                <a:tc>
                  <a:txBody>
                    <a:bodyPr/>
                    <a:lstStyle/>
                    <a:p>
                      <a:r>
                        <a:rPr sz="1800" b="1">
                          <a:solidFill>
                            <a:srgbClr val="15283D"/>
                          </a:solidFill>
                          <a:latin typeface="Arial"/>
                          <a:ea typeface="Arial"/>
                          <a:cs typeface="Arial"/>
                        </a:rPr>
                        <a:t>Evidenz</a:t>
                      </a:r>
                    </a:p>
                  </a:txBody>
                  <a:tcPr marL="114300" marR="114300" marT="47625" marB="47625" anchor="ctr">
                    <a:lnR w="9525">
                      <a:solidFill>
                        <a:srgbClr val="C8D5DE"/>
                      </a:solidFill>
                      <a:prstDash val="solid"/>
                    </a:lnR>
                    <a:lnT w="9525">
                      <a:solidFill>
                        <a:srgbClr val="C8D5DE"/>
                      </a:solidFill>
                      <a:prstDash val="solid"/>
                    </a:lnT>
                    <a:lnB w="9525">
                      <a:solidFill>
                        <a:srgbClr val="C8D5DE"/>
                      </a:solidFill>
                      <a:prstDash val="solid"/>
                    </a:lnB>
                    <a:solidFill>
                      <a:srgbClr val="E8F2F2"/>
                    </a:solidFill>
                  </a:tcPr>
                </a:tc>
                <a:tc>
                  <a:txBody>
                    <a:bodyPr/>
                    <a:lstStyle/>
                    <a:p>
                      <a:r>
                        <a:rPr sz="1800" b="1">
                          <a:solidFill>
                            <a:srgbClr val="15283D"/>
                          </a:solidFill>
                          <a:latin typeface="Arial"/>
                          <a:ea typeface="Arial"/>
                          <a:cs typeface="Arial"/>
                        </a:rPr>
                        <a:t>Aussagegrenze</a:t>
                      </a:r>
                    </a:p>
                  </a:txBody>
                  <a:tcPr marL="114300" marR="114300" marT="47625" marB="47625" anchor="ctr">
                    <a:lnR w="9525">
                      <a:solidFill>
                        <a:srgbClr val="C8D5DE"/>
                      </a:solidFill>
                      <a:prstDash val="solid"/>
                    </a:lnR>
                    <a:lnT w="9525">
                      <a:solidFill>
                        <a:srgbClr val="C8D5DE"/>
                      </a:solidFill>
                      <a:prstDash val="solid"/>
                    </a:lnT>
                    <a:lnB w="9525">
                      <a:solidFill>
                        <a:srgbClr val="C8D5DE"/>
                      </a:solidFill>
                      <a:prstDash val="solid"/>
                    </a:lnB>
                    <a:solidFill>
                      <a:srgbClr val="E8F2F2"/>
                    </a:solidFill>
                  </a:tcPr>
                </a:tc>
              </a:tr>
              <a:tr h="800100">
                <a:tc>
                  <a:txBody>
                    <a:bodyPr/>
                    <a:lstStyle/>
                    <a:p>
                      <a:r>
                        <a:rPr sz="1800" b="0">
                          <a:solidFill>
                            <a:srgbClr val="15283D"/>
                          </a:solidFill>
                          <a:latin typeface="Arial"/>
                          <a:ea typeface="Arial"/>
                          <a:cs typeface="Arial"/>
                        </a:rPr>
                        <a:t>SQL-Arbeit</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Prozessorzeit (CPU), Lesezugriffe, Resultate und Actual Plan</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Queryscope und Counterauflösung nennen</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r h="800100">
                <a:tc>
                  <a:txBody>
                    <a:bodyPr/>
                    <a:lstStyle/>
                    <a:p>
                      <a:r>
                        <a:rPr sz="1800" b="0">
                          <a:solidFill>
                            <a:srgbClr val="15283D"/>
                          </a:solidFill>
                          <a:latin typeface="Arial"/>
                          <a:ea typeface="Arial"/>
                          <a:cs typeface="Arial"/>
                        </a:rPr>
                        <a:t>Anwendung</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Requestdauer, Fehler und Throughput</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p50/p95/p99 brauchen Einzelrequests</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r h="800100">
                <a:tc>
                  <a:txBody>
                    <a:bodyPr/>
                    <a:lstStyle/>
                    <a:p>
                      <a:r>
                        <a:rPr sz="1800" b="0">
                          <a:solidFill>
                            <a:srgbClr val="15283D"/>
                          </a:solidFill>
                          <a:latin typeface="Arial"/>
                          <a:ea typeface="Arial"/>
                          <a:cs typeface="Arial"/>
                        </a:rPr>
                        <a:t>Provider</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Netz-, Modellzeit, Token und Retry</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SQL-Duration isoliert diese Anteile nicht</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r h="800100">
                <a:tc>
                  <a:txBody>
                    <a:bodyPr/>
                    <a:lstStyle/>
                    <a:p>
                      <a:r>
                        <a:rPr sz="1800" b="0">
                          <a:solidFill>
                            <a:srgbClr val="15283D"/>
                          </a:solidFill>
                          <a:latin typeface="Arial"/>
                          <a:ea typeface="Arial"/>
                          <a:cs typeface="Arial"/>
                        </a:rPr>
                        <a:t>Vergleich</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AB/BA, AA, gleiche Quelle und Konfiguration</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Warmups, Nullen und Ausreißer erhalten</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bl>
          </a:graphicData>
        </a:graphic>
      </p:graphicFrame>
      <p:sp>
        <p:nvSpPr>
          <p:cNvPr id="3" name="text-1">
            <a:extLst xmlns:a="http://schemas.openxmlformats.org/drawingml/2006/main">
              <a:ext uri="{FF2B5EF4-FFF2-40B4-BE49-F238E27FC236}">
                <a16:creationId xmlns:a16="http://schemas.microsoft.com/office/drawing/2014/main" id="{BDB4A3EF-EA9F-4F97-9DC1-106FA1DB3821}"/>
              </a:ext>
            </a:extLst>
          </p:cNvPr>
          <p:cNvSpPr>
            <a:spLocks xmlns:a="http://schemas.openxmlformats.org/drawingml/2006/main" noGrp="1"/>
          </p:cNvSpPr>
          <p:nvPr/>
        </p:nvSpPr>
        <p:spPr>
          <a:xfrm xmlns:a="http://schemas.openxmlformats.org/drawingml/2006/main">
            <a:off x="685800" y="5876925"/>
            <a:ext cx="10553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0">
                <a:solidFill>
                  <a:srgbClr val="52647A"/>
                </a:solidFill>
                <a:latin typeface="Arial"/>
                <a:ea typeface="Arial"/>
                <a:cs typeface="Arial"/>
              </a:defRPr>
            </a:defPPr>
            <a:lvl1pPr>
              <a:defRPr sz="1800" b="0">
                <a:solidFill>
                  <a:srgbClr val="52647A"/>
                </a:solidFill>
                <a:latin typeface="Arial"/>
                <a:ea typeface="Arial"/>
                <a:cs typeface="Arial"/>
              </a:defRPr>
            </a:lvl1pPr>
            <a:lvl2pPr>
              <a:defRPr sz="1800" b="0">
                <a:solidFill>
                  <a:srgbClr val="52647A"/>
                </a:solidFill>
                <a:latin typeface="Arial"/>
                <a:ea typeface="Arial"/>
                <a:cs typeface="Arial"/>
              </a:defRPr>
            </a:lvl2pPr>
            <a:lvl3pPr>
              <a:defRPr sz="1800" b="0">
                <a:solidFill>
                  <a:srgbClr val="52647A"/>
                </a:solidFill>
                <a:latin typeface="Arial"/>
                <a:ea typeface="Arial"/>
                <a:cs typeface="Arial"/>
              </a:defRPr>
            </a:lvl3pPr>
            <a:lvl4pPr>
              <a:defRPr sz="1800" b="0">
                <a:solidFill>
                  <a:srgbClr val="52647A"/>
                </a:solidFill>
                <a:latin typeface="Arial"/>
                <a:ea typeface="Arial"/>
                <a:cs typeface="Arial"/>
              </a:defRPr>
            </a:lvl4pPr>
            <a:lvl5pPr>
              <a:defRPr sz="1800" b="0">
                <a:solidFill>
                  <a:srgbClr val="52647A"/>
                </a:solidFill>
                <a:latin typeface="Arial"/>
                <a:ea typeface="Arial"/>
                <a:cs typeface="Arial"/>
              </a:defRPr>
            </a:lvl5pPr>
            <a:lvl6pPr>
              <a:defRPr sz="1800" b="0">
                <a:solidFill>
                  <a:srgbClr val="52647A"/>
                </a:solidFill>
                <a:latin typeface="Arial"/>
                <a:ea typeface="Arial"/>
                <a:cs typeface="Arial"/>
              </a:defRPr>
            </a:lvl6pPr>
            <a:lvl7pPr>
              <a:defRPr sz="1800" b="0">
                <a:solidFill>
                  <a:srgbClr val="52647A"/>
                </a:solidFill>
                <a:latin typeface="Arial"/>
                <a:ea typeface="Arial"/>
                <a:cs typeface="Arial"/>
              </a:defRPr>
            </a:lvl7pPr>
            <a:lvl8pPr>
              <a:defRPr sz="1800" b="0">
                <a:solidFill>
                  <a:srgbClr val="52647A"/>
                </a:solidFill>
                <a:latin typeface="Arial"/>
                <a:ea typeface="Arial"/>
                <a:cs typeface="Arial"/>
              </a:defRPr>
            </a:lvl8pPr>
            <a:lvl9pPr>
              <a:defRPr sz="1800" b="0">
                <a:solidFill>
                  <a:srgbClr val="52647A"/>
                </a:solidFill>
                <a:latin typeface="Arial"/>
                <a:ea typeface="Arial"/>
                <a:cs typeface="Arial"/>
              </a:defRPr>
            </a:lvl9pPr>
          </a:lstStyle>
          <a:p xmlns:a="http://schemas.openxmlformats.org/drawingml/2006/main">
            <a:pPr>
              <a:defRPr sz="1800" b="0">
                <a:solidFill>
                  <a:srgbClr val="52647A"/>
                </a:solidFill>
                <a:latin typeface="Arial"/>
                <a:ea typeface="Arial"/>
                <a:cs typeface="Arial"/>
              </a:defRPr>
            </a:pPr>
            <a:r>
              <a:rPr sz="1800" b="0">
                <a:solidFill>
                  <a:srgbClr val="52647A"/>
                </a:solidFill>
                <a:latin typeface="Arial"/>
                <a:ea typeface="Arial"/>
                <a:cs typeface="Arial"/>
              </a:rPr>
              <a:t>Fehlender Wert, gemessene Null und nicht erfasste Evidenz bleiben verschieden.</a:t>
            </a:r>
          </a:p>
        </p:txBody>
      </p:sp>
      <p:sp>
        <p:nvSpPr>
          <p:cNvPr id="4" name="text-2">
            <a:extLst xmlns:a="http://schemas.openxmlformats.org/drawingml/2006/main">
              <a:ext uri="{FF2B5EF4-FFF2-40B4-BE49-F238E27FC236}">
                <a16:creationId xmlns:a16="http://schemas.microsoft.com/office/drawing/2014/main" id="{F625FB31-7FA2-4353-976C-AF64B1912587}"/>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vl1pPr>
              <a:defRPr sz="1350" b="0">
                <a:solidFill>
                  <a:srgbClr val="52647A"/>
                </a:solidFill>
                <a:latin typeface="Arial"/>
                <a:ea typeface="Arial"/>
                <a:cs typeface="Arial"/>
              </a:defRPr>
            </a:lvl1pPr>
            <a:lvl2pPr>
              <a:defRPr sz="1350" b="0">
                <a:solidFill>
                  <a:srgbClr val="52647A"/>
                </a:solidFill>
                <a:latin typeface="Arial"/>
                <a:ea typeface="Arial"/>
                <a:cs typeface="Arial"/>
              </a:defRPr>
            </a:lvl2pPr>
            <a:lvl3pPr>
              <a:defRPr sz="1350" b="0">
                <a:solidFill>
                  <a:srgbClr val="52647A"/>
                </a:solidFill>
                <a:latin typeface="Arial"/>
                <a:ea typeface="Arial"/>
                <a:cs typeface="Arial"/>
              </a:defRPr>
            </a:lvl3pPr>
            <a:lvl4pPr>
              <a:defRPr sz="1350" b="0">
                <a:solidFill>
                  <a:srgbClr val="52647A"/>
                </a:solidFill>
                <a:latin typeface="Arial"/>
                <a:ea typeface="Arial"/>
                <a:cs typeface="Arial"/>
              </a:defRPr>
            </a:lvl4pPr>
            <a:lvl5pPr>
              <a:defRPr sz="1350" b="0">
                <a:solidFill>
                  <a:srgbClr val="52647A"/>
                </a:solidFill>
                <a:latin typeface="Arial"/>
                <a:ea typeface="Arial"/>
                <a:cs typeface="Arial"/>
              </a:defRPr>
            </a:lvl5pPr>
            <a:lvl6pPr>
              <a:defRPr sz="1350" b="0">
                <a:solidFill>
                  <a:srgbClr val="52647A"/>
                </a:solidFill>
                <a:latin typeface="Arial"/>
                <a:ea typeface="Arial"/>
                <a:cs typeface="Arial"/>
              </a:defRPr>
            </a:lvl6pPr>
            <a:lvl7pPr>
              <a:defRPr sz="1350" b="0">
                <a:solidFill>
                  <a:srgbClr val="52647A"/>
                </a:solidFill>
                <a:latin typeface="Arial"/>
                <a:ea typeface="Arial"/>
                <a:cs typeface="Arial"/>
              </a:defRPr>
            </a:lvl7pPr>
            <a:lvl8pPr>
              <a:defRPr sz="1350" b="0">
                <a:solidFill>
                  <a:srgbClr val="52647A"/>
                </a:solidFill>
                <a:latin typeface="Arial"/>
                <a:ea typeface="Arial"/>
                <a:cs typeface="Arial"/>
              </a:defRPr>
            </a:lvl8pPr>
            <a:lvl9pPr>
              <a:defRPr sz="1350" b="0">
                <a:solidFill>
                  <a:srgbClr val="52647A"/>
                </a:solidFill>
                <a:latin typeface="Arial"/>
                <a:ea typeface="Arial"/>
                <a:cs typeface="Arial"/>
              </a:defRPr>
            </a:lvl9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54  CUR-020 / CUR-021</a:t>
            </a:r>
          </a:p>
        </p:txBody>
      </p:sp>
    </p:spTree>
    <p:extLst>
      <p:ext uri="{BB962C8B-B14F-4D97-AF65-F5344CB8AC3E}">
        <p14:creationId xmlns:p14="http://schemas.microsoft.com/office/powerpoint/2010/main" val="1880812885"/>
      </p:ext>
    </p:extLst>
  </p:cSld>
</p:sld>
</file>

<file path=ppt/slides/slide5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text-0">
            <a:extLst xmlns:a="http://schemas.openxmlformats.org/drawingml/2006/main">
              <a:ext uri="{FF2B5EF4-FFF2-40B4-BE49-F238E27FC236}">
                <a16:creationId xmlns:a16="http://schemas.microsoft.com/office/drawing/2014/main" id="{A7CAAE46-6CFF-47D6-9983-F57F60C07268}"/>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vl1pPr>
              <a:defRPr sz="3300" b="1">
                <a:solidFill>
                  <a:srgbClr val="15283D"/>
                </a:solidFill>
                <a:latin typeface="Arial"/>
                <a:ea typeface="Arial"/>
                <a:cs typeface="Arial"/>
              </a:defRPr>
            </a:lvl1pPr>
            <a:lvl2pPr>
              <a:defRPr sz="3300" b="1">
                <a:solidFill>
                  <a:srgbClr val="15283D"/>
                </a:solidFill>
                <a:latin typeface="Arial"/>
                <a:ea typeface="Arial"/>
                <a:cs typeface="Arial"/>
              </a:defRPr>
            </a:lvl2pPr>
            <a:lvl3pPr>
              <a:defRPr sz="3300" b="1">
                <a:solidFill>
                  <a:srgbClr val="15283D"/>
                </a:solidFill>
                <a:latin typeface="Arial"/>
                <a:ea typeface="Arial"/>
                <a:cs typeface="Arial"/>
              </a:defRPr>
            </a:lvl3pPr>
            <a:lvl4pPr>
              <a:defRPr sz="3300" b="1">
                <a:solidFill>
                  <a:srgbClr val="15283D"/>
                </a:solidFill>
                <a:latin typeface="Arial"/>
                <a:ea typeface="Arial"/>
                <a:cs typeface="Arial"/>
              </a:defRPr>
            </a:lvl4pPr>
            <a:lvl5pPr>
              <a:defRPr sz="3300" b="1">
                <a:solidFill>
                  <a:srgbClr val="15283D"/>
                </a:solidFill>
                <a:latin typeface="Arial"/>
                <a:ea typeface="Arial"/>
                <a:cs typeface="Arial"/>
              </a:defRPr>
            </a:lvl5pPr>
            <a:lvl6pPr>
              <a:defRPr sz="3300" b="1">
                <a:solidFill>
                  <a:srgbClr val="15283D"/>
                </a:solidFill>
                <a:latin typeface="Arial"/>
                <a:ea typeface="Arial"/>
                <a:cs typeface="Arial"/>
              </a:defRPr>
            </a:lvl6pPr>
            <a:lvl7pPr>
              <a:defRPr sz="3300" b="1">
                <a:solidFill>
                  <a:srgbClr val="15283D"/>
                </a:solidFill>
                <a:latin typeface="Arial"/>
                <a:ea typeface="Arial"/>
                <a:cs typeface="Arial"/>
              </a:defRPr>
            </a:lvl7pPr>
            <a:lvl8pPr>
              <a:defRPr sz="3300" b="1">
                <a:solidFill>
                  <a:srgbClr val="15283D"/>
                </a:solidFill>
                <a:latin typeface="Arial"/>
                <a:ea typeface="Arial"/>
                <a:cs typeface="Arial"/>
              </a:defRPr>
            </a:lvl8pPr>
            <a:lvl9pPr>
              <a:defRPr sz="3300" b="1">
                <a:solidFill>
                  <a:srgbClr val="15283D"/>
                </a:solidFill>
                <a:latin typeface="Arial"/>
                <a:ea typeface="Arial"/>
                <a:cs typeface="Arial"/>
              </a:defRPr>
            </a:lvl9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RES-008: Gebundene Dimensionsergebnisse lesen</a:t>
            </a:r>
          </a:p>
        </p:txBody>
      </p:sp>
      <p:graphicFrame>
        <p:nvGraphicFramePr>
          <p:cNvPr id="2" name="">
            <a:extLst xmlns:a="http://schemas.openxmlformats.org/drawingml/2006/main">
              <a:ext uri="{FF2B5EF4-FFF2-40B4-BE49-F238E27FC236}">
                <a16:creationId xmlns:a16="http://schemas.microsoft.com/office/drawing/2014/main" id="{A1645FEF-3ECC-4389-958D-6F9F16C8F0D8}"/>
              </a:ext>
            </a:extLst>
          </p:cNvPr>
          <p:cNvGraphicFramePr/>
          <p:nvPr/>
        </p:nvGraphicFramePr>
        <p:xfrm>
          <a:off xmlns:a="http://schemas.openxmlformats.org/drawingml/2006/main" x="685800" y="1771650"/>
          <a:ext xmlns:a="http://schemas.openxmlformats.org/drawingml/2006/main" cx="10668000" cy="3143250"/>
        </p:xfrm>
        <a:graphic xmlns:a="http://schemas.openxmlformats.org/drawingml/2006/main">
          <a:graphicData uri="http://schemas.openxmlformats.org/drawingml/2006/table">
            <a:tbl>
              <a:tblPr/>
              <a:tblGrid>
                <a:gridCol w="2857500"/>
                <a:gridCol w="2286000"/>
                <a:gridCol w="3048000"/>
                <a:gridCol w="2476500"/>
              </a:tblGrid>
              <a:tr h="785813">
                <a:tc>
                  <a:txBody>
                    <a:bodyPr/>
                    <a:lstStyle/>
                    <a:p>
                      <a:r>
                        <a:rPr sz="1800" b="1">
                          <a:solidFill>
                            <a:srgbClr val="15283D"/>
                          </a:solidFill>
                          <a:latin typeface="Arial"/>
                          <a:ea typeface="Arial"/>
                          <a:cs typeface="Arial"/>
                        </a:rPr>
                        <a:t>Lauf 1: A=32 / B</a:t>
                      </a:r>
                    </a:p>
                  </a:txBody>
                  <a:tcPr marL="114300" marR="114300" marT="47625" marB="47625" anchor="ctr">
                    <a:lnL w="9525">
                      <a:solidFill>
                        <a:srgbClr val="C8D5DE"/>
                      </a:solidFill>
                      <a:prstDash val="solid"/>
                    </a:lnL>
                    <a:lnR w="9525">
                      <a:solidFill>
                        <a:srgbClr val="C8D5DE"/>
                      </a:solidFill>
                      <a:prstDash val="solid"/>
                    </a:lnR>
                    <a:lnT w="9525">
                      <a:solidFill>
                        <a:srgbClr val="C8D5DE"/>
                      </a:solidFill>
                      <a:prstDash val="solid"/>
                    </a:lnT>
                    <a:lnB w="9525">
                      <a:solidFill>
                        <a:srgbClr val="C8D5DE"/>
                      </a:solidFill>
                      <a:prstDash val="solid"/>
                    </a:lnB>
                    <a:solidFill>
                      <a:srgbClr val="E8F2F2"/>
                    </a:solidFill>
                  </a:tcPr>
                </a:tc>
                <a:tc>
                  <a:txBody>
                    <a:bodyPr/>
                    <a:lstStyle/>
                    <a:p>
                      <a:r>
                        <a:rPr sz="1800" b="1">
                          <a:solidFill>
                            <a:srgbClr val="15283D"/>
                          </a:solidFill>
                          <a:latin typeface="Arial"/>
                          <a:ea typeface="Arial"/>
                          <a:cs typeface="Arial"/>
                        </a:rPr>
                        <a:t>CPU-Median ms A/B</a:t>
                      </a:r>
                    </a:p>
                  </a:txBody>
                  <a:tcPr marL="114300" marR="114300" marT="47625" marB="47625" anchor="ctr">
                    <a:lnR w="9525">
                      <a:solidFill>
                        <a:srgbClr val="C8D5DE"/>
                      </a:solidFill>
                      <a:prstDash val="solid"/>
                    </a:lnR>
                    <a:lnT w="9525">
                      <a:solidFill>
                        <a:srgbClr val="C8D5DE"/>
                      </a:solidFill>
                      <a:prstDash val="solid"/>
                    </a:lnT>
                    <a:lnB w="9525">
                      <a:solidFill>
                        <a:srgbClr val="C8D5DE"/>
                      </a:solidFill>
                      <a:prstDash val="solid"/>
                    </a:lnB>
                    <a:solidFill>
                      <a:srgbClr val="E8F2F2"/>
                    </a:solidFill>
                  </a:tcPr>
                </a:tc>
                <a:tc>
                  <a:txBody>
                    <a:bodyPr/>
                    <a:lstStyle/>
                    <a:p>
                      <a:r>
                        <a:rPr sz="1800" b="1">
                          <a:solidFill>
                            <a:srgbClr val="15283D"/>
                          </a:solidFill>
                          <a:latin typeface="Arial"/>
                          <a:ea typeface="Arial"/>
                          <a:cs typeface="Arial"/>
                        </a:rPr>
                        <a:t>Elapsed-Median µs A/B</a:t>
                      </a:r>
                    </a:p>
                  </a:txBody>
                  <a:tcPr marL="114300" marR="114300" marT="47625" marB="47625" anchor="ctr">
                    <a:lnR w="9525">
                      <a:solidFill>
                        <a:srgbClr val="C8D5DE"/>
                      </a:solidFill>
                      <a:prstDash val="solid"/>
                    </a:lnR>
                    <a:lnT w="9525">
                      <a:solidFill>
                        <a:srgbClr val="C8D5DE"/>
                      </a:solidFill>
                      <a:prstDash val="solid"/>
                    </a:lnT>
                    <a:lnB w="9525">
                      <a:solidFill>
                        <a:srgbClr val="C8D5DE"/>
                      </a:solidFill>
                      <a:prstDash val="solid"/>
                    </a:lnB>
                    <a:solidFill>
                      <a:srgbClr val="E8F2F2"/>
                    </a:solidFill>
                  </a:tcPr>
                </a:tc>
                <a:tc>
                  <a:txBody>
                    <a:bodyPr/>
                    <a:lstStyle/>
                    <a:p>
                      <a:r>
                        <a:rPr sz="1800" b="1">
                          <a:solidFill>
                            <a:srgbClr val="15283D"/>
                          </a:solidFill>
                          <a:latin typeface="Arial"/>
                          <a:ea typeface="Arial"/>
                          <a:cs typeface="Arial"/>
                        </a:rPr>
                        <a:t>Logical Reads A/B</a:t>
                      </a:r>
                    </a:p>
                  </a:txBody>
                  <a:tcPr marL="114300" marR="114300" marT="47625" marB="47625" anchor="ctr">
                    <a:lnR w="9525">
                      <a:solidFill>
                        <a:srgbClr val="C8D5DE"/>
                      </a:solidFill>
                      <a:prstDash val="solid"/>
                    </a:lnR>
                    <a:lnT w="9525">
                      <a:solidFill>
                        <a:srgbClr val="C8D5DE"/>
                      </a:solidFill>
                      <a:prstDash val="solid"/>
                    </a:lnT>
                    <a:lnB w="9525">
                      <a:solidFill>
                        <a:srgbClr val="C8D5DE"/>
                      </a:solidFill>
                      <a:prstDash val="solid"/>
                    </a:lnB>
                    <a:solidFill>
                      <a:srgbClr val="E8F2F2"/>
                    </a:solidFill>
                  </a:tcPr>
                </a:tc>
              </a:tr>
              <a:tr h="785813">
                <a:tc>
                  <a:txBody>
                    <a:bodyPr/>
                    <a:lstStyle/>
                    <a:p>
                      <a:r>
                        <a:rPr sz="1800" b="0">
                          <a:solidFill>
                            <a:srgbClr val="15283D"/>
                          </a:solidFill>
                          <a:latin typeface="Arial"/>
                          <a:ea typeface="Arial"/>
                          <a:cs typeface="Arial"/>
                        </a:rPr>
                        <a:t>B=384</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6,5 / 7,0</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8169,0 / 6151,0</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615 / 2415</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r h="785813">
                <a:tc>
                  <a:txBody>
                    <a:bodyPr/>
                    <a:lstStyle/>
                    <a:p>
                      <a:r>
                        <a:rPr sz="1800" b="0">
                          <a:solidFill>
                            <a:srgbClr val="15283D"/>
                          </a:solidFill>
                          <a:latin typeface="Arial"/>
                          <a:ea typeface="Arial"/>
                          <a:cs typeface="Arial"/>
                        </a:rPr>
                        <a:t>B=768</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5,5 / 8,0</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4118,5 / 8189,0</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615 / 5415</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r h="785813">
                <a:tc>
                  <a:txBody>
                    <a:bodyPr/>
                    <a:lstStyle/>
                    <a:p>
                      <a:r>
                        <a:rPr sz="1800" b="0">
                          <a:solidFill>
                            <a:srgbClr val="15283D"/>
                          </a:solidFill>
                          <a:latin typeface="Arial"/>
                          <a:ea typeface="Arial"/>
                          <a:cs typeface="Arial"/>
                        </a:rPr>
                        <a:t>B=1536</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6,0 / 15,0</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4094,5 / 14483,0</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615 / 10415</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bl>
          </a:graphicData>
        </a:graphic>
      </p:graphicFrame>
      <p:sp>
        <p:nvSpPr>
          <p:cNvPr id="3" name="text-1">
            <a:extLst xmlns:a="http://schemas.openxmlformats.org/drawingml/2006/main">
              <a:ext uri="{FF2B5EF4-FFF2-40B4-BE49-F238E27FC236}">
                <a16:creationId xmlns:a16="http://schemas.microsoft.com/office/drawing/2014/main" id="{932708C8-5C05-4090-B083-4B35E90234F0}"/>
              </a:ext>
            </a:extLst>
          </p:cNvPr>
          <p:cNvSpPr>
            <a:spLocks xmlns:a="http://schemas.openxmlformats.org/drawingml/2006/main" noGrp="1"/>
          </p:cNvSpPr>
          <p:nvPr/>
        </p:nvSpPr>
        <p:spPr>
          <a:xfrm xmlns:a="http://schemas.openxmlformats.org/drawingml/2006/main">
            <a:off x="685800" y="5876925"/>
            <a:ext cx="10553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0">
                <a:solidFill>
                  <a:srgbClr val="52647A"/>
                </a:solidFill>
                <a:latin typeface="Arial"/>
                <a:ea typeface="Arial"/>
                <a:cs typeface="Arial"/>
              </a:defRPr>
            </a:defPPr>
            <a:lvl1pPr>
              <a:defRPr sz="1800" b="0">
                <a:solidFill>
                  <a:srgbClr val="52647A"/>
                </a:solidFill>
                <a:latin typeface="Arial"/>
                <a:ea typeface="Arial"/>
                <a:cs typeface="Arial"/>
              </a:defRPr>
            </a:lvl1pPr>
            <a:lvl2pPr>
              <a:defRPr sz="1800" b="0">
                <a:solidFill>
                  <a:srgbClr val="52647A"/>
                </a:solidFill>
                <a:latin typeface="Arial"/>
                <a:ea typeface="Arial"/>
                <a:cs typeface="Arial"/>
              </a:defRPr>
            </a:lvl2pPr>
            <a:lvl3pPr>
              <a:defRPr sz="1800" b="0">
                <a:solidFill>
                  <a:srgbClr val="52647A"/>
                </a:solidFill>
                <a:latin typeface="Arial"/>
                <a:ea typeface="Arial"/>
                <a:cs typeface="Arial"/>
              </a:defRPr>
            </a:lvl3pPr>
            <a:lvl4pPr>
              <a:defRPr sz="1800" b="0">
                <a:solidFill>
                  <a:srgbClr val="52647A"/>
                </a:solidFill>
                <a:latin typeface="Arial"/>
                <a:ea typeface="Arial"/>
                <a:cs typeface="Arial"/>
              </a:defRPr>
            </a:lvl4pPr>
            <a:lvl5pPr>
              <a:defRPr sz="1800" b="0">
                <a:solidFill>
                  <a:srgbClr val="52647A"/>
                </a:solidFill>
                <a:latin typeface="Arial"/>
                <a:ea typeface="Arial"/>
                <a:cs typeface="Arial"/>
              </a:defRPr>
            </a:lvl5pPr>
            <a:lvl6pPr>
              <a:defRPr sz="1800" b="0">
                <a:solidFill>
                  <a:srgbClr val="52647A"/>
                </a:solidFill>
                <a:latin typeface="Arial"/>
                <a:ea typeface="Arial"/>
                <a:cs typeface="Arial"/>
              </a:defRPr>
            </a:lvl6pPr>
            <a:lvl7pPr>
              <a:defRPr sz="1800" b="0">
                <a:solidFill>
                  <a:srgbClr val="52647A"/>
                </a:solidFill>
                <a:latin typeface="Arial"/>
                <a:ea typeface="Arial"/>
                <a:cs typeface="Arial"/>
              </a:defRPr>
            </a:lvl7pPr>
            <a:lvl8pPr>
              <a:defRPr sz="1800" b="0">
                <a:solidFill>
                  <a:srgbClr val="52647A"/>
                </a:solidFill>
                <a:latin typeface="Arial"/>
                <a:ea typeface="Arial"/>
                <a:cs typeface="Arial"/>
              </a:defRPr>
            </a:lvl8pPr>
            <a:lvl9pPr>
              <a:defRPr sz="1800" b="0">
                <a:solidFill>
                  <a:srgbClr val="52647A"/>
                </a:solidFill>
                <a:latin typeface="Arial"/>
                <a:ea typeface="Arial"/>
                <a:cs typeface="Arial"/>
              </a:defRPr>
            </a:lvl9pPr>
          </a:lstStyle>
          <a:p xmlns:a="http://schemas.openxmlformats.org/drawingml/2006/main">
            <a:pPr>
              <a:defRPr sz="1800" b="0">
                <a:solidFill>
                  <a:srgbClr val="52647A"/>
                </a:solidFill>
                <a:latin typeface="Arial"/>
                <a:ea typeface="Arial"/>
                <a:cs typeface="Arial"/>
              </a:defRPr>
            </a:pPr>
            <a:r>
              <a:rPr sz="1800" b="0">
                <a:solidFill>
                  <a:srgbClr val="52647A"/>
                </a:solidFill>
                <a:latin typeface="Arial"/>
                <a:ea typeface="Arial"/>
                <a:cs typeface="Arial"/>
              </a:rPr>
              <a:t>PROPOSED. Je Spalte sechs 100-Query-Batchfenster. Begrenzte Beobachtung, keine Dimensionsregel.</a:t>
            </a:r>
          </a:p>
        </p:txBody>
      </p:sp>
      <p:sp>
        <p:nvSpPr>
          <p:cNvPr id="4" name="text-2">
            <a:extLst xmlns:a="http://schemas.openxmlformats.org/drawingml/2006/main">
              <a:ext uri="{FF2B5EF4-FFF2-40B4-BE49-F238E27FC236}">
                <a16:creationId xmlns:a16="http://schemas.microsoft.com/office/drawing/2014/main" id="{957B4C7E-BDB1-4683-A7DC-B3BF898F4ECA}"/>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vl1pPr>
              <a:defRPr sz="1350" b="0">
                <a:solidFill>
                  <a:srgbClr val="52647A"/>
                </a:solidFill>
                <a:latin typeface="Arial"/>
                <a:ea typeface="Arial"/>
                <a:cs typeface="Arial"/>
              </a:defRPr>
            </a:lvl1pPr>
            <a:lvl2pPr>
              <a:defRPr sz="1350" b="0">
                <a:solidFill>
                  <a:srgbClr val="52647A"/>
                </a:solidFill>
                <a:latin typeface="Arial"/>
                <a:ea typeface="Arial"/>
                <a:cs typeface="Arial"/>
              </a:defRPr>
            </a:lvl2pPr>
            <a:lvl3pPr>
              <a:defRPr sz="1350" b="0">
                <a:solidFill>
                  <a:srgbClr val="52647A"/>
                </a:solidFill>
                <a:latin typeface="Arial"/>
                <a:ea typeface="Arial"/>
                <a:cs typeface="Arial"/>
              </a:defRPr>
            </a:lvl3pPr>
            <a:lvl4pPr>
              <a:defRPr sz="1350" b="0">
                <a:solidFill>
                  <a:srgbClr val="52647A"/>
                </a:solidFill>
                <a:latin typeface="Arial"/>
                <a:ea typeface="Arial"/>
                <a:cs typeface="Arial"/>
              </a:defRPr>
            </a:lvl4pPr>
            <a:lvl5pPr>
              <a:defRPr sz="1350" b="0">
                <a:solidFill>
                  <a:srgbClr val="52647A"/>
                </a:solidFill>
                <a:latin typeface="Arial"/>
                <a:ea typeface="Arial"/>
                <a:cs typeface="Arial"/>
              </a:defRPr>
            </a:lvl5pPr>
            <a:lvl6pPr>
              <a:defRPr sz="1350" b="0">
                <a:solidFill>
                  <a:srgbClr val="52647A"/>
                </a:solidFill>
                <a:latin typeface="Arial"/>
                <a:ea typeface="Arial"/>
                <a:cs typeface="Arial"/>
              </a:defRPr>
            </a:lvl6pPr>
            <a:lvl7pPr>
              <a:defRPr sz="1350" b="0">
                <a:solidFill>
                  <a:srgbClr val="52647A"/>
                </a:solidFill>
                <a:latin typeface="Arial"/>
                <a:ea typeface="Arial"/>
                <a:cs typeface="Arial"/>
              </a:defRPr>
            </a:lvl7pPr>
            <a:lvl8pPr>
              <a:defRPr sz="1350" b="0">
                <a:solidFill>
                  <a:srgbClr val="52647A"/>
                </a:solidFill>
                <a:latin typeface="Arial"/>
                <a:ea typeface="Arial"/>
                <a:cs typeface="Arial"/>
              </a:defRPr>
            </a:lvl8pPr>
            <a:lvl9pPr>
              <a:defRPr sz="1350" b="0">
                <a:solidFill>
                  <a:srgbClr val="52647A"/>
                </a:solidFill>
                <a:latin typeface="Arial"/>
                <a:ea typeface="Arial"/>
                <a:cs typeface="Arial"/>
              </a:defRPr>
            </a:lvl9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55  CUR-020</a:t>
            </a:r>
          </a:p>
        </p:txBody>
      </p:sp>
    </p:spTree>
    <p:extLst>
      <p:ext uri="{BB962C8B-B14F-4D97-AF65-F5344CB8AC3E}">
        <p14:creationId xmlns:p14="http://schemas.microsoft.com/office/powerpoint/2010/main" val="1053045515"/>
      </p:ext>
    </p:extLst>
  </p:cSld>
</p:sld>
</file>

<file path=ppt/slides/slide5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text-0">
            <a:extLst xmlns:a="http://schemas.openxmlformats.org/drawingml/2006/main">
              <a:ext uri="{FF2B5EF4-FFF2-40B4-BE49-F238E27FC236}">
                <a16:creationId xmlns:a16="http://schemas.microsoft.com/office/drawing/2014/main" id="{CE45FFC8-E2E3-4C61-9FB4-837301B92690}"/>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vl1pPr>
              <a:defRPr sz="3300" b="1">
                <a:solidFill>
                  <a:srgbClr val="15283D"/>
                </a:solidFill>
                <a:latin typeface="Arial"/>
                <a:ea typeface="Arial"/>
                <a:cs typeface="Arial"/>
              </a:defRPr>
            </a:lvl1pPr>
            <a:lvl2pPr>
              <a:defRPr sz="3300" b="1">
                <a:solidFill>
                  <a:srgbClr val="15283D"/>
                </a:solidFill>
                <a:latin typeface="Arial"/>
                <a:ea typeface="Arial"/>
                <a:cs typeface="Arial"/>
              </a:defRPr>
            </a:lvl2pPr>
            <a:lvl3pPr>
              <a:defRPr sz="3300" b="1">
                <a:solidFill>
                  <a:srgbClr val="15283D"/>
                </a:solidFill>
                <a:latin typeface="Arial"/>
                <a:ea typeface="Arial"/>
                <a:cs typeface="Arial"/>
              </a:defRPr>
            </a:lvl3pPr>
            <a:lvl4pPr>
              <a:defRPr sz="3300" b="1">
                <a:solidFill>
                  <a:srgbClr val="15283D"/>
                </a:solidFill>
                <a:latin typeface="Arial"/>
                <a:ea typeface="Arial"/>
                <a:cs typeface="Arial"/>
              </a:defRPr>
            </a:lvl4pPr>
            <a:lvl5pPr>
              <a:defRPr sz="3300" b="1">
                <a:solidFill>
                  <a:srgbClr val="15283D"/>
                </a:solidFill>
                <a:latin typeface="Arial"/>
                <a:ea typeface="Arial"/>
                <a:cs typeface="Arial"/>
              </a:defRPr>
            </a:lvl5pPr>
            <a:lvl6pPr>
              <a:defRPr sz="3300" b="1">
                <a:solidFill>
                  <a:srgbClr val="15283D"/>
                </a:solidFill>
                <a:latin typeface="Arial"/>
                <a:ea typeface="Arial"/>
                <a:cs typeface="Arial"/>
              </a:defRPr>
            </a:lvl6pPr>
            <a:lvl7pPr>
              <a:defRPr sz="3300" b="1">
                <a:solidFill>
                  <a:srgbClr val="15283D"/>
                </a:solidFill>
                <a:latin typeface="Arial"/>
                <a:ea typeface="Arial"/>
                <a:cs typeface="Arial"/>
              </a:defRPr>
            </a:lvl7pPr>
            <a:lvl8pPr>
              <a:defRPr sz="3300" b="1">
                <a:solidFill>
                  <a:srgbClr val="15283D"/>
                </a:solidFill>
                <a:latin typeface="Arial"/>
                <a:ea typeface="Arial"/>
                <a:cs typeface="Arial"/>
              </a:defRPr>
            </a:lvl8pPr>
            <a:lvl9pPr>
              <a:defRPr sz="3300" b="1">
                <a:solidFill>
                  <a:srgbClr val="15283D"/>
                </a:solidFill>
                <a:latin typeface="Arial"/>
                <a:ea typeface="Arial"/>
                <a:cs typeface="Arial"/>
              </a:defRPr>
            </a:lvl9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RES-009 und DGN-011: End-to-End-Diagnose</a:t>
            </a:r>
          </a:p>
        </p:txBody>
      </p:sp>
      <p:sp>
        <p:nvSpPr>
          <p:cNvPr id="2" name="text-1">
            <a:extLst xmlns:a="http://schemas.openxmlformats.org/drawingml/2006/main">
              <a:ext uri="{FF2B5EF4-FFF2-40B4-BE49-F238E27FC236}">
                <a16:creationId xmlns:a16="http://schemas.microsoft.com/office/drawing/2014/main" id="{A4010C7D-EC33-419F-8257-19A1C9AA7296}"/>
              </a:ext>
            </a:extLst>
          </p:cNvPr>
          <p:cNvSpPr>
            <a:spLocks xmlns:a="http://schemas.openxmlformats.org/drawingml/2006/main" noGrp="1"/>
          </p:cNvSpPr>
          <p:nvPr/>
        </p:nvSpPr>
        <p:spPr>
          <a:xfrm xmlns:a="http://schemas.openxmlformats.org/drawingml/2006/main">
            <a:off x="685800" y="177165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RES-009: Concurrent Workloads</a:t>
            </a:r>
          </a:p>
        </p:txBody>
      </p:sp>
      <p:sp>
        <p:nvSpPr>
          <p:cNvPr id="3" name="text-2">
            <a:extLst xmlns:a="http://schemas.openxmlformats.org/drawingml/2006/main">
              <a:ext uri="{FF2B5EF4-FFF2-40B4-BE49-F238E27FC236}">
                <a16:creationId xmlns:a16="http://schemas.microsoft.com/office/drawing/2014/main" id="{22F275D4-1722-4366-8124-D0455A7912A8}"/>
              </a:ext>
            </a:extLst>
          </p:cNvPr>
          <p:cNvSpPr>
            <a:spLocks xmlns:a="http://schemas.openxmlformats.org/drawingml/2006/main" noGrp="1"/>
          </p:cNvSpPr>
          <p:nvPr/>
        </p:nvSpPr>
        <p:spPr>
          <a:xfrm xmlns:a="http://schemas.openxmlformats.org/drawingml/2006/main">
            <a:off x="3190875" y="177165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Geplanter Vergleich von Throughput, Fehlerrate und Requestlatenzen bei begrenzter Sessionzahl.</a:t>
            </a:r>
          </a:p>
        </p:txBody>
      </p:sp>
      <p:sp>
        <p:nvSpPr>
          <p:cNvPr id="4" name="text-3">
            <a:extLst xmlns:a="http://schemas.openxmlformats.org/drawingml/2006/main">
              <a:ext uri="{FF2B5EF4-FFF2-40B4-BE49-F238E27FC236}">
                <a16:creationId xmlns:a16="http://schemas.microsoft.com/office/drawing/2014/main" id="{7A61A8FD-9BC0-4DD6-93BC-F5C62B5F15CE}"/>
              </a:ext>
            </a:extLst>
          </p:cNvPr>
          <p:cNvSpPr>
            <a:spLocks xmlns:a="http://schemas.openxmlformats.org/drawingml/2006/main" noGrp="1"/>
          </p:cNvSpPr>
          <p:nvPr/>
        </p:nvSpPr>
        <p:spPr>
          <a:xfrm xmlns:a="http://schemas.openxmlformats.org/drawingml/2006/main">
            <a:off x="685800" y="3057525"/>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DGN-011: SQL, Netz und Inferenz</a:t>
            </a:r>
          </a:p>
        </p:txBody>
      </p:sp>
      <p:sp>
        <p:nvSpPr>
          <p:cNvPr id="5" name="text-4">
            <a:extLst xmlns:a="http://schemas.openxmlformats.org/drawingml/2006/main">
              <a:ext uri="{FF2B5EF4-FFF2-40B4-BE49-F238E27FC236}">
                <a16:creationId xmlns:a16="http://schemas.microsoft.com/office/drawing/2014/main" id="{3E4D69F3-52F9-4B6F-B63A-903C9E7D3DFC}"/>
              </a:ext>
            </a:extLst>
          </p:cNvPr>
          <p:cNvSpPr>
            <a:spLocks xmlns:a="http://schemas.openxmlformats.org/drawingml/2006/main" noGrp="1"/>
          </p:cNvSpPr>
          <p:nvPr/>
        </p:nvSpPr>
        <p:spPr>
          <a:xfrm xmlns:a="http://schemas.openxmlformats.org/drawingml/2006/main">
            <a:off x="3190875" y="3057525"/>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Geplante Zuordnung von SQL-Arbeit, HTTP-/TLS-Fehlern, Modellzeit und Retry zu einem Request.</a:t>
            </a:r>
          </a:p>
        </p:txBody>
      </p:sp>
      <p:sp>
        <p:nvSpPr>
          <p:cNvPr id="6" name="text-5">
            <a:extLst xmlns:a="http://schemas.openxmlformats.org/drawingml/2006/main">
              <a:ext uri="{FF2B5EF4-FFF2-40B4-BE49-F238E27FC236}">
                <a16:creationId xmlns:a16="http://schemas.microsoft.com/office/drawing/2014/main" id="{CFC46F07-D214-4FFE-A388-B66F9B0936F7}"/>
              </a:ext>
            </a:extLst>
          </p:cNvPr>
          <p:cNvSpPr>
            <a:spLocks xmlns:a="http://schemas.openxmlformats.org/drawingml/2006/main" noGrp="1"/>
          </p:cNvSpPr>
          <p:nvPr/>
        </p:nvSpPr>
        <p:spPr>
          <a:xfrm xmlns:a="http://schemas.openxmlformats.org/drawingml/2006/main">
            <a:off x="685800" y="434340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Bewertung</a:t>
            </a:r>
          </a:p>
        </p:txBody>
      </p:sp>
      <p:sp>
        <p:nvSpPr>
          <p:cNvPr id="7" name="text-6">
            <a:extLst xmlns:a="http://schemas.openxmlformats.org/drawingml/2006/main">
              <a:ext uri="{FF2B5EF4-FFF2-40B4-BE49-F238E27FC236}">
                <a16:creationId xmlns:a16="http://schemas.microsoft.com/office/drawing/2014/main" id="{7F69FAEC-E83D-40A2-98F8-BBCC7218497A}"/>
              </a:ext>
            </a:extLst>
          </p:cNvPr>
          <p:cNvSpPr>
            <a:spLocks xmlns:a="http://schemas.openxmlformats.org/drawingml/2006/main" noGrp="1"/>
          </p:cNvSpPr>
          <p:nvPr/>
        </p:nvSpPr>
        <p:spPr>
          <a:xfrm xmlns:a="http://schemas.openxmlformats.org/drawingml/2006/main">
            <a:off x="3190875" y="434340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SQL-Mittelwerte, Batchzeiten und isolierte Waits erklären keine vollständige Anwendungslatenz.</a:t>
            </a:r>
          </a:p>
        </p:txBody>
      </p:sp>
      <p:sp>
        <p:nvSpPr>
          <p:cNvPr id="8" name="text-7">
            <a:extLst xmlns:a="http://schemas.openxmlformats.org/drawingml/2006/main">
              <a:ext uri="{FF2B5EF4-FFF2-40B4-BE49-F238E27FC236}">
                <a16:creationId xmlns:a16="http://schemas.microsoft.com/office/drawing/2014/main" id="{DB29D6A6-6DCE-47DF-8FAA-76B6371CEEB1}"/>
              </a:ext>
            </a:extLst>
          </p:cNvPr>
          <p:cNvSpPr>
            <a:spLocks xmlns:a="http://schemas.openxmlformats.org/drawingml/2006/main" noGrp="1"/>
          </p:cNvSpPr>
          <p:nvPr/>
        </p:nvSpPr>
        <p:spPr>
          <a:xfrm xmlns:a="http://schemas.openxmlformats.org/drawingml/2006/main">
            <a:off x="685800" y="5876925"/>
            <a:ext cx="10553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0">
                <a:solidFill>
                  <a:srgbClr val="52647A"/>
                </a:solidFill>
                <a:latin typeface="Arial"/>
                <a:ea typeface="Arial"/>
                <a:cs typeface="Arial"/>
              </a:defRPr>
            </a:defPPr>
            <a:lvl1pPr>
              <a:defRPr sz="1800" b="0">
                <a:solidFill>
                  <a:srgbClr val="52647A"/>
                </a:solidFill>
                <a:latin typeface="Arial"/>
                <a:ea typeface="Arial"/>
                <a:cs typeface="Arial"/>
              </a:defRPr>
            </a:lvl1pPr>
            <a:lvl2pPr>
              <a:defRPr sz="1800" b="0">
                <a:solidFill>
                  <a:srgbClr val="52647A"/>
                </a:solidFill>
                <a:latin typeface="Arial"/>
                <a:ea typeface="Arial"/>
                <a:cs typeface="Arial"/>
              </a:defRPr>
            </a:lvl2pPr>
            <a:lvl3pPr>
              <a:defRPr sz="1800" b="0">
                <a:solidFill>
                  <a:srgbClr val="52647A"/>
                </a:solidFill>
                <a:latin typeface="Arial"/>
                <a:ea typeface="Arial"/>
                <a:cs typeface="Arial"/>
              </a:defRPr>
            </a:lvl3pPr>
            <a:lvl4pPr>
              <a:defRPr sz="1800" b="0">
                <a:solidFill>
                  <a:srgbClr val="52647A"/>
                </a:solidFill>
                <a:latin typeface="Arial"/>
                <a:ea typeface="Arial"/>
                <a:cs typeface="Arial"/>
              </a:defRPr>
            </a:lvl4pPr>
            <a:lvl5pPr>
              <a:defRPr sz="1800" b="0">
                <a:solidFill>
                  <a:srgbClr val="52647A"/>
                </a:solidFill>
                <a:latin typeface="Arial"/>
                <a:ea typeface="Arial"/>
                <a:cs typeface="Arial"/>
              </a:defRPr>
            </a:lvl5pPr>
            <a:lvl6pPr>
              <a:defRPr sz="1800" b="0">
                <a:solidFill>
                  <a:srgbClr val="52647A"/>
                </a:solidFill>
                <a:latin typeface="Arial"/>
                <a:ea typeface="Arial"/>
                <a:cs typeface="Arial"/>
              </a:defRPr>
            </a:lvl6pPr>
            <a:lvl7pPr>
              <a:defRPr sz="1800" b="0">
                <a:solidFill>
                  <a:srgbClr val="52647A"/>
                </a:solidFill>
                <a:latin typeface="Arial"/>
                <a:ea typeface="Arial"/>
                <a:cs typeface="Arial"/>
              </a:defRPr>
            </a:lvl7pPr>
            <a:lvl8pPr>
              <a:defRPr sz="1800" b="0">
                <a:solidFill>
                  <a:srgbClr val="52647A"/>
                </a:solidFill>
                <a:latin typeface="Arial"/>
                <a:ea typeface="Arial"/>
                <a:cs typeface="Arial"/>
              </a:defRPr>
            </a:lvl8pPr>
            <a:lvl9pPr>
              <a:defRPr sz="1800" b="0">
                <a:solidFill>
                  <a:srgbClr val="52647A"/>
                </a:solidFill>
                <a:latin typeface="Arial"/>
                <a:ea typeface="Arial"/>
                <a:cs typeface="Arial"/>
              </a:defRPr>
            </a:lvl9pPr>
          </a:lstStyle>
          <a:p xmlns:a="http://schemas.openxmlformats.org/drawingml/2006/main">
            <a:pPr>
              <a:defRPr sz="1800" b="0">
                <a:solidFill>
                  <a:srgbClr val="52647A"/>
                </a:solidFill>
                <a:latin typeface="Arial"/>
                <a:ea typeface="Arial"/>
                <a:cs typeface="Arial"/>
              </a:defRPr>
            </a:pPr>
            <a:r>
              <a:rPr sz="1800" b="0">
                <a:solidFill>
                  <a:srgbClr val="52647A"/>
                </a:solidFill>
                <a:latin typeface="Arial"/>
                <a:ea typeface="Arial"/>
                <a:cs typeface="Arial"/>
              </a:rPr>
              <a:t>Beide PROPOSED. Ausführung erst mit eigenen Ressourcen-, Provider- und Cleanupgates.</a:t>
            </a:r>
          </a:p>
        </p:txBody>
      </p:sp>
      <p:sp>
        <p:nvSpPr>
          <p:cNvPr id="9" name="text-8">
            <a:extLst xmlns:a="http://schemas.openxmlformats.org/drawingml/2006/main">
              <a:ext uri="{FF2B5EF4-FFF2-40B4-BE49-F238E27FC236}">
                <a16:creationId xmlns:a16="http://schemas.microsoft.com/office/drawing/2014/main" id="{59291F8F-F0C7-4A4C-A6AB-206FFD0792DF}"/>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vl1pPr>
              <a:defRPr sz="1350" b="0">
                <a:solidFill>
                  <a:srgbClr val="52647A"/>
                </a:solidFill>
                <a:latin typeface="Arial"/>
                <a:ea typeface="Arial"/>
                <a:cs typeface="Arial"/>
              </a:defRPr>
            </a:lvl1pPr>
            <a:lvl2pPr>
              <a:defRPr sz="1350" b="0">
                <a:solidFill>
                  <a:srgbClr val="52647A"/>
                </a:solidFill>
                <a:latin typeface="Arial"/>
                <a:ea typeface="Arial"/>
                <a:cs typeface="Arial"/>
              </a:defRPr>
            </a:lvl2pPr>
            <a:lvl3pPr>
              <a:defRPr sz="1350" b="0">
                <a:solidFill>
                  <a:srgbClr val="52647A"/>
                </a:solidFill>
                <a:latin typeface="Arial"/>
                <a:ea typeface="Arial"/>
                <a:cs typeface="Arial"/>
              </a:defRPr>
            </a:lvl3pPr>
            <a:lvl4pPr>
              <a:defRPr sz="1350" b="0">
                <a:solidFill>
                  <a:srgbClr val="52647A"/>
                </a:solidFill>
                <a:latin typeface="Arial"/>
                <a:ea typeface="Arial"/>
                <a:cs typeface="Arial"/>
              </a:defRPr>
            </a:lvl4pPr>
            <a:lvl5pPr>
              <a:defRPr sz="1350" b="0">
                <a:solidFill>
                  <a:srgbClr val="52647A"/>
                </a:solidFill>
                <a:latin typeface="Arial"/>
                <a:ea typeface="Arial"/>
                <a:cs typeface="Arial"/>
              </a:defRPr>
            </a:lvl5pPr>
            <a:lvl6pPr>
              <a:defRPr sz="1350" b="0">
                <a:solidFill>
                  <a:srgbClr val="52647A"/>
                </a:solidFill>
                <a:latin typeface="Arial"/>
                <a:ea typeface="Arial"/>
                <a:cs typeface="Arial"/>
              </a:defRPr>
            </a:lvl6pPr>
            <a:lvl7pPr>
              <a:defRPr sz="1350" b="0">
                <a:solidFill>
                  <a:srgbClr val="52647A"/>
                </a:solidFill>
                <a:latin typeface="Arial"/>
                <a:ea typeface="Arial"/>
                <a:cs typeface="Arial"/>
              </a:defRPr>
            </a:lvl7pPr>
            <a:lvl8pPr>
              <a:defRPr sz="1350" b="0">
                <a:solidFill>
                  <a:srgbClr val="52647A"/>
                </a:solidFill>
                <a:latin typeface="Arial"/>
                <a:ea typeface="Arial"/>
                <a:cs typeface="Arial"/>
              </a:defRPr>
            </a:lvl8pPr>
            <a:lvl9pPr>
              <a:defRPr sz="1350" b="0">
                <a:solidFill>
                  <a:srgbClr val="52647A"/>
                </a:solidFill>
                <a:latin typeface="Arial"/>
                <a:ea typeface="Arial"/>
                <a:cs typeface="Arial"/>
              </a:defRPr>
            </a:lvl9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56  CUR-020</a:t>
            </a:r>
          </a:p>
        </p:txBody>
      </p:sp>
    </p:spTree>
    <p:extLst>
      <p:ext uri="{BB962C8B-B14F-4D97-AF65-F5344CB8AC3E}">
        <p14:creationId xmlns:p14="http://schemas.microsoft.com/office/powerpoint/2010/main" val="1383345464"/>
      </p:ext>
    </p:extLst>
  </p:cSld>
</p:sld>
</file>

<file path=ppt/slides/slide5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text-0">
            <a:extLst xmlns:a="http://schemas.openxmlformats.org/drawingml/2006/main">
              <a:ext uri="{FF2B5EF4-FFF2-40B4-BE49-F238E27FC236}">
                <a16:creationId xmlns:a16="http://schemas.microsoft.com/office/drawing/2014/main" id="{C6F73606-7E6E-4992-ACBA-8BE731F7D160}"/>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vl1pPr>
              <a:defRPr sz="3300" b="1">
                <a:solidFill>
                  <a:srgbClr val="15283D"/>
                </a:solidFill>
                <a:latin typeface="Arial"/>
                <a:ea typeface="Arial"/>
                <a:cs typeface="Arial"/>
              </a:defRPr>
            </a:lvl1pPr>
            <a:lvl2pPr>
              <a:defRPr sz="3300" b="1">
                <a:solidFill>
                  <a:srgbClr val="15283D"/>
                </a:solidFill>
                <a:latin typeface="Arial"/>
                <a:ea typeface="Arial"/>
                <a:cs typeface="Arial"/>
              </a:defRPr>
            </a:lvl2pPr>
            <a:lvl3pPr>
              <a:defRPr sz="3300" b="1">
                <a:solidFill>
                  <a:srgbClr val="15283D"/>
                </a:solidFill>
                <a:latin typeface="Arial"/>
                <a:ea typeface="Arial"/>
                <a:cs typeface="Arial"/>
              </a:defRPr>
            </a:lvl3pPr>
            <a:lvl4pPr>
              <a:defRPr sz="3300" b="1">
                <a:solidFill>
                  <a:srgbClr val="15283D"/>
                </a:solidFill>
                <a:latin typeface="Arial"/>
                <a:ea typeface="Arial"/>
                <a:cs typeface="Arial"/>
              </a:defRPr>
            </a:lvl4pPr>
            <a:lvl5pPr>
              <a:defRPr sz="3300" b="1">
                <a:solidFill>
                  <a:srgbClr val="15283D"/>
                </a:solidFill>
                <a:latin typeface="Arial"/>
                <a:ea typeface="Arial"/>
                <a:cs typeface="Arial"/>
              </a:defRPr>
            </a:lvl5pPr>
            <a:lvl6pPr>
              <a:defRPr sz="3300" b="1">
                <a:solidFill>
                  <a:srgbClr val="15283D"/>
                </a:solidFill>
                <a:latin typeface="Arial"/>
                <a:ea typeface="Arial"/>
                <a:cs typeface="Arial"/>
              </a:defRPr>
            </a:lvl6pPr>
            <a:lvl7pPr>
              <a:defRPr sz="3300" b="1">
                <a:solidFill>
                  <a:srgbClr val="15283D"/>
                </a:solidFill>
                <a:latin typeface="Arial"/>
                <a:ea typeface="Arial"/>
                <a:cs typeface="Arial"/>
              </a:defRPr>
            </a:lvl7pPr>
            <a:lvl8pPr>
              <a:defRPr sz="3300" b="1">
                <a:solidFill>
                  <a:srgbClr val="15283D"/>
                </a:solidFill>
                <a:latin typeface="Arial"/>
                <a:ea typeface="Arial"/>
                <a:cs typeface="Arial"/>
              </a:defRPr>
            </a:lvl8pPr>
            <a:lvl9pPr>
              <a:defRPr sz="3300" b="1">
                <a:solidFill>
                  <a:srgbClr val="15283D"/>
                </a:solidFill>
                <a:latin typeface="Arial"/>
                <a:ea typeface="Arial"/>
                <a:cs typeface="Arial"/>
              </a:defRPr>
            </a:lvl9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KI-Assistenz für SQL-Entwicklung und Analyse</a:t>
            </a:r>
          </a:p>
        </p:txBody>
      </p:sp>
      <p:sp>
        <p:nvSpPr>
          <p:cNvPr id="2" name="text-1">
            <a:extLst xmlns:a="http://schemas.openxmlformats.org/drawingml/2006/main">
              <a:ext uri="{FF2B5EF4-FFF2-40B4-BE49-F238E27FC236}">
                <a16:creationId xmlns:a16="http://schemas.microsoft.com/office/drawing/2014/main" id="{50B8F8A0-3689-42D5-BBAB-DBF42528ADA0}"/>
              </a:ext>
            </a:extLst>
          </p:cNvPr>
          <p:cNvSpPr>
            <a:spLocks xmlns:a="http://schemas.openxmlformats.org/drawingml/2006/main" noGrp="1"/>
          </p:cNvSpPr>
          <p:nvPr/>
        </p:nvSpPr>
        <p:spPr>
          <a:xfrm xmlns:a="http://schemas.openxmlformats.org/drawingml/2006/main">
            <a:off x="685800" y="177165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Entwurf</a:t>
            </a:r>
          </a:p>
        </p:txBody>
      </p:sp>
      <p:sp>
        <p:nvSpPr>
          <p:cNvPr id="3" name="text-2">
            <a:extLst xmlns:a="http://schemas.openxmlformats.org/drawingml/2006/main">
              <a:ext uri="{FF2B5EF4-FFF2-40B4-BE49-F238E27FC236}">
                <a16:creationId xmlns:a16="http://schemas.microsoft.com/office/drawing/2014/main" id="{55A2B142-7CF8-4A74-B33A-FEDB750AEE26}"/>
              </a:ext>
            </a:extLst>
          </p:cNvPr>
          <p:cNvSpPr>
            <a:spLocks xmlns:a="http://schemas.openxmlformats.org/drawingml/2006/main" noGrp="1"/>
          </p:cNvSpPr>
          <p:nvPr/>
        </p:nvSpPr>
        <p:spPr>
          <a:xfrm xmlns:a="http://schemas.openxmlformats.org/drawingml/2006/main">
            <a:off x="3190875" y="177165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SQL erklären, eine Fehlerhypothese formulieren oder einen begrenzten Änderungsvorschlag erzeugen.</a:t>
            </a:r>
          </a:p>
        </p:txBody>
      </p:sp>
      <p:sp>
        <p:nvSpPr>
          <p:cNvPr id="4" name="text-3">
            <a:extLst xmlns:a="http://schemas.openxmlformats.org/drawingml/2006/main">
              <a:ext uri="{FF2B5EF4-FFF2-40B4-BE49-F238E27FC236}">
                <a16:creationId xmlns:a16="http://schemas.microsoft.com/office/drawing/2014/main" id="{3F5D84CE-6A55-49B5-820C-EA49F88D60DA}"/>
              </a:ext>
            </a:extLst>
          </p:cNvPr>
          <p:cNvSpPr>
            <a:spLocks xmlns:a="http://schemas.openxmlformats.org/drawingml/2006/main" noGrp="1"/>
          </p:cNvSpPr>
          <p:nvPr/>
        </p:nvSpPr>
        <p:spPr>
          <a:xfrm xmlns:a="http://schemas.openxmlformats.org/drawingml/2006/main">
            <a:off x="685800" y="3057525"/>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Evidenz</a:t>
            </a:r>
          </a:p>
        </p:txBody>
      </p:sp>
      <p:sp>
        <p:nvSpPr>
          <p:cNvPr id="5" name="text-4">
            <a:extLst xmlns:a="http://schemas.openxmlformats.org/drawingml/2006/main">
              <a:ext uri="{FF2B5EF4-FFF2-40B4-BE49-F238E27FC236}">
                <a16:creationId xmlns:a16="http://schemas.microsoft.com/office/drawing/2014/main" id="{CBEDB80D-4B6B-48D9-BAFA-5E5778CD7429}"/>
              </a:ext>
            </a:extLst>
          </p:cNvPr>
          <p:cNvSpPr>
            <a:spLocks xmlns:a="http://schemas.openxmlformats.org/drawingml/2006/main" noGrp="1"/>
          </p:cNvSpPr>
          <p:nvPr/>
        </p:nvSpPr>
        <p:spPr>
          <a:xfrm xmlns:a="http://schemas.openxmlformats.org/drawingml/2006/main">
            <a:off x="3190875" y="3057525"/>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Version, Resultate, Actual Plan, Query Store, Waits und konkrete Rechte passend zum Fall prüfen.</a:t>
            </a:r>
          </a:p>
        </p:txBody>
      </p:sp>
      <p:sp>
        <p:nvSpPr>
          <p:cNvPr id="6" name="text-5">
            <a:extLst xmlns:a="http://schemas.openxmlformats.org/drawingml/2006/main">
              <a:ext uri="{FF2B5EF4-FFF2-40B4-BE49-F238E27FC236}">
                <a16:creationId xmlns:a16="http://schemas.microsoft.com/office/drawing/2014/main" id="{D7A3E2B5-B475-474F-8F31-FEE04300634E}"/>
              </a:ext>
            </a:extLst>
          </p:cNvPr>
          <p:cNvSpPr>
            <a:spLocks xmlns:a="http://schemas.openxmlformats.org/drawingml/2006/main" noGrp="1"/>
          </p:cNvSpPr>
          <p:nvPr/>
        </p:nvSpPr>
        <p:spPr>
          <a:xfrm xmlns:a="http://schemas.openxmlformats.org/drawingml/2006/main">
            <a:off x="685800" y="434340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Entscheidung</a:t>
            </a:r>
          </a:p>
        </p:txBody>
      </p:sp>
      <p:sp>
        <p:nvSpPr>
          <p:cNvPr id="7" name="text-6">
            <a:extLst xmlns:a="http://schemas.openxmlformats.org/drawingml/2006/main">
              <a:ext uri="{FF2B5EF4-FFF2-40B4-BE49-F238E27FC236}">
                <a16:creationId xmlns:a16="http://schemas.microsoft.com/office/drawing/2014/main" id="{83C7ACEA-6360-4EAB-8F99-A1FCA1F01ABB}"/>
              </a:ext>
            </a:extLst>
          </p:cNvPr>
          <p:cNvSpPr>
            <a:spLocks xmlns:a="http://schemas.openxmlformats.org/drawingml/2006/main" noGrp="1"/>
          </p:cNvSpPr>
          <p:nvPr/>
        </p:nvSpPr>
        <p:spPr>
          <a:xfrm xmlns:a="http://schemas.openxmlformats.org/drawingml/2006/main">
            <a:off x="3190875" y="434340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Hypothese mit Gegenprobe widerlegen können. Lesegewinn gegen DML-, Build- und Storagekosten abwägen.</a:t>
            </a:r>
          </a:p>
        </p:txBody>
      </p:sp>
      <p:sp>
        <p:nvSpPr>
          <p:cNvPr id="8" name="text-7">
            <a:extLst xmlns:a="http://schemas.openxmlformats.org/drawingml/2006/main">
              <a:ext uri="{FF2B5EF4-FFF2-40B4-BE49-F238E27FC236}">
                <a16:creationId xmlns:a16="http://schemas.microsoft.com/office/drawing/2014/main" id="{1EC3D485-931F-4DE5-9FDC-4E0407B2EDAB}"/>
              </a:ext>
            </a:extLst>
          </p:cNvPr>
          <p:cNvSpPr>
            <a:spLocks xmlns:a="http://schemas.openxmlformats.org/drawingml/2006/main" noGrp="1"/>
          </p:cNvSpPr>
          <p:nvPr/>
        </p:nvSpPr>
        <p:spPr>
          <a:xfrm xmlns:a="http://schemas.openxmlformats.org/drawingml/2006/main">
            <a:off x="685800" y="5876925"/>
            <a:ext cx="10553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0">
                <a:solidFill>
                  <a:srgbClr val="52647A"/>
                </a:solidFill>
                <a:latin typeface="Arial"/>
                <a:ea typeface="Arial"/>
                <a:cs typeface="Arial"/>
              </a:defRPr>
            </a:defPPr>
            <a:lvl1pPr>
              <a:defRPr sz="1800" b="0">
                <a:solidFill>
                  <a:srgbClr val="52647A"/>
                </a:solidFill>
                <a:latin typeface="Arial"/>
                <a:ea typeface="Arial"/>
                <a:cs typeface="Arial"/>
              </a:defRPr>
            </a:lvl1pPr>
            <a:lvl2pPr>
              <a:defRPr sz="1800" b="0">
                <a:solidFill>
                  <a:srgbClr val="52647A"/>
                </a:solidFill>
                <a:latin typeface="Arial"/>
                <a:ea typeface="Arial"/>
                <a:cs typeface="Arial"/>
              </a:defRPr>
            </a:lvl2pPr>
            <a:lvl3pPr>
              <a:defRPr sz="1800" b="0">
                <a:solidFill>
                  <a:srgbClr val="52647A"/>
                </a:solidFill>
                <a:latin typeface="Arial"/>
                <a:ea typeface="Arial"/>
                <a:cs typeface="Arial"/>
              </a:defRPr>
            </a:lvl3pPr>
            <a:lvl4pPr>
              <a:defRPr sz="1800" b="0">
                <a:solidFill>
                  <a:srgbClr val="52647A"/>
                </a:solidFill>
                <a:latin typeface="Arial"/>
                <a:ea typeface="Arial"/>
                <a:cs typeface="Arial"/>
              </a:defRPr>
            </a:lvl4pPr>
            <a:lvl5pPr>
              <a:defRPr sz="1800" b="0">
                <a:solidFill>
                  <a:srgbClr val="52647A"/>
                </a:solidFill>
                <a:latin typeface="Arial"/>
                <a:ea typeface="Arial"/>
                <a:cs typeface="Arial"/>
              </a:defRPr>
            </a:lvl5pPr>
            <a:lvl6pPr>
              <a:defRPr sz="1800" b="0">
                <a:solidFill>
                  <a:srgbClr val="52647A"/>
                </a:solidFill>
                <a:latin typeface="Arial"/>
                <a:ea typeface="Arial"/>
                <a:cs typeface="Arial"/>
              </a:defRPr>
            </a:lvl6pPr>
            <a:lvl7pPr>
              <a:defRPr sz="1800" b="0">
                <a:solidFill>
                  <a:srgbClr val="52647A"/>
                </a:solidFill>
                <a:latin typeface="Arial"/>
                <a:ea typeface="Arial"/>
                <a:cs typeface="Arial"/>
              </a:defRPr>
            </a:lvl7pPr>
            <a:lvl8pPr>
              <a:defRPr sz="1800" b="0">
                <a:solidFill>
                  <a:srgbClr val="52647A"/>
                </a:solidFill>
                <a:latin typeface="Arial"/>
                <a:ea typeface="Arial"/>
                <a:cs typeface="Arial"/>
              </a:defRPr>
            </a:lvl8pPr>
            <a:lvl9pPr>
              <a:defRPr sz="1800" b="0">
                <a:solidFill>
                  <a:srgbClr val="52647A"/>
                </a:solidFill>
                <a:latin typeface="Arial"/>
                <a:ea typeface="Arial"/>
                <a:cs typeface="Arial"/>
              </a:defRPr>
            </a:lvl9pPr>
          </a:lstStyle>
          <a:p xmlns:a="http://schemas.openxmlformats.org/drawingml/2006/main">
            <a:pPr>
              <a:defRPr sz="1800" b="0">
                <a:solidFill>
                  <a:srgbClr val="52647A"/>
                </a:solidFill>
                <a:latin typeface="Arial"/>
                <a:ea typeface="Arial"/>
                <a:cs typeface="Arial"/>
              </a:defRPr>
            </a:pPr>
            <a:r>
              <a:rPr sz="1800" b="0">
                <a:solidFill>
                  <a:srgbClr val="52647A"/>
                </a:solidFill>
                <a:latin typeface="Arial"/>
                <a:ea typeface="Arial"/>
                <a:cs typeface="Arial"/>
              </a:rPr>
              <a:t>LLM-Ausgabe und Missing-Index-Hinweis sind Eingaben für eine Untersuchung.</a:t>
            </a:r>
          </a:p>
        </p:txBody>
      </p:sp>
      <p:sp>
        <p:nvSpPr>
          <p:cNvPr id="9" name="text-8">
            <a:extLst xmlns:a="http://schemas.openxmlformats.org/drawingml/2006/main">
              <a:ext uri="{FF2B5EF4-FFF2-40B4-BE49-F238E27FC236}">
                <a16:creationId xmlns:a16="http://schemas.microsoft.com/office/drawing/2014/main" id="{9C9CB6B8-0FFB-4627-86C9-81C772A0D0CE}"/>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vl1pPr>
              <a:defRPr sz="1350" b="0">
                <a:solidFill>
                  <a:srgbClr val="52647A"/>
                </a:solidFill>
                <a:latin typeface="Arial"/>
                <a:ea typeface="Arial"/>
                <a:cs typeface="Arial"/>
              </a:defRPr>
            </a:lvl1pPr>
            <a:lvl2pPr>
              <a:defRPr sz="1350" b="0">
                <a:solidFill>
                  <a:srgbClr val="52647A"/>
                </a:solidFill>
                <a:latin typeface="Arial"/>
                <a:ea typeface="Arial"/>
                <a:cs typeface="Arial"/>
              </a:defRPr>
            </a:lvl2pPr>
            <a:lvl3pPr>
              <a:defRPr sz="1350" b="0">
                <a:solidFill>
                  <a:srgbClr val="52647A"/>
                </a:solidFill>
                <a:latin typeface="Arial"/>
                <a:ea typeface="Arial"/>
                <a:cs typeface="Arial"/>
              </a:defRPr>
            </a:lvl3pPr>
            <a:lvl4pPr>
              <a:defRPr sz="1350" b="0">
                <a:solidFill>
                  <a:srgbClr val="52647A"/>
                </a:solidFill>
                <a:latin typeface="Arial"/>
                <a:ea typeface="Arial"/>
                <a:cs typeface="Arial"/>
              </a:defRPr>
            </a:lvl4pPr>
            <a:lvl5pPr>
              <a:defRPr sz="1350" b="0">
                <a:solidFill>
                  <a:srgbClr val="52647A"/>
                </a:solidFill>
                <a:latin typeface="Arial"/>
                <a:ea typeface="Arial"/>
                <a:cs typeface="Arial"/>
              </a:defRPr>
            </a:lvl5pPr>
            <a:lvl6pPr>
              <a:defRPr sz="1350" b="0">
                <a:solidFill>
                  <a:srgbClr val="52647A"/>
                </a:solidFill>
                <a:latin typeface="Arial"/>
                <a:ea typeface="Arial"/>
                <a:cs typeface="Arial"/>
              </a:defRPr>
            </a:lvl6pPr>
            <a:lvl7pPr>
              <a:defRPr sz="1350" b="0">
                <a:solidFill>
                  <a:srgbClr val="52647A"/>
                </a:solidFill>
                <a:latin typeface="Arial"/>
                <a:ea typeface="Arial"/>
                <a:cs typeface="Arial"/>
              </a:defRPr>
            </a:lvl7pPr>
            <a:lvl8pPr>
              <a:defRPr sz="1350" b="0">
                <a:solidFill>
                  <a:srgbClr val="52647A"/>
                </a:solidFill>
                <a:latin typeface="Arial"/>
                <a:ea typeface="Arial"/>
                <a:cs typeface="Arial"/>
              </a:defRPr>
            </a:lvl8pPr>
            <a:lvl9pPr>
              <a:defRPr sz="1350" b="0">
                <a:solidFill>
                  <a:srgbClr val="52647A"/>
                </a:solidFill>
                <a:latin typeface="Arial"/>
                <a:ea typeface="Arial"/>
                <a:cs typeface="Arial"/>
              </a:defRPr>
            </a:lvl9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57  CUR-021</a:t>
            </a:r>
          </a:p>
        </p:txBody>
      </p:sp>
    </p:spTree>
    <p:extLst>
      <p:ext uri="{BB962C8B-B14F-4D97-AF65-F5344CB8AC3E}">
        <p14:creationId xmlns:p14="http://schemas.microsoft.com/office/powerpoint/2010/main" val="1109276252"/>
      </p:ext>
    </p:extLst>
  </p:cSld>
</p:sld>
</file>

<file path=ppt/slides/slide5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text-0">
            <a:extLst xmlns:a="http://schemas.openxmlformats.org/drawingml/2006/main">
              <a:ext uri="{FF2B5EF4-FFF2-40B4-BE49-F238E27FC236}">
                <a16:creationId xmlns:a16="http://schemas.microsoft.com/office/drawing/2014/main" id="{A25511A3-8073-4B3C-B478-F7BCF5102627}"/>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vl1pPr>
              <a:defRPr sz="3300" b="1">
                <a:solidFill>
                  <a:srgbClr val="15283D"/>
                </a:solidFill>
                <a:latin typeface="Arial"/>
                <a:ea typeface="Arial"/>
                <a:cs typeface="Arial"/>
              </a:defRPr>
            </a:lvl1pPr>
            <a:lvl2pPr>
              <a:defRPr sz="3300" b="1">
                <a:solidFill>
                  <a:srgbClr val="15283D"/>
                </a:solidFill>
                <a:latin typeface="Arial"/>
                <a:ea typeface="Arial"/>
                <a:cs typeface="Arial"/>
              </a:defRPr>
            </a:lvl2pPr>
            <a:lvl3pPr>
              <a:defRPr sz="3300" b="1">
                <a:solidFill>
                  <a:srgbClr val="15283D"/>
                </a:solidFill>
                <a:latin typeface="Arial"/>
                <a:ea typeface="Arial"/>
                <a:cs typeface="Arial"/>
              </a:defRPr>
            </a:lvl3pPr>
            <a:lvl4pPr>
              <a:defRPr sz="3300" b="1">
                <a:solidFill>
                  <a:srgbClr val="15283D"/>
                </a:solidFill>
                <a:latin typeface="Arial"/>
                <a:ea typeface="Arial"/>
                <a:cs typeface="Arial"/>
              </a:defRPr>
            </a:lvl4pPr>
            <a:lvl5pPr>
              <a:defRPr sz="3300" b="1">
                <a:solidFill>
                  <a:srgbClr val="15283D"/>
                </a:solidFill>
                <a:latin typeface="Arial"/>
                <a:ea typeface="Arial"/>
                <a:cs typeface="Arial"/>
              </a:defRPr>
            </a:lvl5pPr>
            <a:lvl6pPr>
              <a:defRPr sz="3300" b="1">
                <a:solidFill>
                  <a:srgbClr val="15283D"/>
                </a:solidFill>
                <a:latin typeface="Arial"/>
                <a:ea typeface="Arial"/>
                <a:cs typeface="Arial"/>
              </a:defRPr>
            </a:lvl6pPr>
            <a:lvl7pPr>
              <a:defRPr sz="3300" b="1">
                <a:solidFill>
                  <a:srgbClr val="15283D"/>
                </a:solidFill>
                <a:latin typeface="Arial"/>
                <a:ea typeface="Arial"/>
                <a:cs typeface="Arial"/>
              </a:defRPr>
            </a:lvl7pPr>
            <a:lvl8pPr>
              <a:defRPr sz="3300" b="1">
                <a:solidFill>
                  <a:srgbClr val="15283D"/>
                </a:solidFill>
                <a:latin typeface="Arial"/>
                <a:ea typeface="Arial"/>
                <a:cs typeface="Arial"/>
              </a:defRPr>
            </a:lvl8pPr>
            <a:lvl9pPr>
              <a:defRPr sz="3300" b="1">
                <a:solidFill>
                  <a:srgbClr val="15283D"/>
                </a:solidFill>
                <a:latin typeface="Arial"/>
                <a:ea typeface="Arial"/>
                <a:cs typeface="Arial"/>
              </a:defRPr>
            </a:lvl9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DGN-010: Indexvorschlag und Gegenmessung</a:t>
            </a:r>
          </a:p>
        </p:txBody>
      </p:sp>
      <p:sp>
        <p:nvSpPr>
          <p:cNvPr id="2" name="text-1">
            <a:extLst xmlns:a="http://schemas.openxmlformats.org/drawingml/2006/main">
              <a:ext uri="{FF2B5EF4-FFF2-40B4-BE49-F238E27FC236}">
                <a16:creationId xmlns:a16="http://schemas.microsoft.com/office/drawing/2014/main" id="{C334B68F-51EF-4B3A-B3A4-A21829620448}"/>
              </a:ext>
            </a:extLst>
          </p:cNvPr>
          <p:cNvSpPr>
            <a:spLocks xmlns:a="http://schemas.openxmlformats.org/drawingml/2006/main" noGrp="1"/>
          </p:cNvSpPr>
          <p:nvPr/>
        </p:nvSpPr>
        <p:spPr>
          <a:xfrm xmlns:a="http://schemas.openxmlformats.org/drawingml/2006/main">
            <a:off x="685800" y="177165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Hypothese</a:t>
            </a:r>
          </a:p>
        </p:txBody>
      </p:sp>
      <p:sp>
        <p:nvSpPr>
          <p:cNvPr id="3" name="text-2">
            <a:extLst xmlns:a="http://schemas.openxmlformats.org/drawingml/2006/main">
              <a:ext uri="{FF2B5EF4-FFF2-40B4-BE49-F238E27FC236}">
                <a16:creationId xmlns:a16="http://schemas.microsoft.com/office/drawing/2014/main" id="{7854640D-CBEF-44B6-AF50-90C52A963553}"/>
              </a:ext>
            </a:extLst>
          </p:cNvPr>
          <p:cNvSpPr>
            <a:spLocks xmlns:a="http://schemas.openxmlformats.org/drawingml/2006/main" noGrp="1"/>
          </p:cNvSpPr>
          <p:nvPr/>
        </p:nvSpPr>
        <p:spPr>
          <a:xfrm xmlns:a="http://schemas.openxmlformats.org/drawingml/2006/main">
            <a:off x="3190875" y="177165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Ein synthetischer LLM-Vorschlag ergänzt einen INCLUDE-Index. Ein Lesegewinn muss erst belegt werden.</a:t>
            </a:r>
          </a:p>
        </p:txBody>
      </p:sp>
      <p:sp>
        <p:nvSpPr>
          <p:cNvPr id="4" name="text-3">
            <a:extLst xmlns:a="http://schemas.openxmlformats.org/drawingml/2006/main">
              <a:ext uri="{FF2B5EF4-FFF2-40B4-BE49-F238E27FC236}">
                <a16:creationId xmlns:a16="http://schemas.microsoft.com/office/drawing/2014/main" id="{15116141-F758-4874-8762-0EBE39402434}"/>
              </a:ext>
            </a:extLst>
          </p:cNvPr>
          <p:cNvSpPr>
            <a:spLocks xmlns:a="http://schemas.openxmlformats.org/drawingml/2006/main" noGrp="1"/>
          </p:cNvSpPr>
          <p:nvPr/>
        </p:nvSpPr>
        <p:spPr>
          <a:xfrm xmlns:a="http://schemas.openxmlformats.org/drawingml/2006/main">
            <a:off x="685800" y="3057525"/>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Vorliegende Evidenz</a:t>
            </a:r>
          </a:p>
        </p:txBody>
      </p:sp>
      <p:sp>
        <p:nvSpPr>
          <p:cNvPr id="5" name="text-4">
            <a:extLst xmlns:a="http://schemas.openxmlformats.org/drawingml/2006/main">
              <a:ext uri="{FF2B5EF4-FFF2-40B4-BE49-F238E27FC236}">
                <a16:creationId xmlns:a16="http://schemas.microsoft.com/office/drawing/2014/main" id="{C717D755-9852-4360-89B2-545DF31E30BB}"/>
              </a:ext>
            </a:extLst>
          </p:cNvPr>
          <p:cNvSpPr>
            <a:spLocks xmlns:a="http://schemas.openxmlformats.org/drawingml/2006/main" noGrp="1"/>
          </p:cNvSpPr>
          <p:nvPr/>
        </p:nvSpPr>
        <p:spPr>
          <a:xfrm xmlns:a="http://schemas.openxmlformats.org/drawingml/2006/main">
            <a:off x="3190875" y="3057525"/>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Gleiche Results, zwei private Original-Readerplanprofile, einzelne Reader-Indexnutzung und Owner-INSERT/Rollback.</a:t>
            </a:r>
          </a:p>
        </p:txBody>
      </p:sp>
      <p:sp>
        <p:nvSpPr>
          <p:cNvPr id="6" name="text-5">
            <a:extLst xmlns:a="http://schemas.openxmlformats.org/drawingml/2006/main">
              <a:ext uri="{FF2B5EF4-FFF2-40B4-BE49-F238E27FC236}">
                <a16:creationId xmlns:a16="http://schemas.microsoft.com/office/drawing/2014/main" id="{D6E35C78-C391-49F7-BA1A-FB6038A2EE47}"/>
              </a:ext>
            </a:extLst>
          </p:cNvPr>
          <p:cNvSpPr>
            <a:spLocks xmlns:a="http://schemas.openxmlformats.org/drawingml/2006/main" noGrp="1"/>
          </p:cNvSpPr>
          <p:nvPr/>
        </p:nvSpPr>
        <p:spPr>
          <a:xfrm xmlns:a="http://schemas.openxmlformats.org/drawingml/2006/main">
            <a:off x="685800" y="434340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Offene Entscheidung</a:t>
            </a:r>
          </a:p>
        </p:txBody>
      </p:sp>
      <p:sp>
        <p:nvSpPr>
          <p:cNvPr id="7" name="text-6">
            <a:extLst xmlns:a="http://schemas.openxmlformats.org/drawingml/2006/main">
              <a:ext uri="{FF2B5EF4-FFF2-40B4-BE49-F238E27FC236}">
                <a16:creationId xmlns:a16="http://schemas.microsoft.com/office/drawing/2014/main" id="{149CD924-1C44-46ED-B214-579A3F393188}"/>
              </a:ext>
            </a:extLst>
          </p:cNvPr>
          <p:cNvSpPr>
            <a:spLocks xmlns:a="http://schemas.openxmlformats.org/drawingml/2006/main" noGrp="1"/>
          </p:cNvSpPr>
          <p:nvPr/>
        </p:nvSpPr>
        <p:spPr>
          <a:xfrm xmlns:a="http://schemas.openxmlformats.org/drawingml/2006/main">
            <a:off x="3190875" y="434340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Vollständige Runtime-/TP-PERF-Abnahme und Indexnettonutzen bleiben NOT_ESTABLISHED.</a:t>
            </a:r>
          </a:p>
        </p:txBody>
      </p:sp>
      <p:sp>
        <p:nvSpPr>
          <p:cNvPr id="8" name="text-7">
            <a:extLst xmlns:a="http://schemas.openxmlformats.org/drawingml/2006/main">
              <a:ext uri="{FF2B5EF4-FFF2-40B4-BE49-F238E27FC236}">
                <a16:creationId xmlns:a16="http://schemas.microsoft.com/office/drawing/2014/main" id="{97E8382F-4E38-4C69-B21D-5A78B508E5AB}"/>
              </a:ext>
            </a:extLst>
          </p:cNvPr>
          <p:cNvSpPr>
            <a:spLocks xmlns:a="http://schemas.openxmlformats.org/drawingml/2006/main" noGrp="1"/>
          </p:cNvSpPr>
          <p:nvPr/>
        </p:nvSpPr>
        <p:spPr>
          <a:xfrm xmlns:a="http://schemas.openxmlformats.org/drawingml/2006/main">
            <a:off x="685800" y="5876925"/>
            <a:ext cx="10553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0">
                <a:solidFill>
                  <a:srgbClr val="52647A"/>
                </a:solidFill>
                <a:latin typeface="Arial"/>
                <a:ea typeface="Arial"/>
                <a:cs typeface="Arial"/>
              </a:defRPr>
            </a:defPPr>
            <a:lvl1pPr>
              <a:defRPr sz="1800" b="0">
                <a:solidFill>
                  <a:srgbClr val="52647A"/>
                </a:solidFill>
                <a:latin typeface="Arial"/>
                <a:ea typeface="Arial"/>
                <a:cs typeface="Arial"/>
              </a:defRPr>
            </a:lvl1pPr>
            <a:lvl2pPr>
              <a:defRPr sz="1800" b="0">
                <a:solidFill>
                  <a:srgbClr val="52647A"/>
                </a:solidFill>
                <a:latin typeface="Arial"/>
                <a:ea typeface="Arial"/>
                <a:cs typeface="Arial"/>
              </a:defRPr>
            </a:lvl2pPr>
            <a:lvl3pPr>
              <a:defRPr sz="1800" b="0">
                <a:solidFill>
                  <a:srgbClr val="52647A"/>
                </a:solidFill>
                <a:latin typeface="Arial"/>
                <a:ea typeface="Arial"/>
                <a:cs typeface="Arial"/>
              </a:defRPr>
            </a:lvl3pPr>
            <a:lvl4pPr>
              <a:defRPr sz="1800" b="0">
                <a:solidFill>
                  <a:srgbClr val="52647A"/>
                </a:solidFill>
                <a:latin typeface="Arial"/>
                <a:ea typeface="Arial"/>
                <a:cs typeface="Arial"/>
              </a:defRPr>
            </a:lvl4pPr>
            <a:lvl5pPr>
              <a:defRPr sz="1800" b="0">
                <a:solidFill>
                  <a:srgbClr val="52647A"/>
                </a:solidFill>
                <a:latin typeface="Arial"/>
                <a:ea typeface="Arial"/>
                <a:cs typeface="Arial"/>
              </a:defRPr>
            </a:lvl5pPr>
            <a:lvl6pPr>
              <a:defRPr sz="1800" b="0">
                <a:solidFill>
                  <a:srgbClr val="52647A"/>
                </a:solidFill>
                <a:latin typeface="Arial"/>
                <a:ea typeface="Arial"/>
                <a:cs typeface="Arial"/>
              </a:defRPr>
            </a:lvl6pPr>
            <a:lvl7pPr>
              <a:defRPr sz="1800" b="0">
                <a:solidFill>
                  <a:srgbClr val="52647A"/>
                </a:solidFill>
                <a:latin typeface="Arial"/>
                <a:ea typeface="Arial"/>
                <a:cs typeface="Arial"/>
              </a:defRPr>
            </a:lvl7pPr>
            <a:lvl8pPr>
              <a:defRPr sz="1800" b="0">
                <a:solidFill>
                  <a:srgbClr val="52647A"/>
                </a:solidFill>
                <a:latin typeface="Arial"/>
                <a:ea typeface="Arial"/>
                <a:cs typeface="Arial"/>
              </a:defRPr>
            </a:lvl8pPr>
            <a:lvl9pPr>
              <a:defRPr sz="1800" b="0">
                <a:solidFill>
                  <a:srgbClr val="52647A"/>
                </a:solidFill>
                <a:latin typeface="Arial"/>
                <a:ea typeface="Arial"/>
                <a:cs typeface="Arial"/>
              </a:defRPr>
            </a:lvl9pPr>
          </a:lstStyle>
          <a:p xmlns:a="http://schemas.openxmlformats.org/drawingml/2006/main">
            <a:pPr>
              <a:defRPr sz="1800" b="0">
                <a:solidFill>
                  <a:srgbClr val="52647A"/>
                </a:solidFill>
                <a:latin typeface="Arial"/>
                <a:ea typeface="Arial"/>
                <a:cs typeface="Arial"/>
              </a:defRPr>
            </a:pPr>
            <a:r>
              <a:rPr sz="1800" b="0">
                <a:solidFill>
                  <a:srgbClr val="52647A"/>
                </a:solidFill>
                <a:latin typeface="Arial"/>
                <a:ea typeface="Arial"/>
                <a:cs typeface="Arial"/>
              </a:rPr>
              <a:t>PROPOSED. Öffentliche Producer bleiben WARN. Begrenzte Teilbelege ergeben keine volle TP-PERF-Abnahme.</a:t>
            </a:r>
          </a:p>
        </p:txBody>
      </p:sp>
      <p:sp>
        <p:nvSpPr>
          <p:cNvPr id="9" name="text-8">
            <a:extLst xmlns:a="http://schemas.openxmlformats.org/drawingml/2006/main">
              <a:ext uri="{FF2B5EF4-FFF2-40B4-BE49-F238E27FC236}">
                <a16:creationId xmlns:a16="http://schemas.microsoft.com/office/drawing/2014/main" id="{B546E369-33E7-45C5-A31C-6856475B58CE}"/>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vl1pPr>
              <a:defRPr sz="1350" b="0">
                <a:solidFill>
                  <a:srgbClr val="52647A"/>
                </a:solidFill>
                <a:latin typeface="Arial"/>
                <a:ea typeface="Arial"/>
                <a:cs typeface="Arial"/>
              </a:defRPr>
            </a:lvl1pPr>
            <a:lvl2pPr>
              <a:defRPr sz="1350" b="0">
                <a:solidFill>
                  <a:srgbClr val="52647A"/>
                </a:solidFill>
                <a:latin typeface="Arial"/>
                <a:ea typeface="Arial"/>
                <a:cs typeface="Arial"/>
              </a:defRPr>
            </a:lvl2pPr>
            <a:lvl3pPr>
              <a:defRPr sz="1350" b="0">
                <a:solidFill>
                  <a:srgbClr val="52647A"/>
                </a:solidFill>
                <a:latin typeface="Arial"/>
                <a:ea typeface="Arial"/>
                <a:cs typeface="Arial"/>
              </a:defRPr>
            </a:lvl3pPr>
            <a:lvl4pPr>
              <a:defRPr sz="1350" b="0">
                <a:solidFill>
                  <a:srgbClr val="52647A"/>
                </a:solidFill>
                <a:latin typeface="Arial"/>
                <a:ea typeface="Arial"/>
                <a:cs typeface="Arial"/>
              </a:defRPr>
            </a:lvl4pPr>
            <a:lvl5pPr>
              <a:defRPr sz="1350" b="0">
                <a:solidFill>
                  <a:srgbClr val="52647A"/>
                </a:solidFill>
                <a:latin typeface="Arial"/>
                <a:ea typeface="Arial"/>
                <a:cs typeface="Arial"/>
              </a:defRPr>
            </a:lvl5pPr>
            <a:lvl6pPr>
              <a:defRPr sz="1350" b="0">
                <a:solidFill>
                  <a:srgbClr val="52647A"/>
                </a:solidFill>
                <a:latin typeface="Arial"/>
                <a:ea typeface="Arial"/>
                <a:cs typeface="Arial"/>
              </a:defRPr>
            </a:lvl6pPr>
            <a:lvl7pPr>
              <a:defRPr sz="1350" b="0">
                <a:solidFill>
                  <a:srgbClr val="52647A"/>
                </a:solidFill>
                <a:latin typeface="Arial"/>
                <a:ea typeface="Arial"/>
                <a:cs typeface="Arial"/>
              </a:defRPr>
            </a:lvl7pPr>
            <a:lvl8pPr>
              <a:defRPr sz="1350" b="0">
                <a:solidFill>
                  <a:srgbClr val="52647A"/>
                </a:solidFill>
                <a:latin typeface="Arial"/>
                <a:ea typeface="Arial"/>
                <a:cs typeface="Arial"/>
              </a:defRPr>
            </a:lvl8pPr>
            <a:lvl9pPr>
              <a:defRPr sz="1350" b="0">
                <a:solidFill>
                  <a:srgbClr val="52647A"/>
                </a:solidFill>
                <a:latin typeface="Arial"/>
                <a:ea typeface="Arial"/>
                <a:cs typeface="Arial"/>
              </a:defRPr>
            </a:lvl9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58  CUR-021</a:t>
            </a:r>
          </a:p>
        </p:txBody>
      </p:sp>
    </p:spTree>
    <p:extLst>
      <p:ext uri="{BB962C8B-B14F-4D97-AF65-F5344CB8AC3E}">
        <p14:creationId xmlns:p14="http://schemas.microsoft.com/office/powerpoint/2010/main" val="1979740107"/>
      </p:ext>
    </p:extLst>
  </p:cSld>
</p:sld>
</file>

<file path=ppt/slides/slide5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text-0">
            <a:extLst xmlns:a="http://schemas.openxmlformats.org/drawingml/2006/main">
              <a:ext uri="{FF2B5EF4-FFF2-40B4-BE49-F238E27FC236}">
                <a16:creationId xmlns:a16="http://schemas.microsoft.com/office/drawing/2014/main" id="{62485656-73DC-488A-8E21-BF8B82BED031}"/>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vl1pPr>
              <a:defRPr sz="3300" b="1">
                <a:solidFill>
                  <a:srgbClr val="15283D"/>
                </a:solidFill>
                <a:latin typeface="Arial"/>
                <a:ea typeface="Arial"/>
                <a:cs typeface="Arial"/>
              </a:defRPr>
            </a:lvl1pPr>
            <a:lvl2pPr>
              <a:defRPr sz="3300" b="1">
                <a:solidFill>
                  <a:srgbClr val="15283D"/>
                </a:solidFill>
                <a:latin typeface="Arial"/>
                <a:ea typeface="Arial"/>
                <a:cs typeface="Arial"/>
              </a:defRPr>
            </a:lvl2pPr>
            <a:lvl3pPr>
              <a:defRPr sz="3300" b="1">
                <a:solidFill>
                  <a:srgbClr val="15283D"/>
                </a:solidFill>
                <a:latin typeface="Arial"/>
                <a:ea typeface="Arial"/>
                <a:cs typeface="Arial"/>
              </a:defRPr>
            </a:lvl3pPr>
            <a:lvl4pPr>
              <a:defRPr sz="3300" b="1">
                <a:solidFill>
                  <a:srgbClr val="15283D"/>
                </a:solidFill>
                <a:latin typeface="Arial"/>
                <a:ea typeface="Arial"/>
                <a:cs typeface="Arial"/>
              </a:defRPr>
            </a:lvl4pPr>
            <a:lvl5pPr>
              <a:defRPr sz="3300" b="1">
                <a:solidFill>
                  <a:srgbClr val="15283D"/>
                </a:solidFill>
                <a:latin typeface="Arial"/>
                <a:ea typeface="Arial"/>
                <a:cs typeface="Arial"/>
              </a:defRPr>
            </a:lvl5pPr>
            <a:lvl6pPr>
              <a:defRPr sz="3300" b="1">
                <a:solidFill>
                  <a:srgbClr val="15283D"/>
                </a:solidFill>
                <a:latin typeface="Arial"/>
                <a:ea typeface="Arial"/>
                <a:cs typeface="Arial"/>
              </a:defRPr>
            </a:lvl6pPr>
            <a:lvl7pPr>
              <a:defRPr sz="3300" b="1">
                <a:solidFill>
                  <a:srgbClr val="15283D"/>
                </a:solidFill>
                <a:latin typeface="Arial"/>
                <a:ea typeface="Arial"/>
                <a:cs typeface="Arial"/>
              </a:defRPr>
            </a:lvl7pPr>
            <a:lvl8pPr>
              <a:defRPr sz="3300" b="1">
                <a:solidFill>
                  <a:srgbClr val="15283D"/>
                </a:solidFill>
                <a:latin typeface="Arial"/>
                <a:ea typeface="Arial"/>
                <a:cs typeface="Arial"/>
              </a:defRPr>
            </a:lvl8pPr>
            <a:lvl9pPr>
              <a:defRPr sz="3300" b="1">
                <a:solidFill>
                  <a:srgbClr val="15283D"/>
                </a:solidFill>
                <a:latin typeface="Arial"/>
                <a:ea typeface="Arial"/>
                <a:cs typeface="Arial"/>
              </a:defRPr>
            </a:lvl9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Copilot im SQL Server Management Studio</a:t>
            </a:r>
          </a:p>
        </p:txBody>
      </p:sp>
      <p:sp>
        <p:nvSpPr>
          <p:cNvPr id="2" name="text-1">
            <a:extLst xmlns:a="http://schemas.openxmlformats.org/drawingml/2006/main">
              <a:ext uri="{FF2B5EF4-FFF2-40B4-BE49-F238E27FC236}">
                <a16:creationId xmlns:a16="http://schemas.microsoft.com/office/drawing/2014/main" id="{EA306AB6-D546-4B29-BCAF-647773B18A66}"/>
              </a:ext>
            </a:extLst>
          </p:cNvPr>
          <p:cNvSpPr>
            <a:spLocks xmlns:a="http://schemas.openxmlformats.org/drawingml/2006/main" noGrp="1"/>
          </p:cNvSpPr>
          <p:nvPr/>
        </p:nvSpPr>
        <p:spPr>
          <a:xfrm xmlns:a="http://schemas.openxmlformats.org/drawingml/2006/main">
            <a:off x="685800" y="177165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Clientfunktion</a:t>
            </a:r>
          </a:p>
        </p:txBody>
      </p:sp>
      <p:sp>
        <p:nvSpPr>
          <p:cNvPr id="3" name="text-2">
            <a:extLst xmlns:a="http://schemas.openxmlformats.org/drawingml/2006/main">
              <a:ext uri="{FF2B5EF4-FFF2-40B4-BE49-F238E27FC236}">
                <a16:creationId xmlns:a16="http://schemas.microsoft.com/office/drawing/2014/main" id="{F5384755-ABB7-4D15-94EA-1F716E9FA319}"/>
              </a:ext>
            </a:extLst>
          </p:cNvPr>
          <p:cNvSpPr>
            <a:spLocks xmlns:a="http://schemas.openxmlformats.org/drawingml/2006/main" noGrp="1"/>
          </p:cNvSpPr>
          <p:nvPr/>
        </p:nvSpPr>
        <p:spPr>
          <a:xfrm xmlns:a="http://schemas.openxmlformats.org/drawingml/2006/main">
            <a:off x="3190875" y="177165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GitHub Copilot in SSMS gehört zum Client. Er erweitert keine Engineversion um native Vektorfunktionen.</a:t>
            </a:r>
          </a:p>
        </p:txBody>
      </p:sp>
      <p:sp>
        <p:nvSpPr>
          <p:cNvPr id="4" name="text-3">
            <a:extLst xmlns:a="http://schemas.openxmlformats.org/drawingml/2006/main">
              <a:ext uri="{FF2B5EF4-FFF2-40B4-BE49-F238E27FC236}">
                <a16:creationId xmlns:a16="http://schemas.microsoft.com/office/drawing/2014/main" id="{1C4DDF24-B249-4F99-974F-077F941C6DC3}"/>
              </a:ext>
            </a:extLst>
          </p:cNvPr>
          <p:cNvSpPr>
            <a:spLocks xmlns:a="http://schemas.openxmlformats.org/drawingml/2006/main" noGrp="1"/>
          </p:cNvSpPr>
          <p:nvPr/>
        </p:nvSpPr>
        <p:spPr>
          <a:xfrm xmlns:a="http://schemas.openxmlformats.org/drawingml/2006/main">
            <a:off x="685800" y="3057525"/>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Rechte</a:t>
            </a:r>
          </a:p>
        </p:txBody>
      </p:sp>
      <p:sp>
        <p:nvSpPr>
          <p:cNvPr id="5" name="text-4">
            <a:extLst xmlns:a="http://schemas.openxmlformats.org/drawingml/2006/main">
              <a:ext uri="{FF2B5EF4-FFF2-40B4-BE49-F238E27FC236}">
                <a16:creationId xmlns:a16="http://schemas.microsoft.com/office/drawing/2014/main" id="{C09B3EEE-D6BF-496A-A530-785883AB0873}"/>
              </a:ext>
            </a:extLst>
          </p:cNvPr>
          <p:cNvSpPr>
            <a:spLocks xmlns:a="http://schemas.openxmlformats.org/drawingml/2006/main" noGrp="1"/>
          </p:cNvSpPr>
          <p:nvPr/>
        </p:nvSpPr>
        <p:spPr>
          <a:xfrm xmlns:a="http://schemas.openxmlformats.org/drawingml/2006/main">
            <a:off x="3190875" y="3057525"/>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SQL Server erzwingt die Rechte des tatsächlichen Ausführungskontexts. Approval ersetzt diese Grenze nicht.</a:t>
            </a:r>
          </a:p>
        </p:txBody>
      </p:sp>
      <p:sp>
        <p:nvSpPr>
          <p:cNvPr id="6" name="text-5">
            <a:extLst xmlns:a="http://schemas.openxmlformats.org/drawingml/2006/main">
              <a:ext uri="{FF2B5EF4-FFF2-40B4-BE49-F238E27FC236}">
                <a16:creationId xmlns:a16="http://schemas.microsoft.com/office/drawing/2014/main" id="{9ED7AEB1-8571-45C5-A4C9-DDCC8EC198C0}"/>
              </a:ext>
            </a:extLst>
          </p:cNvPr>
          <p:cNvSpPr>
            <a:spLocks xmlns:a="http://schemas.openxmlformats.org/drawingml/2006/main" noGrp="1"/>
          </p:cNvSpPr>
          <p:nvPr/>
        </p:nvSpPr>
        <p:spPr>
          <a:xfrm xmlns:a="http://schemas.openxmlformats.org/drawingml/2006/main">
            <a:off x="685800" y="434340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Betrieb</a:t>
            </a:r>
          </a:p>
        </p:txBody>
      </p:sp>
      <p:sp>
        <p:nvSpPr>
          <p:cNvPr id="7" name="text-6">
            <a:extLst xmlns:a="http://schemas.openxmlformats.org/drawingml/2006/main">
              <a:ext uri="{FF2B5EF4-FFF2-40B4-BE49-F238E27FC236}">
                <a16:creationId xmlns:a16="http://schemas.microsoft.com/office/drawing/2014/main" id="{F566AFCF-56D9-464A-88D5-9AA6B48EAC31}"/>
              </a:ext>
            </a:extLst>
          </p:cNvPr>
          <p:cNvSpPr>
            <a:spLocks xmlns:a="http://schemas.openxmlformats.org/drawingml/2006/main" noGrp="1"/>
          </p:cNvSpPr>
          <p:nvPr/>
        </p:nvSpPr>
        <p:spPr>
          <a:xfrm xmlns:a="http://schemas.openxmlformats.org/drawingml/2006/main">
            <a:off x="3190875" y="434340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Clientbuild, Administrationspolicy, Datenübertragung und Zugang vor einer Liveübung prüfen.</a:t>
            </a:r>
          </a:p>
        </p:txBody>
      </p:sp>
      <p:sp>
        <p:nvSpPr>
          <p:cNvPr id="8" name="text-7">
            <a:extLst xmlns:a="http://schemas.openxmlformats.org/drawingml/2006/main">
              <a:ext uri="{FF2B5EF4-FFF2-40B4-BE49-F238E27FC236}">
                <a16:creationId xmlns:a16="http://schemas.microsoft.com/office/drawing/2014/main" id="{DC5E7130-3B93-4500-9DFD-B688EFED9C0F}"/>
              </a:ext>
            </a:extLst>
          </p:cNvPr>
          <p:cNvSpPr>
            <a:spLocks xmlns:a="http://schemas.openxmlformats.org/drawingml/2006/main" noGrp="1"/>
          </p:cNvSpPr>
          <p:nvPr/>
        </p:nvSpPr>
        <p:spPr>
          <a:xfrm xmlns:a="http://schemas.openxmlformats.org/drawingml/2006/main">
            <a:off x="685800" y="5876925"/>
            <a:ext cx="10553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0">
                <a:solidFill>
                  <a:srgbClr val="52647A"/>
                </a:solidFill>
                <a:latin typeface="Arial"/>
                <a:ea typeface="Arial"/>
                <a:cs typeface="Arial"/>
              </a:defRPr>
            </a:defPPr>
            <a:lvl1pPr>
              <a:defRPr sz="1800" b="0">
                <a:solidFill>
                  <a:srgbClr val="52647A"/>
                </a:solidFill>
                <a:latin typeface="Arial"/>
                <a:ea typeface="Arial"/>
                <a:cs typeface="Arial"/>
              </a:defRPr>
            </a:lvl1pPr>
            <a:lvl2pPr>
              <a:defRPr sz="1800" b="0">
                <a:solidFill>
                  <a:srgbClr val="52647A"/>
                </a:solidFill>
                <a:latin typeface="Arial"/>
                <a:ea typeface="Arial"/>
                <a:cs typeface="Arial"/>
              </a:defRPr>
            </a:lvl2pPr>
            <a:lvl3pPr>
              <a:defRPr sz="1800" b="0">
                <a:solidFill>
                  <a:srgbClr val="52647A"/>
                </a:solidFill>
                <a:latin typeface="Arial"/>
                <a:ea typeface="Arial"/>
                <a:cs typeface="Arial"/>
              </a:defRPr>
            </a:lvl3pPr>
            <a:lvl4pPr>
              <a:defRPr sz="1800" b="0">
                <a:solidFill>
                  <a:srgbClr val="52647A"/>
                </a:solidFill>
                <a:latin typeface="Arial"/>
                <a:ea typeface="Arial"/>
                <a:cs typeface="Arial"/>
              </a:defRPr>
            </a:lvl4pPr>
            <a:lvl5pPr>
              <a:defRPr sz="1800" b="0">
                <a:solidFill>
                  <a:srgbClr val="52647A"/>
                </a:solidFill>
                <a:latin typeface="Arial"/>
                <a:ea typeface="Arial"/>
                <a:cs typeface="Arial"/>
              </a:defRPr>
            </a:lvl5pPr>
            <a:lvl6pPr>
              <a:defRPr sz="1800" b="0">
                <a:solidFill>
                  <a:srgbClr val="52647A"/>
                </a:solidFill>
                <a:latin typeface="Arial"/>
                <a:ea typeface="Arial"/>
                <a:cs typeface="Arial"/>
              </a:defRPr>
            </a:lvl6pPr>
            <a:lvl7pPr>
              <a:defRPr sz="1800" b="0">
                <a:solidFill>
                  <a:srgbClr val="52647A"/>
                </a:solidFill>
                <a:latin typeface="Arial"/>
                <a:ea typeface="Arial"/>
                <a:cs typeface="Arial"/>
              </a:defRPr>
            </a:lvl7pPr>
            <a:lvl8pPr>
              <a:defRPr sz="1800" b="0">
                <a:solidFill>
                  <a:srgbClr val="52647A"/>
                </a:solidFill>
                <a:latin typeface="Arial"/>
                <a:ea typeface="Arial"/>
                <a:cs typeface="Arial"/>
              </a:defRPr>
            </a:lvl8pPr>
            <a:lvl9pPr>
              <a:defRPr sz="1800" b="0">
                <a:solidFill>
                  <a:srgbClr val="52647A"/>
                </a:solidFill>
                <a:latin typeface="Arial"/>
                <a:ea typeface="Arial"/>
                <a:cs typeface="Arial"/>
              </a:defRPr>
            </a:lvl9pPr>
          </a:lstStyle>
          <a:p xmlns:a="http://schemas.openxmlformats.org/drawingml/2006/main">
            <a:pPr>
              <a:defRPr sz="1800" b="0">
                <a:solidFill>
                  <a:srgbClr val="52647A"/>
                </a:solidFill>
                <a:latin typeface="Arial"/>
                <a:ea typeface="Arial"/>
                <a:cs typeface="Arial"/>
              </a:defRPr>
            </a:pPr>
            <a:r>
              <a:rPr sz="1800" b="0">
                <a:solidFill>
                  <a:srgbClr val="52647A"/>
                </a:solidFill>
                <a:latin typeface="Arial"/>
                <a:ea typeface="Arial"/>
                <a:cs typeface="Arial"/>
              </a:rPr>
              <a:t>SSMS 22: Copilot allgemein verfügbar ab 22.4.1; Agent Mode ab 22.10.2 gemäß registrierten Release Notes.</a:t>
            </a:r>
          </a:p>
        </p:txBody>
      </p:sp>
      <p:sp>
        <p:nvSpPr>
          <p:cNvPr id="9" name="text-8">
            <a:extLst xmlns:a="http://schemas.openxmlformats.org/drawingml/2006/main">
              <a:ext uri="{FF2B5EF4-FFF2-40B4-BE49-F238E27FC236}">
                <a16:creationId xmlns:a16="http://schemas.microsoft.com/office/drawing/2014/main" id="{ACCF134D-A75D-4F53-A17D-CA8200076F62}"/>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vl1pPr>
              <a:defRPr sz="1350" b="0">
                <a:solidFill>
                  <a:srgbClr val="52647A"/>
                </a:solidFill>
                <a:latin typeface="Arial"/>
                <a:ea typeface="Arial"/>
                <a:cs typeface="Arial"/>
              </a:defRPr>
            </a:lvl1pPr>
            <a:lvl2pPr>
              <a:defRPr sz="1350" b="0">
                <a:solidFill>
                  <a:srgbClr val="52647A"/>
                </a:solidFill>
                <a:latin typeface="Arial"/>
                <a:ea typeface="Arial"/>
                <a:cs typeface="Arial"/>
              </a:defRPr>
            </a:lvl2pPr>
            <a:lvl3pPr>
              <a:defRPr sz="1350" b="0">
                <a:solidFill>
                  <a:srgbClr val="52647A"/>
                </a:solidFill>
                <a:latin typeface="Arial"/>
                <a:ea typeface="Arial"/>
                <a:cs typeface="Arial"/>
              </a:defRPr>
            </a:lvl3pPr>
            <a:lvl4pPr>
              <a:defRPr sz="1350" b="0">
                <a:solidFill>
                  <a:srgbClr val="52647A"/>
                </a:solidFill>
                <a:latin typeface="Arial"/>
                <a:ea typeface="Arial"/>
                <a:cs typeface="Arial"/>
              </a:defRPr>
            </a:lvl4pPr>
            <a:lvl5pPr>
              <a:defRPr sz="1350" b="0">
                <a:solidFill>
                  <a:srgbClr val="52647A"/>
                </a:solidFill>
                <a:latin typeface="Arial"/>
                <a:ea typeface="Arial"/>
                <a:cs typeface="Arial"/>
              </a:defRPr>
            </a:lvl5pPr>
            <a:lvl6pPr>
              <a:defRPr sz="1350" b="0">
                <a:solidFill>
                  <a:srgbClr val="52647A"/>
                </a:solidFill>
                <a:latin typeface="Arial"/>
                <a:ea typeface="Arial"/>
                <a:cs typeface="Arial"/>
              </a:defRPr>
            </a:lvl6pPr>
            <a:lvl7pPr>
              <a:defRPr sz="1350" b="0">
                <a:solidFill>
                  <a:srgbClr val="52647A"/>
                </a:solidFill>
                <a:latin typeface="Arial"/>
                <a:ea typeface="Arial"/>
                <a:cs typeface="Arial"/>
              </a:defRPr>
            </a:lvl7pPr>
            <a:lvl8pPr>
              <a:defRPr sz="1350" b="0">
                <a:solidFill>
                  <a:srgbClr val="52647A"/>
                </a:solidFill>
                <a:latin typeface="Arial"/>
                <a:ea typeface="Arial"/>
                <a:cs typeface="Arial"/>
              </a:defRPr>
            </a:lvl8pPr>
            <a:lvl9pPr>
              <a:defRPr sz="1350" b="0">
                <a:solidFill>
                  <a:srgbClr val="52647A"/>
                </a:solidFill>
                <a:latin typeface="Arial"/>
                <a:ea typeface="Arial"/>
                <a:cs typeface="Arial"/>
              </a:defRPr>
            </a:lvl9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59  CUR-021 / CUR-022</a:t>
            </a:r>
          </a:p>
        </p:txBody>
      </p:sp>
    </p:spTree>
    <p:extLst>
      <p:ext uri="{BB962C8B-B14F-4D97-AF65-F5344CB8AC3E}">
        <p14:creationId xmlns:p14="http://schemas.microsoft.com/office/powerpoint/2010/main" val="948177944"/>
      </p:ext>
    </p:extLst>
  </p:cSld>
</p:sld>
</file>

<file path=ppt/slides/slide6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text-0">
            <a:extLst xmlns:a="http://schemas.openxmlformats.org/drawingml/2006/main">
              <a:ext uri="{FF2B5EF4-FFF2-40B4-BE49-F238E27FC236}">
                <a16:creationId xmlns:a16="http://schemas.microsoft.com/office/drawing/2014/main" id="{3911D470-AEFB-446C-B050-BDC602F6FB2A}"/>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vl1pPr>
              <a:defRPr sz="3300" b="1">
                <a:solidFill>
                  <a:srgbClr val="15283D"/>
                </a:solidFill>
                <a:latin typeface="Arial"/>
                <a:ea typeface="Arial"/>
                <a:cs typeface="Arial"/>
              </a:defRPr>
            </a:lvl1pPr>
            <a:lvl2pPr>
              <a:defRPr sz="3300" b="1">
                <a:solidFill>
                  <a:srgbClr val="15283D"/>
                </a:solidFill>
                <a:latin typeface="Arial"/>
                <a:ea typeface="Arial"/>
                <a:cs typeface="Arial"/>
              </a:defRPr>
            </a:lvl2pPr>
            <a:lvl3pPr>
              <a:defRPr sz="3300" b="1">
                <a:solidFill>
                  <a:srgbClr val="15283D"/>
                </a:solidFill>
                <a:latin typeface="Arial"/>
                <a:ea typeface="Arial"/>
                <a:cs typeface="Arial"/>
              </a:defRPr>
            </a:lvl3pPr>
            <a:lvl4pPr>
              <a:defRPr sz="3300" b="1">
                <a:solidFill>
                  <a:srgbClr val="15283D"/>
                </a:solidFill>
                <a:latin typeface="Arial"/>
                <a:ea typeface="Arial"/>
                <a:cs typeface="Arial"/>
              </a:defRPr>
            </a:lvl4pPr>
            <a:lvl5pPr>
              <a:defRPr sz="3300" b="1">
                <a:solidFill>
                  <a:srgbClr val="15283D"/>
                </a:solidFill>
                <a:latin typeface="Arial"/>
                <a:ea typeface="Arial"/>
                <a:cs typeface="Arial"/>
              </a:defRPr>
            </a:lvl5pPr>
            <a:lvl6pPr>
              <a:defRPr sz="3300" b="1">
                <a:solidFill>
                  <a:srgbClr val="15283D"/>
                </a:solidFill>
                <a:latin typeface="Arial"/>
                <a:ea typeface="Arial"/>
                <a:cs typeface="Arial"/>
              </a:defRPr>
            </a:lvl6pPr>
            <a:lvl7pPr>
              <a:defRPr sz="3300" b="1">
                <a:solidFill>
                  <a:srgbClr val="15283D"/>
                </a:solidFill>
                <a:latin typeface="Arial"/>
                <a:ea typeface="Arial"/>
                <a:cs typeface="Arial"/>
              </a:defRPr>
            </a:lvl7pPr>
            <a:lvl8pPr>
              <a:defRPr sz="3300" b="1">
                <a:solidFill>
                  <a:srgbClr val="15283D"/>
                </a:solidFill>
                <a:latin typeface="Arial"/>
                <a:ea typeface="Arial"/>
                <a:cs typeface="Arial"/>
              </a:defRPr>
            </a:lvl8pPr>
            <a:lvl9pPr>
              <a:defRPr sz="3300" b="1">
                <a:solidFill>
                  <a:srgbClr val="15283D"/>
                </a:solidFill>
                <a:latin typeface="Arial"/>
                <a:ea typeface="Arial"/>
                <a:cs typeface="Arial"/>
              </a:defRPr>
            </a:lvl9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Neun Entwürfe für die Vertiefung</a:t>
            </a:r>
          </a:p>
        </p:txBody>
      </p:sp>
      <p:graphicFrame>
        <p:nvGraphicFramePr>
          <p:cNvPr id="2" name="">
            <a:extLst xmlns:a="http://schemas.openxmlformats.org/drawingml/2006/main">
              <a:ext uri="{FF2B5EF4-FFF2-40B4-BE49-F238E27FC236}">
                <a16:creationId xmlns:a16="http://schemas.microsoft.com/office/drawing/2014/main" id="{B2855348-D522-42A5-AD62-1457013730CD}"/>
              </a:ext>
            </a:extLst>
          </p:cNvPr>
          <p:cNvGraphicFramePr/>
          <p:nvPr/>
        </p:nvGraphicFramePr>
        <p:xfrm>
          <a:off xmlns:a="http://schemas.openxmlformats.org/drawingml/2006/main" x="685800" y="1771650"/>
          <a:ext xmlns:a="http://schemas.openxmlformats.org/drawingml/2006/main" cx="10668000" cy="4000500"/>
        </p:xfrm>
        <a:graphic xmlns:a="http://schemas.openxmlformats.org/drawingml/2006/main">
          <a:graphicData uri="http://schemas.openxmlformats.org/drawingml/2006/table">
            <a:tbl>
              <a:tblPr/>
              <a:tblGrid>
                <a:gridCol w="4572000"/>
                <a:gridCol w="6096000"/>
              </a:tblGrid>
              <a:tr h="800100">
                <a:tc>
                  <a:txBody>
                    <a:bodyPr/>
                    <a:lstStyle/>
                    <a:p>
                      <a:r>
                        <a:rPr sz="1800" b="1">
                          <a:solidFill>
                            <a:srgbClr val="15283D"/>
                          </a:solidFill>
                          <a:latin typeface="Arial"/>
                          <a:ea typeface="Arial"/>
                          <a:cs typeface="Arial"/>
                        </a:rPr>
                        <a:t>PROPOSED</a:t>
                      </a:r>
                    </a:p>
                  </a:txBody>
                  <a:tcPr marL="114300" marR="114300" marT="47625" marB="47625" anchor="ctr">
                    <a:lnL w="9525">
                      <a:solidFill>
                        <a:srgbClr val="C8D5DE"/>
                      </a:solidFill>
                      <a:prstDash val="solid"/>
                    </a:lnL>
                    <a:lnR w="9525">
                      <a:solidFill>
                        <a:srgbClr val="C8D5DE"/>
                      </a:solidFill>
                      <a:prstDash val="solid"/>
                    </a:lnR>
                    <a:lnT w="9525">
                      <a:solidFill>
                        <a:srgbClr val="C8D5DE"/>
                      </a:solidFill>
                      <a:prstDash val="solid"/>
                    </a:lnT>
                    <a:lnB w="9525">
                      <a:solidFill>
                        <a:srgbClr val="C8D5DE"/>
                      </a:solidFill>
                      <a:prstDash val="solid"/>
                    </a:lnB>
                    <a:solidFill>
                      <a:srgbClr val="E8F2F2"/>
                    </a:solidFill>
                  </a:tcPr>
                </a:tc>
                <a:tc>
                  <a:txBody>
                    <a:bodyPr/>
                    <a:lstStyle/>
                    <a:p>
                      <a:r>
                        <a:rPr sz="1800" b="1">
                          <a:solidFill>
                            <a:srgbClr val="15283D"/>
                          </a:solidFill>
                          <a:latin typeface="Arial"/>
                          <a:ea typeface="Arial"/>
                          <a:cs typeface="Arial"/>
                        </a:rPr>
                        <a:t>Nächste nachzuweisende Grenze</a:t>
                      </a:r>
                    </a:p>
                  </a:txBody>
                  <a:tcPr marL="114300" marR="114300" marT="47625" marB="47625" anchor="ctr">
                    <a:lnR w="9525">
                      <a:solidFill>
                        <a:srgbClr val="C8D5DE"/>
                      </a:solidFill>
                      <a:prstDash val="solid"/>
                    </a:lnR>
                    <a:lnT w="9525">
                      <a:solidFill>
                        <a:srgbClr val="C8D5DE"/>
                      </a:solidFill>
                      <a:prstDash val="solid"/>
                    </a:lnT>
                    <a:lnB w="9525">
                      <a:solidFill>
                        <a:srgbClr val="C8D5DE"/>
                      </a:solidFill>
                      <a:prstDash val="solid"/>
                    </a:lnB>
                    <a:solidFill>
                      <a:srgbClr val="E8F2F2"/>
                    </a:solidFill>
                  </a:tcPr>
                </a:tc>
              </a:tr>
              <a:tr h="800100">
                <a:tc>
                  <a:txBody>
                    <a:bodyPr/>
                    <a:lstStyle/>
                    <a:p>
                      <a:r>
                        <a:rPr sz="1800" b="0">
                          <a:solidFill>
                            <a:srgbClr val="15283D"/>
                          </a:solidFill>
                          <a:latin typeface="Arial"/>
                          <a:ea typeface="Arial"/>
                          <a:cs typeface="Arial"/>
                        </a:rPr>
                        <a:t>QRY-020, QRY-021, QRY-022</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Lokale, externe und ONNX-Inferenz mit ihren Freigaben</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r h="800100">
                <a:tc>
                  <a:txBody>
                    <a:bodyPr/>
                    <a:lstStyle/>
                    <a:p>
                      <a:r>
                        <a:rPr sz="1800" b="0">
                          <a:solidFill>
                            <a:srgbClr val="15283D"/>
                          </a:solidFill>
                          <a:latin typeface="Arial"/>
                          <a:ea typeface="Arial"/>
                          <a:cs typeface="Arial"/>
                        </a:rPr>
                        <a:t>IDX-011, IDX-012</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Qualität näherungsweiser Suche (ANN), Indexpflege und Kosten</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r h="800100">
                <a:tc>
                  <a:txBody>
                    <a:bodyPr/>
                    <a:lstStyle/>
                    <a:p>
                      <a:r>
                        <a:rPr sz="1800" b="0">
                          <a:solidFill>
                            <a:srgbClr val="15283D"/>
                          </a:solidFill>
                          <a:latin typeface="Arial"/>
                          <a:ea typeface="Arial"/>
                          <a:cs typeface="Arial"/>
                        </a:rPr>
                        <a:t>RES-008, RES-009</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Dimensionen, Parallelzugriffe und Performance-Testprofil (TP-PERF)</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r h="800100">
                <a:tc>
                  <a:txBody>
                    <a:bodyPr/>
                    <a:lstStyle/>
                    <a:p>
                      <a:r>
                        <a:rPr sz="1800" b="0">
                          <a:solidFill>
                            <a:srgbClr val="15283D"/>
                          </a:solidFill>
                          <a:latin typeface="Arial"/>
                          <a:ea typeface="Arial"/>
                          <a:cs typeface="Arial"/>
                        </a:rPr>
                        <a:t>DGN-010, DGN-011</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Indexnettonutzen und End-to-End-Inferenzdiagnose</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bl>
          </a:graphicData>
        </a:graphic>
      </p:graphicFrame>
      <p:sp>
        <p:nvSpPr>
          <p:cNvPr id="3" name="text-1">
            <a:extLst xmlns:a="http://schemas.openxmlformats.org/drawingml/2006/main">
              <a:ext uri="{FF2B5EF4-FFF2-40B4-BE49-F238E27FC236}">
                <a16:creationId xmlns:a16="http://schemas.microsoft.com/office/drawing/2014/main" id="{75E7102C-CA85-4A4B-8D03-E66C7C6D1B4E}"/>
              </a:ext>
            </a:extLst>
          </p:cNvPr>
          <p:cNvSpPr>
            <a:spLocks xmlns:a="http://schemas.openxmlformats.org/drawingml/2006/main" noGrp="1"/>
          </p:cNvSpPr>
          <p:nvPr/>
        </p:nvSpPr>
        <p:spPr>
          <a:xfrm xmlns:a="http://schemas.openxmlformats.org/drawingml/2006/main">
            <a:off x="685800" y="5876925"/>
            <a:ext cx="10553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0">
                <a:solidFill>
                  <a:srgbClr val="52647A"/>
                </a:solidFill>
                <a:latin typeface="Arial"/>
                <a:ea typeface="Arial"/>
                <a:cs typeface="Arial"/>
              </a:defRPr>
            </a:defPPr>
            <a:lvl1pPr>
              <a:defRPr sz="1800" b="0">
                <a:solidFill>
                  <a:srgbClr val="52647A"/>
                </a:solidFill>
                <a:latin typeface="Arial"/>
                <a:ea typeface="Arial"/>
                <a:cs typeface="Arial"/>
              </a:defRPr>
            </a:lvl1pPr>
            <a:lvl2pPr>
              <a:defRPr sz="1800" b="0">
                <a:solidFill>
                  <a:srgbClr val="52647A"/>
                </a:solidFill>
                <a:latin typeface="Arial"/>
                <a:ea typeface="Arial"/>
                <a:cs typeface="Arial"/>
              </a:defRPr>
            </a:lvl2pPr>
            <a:lvl3pPr>
              <a:defRPr sz="1800" b="0">
                <a:solidFill>
                  <a:srgbClr val="52647A"/>
                </a:solidFill>
                <a:latin typeface="Arial"/>
                <a:ea typeface="Arial"/>
                <a:cs typeface="Arial"/>
              </a:defRPr>
            </a:lvl3pPr>
            <a:lvl4pPr>
              <a:defRPr sz="1800" b="0">
                <a:solidFill>
                  <a:srgbClr val="52647A"/>
                </a:solidFill>
                <a:latin typeface="Arial"/>
                <a:ea typeface="Arial"/>
                <a:cs typeface="Arial"/>
              </a:defRPr>
            </a:lvl4pPr>
            <a:lvl5pPr>
              <a:defRPr sz="1800" b="0">
                <a:solidFill>
                  <a:srgbClr val="52647A"/>
                </a:solidFill>
                <a:latin typeface="Arial"/>
                <a:ea typeface="Arial"/>
                <a:cs typeface="Arial"/>
              </a:defRPr>
            </a:lvl5pPr>
            <a:lvl6pPr>
              <a:defRPr sz="1800" b="0">
                <a:solidFill>
                  <a:srgbClr val="52647A"/>
                </a:solidFill>
                <a:latin typeface="Arial"/>
                <a:ea typeface="Arial"/>
                <a:cs typeface="Arial"/>
              </a:defRPr>
            </a:lvl6pPr>
            <a:lvl7pPr>
              <a:defRPr sz="1800" b="0">
                <a:solidFill>
                  <a:srgbClr val="52647A"/>
                </a:solidFill>
                <a:latin typeface="Arial"/>
                <a:ea typeface="Arial"/>
                <a:cs typeface="Arial"/>
              </a:defRPr>
            </a:lvl7pPr>
            <a:lvl8pPr>
              <a:defRPr sz="1800" b="0">
                <a:solidFill>
                  <a:srgbClr val="52647A"/>
                </a:solidFill>
                <a:latin typeface="Arial"/>
                <a:ea typeface="Arial"/>
                <a:cs typeface="Arial"/>
              </a:defRPr>
            </a:lvl8pPr>
            <a:lvl9pPr>
              <a:defRPr sz="1800" b="0">
                <a:solidFill>
                  <a:srgbClr val="52647A"/>
                </a:solidFill>
                <a:latin typeface="Arial"/>
                <a:ea typeface="Arial"/>
                <a:cs typeface="Arial"/>
              </a:defRPr>
            </a:lvl9pPr>
          </a:lstStyle>
          <a:p xmlns:a="http://schemas.openxmlformats.org/drawingml/2006/main">
            <a:pPr>
              <a:defRPr sz="1800" b="0">
                <a:solidFill>
                  <a:srgbClr val="52647A"/>
                </a:solidFill>
                <a:latin typeface="Arial"/>
                <a:ea typeface="Arial"/>
                <a:cs typeface="Arial"/>
              </a:defRPr>
            </a:pPr>
            <a:r>
              <a:rPr sz="1800" b="0">
                <a:solidFill>
                  <a:srgbClr val="52647A"/>
                </a:solidFill>
                <a:latin typeface="Arial"/>
                <a:ea typeface="Arial"/>
                <a:cs typeface="Arial"/>
              </a:rPr>
              <a:t>Zusammen mit den neun IMPLEMENTED-Demos sind alle 18 registrierten Demoentwürfe abgedeckt.</a:t>
            </a:r>
          </a:p>
        </p:txBody>
      </p:sp>
      <p:sp>
        <p:nvSpPr>
          <p:cNvPr id="4" name="text-2">
            <a:extLst xmlns:a="http://schemas.openxmlformats.org/drawingml/2006/main">
              <a:ext uri="{FF2B5EF4-FFF2-40B4-BE49-F238E27FC236}">
                <a16:creationId xmlns:a16="http://schemas.microsoft.com/office/drawing/2014/main" id="{A695F245-B202-43D0-8055-0CC56BCD9881}"/>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vl1pPr>
              <a:defRPr sz="1350" b="0">
                <a:solidFill>
                  <a:srgbClr val="52647A"/>
                </a:solidFill>
                <a:latin typeface="Arial"/>
                <a:ea typeface="Arial"/>
                <a:cs typeface="Arial"/>
              </a:defRPr>
            </a:lvl1pPr>
            <a:lvl2pPr>
              <a:defRPr sz="1350" b="0">
                <a:solidFill>
                  <a:srgbClr val="52647A"/>
                </a:solidFill>
                <a:latin typeface="Arial"/>
                <a:ea typeface="Arial"/>
                <a:cs typeface="Arial"/>
              </a:defRPr>
            </a:lvl2pPr>
            <a:lvl3pPr>
              <a:defRPr sz="1350" b="0">
                <a:solidFill>
                  <a:srgbClr val="52647A"/>
                </a:solidFill>
                <a:latin typeface="Arial"/>
                <a:ea typeface="Arial"/>
                <a:cs typeface="Arial"/>
              </a:defRPr>
            </a:lvl3pPr>
            <a:lvl4pPr>
              <a:defRPr sz="1350" b="0">
                <a:solidFill>
                  <a:srgbClr val="52647A"/>
                </a:solidFill>
                <a:latin typeface="Arial"/>
                <a:ea typeface="Arial"/>
                <a:cs typeface="Arial"/>
              </a:defRPr>
            </a:lvl4pPr>
            <a:lvl5pPr>
              <a:defRPr sz="1350" b="0">
                <a:solidFill>
                  <a:srgbClr val="52647A"/>
                </a:solidFill>
                <a:latin typeface="Arial"/>
                <a:ea typeface="Arial"/>
                <a:cs typeface="Arial"/>
              </a:defRPr>
            </a:lvl5pPr>
            <a:lvl6pPr>
              <a:defRPr sz="1350" b="0">
                <a:solidFill>
                  <a:srgbClr val="52647A"/>
                </a:solidFill>
                <a:latin typeface="Arial"/>
                <a:ea typeface="Arial"/>
                <a:cs typeface="Arial"/>
              </a:defRPr>
            </a:lvl6pPr>
            <a:lvl7pPr>
              <a:defRPr sz="1350" b="0">
                <a:solidFill>
                  <a:srgbClr val="52647A"/>
                </a:solidFill>
                <a:latin typeface="Arial"/>
                <a:ea typeface="Arial"/>
                <a:cs typeface="Arial"/>
              </a:defRPr>
            </a:lvl7pPr>
            <a:lvl8pPr>
              <a:defRPr sz="1350" b="0">
                <a:solidFill>
                  <a:srgbClr val="52647A"/>
                </a:solidFill>
                <a:latin typeface="Arial"/>
                <a:ea typeface="Arial"/>
                <a:cs typeface="Arial"/>
              </a:defRPr>
            </a:lvl8pPr>
            <a:lvl9pPr>
              <a:defRPr sz="1350" b="0">
                <a:solidFill>
                  <a:srgbClr val="52647A"/>
                </a:solidFill>
                <a:latin typeface="Arial"/>
                <a:ea typeface="Arial"/>
                <a:cs typeface="Arial"/>
              </a:defRPr>
            </a:lvl9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60  CUR-016 / CUR-019 / CUR-020 / CUR-021</a:t>
            </a:r>
          </a:p>
        </p:txBody>
      </p:sp>
    </p:spTree>
    <p:extLst>
      <p:ext uri="{BB962C8B-B14F-4D97-AF65-F5344CB8AC3E}">
        <p14:creationId xmlns:p14="http://schemas.microsoft.com/office/powerpoint/2010/main" val="1948569716"/>
      </p:ext>
    </p:extLst>
  </p:cSld>
</p:sld>
</file>

<file path=ppt/slides/slide6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text-0">
            <a:extLst xmlns:a="http://schemas.openxmlformats.org/drawingml/2006/main">
              <a:ext uri="{FF2B5EF4-FFF2-40B4-BE49-F238E27FC236}">
                <a16:creationId xmlns:a16="http://schemas.microsoft.com/office/drawing/2014/main" id="{0BD10BA7-F745-4F89-9EF1-15F452B30B57}"/>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vl1pPr>
              <a:defRPr sz="3300" b="1">
                <a:solidFill>
                  <a:srgbClr val="15283D"/>
                </a:solidFill>
                <a:latin typeface="Arial"/>
                <a:ea typeface="Arial"/>
                <a:cs typeface="Arial"/>
              </a:defRPr>
            </a:lvl1pPr>
            <a:lvl2pPr>
              <a:defRPr sz="3300" b="1">
                <a:solidFill>
                  <a:srgbClr val="15283D"/>
                </a:solidFill>
                <a:latin typeface="Arial"/>
                <a:ea typeface="Arial"/>
                <a:cs typeface="Arial"/>
              </a:defRPr>
            </a:lvl2pPr>
            <a:lvl3pPr>
              <a:defRPr sz="3300" b="1">
                <a:solidFill>
                  <a:srgbClr val="15283D"/>
                </a:solidFill>
                <a:latin typeface="Arial"/>
                <a:ea typeface="Arial"/>
                <a:cs typeface="Arial"/>
              </a:defRPr>
            </a:lvl3pPr>
            <a:lvl4pPr>
              <a:defRPr sz="3300" b="1">
                <a:solidFill>
                  <a:srgbClr val="15283D"/>
                </a:solidFill>
                <a:latin typeface="Arial"/>
                <a:ea typeface="Arial"/>
                <a:cs typeface="Arial"/>
              </a:defRPr>
            </a:lvl4pPr>
            <a:lvl5pPr>
              <a:defRPr sz="3300" b="1">
                <a:solidFill>
                  <a:srgbClr val="15283D"/>
                </a:solidFill>
                <a:latin typeface="Arial"/>
                <a:ea typeface="Arial"/>
                <a:cs typeface="Arial"/>
              </a:defRPr>
            </a:lvl5pPr>
            <a:lvl6pPr>
              <a:defRPr sz="3300" b="1">
                <a:solidFill>
                  <a:srgbClr val="15283D"/>
                </a:solidFill>
                <a:latin typeface="Arial"/>
                <a:ea typeface="Arial"/>
                <a:cs typeface="Arial"/>
              </a:defRPr>
            </a:lvl6pPr>
            <a:lvl7pPr>
              <a:defRPr sz="3300" b="1">
                <a:solidFill>
                  <a:srgbClr val="15283D"/>
                </a:solidFill>
                <a:latin typeface="Arial"/>
                <a:ea typeface="Arial"/>
                <a:cs typeface="Arial"/>
              </a:defRPr>
            </a:lvl7pPr>
            <a:lvl8pPr>
              <a:defRPr sz="3300" b="1">
                <a:solidFill>
                  <a:srgbClr val="15283D"/>
                </a:solidFill>
                <a:latin typeface="Arial"/>
                <a:ea typeface="Arial"/>
                <a:cs typeface="Arial"/>
              </a:defRPr>
            </a:lvl8pPr>
            <a:lvl9pPr>
              <a:defRPr sz="3300" b="1">
                <a:solidFill>
                  <a:srgbClr val="15283D"/>
                </a:solidFill>
                <a:latin typeface="Arial"/>
                <a:ea typeface="Arial"/>
                <a:cs typeface="Arial"/>
              </a:defRPr>
            </a:lvl9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Entscheidung und Transferaufgabe</a:t>
            </a:r>
          </a:p>
        </p:txBody>
      </p:sp>
      <p:sp>
        <p:nvSpPr>
          <p:cNvPr id="2" name="text-1">
            <a:extLst xmlns:a="http://schemas.openxmlformats.org/drawingml/2006/main">
              <a:ext uri="{FF2B5EF4-FFF2-40B4-BE49-F238E27FC236}">
                <a16:creationId xmlns:a16="http://schemas.microsoft.com/office/drawing/2014/main" id="{44CFDFF0-44D0-405A-A0C7-9F790C806189}"/>
              </a:ext>
            </a:extLst>
          </p:cNvPr>
          <p:cNvSpPr>
            <a:spLocks xmlns:a="http://schemas.openxmlformats.org/drawingml/2006/main" noGrp="1"/>
          </p:cNvSpPr>
          <p:nvPr/>
        </p:nvSpPr>
        <p:spPr>
          <a:xfrm xmlns:a="http://schemas.openxmlformats.org/drawingml/2006/main">
            <a:off x="685800" y="177165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Fall</a:t>
            </a:r>
          </a:p>
        </p:txBody>
      </p:sp>
      <p:sp>
        <p:nvSpPr>
          <p:cNvPr id="3" name="text-2">
            <a:extLst xmlns:a="http://schemas.openxmlformats.org/drawingml/2006/main">
              <a:ext uri="{FF2B5EF4-FFF2-40B4-BE49-F238E27FC236}">
                <a16:creationId xmlns:a16="http://schemas.microsoft.com/office/drawing/2014/main" id="{DB17A566-6466-4076-B4C5-2AA49081EE88}"/>
              </a:ext>
            </a:extLst>
          </p:cNvPr>
          <p:cNvSpPr>
            <a:spLocks xmlns:a="http://schemas.openxmlformats.org/drawingml/2006/main" noGrp="1"/>
          </p:cNvSpPr>
          <p:nvPr/>
        </p:nvSpPr>
        <p:spPr>
          <a:xfrm xmlns:a="http://schemas.openxmlformats.org/drawingml/2006/main">
            <a:off x="3190875" y="177165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Eine synthetische technische Wissensbasis soll aktuelle, tenantgebundene Antworten liefern. Einige Fragen betreffen exakte Kennungen.</a:t>
            </a:r>
          </a:p>
        </p:txBody>
      </p:sp>
      <p:sp>
        <p:nvSpPr>
          <p:cNvPr id="4" name="text-3">
            <a:extLst xmlns:a="http://schemas.openxmlformats.org/drawingml/2006/main">
              <a:ext uri="{FF2B5EF4-FFF2-40B4-BE49-F238E27FC236}">
                <a16:creationId xmlns:a16="http://schemas.microsoft.com/office/drawing/2014/main" id="{920881C1-28DB-4394-BD0E-4AB30EBDDBE8}"/>
              </a:ext>
            </a:extLst>
          </p:cNvPr>
          <p:cNvSpPr>
            <a:spLocks xmlns:a="http://schemas.openxmlformats.org/drawingml/2006/main" noGrp="1"/>
          </p:cNvSpPr>
          <p:nvPr/>
        </p:nvSpPr>
        <p:spPr>
          <a:xfrm xmlns:a="http://schemas.openxmlformats.org/drawingml/2006/main">
            <a:off x="685800" y="3057525"/>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Auftrag</a:t>
            </a:r>
          </a:p>
        </p:txBody>
      </p:sp>
      <p:sp>
        <p:nvSpPr>
          <p:cNvPr id="5" name="text-4">
            <a:extLst xmlns:a="http://schemas.openxmlformats.org/drawingml/2006/main">
              <a:ext uri="{FF2B5EF4-FFF2-40B4-BE49-F238E27FC236}">
                <a16:creationId xmlns:a16="http://schemas.microsoft.com/office/drawing/2014/main" id="{26BEB0D9-2A96-4599-AEDD-7CAF9CADC395}"/>
              </a:ext>
            </a:extLst>
          </p:cNvPr>
          <p:cNvSpPr>
            <a:spLocks xmlns:a="http://schemas.openxmlformats.org/drawingml/2006/main" noGrp="1"/>
          </p:cNvSpPr>
          <p:nvPr/>
        </p:nvSpPr>
        <p:spPr>
          <a:xfrm xmlns:a="http://schemas.openxmlformats.org/drawingml/2006/main">
            <a:off x="3190875" y="3057525"/>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Suchpfad, Modellraum und Rechte begründen. Eine belegbare Antwort und eine notwendige Nichtantwort beschreiben.</a:t>
            </a:r>
          </a:p>
        </p:txBody>
      </p:sp>
      <p:sp>
        <p:nvSpPr>
          <p:cNvPr id="6" name="text-5">
            <a:extLst xmlns:a="http://schemas.openxmlformats.org/drawingml/2006/main">
              <a:ext uri="{FF2B5EF4-FFF2-40B4-BE49-F238E27FC236}">
                <a16:creationId xmlns:a16="http://schemas.microsoft.com/office/drawing/2014/main" id="{FD516AA9-D6E5-4B56-8B7D-A297D411F17C}"/>
              </a:ext>
            </a:extLst>
          </p:cNvPr>
          <p:cNvSpPr>
            <a:spLocks xmlns:a="http://schemas.openxmlformats.org/drawingml/2006/main" noGrp="1"/>
          </p:cNvSpPr>
          <p:nvPr/>
        </p:nvSpPr>
        <p:spPr>
          <a:xfrm xmlns:a="http://schemas.openxmlformats.org/drawingml/2006/main">
            <a:off x="685800" y="434340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Abgabe</a:t>
            </a:r>
          </a:p>
        </p:txBody>
      </p:sp>
      <p:sp>
        <p:nvSpPr>
          <p:cNvPr id="7" name="text-6">
            <a:extLst xmlns:a="http://schemas.openxmlformats.org/drawingml/2006/main">
              <a:ext uri="{FF2B5EF4-FFF2-40B4-BE49-F238E27FC236}">
                <a16:creationId xmlns:a16="http://schemas.microsoft.com/office/drawing/2014/main" id="{89428BFA-572C-4FFD-A02D-FC43BC3185D9}"/>
              </a:ext>
            </a:extLst>
          </p:cNvPr>
          <p:cNvSpPr>
            <a:spLocks xmlns:a="http://schemas.openxmlformats.org/drawingml/2006/main" noGrp="1"/>
          </p:cNvSpPr>
          <p:nvPr/>
        </p:nvSpPr>
        <p:spPr>
          <a:xfrm xmlns:a="http://schemas.openxmlformats.org/drawingml/2006/main">
            <a:off x="3190875" y="434340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Die fehlende Evidenz vor einem Livebetrieb nennen. Einen LLM-Indexvorschlag mit einem widerlegbaren Versuch beurteilen.</a:t>
            </a:r>
          </a:p>
        </p:txBody>
      </p:sp>
      <p:sp>
        <p:nvSpPr>
          <p:cNvPr id="8" name="text-7">
            <a:extLst xmlns:a="http://schemas.openxmlformats.org/drawingml/2006/main">
              <a:ext uri="{FF2B5EF4-FFF2-40B4-BE49-F238E27FC236}">
                <a16:creationId xmlns:a16="http://schemas.microsoft.com/office/drawing/2014/main" id="{9914FBA4-D315-4548-B676-8DA5D90A2234}"/>
              </a:ext>
            </a:extLst>
          </p:cNvPr>
          <p:cNvSpPr>
            <a:spLocks xmlns:a="http://schemas.openxmlformats.org/drawingml/2006/main" noGrp="1"/>
          </p:cNvSpPr>
          <p:nvPr/>
        </p:nvSpPr>
        <p:spPr>
          <a:xfrm xmlns:a="http://schemas.openxmlformats.org/drawingml/2006/main">
            <a:off x="685800" y="5876925"/>
            <a:ext cx="10553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0">
                <a:solidFill>
                  <a:srgbClr val="52647A"/>
                </a:solidFill>
                <a:latin typeface="Arial"/>
                <a:ea typeface="Arial"/>
                <a:cs typeface="Arial"/>
              </a:defRPr>
            </a:defPPr>
            <a:lvl1pPr>
              <a:defRPr sz="1800" b="0">
                <a:solidFill>
                  <a:srgbClr val="52647A"/>
                </a:solidFill>
                <a:latin typeface="Arial"/>
                <a:ea typeface="Arial"/>
                <a:cs typeface="Arial"/>
              </a:defRPr>
            </a:lvl1pPr>
            <a:lvl2pPr>
              <a:defRPr sz="1800" b="0">
                <a:solidFill>
                  <a:srgbClr val="52647A"/>
                </a:solidFill>
                <a:latin typeface="Arial"/>
                <a:ea typeface="Arial"/>
                <a:cs typeface="Arial"/>
              </a:defRPr>
            </a:lvl2pPr>
            <a:lvl3pPr>
              <a:defRPr sz="1800" b="0">
                <a:solidFill>
                  <a:srgbClr val="52647A"/>
                </a:solidFill>
                <a:latin typeface="Arial"/>
                <a:ea typeface="Arial"/>
                <a:cs typeface="Arial"/>
              </a:defRPr>
            </a:lvl3pPr>
            <a:lvl4pPr>
              <a:defRPr sz="1800" b="0">
                <a:solidFill>
                  <a:srgbClr val="52647A"/>
                </a:solidFill>
                <a:latin typeface="Arial"/>
                <a:ea typeface="Arial"/>
                <a:cs typeface="Arial"/>
              </a:defRPr>
            </a:lvl4pPr>
            <a:lvl5pPr>
              <a:defRPr sz="1800" b="0">
                <a:solidFill>
                  <a:srgbClr val="52647A"/>
                </a:solidFill>
                <a:latin typeface="Arial"/>
                <a:ea typeface="Arial"/>
                <a:cs typeface="Arial"/>
              </a:defRPr>
            </a:lvl5pPr>
            <a:lvl6pPr>
              <a:defRPr sz="1800" b="0">
                <a:solidFill>
                  <a:srgbClr val="52647A"/>
                </a:solidFill>
                <a:latin typeface="Arial"/>
                <a:ea typeface="Arial"/>
                <a:cs typeface="Arial"/>
              </a:defRPr>
            </a:lvl6pPr>
            <a:lvl7pPr>
              <a:defRPr sz="1800" b="0">
                <a:solidFill>
                  <a:srgbClr val="52647A"/>
                </a:solidFill>
                <a:latin typeface="Arial"/>
                <a:ea typeface="Arial"/>
                <a:cs typeface="Arial"/>
              </a:defRPr>
            </a:lvl7pPr>
            <a:lvl8pPr>
              <a:defRPr sz="1800" b="0">
                <a:solidFill>
                  <a:srgbClr val="52647A"/>
                </a:solidFill>
                <a:latin typeface="Arial"/>
                <a:ea typeface="Arial"/>
                <a:cs typeface="Arial"/>
              </a:defRPr>
            </a:lvl8pPr>
            <a:lvl9pPr>
              <a:defRPr sz="1800" b="0">
                <a:solidFill>
                  <a:srgbClr val="52647A"/>
                </a:solidFill>
                <a:latin typeface="Arial"/>
                <a:ea typeface="Arial"/>
                <a:cs typeface="Arial"/>
              </a:defRPr>
            </a:lvl9pPr>
          </a:lstStyle>
          <a:p xmlns:a="http://schemas.openxmlformats.org/drawingml/2006/main">
            <a:pPr>
              <a:defRPr sz="1800" b="0">
                <a:solidFill>
                  <a:srgbClr val="52647A"/>
                </a:solidFill>
                <a:latin typeface="Arial"/>
                <a:ea typeface="Arial"/>
                <a:cs typeface="Arial"/>
              </a:defRPr>
            </a:pPr>
            <a:r>
              <a:rPr sz="1800" b="0">
                <a:solidFill>
                  <a:srgbClr val="52647A"/>
                </a:solidFill>
                <a:latin typeface="Arial"/>
                <a:ea typeface="Arial"/>
                <a:cs typeface="Arial"/>
              </a:rPr>
              <a:t>Arbeitsheft: acht Basisaufgaben, Lösungen und Rubrik mit maximal 16 Punkten. Generalprobe steht aus.</a:t>
            </a:r>
          </a:p>
        </p:txBody>
      </p:sp>
      <p:sp>
        <p:nvSpPr>
          <p:cNvPr id="9" name="text-8">
            <a:extLst xmlns:a="http://schemas.openxmlformats.org/drawingml/2006/main">
              <a:ext uri="{FF2B5EF4-FFF2-40B4-BE49-F238E27FC236}">
                <a16:creationId xmlns:a16="http://schemas.microsoft.com/office/drawing/2014/main" id="{54B777AC-2E22-495C-B1CA-1D35AEFFB2E4}"/>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vl1pPr>
              <a:defRPr sz="1350" b="0">
                <a:solidFill>
                  <a:srgbClr val="52647A"/>
                </a:solidFill>
                <a:latin typeface="Arial"/>
                <a:ea typeface="Arial"/>
                <a:cs typeface="Arial"/>
              </a:defRPr>
            </a:lvl1pPr>
            <a:lvl2pPr>
              <a:defRPr sz="1350" b="0">
                <a:solidFill>
                  <a:srgbClr val="52647A"/>
                </a:solidFill>
                <a:latin typeface="Arial"/>
                <a:ea typeface="Arial"/>
                <a:cs typeface="Arial"/>
              </a:defRPr>
            </a:lvl2pPr>
            <a:lvl3pPr>
              <a:defRPr sz="1350" b="0">
                <a:solidFill>
                  <a:srgbClr val="52647A"/>
                </a:solidFill>
                <a:latin typeface="Arial"/>
                <a:ea typeface="Arial"/>
                <a:cs typeface="Arial"/>
              </a:defRPr>
            </a:lvl3pPr>
            <a:lvl4pPr>
              <a:defRPr sz="1350" b="0">
                <a:solidFill>
                  <a:srgbClr val="52647A"/>
                </a:solidFill>
                <a:latin typeface="Arial"/>
                <a:ea typeface="Arial"/>
                <a:cs typeface="Arial"/>
              </a:defRPr>
            </a:lvl4pPr>
            <a:lvl5pPr>
              <a:defRPr sz="1350" b="0">
                <a:solidFill>
                  <a:srgbClr val="52647A"/>
                </a:solidFill>
                <a:latin typeface="Arial"/>
                <a:ea typeface="Arial"/>
                <a:cs typeface="Arial"/>
              </a:defRPr>
            </a:lvl5pPr>
            <a:lvl6pPr>
              <a:defRPr sz="1350" b="0">
                <a:solidFill>
                  <a:srgbClr val="52647A"/>
                </a:solidFill>
                <a:latin typeface="Arial"/>
                <a:ea typeface="Arial"/>
                <a:cs typeface="Arial"/>
              </a:defRPr>
            </a:lvl6pPr>
            <a:lvl7pPr>
              <a:defRPr sz="1350" b="0">
                <a:solidFill>
                  <a:srgbClr val="52647A"/>
                </a:solidFill>
                <a:latin typeface="Arial"/>
                <a:ea typeface="Arial"/>
                <a:cs typeface="Arial"/>
              </a:defRPr>
            </a:lvl7pPr>
            <a:lvl8pPr>
              <a:defRPr sz="1350" b="0">
                <a:solidFill>
                  <a:srgbClr val="52647A"/>
                </a:solidFill>
                <a:latin typeface="Arial"/>
                <a:ea typeface="Arial"/>
                <a:cs typeface="Arial"/>
              </a:defRPr>
            </a:lvl8pPr>
            <a:lvl9pPr>
              <a:defRPr sz="1350" b="0">
                <a:solidFill>
                  <a:srgbClr val="52647A"/>
                </a:solidFill>
                <a:latin typeface="Arial"/>
                <a:ea typeface="Arial"/>
                <a:cs typeface="Arial"/>
              </a:defRPr>
            </a:lvl9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61  CUR-022</a:t>
            </a:r>
          </a:p>
        </p:txBody>
      </p:sp>
    </p:spTree>
    <p:extLst>
      <p:ext uri="{BB962C8B-B14F-4D97-AF65-F5344CB8AC3E}">
        <p14:creationId xmlns:p14="http://schemas.microsoft.com/office/powerpoint/2010/main" val="107542607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ep:Properties xmlns:ep="http://schemas.openxmlformats.org/officeDocument/2006/extended-properties">
  <ep:Application>Walnut Exporter</ep:Application>
  <ep:PresentationFormat>Converted Presentation</ep:PresentationFormat>
  <ep:Slides>0</ep:Slides>
  <ep:Notes>0</ep:Notes>
  <ep:HiddenSlides>0</ep:HiddenSlides>
  <ep:SharedDoc>false</ep:SharedDoc>
  <ep:DocSecurity>0</ep:DocSecurity>
</ep:Properties>
</file>

<file path=docProps/core.xml><?xml version="1.0" encoding="utf-8"?>
<cp:coreProperties xmlns:cp="http://schemas.openxmlformats.org/package/2006/metadata/core-properties" xmlns:dc="http://purl.org/dc/elements/1.1/" xmlns:dcterms="http://purl.org/dc/terms/" xmlns:xsi="http://www.w3.org/2001/XMLSchema-instance">
  <dc:creator/>
  <cp:lastModifiedBy/>
  <dc:title>Presentation</dc:title>
  <dcterms:created xsi:type="dcterms:W3CDTF">2026-10-21T08:05:17.4660000Z</dcterms:created>
  <dcterms:modified xsi:type="dcterms:W3CDTF">2026-10-21T08:05:17.4670000Z</dcterms:modified>
</cp:coreProperties>
</file>