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xml version='1.0' encoding='utf-8'?>
<Relationships xmlns="http://schemas.openxmlformats.org/package/2006/relationships"><Relationship Type="http://schemas.openxmlformats.org/package/2006/relationships/metadata/core-properties" Target="/docProps/core.xml" Id="R0407e26692984cc1" /><Relationship Type="http://schemas.openxmlformats.org/officeDocument/2006/relationships/extended-properties" Target="/docProps/app.xml" Id="Rdeca8a51f2ee4410" /><Relationship Type="http://schemas.openxmlformats.org/officeDocument/2006/relationships/officeDocument" Target="/ppt/presentation.xml" Id="R0a1a2fdf648244f4" /></Relationships>
</file>

<file path=ppt/presentation.xml><?xml version="1.0" encoding="utf-8"?>
<p:presentation xmlns:p="http://schemas.openxmlformats.org/presentationml/2006/main">
  <p:sldMasterIdLst>
    <p:sldMasterId xmlns:r="http://schemas.openxmlformats.org/officeDocument/2006/relationships" id="2147483648" r:id="R7d116e301e2949a1"/>
  </p:sldMasterIdLst>
  <p:notesMasterIdLst>
    <p:notesMasterId xmlns:r="http://schemas.openxmlformats.org/officeDocument/2006/relationships" r:id="R4d67bd3a02f342f6"/>
  </p:notesMasterIdLst>
  <p:sldIdLst>
    <p:sldId xmlns:r="http://schemas.openxmlformats.org/officeDocument/2006/relationships" id="256" r:id="R4ccb37dfc6414719"/>
    <p:sldId xmlns:r="http://schemas.openxmlformats.org/officeDocument/2006/relationships" id="257" r:id="Rb1451e28d72b4656"/>
    <p:sldId xmlns:r="http://schemas.openxmlformats.org/officeDocument/2006/relationships" id="258" r:id="R3722047bd6e940d4"/>
    <p:sldId xmlns:r="http://schemas.openxmlformats.org/officeDocument/2006/relationships" id="259" r:id="Racca7db4825644ca"/>
    <p:sldId xmlns:r="http://schemas.openxmlformats.org/officeDocument/2006/relationships" id="260" r:id="R95078e4761344eee"/>
    <p:sldId xmlns:r="http://schemas.openxmlformats.org/officeDocument/2006/relationships" id="261" r:id="Rf668c00768834fb5"/>
    <p:sldId xmlns:r="http://schemas.openxmlformats.org/officeDocument/2006/relationships" id="262" r:id="Rfbaf35564d424a36"/>
    <p:sldId xmlns:r="http://schemas.openxmlformats.org/officeDocument/2006/relationships" id="263" r:id="Rd2a50c39059e46f1"/>
    <p:sldId xmlns:r="http://schemas.openxmlformats.org/officeDocument/2006/relationships" id="264" r:id="R323f7056a2c2406e"/>
    <p:sldId xmlns:r="http://schemas.openxmlformats.org/officeDocument/2006/relationships" id="265" r:id="R3ddfb2fe63384746"/>
    <p:sldId xmlns:r="http://schemas.openxmlformats.org/officeDocument/2006/relationships" id="266" r:id="Rd21d865d796c4074"/>
    <p:sldId xmlns:r="http://schemas.openxmlformats.org/officeDocument/2006/relationships" id="267" r:id="R97cc7c789f354acf"/>
    <p:sldId xmlns:r="http://schemas.openxmlformats.org/officeDocument/2006/relationships" id="268" r:id="R5e94ab79873f4732"/>
    <p:sldId xmlns:r="http://schemas.openxmlformats.org/officeDocument/2006/relationships" id="269" r:id="Rbac1d02ed0434b18"/>
    <p:sldId xmlns:r="http://schemas.openxmlformats.org/officeDocument/2006/relationships" id="270" r:id="Rafb7cbe17877419e"/>
    <p:sldId xmlns:r="http://schemas.openxmlformats.org/officeDocument/2006/relationships" id="271" r:id="Rd71964b520c3498b"/>
    <p:sldId xmlns:r="http://schemas.openxmlformats.org/officeDocument/2006/relationships" id="272" r:id="R9ecf270a8e204edb"/>
    <p:sldId xmlns:r="http://schemas.openxmlformats.org/officeDocument/2006/relationships" id="273" r:id="R1638b4a95ea34a26"/>
    <p:sldId xmlns:r="http://schemas.openxmlformats.org/officeDocument/2006/relationships" id="274" r:id="Reefca831a1ab4da4"/>
    <p:sldId xmlns:r="http://schemas.openxmlformats.org/officeDocument/2006/relationships" id="275" r:id="R78a4bc6132604797"/>
    <p:sldId xmlns:r="http://schemas.openxmlformats.org/officeDocument/2006/relationships" id="276" r:id="Rb95d2a3f42874151"/>
    <p:sldId xmlns:r="http://schemas.openxmlformats.org/officeDocument/2006/relationships" id="277" r:id="Ra2d010dc00ac4c1d"/>
    <p:sldId xmlns:r="http://schemas.openxmlformats.org/officeDocument/2006/relationships" id="278" r:id="R77a8f63223a74d06"/>
    <p:sldId xmlns:r="http://schemas.openxmlformats.org/officeDocument/2006/relationships" id="279" r:id="Rc9eb146ef0f9484e"/>
    <p:sldId xmlns:r="http://schemas.openxmlformats.org/officeDocument/2006/relationships" id="280" r:id="Rcac97fa1bf184b72"/>
    <p:sldId xmlns:r="http://schemas.openxmlformats.org/officeDocument/2006/relationships" id="281" r:id="R39d0a92b2fcb4243"/>
    <p:sldId xmlns:r="http://schemas.openxmlformats.org/officeDocument/2006/relationships" id="282" r:id="Rf0abc69e7add43ca"/>
    <p:sldId xmlns:r="http://schemas.openxmlformats.org/officeDocument/2006/relationships" id="283" r:id="Rf877663eea8243be"/>
    <p:sldId xmlns:r="http://schemas.openxmlformats.org/officeDocument/2006/relationships" id="284" r:id="R04246ab66b684f59"/>
    <p:sldId xmlns:r="http://schemas.openxmlformats.org/officeDocument/2006/relationships" id="285" r:id="R0d4b991cd2154771"/>
    <p:sldId xmlns:r="http://schemas.openxmlformats.org/officeDocument/2006/relationships" id="286" r:id="Rb36b2be0842c40e9"/>
    <p:sldId xmlns:r="http://schemas.openxmlformats.org/officeDocument/2006/relationships" id="287" r:id="Rfd6d765b45054e02"/>
    <p:sldId xmlns:r="http://schemas.openxmlformats.org/officeDocument/2006/relationships" id="288" r:id="Rc9998d6b73c844c7"/>
    <p:sldId xmlns:r="http://schemas.openxmlformats.org/officeDocument/2006/relationships" id="289" r:id="Rf751df90e11e49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9cc421607144f2" /><Relationship Type="http://schemas.openxmlformats.org/officeDocument/2006/relationships/slideMaster" Target="/ppt/slideMasters/slideMaster1.xml" Id="R7d116e301e2949a1" /><Relationship Type="http://schemas.openxmlformats.org/officeDocument/2006/relationships/notesMaster" Target="/ppt/notesMasters/notesMaster1.xml" Id="R4d67bd3a02f342f6" /><Relationship Type="http://schemas.openxmlformats.org/officeDocument/2006/relationships/presProps" Target="/ppt/presProps.xml" Id="R840182e79cdc4416" /><Relationship Type="http://schemas.openxmlformats.org/officeDocument/2006/relationships/tableStyles" Target="/ppt/tableStyles.xml" Id="Rc129d51974b84e98" /><Relationship Type="http://schemas.openxmlformats.org/officeDocument/2006/relationships/slide" Target="/ppt/slides/slide1.xml" Id="R4ccb37dfc6414719" /><Relationship Type="http://schemas.openxmlformats.org/officeDocument/2006/relationships/slide" Target="/ppt/slides/slide2.xml" Id="Rb1451e28d72b4656" /><Relationship Type="http://schemas.openxmlformats.org/officeDocument/2006/relationships/slide" Target="/ppt/slides/slide3.xml" Id="R3722047bd6e940d4" /><Relationship Type="http://schemas.openxmlformats.org/officeDocument/2006/relationships/slide" Target="/ppt/slides/slide4.xml" Id="Racca7db4825644ca" /><Relationship Type="http://schemas.openxmlformats.org/officeDocument/2006/relationships/slide" Target="/ppt/slides/slide5.xml" Id="R95078e4761344eee" /><Relationship Type="http://schemas.openxmlformats.org/officeDocument/2006/relationships/slide" Target="/ppt/slides/slide6.xml" Id="Rf668c00768834fb5" /><Relationship Type="http://schemas.openxmlformats.org/officeDocument/2006/relationships/slide" Target="/ppt/slides/slide7.xml" Id="Rfbaf35564d424a36" /><Relationship Type="http://schemas.openxmlformats.org/officeDocument/2006/relationships/slide" Target="/ppt/slides/slide8.xml" Id="Rd2a50c39059e46f1" /><Relationship Type="http://schemas.openxmlformats.org/officeDocument/2006/relationships/slide" Target="/ppt/slides/slide9.xml" Id="R323f7056a2c2406e" /><Relationship Type="http://schemas.openxmlformats.org/officeDocument/2006/relationships/slide" Target="/ppt/slides/slide10.xml" Id="R3ddfb2fe63384746" /><Relationship Type="http://schemas.openxmlformats.org/officeDocument/2006/relationships/slide" Target="/ppt/slides/slide11.xml" Id="Rd21d865d796c4074" /><Relationship Type="http://schemas.openxmlformats.org/officeDocument/2006/relationships/slide" Target="/ppt/slides/slide12.xml" Id="R97cc7c789f354acf" /><Relationship Type="http://schemas.openxmlformats.org/officeDocument/2006/relationships/slide" Target="/ppt/slides/slide13.xml" Id="R5e94ab79873f4732" /><Relationship Type="http://schemas.openxmlformats.org/officeDocument/2006/relationships/slide" Target="/ppt/slides/slide14.xml" Id="Rbac1d02ed0434b18" /><Relationship Type="http://schemas.openxmlformats.org/officeDocument/2006/relationships/slide" Target="/ppt/slides/slide15.xml" Id="Rafb7cbe17877419e" /><Relationship Type="http://schemas.openxmlformats.org/officeDocument/2006/relationships/slide" Target="/ppt/slides/slide16.xml" Id="Rd71964b520c3498b" /><Relationship Type="http://schemas.openxmlformats.org/officeDocument/2006/relationships/slide" Target="/ppt/slides/slide17.xml" Id="R9ecf270a8e204edb" /><Relationship Type="http://schemas.openxmlformats.org/officeDocument/2006/relationships/slide" Target="/ppt/slides/slide18.xml" Id="R1638b4a95ea34a26" /><Relationship Type="http://schemas.openxmlformats.org/officeDocument/2006/relationships/slide" Target="/ppt/slides/slide19.xml" Id="Reefca831a1ab4da4" /><Relationship Type="http://schemas.openxmlformats.org/officeDocument/2006/relationships/slide" Target="/ppt/slides/slide20.xml" Id="R78a4bc6132604797" /><Relationship Type="http://schemas.openxmlformats.org/officeDocument/2006/relationships/slide" Target="/ppt/slides/slide21.xml" Id="Rb95d2a3f42874151" /><Relationship Type="http://schemas.openxmlformats.org/officeDocument/2006/relationships/slide" Target="/ppt/slides/slide22.xml" Id="Ra2d010dc00ac4c1d" /><Relationship Type="http://schemas.openxmlformats.org/officeDocument/2006/relationships/slide" Target="/ppt/slides/slide23.xml" Id="R77a8f63223a74d06" /><Relationship Type="http://schemas.openxmlformats.org/officeDocument/2006/relationships/slide" Target="/ppt/slides/slide24.xml" Id="Rc9eb146ef0f9484e" /><Relationship Type="http://schemas.openxmlformats.org/officeDocument/2006/relationships/slide" Target="/ppt/slides/slide25.xml" Id="Rcac97fa1bf184b72" /><Relationship Type="http://schemas.openxmlformats.org/officeDocument/2006/relationships/slide" Target="/ppt/slides/slide26.xml" Id="R39d0a92b2fcb4243" /><Relationship Type="http://schemas.openxmlformats.org/officeDocument/2006/relationships/slide" Target="/ppt/slides/slide27.xml" Id="Rf0abc69e7add43ca" /><Relationship Type="http://schemas.openxmlformats.org/officeDocument/2006/relationships/slide" Target="/ppt/slides/slide28.xml" Id="Rf877663eea8243be" /><Relationship Type="http://schemas.openxmlformats.org/officeDocument/2006/relationships/slide" Target="/ppt/slides/slide29.xml" Id="R04246ab66b684f59" /><Relationship Type="http://schemas.openxmlformats.org/officeDocument/2006/relationships/slide" Target="/ppt/slides/slide30.xml" Id="R0d4b991cd2154771" /><Relationship Type="http://schemas.openxmlformats.org/officeDocument/2006/relationships/slide" Target="/ppt/slides/slide31.xml" Id="Rb36b2be0842c40e9" /><Relationship Type="http://schemas.openxmlformats.org/officeDocument/2006/relationships/slide" Target="/ppt/slides/slide32.xml" Id="Rfd6d765b45054e02" /><Relationship Type="http://schemas.openxmlformats.org/officeDocument/2006/relationships/slide" Target="/ppt/slides/slide33.xml" Id="Rc9998d6b73c844c7" /><Relationship Type="http://schemas.openxmlformats.org/officeDocument/2006/relationships/slide" Target="/ppt/slides/slide34.xml" Id="Rf751df90e11e49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223f210cc84e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49847f3c00409e" /><Relationship Type="http://schemas.openxmlformats.org/officeDocument/2006/relationships/notesMaster" Target="/ppt/notesMasters/notesMaster1.xml" Id="R3927a8b85e4e41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fc45dd43174047" /><Relationship Type="http://schemas.openxmlformats.org/officeDocument/2006/relationships/notesMaster" Target="/ppt/notesMasters/notesMaster1.xml" Id="R16cbc101cdfd40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62f80b50a14e12" /><Relationship Type="http://schemas.openxmlformats.org/officeDocument/2006/relationships/notesMaster" Target="/ppt/notesMasters/notesMaster1.xml" Id="R72dcbee5d40b46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fc082ea4a24370" /><Relationship Type="http://schemas.openxmlformats.org/officeDocument/2006/relationships/notesMaster" Target="/ppt/notesMasters/notesMaster1.xml" Id="R1cce9cfb2f7d4f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360f51f77a4def" /><Relationship Type="http://schemas.openxmlformats.org/officeDocument/2006/relationships/notesMaster" Target="/ppt/notesMasters/notesMaster1.xml" Id="R6019cca359a54e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e04672ab804933" /><Relationship Type="http://schemas.openxmlformats.org/officeDocument/2006/relationships/notesMaster" Target="/ppt/notesMasters/notesMaster1.xml" Id="R6f7f929cd55f47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efac108247402c" /><Relationship Type="http://schemas.openxmlformats.org/officeDocument/2006/relationships/notesMaster" Target="/ppt/notesMasters/notesMaster1.xml" Id="R0c3d83b09c6d47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6f591907904930" /><Relationship Type="http://schemas.openxmlformats.org/officeDocument/2006/relationships/notesMaster" Target="/ppt/notesMasters/notesMaster1.xml" Id="R024113c1d96849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eb492086604982" /><Relationship Type="http://schemas.openxmlformats.org/officeDocument/2006/relationships/notesMaster" Target="/ppt/notesMasters/notesMaster1.xml" Id="Rc056ab170a5348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778f7502384a60" /><Relationship Type="http://schemas.openxmlformats.org/officeDocument/2006/relationships/notesMaster" Target="/ppt/notesMasters/notesMaster1.xml" Id="Ra4f2d71ce4be49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c20e78a872430f" /><Relationship Type="http://schemas.openxmlformats.org/officeDocument/2006/relationships/notesMaster" Target="/ppt/notesMasters/notesMaster1.xml" Id="R3afbc43d3b4d4f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0d6fd0ad10447d" /><Relationship Type="http://schemas.openxmlformats.org/officeDocument/2006/relationships/notesMaster" Target="/ppt/notesMasters/notesMaster1.xml" Id="Rc95e0dd0ea1849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28f9f0a5c044eb" /><Relationship Type="http://schemas.openxmlformats.org/officeDocument/2006/relationships/notesMaster" Target="/ppt/notesMasters/notesMaster1.xml" Id="R0a33eae4eb2546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0eb795f94348bf" /><Relationship Type="http://schemas.openxmlformats.org/officeDocument/2006/relationships/notesMaster" Target="/ppt/notesMasters/notesMaster1.xml" Id="Rdca99449549443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0f8a8d5a594439" /><Relationship Type="http://schemas.openxmlformats.org/officeDocument/2006/relationships/notesMaster" Target="/ppt/notesMasters/notesMaster1.xml" Id="Ra256fb970af540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07dc8177ec43d6" /><Relationship Type="http://schemas.openxmlformats.org/officeDocument/2006/relationships/notesMaster" Target="/ppt/notesMasters/notesMaster1.xml" Id="R2365e33925a844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3a445006af48bc" /><Relationship Type="http://schemas.openxmlformats.org/officeDocument/2006/relationships/notesMaster" Target="/ppt/notesMasters/notesMaster1.xml" Id="R335f0348fa804df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57669800374369" /><Relationship Type="http://schemas.openxmlformats.org/officeDocument/2006/relationships/notesMaster" Target="/ppt/notesMasters/notesMaster1.xml" Id="Rd50bc371532b4f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cd1a2e06f7425d" /><Relationship Type="http://schemas.openxmlformats.org/officeDocument/2006/relationships/notesMaster" Target="/ppt/notesMasters/notesMaster1.xml" Id="R2f62c80546e048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2bb4eab0644952" /><Relationship Type="http://schemas.openxmlformats.org/officeDocument/2006/relationships/notesMaster" Target="/ppt/notesMasters/notesMaster1.xml" Id="R4b0fe18ced6c46f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b2077a866db4771" /><Relationship Type="http://schemas.openxmlformats.org/officeDocument/2006/relationships/notesMaster" Target="/ppt/notesMasters/notesMaster1.xml" Id="R92731f1d9f24408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c3452f230cc4c78" /><Relationship Type="http://schemas.openxmlformats.org/officeDocument/2006/relationships/notesMaster" Target="/ppt/notesMasters/notesMaster1.xml" Id="R8cae429c660e446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2da5cba92814661" /><Relationship Type="http://schemas.openxmlformats.org/officeDocument/2006/relationships/notesMaster" Target="/ppt/notesMasters/notesMaster1.xml" Id="R245fcd29c1fe4a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2ac1601a5f84cce" /><Relationship Type="http://schemas.openxmlformats.org/officeDocument/2006/relationships/notesMaster" Target="/ppt/notesMasters/notesMaster1.xml" Id="Rbe8974873721431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ee7e540dd2d4d65" /><Relationship Type="http://schemas.openxmlformats.org/officeDocument/2006/relationships/notesMaster" Target="/ppt/notesMasters/notesMaster1.xml" Id="Rab7206e5b4b6417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8e6b893817e4ff0" /><Relationship Type="http://schemas.openxmlformats.org/officeDocument/2006/relationships/notesMaster" Target="/ppt/notesMasters/notesMaster1.xml" Id="Rf540ec17c8894f4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29ee047056041f2" /><Relationship Type="http://schemas.openxmlformats.org/officeDocument/2006/relationships/notesMaster" Target="/ppt/notesMasters/notesMaster1.xml" Id="R1cf7aa4bf46347b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9b5065363a64eb1" /><Relationship Type="http://schemas.openxmlformats.org/officeDocument/2006/relationships/notesMaster" Target="/ppt/notesMasters/notesMaster1.xml" Id="R4baf9177fb5c404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8c1147a17dc4d3b" /><Relationship Type="http://schemas.openxmlformats.org/officeDocument/2006/relationships/notesMaster" Target="/ppt/notesMasters/notesMaster1.xml" Id="R26b47e789bfa4b8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06fc25e2368477a" /><Relationship Type="http://schemas.openxmlformats.org/officeDocument/2006/relationships/notesMaster" Target="/ppt/notesMasters/notesMaster1.xml" Id="Reabcfe38a8ea42c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c7368399e944568" /><Relationship Type="http://schemas.openxmlformats.org/officeDocument/2006/relationships/notesMaster" Target="/ppt/notesMasters/notesMaster1.xml" Id="R6fcba55daa4d439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c5e3c59c0354f2e" /><Relationship Type="http://schemas.openxmlformats.org/officeDocument/2006/relationships/notesMaster" Target="/ppt/notesMasters/notesMaster1.xml" Id="R1c1608fbcaa1481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90fc6424a46415b" /><Relationship Type="http://schemas.openxmlformats.org/officeDocument/2006/relationships/notesMaster" Target="/ppt/notesMasters/notesMaster1.xml" Id="R2d49b0833f2d4b9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9ccd689848e44cd" /><Relationship Type="http://schemas.openxmlformats.org/officeDocument/2006/relationships/notesMaster" Target="/ppt/notesMasters/notesMaster1.xml" Id="R8d6bf7e74fcb48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Einheit richtet sich an Personen mit T-SQL-Grundkenntnissen. SELECT, ORDER BY, Parameter und Datenbankrechte werden vorausgesetzt. Die Schulung verbindet verständliche Grundlagen mit konkreten Beobachtungsaufträgen. Alle Daten sind synthetisch. Die neun implementierten Offline-Demos besitzen begrenzte lokale Nachweise. Die weiteren neun Entwürfe besitzen eigene offene Gates. Live-Provider, vollständige Performancequalifikation, Teilnehmererprobung und Generalprobe sind damit nicht freigegeben. Begriffe und Übungen ergänzt das Offline-Arbeitsheft.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Machine Learning bezeichnet Verfahren, die Muster aus Trainingsdaten lernen. Ein Large Language Model ist ein Sprachmodell, dessen generative Verwendung neue Textfolgen erzeugt. Tokens sind die vom Modell verarbeiteten Einheiten. Sie können Teile eines Wortes, Zeichen oder andere vom Tokenizer definierte Einheiten sein. Zeichenzahl und Tokenzahl sind deshalb verschieden. Ein Embedding-Modell ordnet Eingaben einem numerischen Raum zu. Lassen Sie die Gruppe erklären, welches Ergebnis SQL deterministisch liefert und welche zusätzliche Unsicherheit eine generative Antwort einführt. Kein Modellschritt garantiert fachlich richtige Antworten. Das Lernziel ist eine begründete Auswahl und Prüfung des jeweiligen Pfads. Bei fehlendem Vorwissen werden SQL-Parameter und eingeschränkte Rollen am synthetischen Fall erläutert.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SRC-095: Retrieval-Augmented Generation for Knowledge-Intensive NLP Tasks</a:t>
            </a:r>
          </a:p>
          <a:p xmlns:a="http://schemas.openxmlformats.org/drawingml/2006/main">
            <a:r>
              <a:t>https://papers.nips.cc/paper_files/paper/2020/hash/6b493230205f780e1bc26945df7481e5-Abstract.html</a:t>
            </a:r>
          </a:p>
          <a:p xmlns:a="http://schemas.openxmlformats.org/drawingml/2006/main">
            <a:r>
              <a:t>Abrufdatum laut Quellenregister: 2026-10-11</a:t>
            </a:r>
          </a:p>
          <a:p xmlns:a="http://schemas.openxmlformats.org/drawingml/2006/main">
            <a:r>
              <a:t/>
            </a:r>
          </a:p>
          <a:p xmlns:a="http://schemas.openxmlformats.org/drawingml/2006/main">
            <a:r>
              <a:t>Projektquelle: Documentation/Curriculum/TRACEABILITY_MATRIX.md</a:t>
            </a:r>
          </a:p>
          <a:p xmlns:a="http://schemas.openxmlformats.org/drawingml/2006/main">
            <a:r>
              <a:t/>
            </a:r>
          </a:p>
          <a:p xmlns:a="http://schemas.openxmlformats.org/drawingml/2006/main">
            <a:r>
              <a:t>Didaktische Zuordnung: CUR-013–CUR-022.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Zeiten stammen aus dem kanonischen Workstreamplan und sind Schätzungen. Eine Vierstundenfassung ist eine gekürzte Einführung. Das Deck deckt alle Module ab, ersetzt aber weder sämtliche praktischen Versuche noch deren Abnahmen. Für BASIS eignen sich Vektortyp, Distanz, Chunking, Offline-RAG und eine Rechtekontrolle. STANDARD ergänzt den zusammenhängenden Offlinepfad und die methodischen Vertiefungen. VERTIEFUNG behandelt offene Performance-, Provider- und Betriebsfragen als eigenständige Aufgaben mit ihren Gates.</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Erklären Sie den Ablauf an einer synthetischen technischen Frage. Ingestion läuft vor der Suche: Dokumentversion importieren, Chunks erzeugen, Embeddings prüfen und speichern. Zur Suchzeit kommen Frageembedding und authentifizierter Tenant hinzu. Der Retrievalpfad liefert ausschließlich erlaubte Quellen. Die Anwendung prüft diese Quellen und stellt einen begrenzten Kontext zusammen. Die generative Stufe liegt in der Anwendung. Ein SQL External Model mit MODEL_TYPE=EMBEDDINGS ist kein allgemeines Chatmodell im Database Engine Prozess.</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SRC-095: Retrieval-Augmented Generation for Knowledge-Intensive NLP Tasks</a:t>
            </a:r>
          </a:p>
          <a:p xmlns:a="http://schemas.openxmlformats.org/drawingml/2006/main">
            <a:r>
              <a:t>https://papers.nips.cc/paper_files/paper/2020/hash/6b493230205f780e1bc26945df7481e5-Abstract.html</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CUR-016 /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Engineversion und Compatibility Level sind getrennte Eigenschaften. Der gewählte Workstream verwendet CL170, selbst wenn eine einzelne Funktion kein solches Minimum dokumentiert. SQL Server 2022 besitzt die hier besprochenen nativen VECTOR-/AI-Funktionen nicht. Clientassistenz kann dagegen auch mit älteren Engines arbeiten. Die lokale Offlinequalifikation betrifft Linux/Docker und ergänzend Podman. Andere Editionen und Windows werden daraus nicht abgeleitet. float16 und ANN bleiben Preview. Azure-spezifische Syntax wird nicht ungeprüft auf SQL Server übertragen.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SRC-077: CREATE VECTOR INDEX</a:t>
            </a:r>
          </a:p>
          <a:p xmlns:a="http://schemas.openxmlformats.org/drawingml/2006/main">
            <a:r>
              <a:t>https://learn.microsoft.com/en-us/sql/t-sql/statements/create-vector-index-transact-sql?view=sql-server-ver17</a:t>
            </a:r>
          </a:p>
          <a:p xmlns:a="http://schemas.openxmlformats.org/drawingml/2006/main">
            <a:r>
              <a:t>Abrufdatum laut Quellenregister: 2026-10-11</a:t>
            </a:r>
          </a:p>
          <a:p xmlns:a="http://schemas.openxmlformats.org/drawingml/2006/main">
            <a:r>
              <a:t/>
            </a:r>
          </a:p>
          <a:p xmlns:a="http://schemas.openxmlformats.org/drawingml/2006/main">
            <a:r>
              <a:t>SRC-078: VECTOR_SEARCH</a:t>
            </a:r>
          </a:p>
          <a:p xmlns:a="http://schemas.openxmlformats.org/drawingml/2006/main">
            <a:r>
              <a:t>https://learn.microsoft.com/en-us/sql/t-sql/functions/vector-search-transact-sql?view=sql-server-ver17</a:t>
            </a:r>
          </a:p>
          <a:p xmlns:a="http://schemas.openxmlformats.org/drawingml/2006/main">
            <a:r>
              <a:t>Abrufdatum laut Quellenregister: 2026-10-11</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SRC-083: SQL Server 2025 editions</a:t>
            </a:r>
          </a:p>
          <a:p xmlns:a="http://schemas.openxmlformats.org/drawingml/2006/main">
            <a:r>
              <a:t>https://learn.microsoft.com/en-us/sql/sql-server/editions-and-components-of-sql-server-2025?view=sql-server-ver17</a:t>
            </a:r>
          </a:p>
          <a:p xmlns:a="http://schemas.openxmlformats.org/drawingml/2006/main">
            <a:r>
              <a:t>Abrufdatum laut Quellenregister: 2026-10-11</a:t>
            </a:r>
          </a:p>
          <a:p xmlns:a="http://schemas.openxmlformats.org/drawingml/2006/main">
            <a:r>
              <a:t/>
            </a:r>
          </a:p>
          <a:p xmlns:a="http://schemas.openxmlformats.org/drawingml/2006/main">
            <a:r>
              <a:t>SRC-084: SQL Server 2025 on Linux editions</a:t>
            </a:r>
          </a:p>
          <a:p xmlns:a="http://schemas.openxmlformats.org/drawingml/2006/main">
            <a:r>
              <a:t>https://learn.microsoft.com/en-us/sql/linux/sql-server-linux-editions-and-components-2025?view=sql-server-ver17</a:t>
            </a:r>
          </a:p>
          <a:p xmlns:a="http://schemas.openxmlformats.org/drawingml/2006/main">
            <a:r>
              <a:t>Abrufdatum laut Quellenregister: 2026-10-11</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CUR-014 / CUR-016 / CUR-019.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Verwenden Sie ausschließlich den manifestbasierten Aufrufer aus Documentation/HowTo/DEMO_EXECUTION_GUIDE.md auf einer eigenen dedizierten Testinstanz. Nach Einrichten der dort dokumentierten Funktion lautet ein konkreter Aufruf: Invoke-SqlPerfDemo -DemoId QRY-014 -Server $server -Authentication $authentication -Username $username. Für SQL-Authentifizierung kommt das Passwort ausschließlich aus SQLCMDPASSWORD in der Umgebung. Der Aufrufer führt die tatsächlichen Manifestphasen aus. Summary, Assertions und unabhängige eigene DB-Abwesenheit gemeinsam lesen. PASS gilt für den konkreten Vertrag. WARN, SKIP und FAIL bleiben sichtbar. Bei Abbruch nur den dokumentierten markergebundenen Recovery verwenden. Ein Namensmuster autorisiert keinen DROP. Die neun zusätzlichen PROPOSED-Entwürfe folgen später in der Vertiefung.</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Documentation/Demo_Catalog/README.md</a:t>
            </a:r>
          </a:p>
          <a:p xmlns:a="http://schemas.openxmlformats.org/drawingml/2006/main">
            <a:r>
              <a:t/>
            </a:r>
          </a:p>
          <a:p xmlns:a="http://schemas.openxmlformats.org/drawingml/2006/main">
            <a:r>
              <a:t>Projektquelle: Documentation/HowTo/DEMO_EXECUTION_GUIDE.md</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Didaktische Zuordnung: CUR-013–CUR-022.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synthetische Beispiel verwendet geometrische Vektoren mit drei Komponenten. Es benötigt kein Modell und erklärt keine reale Sprachsemantik. Die Payloadabschätzung 4d beziehungsweise 2d ist kein gemessener Tabellen- oder Indexspeicher. Tatsächliche Allocations und weitere Spalten sind gesondert zu messen. VECTORPROPERTY liefert Dimensions- und Basistypinformation. Diese Metadaten ersetzen keine Modellkennung, keinen Digest und keine Versionsbindung. Bei Modellwechsel sind getrennte Spalten oder Tabellen vorgesehen.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SRC-076: VECTORPROPERTY</a:t>
            </a:r>
          </a:p>
          <a:p xmlns:a="http://schemas.openxmlformats.org/drawingml/2006/main">
            <a:r>
              <a:t>https://learn.microsoft.com/en-us/sql/t-sql/functions/vectorproperty-transact-sql?view=sql-server-ver17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Demos/09_AI_SQL_Server_2025/QRY-014_Vector_Type/README.md</a:t>
            </a:r>
          </a:p>
          <a:p xmlns:a="http://schemas.openxmlformats.org/drawingml/2006/main">
            <a:r>
              <a:t/>
            </a:r>
          </a:p>
          <a:p xmlns:a="http://schemas.openxmlformats.org/drawingml/2006/main">
            <a:r>
              <a:t>Didaktische Zuordnung: CUR-013 /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Lehrperson zeigt zuerst die Vorhersagefrage und startet anschließend QRY-014 über den Ausführungsleitfaden. Lesen Sie die fünf synthetischen Rows und die festen Assertions. Vergleichen Sie einen syntaktisch ungültigen Wert mit einem gültigen Vektor aus einem anderen Modellraum. Lassen Sie zwei zusätzliche Provenienzfelder nennen, etwa Modellversion und Normalisierung. Die Gegenmaßnahme ist eine vorgelagerte Modell-/Dimensionsprüfung. Cleanup und eigene DB-Abwesenheit abschließen. float16 ist ein separat begrenzter Previewpfad und gehört nicht zur hier behaupteten Sprachmodellqualität.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QRY-014 -Server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Demos/09_AI_SQL_Server_2025/QRY-014_Vector_Type/README.md</a:t>
            </a:r>
          </a:p>
          <a:p xmlns:a="http://schemas.openxmlformats.org/drawingml/2006/main">
            <a:r>
              <a:t>Ergebnisvertrag: Demos/09_AI_SQL_Server_2025/QRY-014_Vector_Type/Expected/result-contract.json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SRC-076: VECTORPROPERTY</a:t>
            </a:r>
          </a:p>
          <a:p xmlns:a="http://schemas.openxmlformats.org/drawingml/2006/main">
            <a:r>
              <a:t>https://learn.microsoft.com/en-us/sql/t-sql/functions/vectorproperty-transact-sql?view=sql-server-ver17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Leiten Sie norm2 als Wurzel aus 3²+4² her. VECTOR_NORMALIZE mit norm2 skaliert diesen Vektor auf [0.6,0.8,0]. Die Metric entscheidet, ob Magnitude die Rangfolge beeinflusst. VECTOR_DISTANCE berechnet exakte Distanz und nutzt dafür keinen Vector Index. Das negatives Dot Product kann negative Werte liefern. Self-Dot ist deshalb nicht generell null. Null- und Zero-Vektoren werden als eigene Eingabefälle geprüft. Floating-Point-Toleranzen und deterministische Ties gehören zum jeweiligen Ergebnisvertrag.</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SRC-074: VECTOR_NORM</a:t>
            </a:r>
          </a:p>
          <a:p xmlns:a="http://schemas.openxmlformats.org/drawingml/2006/main">
            <a:r>
              <a:t>https://learn.microsoft.com/en-us/sql/t-sql/functions/vector-norm-transact-sql?view=sql-server-ver17</a:t>
            </a:r>
          </a:p>
          <a:p xmlns:a="http://schemas.openxmlformats.org/drawingml/2006/main">
            <a:r>
              <a:t>Abrufdatum laut Quellenregister: 2026-10-11</a:t>
            </a:r>
          </a:p>
          <a:p xmlns:a="http://schemas.openxmlformats.org/drawingml/2006/main">
            <a:r>
              <a:t/>
            </a:r>
          </a:p>
          <a:p xmlns:a="http://schemas.openxmlformats.org/drawingml/2006/main">
            <a:r>
              <a:t>SRC-075: VECTOR_NORMALIZE</a:t>
            </a:r>
          </a:p>
          <a:p xmlns:a="http://schemas.openxmlformats.org/drawingml/2006/main">
            <a:r>
              <a:t>https://learn.microsoft.com/en-us/sql/t-sql/functions/vector-normalize-transact-sql?view=sql-server-ver17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Query ist ein tatsächlicher Auszug aus der Implementierung, kein separater freier Demolauf. Der vollständige native Code enthält Kontext- und Eigentumsmarkerprüfungen. Starten Sie QRY-015 über den manifestbasierten Aufrufer. Der rohe Dot-Ersttreffer hat Id2 aufgrund seiner Magnitude. Baseline und Comparison erklären den Unterschied zur Euclidean-Suche sowie zur Normalisierung. ORDER BY Distance,Id löst Ties deterministisch. Lassen Sie die Werte 7,5,4 und −25 aus der vorherigen Folie berechnen. Eine deterministische Rangfolge belegt hier keine Sprachrelevanz.</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QRY-015 -Server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Demos/09_AI_SQL_Server_2025/QRY-015_Vector_Metrics/README.md</a:t>
            </a:r>
          </a:p>
          <a:p xmlns:a="http://schemas.openxmlformats.org/drawingml/2006/main">
            <a:r>
              <a:t>Ergebnisvertrag: Demos/09_AI_SQL_Server_2025/QRY-015_Vector_Metrics/Expected/result-contract.json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SRC-074: VECTOR_NORM</a:t>
            </a:r>
          </a:p>
          <a:p xmlns:a="http://schemas.openxmlformats.org/drawingml/2006/main">
            <a:r>
              <a:t>https://learn.microsoft.com/en-us/sql/t-sql/functions/vector-norm-transact-sql?view=sql-server-ver17</a:t>
            </a:r>
          </a:p>
          <a:p xmlns:a="http://schemas.openxmlformats.org/drawingml/2006/main">
            <a:r>
              <a:t>Abrufdatum laut Quellenregister: 2026-10-11</a:t>
            </a:r>
          </a:p>
          <a:p xmlns:a="http://schemas.openxmlformats.org/drawingml/2006/main">
            <a:r>
              <a:t/>
            </a:r>
          </a:p>
          <a:p xmlns:a="http://schemas.openxmlformats.org/drawingml/2006/main">
            <a:r>
              <a:t>SRC-075: VECTOR_NORMALIZE</a:t>
            </a:r>
          </a:p>
          <a:p xmlns:a="http://schemas.openxmlformats.org/drawingml/2006/main">
            <a:r>
              <a:t>https://learn.microsoft.com/en-us/sql/t-sql/functions/vector-normalize-transact-sql?view=sql-server-ver17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Erklären Sie Chunking zunächst ohne Modell. AI_GENERATE_CHUNKS ist eine lokale Tabellenfunktion und benötigt CL170. Ein Modelltokenizer kann denselben Text anders aufteilen. Die Summe überlappender Bereichslängen ist größer als die eindeutige Quelltextmenge. ENABLE_CHUNK_SET_ID kann Gruppen markieren, ersetzt aber keine dauerhafte Dokumentversionsbindung. Bei Dokumentupdate werden alte und neue Version nicht still vermischt. Chunkparameter und Embeddingprovenienz ermöglichen eine spätere Rekonstruktion.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Demos/09_AI_SQL_Server_2025/QRY-016_Chunk_Provenance/README.md</a:t>
            </a:r>
          </a:p>
          <a:p xmlns:a="http://schemas.openxmlformats.org/drawingml/2006/main">
            <a:r>
              <a:t/>
            </a:r>
          </a:p>
          <a:p xmlns:a="http://schemas.openxmlformats.org/drawingml/2006/main">
            <a:r>
              <a:t>Didaktische Zuordnung: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QRY-016 manifestbasiert. Die Fixture enthält zwei synthetische Dokumentversionen. Lassen Sie die Gruppe DocId, Version, chunk_order, chunk_offset und chunk_length ablesen und einen Bereich im Quelltext wiederfinden. Besprechen Sie getrennt den fachlichen Rekonstruktionsbeleg und die doppelt gezählten Bereiche durch Overlap. Gegenmaßnahme: Chunk und Embeddingversion zusammen halten, neue Dokumentversion getrennt importieren. Die Erwartungsresultate und die Trainerlösung liegen im Offline-Arbeitsheft. Cleanup und unabhängige eigene DB-Abwesenheit abschließen.</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QRY-016 -Server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Demos/09_AI_SQL_Server_2025/QRY-016_Chunk_Provenance/README.md</a:t>
            </a:r>
          </a:p>
          <a:p xmlns:a="http://schemas.openxmlformats.org/drawingml/2006/main">
            <a:r>
              <a:t>Ergebnisvertrag: Demos/09_AI_SQL_Server_2025/QRY-016_Chunk_Provenance/Expected/result-contract.json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verpflichtende Offlinepfad braucht keinen Provider. Der lokale Modellpfad braucht zusätzlich einen ausdrücklich vorbereiteten Modellservice mit Lizenz, Digest und endlichen Request-/Tokenlimits. Ein lokales HTTP-API erfüllt den direkten SQL-HTTPS-Vertrag noch nicht. Erreichbarkeit wird aus dem Enginekontext geprüft. localhost im SQL-Container bezeichnet den Container selbst. Cloud und ONNX werden in dieser Einheit als Architekturvarianten besprochen und nicht aktiviert. Die Linux-Editionstabelle und das konkrete Windows-ONNX-Verfahren sind nicht deckungsgleich, daher bleibt Linux-ONNX ohne Runtimeclaim. Der öffentliche Provider-Livepfad bleibt an DEC-033/SQLcmd-P blockiert.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SRC-085: Generate embeddings</a:t>
            </a:r>
          </a:p>
          <a:p xmlns:a="http://schemas.openxmlformats.org/drawingml/2006/main">
            <a:r>
              <a:t>https://docs.ollama.com/api/embed</a:t>
            </a:r>
          </a:p>
          <a:p xmlns:a="http://schemas.openxmlformats.org/drawingml/2006/main">
            <a:r>
              <a:t>Abrufdatum laut Quellenregister: 2026-10-11</a:t>
            </a:r>
          </a:p>
          <a:p xmlns:a="http://schemas.openxmlformats.org/drawingml/2006/main">
            <a:r>
              <a:t/>
            </a:r>
          </a:p>
          <a:p xmlns:a="http://schemas.openxmlformats.org/drawingml/2006/main">
            <a:r>
              <a:t>SRC-086: Authentication</a:t>
            </a:r>
          </a:p>
          <a:p xmlns:a="http://schemas.openxmlformats.org/drawingml/2006/main">
            <a:r>
              <a:t>https://docs.ollama.com/api/authentication</a:t>
            </a:r>
          </a:p>
          <a:p xmlns:a="http://schemas.openxmlformats.org/drawingml/2006/main">
            <a:r>
              <a:t>Abrufdatum laut Quellenregister: 2026-10-11</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Documentation/HowTo/SQL_SERVER_2025_AI_MODEL_PATHS.md</a:t>
            </a:r>
          </a:p>
          <a:p xmlns:a="http://schemas.openxmlformats.org/drawingml/2006/main">
            <a:r>
              <a:t/>
            </a:r>
          </a:p>
          <a:p xmlns:a="http://schemas.openxmlformats.org/drawingml/2006/main">
            <a:r>
              <a:t>Projektquelle: Documentation/Project_Planning/SQL_SERVER_2025_AI_PROVIDER_REVIEW.md</a:t>
            </a:r>
          </a:p>
          <a:p xmlns:a="http://schemas.openxmlformats.org/drawingml/2006/main">
            <a:r>
              <a:t/>
            </a:r>
          </a:p>
          <a:p xmlns:a="http://schemas.openxmlformats.org/drawingml/2006/main">
            <a:r>
              <a:t>Didaktische Zuordnung: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AI_GENERATE_EMBEDDINGS arbeitet mit einem vorkonfigurierten EMBEDDINGS-Modell. Modell-EXECUTE und Quelltext-SELECT sind von Model-/Credential-DDL getrennt. Ein dokumentiertes Beispiel ist noch kein kompatibler Transportvertrag. Die aktiven Referenzen besitzen eine Resultattypinkonsistenz zwischen Text und skalaren Beispielen, deshalb bleiben Resultattyp, VECTOR-Konvertierung und Treibertransport Probe-Gates. Das Deck führt keinen Livecall aus und speichert keine Credentials. Datenabfluss, Retention, Kosten und Endpointform werden pro Provider bewertet. Timeouts und Retries verbrauchen ebenfalls das endliche Budget.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DGN-008 über den Ausführungsleitfaden. Ordnen Sie die SQL-Grants den Rollen zu und lesen Sie die positiven Restbetriebsbelege nach der Grantreduktion. Leere Resultate oder behauptete Rolle allein sind kein Rechtebeleg. Die Demo erstellt tatsächlich ein Offline-External-Modelobjekt, aber keine Inferenz. Lassen Sie die Gruppe die zusätzlichen Bedingungen eines Livecalls nennen: TLS, Providervertrag, Modellresultat, Requestbudget und kontrollierter Credentialzugang. Ownerharness und Teilnehmerrechte bleiben getrennt. Entfernen Sie nur eigene markergebundene Ressourcen und prüfen Sie die eigene DB-Abwesenheit.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DGN-008 -Server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Demos/09_AI_SQL_Server_2025/DGN-008_Offline_Model_Rights/README.md</a:t>
            </a:r>
          </a:p>
          <a:p xmlns:a="http://schemas.openxmlformats.org/drawingml/2006/main">
            <a:r>
              <a:t>Ergebnisvertrag: Demos/09_AI_SQL_Server_2025/DGN-008_Offline_Model_Rights/Expected/result-contract.json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CUR-016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Pfade lösen unterschiedliche Suchaufgaben. Eine Identifierfrage kann eine relationale Gleichheit benötigen. Full-Text bewertet lexikalische Suchformen. Vector Search benötigt einen passenden Modellraum und fachliche Relevanzurteile. Exact Top-k ist das Vergleichsoracle für die ANN-Approximation, aber selbst kein Beleg fachlicher Relevanz. Relevanz misst man gegen eingefrorene Urteile. Recall@k misst die Überschneidung mit dem Exact Top-k unter demselben Kandidatenscope. Bei fehlendem Full-Text bleibt der Vergleich begrenzt. Keine Suchmethode wird pauschal als schneller oder besser dargestellt.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SRC-078: VECTOR_SEARCH</a:t>
            </a:r>
          </a:p>
          <a:p xmlns:a="http://schemas.openxmlformats.org/drawingml/2006/main">
            <a:r>
              <a:t>https://learn.microsoft.com/en-us/sql/t-sql/functions/vector-search-transact-sql?view=sql-server-ver17</a:t>
            </a:r>
          </a:p>
          <a:p xmlns:a="http://schemas.openxmlformats.org/drawingml/2006/main">
            <a:r>
              <a:t>Abrufdatum laut Quellenregister: 2026-10-11</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SRC-100: Full-Text Search</a:t>
            </a:r>
          </a:p>
          <a:p xmlns:a="http://schemas.openxmlformats.org/drawingml/2006/main">
            <a:r>
              <a:t>https://learn.microsoft.com/en-us/sql/relational-databases/search/full-text-search?view=sql-server-ver17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CUR-017 / CUR-020.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QRY-017 über den manifestbasierten Aufrufer. Notieren Sie den tatsächlich erlaubten Identifier-Treffer und dessen Tenant. Full-Text ist ein optionaler Teil und benötigt installierte Komponente sowie einen vollständig populierten Index. Fehlt dies, wird während dieser Einheit nichts nachinstalliert. Der fehlende Teil bleibt WARN. Die kleine Fixture besitzt keinen allgemeinen Performance- oder Semantikclaim. Fragen Sie, welche eingefrorenen Relevanzurteile und welche ausreichend aufgelösten Messungen für eine spätere Pfadempfehlung fehlen. Cleanup und unabhängige eigene DB-Abwesenheit prüfen.</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QRY-017 -Server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Demos/09_AI_SQL_Server_2025/QRY-017_Search_Comparison/README.md</a:t>
            </a:r>
          </a:p>
          <a:p xmlns:a="http://schemas.openxmlformats.org/drawingml/2006/main">
            <a:r>
              <a:t>Ergebnisvertrag: Demos/09_AI_SQL_Server_2025/QRY-017_Search_Comparison/Expected/result-contract.json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SRC-100: Full-Text Search</a:t>
            </a:r>
          </a:p>
          <a:p xmlns:a="http://schemas.openxmlformats.org/drawingml/2006/main">
            <a:r>
              <a:t>https://learn.microsoft.com/en-us/sql/relational-databases/search/full-text-search?view=sql-server-ver17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CUR-017 / CUR-020.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ergänzt eine generative Antwort um abgerufenen Kontext. Weder die Architektur noch eine plausible Antwort garantiert fachliche Richtigkeit. Die Quellenstelle muss den konkreten Claim stützen, in der erlaubten Version vorliegen und Bestandteil des tatsächlich gelieferten Kontexts sein. Ein fern liegender oder widersprüchlicher Treffer kann zur begründeten Nichtantwort führen. Die Anwendung begrenzt Kontextmenge und Claimformat. Offlinefixtures erlauben reproduzierbare Kontrollfälle, ersetzen aber keine unbekannte Livegeneration. Besprechen Sie die Fachbewertung getrennt von Distanz und Retrievalranking.</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SRC-095: Retrieval-Augmented Generation for Knowledge-Intensive NLP Tasks</a:t>
            </a:r>
          </a:p>
          <a:p xmlns:a="http://schemas.openxmlformats.org/drawingml/2006/main">
            <a:r>
              <a:t>https://papers.nips.cc/paper_files/paper/2020/hash/6b493230205f780e1bc26945df7481e5-Abstract.html</a:t>
            </a:r>
          </a:p>
          <a:p xmlns:a="http://schemas.openxmlformats.org/drawingml/2006/main">
            <a:r>
              <a:t>Abrufdatum laut Quellenregister: 2026-10-11</a:t>
            </a:r>
          </a:p>
          <a:p xmlns:a="http://schemas.openxmlformats.org/drawingml/2006/main">
            <a:r>
              <a:t/>
            </a:r>
          </a:p>
          <a:p xmlns:a="http://schemas.openxmlformats.org/drawingml/2006/main">
            <a:r>
              <a:t>Projektquelle: Demos/09_AI_SQL_Server_2025/QRY-018_Offline_RAG/README.md</a:t>
            </a:r>
          </a:p>
          <a:p xmlns:a="http://schemas.openxmlformats.org/drawingml/2006/main">
            <a:r>
              <a:t/>
            </a:r>
          </a:p>
          <a:p xmlns:a="http://schemas.openxmlformats.org/drawingml/2006/main">
            <a:r>
              <a:t>Didaktische Zuordnung: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die Gruppe die vier Entscheidungen zunächst ohne Lösung vorhersagen. Starten Sie dann QRY-018 manifestbasiert. Lesen Sie Claim, tatsächlich abgerufene Quellenstelle, Version und Ergebnisstatus zusammen. Die vier Fälle ergeben eine akzeptierte, eine abgelehnte und zwei nicht beantwortete Situationen. Die feste Claimprüfung und die Fixture-Distanzschwelle sind keine universelle Antwortkorrektheitsregel. Fragen Sie nach einem zusätzlichen widersprüchlichen Dokument und dem Verhalten bei Revoke. Die einzige Trainerlösung wird im Offline-Arbeitsheft gepflegt. Cleanup und eigene DB-Abwesenheit abschließen.</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QRY-018 -Server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Demos/09_AI_SQL_Server_2025/QRY-018_Offline_RAG/README.md</a:t>
            </a:r>
          </a:p>
          <a:p xmlns:a="http://schemas.openxmlformats.org/drawingml/2006/main">
            <a:r>
              <a:t>Ergebnisvertrag: Demos/09_AI_SQL_Server_2025/QRY-018_Offline_RAG/Expected/result-contract.json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SRC-095: Retrieval-Augmented Generation for Knowledge-Intensive NLP Tasks</a:t>
            </a:r>
          </a:p>
          <a:p xmlns:a="http://schemas.openxmlformats.org/drawingml/2006/main">
            <a:r>
              <a:t>https://papers.nips.cc/paper_files/paper/2020/hash/6b493230205f780e1bc26945df7481e5-Abstract.html</a:t>
            </a:r>
          </a:p>
          <a:p xmlns:a="http://schemas.openxmlformats.org/drawingml/2006/main">
            <a:r>
              <a:t>Abrufdatum laut Quellenregister: 2026-10-11</a:t>
            </a:r>
          </a:p>
          <a:p xmlns:a="http://schemas.openxmlformats.org/drawingml/2006/main">
            <a:r>
              <a:t/>
            </a:r>
          </a:p>
          <a:p xmlns:a="http://schemas.openxmlformats.org/drawingml/2006/main">
            <a:r>
              <a:t>Didaktische Zuordnung: CUR-017 /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Autorisierung wird vor Übergabe an das LLM umgesetzt. Modelltext und abgerufene Dokumente erhalten keine zusätzliche Ausführungsbefugnis. Ein Promptfilter oder ein Klick zur Bestätigung ersetzt keine SQL-Rechte. Der authentifizierte Kontext muss gegen manipulierbare Tenantwerte und später gegen Pooling geprüft werden. Credentials und Rawdiagnose gehören außerhalb der Schulungsartefakte. Providerabhängige Retention ist separat zu bewerten. Dieses Material demonstriert synthetische Kontrollfälle und beansprucht keine allgemeine Sicherheits- oder Compliancegarantie.</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SRC-093: Row-Level Security</a:t>
            </a:r>
          </a:p>
          <a:p xmlns:a="http://schemas.openxmlformats.org/drawingml/2006/main">
            <a:r>
              <a:t>https://learn.microsoft.com/en-us/sql/relational-databases/security/row-level-security?view=sql-server-ver17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QRY-019 manifestbasiert. Die Wertparameter werden tatsächlich gebunden, anstatt einen Angriffstext in ein privilegiertes Statement einzufügen. Ein zulässiger Literalwert kann Sonderzeichen enthalten. Die Strukturpolicy lehnt eine zusätzliche Query ab. Tabellen- oder Spaltennamen lassen sich nicht als gewöhnliche Wertparameter substituieren und benötigen eine feste Struktur beziehungsweise geprüfte Allowlist. Zeigen Sie die getrennten SQL-Rechtefehler. Der dbo-Kontrollharness ist kein Teilnehmerrecht. Diese Parametertechnik ist älter als SQL Server 2025, während der Demo-Versions-SKIP die Grenze des Workstreams bezeichnet. Cleanup und eigene DB-Abwesenheit prüfen.</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QRY-019 -Server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Demos/09_AI_SQL_Server_2025/QRY-019_SQL_Input_Policy/README.md</a:t>
            </a:r>
          </a:p>
          <a:p xmlns:a="http://schemas.openxmlformats.org/drawingml/2006/main">
            <a:r>
              <a:t>Ergebnisvertrag: Demos/09_AI_SQL_Server_2025/QRY-019_SQL_Input_Policy/Expected/result-contract.json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Didaktische Zuordnung: CUR-018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DGN-009 über den Ausführungsleitfaden. Verfolgen Sie zuerst den tatsächlichen Retrievalpfad der manipulierten Quelle. Danach zeigen Sie die feste Antwort- und Toolfixture. Die Policy entscheidet unabhängig vom Wortlaut des Quelleninhalts. Zusätzlich belegen echte SQL-Rechtefehler die Datenbankgrenze. Eine feste Fixture ermöglicht eine wiederholbare Beobachtung, beweist aber keine Resistenz jedes späteren LLMs gegen Prompt Injection. Der Transferauftrag fragt nach einem erlaubten Dokument, das eine unerlaubte Toolaktion verlangt. Keine unbekannten Tools oder Provider aktivieren. Cleanup und eigene DB-Abwesenheit prüfen.</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DGN-009 -Server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Demos/09_AI_SQL_Server_2025/DGN-009_Offline_Injection/README.md</a:t>
            </a:r>
          </a:p>
          <a:p xmlns:a="http://schemas.openxmlformats.org/drawingml/2006/main">
            <a:r>
              <a:t>Ergebnisvertrag: Demos/09_AI_SQL_Server_2025/DGN-009_Offline_Injection/Expected/result-contract.json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SRC-090: SSMS Agent mode</a:t>
            </a:r>
          </a:p>
          <a:p xmlns:a="http://schemas.openxmlformats.org/drawingml/2006/main">
            <a:r>
              <a:t>https://learn.microsoft.com/en-us/ssms/github-copilot/agent-mode</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CON-010 manifestbasiert. Prüfen Sie zwei Baselinezeilen, zwei erlaubte vollständige Quellenkontexte, null fremde Rows, drei Rechteverweigerungen, null Rows nach Revoke und einen Kontextreset. Die drei WITHOUT LOGIN Benutzer besitzen ausschließlich die sechs geprüften CONNECT-/SELECT-Grants. Der privilegierte Labowner ist im eingefrorenen Prädikat ausdrücklich zugelassen, um Fixture und Cleanup zu verwalten. Die Demo schützt deshalb nicht vor diesem Owner. RLS filtert dbo, wenn ein Prädikat keine entsprechende Ausnahme besitzt. Reale Serverlogins, mehrere Sessions, Pooling, ANN-Postfilter und Seitenkanäle brauchen eigene Nachweise. Cleanup ist markergebunden und unabhängig zu bestätigen.</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CON-010 -Server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Demos/09_AI_SQL_Server_2025/CON-010_Tenant_Isolation/README.md</a:t>
            </a:r>
          </a:p>
          <a:p xmlns:a="http://schemas.openxmlformats.org/drawingml/2006/main">
            <a:r>
              <a:t>Ergebnisvertrag: Demos/09_AI_SQL_Server_2025/CON-010_Tenant_Isolation/Expected/result-contract.json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SRC-093: Row-Level Security</a:t>
            </a:r>
          </a:p>
          <a:p xmlns:a="http://schemas.openxmlformats.org/drawingml/2006/main">
            <a:r>
              <a:t>https://learn.microsoft.com/en-us/sql/relational-databases/security/row-level-security?view=sql-server-ver17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DiskANN beschreibt eine approximative Suche. Das Forschungspaper erklärt das Konzept, verspricht aber keine SQL-Internals oder Performance. Ein kompatibler Vector Index und die passende Metric sind notwendige Prüfobjekte. Ein kNN-Fallback kann bei fehlendem kompatiblem ANN-Index auftreten. Daher ist der Name VECTOR_SEARCH allein kein ANN-Beweis. SQL Server 2025 und neue Azure-Indexformen besitzen unterschiedliche Syntax- und Filtergrenzen. In der lokalen Quelle ist ein begrenztes Legacy-TOP_N-Profil auf 17.0.5005.3 erlaubt, bei numerischer Generation UNKNOWN/WARN. Ein Treffer nach Postfilter kann zu weniger als k Rows führen.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SRC-077: CREATE VECTOR INDEX</a:t>
            </a:r>
          </a:p>
          <a:p xmlns:a="http://schemas.openxmlformats.org/drawingml/2006/main">
            <a:r>
              <a:t>https://learn.microsoft.com/en-us/sql/t-sql/statements/create-vector-index-transact-sql?view=sql-server-ver17</a:t>
            </a:r>
          </a:p>
          <a:p xmlns:a="http://schemas.openxmlformats.org/drawingml/2006/main">
            <a:r>
              <a:t>Abrufdatum laut Quellenregister: 2026-10-11</a:t>
            </a:r>
          </a:p>
          <a:p xmlns:a="http://schemas.openxmlformats.org/drawingml/2006/main">
            <a:r>
              <a:t/>
            </a:r>
          </a:p>
          <a:p xmlns:a="http://schemas.openxmlformats.org/drawingml/2006/main">
            <a:r>
              <a:t>SRC-078: VECTOR_SEARCH</a:t>
            </a:r>
          </a:p>
          <a:p xmlns:a="http://schemas.openxmlformats.org/drawingml/2006/main">
            <a:r>
              <a:t>https://learn.microsoft.com/en-us/sql/t-sql/functions/vector-search-transact-sql?view=sql-server-ver17</a:t>
            </a:r>
          </a:p>
          <a:p xmlns:a="http://schemas.openxmlformats.org/drawingml/2006/main">
            <a:r>
              <a:t>Abrufdatum laut Quellenregister: 2026-10-11</a:t>
            </a:r>
          </a:p>
          <a:p xmlns:a="http://schemas.openxmlformats.org/drawingml/2006/main">
            <a:r>
              <a:t/>
            </a:r>
          </a:p>
          <a:p xmlns:a="http://schemas.openxmlformats.org/drawingml/2006/main">
            <a:r>
              <a:t>SRC-094: DiskANN: Fast Accurate Billion-point Nearest Neighbor Search on a Single Node</a:t>
            </a:r>
          </a:p>
          <a:p xmlns:a="http://schemas.openxmlformats.org/drawingml/2006/main">
            <a:r>
              <a:t>https://www.microsoft.com/en-us/research/publication/diskann-fast-accurate-billion-point-nearest-neighbor-search-on-a-single-node/</a:t>
            </a:r>
          </a:p>
          <a:p xmlns:a="http://schemas.openxmlformats.org/drawingml/2006/main">
            <a:r>
              <a:t>Abrufdatum laut Quellenregister: 2026-10-11</a:t>
            </a:r>
          </a:p>
          <a:p xmlns:a="http://schemas.openxmlformats.org/drawingml/2006/main">
            <a:r>
              <a:t/>
            </a:r>
          </a:p>
          <a:p xmlns:a="http://schemas.openxmlformats.org/drawingml/2006/main">
            <a:r>
              <a:t>SRC-097: sys.vector_indexes</a:t>
            </a:r>
          </a:p>
          <a:p xmlns:a="http://schemas.openxmlformats.org/drawingml/2006/main">
            <a:r>
              <a:t>https://learn.microsoft.com/en-us/sql/relational-databases/system-catalog-views/sys-vector-indexes-transact-sql?view=sql-server-ver17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Documentation/Project_Planning/SQL_SERVER_2025_AI_ANN_PROFILE_DECISION.md</a:t>
            </a:r>
          </a:p>
          <a:p xmlns:a="http://schemas.openxmlformats.org/drawingml/2006/main">
            <a:r>
              <a:t/>
            </a:r>
          </a:p>
          <a:p xmlns:a="http://schemas.openxmlformats.org/drawingml/2006/main">
            <a:r>
              <a:t>Didaktische Zuordnung: CUR-019.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 ist eine Besprechung vorhandener gebundener Nachweise, kein zusätzlich gestarteter Qualifikationslauf. Lesen Sie den aktuellen IDX011-Runtime- und Benchmarkvertrag. Im kleinen Korpus dienen konstruierte Vektoren und unabhängige Distanzoracles der Mechanikprüfung. Recallgrenze und Tie-Regeln sind Profilbedingungen, keine universellen Qualitätswerte. Die begrenzte Requestmessung enthält Mess- und Ergebnisspeicheraufwand. Zeitquantisierung kann Nullfenster erzeugen, daher keine Speedupratio aus einer Nullbaseline berechnen. INDEXgeneration UNKNOWN bleibt sichtbar. Für einen späteren praktischen Lauf gelten der aktuelle öffentliche CLI- und Cleanupvertrag sowie Preview-/Ownergrenzen.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SRC-077: CREATE VECTOR INDEX</a:t>
            </a:r>
          </a:p>
          <a:p xmlns:a="http://schemas.openxmlformats.org/drawingml/2006/main">
            <a:r>
              <a:t>https://learn.microsoft.com/en-us/sql/t-sql/statements/create-vector-index-transact-sql?view=sql-server-ver17</a:t>
            </a:r>
          </a:p>
          <a:p xmlns:a="http://schemas.openxmlformats.org/drawingml/2006/main">
            <a:r>
              <a:t>Abrufdatum laut Quellenregister: 2026-10-11</a:t>
            </a:r>
          </a:p>
          <a:p xmlns:a="http://schemas.openxmlformats.org/drawingml/2006/main">
            <a:r>
              <a:t/>
            </a:r>
          </a:p>
          <a:p xmlns:a="http://schemas.openxmlformats.org/drawingml/2006/main">
            <a:r>
              <a:t>SRC-078: VECTOR_SEARCH</a:t>
            </a:r>
          </a:p>
          <a:p xmlns:a="http://schemas.openxmlformats.org/drawingml/2006/main">
            <a:r>
              <a:t>https://learn.microsoft.com/en-us/sql/t-sql/functions/vector-search-transact-sql?view=sql-server-ver17</a:t>
            </a:r>
          </a:p>
          <a:p xmlns:a="http://schemas.openxmlformats.org/drawingml/2006/main">
            <a:r>
              <a:t>Abrufdatum laut Quellenregister: 2026-10-11</a:t>
            </a:r>
          </a:p>
          <a:p xmlns:a="http://schemas.openxmlformats.org/drawingml/2006/main">
            <a:r>
              <a:t/>
            </a:r>
          </a:p>
          <a:p xmlns:a="http://schemas.openxmlformats.org/drawingml/2006/main">
            <a:r>
              <a:t>SRC-097: sys.vector_indexes</a:t>
            </a:r>
          </a:p>
          <a:p xmlns:a="http://schemas.openxmlformats.org/drawingml/2006/main">
            <a:r>
              <a:t>https://learn.microsoft.com/en-us/sql/relational-databases/system-catalog-views/sys-vector-indexes-transact-sql?view=sql-server-ver17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Documentation/Project_Planning/SQL_SERVER_2025_AI_IDX011_RUNTIME_REVIEW.md</a:t>
            </a:r>
          </a:p>
          <a:p xmlns:a="http://schemas.openxmlformats.org/drawingml/2006/main">
            <a:r>
              <a:t/>
            </a:r>
          </a:p>
          <a:p xmlns:a="http://schemas.openxmlformats.org/drawingml/2006/main">
            <a:r>
              <a:t>Projektquelle: Documentation/Project_Planning/SQL_SERVER_2025_AI_IDX011_BENCHMARK_CONTRACT.md</a:t>
            </a:r>
          </a:p>
          <a:p xmlns:a="http://schemas.openxmlformats.org/drawingml/2006/main">
            <a:r>
              <a:t/>
            </a:r>
          </a:p>
          <a:p xmlns:a="http://schemas.openxmlformats.org/drawingml/2006/main">
            <a:r>
              <a:t>Projektquelle: Documentation/Project_Planning/SQL_SERVER_2025_AI_ANN_MEASUREMENT_REVIEW.md</a:t>
            </a:r>
          </a:p>
          <a:p xmlns:a="http://schemas.openxmlformats.org/drawingml/2006/main">
            <a:r>
              <a:t/>
            </a:r>
          </a:p>
          <a:p xmlns:a="http://schemas.openxmlformats.org/drawingml/2006/main">
            <a:r>
              <a:t>Didaktische Zuordnung: CUR-019.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Besprechen Sie die öffentliche Vorstufe und die gebundenen Teilnachweise ohne einen neuen Lauf. Die dokumentierte SQL-2025-Einschränkung kann MAXDOP an CREATE VECTOR INDEX beziehungsweise VECTOR_SEARCH ignorieren. Ein gesetzter DBwert ist ebenfalls kein gemessener Workerbeleg. Sessionwrites zählen Dirty-Page-Markierungen und sind keine tatsächlichen Datei-Writes. Dateicounter umfassen alle Writer einer eigenen Datei im Zeitfenster. TempDB-Deltas abgeschlossener eigener Tasks decken nicht automatisch alle laufenden Tasks ab. Buildkosten, DML-Fähigkeit, Ergebnisqualität und Wiederherstellung gehören zusammen. Zusätzlicher Speicher ist auch ohne Suchgewinn relevant.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SRC-077: CREATE VECTOR INDEX</a:t>
            </a:r>
          </a:p>
          <a:p xmlns:a="http://schemas.openxmlformats.org/drawingml/2006/main">
            <a:r>
              <a:t>https://learn.microsoft.com/en-us/sql/t-sql/statements/create-vector-index-transact-sql?view=sql-server-ver17</a:t>
            </a:r>
          </a:p>
          <a:p xmlns:a="http://schemas.openxmlformats.org/drawingml/2006/main">
            <a:r>
              <a:t>Abrufdatum laut Quellenregister: 2026-10-11</a:t>
            </a:r>
          </a:p>
          <a:p xmlns:a="http://schemas.openxmlformats.org/drawingml/2006/main">
            <a:r>
              <a:t/>
            </a:r>
          </a:p>
          <a:p xmlns:a="http://schemas.openxmlformats.org/drawingml/2006/main">
            <a:r>
              <a:t>SRC-078: VECTOR_SEARCH</a:t>
            </a:r>
          </a:p>
          <a:p xmlns:a="http://schemas.openxmlformats.org/drawingml/2006/main">
            <a:r>
              <a:t>https://learn.microsoft.com/en-us/sql/t-sql/functions/vector-search-transact-sql?view=sql-server-ver17</a:t>
            </a:r>
          </a:p>
          <a:p xmlns:a="http://schemas.openxmlformats.org/drawingml/2006/main">
            <a:r>
              <a:t>Abrufdatum laut Quellenregister: 2026-10-11</a:t>
            </a:r>
          </a:p>
          <a:p xmlns:a="http://schemas.openxmlformats.org/drawingml/2006/main">
            <a:r>
              <a:t/>
            </a:r>
          </a:p>
          <a:p xmlns:a="http://schemas.openxmlformats.org/drawingml/2006/main">
            <a:r>
              <a:t>SRC-097: sys.vector_indexes</a:t>
            </a:r>
          </a:p>
          <a:p xmlns:a="http://schemas.openxmlformats.org/drawingml/2006/main">
            <a:r>
              <a:t>https://learn.microsoft.com/en-us/sql/relational-databases/system-catalog-views/sys-vector-indexes-transact-sql?view=sql-server-ver17</a:t>
            </a:r>
          </a:p>
          <a:p xmlns:a="http://schemas.openxmlformats.org/drawingml/2006/main">
            <a:r>
              <a:t>Abrufdatum laut Quellenregister: 2026-10-11</a:t>
            </a:r>
          </a:p>
          <a:p xmlns:a="http://schemas.openxmlformats.org/drawingml/2006/main">
            <a:r>
              <a:t/>
            </a:r>
          </a:p>
          <a:p xmlns:a="http://schemas.openxmlformats.org/drawingml/2006/main">
            <a:r>
              <a:t>SRC-106: SQL Server 2025 known issues</a:t>
            </a:r>
          </a:p>
          <a:p xmlns:a="http://schemas.openxmlformats.org/drawingml/2006/main">
            <a:r>
              <a:t>https://learn.microsoft.com/en-us/sql/sql-server/sql-server-2025-known-issues?view=sql-server-ver17#vector-index</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Documentation/Project_Planning/SQL_SERVER_2025_AI_IDX012_COST_REVIEW.md</a:t>
            </a:r>
          </a:p>
          <a:p xmlns:a="http://schemas.openxmlformats.org/drawingml/2006/main">
            <a:r>
              <a:t/>
            </a:r>
          </a:p>
          <a:p xmlns:a="http://schemas.openxmlformats.org/drawingml/2006/main">
            <a:r>
              <a:t>Projektquelle: Documentation/Project_Planning/SQL_SERVER_2025_AI_IDX012_DML_BOUNDARY_REVIEW.md</a:t>
            </a:r>
          </a:p>
          <a:p xmlns:a="http://schemas.openxmlformats.org/drawingml/2006/main">
            <a:r>
              <a:t/>
            </a:r>
          </a:p>
          <a:p xmlns:a="http://schemas.openxmlformats.org/drawingml/2006/main">
            <a:r>
              <a:t>Didaktische Zuordnung: CUR-019.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bezeichnet die Baseline und B die gezielte Gegenmaßnahme. AB/BA verteilt Reihenfolgeeffekte, AA zeigt Variation ohne Änderung. Das ersetzt keine ausreichende Stichprobe oder vollständige Ursacheanalyse. Ergebnisse und Quellen müssen vor und nach dem Fenster gleich bleiben. Der Requestschlüssel bindet Counterpunkte an dieselbe eigene Ausführung. Ein Actual Plan ist eine repräsentative Laufzeitbeobachtung und kein Beweis vollständiger Systemkosten. Batchdauer und individuelle Querylatenz sind unterschiedliche Größen. Query Store liefert keinen direkten p99-Beleg der Anwendung. Auf Nullbaseline wird N/A statt einer erfundenen Ratio berichtet.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SRC-027: Monitor performance by using the Query Store</a:t>
            </a:r>
          </a:p>
          <a:p xmlns:a="http://schemas.openxmlformats.org/drawingml/2006/main">
            <a:r>
              <a:t>https://learn.microsoft.com/en-us/sql/relational-databases/performance/monitoring-performance-by-using-the-query-store?view=sql-server-ver17</a:t>
            </a:r>
          </a:p>
          <a:p xmlns:a="http://schemas.openxmlformats.org/drawingml/2006/main">
            <a:r>
              <a:t>Abrufdatum laut Quellenregister: 2026-07-24</a:t>
            </a:r>
          </a:p>
          <a:p xmlns:a="http://schemas.openxmlformats.org/drawingml/2006/main">
            <a:r>
              <a:t/>
            </a:r>
          </a:p>
          <a:p xmlns:a="http://schemas.openxmlformats.org/drawingml/2006/main">
            <a:r>
              <a:t>SRC-028: Performance monitoring and tuning tools</a:t>
            </a:r>
          </a:p>
          <a:p xmlns:a="http://schemas.openxmlformats.org/drawingml/2006/main">
            <a:r>
              <a:t>https://learn.microsoft.com/en-us/sql/relational-databases/performance/performance-monitoring-and-tuning-tools?view=sql-server-ver17</a:t>
            </a:r>
          </a:p>
          <a:p xmlns:a="http://schemas.openxmlformats.org/drawingml/2006/main">
            <a:r>
              <a:t>Abrufdatum laut Quellenregister: 2026-07-24</a:t>
            </a:r>
          </a:p>
          <a:p xmlns:a="http://schemas.openxmlformats.org/drawingml/2006/main">
            <a:r>
              <a:t/>
            </a:r>
          </a:p>
          <a:p xmlns:a="http://schemas.openxmlformats.org/drawingml/2006/main">
            <a:r>
              <a:t>SRC-032: Tune nonclustered indexes with missing index suggestions</a:t>
            </a:r>
          </a:p>
          <a:p xmlns:a="http://schemas.openxmlformats.org/drawingml/2006/main">
            <a:r>
              <a:t>https://learn.microsoft.com/en-us/sql/relational-databases/indexes/tune-nonclustered-missing-index-suggestions?view=sql-server-ver17</a:t>
            </a:r>
          </a:p>
          <a:p xmlns:a="http://schemas.openxmlformats.org/drawingml/2006/main">
            <a:r>
              <a:t>Abrufdatum laut Quellenregister: 2026-07-24</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CUR-020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Werte stammen unverändert aus der gebundenen RES008-Aggregation. Vier Populationen enthalten je100 synthetische float32-Vektoren. Je vollständigem Profil gehören20 Warmups und54 Messfenster zu5420 Queryoracles. Warmups und AA werden getrennt ausgewertet. Die Tabelle zeigt nur die AB/BA-Mediane aus Lauf1, keine vollständigen Records. Für1536 enthält die A-Elapsed-Seite ein Nullfenster. LIVE_REQUEST-Counter umfassen Arbeit an ihren eigenen Messgrenzen, während Elapsed die100-Query-Schleife einschließlich Tempresult-Inserts umfasst. Diese Bereiche sind nicht identisch. CPU und Elapsed besitzen beim384-Paar verschiedene Richtungen. Die30 numerischen FWK-PASSs je Profil stehen neben Gesamt-WARN, repräsentativen Plänen und offener Modellqualität. Der zweite Lauf, Min/Max, AA, physische Reads und Writes bleiben im kanonischen Nachweis. Kein p99, keine individuelle Querylatenz und kein allgemeiner Speedup.</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Documentation/Project_Planning/SQL_SERVER_2025_AI_RESOURCE_AGGREGATION_REVIEW.md</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Didaktische Zuordnung: CUR-020.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eine langsame Antwort als Hypothese in SQL-, Netz-, Queue- und Modellanteile zerlegen. RES009 benötigt begrenzte eigene Sessions, endliche Ressourcen und Stopbedingungen. DGN011 benötigt bei realer Inferenz einen gesondert freigegebenen Provider. Authentifizierungs-/TLS-/Dimensionsfehler werden vor Persistenz erkannt. Erfassen Sie endliche Requestrohwerte für belastbare Quantile und Fehlerraten. Waits sind Diagnosehinweise, keine isolierten Ursachenbeweise. Die kanonischen Entwürfe liefern den späteren Lifecycle. Dieses Deck startet weder einen Concurrent Workload noch einen Netz- oder Modellcall.</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SRC-027: Monitor performance by using the Query Store</a:t>
            </a:r>
          </a:p>
          <a:p xmlns:a="http://schemas.openxmlformats.org/drawingml/2006/main">
            <a:r>
              <a:t>https://learn.microsoft.com/en-us/sql/relational-databases/performance/monitoring-performance-by-using-the-query-store?view=sql-server-ver17</a:t>
            </a:r>
          </a:p>
          <a:p xmlns:a="http://schemas.openxmlformats.org/drawingml/2006/main">
            <a:r>
              <a:t>Abrufdatum laut Quellenregister: 2026-07-24</a:t>
            </a:r>
          </a:p>
          <a:p xmlns:a="http://schemas.openxmlformats.org/drawingml/2006/main">
            <a:r>
              <a:t/>
            </a:r>
          </a:p>
          <a:p xmlns:a="http://schemas.openxmlformats.org/drawingml/2006/main">
            <a:r>
              <a:t>SRC-028: Performance monitoring and tuning tools</a:t>
            </a:r>
          </a:p>
          <a:p xmlns:a="http://schemas.openxmlformats.org/drawingml/2006/main">
            <a:r>
              <a:t>https://learn.microsoft.com/en-us/sql/relational-databases/performance/performance-monitoring-and-tuning-tools?view=sql-server-ver17</a:t>
            </a:r>
          </a:p>
          <a:p xmlns:a="http://schemas.openxmlformats.org/drawingml/2006/main">
            <a:r>
              <a:t>Abrufdatum laut Quellenregister: 2026-07-24</a:t>
            </a:r>
          </a:p>
          <a:p xmlns:a="http://schemas.openxmlformats.org/drawingml/2006/main">
            <a:r>
              <a:t/>
            </a:r>
          </a:p>
          <a:p xmlns:a="http://schemas.openxmlformats.org/drawingml/2006/main">
            <a:r>
              <a:t>SRC-032: Tune nonclustered indexes with missing index suggestions</a:t>
            </a:r>
          </a:p>
          <a:p xmlns:a="http://schemas.openxmlformats.org/drawingml/2006/main">
            <a:r>
              <a:t>https://learn.microsoft.com/en-us/sql/relational-databases/indexes/tune-nonclustered-missing-index-suggestions?view=sql-server-ver17</a:t>
            </a:r>
          </a:p>
          <a:p xmlns:a="http://schemas.openxmlformats.org/drawingml/2006/main">
            <a:r>
              <a:t>Abrufdatum laut Quellenregister: 2026-07-24</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Documentation/Demo_Catalog/SQL_SERVER_2025_AI_DEMO_DESIGNS.md</a:t>
            </a:r>
          </a:p>
          <a:p xmlns:a="http://schemas.openxmlformats.org/drawingml/2006/main">
            <a:r>
              <a:t/>
            </a:r>
          </a:p>
          <a:p xmlns:a="http://schemas.openxmlformats.org/drawingml/2006/main">
            <a:r>
              <a:t>Didaktische Zuordnung: CUR-020.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geeigneter synthetischer Prompt lautet: Erkläre diese feste Query und nenne eine widerlegbare Performancehypothese für Engine17.x und CL170. Welche Resultat-, Plan-, Read- und DML-Belege fehlen vor einer Änderung? Ergänzen Sie keine echten Querytexte oder Diagnosepläne. Die Lehrperson lässt die Gruppe unklare Annahmen benennen. Ein LLM kann falsche Syntax, Versionsgrenzen oder Rechte voraussetzen. Konfigurationsänderungen brauchen einen eigenen Wirkungs- und Rückfallvertrag. Eine erfolgreiche Ausführung beweist weder fachliche Gleichheit noch Performancegewinn. Die kontrollierte Offlinefixture erlaubt den gleichen Vorschlag in wiederholbaren Versuchen.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SRC-027: Monitor performance by using the Query Store</a:t>
            </a:r>
          </a:p>
          <a:p xmlns:a="http://schemas.openxmlformats.org/drawingml/2006/main">
            <a:r>
              <a:t>https://learn.microsoft.com/en-us/sql/relational-databases/performance/monitoring-performance-by-using-the-query-store?view=sql-server-ver17</a:t>
            </a:r>
          </a:p>
          <a:p xmlns:a="http://schemas.openxmlformats.org/drawingml/2006/main">
            <a:r>
              <a:t>Abrufdatum laut Quellenregister: 2026-07-24</a:t>
            </a:r>
          </a:p>
          <a:p xmlns:a="http://schemas.openxmlformats.org/drawingml/2006/main">
            <a:r>
              <a:t/>
            </a:r>
          </a:p>
          <a:p xmlns:a="http://schemas.openxmlformats.org/drawingml/2006/main">
            <a:r>
              <a:t>SRC-028: Performance monitoring and tuning tools</a:t>
            </a:r>
          </a:p>
          <a:p xmlns:a="http://schemas.openxmlformats.org/drawingml/2006/main">
            <a:r>
              <a:t>https://learn.microsoft.com/en-us/sql/relational-databases/performance/performance-monitoring-and-tuning-tools?view=sql-server-ver17</a:t>
            </a:r>
          </a:p>
          <a:p xmlns:a="http://schemas.openxmlformats.org/drawingml/2006/main">
            <a:r>
              <a:t>Abrufdatum laut Quellenregister: 2026-07-24</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Besprechen Sie den Vorschlag zuerst ohne einen neuen SQL-Lauf. Die vorhandenen Teilbelege betreffen einen kleinen synthetischen 1000-Row-Fall. Zwei private vollständige Original-Readerplanprofile bestätigen inzwischen je den Wechsel Clustered Index Seek auf dem vorhandenen PK, Index Seek auf dem eigenen Candidate und wieder Clustered Index Seek nach dem Abbau. Je Actualplan sind Ergebnisroot 10, Source 10, eine Ausführung und die ursprünglichen Runtimeparameter 101/110 an die echte Readerausführung gebunden. Die zusätzliche Instrumentierung bleibt von bisherigen Performancefenstern getrennt. Diese begrenzte Beobachtung bestätigt keinen Indexnettonutzen. Der INSERT-Versuch enthält OUTPUT, Roworacles, BEGIN/ROLLBACK und Abwesenheitskontrollen, daher ist seine Batchdauer keine reine INSERT- oder Commitzeit. SYSrequestWrites 0 beweist keine Log-I/O-Abwesenheit. Vollständige Runtime-/TP-PERF-, Build-/DML-/Worker-/Speicherkosten und Nettonutzen bleiben zu qualifizieren. Quellenstand dieser neuen Readerplanaussage: main 4bfb1914623c3c49fcc287ee8079013a0fad6ddb, 2026-10-12. Der Transferauftrag fordert den nächsten Versuch, der den behaupteten Lesegewinn widerlegen könnte.</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SRC-027: Monitor performance by using the Query Store</a:t>
            </a:r>
          </a:p>
          <a:p xmlns:a="http://schemas.openxmlformats.org/drawingml/2006/main">
            <a:r>
              <a:t>https://learn.microsoft.com/en-us/sql/relational-databases/performance/monitoring-performance-by-using-the-query-store?view=sql-server-ver17</a:t>
            </a:r>
          </a:p>
          <a:p xmlns:a="http://schemas.openxmlformats.org/drawingml/2006/main">
            <a:r>
              <a:t>Abrufdatum laut Quellenregister: 2026-07-24</a:t>
            </a:r>
          </a:p>
          <a:p xmlns:a="http://schemas.openxmlformats.org/drawingml/2006/main">
            <a:r>
              <a:t/>
            </a:r>
          </a:p>
          <a:p xmlns:a="http://schemas.openxmlformats.org/drawingml/2006/main">
            <a:r>
              <a:t>SRC-028: Performance monitoring and tuning tools</a:t>
            </a:r>
          </a:p>
          <a:p xmlns:a="http://schemas.openxmlformats.org/drawingml/2006/main">
            <a:r>
              <a:t>https://learn.microsoft.com/en-us/sql/relational-databases/performance/performance-monitoring-and-tuning-tools?view=sql-server-ver17</a:t>
            </a:r>
          </a:p>
          <a:p xmlns:a="http://schemas.openxmlformats.org/drawingml/2006/main">
            <a:r>
              <a:t>Abrufdatum laut Quellenregister: 2026-07-24</a:t>
            </a:r>
          </a:p>
          <a:p xmlns:a="http://schemas.openxmlformats.org/drawingml/2006/main">
            <a:r>
              <a:t/>
            </a:r>
          </a:p>
          <a:p xmlns:a="http://schemas.openxmlformats.org/drawingml/2006/main">
            <a:r>
              <a:t>Projektquelle: Documentation/Project_Planning/SQL_SERVER_2025_AI_DGN010_BENCHMARK_CONTRACT.md</a:t>
            </a:r>
          </a:p>
          <a:p xmlns:a="http://schemas.openxmlformats.org/drawingml/2006/main">
            <a:r>
              <a:t/>
            </a:r>
          </a:p>
          <a:p xmlns:a="http://schemas.openxmlformats.org/drawingml/2006/main">
            <a:r>
              <a:t>Projektquelle: Documentation/Project_Planning/SQL_SERVER_2025_AI_DGN010_USAGE_REVIEW.md</a:t>
            </a:r>
          </a:p>
          <a:p xmlns:a="http://schemas.openxmlformats.org/drawingml/2006/main">
            <a:r>
              <a:t/>
            </a:r>
          </a:p>
          <a:p xmlns:a="http://schemas.openxmlformats.org/drawingml/2006/main">
            <a:r>
              <a:t>Projektquelle: Documentation/Project_Planning/SQL_SERVER_2025_AI_DGN010_INSERT_REVIEW.md</a:t>
            </a:r>
          </a:p>
          <a:p xmlns:a="http://schemas.openxmlformats.org/drawingml/2006/main">
            <a:r>
              <a:t/>
            </a:r>
          </a:p>
          <a:p xmlns:a="http://schemas.openxmlformats.org/drawingml/2006/main">
            <a:r>
              <a:t>Projektquelle: Documentation/Project_Planning/SQL_SERVER_2025_AI_DGN010_READER_CLOCK_REVIEW.md</a:t>
            </a:r>
          </a:p>
          <a:p xmlns:a="http://schemas.openxmlformats.org/drawingml/2006/main">
            <a:r>
              <a:t/>
            </a:r>
          </a:p>
          <a:p xmlns:a="http://schemas.openxmlformats.org/drawingml/2006/main">
            <a:r>
              <a:t>Didaktische Zuordnung: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registrierten Microsoft-Quellen unterscheiden Clientassistenz und Enginefunktion. Agent Mode erschien ab22.7 und die Release Notes führen die GA-Grenze22.10.2. Der tatsächlich eingesetzte Clientbuild ist für verfügbare Tools maßgeblich. Ein MCP-/Toolzugang erweitert keine SQL-Rechte automatisch, kann aber einen anderen ausdrücklich konfigurierten Ausführungskontext verwenden. Diesen Kontext prüfen. Vor einem Providerzugang Datenklassifikation, Administrationspolicy, Egress, Kosten und Zugang klären. In dieser Schulung nutzt die Diskussion synthetische Prompts und feste SQLfixtures. Eine Live-Copilot-Sitzung gehört nicht zu den durch das Deck qualifizierten Offline-Demos.</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SRC-090: SSMS Agent mode</a:t>
            </a:r>
          </a:p>
          <a:p xmlns:a="http://schemas.openxmlformats.org/drawingml/2006/main">
            <a:r>
              <a:t>https://learn.microsoft.com/en-us/ssms/github-copilot/agent-mode</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SRC-092: SSMS 22 release notes</a:t>
            </a:r>
          </a:p>
          <a:p xmlns:a="http://schemas.openxmlformats.org/drawingml/2006/main">
            <a:r>
              <a:t>https://learn.microsoft.com/en-us/ssms/release-notes-22</a:t>
            </a:r>
          </a:p>
          <a:p xmlns:a="http://schemas.openxmlformats.org/drawingml/2006/main">
            <a:r>
              <a:t>Abrufdatum laut Quellenregister: 2026-10-11</a:t>
            </a:r>
          </a:p>
          <a:p xmlns:a="http://schemas.openxmlformats.org/drawingml/2006/main">
            <a:r>
              <a:t/>
            </a:r>
          </a:p>
          <a:p xmlns:a="http://schemas.openxmlformats.org/drawingml/2006/main">
            <a:r>
              <a:t>SRC-098: SSMS Copilot admin controls</a:t>
            </a:r>
          </a:p>
          <a:p xmlns:a="http://schemas.openxmlformats.org/drawingml/2006/main">
            <a:r>
              <a:t>https://learn.microsoft.com/en-us/ssms/github-copilot/admin-controls</a:t>
            </a:r>
          </a:p>
          <a:p xmlns:a="http://schemas.openxmlformats.org/drawingml/2006/main">
            <a:r>
              <a:t>Abrufdatum laut Quellenregister: 2026-10-11</a:t>
            </a:r>
          </a:p>
          <a:p xmlns:a="http://schemas.openxmlformats.org/drawingml/2006/main">
            <a:r>
              <a:t/>
            </a:r>
          </a:p>
          <a:p xmlns:a="http://schemas.openxmlformats.org/drawingml/2006/main">
            <a:r>
              <a:t>Didaktische Zuordnung: CUR-021 /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Status stammt aus den kanonischen Quellen am12.10.2026. PROPOSED bedeutet hier nicht, dass keine Arbeit existiert. Für IDX011, IDX012, RES008 und DGN010 liegen öffentliche Vorstufen sowie begrenzte gebundene Teilbelege vor. Diese lösen jeweils eine konkrete Frage und ersetzen nicht die noch offenen vollständigen Demo-/TP-PERF-Gates. Provider-, Cloud- und ONNX-Ausführung wird nicht aus einer Folie abgeleitet. Der aktuelle Ausführungsstand bleibt die Pflegeautorität für neue Befunde. Allgemeine Runtime-, Testprofil- und Lehrpfadabnahme bleiben getrennt. Keine private Forschungs- oder PR-Historie ist für den Unterricht erforderlich.</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Documentation/Demo_Catalog/SQL_SERVER_2025_AI_DEMO_DESIGNS.md</a:t>
            </a:r>
          </a:p>
          <a:p xmlns:a="http://schemas.openxmlformats.org/drawingml/2006/main">
            <a:r>
              <a:t/>
            </a:r>
          </a:p>
          <a:p xmlns:a="http://schemas.openxmlformats.org/drawingml/2006/main">
            <a:r>
              <a:t>Projektquelle: Documentation/Demo_Catalog/README.md</a:t>
            </a:r>
          </a:p>
          <a:p xmlns:a="http://schemas.openxmlformats.org/drawingml/2006/main">
            <a:r>
              <a:t/>
            </a:r>
          </a:p>
          <a:p xmlns:a="http://schemas.openxmlformats.org/drawingml/2006/main">
            <a:r>
              <a:t>Projektquelle: Documentation/Project_Planning/CURRENT_EXECUTION_STATUS.md</a:t>
            </a:r>
          </a:p>
          <a:p xmlns:a="http://schemas.openxmlformats.org/drawingml/2006/main">
            <a:r>
              <a:t/>
            </a:r>
          </a:p>
          <a:p xmlns:a="http://schemas.openxmlformats.org/drawingml/2006/main">
            <a:r>
              <a:t>Didaktische Zuordnung: CUR-016 / CUR-019 / CUR-020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Verwenden Sie die vorhandene Rubrik und die einzige gepflegte Trainerlösung im Offline-Arbeitsheft. Lassen Sie die Gruppe einen nachvollziehbaren Datenfluss und mindestens eine Gegenprobe beschreiben. Erwartete Elemente sind authentifizierter Tenantkontext, aktuelle Quellenbereiche, passende Modellprovenienz, feste Wertbindung und begrenzter Kontext. Ein Quellenwiderspruch erlaubt eine begründete Nichtantwort. Der Indexvorschlag benötigt gleiche Resultate, geeignete Messfenster und DML-/Storage-/Buildkosten. Die Rubrik hat keine festgelegte Bestehensgrenze und beweist keine gemessene Lernwirksamkeit. CON010 und Vertiefungsaufträge werden getrennt besprochen. Sammeln Sie keine Namen, Rawpläne oder Daten realer Systeme. Tatsächliche Lehrzeiten und Teilnehmerabnahme folgen erst in der Generalprobe.</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b7734ad61441b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eb705f9fef43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0a93a4837a4a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2fab8e71d743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5da97eccae40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47d9b572ba4c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5AE035-4201-4454-A392-D63BCDA7F5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C2A5314-2FBB-4C68-8884-1F56D11B00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59181D-825F-4B42-9EB4-8E07109D7B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00F7AB-DEBF-4255-8CA7-E9635ACDA9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4E6D34-B226-4421-8CC4-09029ABEA0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7A1C4C-B560-4289-8C14-F400FEC150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06429E-1EE9-4215-826D-BF9FB7B918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F076B8-6321-41A2-AE70-663508F211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4AC5C0-935B-4751-9CF8-3DC68BFC7B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4CE504-1E88-47B6-A0FC-905731ABC9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3095757d004d2a" /><Relationship Type="http://schemas.openxmlformats.org/officeDocument/2006/relationships/slideLayout" Target="/ppt/slideLayouts/slideLayout1.xml" Id="Rb33f65535099467f" /><Relationship Type="http://schemas.openxmlformats.org/officeDocument/2006/relationships/slideLayout" Target="/ppt/slideLayouts/slideLayout2.xml" Id="Rf0e5c3dcb27540fa" /><Relationship Type="http://schemas.openxmlformats.org/officeDocument/2006/relationships/slideLayout" Target="/ppt/slideLayouts/slideLayout3.xml" Id="Ra0db818df0784a7a" /><Relationship Type="http://schemas.openxmlformats.org/officeDocument/2006/relationships/slideLayout" Target="/ppt/slideLayouts/slideLayout4.xml" Id="Rb697737295f3413f" /><Relationship Type="http://schemas.openxmlformats.org/officeDocument/2006/relationships/slideLayout" Target="/ppt/slideLayouts/slideLayout5.xml" Id="R79459adc954d4fbb" /><Relationship Type="http://schemas.openxmlformats.org/officeDocument/2006/relationships/slideLayout" Target="/ppt/slideLayouts/slideLayout6.xml" Id="R850d89253dfc44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3f65535099467f"/>
    <p:sldLayoutId xmlns:r="http://schemas.openxmlformats.org/officeDocument/2006/relationships" id="2147483650" r:id="Rf0e5c3dcb27540fa"/>
    <p:sldLayoutId xmlns:r="http://schemas.openxmlformats.org/officeDocument/2006/relationships" id="2147483651" r:id="Ra0db818df0784a7a"/>
    <p:sldLayoutId xmlns:r="http://schemas.openxmlformats.org/officeDocument/2006/relationships" id="2147483652" r:id="Rb697737295f3413f"/>
    <p:sldLayoutId xmlns:r="http://schemas.openxmlformats.org/officeDocument/2006/relationships" id="2147483653" r:id="R79459adc954d4fbb"/>
    <p:sldLayoutId xmlns:r="http://schemas.openxmlformats.org/officeDocument/2006/relationships" id="2147483654" r:id="R850d89253dfc44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e07a50b0bec4100" /><Relationship Type="http://schemas.openxmlformats.org/officeDocument/2006/relationships/notesSlide" Target="/ppt/notesSlides/notesSlide1.xml" Id="Refd878e3c5e346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e5d0404c2d4fbe" /><Relationship Type="http://schemas.openxmlformats.org/officeDocument/2006/relationships/notesSlide" Target="/ppt/notesSlides/notesSlide2.xml" Id="R79c110d2f2014e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762d6801d74db3" /><Relationship Type="http://schemas.openxmlformats.org/officeDocument/2006/relationships/notesSlide" Target="/ppt/notesSlides/notesSlide3.xml" Id="R7c6bc5ac406244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56c102687f4c65" /><Relationship Type="http://schemas.openxmlformats.org/officeDocument/2006/relationships/notesSlide" Target="/ppt/notesSlides/notesSlide4.xml" Id="R510a5ff27ed24b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4eca50e29b4da3" /><Relationship Type="http://schemas.openxmlformats.org/officeDocument/2006/relationships/notesSlide" Target="/ppt/notesSlides/notesSlide5.xml" Id="R64e7bc2679de4e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f66ffd849a499f" /><Relationship Type="http://schemas.openxmlformats.org/officeDocument/2006/relationships/notesSlide" Target="/ppt/notesSlides/notesSlide6.xml" Id="R9d4ef351699d4e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8167943f2e4ff9" /><Relationship Type="http://schemas.openxmlformats.org/officeDocument/2006/relationships/notesSlide" Target="/ppt/notesSlides/notesSlide7.xml" Id="R9e91a31624634f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1c0677f622e4ba1" /><Relationship Type="http://schemas.openxmlformats.org/officeDocument/2006/relationships/notesSlide" Target="/ppt/notesSlides/notesSlide8.xml" Id="Re75845b671654e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de3d3e67a7745c3" /><Relationship Type="http://schemas.openxmlformats.org/officeDocument/2006/relationships/notesSlide" Target="/ppt/notesSlides/notesSlide9.xml" Id="Rb2cbba72271b4e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d47bbde068b479b" /><Relationship Type="http://schemas.openxmlformats.org/officeDocument/2006/relationships/notesSlide" Target="/ppt/notesSlides/notesSlide10.xml" Id="R6eacf36575084c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ab1b0b457f49eb" /><Relationship Type="http://schemas.openxmlformats.org/officeDocument/2006/relationships/notesSlide" Target="/ppt/notesSlides/notesSlide11.xml" Id="R5b8532429d934b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160e5bfc4a04bfc" /><Relationship Type="http://schemas.openxmlformats.org/officeDocument/2006/relationships/notesSlide" Target="/ppt/notesSlides/notesSlide12.xml" Id="Rd1433e33386547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b75e8c14b6447be" /><Relationship Type="http://schemas.openxmlformats.org/officeDocument/2006/relationships/notesSlide" Target="/ppt/notesSlides/notesSlide13.xml" Id="R6692123c8875475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a0e12ced5264f1c" /><Relationship Type="http://schemas.openxmlformats.org/officeDocument/2006/relationships/notesSlide" Target="/ppt/notesSlides/notesSlide14.xml" Id="Rf766dc228a1240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04d7d3facd5453d" /><Relationship Type="http://schemas.openxmlformats.org/officeDocument/2006/relationships/notesSlide" Target="/ppt/notesSlides/notesSlide15.xml" Id="R8b9eef23304143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1d11d153d7b4268" /><Relationship Type="http://schemas.openxmlformats.org/officeDocument/2006/relationships/notesSlide" Target="/ppt/notesSlides/notesSlide16.xml" Id="Redbc70283026495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2b41191e0d045a1" /><Relationship Type="http://schemas.openxmlformats.org/officeDocument/2006/relationships/notesSlide" Target="/ppt/notesSlides/notesSlide17.xml" Id="R9c90c3261db1468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1c604a6483049ca" /><Relationship Type="http://schemas.openxmlformats.org/officeDocument/2006/relationships/notesSlide" Target="/ppt/notesSlides/notesSlide18.xml" Id="R877c53c5526b48b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a9442c8bc4b4350" /><Relationship Type="http://schemas.openxmlformats.org/officeDocument/2006/relationships/notesSlide" Target="/ppt/notesSlides/notesSlide19.xml" Id="R98dca5c51afb40a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74c55a0c6144012" /><Relationship Type="http://schemas.openxmlformats.org/officeDocument/2006/relationships/notesSlide" Target="/ppt/notesSlides/notesSlide20.xml" Id="R1c0ab73cd831493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de7caa2e9ca4ca4" /><Relationship Type="http://schemas.openxmlformats.org/officeDocument/2006/relationships/notesSlide" Target="/ppt/notesSlides/notesSlide21.xml" Id="R6cf828011f8f4c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0dad6828b6a46d9" /><Relationship Type="http://schemas.openxmlformats.org/officeDocument/2006/relationships/notesSlide" Target="/ppt/notesSlides/notesSlide22.xml" Id="Rd2905199a9e941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12726084b204d1f" /><Relationship Type="http://schemas.openxmlformats.org/officeDocument/2006/relationships/notesSlide" Target="/ppt/notesSlides/notesSlide23.xml" Id="R28627f0d4b254f1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6adc082078744a2" /><Relationship Type="http://schemas.openxmlformats.org/officeDocument/2006/relationships/notesSlide" Target="/ppt/notesSlides/notesSlide24.xml" Id="R647d6448b88f460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a5d5bb274a741fb" /><Relationship Type="http://schemas.openxmlformats.org/officeDocument/2006/relationships/notesSlide" Target="/ppt/notesSlides/notesSlide25.xml" Id="R8120318d772c471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dc14d7f2e584a97" /><Relationship Type="http://schemas.openxmlformats.org/officeDocument/2006/relationships/notesSlide" Target="/ppt/notesSlides/notesSlide26.xml" Id="R05ef187d9058467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e3114b553294dab" /><Relationship Type="http://schemas.openxmlformats.org/officeDocument/2006/relationships/notesSlide" Target="/ppt/notesSlides/notesSlide27.xml" Id="Re1f4ee0d3aa844d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509c0ba7a52473d" /><Relationship Type="http://schemas.openxmlformats.org/officeDocument/2006/relationships/notesSlide" Target="/ppt/notesSlides/notesSlide28.xml" Id="R3f0b4b319d9e4a6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5e0e4f7eac24c4d" /><Relationship Type="http://schemas.openxmlformats.org/officeDocument/2006/relationships/notesSlide" Target="/ppt/notesSlides/notesSlide29.xml" Id="R7091c316f79248c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c7f04f6246d434d" /><Relationship Type="http://schemas.openxmlformats.org/officeDocument/2006/relationships/notesSlide" Target="/ppt/notesSlides/notesSlide30.xml" Id="Rfca5fff8528044e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82c45710f6d4e68" /><Relationship Type="http://schemas.openxmlformats.org/officeDocument/2006/relationships/notesSlide" Target="/ppt/notesSlides/notesSlide31.xml" Id="Rf4dab95971bc433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083823e15124d8f" /><Relationship Type="http://schemas.openxmlformats.org/officeDocument/2006/relationships/notesSlide" Target="/ppt/notesSlides/notesSlide32.xml" Id="Rdac7655f0f5c498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cb789dd8ba647b2" /><Relationship Type="http://schemas.openxmlformats.org/officeDocument/2006/relationships/notesSlide" Target="/ppt/notesSlides/notesSlide33.xml" Id="Reea3ffa43bdd4ad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edb4b249c4840a6" /><Relationship Type="http://schemas.openxmlformats.org/officeDocument/2006/relationships/notesSlide" Target="/ppt/notesSlides/notesSlide34.xml" Id="Rcfe54b14b86f4e7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DF459D8A-33E3-4805-947A-A3F6670304B9}"/>
              </a:ext>
            </a:extLst>
          </p:cNvPr>
          <p:cNvSpPr>
            <a:spLocks xmlns:a="http://schemas.openxmlformats.org/drawingml/2006/main" noGrp="1"/>
          </p:cNvSpPr>
          <p:nvPr/>
        </p:nvSpPr>
        <p:spPr>
          <a:xfrm xmlns:a="http://schemas.openxmlformats.org/drawingml/2006/main">
            <a:off x="762000" y="1476375"/>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15283D"/>
                </a:solidFill>
                <a:latin typeface="Arial"/>
                <a:ea typeface="Arial"/>
                <a:cs typeface="Arial"/>
              </a:defRPr>
            </a:defPPr>
          </a:lstStyle>
          <a:p xmlns:a="http://schemas.openxmlformats.org/drawingml/2006/main">
            <a:pPr>
              <a:defRPr sz="4800" b="1">
                <a:solidFill>
                  <a:srgbClr val="15283D"/>
                </a:solidFill>
                <a:latin typeface="Arial"/>
                <a:ea typeface="Arial"/>
                <a:cs typeface="Arial"/>
              </a:defRPr>
            </a:pPr>
            <a:r>
              <a:rPr sz="4800" b="1">
                <a:solidFill>
                  <a:srgbClr val="15283D"/>
                </a:solidFill>
                <a:latin typeface="Arial"/>
                <a:ea typeface="Arial"/>
                <a:cs typeface="Arial"/>
              </a:rPr>
              <a:t>KI mit und für</a:t>
            </a:r>
          </a:p>
          <a:p xmlns:a="http://schemas.openxmlformats.org/drawingml/2006/main">
            <a:pPr>
              <a:defRPr sz="4800" b="1">
                <a:solidFill>
                  <a:srgbClr val="15283D"/>
                </a:solidFill>
                <a:latin typeface="Arial"/>
                <a:ea typeface="Arial"/>
                <a:cs typeface="Arial"/>
              </a:defRPr>
            </a:pPr>
            <a:r>
              <a:rPr sz="4800" b="1">
                <a:solidFill>
                  <a:srgbClr val="15283D"/>
                </a:solidFill>
                <a:latin typeface="Arial"/>
                <a:ea typeface="Arial"/>
                <a:cs typeface="Arial"/>
              </a:rPr>
              <a:t>Microsoft SQL Server 2025</a:t>
            </a:r>
          </a:p>
        </p:txBody>
      </p:sp>
      <p:sp>
        <p:nvSpPr>
          <p:cNvPr id="2" name="text-1">
            <a:extLst xmlns:a="http://schemas.openxmlformats.org/drawingml/2006/main">
              <a:ext uri="{FF2B5EF4-FFF2-40B4-BE49-F238E27FC236}">
                <a16:creationId xmlns:a16="http://schemas.microsoft.com/office/drawing/2014/main" id="{6EC1AFC6-AD81-46BE-BAD4-3F08F6A52B82}"/>
              </a:ext>
            </a:extLst>
          </p:cNvPr>
          <p:cNvSpPr>
            <a:spLocks xmlns:a="http://schemas.openxmlformats.org/drawingml/2006/main" noGrp="1"/>
          </p:cNvSpPr>
          <p:nvPr/>
        </p:nvSpPr>
        <p:spPr>
          <a:xfrm xmlns:a="http://schemas.openxmlformats.org/drawingml/2006/main">
            <a:off x="762000" y="41433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52647A"/>
                </a:solidFill>
                <a:latin typeface="Arial"/>
                <a:ea typeface="Arial"/>
                <a:cs typeface="Arial"/>
              </a:defRPr>
            </a:defPPr>
          </a:lstStyle>
          <a:p xmlns:a="http://schemas.openxmlformats.org/drawingml/2006/main">
            <a:pPr>
              <a:defRPr sz="2400" b="0">
                <a:solidFill>
                  <a:srgbClr val="52647A"/>
                </a:solidFill>
                <a:latin typeface="Arial"/>
                <a:ea typeface="Arial"/>
                <a:cs typeface="Arial"/>
              </a:defRPr>
            </a:pPr>
            <a:r>
              <a:rPr sz="2400" b="0">
                <a:solidFill>
                  <a:srgbClr val="52647A"/>
                </a:solidFill>
                <a:latin typeface="Arial"/>
                <a:ea typeface="Arial"/>
                <a:cs typeface="Arial"/>
              </a:rPr>
              <a:t>Vektoren, RAG, Security und überprüfbare SQL-Assistenz</a:t>
            </a:r>
          </a:p>
        </p:txBody>
      </p:sp>
      <p:sp>
        <p:nvSpPr>
          <p:cNvPr id="3" name="text-2">
            <a:extLst xmlns:a="http://schemas.openxmlformats.org/drawingml/2006/main">
              <a:ext uri="{FF2B5EF4-FFF2-40B4-BE49-F238E27FC236}">
                <a16:creationId xmlns:a16="http://schemas.microsoft.com/office/drawing/2014/main" id="{277F7DB0-BB35-4986-A87D-705AF34131C3}"/>
              </a:ext>
            </a:extLst>
          </p:cNvPr>
          <p:cNvSpPr>
            <a:spLocks xmlns:a="http://schemas.openxmlformats.org/drawingml/2006/main" noGrp="1"/>
          </p:cNvSpPr>
          <p:nvPr/>
        </p:nvSpPr>
        <p:spPr>
          <a:xfrm xmlns:a="http://schemas.openxmlformats.org/drawingml/2006/main">
            <a:off x="762000" y="5810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007A83"/>
                </a:solidFill>
                <a:latin typeface="Arial"/>
                <a:ea typeface="Arial"/>
                <a:cs typeface="Arial"/>
              </a:defRPr>
            </a:defPPr>
          </a:lstStyle>
          <a:p xmlns:a="http://schemas.openxmlformats.org/drawingml/2006/main">
            <a:pPr>
              <a:defRPr sz="1800" b="0">
                <a:solidFill>
                  <a:srgbClr val="007A83"/>
                </a:solidFill>
                <a:latin typeface="Arial"/>
                <a:ea typeface="Arial"/>
                <a:cs typeface="Arial"/>
              </a:defRPr>
            </a:pPr>
            <a:r>
              <a:rPr sz="1800" b="0">
                <a:solidFill>
                  <a:srgbClr val="007A83"/>
                </a:solidFill>
                <a:latin typeface="Arial"/>
                <a:ea typeface="Arial"/>
                <a:cs typeface="Arial"/>
              </a:rPr>
              <a:t>Schulungsunterlagen · Stand 2026-10-12</a:t>
            </a:r>
          </a:p>
        </p:txBody>
      </p:sp>
    </p:spTree>
    <p:extLst>
      <p:ext uri="{BB962C8B-B14F-4D97-AF65-F5344CB8AC3E}">
        <p14:creationId xmlns:p14="http://schemas.microsoft.com/office/powerpoint/2010/main" val="18849188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52CF2D5-AA3E-4519-BEF1-1FCCB10ABF1A}"/>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Modelle und Lernziele</a:t>
            </a:r>
          </a:p>
        </p:txBody>
      </p:sp>
      <p:sp>
        <p:nvSpPr>
          <p:cNvPr id="2" name="text-1">
            <a:extLst xmlns:a="http://schemas.openxmlformats.org/drawingml/2006/main">
              <a:ext uri="{FF2B5EF4-FFF2-40B4-BE49-F238E27FC236}">
                <a16:creationId xmlns:a16="http://schemas.microsoft.com/office/drawing/2014/main" id="{8F062A18-A0D1-4186-A0CF-09AA0BE3B499}"/>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ML und LLM</a:t>
            </a:r>
          </a:p>
        </p:txBody>
      </p:sp>
      <p:sp>
        <p:nvSpPr>
          <p:cNvPr id="3" name="text-2">
            <a:extLst xmlns:a="http://schemas.openxmlformats.org/drawingml/2006/main">
              <a:ext uri="{FF2B5EF4-FFF2-40B4-BE49-F238E27FC236}">
                <a16:creationId xmlns:a16="http://schemas.microsoft.com/office/drawing/2014/main" id="{D544D961-FE80-482B-A179-02BF00ED23C4}"/>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ML-Modelle lernen Muster aus Daten. Generative LLMs erzeugen Textfolgen aus Tokens.</a:t>
            </a:r>
          </a:p>
        </p:txBody>
      </p:sp>
      <p:sp>
        <p:nvSpPr>
          <p:cNvPr id="4" name="text-3">
            <a:extLst xmlns:a="http://schemas.openxmlformats.org/drawingml/2006/main">
              <a:ext uri="{FF2B5EF4-FFF2-40B4-BE49-F238E27FC236}">
                <a16:creationId xmlns:a16="http://schemas.microsoft.com/office/drawing/2014/main" id="{EB713DBF-3C20-4DA5-87F3-ADBE672B30B5}"/>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Embeddings</a:t>
            </a:r>
          </a:p>
        </p:txBody>
      </p:sp>
      <p:sp>
        <p:nvSpPr>
          <p:cNvPr id="5" name="text-4">
            <a:extLst xmlns:a="http://schemas.openxmlformats.org/drawingml/2006/main">
              <a:ext uri="{FF2B5EF4-FFF2-40B4-BE49-F238E27FC236}">
                <a16:creationId xmlns:a16="http://schemas.microsoft.com/office/drawing/2014/main" id="{E858C1AC-BE6B-4F1A-A49B-200BA3A3BB20}"/>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Embedding-Modell bildet Eingaben auf numerische Vektoren ab. SQL Server speichert und durchsucht diese Werte.</a:t>
            </a:r>
          </a:p>
        </p:txBody>
      </p:sp>
      <p:sp>
        <p:nvSpPr>
          <p:cNvPr id="6" name="text-5">
            <a:extLst xmlns:a="http://schemas.openxmlformats.org/drawingml/2006/main">
              <a:ext uri="{FF2B5EF4-FFF2-40B4-BE49-F238E27FC236}">
                <a16:creationId xmlns:a16="http://schemas.microsoft.com/office/drawing/2014/main" id="{9EFF4EE2-D5C5-41D5-99D8-ECB2E2896E90}"/>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Lernziel</a:t>
            </a:r>
          </a:p>
        </p:txBody>
      </p:sp>
      <p:sp>
        <p:nvSpPr>
          <p:cNvPr id="7" name="text-6">
            <a:extLst xmlns:a="http://schemas.openxmlformats.org/drawingml/2006/main">
              <a:ext uri="{FF2B5EF4-FFF2-40B4-BE49-F238E27FC236}">
                <a16:creationId xmlns:a16="http://schemas.microsoft.com/office/drawing/2014/main" id="{EAF3DA07-F6AA-4A5A-ABCC-16A9495AC55F}"/>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Quellen und Rechte prüfen. LLM-Vorschläge mit gleichen Ergebnissen, Gegenproben und Kostenmessungen beurteilen.</a:t>
            </a:r>
          </a:p>
        </p:txBody>
      </p:sp>
      <p:sp>
        <p:nvSpPr>
          <p:cNvPr id="8" name="text-7">
            <a:extLst xmlns:a="http://schemas.openxmlformats.org/drawingml/2006/main">
              <a:ext uri="{FF2B5EF4-FFF2-40B4-BE49-F238E27FC236}">
                <a16:creationId xmlns:a16="http://schemas.microsoft.com/office/drawing/2014/main" id="{7F94F9D2-B3FE-448B-90E2-356083277137}"/>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Vorwissen: SELECT, ORDER BY, Parameterbindung und Objektberechtigungen</a:t>
            </a:r>
          </a:p>
        </p:txBody>
      </p:sp>
      <p:sp>
        <p:nvSpPr>
          <p:cNvPr id="9" name="text-8">
            <a:extLst xmlns:a="http://schemas.openxmlformats.org/drawingml/2006/main">
              <a:ext uri="{FF2B5EF4-FFF2-40B4-BE49-F238E27FC236}">
                <a16:creationId xmlns:a16="http://schemas.microsoft.com/office/drawing/2014/main" id="{FB2AE5C5-92AE-4630-B53F-B1C2C6C1927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02  CUR-013–CUR-022</a:t>
            </a:r>
          </a:p>
        </p:txBody>
      </p:sp>
    </p:spTree>
    <p:extLst>
      <p:ext uri="{BB962C8B-B14F-4D97-AF65-F5344CB8AC3E}">
        <p14:creationId xmlns:p14="http://schemas.microsoft.com/office/powerpoint/2010/main" val="11031081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CB5F50EC-EB62-4B4A-A0EF-4B2D9CA8CC7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Unterrichtspfade</a:t>
            </a:r>
          </a:p>
        </p:txBody>
      </p:sp>
      <p:graphicFrame>
        <p:nvGraphicFramePr>
          <p:cNvPr id="2" name="">
            <a:extLst xmlns:a="http://schemas.openxmlformats.org/drawingml/2006/main">
              <a:ext uri="{FF2B5EF4-FFF2-40B4-BE49-F238E27FC236}">
                <a16:creationId xmlns:a16="http://schemas.microsoft.com/office/drawing/2014/main" id="{87AB576D-128D-444E-9749-E49CFE8D787E}"/>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095500"/>
                <a:gridCol w="2286000"/>
                <a:gridCol w="6286500"/>
              </a:tblGrid>
              <a:tr h="785813">
                <a:tc>
                  <a:txBody>
                    <a:bodyPr/>
                    <a:lstStyle/>
                    <a:p>
                      <a:r>
                        <a:rPr sz="1800" b="1">
                          <a:solidFill>
                            <a:srgbClr val="15283D"/>
                          </a:solidFill>
                          <a:latin typeface="Arial"/>
                          <a:ea typeface="Arial"/>
                          <a:cs typeface="Arial"/>
                        </a:rPr>
                        <a:t>Pfad</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Geplanter Umfang</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Schwerpunkt</a:t>
                      </a:r>
                    </a:p>
                  </a:txBody>
                  <a:tcPr marL="114300" marR="114300" marT="47625" marB="47625" anchor="ctr">
                    <a:solidFill>
                      <a:srgbClr val="E8F2F2"/>
                    </a:solidFill>
                  </a:tcPr>
                </a:tc>
              </a:tr>
              <a:tr h="785813">
                <a:tc>
                  <a:txBody>
                    <a:bodyPr/>
                    <a:lstStyle/>
                    <a:p>
                      <a:r>
                        <a:rPr sz="1800" b="0">
                          <a:solidFill>
                            <a:srgbClr val="15283D"/>
                          </a:solidFill>
                          <a:latin typeface="Arial"/>
                          <a:ea typeface="Arial"/>
                          <a:cs typeface="Arial"/>
                        </a:rPr>
                        <a:t>BASIS</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150 Minuten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Grundlagen und ausgewählte Offlineübungen</a:t>
                      </a:r>
                    </a:p>
                  </a:txBody>
                  <a:tcPr marL="114300" marR="114300" marT="47625" marB="47625" anchor="ctr">
                    <a:solidFill>
                      <a:srgbClr val="FFFFFF"/>
                    </a:solidFill>
                  </a:tcPr>
                </a:tc>
              </a:tr>
              <a:tr h="785813">
                <a:tc>
                  <a:txBody>
                    <a:bodyPr/>
                    <a:lstStyle/>
                    <a:p>
                      <a:r>
                        <a:rPr sz="1800" b="0">
                          <a:solidFill>
                            <a:srgbClr val="15283D"/>
                          </a:solidFill>
                          <a:latin typeface="Arial"/>
                          <a:ea typeface="Arial"/>
                          <a:cs typeface="Arial"/>
                        </a:rPr>
                        <a:t>STANDARD</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390 Minuten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145 Minuten Theorie und 245 Minuten Praxis</a:t>
                      </a:r>
                    </a:p>
                  </a:txBody>
                  <a:tcPr marL="114300" marR="114300" marT="47625" marB="47625" anchor="ctr">
                    <a:solidFill>
                      <a:srgbClr val="FFFFFF"/>
                    </a:solidFill>
                  </a:tcPr>
                </a:tc>
              </a:tr>
              <a:tr h="785813">
                <a:tc>
                  <a:txBody>
                    <a:bodyPr/>
                    <a:lstStyle/>
                    <a:p>
                      <a:r>
                        <a:rPr sz="1800" b="0">
                          <a:solidFill>
                            <a:srgbClr val="15283D"/>
                          </a:solidFill>
                          <a:latin typeface="Arial"/>
                          <a:ea typeface="Arial"/>
                          <a:cs typeface="Arial"/>
                        </a:rPr>
                        <a:t>VERTIEFUNG</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640 Minuten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235 Minuten Theorie und 405 Minuten Praxis</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5FD5BDE9-D5DB-4081-A40B-F091DF4D9E5A}"/>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Planwerte ohne Pausen, Installation und Modelldownloads. Lehrzeiten sind noch nicht erprobt.</a:t>
            </a:r>
          </a:p>
        </p:txBody>
      </p:sp>
      <p:sp>
        <p:nvSpPr>
          <p:cNvPr id="4" name="text-2">
            <a:extLst xmlns:a="http://schemas.openxmlformats.org/drawingml/2006/main">
              <a:ext uri="{FF2B5EF4-FFF2-40B4-BE49-F238E27FC236}">
                <a16:creationId xmlns:a16="http://schemas.microsoft.com/office/drawing/2014/main" id="{F1455C13-1737-40A7-AECF-0E36C1AE772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03  CUR-013–CUR-022</a:t>
            </a:r>
          </a:p>
        </p:txBody>
      </p:sp>
    </p:spTree>
    <p:extLst>
      <p:ext uri="{BB962C8B-B14F-4D97-AF65-F5344CB8AC3E}">
        <p14:creationId xmlns:p14="http://schemas.microsoft.com/office/powerpoint/2010/main" val="8025362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581F5DDC-003E-43B4-9D92-5ED4988ABCEC}"/>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Komponenten und Datenfluss</a:t>
            </a:r>
          </a:p>
        </p:txBody>
      </p:sp>
      <p:graphicFrame>
        <p:nvGraphicFramePr>
          <p:cNvPr id="2" name="">
            <a:extLst xmlns:a="http://schemas.openxmlformats.org/drawingml/2006/main">
              <a:ext uri="{FF2B5EF4-FFF2-40B4-BE49-F238E27FC236}">
                <a16:creationId xmlns:a16="http://schemas.microsoft.com/office/drawing/2014/main" id="{AF2E4E21-B370-4456-A467-3190D43A81EF}"/>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762250"/>
                <a:gridCol w="4000500"/>
                <a:gridCol w="3905250"/>
              </a:tblGrid>
              <a:tr h="800100">
                <a:tc>
                  <a:txBody>
                    <a:bodyPr/>
                    <a:lstStyle/>
                    <a:p>
                      <a:r>
                        <a:rPr sz="1800" b="1">
                          <a:solidFill>
                            <a:srgbClr val="15283D"/>
                          </a:solidFill>
                          <a:latin typeface="Arial"/>
                          <a:ea typeface="Arial"/>
                          <a:cs typeface="Arial"/>
                        </a:rPr>
                        <a:t>Komponente</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Aufgabe</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Kontrollpunkt</a:t>
                      </a:r>
                    </a:p>
                  </a:txBody>
                  <a:tcPr marL="114300" marR="114300" marT="47625" marB="47625" anchor="ctr">
                    <a:solidFill>
                      <a:srgbClr val="E8F2F2"/>
                    </a:solidFill>
                  </a:tcPr>
                </a:tc>
              </a:tr>
              <a:tr h="800100">
                <a:tc>
                  <a:txBody>
                    <a:bodyPr/>
                    <a:lstStyle/>
                    <a:p>
                      <a:r>
                        <a:rPr sz="1800" b="0">
                          <a:solidFill>
                            <a:srgbClr val="15283D"/>
                          </a:solidFill>
                          <a:latin typeface="Arial"/>
                          <a:ea typeface="Arial"/>
                          <a:cs typeface="Arial"/>
                        </a:rPr>
                        <a:t>Dokumente und Chunking</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Versionierte Quellen in Bereiche zerlegen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DocId, Version, Offset und Parameter</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Embedding-Modell</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Text in einen Modellraum abbilden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Modellversion, Dimension und Normalisierung</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SQL Server</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Vektoren speichern und erlaubte Treffer suchen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Rechte, Quellenbindung und Ergebnisqualität</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Anwendung und LLM</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Kontext begrenzen und Antwort erzeugen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Claimbeleg oder begründete Nichtantwort</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5685853C-7E28-47D7-A272-01334B26A429}"/>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04  CUR-013 / CUR-016 / CUR-017</a:t>
            </a:r>
          </a:p>
        </p:txBody>
      </p:sp>
    </p:spTree>
    <p:extLst>
      <p:ext uri="{BB962C8B-B14F-4D97-AF65-F5344CB8AC3E}">
        <p14:creationId xmlns:p14="http://schemas.microsoft.com/office/powerpoint/2010/main" val="18583754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DCDA7120-266A-45FA-966F-FF5F5916922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Versionen und Featuregrenzen</a:t>
            </a:r>
          </a:p>
        </p:txBody>
      </p:sp>
      <p:graphicFrame>
        <p:nvGraphicFramePr>
          <p:cNvPr id="2" name="">
            <a:extLst xmlns:a="http://schemas.openxmlformats.org/drawingml/2006/main">
              <a:ext uri="{FF2B5EF4-FFF2-40B4-BE49-F238E27FC236}">
                <a16:creationId xmlns:a16="http://schemas.microsoft.com/office/drawing/2014/main" id="{A1A4499A-7C1B-4983-8076-03A54A3CAFAB}"/>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3429000"/>
                <a:gridCol w="2476500"/>
                <a:gridCol w="4762500"/>
              </a:tblGrid>
              <a:tr h="666750">
                <a:tc>
                  <a:txBody>
                    <a:bodyPr/>
                    <a:lstStyle/>
                    <a:p>
                      <a:r>
                        <a:rPr sz="1800" b="1">
                          <a:solidFill>
                            <a:srgbClr val="15283D"/>
                          </a:solidFill>
                          <a:latin typeface="Arial"/>
                          <a:ea typeface="Arial"/>
                          <a:cs typeface="Arial"/>
                        </a:rPr>
                        <a:t>Funktion</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SQL Server 2025</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Voraussetzung oder Grenze</a:t>
                      </a:r>
                    </a:p>
                  </a:txBody>
                  <a:tcPr marL="114300" marR="114300" marT="47625" marB="47625" anchor="ctr">
                    <a:solidFill>
                      <a:srgbClr val="E8F2F2"/>
                    </a:solidFill>
                  </a:tcPr>
                </a:tc>
              </a:tr>
              <a:tr h="666750">
                <a:tc>
                  <a:txBody>
                    <a:bodyPr/>
                    <a:lstStyle/>
                    <a:p>
                      <a:r>
                        <a:rPr sz="1800" b="0">
                          <a:solidFill>
                            <a:srgbClr val="15283D"/>
                          </a:solidFill>
                          <a:latin typeface="Arial"/>
                          <a:ea typeface="Arial"/>
                          <a:cs typeface="Arial"/>
                        </a:rPr>
                        <a:t>VECTOR float32 und DISTANCE</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Dokumentiert, regulärer Pfad</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Engine 17.x. VECTOR unter allen CLs</a:t>
                      </a:r>
                    </a:p>
                  </a:txBody>
                  <a:tcPr marL="114300" marR="114300" marT="47625" marB="47625" anchor="ctr">
                    <a:solidFill>
                      <a:srgbClr val="FFFFFF"/>
                    </a:solidFill>
                  </a:tcPr>
                </a:tc>
              </a:tr>
              <a:tr h="666750">
                <a:tc>
                  <a:txBody>
                    <a:bodyPr/>
                    <a:lstStyle/>
                    <a:p>
                      <a:r>
                        <a:rPr sz="1800" b="0">
                          <a:solidFill>
                            <a:srgbClr val="15283D"/>
                          </a:solidFill>
                          <a:latin typeface="Arial"/>
                          <a:ea typeface="Arial"/>
                          <a:cs typeface="Arial"/>
                        </a:rPr>
                        <a:t>VECTOR float16</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Preview</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PREVIEW_FEATURES in eigener Datenbank</a:t>
                      </a:r>
                    </a:p>
                  </a:txBody>
                  <a:tcPr marL="114300" marR="114300" marT="47625" marB="47625" anchor="ctr">
                    <a:solidFill>
                      <a:srgbClr val="FFFFFF"/>
                    </a:solidFill>
                  </a:tcPr>
                </a:tc>
              </a:tr>
              <a:tr h="666750">
                <a:tc>
                  <a:txBody>
                    <a:bodyPr/>
                    <a:lstStyle/>
                    <a:p>
                      <a:r>
                        <a:rPr sz="1800" b="0">
                          <a:solidFill>
                            <a:srgbClr val="15283D"/>
                          </a:solidFill>
                          <a:latin typeface="Arial"/>
                          <a:ea typeface="Arial"/>
                          <a:cs typeface="Arial"/>
                        </a:rPr>
                        <a:t>AI_GENERATE_CHUNKS</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Lokale Funktion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Compatibility Level mindestens 170</a:t>
                      </a:r>
                    </a:p>
                  </a:txBody>
                  <a:tcPr marL="114300" marR="114300" marT="47625" marB="47625" anchor="ctr">
                    <a:solidFill>
                      <a:srgbClr val="FFFFFF"/>
                    </a:solidFill>
                  </a:tcPr>
                </a:tc>
              </a:tr>
              <a:tr h="666750">
                <a:tc>
                  <a:txBody>
                    <a:bodyPr/>
                    <a:lstStyle/>
                    <a:p>
                      <a:r>
                        <a:rPr sz="1800" b="0">
                          <a:solidFill>
                            <a:srgbClr val="15283D"/>
                          </a:solidFill>
                          <a:latin typeface="Arial"/>
                          <a:ea typeface="Arial"/>
                          <a:cs typeface="Arial"/>
                        </a:rPr>
                        <a:t>Vector Index und VECTOR_SEARCH</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Preview</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Build, Syntax und Generation separat prüfen</a:t>
                      </a:r>
                    </a:p>
                  </a:txBody>
                  <a:tcPr marL="114300" marR="114300" marT="47625" marB="47625" anchor="ctr">
                    <a:solidFill>
                      <a:srgbClr val="FFFFFF"/>
                    </a:solidFill>
                  </a:tcPr>
                </a:tc>
              </a:tr>
              <a:tr h="666750">
                <a:tc>
                  <a:txBody>
                    <a:bodyPr/>
                    <a:lstStyle/>
                    <a:p>
                      <a:r>
                        <a:rPr sz="1800" b="0">
                          <a:solidFill>
                            <a:srgbClr val="15283D"/>
                          </a:solidFill>
                          <a:latin typeface="Arial"/>
                          <a:ea typeface="Arial"/>
                          <a:cs typeface="Arial"/>
                        </a:rPr>
                        <a:t>Copilot in SSMS</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Clientfunktion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Clientversion und Ausführungskontext prüfen</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AC1A8580-D59E-4E6F-BA65-A74E05E86C9F}"/>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Laborprofil: Enterprise Developer, Engine 17.x, CL 170. Versions-SKIP vor Setup auf 2019/2022.</a:t>
            </a:r>
          </a:p>
        </p:txBody>
      </p:sp>
      <p:sp>
        <p:nvSpPr>
          <p:cNvPr id="4" name="text-2">
            <a:extLst xmlns:a="http://schemas.openxmlformats.org/drawingml/2006/main">
              <a:ext uri="{FF2B5EF4-FFF2-40B4-BE49-F238E27FC236}">
                <a16:creationId xmlns:a16="http://schemas.microsoft.com/office/drawing/2014/main" id="{086CBAB8-17F5-482F-AA34-D99A318D4F10}"/>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05  CUR-014 / CUR-016 / CUR-019</a:t>
            </a:r>
          </a:p>
        </p:txBody>
      </p:sp>
    </p:spTree>
    <p:extLst>
      <p:ext uri="{BB962C8B-B14F-4D97-AF65-F5344CB8AC3E}">
        <p14:creationId xmlns:p14="http://schemas.microsoft.com/office/powerpoint/2010/main" val="20193020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ACC024C6-A202-4B1A-99D9-AE7404440E7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Demoablauf und aktueller Bestand</a:t>
            </a:r>
          </a:p>
        </p:txBody>
      </p:sp>
      <p:graphicFrame>
        <p:nvGraphicFramePr>
          <p:cNvPr id="2" name="">
            <a:extLst xmlns:a="http://schemas.openxmlformats.org/drawingml/2006/main">
              <a:ext uri="{FF2B5EF4-FFF2-40B4-BE49-F238E27FC236}">
                <a16:creationId xmlns:a16="http://schemas.microsoft.com/office/drawing/2014/main" id="{D1EEFB7C-59B2-45AA-A47F-28C6B74EF883}"/>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4476750"/>
                <a:gridCol w="6191250"/>
              </a:tblGrid>
              <a:tr h="785813">
                <a:tc>
                  <a:txBody>
                    <a:bodyPr/>
                    <a:lstStyle/>
                    <a:p>
                      <a:r>
                        <a:rPr sz="1800" b="1">
                          <a:solidFill>
                            <a:srgbClr val="15283D"/>
                          </a:solidFill>
                          <a:latin typeface="Arial"/>
                          <a:ea typeface="Arial"/>
                          <a:cs typeface="Arial"/>
                        </a:rPr>
                        <a:t>IMPLEMENTED</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Beobachtungsauftrag</a:t>
                      </a:r>
                    </a:p>
                  </a:txBody>
                  <a:tcPr marL="114300" marR="114300" marT="47625" marB="47625" anchor="ctr">
                    <a:solidFill>
                      <a:srgbClr val="E8F2F2"/>
                    </a:solidFill>
                  </a:tcPr>
                </a:tc>
              </a:tr>
              <a:tr h="785813">
                <a:tc>
                  <a:txBody>
                    <a:bodyPr/>
                    <a:lstStyle/>
                    <a:p>
                      <a:r>
                        <a:rPr sz="1800" b="0">
                          <a:solidFill>
                            <a:srgbClr val="15283D"/>
                          </a:solidFill>
                          <a:latin typeface="Arial"/>
                          <a:ea typeface="Arial"/>
                          <a:cs typeface="Arial"/>
                        </a:rPr>
                        <a:t>QRY-014, QRY-015, QRY-016</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Typ, Metric und Quellenbereich prüfen</a:t>
                      </a:r>
                    </a:p>
                  </a:txBody>
                  <a:tcPr marL="114300" marR="114300" marT="47625" marB="47625" anchor="ctr">
                    <a:solidFill>
                      <a:srgbClr val="FFFFFF"/>
                    </a:solidFill>
                  </a:tcPr>
                </a:tc>
              </a:tr>
              <a:tr h="785813">
                <a:tc>
                  <a:txBody>
                    <a:bodyPr/>
                    <a:lstStyle/>
                    <a:p>
                      <a:r>
                        <a:rPr sz="1800" b="0">
                          <a:solidFill>
                            <a:srgbClr val="15283D"/>
                          </a:solidFill>
                          <a:latin typeface="Arial"/>
                          <a:ea typeface="Arial"/>
                          <a:cs typeface="Arial"/>
                        </a:rPr>
                        <a:t>QRY-017, QRY-018, QRY-019</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Suchpfad, Antwortbeleg und SQL-Struktur prüfen</a:t>
                      </a:r>
                    </a:p>
                  </a:txBody>
                  <a:tcPr marL="114300" marR="114300" marT="47625" marB="47625" anchor="ctr">
                    <a:solidFill>
                      <a:srgbClr val="FFFFFF"/>
                    </a:solidFill>
                  </a:tcPr>
                </a:tc>
              </a:tr>
              <a:tr h="785813">
                <a:tc>
                  <a:txBody>
                    <a:bodyPr/>
                    <a:lstStyle/>
                    <a:p>
                      <a:r>
                        <a:rPr sz="1800" b="0">
                          <a:solidFill>
                            <a:srgbClr val="15283D"/>
                          </a:solidFill>
                          <a:latin typeface="Arial"/>
                          <a:ea typeface="Arial"/>
                          <a:cs typeface="Arial"/>
                        </a:rPr>
                        <a:t>DGN-008, DGN-009, CON-010</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Modellrechte, manipulierte Quellen und Tenantgrenzen prüfen</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BB0AE333-FAC8-4A9D-BC9B-0582EA135F4D}"/>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Preflight, Setup, Baseline, Demonstration, Observation, Mitigation, Comparison und Cleanup</a:t>
            </a:r>
          </a:p>
        </p:txBody>
      </p:sp>
      <p:sp>
        <p:nvSpPr>
          <p:cNvPr id="4" name="text-2">
            <a:extLst xmlns:a="http://schemas.openxmlformats.org/drawingml/2006/main">
              <a:ext uri="{FF2B5EF4-FFF2-40B4-BE49-F238E27FC236}">
                <a16:creationId xmlns:a16="http://schemas.microsoft.com/office/drawing/2014/main" id="{8ECE8BCF-086F-4B87-986D-9DDAEC0D6695}"/>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06  CUR-013–CUR-022</a:t>
            </a:r>
          </a:p>
        </p:txBody>
      </p:sp>
    </p:spTree>
    <p:extLst>
      <p:ext uri="{BB962C8B-B14F-4D97-AF65-F5344CB8AC3E}">
        <p14:creationId xmlns:p14="http://schemas.microsoft.com/office/powerpoint/2010/main" val="12928370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5BCEB84-2584-4EAC-BBB2-6F1D80327038}"/>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Vektoren und Embeddingräume</a:t>
            </a:r>
          </a:p>
        </p:txBody>
      </p:sp>
      <p:sp>
        <p:nvSpPr>
          <p:cNvPr id="2" name="text-1">
            <a:extLst xmlns:a="http://schemas.openxmlformats.org/drawingml/2006/main">
              <a:ext uri="{FF2B5EF4-FFF2-40B4-BE49-F238E27FC236}">
                <a16:creationId xmlns:a16="http://schemas.microsoft.com/office/drawing/2014/main" id="{4E0DD925-3CEE-4A14-8060-2B6EAB8205F8}"/>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VECTOR(3)</a:t>
            </a:r>
          </a:p>
        </p:txBody>
      </p:sp>
      <p:sp>
        <p:nvSpPr>
          <p:cNvPr id="3" name="text-2">
            <a:extLst xmlns:a="http://schemas.openxmlformats.org/drawingml/2006/main">
              <a:ext uri="{FF2B5EF4-FFF2-40B4-BE49-F238E27FC236}">
                <a16:creationId xmlns:a16="http://schemas.microsoft.com/office/drawing/2014/main" id="{5D3611B6-3A03-4758-9772-7B4235F786BE}"/>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Wert enthält drei numerische Komponenten. float32 benötigt ungefähr 4 × d Bytes Nutzdaten.</a:t>
            </a:r>
          </a:p>
        </p:txBody>
      </p:sp>
      <p:sp>
        <p:nvSpPr>
          <p:cNvPr id="4" name="text-3">
            <a:extLst xmlns:a="http://schemas.openxmlformats.org/drawingml/2006/main">
              <a:ext uri="{FF2B5EF4-FFF2-40B4-BE49-F238E27FC236}">
                <a16:creationId xmlns:a16="http://schemas.microsoft.com/office/drawing/2014/main" id="{B55D3615-4870-45A4-9B9B-B18BC330512F}"/>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Modellraum</a:t>
            </a:r>
          </a:p>
        </p:txBody>
      </p:sp>
      <p:sp>
        <p:nvSpPr>
          <p:cNvPr id="5" name="text-4">
            <a:extLst xmlns:a="http://schemas.openxmlformats.org/drawingml/2006/main">
              <a:ext uri="{FF2B5EF4-FFF2-40B4-BE49-F238E27FC236}">
                <a16:creationId xmlns:a16="http://schemas.microsoft.com/office/drawing/2014/main" id="{022C10EF-8A62-4CCD-A842-019FA580FD94}"/>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Gleiche Dimension allein erlaubt keine gemeinsame Suche. Modellversion und Normalisierung gehören zur Provenienz.</a:t>
            </a:r>
          </a:p>
        </p:txBody>
      </p:sp>
      <p:sp>
        <p:nvSpPr>
          <p:cNvPr id="6" name="text-5">
            <a:extLst xmlns:a="http://schemas.openxmlformats.org/drawingml/2006/main">
              <a:ext uri="{FF2B5EF4-FFF2-40B4-BE49-F238E27FC236}">
                <a16:creationId xmlns:a16="http://schemas.microsoft.com/office/drawing/2014/main" id="{75C6D396-D762-4D02-95B3-5AC71B61E052}"/>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Grenzen</a:t>
            </a:r>
          </a:p>
        </p:txBody>
      </p:sp>
      <p:sp>
        <p:nvSpPr>
          <p:cNvPr id="7" name="text-6">
            <a:extLst xmlns:a="http://schemas.openxmlformats.org/drawingml/2006/main">
              <a:ext uri="{FF2B5EF4-FFF2-40B4-BE49-F238E27FC236}">
                <a16:creationId xmlns:a16="http://schemas.microsoft.com/office/drawing/2014/main" id="{5F5FF5A5-C4B5-4FAC-82CD-8C61100CDADA}"/>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float32: 1 bis 1998 Dimensionen. float16: 1 bis 3996 Dimensionen, Preview im SQL-Server-Pfad.</a:t>
            </a:r>
          </a:p>
        </p:txBody>
      </p:sp>
      <p:sp>
        <p:nvSpPr>
          <p:cNvPr id="8" name="text-7">
            <a:extLst xmlns:a="http://schemas.openxmlformats.org/drawingml/2006/main">
              <a:ext uri="{FF2B5EF4-FFF2-40B4-BE49-F238E27FC236}">
                <a16:creationId xmlns:a16="http://schemas.microsoft.com/office/drawing/2014/main" id="{8ED0E3A2-CE38-4623-8911-ADCAE584839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07  CUR-013 / CUR-014</a:t>
            </a:r>
          </a:p>
        </p:txBody>
      </p:sp>
    </p:spTree>
    <p:extLst>
      <p:ext uri="{BB962C8B-B14F-4D97-AF65-F5344CB8AC3E}">
        <p14:creationId xmlns:p14="http://schemas.microsoft.com/office/powerpoint/2010/main" val="12107315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A1F9B474-6B69-4246-89BC-254EBAB622C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QRY-014: Typ und Modellraum</a:t>
            </a:r>
          </a:p>
        </p:txBody>
      </p:sp>
      <p:sp>
        <p:nvSpPr>
          <p:cNvPr id="2" name="text-1">
            <a:extLst xmlns:a="http://schemas.openxmlformats.org/drawingml/2006/main">
              <a:ext uri="{FF2B5EF4-FFF2-40B4-BE49-F238E27FC236}">
                <a16:creationId xmlns:a16="http://schemas.microsoft.com/office/drawing/2014/main" id="{09BC30C9-A1C8-4154-B750-BD85168D6E62}"/>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413134C4-9D45-40DE-AA4E-53BE199AB278}"/>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Dürfen GEOMETRY_V1 und GEOMETRY_V2 allein wegen VECTOR(3) gemeinsam gesucht werden?</a:t>
            </a:r>
          </a:p>
        </p:txBody>
      </p:sp>
      <p:sp>
        <p:nvSpPr>
          <p:cNvPr id="4" name="text-3">
            <a:extLst xmlns:a="http://schemas.openxmlformats.org/drawingml/2006/main">
              <a:ext uri="{FF2B5EF4-FFF2-40B4-BE49-F238E27FC236}">
                <a16:creationId xmlns:a16="http://schemas.microsoft.com/office/drawing/2014/main" id="{9888EC40-AF03-436A-8E18-6F75F4E320F8}"/>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0C92E70C-67DD-4D0D-B521-E9121DCDB90B}"/>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Fünf Rows, Dimensionszahl und BaseType lesen. Falsche Dimension und ungültiges JSON unterscheiden.</a:t>
            </a:r>
          </a:p>
        </p:txBody>
      </p:sp>
      <p:sp>
        <p:nvSpPr>
          <p:cNvPr id="6" name="text-5">
            <a:extLst xmlns:a="http://schemas.openxmlformats.org/drawingml/2006/main">
              <a:ext uri="{FF2B5EF4-FFF2-40B4-BE49-F238E27FC236}">
                <a16:creationId xmlns:a16="http://schemas.microsoft.com/office/drawing/2014/main" id="{9D45F2E3-AE92-42EA-918F-B455673CB1AA}"/>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Erklärung</a:t>
            </a:r>
          </a:p>
        </p:txBody>
      </p:sp>
      <p:sp>
        <p:nvSpPr>
          <p:cNvPr id="7" name="text-6">
            <a:extLst xmlns:a="http://schemas.openxmlformats.org/drawingml/2006/main">
              <a:ext uri="{FF2B5EF4-FFF2-40B4-BE49-F238E27FC236}">
                <a16:creationId xmlns:a16="http://schemas.microsoft.com/office/drawing/2014/main" id="{5152E283-3C37-4EFF-84E4-91B0E2912699}"/>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Der SQL-Typ prüft die technische Form. Die Anwendung muss den passenden Modellraum sicherstellen.</a:t>
            </a:r>
          </a:p>
        </p:txBody>
      </p:sp>
      <p:sp>
        <p:nvSpPr>
          <p:cNvPr id="8" name="text-7">
            <a:extLst xmlns:a="http://schemas.openxmlformats.org/drawingml/2006/main">
              <a:ext uri="{FF2B5EF4-FFF2-40B4-BE49-F238E27FC236}">
                <a16:creationId xmlns:a16="http://schemas.microsoft.com/office/drawing/2014/main" id="{3C3ECCCF-C337-40A8-B756-A1C50D336443}"/>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Offline, GREEN, eine Session, Engine 17.x und CL 170.</a:t>
            </a:r>
          </a:p>
        </p:txBody>
      </p:sp>
      <p:sp>
        <p:nvSpPr>
          <p:cNvPr id="9" name="text-8">
            <a:extLst xmlns:a="http://schemas.openxmlformats.org/drawingml/2006/main">
              <a:ext uri="{FF2B5EF4-FFF2-40B4-BE49-F238E27FC236}">
                <a16:creationId xmlns:a16="http://schemas.microsoft.com/office/drawing/2014/main" id="{DB2ADDB5-CE9C-4310-951D-CF9ABE917B2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08  CUR-014</a:t>
            </a:r>
          </a:p>
        </p:txBody>
      </p:sp>
    </p:spTree>
    <p:extLst>
      <p:ext uri="{BB962C8B-B14F-4D97-AF65-F5344CB8AC3E}">
        <p14:creationId xmlns:p14="http://schemas.microsoft.com/office/powerpoint/2010/main" val="20414399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B6C31A3F-199F-4F44-B90F-A915B4C9F962}"/>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Distanz, Norm und Normalisierung</a:t>
            </a:r>
          </a:p>
        </p:txBody>
      </p:sp>
      <p:graphicFrame>
        <p:nvGraphicFramePr>
          <p:cNvPr id="2" name="">
            <a:extLst xmlns:a="http://schemas.openxmlformats.org/drawingml/2006/main">
              <a:ext uri="{FF2B5EF4-FFF2-40B4-BE49-F238E27FC236}">
                <a16:creationId xmlns:a16="http://schemas.microsoft.com/office/drawing/2014/main" id="{7769ECB3-ABB9-46DF-AA71-F4E0770DD193}"/>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952750"/>
                <a:gridCol w="4572000"/>
                <a:gridCol w="3143250"/>
              </a:tblGrid>
              <a:tr h="800100">
                <a:tc>
                  <a:txBody>
                    <a:bodyPr/>
                    <a:lstStyle/>
                    <a:p>
                      <a:r>
                        <a:rPr sz="1800" b="1">
                          <a:solidFill>
                            <a:srgbClr val="15283D"/>
                          </a:solidFill>
                          <a:latin typeface="Arial"/>
                          <a:ea typeface="Arial"/>
                          <a:cs typeface="Arial"/>
                        </a:rPr>
                        <a:t>Größe</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Bedeutung</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Beispiel [3,4,0]</a:t>
                      </a:r>
                    </a:p>
                  </a:txBody>
                  <a:tcPr marL="114300" marR="114300" marT="47625" marB="47625" anchor="ctr">
                    <a:solidFill>
                      <a:srgbClr val="E8F2F2"/>
                    </a:solidFill>
                  </a:tcPr>
                </a:tc>
              </a:tr>
              <a:tr h="800100">
                <a:tc>
                  <a:txBody>
                    <a:bodyPr/>
                    <a:lstStyle/>
                    <a:p>
                      <a:r>
                        <a:rPr sz="1800" b="0">
                          <a:solidFill>
                            <a:srgbClr val="15283D"/>
                          </a:solidFill>
                          <a:latin typeface="Arial"/>
                          <a:ea typeface="Arial"/>
                          <a:cs typeface="Arial"/>
                        </a:rPr>
                        <a:t>Euclidean-Distanz</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Abstand zweier Punkte</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Selbstdistanz 0</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Cosine-Distanz</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Richtung relativ zur Norm</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Selbstdistanz 0 für diesen Nichtnullvektor</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Negatives Dot Product</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Richtung und Magnitude</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Self-Dot-Distanz −25</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norm1 / norm2 / norminf</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Summe / Länge / größter Betrag</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7 / 5 / 4</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87793C01-40F3-4321-A9A2-C677267154D7}"/>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Kleinere Distanz bedeutet Nähe im gewählten Raum. Sie ist keine Antwortwahrscheinlichkeit.</a:t>
            </a:r>
          </a:p>
        </p:txBody>
      </p:sp>
      <p:sp>
        <p:nvSpPr>
          <p:cNvPr id="4" name="text-2">
            <a:extLst xmlns:a="http://schemas.openxmlformats.org/drawingml/2006/main">
              <a:ext uri="{FF2B5EF4-FFF2-40B4-BE49-F238E27FC236}">
                <a16:creationId xmlns:a16="http://schemas.microsoft.com/office/drawing/2014/main" id="{EFEB66D8-AA4A-4647-8982-1D86FD17A3BD}"/>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09  CUR-014</a:t>
            </a:r>
          </a:p>
        </p:txBody>
      </p:sp>
    </p:spTree>
    <p:extLst>
      <p:ext uri="{BB962C8B-B14F-4D97-AF65-F5344CB8AC3E}">
        <p14:creationId xmlns:p14="http://schemas.microsoft.com/office/powerpoint/2010/main" val="5960648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D184321-FDDA-4743-9279-FF9DB70CAC0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QRY-015: Rangfolge vor und nach Normalisierung</a:t>
            </a:r>
          </a:p>
        </p:txBody>
      </p:sp>
      <p:sp>
        <p:nvSpPr>
          <p:cNvPr id="2" name="text-1">
            <a:extLst xmlns:a="http://schemas.openxmlformats.org/drawingml/2006/main">
              <a:ext uri="{FF2B5EF4-FFF2-40B4-BE49-F238E27FC236}">
                <a16:creationId xmlns:a16="http://schemas.microsoft.com/office/drawing/2014/main" id="{C2E3450A-AA4B-482A-9228-C8ECA2F2D5F3}"/>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DECLARE @q VECTOR(3) = '[1,0,0]';</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Id, VECTOR_DISTANCE('dot', V, @q) AS Distance</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lab.VectorFixture</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ORDER BY Distance, Id;</a:t>
            </a:r>
          </a:p>
        </p:txBody>
      </p:sp>
      <p:sp>
        <p:nvSpPr>
          <p:cNvPr id="3" name="text-2">
            <a:extLst xmlns:a="http://schemas.openxmlformats.org/drawingml/2006/main">
              <a:ext uri="{FF2B5EF4-FFF2-40B4-BE49-F238E27FC236}">
                <a16:creationId xmlns:a16="http://schemas.microsoft.com/office/drawing/2014/main" id="{47AFC7F4-E8BD-4673-9F82-F7ACB09350BD}"/>
              </a:ext>
            </a:extLst>
          </p:cNvPr>
          <p:cNvSpPr>
            <a:spLocks xmlns:a="http://schemas.openxmlformats.org/drawingml/2006/main" noGrp="1"/>
          </p:cNvSpPr>
          <p:nvPr/>
        </p:nvSpPr>
        <p:spPr>
          <a:xfrm xmlns:a="http://schemas.openxmlformats.org/drawingml/2006/main">
            <a:off x="685800" y="3724275"/>
            <a:ext cx="23336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4" name="text-3">
            <a:extLst xmlns:a="http://schemas.openxmlformats.org/drawingml/2006/main">
              <a:ext uri="{FF2B5EF4-FFF2-40B4-BE49-F238E27FC236}">
                <a16:creationId xmlns:a16="http://schemas.microsoft.com/office/drawing/2014/main" id="{FFC53265-1F48-4B1F-AA91-BEF6B214BD5D}"/>
              </a:ext>
            </a:extLst>
          </p:cNvPr>
          <p:cNvSpPr>
            <a:spLocks xmlns:a="http://schemas.openxmlformats.org/drawingml/2006/main" noGrp="1"/>
          </p:cNvSpPr>
          <p:nvPr/>
        </p:nvSpPr>
        <p:spPr>
          <a:xfrm xmlns:a="http://schemas.openxmlformats.org/drawingml/2006/main">
            <a:off x="3190875" y="3724275"/>
            <a:ext cx="82391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Euclidean und rohe Dot-Distanz können verschiedene Ersttreffer liefern.</a:t>
            </a:r>
          </a:p>
        </p:txBody>
      </p:sp>
      <p:sp>
        <p:nvSpPr>
          <p:cNvPr id="5" name="text-4">
            <a:extLst xmlns:a="http://schemas.openxmlformats.org/drawingml/2006/main">
              <a:ext uri="{FF2B5EF4-FFF2-40B4-BE49-F238E27FC236}">
                <a16:creationId xmlns:a16="http://schemas.microsoft.com/office/drawing/2014/main" id="{7FE0EA2B-04CA-47E1-AAF1-077AAF64D846}"/>
              </a:ext>
            </a:extLst>
          </p:cNvPr>
          <p:cNvSpPr>
            <a:spLocks xmlns:a="http://schemas.openxmlformats.org/drawingml/2006/main" noGrp="1"/>
          </p:cNvSpPr>
          <p:nvPr/>
        </p:nvSpPr>
        <p:spPr>
          <a:xfrm xmlns:a="http://schemas.openxmlformats.org/drawingml/2006/main">
            <a:off x="685800" y="4795838"/>
            <a:ext cx="23336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6" name="text-5">
            <a:extLst xmlns:a="http://schemas.openxmlformats.org/drawingml/2006/main">
              <a:ext uri="{FF2B5EF4-FFF2-40B4-BE49-F238E27FC236}">
                <a16:creationId xmlns:a16="http://schemas.microsoft.com/office/drawing/2014/main" id="{777D763C-0433-4950-86F5-8B6DDEDA244C}"/>
              </a:ext>
            </a:extLst>
          </p:cNvPr>
          <p:cNvSpPr>
            <a:spLocks xmlns:a="http://schemas.openxmlformats.org/drawingml/2006/main" noGrp="1"/>
          </p:cNvSpPr>
          <p:nvPr/>
        </p:nvSpPr>
        <p:spPr>
          <a:xfrm xmlns:a="http://schemas.openxmlformats.org/drawingml/2006/main">
            <a:off x="3190875" y="4795838"/>
            <a:ext cx="82391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rohe Dot-Suche liefert im Fixture Id 2. Nach norm2-Normalisierung die Rangfolge erneut erklären.</a:t>
            </a:r>
          </a:p>
        </p:txBody>
      </p:sp>
      <p:sp>
        <p:nvSpPr>
          <p:cNvPr id="7" name="text-6">
            <a:extLst xmlns:a="http://schemas.openxmlformats.org/drawingml/2006/main">
              <a:ext uri="{FF2B5EF4-FFF2-40B4-BE49-F238E27FC236}">
                <a16:creationId xmlns:a16="http://schemas.microsoft.com/office/drawing/2014/main" id="{4C7C9C4C-AF95-46BD-8991-CDA2B35C0382}"/>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Codeauszug aus 30_Demonstration.sql, innerhalb des eigenen Demo-Lifecycles.</a:t>
            </a:r>
          </a:p>
        </p:txBody>
      </p:sp>
      <p:sp>
        <p:nvSpPr>
          <p:cNvPr id="8" name="text-7">
            <a:extLst xmlns:a="http://schemas.openxmlformats.org/drawingml/2006/main">
              <a:ext uri="{FF2B5EF4-FFF2-40B4-BE49-F238E27FC236}">
                <a16:creationId xmlns:a16="http://schemas.microsoft.com/office/drawing/2014/main" id="{01D84ECC-9A6E-437F-948E-87D46AD01A14}"/>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10  CUR-014</a:t>
            </a:r>
          </a:p>
        </p:txBody>
      </p:sp>
    </p:spTree>
    <p:extLst>
      <p:ext uri="{BB962C8B-B14F-4D97-AF65-F5344CB8AC3E}">
        <p14:creationId xmlns:p14="http://schemas.microsoft.com/office/powerpoint/2010/main" val="18472812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AF76B6B-9D6A-4E46-B177-1CF2CBB38813}"/>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Chunking und belegbare Quellen</a:t>
            </a:r>
          </a:p>
        </p:txBody>
      </p:sp>
      <p:sp>
        <p:nvSpPr>
          <p:cNvPr id="2" name="text-1">
            <a:extLst xmlns:a="http://schemas.openxmlformats.org/drawingml/2006/main">
              <a:ext uri="{FF2B5EF4-FFF2-40B4-BE49-F238E27FC236}">
                <a16:creationId xmlns:a16="http://schemas.microsoft.com/office/drawing/2014/main" id="{2A79E4BB-EA4E-423E-AA27-FCCC4D3CC64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Zeichenbereiche</a:t>
            </a:r>
          </a:p>
        </p:txBody>
      </p:sp>
      <p:sp>
        <p:nvSpPr>
          <p:cNvPr id="3" name="text-2">
            <a:extLst xmlns:a="http://schemas.openxmlformats.org/drawingml/2006/main">
              <a:ext uri="{FF2B5EF4-FFF2-40B4-BE49-F238E27FC236}">
                <a16:creationId xmlns:a16="http://schemas.microsoft.com/office/drawing/2014/main" id="{45082AE7-0D1F-4FF5-A5FD-429AA0BF2E89}"/>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FIXED zerlegt Text nach Zeichenanzahl. CHUNK_SIZE belegt kein Tokenlimit eines Modells.</a:t>
            </a:r>
          </a:p>
        </p:txBody>
      </p:sp>
      <p:sp>
        <p:nvSpPr>
          <p:cNvPr id="4" name="text-3">
            <a:extLst xmlns:a="http://schemas.openxmlformats.org/drawingml/2006/main">
              <a:ext uri="{FF2B5EF4-FFF2-40B4-BE49-F238E27FC236}">
                <a16:creationId xmlns:a16="http://schemas.microsoft.com/office/drawing/2014/main" id="{12CA0D16-7ED8-4E05-AAA0-0CA3D525478B}"/>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Overlap</a:t>
            </a:r>
          </a:p>
        </p:txBody>
      </p:sp>
      <p:sp>
        <p:nvSpPr>
          <p:cNvPr id="5" name="text-4">
            <a:extLst xmlns:a="http://schemas.openxmlformats.org/drawingml/2006/main">
              <a:ext uri="{FF2B5EF4-FFF2-40B4-BE49-F238E27FC236}">
                <a16:creationId xmlns:a16="http://schemas.microsoft.com/office/drawing/2014/main" id="{BE2673D6-6042-46F8-8822-171476CF0E8D}"/>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OVERLAP legt 0 bis 50 Prozent Überlappung fest. Wiederholte Bereiche erhöhen die verarbeitete Textmenge.</a:t>
            </a:r>
          </a:p>
        </p:txBody>
      </p:sp>
      <p:sp>
        <p:nvSpPr>
          <p:cNvPr id="6" name="text-5">
            <a:extLst xmlns:a="http://schemas.openxmlformats.org/drawingml/2006/main">
              <a:ext uri="{FF2B5EF4-FFF2-40B4-BE49-F238E27FC236}">
                <a16:creationId xmlns:a16="http://schemas.microsoft.com/office/drawing/2014/main" id="{D8B63F61-4844-41BA-9168-3D70C4441DBC}"/>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Provenienz</a:t>
            </a:r>
          </a:p>
        </p:txBody>
      </p:sp>
      <p:sp>
        <p:nvSpPr>
          <p:cNvPr id="7" name="text-6">
            <a:extLst xmlns:a="http://schemas.openxmlformats.org/drawingml/2006/main">
              <a:ext uri="{FF2B5EF4-FFF2-40B4-BE49-F238E27FC236}">
                <a16:creationId xmlns:a16="http://schemas.microsoft.com/office/drawing/2014/main" id="{5CB617A2-1630-4EE1-B726-728FB618B0F1}"/>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DocId, Version, Reihenfolge, Offset, Länge und Chunkparameter bleiben mit dem Treffer verbunden.</a:t>
            </a:r>
          </a:p>
        </p:txBody>
      </p:sp>
      <p:sp>
        <p:nvSpPr>
          <p:cNvPr id="8" name="text-7">
            <a:extLst xmlns:a="http://schemas.openxmlformats.org/drawingml/2006/main">
              <a:ext uri="{FF2B5EF4-FFF2-40B4-BE49-F238E27FC236}">
                <a16:creationId xmlns:a16="http://schemas.microsoft.com/office/drawing/2014/main" id="{CD150ED4-8E7D-4AD8-B7F1-D1C3DD9273A3}"/>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11  CUR-015</a:t>
            </a:r>
          </a:p>
        </p:txBody>
      </p:sp>
    </p:spTree>
    <p:extLst>
      <p:ext uri="{BB962C8B-B14F-4D97-AF65-F5344CB8AC3E}">
        <p14:creationId xmlns:p14="http://schemas.microsoft.com/office/powerpoint/2010/main" val="20069530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BCE28744-BC3E-462D-8648-279C3480F16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QRY-016: Overlap und Dokumentversion</a:t>
            </a:r>
          </a:p>
        </p:txBody>
      </p:sp>
      <p:sp>
        <p:nvSpPr>
          <p:cNvPr id="2" name="text-1">
            <a:extLst xmlns:a="http://schemas.openxmlformats.org/drawingml/2006/main">
              <a:ext uri="{FF2B5EF4-FFF2-40B4-BE49-F238E27FC236}">
                <a16:creationId xmlns:a16="http://schemas.microsoft.com/office/drawing/2014/main" id="{8A5509CF-F966-4377-9B47-1998F24AABC7}"/>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7B4800F6-F413-4C4C-BEBA-C19F1F53B0FD}"/>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Wie verändert 25 Prozent Overlap die summierte Bereichslänge?</a:t>
            </a:r>
          </a:p>
        </p:txBody>
      </p:sp>
      <p:sp>
        <p:nvSpPr>
          <p:cNvPr id="4" name="text-3">
            <a:extLst xmlns:a="http://schemas.openxmlformats.org/drawingml/2006/main">
              <a:ext uri="{FF2B5EF4-FFF2-40B4-BE49-F238E27FC236}">
                <a16:creationId xmlns:a16="http://schemas.microsoft.com/office/drawing/2014/main" id="{B4933C99-141A-4913-9820-8E7A639EF984}"/>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FB5F3033-6CC1-4928-B290-121CC65AB924}"/>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Je einen Chunk beider Dokumentversionen und der Profile 0/25 dem Originaltext zuordnen.</a:t>
            </a:r>
          </a:p>
        </p:txBody>
      </p:sp>
      <p:sp>
        <p:nvSpPr>
          <p:cNvPr id="6" name="text-5">
            <a:extLst xmlns:a="http://schemas.openxmlformats.org/drawingml/2006/main">
              <a:ext uri="{FF2B5EF4-FFF2-40B4-BE49-F238E27FC236}">
                <a16:creationId xmlns:a16="http://schemas.microsoft.com/office/drawing/2014/main" id="{B489D29B-9EB7-451C-A5A2-93B304831AD2}"/>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Vergleich</a:t>
            </a:r>
          </a:p>
        </p:txBody>
      </p:sp>
      <p:sp>
        <p:nvSpPr>
          <p:cNvPr id="7" name="text-6">
            <a:extLst xmlns:a="http://schemas.openxmlformats.org/drawingml/2006/main">
              <a:ext uri="{FF2B5EF4-FFF2-40B4-BE49-F238E27FC236}">
                <a16:creationId xmlns:a16="http://schemas.microsoft.com/office/drawing/2014/main" id="{65B863FF-CB2E-40D2-9062-8DD39C7914FD}"/>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Reihenfolge, Offset und Länge kontrollieren. Nach dem Update die Version des Treffers eindeutig nennen.</a:t>
            </a:r>
          </a:p>
        </p:txBody>
      </p:sp>
      <p:sp>
        <p:nvSpPr>
          <p:cNvPr id="8" name="text-7">
            <a:extLst xmlns:a="http://schemas.openxmlformats.org/drawingml/2006/main">
              <a:ext uri="{FF2B5EF4-FFF2-40B4-BE49-F238E27FC236}">
                <a16:creationId xmlns:a16="http://schemas.microsoft.com/office/drawing/2014/main" id="{BFB39E9D-3480-4FD3-937D-DF4010224808}"/>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Lokales FIXED-Chunking ohne Tokenizer oder Modellcall.</a:t>
            </a:r>
          </a:p>
        </p:txBody>
      </p:sp>
      <p:sp>
        <p:nvSpPr>
          <p:cNvPr id="9" name="text-8">
            <a:extLst xmlns:a="http://schemas.openxmlformats.org/drawingml/2006/main">
              <a:ext uri="{FF2B5EF4-FFF2-40B4-BE49-F238E27FC236}">
                <a16:creationId xmlns:a16="http://schemas.microsoft.com/office/drawing/2014/main" id="{D09E2532-AF66-4E64-AA35-BB894E5CDA63}"/>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12  CUR-015</a:t>
            </a:r>
          </a:p>
        </p:txBody>
      </p:sp>
    </p:spTree>
    <p:extLst>
      <p:ext uri="{BB962C8B-B14F-4D97-AF65-F5344CB8AC3E}">
        <p14:creationId xmlns:p14="http://schemas.microsoft.com/office/powerpoint/2010/main" val="16724548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4A4F6482-C89D-4BE5-8A85-B49ECC54EB9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Modellpfade und ihre Freigaben</a:t>
            </a:r>
          </a:p>
        </p:txBody>
      </p:sp>
      <p:graphicFrame>
        <p:nvGraphicFramePr>
          <p:cNvPr id="2" name="">
            <a:extLst xmlns:a="http://schemas.openxmlformats.org/drawingml/2006/main">
              <a:ext uri="{FF2B5EF4-FFF2-40B4-BE49-F238E27FC236}">
                <a16:creationId xmlns:a16="http://schemas.microsoft.com/office/drawing/2014/main" id="{FEB8BBCD-D251-48DD-AE88-54B38AA993D8}"/>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3048000"/>
                <a:gridCol w="3905250"/>
                <a:gridCol w="3714750"/>
              </a:tblGrid>
              <a:tr h="800100">
                <a:tc>
                  <a:txBody>
                    <a:bodyPr/>
                    <a:lstStyle/>
                    <a:p>
                      <a:r>
                        <a:rPr sz="1800" b="1">
                          <a:solidFill>
                            <a:srgbClr val="15283D"/>
                          </a:solidFill>
                          <a:latin typeface="Arial"/>
                          <a:ea typeface="Arial"/>
                          <a:cs typeface="Arial"/>
                        </a:rPr>
                        <a:t>Pfad</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Was er zeigt</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Grenze</a:t>
                      </a:r>
                    </a:p>
                  </a:txBody>
                  <a:tcPr marL="114300" marR="114300" marT="47625" marB="47625" anchor="ctr">
                    <a:solidFill>
                      <a:srgbClr val="E8F2F2"/>
                    </a:solidFill>
                  </a:tcPr>
                </a:tc>
              </a:tr>
              <a:tr h="800100">
                <a:tc>
                  <a:txBody>
                    <a:bodyPr/>
                    <a:lstStyle/>
                    <a:p>
                      <a:r>
                        <a:rPr sz="1800" b="0">
                          <a:solidFill>
                            <a:srgbClr val="15283D"/>
                          </a:solidFill>
                          <a:latin typeface="Arial"/>
                          <a:ea typeface="Arial"/>
                          <a:cs typeface="Arial"/>
                        </a:rPr>
                        <a:t>Geometrie und Offlinefixtures</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SQL-Mechanik und feste Kontrollfälle</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Keine echte Sprachsemantik oder Inferenz</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QRY-020: lokaler Provider</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Geplante echte Embeddings über Ollama</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PROPOSED. TLS, API und Runtime prüfen</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QRY-021: externer Provider</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Geplante externe Embeddings</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PROPOSED. Egress, Secrets und Geldbudget</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QRY-022: ONNX</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Geplante lokale Native-Inferenz</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PROPOSED. Windows und ML Services, Rot</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D9983ACF-B78A-4082-8FE4-8E10203AD6E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13  CUR-016</a:t>
            </a:r>
          </a:p>
        </p:txBody>
      </p:sp>
    </p:spTree>
    <p:extLst>
      <p:ext uri="{BB962C8B-B14F-4D97-AF65-F5344CB8AC3E}">
        <p14:creationId xmlns:p14="http://schemas.microsoft.com/office/powerpoint/2010/main" val="1709725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A97CFD8-A112-4A30-8301-77A60FFC462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Embedding-Lifecycle</a:t>
            </a:r>
          </a:p>
        </p:txBody>
      </p:sp>
      <p:sp>
        <p:nvSpPr>
          <p:cNvPr id="2" name="text-1">
            <a:extLst xmlns:a="http://schemas.openxmlformats.org/drawingml/2006/main">
              <a:ext uri="{FF2B5EF4-FFF2-40B4-BE49-F238E27FC236}">
                <a16:creationId xmlns:a16="http://schemas.microsoft.com/office/drawing/2014/main" id="{77C1AFB8-23EC-4DE0-864E-018F4F1552D3}"/>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 dem Request</a:t>
            </a:r>
          </a:p>
        </p:txBody>
      </p:sp>
      <p:sp>
        <p:nvSpPr>
          <p:cNvPr id="3" name="text-2">
            <a:extLst xmlns:a="http://schemas.openxmlformats.org/drawingml/2006/main">
              <a:ext uri="{FF2B5EF4-FFF2-40B4-BE49-F238E27FC236}">
                <a16:creationId xmlns:a16="http://schemas.microsoft.com/office/drawing/2014/main" id="{7599479C-7597-478F-B02C-106980B3CC9E}"/>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Modell, Dimension, Tokenlimit, Lizenz, TLS und authentifizierten Endpoint prüfen.</a:t>
            </a:r>
          </a:p>
        </p:txBody>
      </p:sp>
      <p:sp>
        <p:nvSpPr>
          <p:cNvPr id="4" name="text-3">
            <a:extLst xmlns:a="http://schemas.openxmlformats.org/drawingml/2006/main">
              <a:ext uri="{FF2B5EF4-FFF2-40B4-BE49-F238E27FC236}">
                <a16:creationId xmlns:a16="http://schemas.microsoft.com/office/drawing/2014/main" id="{15D8105A-DFD3-4C77-9FCF-E799CBB2DB4D}"/>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 dem INSERT</a:t>
            </a:r>
          </a:p>
        </p:txBody>
      </p:sp>
      <p:sp>
        <p:nvSpPr>
          <p:cNvPr id="5" name="text-4">
            <a:extLst xmlns:a="http://schemas.openxmlformats.org/drawingml/2006/main">
              <a:ext uri="{FF2B5EF4-FFF2-40B4-BE49-F238E27FC236}">
                <a16:creationId xmlns:a16="http://schemas.microsoft.com/office/drawing/2014/main" id="{087B460F-0D20-4C9D-A1C3-085BF25FCFC2}"/>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Resultattyp, Anzahl, Dimension, Truncation und Modellraum kontrollieren.</a:t>
            </a:r>
          </a:p>
        </p:txBody>
      </p:sp>
      <p:sp>
        <p:nvSpPr>
          <p:cNvPr id="6" name="text-5">
            <a:extLst xmlns:a="http://schemas.openxmlformats.org/drawingml/2006/main">
              <a:ext uri="{FF2B5EF4-FFF2-40B4-BE49-F238E27FC236}">
                <a16:creationId xmlns:a16="http://schemas.microsoft.com/office/drawing/2014/main" id="{61A62C4E-D5CF-4A0E-94F1-836705236B5A}"/>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Nach Änderungen</a:t>
            </a:r>
          </a:p>
        </p:txBody>
      </p:sp>
      <p:sp>
        <p:nvSpPr>
          <p:cNvPr id="7" name="text-6">
            <a:extLst xmlns:a="http://schemas.openxmlformats.org/drawingml/2006/main">
              <a:ext uri="{FF2B5EF4-FFF2-40B4-BE49-F238E27FC236}">
                <a16:creationId xmlns:a16="http://schemas.microsoft.com/office/drawing/2014/main" id="{9C403580-09D1-4629-8AA6-4405BD2677B4}"/>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Re-Embedding nachvollziehbar versionieren. Request-, Retry-, Netz- und Modellzeit getrennt zählen.</a:t>
            </a:r>
          </a:p>
        </p:txBody>
      </p:sp>
      <p:sp>
        <p:nvSpPr>
          <p:cNvPr id="8" name="text-7">
            <a:extLst xmlns:a="http://schemas.openxmlformats.org/drawingml/2006/main">
              <a:ext uri="{FF2B5EF4-FFF2-40B4-BE49-F238E27FC236}">
                <a16:creationId xmlns:a16="http://schemas.microsoft.com/office/drawing/2014/main" id="{92A626CC-AED2-4925-9120-06F219B4CC39}"/>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SQL External Model beschreibt den Embeddingzugang. Die generative Antwort bleibt ein Anwendungsschritt.</a:t>
            </a:r>
          </a:p>
        </p:txBody>
      </p:sp>
      <p:sp>
        <p:nvSpPr>
          <p:cNvPr id="9" name="text-8">
            <a:extLst xmlns:a="http://schemas.openxmlformats.org/drawingml/2006/main">
              <a:ext uri="{FF2B5EF4-FFF2-40B4-BE49-F238E27FC236}">
                <a16:creationId xmlns:a16="http://schemas.microsoft.com/office/drawing/2014/main" id="{6A69033D-E3CC-40B8-9B6D-958D9E68DBB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14  CUR-016</a:t>
            </a:r>
          </a:p>
        </p:txBody>
      </p:sp>
    </p:spTree>
    <p:extLst>
      <p:ext uri="{BB962C8B-B14F-4D97-AF65-F5344CB8AC3E}">
        <p14:creationId xmlns:p14="http://schemas.microsoft.com/office/powerpoint/2010/main" val="86418576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EF32895-534E-43CA-B08E-1AC92BD8CF82}"/>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DGN-008: Getrennte Modellrechte</a:t>
            </a:r>
          </a:p>
        </p:txBody>
      </p:sp>
      <p:sp>
        <p:nvSpPr>
          <p:cNvPr id="2" name="text-1">
            <a:extLst xmlns:a="http://schemas.openxmlformats.org/drawingml/2006/main">
              <a:ext uri="{FF2B5EF4-FFF2-40B4-BE49-F238E27FC236}">
                <a16:creationId xmlns:a16="http://schemas.microsoft.com/office/drawing/2014/main" id="{A2AC9DB0-10CC-4157-8C08-B0D06AE81966}"/>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8E2E5F33-D165-4A04-AEDD-5A8A2606C83A}"/>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Welche Rechte brauchen Setup, Ingestion und Retrieval jeweils?</a:t>
            </a:r>
          </a:p>
        </p:txBody>
      </p:sp>
      <p:sp>
        <p:nvSpPr>
          <p:cNvPr id="4" name="text-3">
            <a:extLst xmlns:a="http://schemas.openxmlformats.org/drawingml/2006/main">
              <a:ext uri="{FF2B5EF4-FFF2-40B4-BE49-F238E27FC236}">
                <a16:creationId xmlns:a16="http://schemas.microsoft.com/office/drawing/2014/main" id="{734C0A8B-A59E-4524-AB9B-5281FB75F54D}"/>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AA08A3A9-C385-4A28-A1A6-7EE0FF08CDD4}"/>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Offline-Modellmetadaten, drei getrennte Rollen und die tatsächliche Grantreduktion prüfen.</a:t>
            </a:r>
          </a:p>
        </p:txBody>
      </p:sp>
      <p:sp>
        <p:nvSpPr>
          <p:cNvPr id="6" name="text-5">
            <a:extLst xmlns:a="http://schemas.openxmlformats.org/drawingml/2006/main">
              <a:ext uri="{FF2B5EF4-FFF2-40B4-BE49-F238E27FC236}">
                <a16:creationId xmlns:a16="http://schemas.microsoft.com/office/drawing/2014/main" id="{1BDAEDE5-3F24-45E1-B56B-E3C17CA78289}"/>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Interpretation</a:t>
            </a:r>
          </a:p>
        </p:txBody>
      </p:sp>
      <p:sp>
        <p:nvSpPr>
          <p:cNvPr id="7" name="text-6">
            <a:extLst xmlns:a="http://schemas.openxmlformats.org/drawingml/2006/main">
              <a:ext uri="{FF2B5EF4-FFF2-40B4-BE49-F238E27FC236}">
                <a16:creationId xmlns:a16="http://schemas.microsoft.com/office/drawing/2014/main" id="{0458DC46-6BDC-4B91-9528-97770390964E}"/>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Model-EXECUTE belegt hier ein Metadatenrecht. Providererreichbarkeit und Inferenz bleiben offen.</a:t>
            </a:r>
          </a:p>
        </p:txBody>
      </p:sp>
      <p:sp>
        <p:nvSpPr>
          <p:cNvPr id="8" name="text-7">
            <a:extLst xmlns:a="http://schemas.openxmlformats.org/drawingml/2006/main">
              <a:ext uri="{FF2B5EF4-FFF2-40B4-BE49-F238E27FC236}">
                <a16:creationId xmlns:a16="http://schemas.microsoft.com/office/drawing/2014/main" id="{CEC1C636-3383-4C02-B152-9719E287732F}"/>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Ohne Credential, Netzrequest oder Embeddinggenerierung.</a:t>
            </a:r>
          </a:p>
        </p:txBody>
      </p:sp>
      <p:sp>
        <p:nvSpPr>
          <p:cNvPr id="9" name="text-8">
            <a:extLst xmlns:a="http://schemas.openxmlformats.org/drawingml/2006/main">
              <a:ext uri="{FF2B5EF4-FFF2-40B4-BE49-F238E27FC236}">
                <a16:creationId xmlns:a16="http://schemas.microsoft.com/office/drawing/2014/main" id="{1DF9A14E-0E9F-4F37-86E0-37AE3A3BB74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15  CUR-016 / CUR-018</a:t>
            </a:r>
          </a:p>
        </p:txBody>
      </p:sp>
    </p:spTree>
    <p:extLst>
      <p:ext uri="{BB962C8B-B14F-4D97-AF65-F5344CB8AC3E}">
        <p14:creationId xmlns:p14="http://schemas.microsoft.com/office/powerpoint/2010/main" val="95268456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C5979DF8-879C-4B84-AE6A-4E3AC9D691F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Suchpfade und Qualitätsfragen</a:t>
            </a:r>
          </a:p>
        </p:txBody>
      </p:sp>
      <p:graphicFrame>
        <p:nvGraphicFramePr>
          <p:cNvPr id="2" name="">
            <a:extLst xmlns:a="http://schemas.openxmlformats.org/drawingml/2006/main">
              <a:ext uri="{FF2B5EF4-FFF2-40B4-BE49-F238E27FC236}">
                <a16:creationId xmlns:a16="http://schemas.microsoft.com/office/drawing/2014/main" id="{2C81B8C5-B995-4DEB-9D80-A99C3F2C7602}"/>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667000"/>
                <a:gridCol w="3810000"/>
                <a:gridCol w="4191000"/>
              </a:tblGrid>
              <a:tr h="800100">
                <a:tc>
                  <a:txBody>
                    <a:bodyPr/>
                    <a:lstStyle/>
                    <a:p>
                      <a:r>
                        <a:rPr sz="1800" b="1">
                          <a:solidFill>
                            <a:srgbClr val="15283D"/>
                          </a:solidFill>
                          <a:latin typeface="Arial"/>
                          <a:ea typeface="Arial"/>
                          <a:cs typeface="Arial"/>
                        </a:rPr>
                        <a:t>Suchpfad</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Passende Frage</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Erforderliche Bewertung</a:t>
                      </a:r>
                    </a:p>
                  </a:txBody>
                  <a:tcPr marL="114300" marR="114300" marT="47625" marB="47625" anchor="ctr">
                    <a:solidFill>
                      <a:srgbClr val="E8F2F2"/>
                    </a:solidFill>
                  </a:tcPr>
                </a:tc>
              </a:tr>
              <a:tr h="800100">
                <a:tc>
                  <a:txBody>
                    <a:bodyPr/>
                    <a:lstStyle/>
                    <a:p>
                      <a:r>
                        <a:rPr sz="1800" b="0">
                          <a:solidFill>
                            <a:srgbClr val="15283D"/>
                          </a:solidFill>
                          <a:latin typeface="Arial"/>
                          <a:ea typeface="Arial"/>
                          <a:cs typeface="Arial"/>
                        </a:rPr>
                        <a:t>Relational</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Exakte Kennung, Bereich oder erlaubter Tenant</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Ergebnisidentität und geeigneter Zugriff</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Full-Text</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Wort oder sprachliche Suchform</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Komponente, Population und Relevanz</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Exact Vector</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Nähe im festgelegten Modellraum</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Gleiche Kandidaten, Metric und Tie-Regel</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Approximate Vector</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Approximation bei größerem Suchbestand</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Recall, Planbeleg, Filter und Gesamtkosten</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A8F3280E-180B-481A-B33C-028007B656D9}"/>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16  CUR-017 / CUR-020</a:t>
            </a:r>
          </a:p>
        </p:txBody>
      </p:sp>
    </p:spTree>
    <p:extLst>
      <p:ext uri="{BB962C8B-B14F-4D97-AF65-F5344CB8AC3E}">
        <p14:creationId xmlns:p14="http://schemas.microsoft.com/office/powerpoint/2010/main" val="1372595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25DF9C81-6307-4771-9E08-D6D4D7CBE5D3}"/>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QRY-017: Suche nach MOD_A</a:t>
            </a:r>
          </a:p>
        </p:txBody>
      </p:sp>
      <p:sp>
        <p:nvSpPr>
          <p:cNvPr id="2" name="text-1">
            <a:extLst xmlns:a="http://schemas.openxmlformats.org/drawingml/2006/main">
              <a:ext uri="{FF2B5EF4-FFF2-40B4-BE49-F238E27FC236}">
                <a16:creationId xmlns:a16="http://schemas.microsoft.com/office/drawing/2014/main" id="{1CBF1A5D-CE9E-40BD-B52F-1B2BE12792AC}"/>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51978BF4-5A89-4DE8-A017-87F8E6148FC3}"/>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Welcher Pfad beantwortet die exakte synthetische Kennung MOD_A?</a:t>
            </a:r>
          </a:p>
        </p:txBody>
      </p:sp>
      <p:sp>
        <p:nvSpPr>
          <p:cNvPr id="4" name="text-3">
            <a:extLst xmlns:a="http://schemas.openxmlformats.org/drawingml/2006/main">
              <a:ext uri="{FF2B5EF4-FFF2-40B4-BE49-F238E27FC236}">
                <a16:creationId xmlns:a16="http://schemas.microsoft.com/office/drawing/2014/main" id="{7632BFB6-7E19-4278-891F-6C486801BF9B}"/>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22628A9E-217D-471F-8A4B-96A56A06BD25}"/>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Relationale Query, LIKE, optionalen Full-Text und Exact Distance an vier Rows vergleichen.</a:t>
            </a:r>
          </a:p>
        </p:txBody>
      </p:sp>
      <p:sp>
        <p:nvSpPr>
          <p:cNvPr id="6" name="text-5">
            <a:extLst xmlns:a="http://schemas.openxmlformats.org/drawingml/2006/main">
              <a:ext uri="{FF2B5EF4-FFF2-40B4-BE49-F238E27FC236}">
                <a16:creationId xmlns:a16="http://schemas.microsoft.com/office/drawing/2014/main" id="{06E9CBF0-EB1D-43EC-A009-A7FC73BD2F1C}"/>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Erklärung</a:t>
            </a:r>
          </a:p>
        </p:txBody>
      </p:sp>
      <p:sp>
        <p:nvSpPr>
          <p:cNvPr id="7" name="text-6">
            <a:extLst xmlns:a="http://schemas.openxmlformats.org/drawingml/2006/main">
              <a:ext uri="{FF2B5EF4-FFF2-40B4-BE49-F238E27FC236}">
                <a16:creationId xmlns:a16="http://schemas.microsoft.com/office/drawing/2014/main" id="{25E29556-EA49-4FEA-BCE1-E9BAFC34592C}"/>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Tenantfilter und erlaubten Treffer nennen. Fehlender Full-Text bleibt ein sichtbarer WARN.</a:t>
            </a:r>
          </a:p>
        </p:txBody>
      </p:sp>
      <p:sp>
        <p:nvSpPr>
          <p:cNvPr id="8" name="text-7">
            <a:extLst xmlns:a="http://schemas.openxmlformats.org/drawingml/2006/main">
              <a:ext uri="{FF2B5EF4-FFF2-40B4-BE49-F238E27FC236}">
                <a16:creationId xmlns:a16="http://schemas.microsoft.com/office/drawing/2014/main" id="{92806493-9258-4A90-9837-ADDDBBAACFBC}"/>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Konstruierte Vektoren erklären die Mechanik. Sie belegen keine Sprachmodellqualität.</a:t>
            </a:r>
          </a:p>
        </p:txBody>
      </p:sp>
      <p:sp>
        <p:nvSpPr>
          <p:cNvPr id="9" name="text-8">
            <a:extLst xmlns:a="http://schemas.openxmlformats.org/drawingml/2006/main">
              <a:ext uri="{FF2B5EF4-FFF2-40B4-BE49-F238E27FC236}">
                <a16:creationId xmlns:a16="http://schemas.microsoft.com/office/drawing/2014/main" id="{D968902B-4058-456F-AC1C-F0AAD41BDB9C}"/>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17  CUR-017 / CUR-020</a:t>
            </a:r>
          </a:p>
        </p:txBody>
      </p:sp>
    </p:spTree>
    <p:extLst>
      <p:ext uri="{BB962C8B-B14F-4D97-AF65-F5344CB8AC3E}">
        <p14:creationId xmlns:p14="http://schemas.microsoft.com/office/powerpoint/2010/main" val="4418942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FFF17801-8CEC-422B-93E9-0126B3943AC4}"/>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RAG und die Bindung einer Antwort</a:t>
            </a:r>
          </a:p>
        </p:txBody>
      </p:sp>
      <p:sp>
        <p:nvSpPr>
          <p:cNvPr id="2" name="text-1">
            <a:extLst xmlns:a="http://schemas.openxmlformats.org/drawingml/2006/main">
              <a:ext uri="{FF2B5EF4-FFF2-40B4-BE49-F238E27FC236}">
                <a16:creationId xmlns:a16="http://schemas.microsoft.com/office/drawing/2014/main" id="{BC6138C7-3909-4C4C-B94C-5C60EFD0106B}"/>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Retrieval</a:t>
            </a:r>
          </a:p>
        </p:txBody>
      </p:sp>
      <p:sp>
        <p:nvSpPr>
          <p:cNvPr id="3" name="text-2">
            <a:extLst xmlns:a="http://schemas.openxmlformats.org/drawingml/2006/main">
              <a:ext uri="{FF2B5EF4-FFF2-40B4-BE49-F238E27FC236}">
                <a16:creationId xmlns:a16="http://schemas.microsoft.com/office/drawing/2014/main" id="{1CF81CFB-6143-4B5F-99F6-F78A98FE2D3A}"/>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Nur autorisierte, aktuelle Quellen in den begrenzten Kontext aufnehmen.</a:t>
            </a:r>
          </a:p>
        </p:txBody>
      </p:sp>
      <p:sp>
        <p:nvSpPr>
          <p:cNvPr id="4" name="text-3">
            <a:extLst xmlns:a="http://schemas.openxmlformats.org/drawingml/2006/main">
              <a:ext uri="{FF2B5EF4-FFF2-40B4-BE49-F238E27FC236}">
                <a16:creationId xmlns:a16="http://schemas.microsoft.com/office/drawing/2014/main" id="{9F1D7BC9-7175-4E59-BB87-9452AF439A0D}"/>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Claimprüfung</a:t>
            </a:r>
          </a:p>
        </p:txBody>
      </p:sp>
      <p:sp>
        <p:nvSpPr>
          <p:cNvPr id="5" name="text-4">
            <a:extLst xmlns:a="http://schemas.openxmlformats.org/drawingml/2006/main">
              <a:ext uri="{FF2B5EF4-FFF2-40B4-BE49-F238E27FC236}">
                <a16:creationId xmlns:a16="http://schemas.microsoft.com/office/drawing/2014/main" id="{D1517A55-2412-4035-BD40-AF65D8B517E4}"/>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Für jeden akzeptierten Satz eine stützende Quellenstelle im tatsächlich gelieferten Kontext prüfen.</a:t>
            </a:r>
          </a:p>
        </p:txBody>
      </p:sp>
      <p:sp>
        <p:nvSpPr>
          <p:cNvPr id="6" name="text-5">
            <a:extLst xmlns:a="http://schemas.openxmlformats.org/drawingml/2006/main">
              <a:ext uri="{FF2B5EF4-FFF2-40B4-BE49-F238E27FC236}">
                <a16:creationId xmlns:a16="http://schemas.microsoft.com/office/drawing/2014/main" id="{212D4018-3E4F-4E09-996F-B94135AE9A86}"/>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Nichtantwort</a:t>
            </a:r>
          </a:p>
        </p:txBody>
      </p:sp>
      <p:sp>
        <p:nvSpPr>
          <p:cNvPr id="7" name="text-6">
            <a:extLst xmlns:a="http://schemas.openxmlformats.org/drawingml/2006/main">
              <a:ext uri="{FF2B5EF4-FFF2-40B4-BE49-F238E27FC236}">
                <a16:creationId xmlns:a16="http://schemas.microsoft.com/office/drawing/2014/main" id="{1214A6E1-9707-46C6-95C2-9929CAA13C5C}"/>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Fehlende Evidenz und widersprüchliche aktuelle Quellen ausdrücklich benennen.</a:t>
            </a:r>
          </a:p>
        </p:txBody>
      </p:sp>
      <p:sp>
        <p:nvSpPr>
          <p:cNvPr id="8" name="text-7">
            <a:extLst xmlns:a="http://schemas.openxmlformats.org/drawingml/2006/main">
              <a:ext uri="{FF2B5EF4-FFF2-40B4-BE49-F238E27FC236}">
                <a16:creationId xmlns:a16="http://schemas.microsoft.com/office/drawing/2014/main" id="{09408E88-510E-4937-8D60-0AA6D102E87A}"/>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Ein vorhandener Quellenlink allein beweist den zugehörigen Satz nicht.</a:t>
            </a:r>
          </a:p>
        </p:txBody>
      </p:sp>
      <p:sp>
        <p:nvSpPr>
          <p:cNvPr id="9" name="text-8">
            <a:extLst xmlns:a="http://schemas.openxmlformats.org/drawingml/2006/main">
              <a:ext uri="{FF2B5EF4-FFF2-40B4-BE49-F238E27FC236}">
                <a16:creationId xmlns:a16="http://schemas.microsoft.com/office/drawing/2014/main" id="{D03CF97D-DFD4-45DA-9629-58A0C37F3980}"/>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18  CUR-017</a:t>
            </a:r>
          </a:p>
        </p:txBody>
      </p:sp>
    </p:spTree>
    <p:extLst>
      <p:ext uri="{BB962C8B-B14F-4D97-AF65-F5344CB8AC3E}">
        <p14:creationId xmlns:p14="http://schemas.microsoft.com/office/powerpoint/2010/main" val="19744130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371CCC2F-3E4B-4F34-9225-D7038A55B1B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QRY-018: Vier Quellenentscheidungen</a:t>
            </a:r>
          </a:p>
        </p:txBody>
      </p:sp>
      <p:graphicFrame>
        <p:nvGraphicFramePr>
          <p:cNvPr id="2" name="">
            <a:extLst xmlns:a="http://schemas.openxmlformats.org/drawingml/2006/main">
              <a:ext uri="{FF2B5EF4-FFF2-40B4-BE49-F238E27FC236}">
                <a16:creationId xmlns:a16="http://schemas.microsoft.com/office/drawing/2014/main" id="{2D793758-07D4-485B-9CB0-A66C290618EC}"/>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4095750"/>
                <a:gridCol w="2190750"/>
                <a:gridCol w="4381500"/>
              </a:tblGrid>
              <a:tr h="800100">
                <a:tc>
                  <a:txBody>
                    <a:bodyPr/>
                    <a:lstStyle/>
                    <a:p>
                      <a:r>
                        <a:rPr sz="1800" b="1">
                          <a:solidFill>
                            <a:srgbClr val="15283D"/>
                          </a:solidFill>
                          <a:latin typeface="Arial"/>
                          <a:ea typeface="Arial"/>
                          <a:cs typeface="Arial"/>
                        </a:rPr>
                        <a:t>Fixture</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Entscheidung</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Begründung</a:t>
                      </a:r>
                    </a:p>
                  </a:txBody>
                  <a:tcPr marL="114300" marR="114300" marT="47625" marB="47625" anchor="ctr">
                    <a:solidFill>
                      <a:srgbClr val="E8F2F2"/>
                    </a:solidFill>
                  </a:tcPr>
                </a:tc>
              </a:tr>
              <a:tr h="800100">
                <a:tc>
                  <a:txBody>
                    <a:bodyPr/>
                    <a:lstStyle/>
                    <a:p>
                      <a:r>
                        <a:rPr sz="1800" b="0">
                          <a:solidFill>
                            <a:srgbClr val="15283D"/>
                          </a:solidFill>
                          <a:latin typeface="Arial"/>
                          <a:ea typeface="Arial"/>
                          <a:cs typeface="Arial"/>
                        </a:rPr>
                        <a:t>Aktuelle Sieben-Tage-Quelle</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ACCEPTED</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Stützende Quelle im erlaubten Kontext</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Zitat außerhalb des Kontexts</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REJECTED</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Existenz des Zitats genügt nicht</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Kein ausreichender Kontext</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ABSTAINED</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Begründete Nichtantwort</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Sieben und neun Tage aktuell</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ABSTAINED</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Widerspruch zwischen erlaubten Quellen</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F674B837-D83E-44B3-B9B2-B9012BCCF159}"/>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Feste Antwortfixtures und Claimprüfung, keine Livegeneration.</a:t>
            </a:r>
          </a:p>
        </p:txBody>
      </p:sp>
      <p:sp>
        <p:nvSpPr>
          <p:cNvPr id="4" name="text-2">
            <a:extLst xmlns:a="http://schemas.openxmlformats.org/drawingml/2006/main">
              <a:ext uri="{FF2B5EF4-FFF2-40B4-BE49-F238E27FC236}">
                <a16:creationId xmlns:a16="http://schemas.microsoft.com/office/drawing/2014/main" id="{FD02AEE1-C5F9-4545-AE98-E240F33A39C0}"/>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19  CUR-017 / CUR-022</a:t>
            </a:r>
          </a:p>
        </p:txBody>
      </p:sp>
    </p:spTree>
    <p:extLst>
      <p:ext uri="{BB962C8B-B14F-4D97-AF65-F5344CB8AC3E}">
        <p14:creationId xmlns:p14="http://schemas.microsoft.com/office/powerpoint/2010/main" val="6825949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FDA128A-708F-40C8-BC8A-DFDDDE25435B}"/>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Securitygrenzen im Datenfluss</a:t>
            </a:r>
          </a:p>
        </p:txBody>
      </p:sp>
      <p:graphicFrame>
        <p:nvGraphicFramePr>
          <p:cNvPr id="2" name="">
            <a:extLst xmlns:a="http://schemas.openxmlformats.org/drawingml/2006/main">
              <a:ext uri="{FF2B5EF4-FFF2-40B4-BE49-F238E27FC236}">
                <a16:creationId xmlns:a16="http://schemas.microsoft.com/office/drawing/2014/main" id="{5E662123-4DBC-491D-AB81-3D44276A8972}"/>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4762500"/>
                <a:gridCol w="5905500"/>
              </a:tblGrid>
              <a:tr h="800100">
                <a:tc>
                  <a:txBody>
                    <a:bodyPr/>
                    <a:lstStyle/>
                    <a:p>
                      <a:r>
                        <a:rPr sz="1800" b="1">
                          <a:solidFill>
                            <a:srgbClr val="15283D"/>
                          </a:solidFill>
                          <a:latin typeface="Arial"/>
                          <a:ea typeface="Arial"/>
                          <a:cs typeface="Arial"/>
                        </a:rPr>
                        <a:t>Unvertrauenswürdige Eingabe</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Erzwungene Grenze</a:t>
                      </a:r>
                    </a:p>
                  </a:txBody>
                  <a:tcPr marL="114300" marR="114300" marT="47625" marB="47625" anchor="ctr">
                    <a:solidFill>
                      <a:srgbClr val="E8F2F2"/>
                    </a:solidFill>
                  </a:tcPr>
                </a:tc>
              </a:tr>
              <a:tr h="800100">
                <a:tc>
                  <a:txBody>
                    <a:bodyPr/>
                    <a:lstStyle/>
                    <a:p>
                      <a:r>
                        <a:rPr sz="1800" b="0">
                          <a:solidFill>
                            <a:srgbClr val="15283D"/>
                          </a:solidFill>
                          <a:latin typeface="Arial"/>
                          <a:ea typeface="Arial"/>
                          <a:cs typeface="Arial"/>
                        </a:rPr>
                        <a:t>Prompt und LLM-SQL</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Feste SQL-Struktur, Wertbindung und minimale DB-Rechte</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Retrievalquelle und Toolwunsch</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Quelleninhalt getrennt von Toolpolicy verarbeiten</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Tenantangabe aus dem Prompt</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Authentifizierter Kontext und DB-seitige Zugriffskontrolle</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Modellendpoint und Dateien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TLS, Egress, Credentials, Lizenz und endliche Budgets</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5D77D794-B46E-4F5D-A3B9-5181BCE59C6B}"/>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Embeddings, Prompts und Antworten können schutzwürdige Information enthalten.</a:t>
            </a:r>
          </a:p>
        </p:txBody>
      </p:sp>
      <p:sp>
        <p:nvSpPr>
          <p:cNvPr id="4" name="text-2">
            <a:extLst xmlns:a="http://schemas.openxmlformats.org/drawingml/2006/main">
              <a:ext uri="{FF2B5EF4-FFF2-40B4-BE49-F238E27FC236}">
                <a16:creationId xmlns:a16="http://schemas.microsoft.com/office/drawing/2014/main" id="{0B9C532F-60AC-4402-9298-F64E1FD58C1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20  CUR-018</a:t>
            </a:r>
          </a:p>
        </p:txBody>
      </p:sp>
    </p:spTree>
    <p:extLst>
      <p:ext uri="{BB962C8B-B14F-4D97-AF65-F5344CB8AC3E}">
        <p14:creationId xmlns:p14="http://schemas.microsoft.com/office/powerpoint/2010/main" val="14720030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F2B9A711-C4B0-4182-B274-ADE77D99A73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QRY-019: Wertbindung und SQL-Struktur</a:t>
            </a:r>
          </a:p>
        </p:txBody>
      </p:sp>
      <p:sp>
        <p:nvSpPr>
          <p:cNvPr id="2" name="text-1">
            <a:extLst xmlns:a="http://schemas.openxmlformats.org/drawingml/2006/main">
              <a:ext uri="{FF2B5EF4-FFF2-40B4-BE49-F238E27FC236}">
                <a16:creationId xmlns:a16="http://schemas.microsoft.com/office/drawing/2014/main" id="{CC66E117-0615-4C87-96C0-D3EAD9BF80DD}"/>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61A47819-2C54-4E55-AE20-6A9B2C761140}"/>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Kann Quote-, Semikolon- und DROP-Text als Wert einen Literal-Treffer liefern?</a:t>
            </a:r>
          </a:p>
        </p:txBody>
      </p:sp>
      <p:sp>
        <p:nvSpPr>
          <p:cNvPr id="4" name="text-3">
            <a:extLst xmlns:a="http://schemas.openxmlformats.org/drawingml/2006/main">
              <a:ext uri="{FF2B5EF4-FFF2-40B4-BE49-F238E27FC236}">
                <a16:creationId xmlns:a16="http://schemas.microsoft.com/office/drawing/2014/main" id="{D05E3DA1-7570-4141-AAB8-CC139B9B141D}"/>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07B4937E-F817-413F-99BB-7D16BC0E7692}"/>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Feste Statementstruktur, getrennte Wertparameter und tatsächliche Readerrechte im Code zeigen.</a:t>
            </a:r>
          </a:p>
        </p:txBody>
      </p:sp>
      <p:sp>
        <p:nvSpPr>
          <p:cNvPr id="6" name="text-5">
            <a:extLst xmlns:a="http://schemas.openxmlformats.org/drawingml/2006/main">
              <a:ext uri="{FF2B5EF4-FFF2-40B4-BE49-F238E27FC236}">
                <a16:creationId xmlns:a16="http://schemas.microsoft.com/office/drawing/2014/main" id="{54051D85-2C8B-4732-9D00-A8644651B5AE}"/>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Gegenprobe</a:t>
            </a:r>
          </a:p>
        </p:txBody>
      </p:sp>
      <p:sp>
        <p:nvSpPr>
          <p:cNvPr id="7" name="text-6">
            <a:extLst xmlns:a="http://schemas.openxmlformats.org/drawingml/2006/main">
              <a:ext uri="{FF2B5EF4-FFF2-40B4-BE49-F238E27FC236}">
                <a16:creationId xmlns:a16="http://schemas.microsoft.com/office/drawing/2014/main" id="{F1FA8EE4-E9F3-4031-9322-86F76C07BF6A}"/>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Zusatzstatement und unerlaubte Aktion ablehnen. Identifier benötigen eine eigene Allowlist.</a:t>
            </a:r>
          </a:p>
        </p:txBody>
      </p:sp>
      <p:sp>
        <p:nvSpPr>
          <p:cNvPr id="8" name="text-7">
            <a:extLst xmlns:a="http://schemas.openxmlformats.org/drawingml/2006/main">
              <a:ext uri="{FF2B5EF4-FFF2-40B4-BE49-F238E27FC236}">
                <a16:creationId xmlns:a16="http://schemas.microsoft.com/office/drawing/2014/main" id="{3778E351-4025-48E8-8FAF-E7E8EDC46C52}"/>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Feste SQL-/Promptfixtures, kein privilegierter Angriffslauf.</a:t>
            </a:r>
          </a:p>
        </p:txBody>
      </p:sp>
      <p:sp>
        <p:nvSpPr>
          <p:cNvPr id="9" name="text-8">
            <a:extLst xmlns:a="http://schemas.openxmlformats.org/drawingml/2006/main">
              <a:ext uri="{FF2B5EF4-FFF2-40B4-BE49-F238E27FC236}">
                <a16:creationId xmlns:a16="http://schemas.microsoft.com/office/drawing/2014/main" id="{6C2BE0A6-51CD-4EF2-B0C6-77D5400CC884}"/>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21  CUR-018 / CUR-021</a:t>
            </a:r>
          </a:p>
        </p:txBody>
      </p:sp>
    </p:spTree>
    <p:extLst>
      <p:ext uri="{BB962C8B-B14F-4D97-AF65-F5344CB8AC3E}">
        <p14:creationId xmlns:p14="http://schemas.microsoft.com/office/powerpoint/2010/main" val="9331137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3D7FD722-9F1B-4ACE-BB9D-CF6B401760E2}"/>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DGN-009: Manipulierte Retrievalquelle</a:t>
            </a:r>
          </a:p>
        </p:txBody>
      </p:sp>
      <p:sp>
        <p:nvSpPr>
          <p:cNvPr id="2" name="text-1">
            <a:extLst xmlns:a="http://schemas.openxmlformats.org/drawingml/2006/main">
              <a:ext uri="{FF2B5EF4-FFF2-40B4-BE49-F238E27FC236}">
                <a16:creationId xmlns:a16="http://schemas.microsoft.com/office/drawing/2014/main" id="{36C38FFF-48F9-448F-AB36-A88A2CAE1031}"/>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4E969184-9DC1-4B84-B099-9D9CF1D2544E}"/>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Quelle fordert eine Zusatzaktion. Welche Befugnis entsteht daraus?</a:t>
            </a:r>
          </a:p>
        </p:txBody>
      </p:sp>
      <p:sp>
        <p:nvSpPr>
          <p:cNvPr id="4" name="text-3">
            <a:extLst xmlns:a="http://schemas.openxmlformats.org/drawingml/2006/main">
              <a:ext uri="{FF2B5EF4-FFF2-40B4-BE49-F238E27FC236}">
                <a16:creationId xmlns:a16="http://schemas.microsoft.com/office/drawing/2014/main" id="{82415079-62CB-475D-9B4E-B1878CA43CA9}"/>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55478EA4-500F-4348-87A5-31EA2109C18C}"/>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Den tatsächlich retrievten manipulierten Text von Antwortfixture und Toolpolicy trennen.</a:t>
            </a:r>
          </a:p>
        </p:txBody>
      </p:sp>
      <p:sp>
        <p:nvSpPr>
          <p:cNvPr id="6" name="text-5">
            <a:extLst xmlns:a="http://schemas.openxmlformats.org/drawingml/2006/main">
              <a:ext uri="{FF2B5EF4-FFF2-40B4-BE49-F238E27FC236}">
                <a16:creationId xmlns:a16="http://schemas.microsoft.com/office/drawing/2014/main" id="{A91A7BD1-F43E-4A85-ABA8-8E387CF49ECA}"/>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Gegenprobe</a:t>
            </a:r>
          </a:p>
        </p:txBody>
      </p:sp>
      <p:sp>
        <p:nvSpPr>
          <p:cNvPr id="7" name="text-6">
            <a:extLst xmlns:a="http://schemas.openxmlformats.org/drawingml/2006/main">
              <a:ext uri="{FF2B5EF4-FFF2-40B4-BE49-F238E27FC236}">
                <a16:creationId xmlns:a16="http://schemas.microsoft.com/office/drawing/2014/main" id="{2AB9AE7E-1135-4C08-A780-CB87E7535DF0}"/>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Feste Policy und minimale SQL-Rechte verweigern unerlaubte Aktionen tatsächlich.</a:t>
            </a:r>
          </a:p>
        </p:txBody>
      </p:sp>
      <p:sp>
        <p:nvSpPr>
          <p:cNvPr id="8" name="text-7">
            <a:extLst xmlns:a="http://schemas.openxmlformats.org/drawingml/2006/main">
              <a:ext uri="{FF2B5EF4-FFF2-40B4-BE49-F238E27FC236}">
                <a16:creationId xmlns:a16="http://schemas.microsoft.com/office/drawing/2014/main" id="{6CEC21B3-167B-48AA-AA20-41C75B90F35C}"/>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Offline-Antwort-/Toolfixtures. Verhalten unbekannter Live-Modelle bleibt offen.</a:t>
            </a:r>
          </a:p>
        </p:txBody>
      </p:sp>
      <p:sp>
        <p:nvSpPr>
          <p:cNvPr id="9" name="text-8">
            <a:extLst xmlns:a="http://schemas.openxmlformats.org/drawingml/2006/main">
              <a:ext uri="{FF2B5EF4-FFF2-40B4-BE49-F238E27FC236}">
                <a16:creationId xmlns:a16="http://schemas.microsoft.com/office/drawing/2014/main" id="{A2042471-FC14-4CE3-8A64-1F7866B6D50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22  CUR-018</a:t>
            </a:r>
          </a:p>
        </p:txBody>
      </p:sp>
    </p:spTree>
    <p:extLst>
      <p:ext uri="{BB962C8B-B14F-4D97-AF65-F5344CB8AC3E}">
        <p14:creationId xmlns:p14="http://schemas.microsoft.com/office/powerpoint/2010/main" val="187157507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CCD70E4-93C8-4A1B-B07F-C98BA02A2827}"/>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CON-010: Tenant-Isolation vor dem Kontext</a:t>
            </a:r>
          </a:p>
        </p:txBody>
      </p:sp>
      <p:sp>
        <p:nvSpPr>
          <p:cNvPr id="2" name="text-1">
            <a:extLst xmlns:a="http://schemas.openxmlformats.org/drawingml/2006/main">
              <a:ext uri="{FF2B5EF4-FFF2-40B4-BE49-F238E27FC236}">
                <a16:creationId xmlns:a16="http://schemas.microsoft.com/office/drawing/2014/main" id="{7AA46667-2CD3-4A51-890E-B4BE6DABC346}"/>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Fixture</a:t>
            </a:r>
          </a:p>
        </p:txBody>
      </p:sp>
      <p:sp>
        <p:nvSpPr>
          <p:cNvPr id="3" name="text-2">
            <a:extLst xmlns:a="http://schemas.openxmlformats.org/drawingml/2006/main">
              <a:ext uri="{FF2B5EF4-FFF2-40B4-BE49-F238E27FC236}">
                <a16:creationId xmlns:a16="http://schemas.microsoft.com/office/drawing/2014/main" id="{49AEEF01-B748-4E9D-83C8-B03A646F44C7}"/>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Zwei Dokumente besitzen identische VECTOR(3)-Werte. RLS bindet Tenant A/B an SQL-Benutzer.</a:t>
            </a:r>
          </a:p>
        </p:txBody>
      </p:sp>
      <p:sp>
        <p:nvSpPr>
          <p:cNvPr id="4" name="text-3">
            <a:extLst xmlns:a="http://schemas.openxmlformats.org/drawingml/2006/main">
              <a:ext uri="{FF2B5EF4-FFF2-40B4-BE49-F238E27FC236}">
                <a16:creationId xmlns:a16="http://schemas.microsoft.com/office/drawing/2014/main" id="{89432979-E0B9-4DFA-9B78-99B1641B28A1}"/>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34994C9A-BBAC-4D22-8AB1-DA07CA05534C}"/>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Je Tenant eine erlaubte Quelle. Unmapped erhält keine Zeile. Ein manipulierter Sessionwert ändert Tenant A nicht.</a:t>
            </a:r>
          </a:p>
        </p:txBody>
      </p:sp>
      <p:sp>
        <p:nvSpPr>
          <p:cNvPr id="6" name="text-5">
            <a:extLst xmlns:a="http://schemas.openxmlformats.org/drawingml/2006/main">
              <a:ext uri="{FF2B5EF4-FFF2-40B4-BE49-F238E27FC236}">
                <a16:creationId xmlns:a16="http://schemas.microsoft.com/office/drawing/2014/main" id="{3E5A202F-3329-4036-9902-31371BEAE41B}"/>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Gegenprobe</a:t>
            </a:r>
          </a:p>
        </p:txBody>
      </p:sp>
      <p:sp>
        <p:nvSpPr>
          <p:cNvPr id="7" name="text-6">
            <a:extLst xmlns:a="http://schemas.openxmlformats.org/drawingml/2006/main">
              <a:ext uri="{FF2B5EF4-FFF2-40B4-BE49-F238E27FC236}">
                <a16:creationId xmlns:a16="http://schemas.microsoft.com/office/drawing/2014/main" id="{C988403F-8269-482E-AAE8-2931E1889721}"/>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Policyänderung, fremde Impersonation und SELECT nach Revoke müssen tatsächlich scheitern.</a:t>
            </a:r>
          </a:p>
        </p:txBody>
      </p:sp>
      <p:sp>
        <p:nvSpPr>
          <p:cNvPr id="8" name="text-7">
            <a:extLst xmlns:a="http://schemas.openxmlformats.org/drawingml/2006/main">
              <a:ext uri="{FF2B5EF4-FFF2-40B4-BE49-F238E27FC236}">
                <a16:creationId xmlns:a16="http://schemas.microsoft.com/office/drawing/2014/main" id="{CBE70954-9082-4431-BBB4-CBD86F5FDDCD}"/>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Eine Session mit EXECUTE AS. Pooling, Serverlogins und ANN bleiben UNQUALIFIED.</a:t>
            </a:r>
          </a:p>
        </p:txBody>
      </p:sp>
      <p:sp>
        <p:nvSpPr>
          <p:cNvPr id="9" name="text-8">
            <a:extLst xmlns:a="http://schemas.openxmlformats.org/drawingml/2006/main">
              <a:ext uri="{FF2B5EF4-FFF2-40B4-BE49-F238E27FC236}">
                <a16:creationId xmlns:a16="http://schemas.microsoft.com/office/drawing/2014/main" id="{37F9DAB3-7460-4CD6-8727-8C9AC141212D}"/>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23  CUR-018</a:t>
            </a:r>
          </a:p>
        </p:txBody>
      </p:sp>
    </p:spTree>
    <p:extLst>
      <p:ext uri="{BB962C8B-B14F-4D97-AF65-F5344CB8AC3E}">
        <p14:creationId xmlns:p14="http://schemas.microsoft.com/office/powerpoint/2010/main" val="33697141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DE9318D0-F7C8-428B-A06D-75A37753B5A4}"/>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Exact Search und ANN</a:t>
            </a:r>
          </a:p>
        </p:txBody>
      </p:sp>
      <p:graphicFrame>
        <p:nvGraphicFramePr>
          <p:cNvPr id="2" name="">
            <a:extLst xmlns:a="http://schemas.openxmlformats.org/drawingml/2006/main">
              <a:ext uri="{FF2B5EF4-FFF2-40B4-BE49-F238E27FC236}">
                <a16:creationId xmlns:a16="http://schemas.microsoft.com/office/drawing/2014/main" id="{986418F9-7C6E-4967-AA84-A4A9803A1C97}"/>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571750"/>
                <a:gridCol w="4000500"/>
                <a:gridCol w="4095750"/>
              </a:tblGrid>
              <a:tr h="800100">
                <a:tc>
                  <a:txBody>
                    <a:bodyPr/>
                    <a:lstStyle/>
                    <a:p>
                      <a:r>
                        <a:rPr sz="1800" b="1">
                          <a:solidFill>
                            <a:srgbClr val="15283D"/>
                          </a:solidFill>
                          <a:latin typeface="Arial"/>
                          <a:ea typeface="Arial"/>
                          <a:cs typeface="Arial"/>
                        </a:rPr>
                        <a:t>Eigenschaft</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Exact Distance</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Approximate Vector Search</a:t>
                      </a:r>
                    </a:p>
                  </a:txBody>
                  <a:tcPr marL="114300" marR="114300" marT="47625" marB="47625" anchor="ctr">
                    <a:solidFill>
                      <a:srgbClr val="E8F2F2"/>
                    </a:solidFill>
                  </a:tcPr>
                </a:tc>
              </a:tr>
              <a:tr h="800100">
                <a:tc>
                  <a:txBody>
                    <a:bodyPr/>
                    <a:lstStyle/>
                    <a:p>
                      <a:r>
                        <a:rPr sz="1800" b="0">
                          <a:solidFill>
                            <a:srgbClr val="15283D"/>
                          </a:solidFill>
                          <a:latin typeface="Arial"/>
                          <a:ea typeface="Arial"/>
                          <a:cs typeface="Arial"/>
                        </a:rPr>
                        <a:t>Suchvertrag</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Distanzen der erlaubten Kandidaten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Approximation mit Index-/Fallbackprüfung</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Qualität</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Deterministisches Top-k mit Tie-Regel</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Recall@k gegen dasselbe Exact-Oracle</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Planbeleg</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Tatsächlichen Zugriff prüfen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Indexnutzung und Filterwirkung belegen</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SQL-2025-Grenze</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VECTOR_DISTANCE nutzt keinen Vector Index</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Preview. Generation und Build binden</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42D14F19-F7D1-415F-A740-A53CB151CCB7}"/>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Recall@k = gemeinsame Exact-/ANN-Treffer ÷ k. Fachliche Relevanz benötigt eigene Urteile.</a:t>
            </a:r>
          </a:p>
        </p:txBody>
      </p:sp>
      <p:sp>
        <p:nvSpPr>
          <p:cNvPr id="4" name="text-2">
            <a:extLst xmlns:a="http://schemas.openxmlformats.org/drawingml/2006/main">
              <a:ext uri="{FF2B5EF4-FFF2-40B4-BE49-F238E27FC236}">
                <a16:creationId xmlns:a16="http://schemas.microsoft.com/office/drawing/2014/main" id="{5FF71648-E358-407E-A7BD-FEB69DB5048F}"/>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24  CUR-019</a:t>
            </a:r>
          </a:p>
        </p:txBody>
      </p:sp>
    </p:spTree>
    <p:extLst>
      <p:ext uri="{BB962C8B-B14F-4D97-AF65-F5344CB8AC3E}">
        <p14:creationId xmlns:p14="http://schemas.microsoft.com/office/powerpoint/2010/main" val="104220634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D8F0586-B21F-4CEF-8970-02F41831A38C}"/>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IDX-011: Recall und gebundene Messung</a:t>
            </a:r>
          </a:p>
        </p:txBody>
      </p:sp>
      <p:sp>
        <p:nvSpPr>
          <p:cNvPr id="2" name="text-1">
            <a:extLst xmlns:a="http://schemas.openxmlformats.org/drawingml/2006/main">
              <a:ext uri="{FF2B5EF4-FFF2-40B4-BE49-F238E27FC236}">
                <a16:creationId xmlns:a16="http://schemas.microsoft.com/office/drawing/2014/main" id="{8717572A-2C53-48DA-AF1C-A81D88FE7C69}"/>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Versuchsauftrag</a:t>
            </a:r>
          </a:p>
        </p:txBody>
      </p:sp>
      <p:sp>
        <p:nvSpPr>
          <p:cNvPr id="3" name="text-2">
            <a:extLst xmlns:a="http://schemas.openxmlformats.org/drawingml/2006/main">
              <a:ext uri="{FF2B5EF4-FFF2-40B4-BE49-F238E27FC236}">
                <a16:creationId xmlns:a16="http://schemas.microsoft.com/office/drawing/2014/main" id="{94BFC576-2449-42B0-AEA6-8A06993662FD}"/>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Gleicher 1000-Row-Korpus, cosine, k=5 und identische Ergebnisprüfung für Exact und VECTOR_SEARCH.</a:t>
            </a:r>
          </a:p>
        </p:txBody>
      </p:sp>
      <p:sp>
        <p:nvSpPr>
          <p:cNvPr id="4" name="text-3">
            <a:extLst xmlns:a="http://schemas.openxmlformats.org/drawingml/2006/main">
              <a:ext uri="{FF2B5EF4-FFF2-40B4-BE49-F238E27FC236}">
                <a16:creationId xmlns:a16="http://schemas.microsoft.com/office/drawing/2014/main" id="{594223ED-BE82-456C-912A-88689EFBC39C}"/>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Vorliegende Evidenz</a:t>
            </a:r>
          </a:p>
        </p:txBody>
      </p:sp>
      <p:sp>
        <p:nvSpPr>
          <p:cNvPr id="5" name="text-4">
            <a:extLst xmlns:a="http://schemas.openxmlformats.org/drawingml/2006/main">
              <a:ext uri="{FF2B5EF4-FFF2-40B4-BE49-F238E27FC236}">
                <a16:creationId xmlns:a16="http://schemas.microsoft.com/office/drawing/2014/main" id="{A80659A5-7BF6-4B0C-B7DD-7E0F07B423BF}"/>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Begrenzte lokale Such-, Quellen-, Distanz- und Planbelege liegen vor. Generation bleibt UNKNOWN/WARN.</a:t>
            </a:r>
          </a:p>
        </p:txBody>
      </p:sp>
      <p:sp>
        <p:nvSpPr>
          <p:cNvPr id="6" name="text-5">
            <a:extLst xmlns:a="http://schemas.openxmlformats.org/drawingml/2006/main">
              <a:ext uri="{FF2B5EF4-FFF2-40B4-BE49-F238E27FC236}">
                <a16:creationId xmlns:a16="http://schemas.microsoft.com/office/drawing/2014/main" id="{0E492A75-E414-4B52-AEF3-F2D9F952164D}"/>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Interpretation</a:t>
            </a:r>
          </a:p>
        </p:txBody>
      </p:sp>
      <p:sp>
        <p:nvSpPr>
          <p:cNvPr id="7" name="text-6">
            <a:extLst xmlns:a="http://schemas.openxmlformats.org/drawingml/2006/main">
              <a:ext uri="{FF2B5EF4-FFF2-40B4-BE49-F238E27FC236}">
                <a16:creationId xmlns:a16="http://schemas.microsoft.com/office/drawing/2014/main" id="{223312D5-D592-419E-97E5-E3514813C464}"/>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Der kleine gebundene Versuch belegt keinen allgemeinen ANN-Performancevorteil und keine Sprachrelevanz.</a:t>
            </a:r>
          </a:p>
        </p:txBody>
      </p:sp>
      <p:sp>
        <p:nvSpPr>
          <p:cNvPr id="8" name="text-7">
            <a:extLst xmlns:a="http://schemas.openxmlformats.org/drawingml/2006/main">
              <a:ext uri="{FF2B5EF4-FFF2-40B4-BE49-F238E27FC236}">
                <a16:creationId xmlns:a16="http://schemas.microsoft.com/office/drawing/2014/main" id="{095FE194-A4D2-4314-BD55-33C0DAA48661}"/>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PROPOSED. Öffentliche Vorstufe und Teilnachweise ersetzen keine vollständige TP-PERF-Abnahme.</a:t>
            </a:r>
          </a:p>
        </p:txBody>
      </p:sp>
      <p:sp>
        <p:nvSpPr>
          <p:cNvPr id="9" name="text-8">
            <a:extLst xmlns:a="http://schemas.openxmlformats.org/drawingml/2006/main">
              <a:ext uri="{FF2B5EF4-FFF2-40B4-BE49-F238E27FC236}">
                <a16:creationId xmlns:a16="http://schemas.microsoft.com/office/drawing/2014/main" id="{E9167113-83C1-40B5-A08E-2CBFD6E02F85}"/>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25  CUR-019</a:t>
            </a:r>
          </a:p>
        </p:txBody>
      </p:sp>
    </p:spTree>
    <p:extLst>
      <p:ext uri="{BB962C8B-B14F-4D97-AF65-F5344CB8AC3E}">
        <p14:creationId xmlns:p14="http://schemas.microsoft.com/office/powerpoint/2010/main" val="26233709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289B8CB2-AB9E-4EF4-ADDE-F614FE6B33B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IDX-012: Index-Lifecycle und Kosten</a:t>
            </a:r>
          </a:p>
        </p:txBody>
      </p:sp>
      <p:sp>
        <p:nvSpPr>
          <p:cNvPr id="2" name="text-1">
            <a:extLst xmlns:a="http://schemas.openxmlformats.org/drawingml/2006/main">
              <a:ext uri="{FF2B5EF4-FFF2-40B4-BE49-F238E27FC236}">
                <a16:creationId xmlns:a16="http://schemas.microsoft.com/office/drawing/2014/main" id="{97DFA019-FB12-4B7F-AEE1-43896B0693A0}"/>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Lifecycle</a:t>
            </a:r>
          </a:p>
        </p:txBody>
      </p:sp>
      <p:sp>
        <p:nvSpPr>
          <p:cNvPr id="3" name="text-2">
            <a:extLst xmlns:a="http://schemas.openxmlformats.org/drawingml/2006/main">
              <a:ext uri="{FF2B5EF4-FFF2-40B4-BE49-F238E27FC236}">
                <a16:creationId xmlns:a16="http://schemas.microsoft.com/office/drawing/2014/main" id="{D51D42EC-51CE-41C4-8D04-D68DBE186012}"/>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Build, DML-Grenze, Drop/Rebuild, Quellenzustand und Recovery als getrennte Phasen behandeln.</a:t>
            </a:r>
          </a:p>
        </p:txBody>
      </p:sp>
      <p:sp>
        <p:nvSpPr>
          <p:cNvPr id="4" name="text-3">
            <a:extLst xmlns:a="http://schemas.openxmlformats.org/drawingml/2006/main">
              <a:ext uri="{FF2B5EF4-FFF2-40B4-BE49-F238E27FC236}">
                <a16:creationId xmlns:a16="http://schemas.microsoft.com/office/drawing/2014/main" id="{9644AED1-36A7-40CA-91DF-C5B5BAF0A288}"/>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Kosten</a:t>
            </a:r>
          </a:p>
        </p:txBody>
      </p:sp>
      <p:sp>
        <p:nvSpPr>
          <p:cNvPr id="5" name="text-4">
            <a:extLst xmlns:a="http://schemas.openxmlformats.org/drawingml/2006/main">
              <a:ext uri="{FF2B5EF4-FFF2-40B4-BE49-F238E27FC236}">
                <a16:creationId xmlns:a16="http://schemas.microsoft.com/office/drawing/2014/main" id="{80055BF1-91E8-42C7-933A-63FE3104F2EF}"/>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CPU, tatsächliche Datei-Writes, Storage und eigene TempDB-Allocations an den passenden Messbereich binden.</a:t>
            </a:r>
          </a:p>
        </p:txBody>
      </p:sp>
      <p:sp>
        <p:nvSpPr>
          <p:cNvPr id="6" name="text-5">
            <a:extLst xmlns:a="http://schemas.openxmlformats.org/drawingml/2006/main">
              <a:ext uri="{FF2B5EF4-FFF2-40B4-BE49-F238E27FC236}">
                <a16:creationId xmlns:a16="http://schemas.microsoft.com/office/drawing/2014/main" id="{729B986F-EAA4-4FB6-81BE-F85CC3BE866F}"/>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Grenze</a:t>
            </a:r>
          </a:p>
        </p:txBody>
      </p:sp>
      <p:sp>
        <p:nvSpPr>
          <p:cNvPr id="7" name="text-6">
            <a:extLst xmlns:a="http://schemas.openxmlformats.org/drawingml/2006/main">
              <a:ext uri="{FF2B5EF4-FFF2-40B4-BE49-F238E27FC236}">
                <a16:creationId xmlns:a16="http://schemas.microsoft.com/office/drawing/2014/main" id="{12FCD058-B83E-4909-BEAA-4ED4A18FFCCA}"/>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Der lokale Legacy-Pfad und seine Teilbelege garantieren keine neue Azure-DML- oder Maintenancefunktion.</a:t>
            </a:r>
          </a:p>
        </p:txBody>
      </p:sp>
      <p:sp>
        <p:nvSpPr>
          <p:cNvPr id="8" name="text-7">
            <a:extLst xmlns:a="http://schemas.openxmlformats.org/drawingml/2006/main">
              <a:ext uri="{FF2B5EF4-FFF2-40B4-BE49-F238E27FC236}">
                <a16:creationId xmlns:a16="http://schemas.microsoft.com/office/drawing/2014/main" id="{D1D5B556-0F15-4ED5-A066-1214C2D6C201}"/>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PROPOSED. DDL-MAXDOP garantiert keinen tatsächlichen DOP. Vollständiger Nettonutzen bleibt offen.</a:t>
            </a:r>
          </a:p>
        </p:txBody>
      </p:sp>
      <p:sp>
        <p:nvSpPr>
          <p:cNvPr id="9" name="text-8">
            <a:extLst xmlns:a="http://schemas.openxmlformats.org/drawingml/2006/main">
              <a:ext uri="{FF2B5EF4-FFF2-40B4-BE49-F238E27FC236}">
                <a16:creationId xmlns:a16="http://schemas.microsoft.com/office/drawing/2014/main" id="{AAF7DAAF-482C-41D6-8E5C-64BEA18D1D9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26  CUR-019</a:t>
            </a:r>
          </a:p>
        </p:txBody>
      </p:sp>
    </p:spTree>
    <p:extLst>
      <p:ext uri="{BB962C8B-B14F-4D97-AF65-F5344CB8AC3E}">
        <p14:creationId xmlns:p14="http://schemas.microsoft.com/office/powerpoint/2010/main" val="169067306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BDD7960-C2FF-47FA-BCE2-ACFCA6EDC854}"/>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Messbereiche und Gegenproben</a:t>
            </a:r>
          </a:p>
        </p:txBody>
      </p:sp>
      <p:graphicFrame>
        <p:nvGraphicFramePr>
          <p:cNvPr id="2" name="">
            <a:extLst xmlns:a="http://schemas.openxmlformats.org/drawingml/2006/main">
              <a:ext uri="{FF2B5EF4-FFF2-40B4-BE49-F238E27FC236}">
                <a16:creationId xmlns:a16="http://schemas.microsoft.com/office/drawing/2014/main" id="{773DDAEC-3D49-4E3D-9111-1202FC35F4B1}"/>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381250"/>
                <a:gridCol w="4476750"/>
                <a:gridCol w="3810000"/>
              </a:tblGrid>
              <a:tr h="800100">
                <a:tc>
                  <a:txBody>
                    <a:bodyPr/>
                    <a:lstStyle/>
                    <a:p>
                      <a:r>
                        <a:rPr sz="1800" b="1">
                          <a:solidFill>
                            <a:srgbClr val="15283D"/>
                          </a:solidFill>
                          <a:latin typeface="Arial"/>
                          <a:ea typeface="Arial"/>
                          <a:cs typeface="Arial"/>
                        </a:rPr>
                        <a:t>Messbereich</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Evidenz</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Aussagegrenze</a:t>
                      </a:r>
                    </a:p>
                  </a:txBody>
                  <a:tcPr marL="114300" marR="114300" marT="47625" marB="47625" anchor="ctr">
                    <a:solidFill>
                      <a:srgbClr val="E8F2F2"/>
                    </a:solidFill>
                  </a:tcPr>
                </a:tc>
              </a:tr>
              <a:tr h="800100">
                <a:tc>
                  <a:txBody>
                    <a:bodyPr/>
                    <a:lstStyle/>
                    <a:p>
                      <a:r>
                        <a:rPr sz="1800" b="0">
                          <a:solidFill>
                            <a:srgbClr val="15283D"/>
                          </a:solidFill>
                          <a:latin typeface="Arial"/>
                          <a:ea typeface="Arial"/>
                          <a:cs typeface="Arial"/>
                        </a:rPr>
                        <a:t>SQL-Arbeit</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CPU, Reads, Resultate und Actual Plan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Queryscope und Counterauflösung nennen</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Anwendung</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Requestdauer, Fehler und Throughput</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p50/p95/p99 brauchen Einzelrequests</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Provider</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Netz-, Modellzeit, Token und Retry</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SQL-Duration isoliert diese Anteile nicht</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Vergleich</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AB/BA, AA, gleiche Quelle und Konfiguration</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Warmups, Nullen und Ausreißer erhalten</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26883B16-F5D8-4DDF-9900-3844BAC2B17A}"/>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Fehlender Wert, gemessene Null und nicht erfasste Evidenz bleiben verschieden.</a:t>
            </a:r>
          </a:p>
        </p:txBody>
      </p:sp>
      <p:sp>
        <p:nvSpPr>
          <p:cNvPr id="4" name="text-2">
            <a:extLst xmlns:a="http://schemas.openxmlformats.org/drawingml/2006/main">
              <a:ext uri="{FF2B5EF4-FFF2-40B4-BE49-F238E27FC236}">
                <a16:creationId xmlns:a16="http://schemas.microsoft.com/office/drawing/2014/main" id="{91B749CC-3184-4641-9F70-93C627B8ED4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27  CUR-020 / CUR-021</a:t>
            </a:r>
          </a:p>
        </p:txBody>
      </p:sp>
    </p:spTree>
    <p:extLst>
      <p:ext uri="{BB962C8B-B14F-4D97-AF65-F5344CB8AC3E}">
        <p14:creationId xmlns:p14="http://schemas.microsoft.com/office/powerpoint/2010/main" val="56083598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04864A4A-704C-4358-827A-067DDF620F4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RES-008: Gebundene Dimensionsergebnisse lesen</a:t>
            </a:r>
          </a:p>
        </p:txBody>
      </p:sp>
      <p:graphicFrame>
        <p:nvGraphicFramePr>
          <p:cNvPr id="2" name="">
            <a:extLst xmlns:a="http://schemas.openxmlformats.org/drawingml/2006/main">
              <a:ext uri="{FF2B5EF4-FFF2-40B4-BE49-F238E27FC236}">
                <a16:creationId xmlns:a16="http://schemas.microsoft.com/office/drawing/2014/main" id="{8EDCB302-1E43-46F9-8DE7-3CA47280945C}"/>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857500"/>
                <a:gridCol w="2286000"/>
                <a:gridCol w="3048000"/>
                <a:gridCol w="2476500"/>
              </a:tblGrid>
              <a:tr h="785813">
                <a:tc>
                  <a:txBody>
                    <a:bodyPr/>
                    <a:lstStyle/>
                    <a:p>
                      <a:r>
                        <a:rPr sz="1800" b="1">
                          <a:solidFill>
                            <a:srgbClr val="15283D"/>
                          </a:solidFill>
                          <a:latin typeface="Arial"/>
                          <a:ea typeface="Arial"/>
                          <a:cs typeface="Arial"/>
                        </a:rPr>
                        <a:t>Lauf 1: A=32 / B</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CPU-Median ms A/B</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Elapsed-Median µs A/B</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Logical Reads A/B</a:t>
                      </a:r>
                    </a:p>
                  </a:txBody>
                  <a:tcPr marL="114300" marR="114300" marT="47625" marB="47625" anchor="ctr">
                    <a:solidFill>
                      <a:srgbClr val="E8F2F2"/>
                    </a:solidFill>
                  </a:tcPr>
                </a:tc>
              </a:tr>
              <a:tr h="785813">
                <a:tc>
                  <a:txBody>
                    <a:bodyPr/>
                    <a:lstStyle/>
                    <a:p>
                      <a:r>
                        <a:rPr sz="1800" b="0">
                          <a:solidFill>
                            <a:srgbClr val="15283D"/>
                          </a:solidFill>
                          <a:latin typeface="Arial"/>
                          <a:ea typeface="Arial"/>
                          <a:cs typeface="Arial"/>
                        </a:rPr>
                        <a:t>B=384</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6,5 / 7,0</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8169,0 / 6151,0</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615 / 2415</a:t>
                      </a:r>
                    </a:p>
                  </a:txBody>
                  <a:tcPr marL="114300" marR="114300" marT="47625" marB="47625" anchor="ctr">
                    <a:solidFill>
                      <a:srgbClr val="FFFFFF"/>
                    </a:solidFill>
                  </a:tcPr>
                </a:tc>
              </a:tr>
              <a:tr h="785813">
                <a:tc>
                  <a:txBody>
                    <a:bodyPr/>
                    <a:lstStyle/>
                    <a:p>
                      <a:r>
                        <a:rPr sz="1800" b="0">
                          <a:solidFill>
                            <a:srgbClr val="15283D"/>
                          </a:solidFill>
                          <a:latin typeface="Arial"/>
                          <a:ea typeface="Arial"/>
                          <a:cs typeface="Arial"/>
                        </a:rPr>
                        <a:t>B=768</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5,5 / 8,0</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4118,5 / 8189,0</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615 / 5415</a:t>
                      </a:r>
                    </a:p>
                  </a:txBody>
                  <a:tcPr marL="114300" marR="114300" marT="47625" marB="47625" anchor="ctr">
                    <a:solidFill>
                      <a:srgbClr val="FFFFFF"/>
                    </a:solidFill>
                  </a:tcPr>
                </a:tc>
              </a:tr>
              <a:tr h="785813">
                <a:tc>
                  <a:txBody>
                    <a:bodyPr/>
                    <a:lstStyle/>
                    <a:p>
                      <a:r>
                        <a:rPr sz="1800" b="0">
                          <a:solidFill>
                            <a:srgbClr val="15283D"/>
                          </a:solidFill>
                          <a:latin typeface="Arial"/>
                          <a:ea typeface="Arial"/>
                          <a:cs typeface="Arial"/>
                        </a:rPr>
                        <a:t>B=1536</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6,0 / 15,0</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4094,5 / 14483,0</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615 / 10415</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98062F03-FD61-4CE9-BD66-3CD67B32279E}"/>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PROPOSED. Je Spalte sechs 100-Query-Batchfenster. Begrenzte Beobachtung, keine Dimensionsregel.</a:t>
            </a:r>
          </a:p>
        </p:txBody>
      </p:sp>
      <p:sp>
        <p:nvSpPr>
          <p:cNvPr id="4" name="text-2">
            <a:extLst xmlns:a="http://schemas.openxmlformats.org/drawingml/2006/main">
              <a:ext uri="{FF2B5EF4-FFF2-40B4-BE49-F238E27FC236}">
                <a16:creationId xmlns:a16="http://schemas.microsoft.com/office/drawing/2014/main" id="{11E1F804-6FBB-4ACC-9FBE-FF57D3E0EE8F}"/>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28  CUR-020</a:t>
            </a:r>
          </a:p>
        </p:txBody>
      </p:sp>
    </p:spTree>
    <p:extLst>
      <p:ext uri="{BB962C8B-B14F-4D97-AF65-F5344CB8AC3E}">
        <p14:creationId xmlns:p14="http://schemas.microsoft.com/office/powerpoint/2010/main" val="25562818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E76215E9-6F81-4F3E-9768-1A64C96ED488}"/>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RES-009 und DGN-011: End-to-End-Diagnose</a:t>
            </a:r>
          </a:p>
        </p:txBody>
      </p:sp>
      <p:sp>
        <p:nvSpPr>
          <p:cNvPr id="2" name="text-1">
            <a:extLst xmlns:a="http://schemas.openxmlformats.org/drawingml/2006/main">
              <a:ext uri="{FF2B5EF4-FFF2-40B4-BE49-F238E27FC236}">
                <a16:creationId xmlns:a16="http://schemas.microsoft.com/office/drawing/2014/main" id="{F63D2A9D-C982-4E16-9B7C-813DB237FC98}"/>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RES-009: Concurrent Workloads</a:t>
            </a:r>
          </a:p>
        </p:txBody>
      </p:sp>
      <p:sp>
        <p:nvSpPr>
          <p:cNvPr id="3" name="text-2">
            <a:extLst xmlns:a="http://schemas.openxmlformats.org/drawingml/2006/main">
              <a:ext uri="{FF2B5EF4-FFF2-40B4-BE49-F238E27FC236}">
                <a16:creationId xmlns:a16="http://schemas.microsoft.com/office/drawing/2014/main" id="{5BFEB604-4090-4DC5-A497-8099725DBA97}"/>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Geplanter Vergleich von Throughput, Fehlerrate und Requestlatenzen bei begrenzter Sessionzahl.</a:t>
            </a:r>
          </a:p>
        </p:txBody>
      </p:sp>
      <p:sp>
        <p:nvSpPr>
          <p:cNvPr id="4" name="text-3">
            <a:extLst xmlns:a="http://schemas.openxmlformats.org/drawingml/2006/main">
              <a:ext uri="{FF2B5EF4-FFF2-40B4-BE49-F238E27FC236}">
                <a16:creationId xmlns:a16="http://schemas.microsoft.com/office/drawing/2014/main" id="{71D03968-FDEF-41F2-93BA-77C872013E5D}"/>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DGN-011: SQL, Netz und Inferenz</a:t>
            </a:r>
          </a:p>
        </p:txBody>
      </p:sp>
      <p:sp>
        <p:nvSpPr>
          <p:cNvPr id="5" name="text-4">
            <a:extLst xmlns:a="http://schemas.openxmlformats.org/drawingml/2006/main">
              <a:ext uri="{FF2B5EF4-FFF2-40B4-BE49-F238E27FC236}">
                <a16:creationId xmlns:a16="http://schemas.microsoft.com/office/drawing/2014/main" id="{40E4EAC6-8C8D-475A-8CCD-98CD440EC1D3}"/>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Geplante Zuordnung von SQL-Arbeit, HTTP-/TLS-Fehlern, Modellzeit und Retry zu einem Request.</a:t>
            </a:r>
          </a:p>
        </p:txBody>
      </p:sp>
      <p:sp>
        <p:nvSpPr>
          <p:cNvPr id="6" name="text-5">
            <a:extLst xmlns:a="http://schemas.openxmlformats.org/drawingml/2006/main">
              <a:ext uri="{FF2B5EF4-FFF2-40B4-BE49-F238E27FC236}">
                <a16:creationId xmlns:a16="http://schemas.microsoft.com/office/drawing/2014/main" id="{5ED90F2F-A2EC-4008-BD0D-03BA2311C5D0}"/>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Bewertung</a:t>
            </a:r>
          </a:p>
        </p:txBody>
      </p:sp>
      <p:sp>
        <p:nvSpPr>
          <p:cNvPr id="7" name="text-6">
            <a:extLst xmlns:a="http://schemas.openxmlformats.org/drawingml/2006/main">
              <a:ext uri="{FF2B5EF4-FFF2-40B4-BE49-F238E27FC236}">
                <a16:creationId xmlns:a16="http://schemas.microsoft.com/office/drawing/2014/main" id="{9DA64EAC-9181-498E-98D3-963E6AB3ED40}"/>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SQL-Mittelwerte, Batchzeiten und isolierte Waits erklären keine vollständige Anwendungslatenz.</a:t>
            </a:r>
          </a:p>
        </p:txBody>
      </p:sp>
      <p:sp>
        <p:nvSpPr>
          <p:cNvPr id="8" name="text-7">
            <a:extLst xmlns:a="http://schemas.openxmlformats.org/drawingml/2006/main">
              <a:ext uri="{FF2B5EF4-FFF2-40B4-BE49-F238E27FC236}">
                <a16:creationId xmlns:a16="http://schemas.microsoft.com/office/drawing/2014/main" id="{705E4057-E6D7-4618-B817-2EA486846887}"/>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Beide PROPOSED. Ausführung erst mit eigenen Ressourcen-, Provider- und Cleanupgates.</a:t>
            </a:r>
          </a:p>
        </p:txBody>
      </p:sp>
      <p:sp>
        <p:nvSpPr>
          <p:cNvPr id="9" name="text-8">
            <a:extLst xmlns:a="http://schemas.openxmlformats.org/drawingml/2006/main">
              <a:ext uri="{FF2B5EF4-FFF2-40B4-BE49-F238E27FC236}">
                <a16:creationId xmlns:a16="http://schemas.microsoft.com/office/drawing/2014/main" id="{EF13F8A2-B609-4BF4-8096-C7A12BC8423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29  CUR-020</a:t>
            </a:r>
          </a:p>
        </p:txBody>
      </p:sp>
    </p:spTree>
    <p:extLst>
      <p:ext uri="{BB962C8B-B14F-4D97-AF65-F5344CB8AC3E}">
        <p14:creationId xmlns:p14="http://schemas.microsoft.com/office/powerpoint/2010/main" val="44471280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A76944D-117B-4B48-968E-C9041AA56DF7}"/>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KI-Assistenz für SQL-Entwicklung und Analyse</a:t>
            </a:r>
          </a:p>
        </p:txBody>
      </p:sp>
      <p:sp>
        <p:nvSpPr>
          <p:cNvPr id="2" name="text-1">
            <a:extLst xmlns:a="http://schemas.openxmlformats.org/drawingml/2006/main">
              <a:ext uri="{FF2B5EF4-FFF2-40B4-BE49-F238E27FC236}">
                <a16:creationId xmlns:a16="http://schemas.microsoft.com/office/drawing/2014/main" id="{60B476F3-4AD7-4670-B8B5-D0A35ADBF5DA}"/>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Entwurf</a:t>
            </a:r>
          </a:p>
        </p:txBody>
      </p:sp>
      <p:sp>
        <p:nvSpPr>
          <p:cNvPr id="3" name="text-2">
            <a:extLst xmlns:a="http://schemas.openxmlformats.org/drawingml/2006/main">
              <a:ext uri="{FF2B5EF4-FFF2-40B4-BE49-F238E27FC236}">
                <a16:creationId xmlns:a16="http://schemas.microsoft.com/office/drawing/2014/main" id="{90B65B95-1963-468D-B0EC-A30DB7C9FE9D}"/>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SQL erklären, eine Fehlerhypothese formulieren oder einen begrenzten Änderungsvorschlag erzeugen.</a:t>
            </a:r>
          </a:p>
        </p:txBody>
      </p:sp>
      <p:sp>
        <p:nvSpPr>
          <p:cNvPr id="4" name="text-3">
            <a:extLst xmlns:a="http://schemas.openxmlformats.org/drawingml/2006/main">
              <a:ext uri="{FF2B5EF4-FFF2-40B4-BE49-F238E27FC236}">
                <a16:creationId xmlns:a16="http://schemas.microsoft.com/office/drawing/2014/main" id="{27CE1DA9-8170-4F3D-BC0B-1BCA4F047F12}"/>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Evidenz</a:t>
            </a:r>
          </a:p>
        </p:txBody>
      </p:sp>
      <p:sp>
        <p:nvSpPr>
          <p:cNvPr id="5" name="text-4">
            <a:extLst xmlns:a="http://schemas.openxmlformats.org/drawingml/2006/main">
              <a:ext uri="{FF2B5EF4-FFF2-40B4-BE49-F238E27FC236}">
                <a16:creationId xmlns:a16="http://schemas.microsoft.com/office/drawing/2014/main" id="{9A6FB34A-2D60-4C61-8F84-6E3DAA4C7C21}"/>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Version, Resultate, Actual Plan, Query Store, Waits und konkrete Rechte passend zum Fall prüfen.</a:t>
            </a:r>
          </a:p>
        </p:txBody>
      </p:sp>
      <p:sp>
        <p:nvSpPr>
          <p:cNvPr id="6" name="text-5">
            <a:extLst xmlns:a="http://schemas.openxmlformats.org/drawingml/2006/main">
              <a:ext uri="{FF2B5EF4-FFF2-40B4-BE49-F238E27FC236}">
                <a16:creationId xmlns:a16="http://schemas.microsoft.com/office/drawing/2014/main" id="{518F4AB8-B0A6-4B19-904B-86B914019D61}"/>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Entscheidung</a:t>
            </a:r>
          </a:p>
        </p:txBody>
      </p:sp>
      <p:sp>
        <p:nvSpPr>
          <p:cNvPr id="7" name="text-6">
            <a:extLst xmlns:a="http://schemas.openxmlformats.org/drawingml/2006/main">
              <a:ext uri="{FF2B5EF4-FFF2-40B4-BE49-F238E27FC236}">
                <a16:creationId xmlns:a16="http://schemas.microsoft.com/office/drawing/2014/main" id="{0A56B857-EB0C-406E-9425-4FF114CB1B70}"/>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Hypothese mit Gegenprobe widerlegen können. Lesegewinn gegen DML-, Build- und Storagekosten abwägen.</a:t>
            </a:r>
          </a:p>
        </p:txBody>
      </p:sp>
      <p:sp>
        <p:nvSpPr>
          <p:cNvPr id="8" name="text-7">
            <a:extLst xmlns:a="http://schemas.openxmlformats.org/drawingml/2006/main">
              <a:ext uri="{FF2B5EF4-FFF2-40B4-BE49-F238E27FC236}">
                <a16:creationId xmlns:a16="http://schemas.microsoft.com/office/drawing/2014/main" id="{CF3C6E09-F4EF-4DFF-BBF8-4867C5013756}"/>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LLM-Ausgabe und Missing-Index-Hinweis sind Eingaben für eine Untersuchung.</a:t>
            </a:r>
          </a:p>
        </p:txBody>
      </p:sp>
      <p:sp>
        <p:nvSpPr>
          <p:cNvPr id="9" name="text-8">
            <a:extLst xmlns:a="http://schemas.openxmlformats.org/drawingml/2006/main">
              <a:ext uri="{FF2B5EF4-FFF2-40B4-BE49-F238E27FC236}">
                <a16:creationId xmlns:a16="http://schemas.microsoft.com/office/drawing/2014/main" id="{E61CDB94-9DD8-4AD7-ABF0-46C428A3EEB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30  CUR-021</a:t>
            </a:r>
          </a:p>
        </p:txBody>
      </p:sp>
    </p:spTree>
    <p:extLst>
      <p:ext uri="{BB962C8B-B14F-4D97-AF65-F5344CB8AC3E}">
        <p14:creationId xmlns:p14="http://schemas.microsoft.com/office/powerpoint/2010/main" val="207609109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F218B855-D124-4350-A404-91CBFBE93CEA}"/>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DGN-010: Indexvorschlag und Gegenmessung</a:t>
            </a:r>
          </a:p>
        </p:txBody>
      </p:sp>
      <p:sp>
        <p:nvSpPr>
          <p:cNvPr id="2" name="text-1">
            <a:extLst xmlns:a="http://schemas.openxmlformats.org/drawingml/2006/main">
              <a:ext uri="{FF2B5EF4-FFF2-40B4-BE49-F238E27FC236}">
                <a16:creationId xmlns:a16="http://schemas.microsoft.com/office/drawing/2014/main" id="{8784B626-D387-4AB5-9D7C-AEBB5CB9CA27}"/>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Hypothese</a:t>
            </a:r>
          </a:p>
        </p:txBody>
      </p:sp>
      <p:sp>
        <p:nvSpPr>
          <p:cNvPr id="3" name="text-2">
            <a:extLst xmlns:a="http://schemas.openxmlformats.org/drawingml/2006/main">
              <a:ext uri="{FF2B5EF4-FFF2-40B4-BE49-F238E27FC236}">
                <a16:creationId xmlns:a16="http://schemas.microsoft.com/office/drawing/2014/main" id="{E065988F-0CF0-49E8-84D5-9EEF3F3B97D9}"/>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synthetischer LLM-Vorschlag ergänzt einen INCLUDE-Index. Ein Lesegewinn muss erst belegt werden.</a:t>
            </a:r>
          </a:p>
        </p:txBody>
      </p:sp>
      <p:sp>
        <p:nvSpPr>
          <p:cNvPr id="4" name="text-3">
            <a:extLst xmlns:a="http://schemas.openxmlformats.org/drawingml/2006/main">
              <a:ext uri="{FF2B5EF4-FFF2-40B4-BE49-F238E27FC236}">
                <a16:creationId xmlns:a16="http://schemas.microsoft.com/office/drawing/2014/main" id="{7552AC01-69A2-4C52-85DD-7893F38D10C7}"/>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Vorliegende Evidenz</a:t>
            </a:r>
          </a:p>
        </p:txBody>
      </p:sp>
      <p:sp>
        <p:nvSpPr>
          <p:cNvPr id="5" name="text-4">
            <a:extLst xmlns:a="http://schemas.openxmlformats.org/drawingml/2006/main">
              <a:ext uri="{FF2B5EF4-FFF2-40B4-BE49-F238E27FC236}">
                <a16:creationId xmlns:a16="http://schemas.microsoft.com/office/drawing/2014/main" id="{D4607AE0-3B81-4996-839F-CDCF6EF6ACE1}"/>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Gleiche Results, zwei private Original-Readerplanprofile, einzelne Reader-Indexnutzung und Owner-INSERT/Rollback.</a:t>
            </a:r>
          </a:p>
        </p:txBody>
      </p:sp>
      <p:sp>
        <p:nvSpPr>
          <p:cNvPr id="6" name="text-5">
            <a:extLst xmlns:a="http://schemas.openxmlformats.org/drawingml/2006/main">
              <a:ext uri="{FF2B5EF4-FFF2-40B4-BE49-F238E27FC236}">
                <a16:creationId xmlns:a16="http://schemas.microsoft.com/office/drawing/2014/main" id="{5A094665-B929-480C-93E0-9DEC2ABB94EC}"/>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Offene Entscheidung</a:t>
            </a:r>
          </a:p>
        </p:txBody>
      </p:sp>
      <p:sp>
        <p:nvSpPr>
          <p:cNvPr id="7" name="text-6">
            <a:extLst xmlns:a="http://schemas.openxmlformats.org/drawingml/2006/main">
              <a:ext uri="{FF2B5EF4-FFF2-40B4-BE49-F238E27FC236}">
                <a16:creationId xmlns:a16="http://schemas.microsoft.com/office/drawing/2014/main" id="{C6887287-B5B6-48A3-AB47-2FE43857BFA6}"/>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Vollständige Runtime-/TP-PERF-Abnahme und Indexnettonutzen bleiben NOT_ESTABLISHED.</a:t>
            </a:r>
          </a:p>
        </p:txBody>
      </p:sp>
      <p:sp>
        <p:nvSpPr>
          <p:cNvPr id="8" name="text-7">
            <a:extLst xmlns:a="http://schemas.openxmlformats.org/drawingml/2006/main">
              <a:ext uri="{FF2B5EF4-FFF2-40B4-BE49-F238E27FC236}">
                <a16:creationId xmlns:a16="http://schemas.microsoft.com/office/drawing/2014/main" id="{E39FC43B-F810-4300-A16E-4AE8DBF65DEA}"/>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PROPOSED. Öffentliche Producer bleiben WARN. Begrenzte Teilbelege ergeben keine volle TP-PERF-Abnahme.</a:t>
            </a:r>
          </a:p>
        </p:txBody>
      </p:sp>
      <p:sp>
        <p:nvSpPr>
          <p:cNvPr id="9" name="text-8">
            <a:extLst xmlns:a="http://schemas.openxmlformats.org/drawingml/2006/main">
              <a:ext uri="{FF2B5EF4-FFF2-40B4-BE49-F238E27FC236}">
                <a16:creationId xmlns:a16="http://schemas.microsoft.com/office/drawing/2014/main" id="{574B4814-42D2-41C9-823C-882E8D0FCD2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31  CUR-021</a:t>
            </a:r>
          </a:p>
        </p:txBody>
      </p:sp>
    </p:spTree>
    <p:extLst>
      <p:ext uri="{BB962C8B-B14F-4D97-AF65-F5344CB8AC3E}">
        <p14:creationId xmlns:p14="http://schemas.microsoft.com/office/powerpoint/2010/main" val="39106942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AA140B6C-1126-4973-8284-7E100418D9EC}"/>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Copilot in SSMS und Ausführungskontext</a:t>
            </a:r>
          </a:p>
        </p:txBody>
      </p:sp>
      <p:sp>
        <p:nvSpPr>
          <p:cNvPr id="2" name="text-1">
            <a:extLst xmlns:a="http://schemas.openxmlformats.org/drawingml/2006/main">
              <a:ext uri="{FF2B5EF4-FFF2-40B4-BE49-F238E27FC236}">
                <a16:creationId xmlns:a16="http://schemas.microsoft.com/office/drawing/2014/main" id="{3EF9011D-CF1A-4F1E-AF8A-199B77712BA6}"/>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Clientfunktion</a:t>
            </a:r>
          </a:p>
        </p:txBody>
      </p:sp>
      <p:sp>
        <p:nvSpPr>
          <p:cNvPr id="3" name="text-2">
            <a:extLst xmlns:a="http://schemas.openxmlformats.org/drawingml/2006/main">
              <a:ext uri="{FF2B5EF4-FFF2-40B4-BE49-F238E27FC236}">
                <a16:creationId xmlns:a16="http://schemas.microsoft.com/office/drawing/2014/main" id="{C629B52C-C0F1-4443-8529-14B70DBD6D92}"/>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GitHub Copilot in SSMS gehört zum Client. Er erweitert keine Engineversion um native Vektorfunktionen.</a:t>
            </a:r>
          </a:p>
        </p:txBody>
      </p:sp>
      <p:sp>
        <p:nvSpPr>
          <p:cNvPr id="4" name="text-3">
            <a:extLst xmlns:a="http://schemas.openxmlformats.org/drawingml/2006/main">
              <a:ext uri="{FF2B5EF4-FFF2-40B4-BE49-F238E27FC236}">
                <a16:creationId xmlns:a16="http://schemas.microsoft.com/office/drawing/2014/main" id="{64F3CD5B-2196-48C5-A34A-95905E7CBC59}"/>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Rechte</a:t>
            </a:r>
          </a:p>
        </p:txBody>
      </p:sp>
      <p:sp>
        <p:nvSpPr>
          <p:cNvPr id="5" name="text-4">
            <a:extLst xmlns:a="http://schemas.openxmlformats.org/drawingml/2006/main">
              <a:ext uri="{FF2B5EF4-FFF2-40B4-BE49-F238E27FC236}">
                <a16:creationId xmlns:a16="http://schemas.microsoft.com/office/drawing/2014/main" id="{71C1454C-4BF3-45E2-A835-8ED540CAE5AB}"/>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SQL Server erzwingt die Rechte des tatsächlichen Ausführungskontexts. Approval ersetzt diese Grenze nicht.</a:t>
            </a:r>
          </a:p>
        </p:txBody>
      </p:sp>
      <p:sp>
        <p:nvSpPr>
          <p:cNvPr id="6" name="text-5">
            <a:extLst xmlns:a="http://schemas.openxmlformats.org/drawingml/2006/main">
              <a:ext uri="{FF2B5EF4-FFF2-40B4-BE49-F238E27FC236}">
                <a16:creationId xmlns:a16="http://schemas.microsoft.com/office/drawing/2014/main" id="{7B18EFE0-BFAE-4CFE-B157-86F027707134}"/>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Betrieb</a:t>
            </a:r>
          </a:p>
        </p:txBody>
      </p:sp>
      <p:sp>
        <p:nvSpPr>
          <p:cNvPr id="7" name="text-6">
            <a:extLst xmlns:a="http://schemas.openxmlformats.org/drawingml/2006/main">
              <a:ext uri="{FF2B5EF4-FFF2-40B4-BE49-F238E27FC236}">
                <a16:creationId xmlns:a16="http://schemas.microsoft.com/office/drawing/2014/main" id="{5BC7C4A3-4A95-46E9-A465-19F797ECA106}"/>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Clientbuild, Administrationspolicy, Datenübertragung und Zugang vor einer Liveübung prüfen.</a:t>
            </a:r>
          </a:p>
        </p:txBody>
      </p:sp>
      <p:sp>
        <p:nvSpPr>
          <p:cNvPr id="8" name="text-7">
            <a:extLst xmlns:a="http://schemas.openxmlformats.org/drawingml/2006/main">
              <a:ext uri="{FF2B5EF4-FFF2-40B4-BE49-F238E27FC236}">
                <a16:creationId xmlns:a16="http://schemas.microsoft.com/office/drawing/2014/main" id="{16F2F211-64A9-4993-A2D2-1355CD2533A4}"/>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SSMS 22: Copilot GA ab 22.4.1. Agent Mode GA ab 22.10.2 gemäß registrierten Release Notes.</a:t>
            </a:r>
          </a:p>
        </p:txBody>
      </p:sp>
      <p:sp>
        <p:nvSpPr>
          <p:cNvPr id="9" name="text-8">
            <a:extLst xmlns:a="http://schemas.openxmlformats.org/drawingml/2006/main">
              <a:ext uri="{FF2B5EF4-FFF2-40B4-BE49-F238E27FC236}">
                <a16:creationId xmlns:a16="http://schemas.microsoft.com/office/drawing/2014/main" id="{A8F49513-F3DD-41C8-9AC2-647B4C71E30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32  CUR-021 / CUR-022</a:t>
            </a:r>
          </a:p>
        </p:txBody>
      </p:sp>
    </p:spTree>
    <p:extLst>
      <p:ext uri="{BB962C8B-B14F-4D97-AF65-F5344CB8AC3E}">
        <p14:creationId xmlns:p14="http://schemas.microsoft.com/office/powerpoint/2010/main" val="14617236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FA8648D-D4DD-4235-A954-E04ABC27BEB7}"/>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Neun Entwürfe für die Vertiefung</a:t>
            </a:r>
          </a:p>
        </p:txBody>
      </p:sp>
      <p:graphicFrame>
        <p:nvGraphicFramePr>
          <p:cNvPr id="2" name="">
            <a:extLst xmlns:a="http://schemas.openxmlformats.org/drawingml/2006/main">
              <a:ext uri="{FF2B5EF4-FFF2-40B4-BE49-F238E27FC236}">
                <a16:creationId xmlns:a16="http://schemas.microsoft.com/office/drawing/2014/main" id="{E2F94ABE-BBE1-40E2-B7D2-ED4C7828E2CA}"/>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4572000"/>
                <a:gridCol w="6096000"/>
              </a:tblGrid>
              <a:tr h="800100">
                <a:tc>
                  <a:txBody>
                    <a:bodyPr/>
                    <a:lstStyle/>
                    <a:p>
                      <a:r>
                        <a:rPr sz="1800" b="1">
                          <a:solidFill>
                            <a:srgbClr val="15283D"/>
                          </a:solidFill>
                          <a:latin typeface="Arial"/>
                          <a:ea typeface="Arial"/>
                          <a:cs typeface="Arial"/>
                        </a:rPr>
                        <a:t>PROPOSED</a:t>
                      </a:r>
                    </a:p>
                  </a:txBody>
                  <a:tcPr marL="114300" marR="114300" marT="47625" marB="47625" anchor="ctr">
                    <a:solidFill>
                      <a:srgbClr val="E8F2F2"/>
                    </a:solidFill>
                  </a:tcPr>
                </a:tc>
                <a:tc>
                  <a:txBody>
                    <a:bodyPr/>
                    <a:lstStyle/>
                    <a:p>
                      <a:r>
                        <a:rPr sz="1800" b="1">
                          <a:solidFill>
                            <a:srgbClr val="15283D"/>
                          </a:solidFill>
                          <a:latin typeface="Arial"/>
                          <a:ea typeface="Arial"/>
                          <a:cs typeface="Arial"/>
                        </a:rPr>
                        <a:t>Nächste nachzuweisende Grenze</a:t>
                      </a:r>
                    </a:p>
                  </a:txBody>
                  <a:tcPr marL="114300" marR="114300" marT="47625" marB="47625" anchor="ctr">
                    <a:solidFill>
                      <a:srgbClr val="E8F2F2"/>
                    </a:solidFill>
                  </a:tcPr>
                </a:tc>
              </a:tr>
              <a:tr h="800100">
                <a:tc>
                  <a:txBody>
                    <a:bodyPr/>
                    <a:lstStyle/>
                    <a:p>
                      <a:r>
                        <a:rPr sz="1800" b="0">
                          <a:solidFill>
                            <a:srgbClr val="15283D"/>
                          </a:solidFill>
                          <a:latin typeface="Arial"/>
                          <a:ea typeface="Arial"/>
                          <a:cs typeface="Arial"/>
                        </a:rPr>
                        <a:t>QRY-020, QRY-021, QRY-022</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Lokale, externe und ONNX-Inferenz mit ihren Freigaben</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IDX-011, IDX-012</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ANN-Qualität, Index-Lifecycle und vollständige Kosten</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RES-008, RES-009</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Dimensionen, Concurrency und vollständiger TP-PERF-Vertrag</a:t>
                      </a:r>
                    </a:p>
                  </a:txBody>
                  <a:tcPr marL="114300" marR="114300" marT="47625" marB="47625" anchor="ctr">
                    <a:solidFill>
                      <a:srgbClr val="FFFFFF"/>
                    </a:solidFill>
                  </a:tcPr>
                </a:tc>
              </a:tr>
              <a:tr h="800100">
                <a:tc>
                  <a:txBody>
                    <a:bodyPr/>
                    <a:lstStyle/>
                    <a:p>
                      <a:r>
                        <a:rPr sz="1800" b="0">
                          <a:solidFill>
                            <a:srgbClr val="15283D"/>
                          </a:solidFill>
                          <a:latin typeface="Arial"/>
                          <a:ea typeface="Arial"/>
                          <a:cs typeface="Arial"/>
                        </a:rPr>
                        <a:t>DGN-010, DGN-011</a:t>
                      </a:r>
                    </a:p>
                  </a:txBody>
                  <a:tcPr marL="114300" marR="114300" marT="47625" marB="47625" anchor="ctr">
                    <a:solidFill>
                      <a:srgbClr val="FFFFFF"/>
                    </a:solidFill>
                  </a:tcPr>
                </a:tc>
                <a:tc>
                  <a:txBody>
                    <a:bodyPr/>
                    <a:lstStyle/>
                    <a:p>
                      <a:r>
                        <a:rPr sz="1800" b="0">
                          <a:solidFill>
                            <a:srgbClr val="15283D"/>
                          </a:solidFill>
                          <a:latin typeface="Arial"/>
                          <a:ea typeface="Arial"/>
                          <a:cs typeface="Arial"/>
                        </a:rPr>
                        <a:t>Indexnettonutzen und End-to-End-Inferenzdiagnose</a:t>
                      </a:r>
                    </a:p>
                  </a:txBody>
                  <a:tcPr marL="114300" marR="114300" marT="47625" marB="47625" anchor="ctr">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805D9EE5-105E-45C8-A330-BF54C90BAEA3}"/>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Zusammen mit den neun IMPLEMENTED-Demos sind alle 18 registrierten Demoentwürfe abgedeckt.</a:t>
            </a:r>
          </a:p>
        </p:txBody>
      </p:sp>
      <p:sp>
        <p:nvSpPr>
          <p:cNvPr id="4" name="text-2">
            <a:extLst xmlns:a="http://schemas.openxmlformats.org/drawingml/2006/main">
              <a:ext uri="{FF2B5EF4-FFF2-40B4-BE49-F238E27FC236}">
                <a16:creationId xmlns:a16="http://schemas.microsoft.com/office/drawing/2014/main" id="{79A3F840-1DE8-48DB-B62D-75FA4E60A805}"/>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33  CUR-016 / CUR-019 / CUR-020 / CUR-021</a:t>
            </a:r>
          </a:p>
        </p:txBody>
      </p:sp>
    </p:spTree>
    <p:extLst>
      <p:ext uri="{BB962C8B-B14F-4D97-AF65-F5344CB8AC3E}">
        <p14:creationId xmlns:p14="http://schemas.microsoft.com/office/powerpoint/2010/main" val="49314483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78D8876-61A4-4A62-89F4-95FC0A951BC8}"/>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Entscheidung und Transferaufgabe</a:t>
            </a:r>
          </a:p>
        </p:txBody>
      </p:sp>
      <p:sp>
        <p:nvSpPr>
          <p:cNvPr id="2" name="text-1">
            <a:extLst xmlns:a="http://schemas.openxmlformats.org/drawingml/2006/main">
              <a:ext uri="{FF2B5EF4-FFF2-40B4-BE49-F238E27FC236}">
                <a16:creationId xmlns:a16="http://schemas.microsoft.com/office/drawing/2014/main" id="{9FEA8D3F-5072-4A72-8549-4F74418EDAF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Fall</a:t>
            </a:r>
          </a:p>
        </p:txBody>
      </p:sp>
      <p:sp>
        <p:nvSpPr>
          <p:cNvPr id="3" name="text-2">
            <a:extLst xmlns:a="http://schemas.openxmlformats.org/drawingml/2006/main">
              <a:ext uri="{FF2B5EF4-FFF2-40B4-BE49-F238E27FC236}">
                <a16:creationId xmlns:a16="http://schemas.microsoft.com/office/drawing/2014/main" id="{807A8CAA-2A91-442F-B20C-A05C7A308219}"/>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synthetische technische Wissensbasis soll aktuelle, tenantgebundene Antworten liefern. Einige Fragen betreffen exakte Kennungen.</a:t>
            </a:r>
          </a:p>
        </p:txBody>
      </p:sp>
      <p:sp>
        <p:nvSpPr>
          <p:cNvPr id="4" name="text-3">
            <a:extLst xmlns:a="http://schemas.openxmlformats.org/drawingml/2006/main">
              <a:ext uri="{FF2B5EF4-FFF2-40B4-BE49-F238E27FC236}">
                <a16:creationId xmlns:a16="http://schemas.microsoft.com/office/drawing/2014/main" id="{B76448E9-19D4-4CC3-AF1E-BB27175398A1}"/>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Auftrag</a:t>
            </a:r>
          </a:p>
        </p:txBody>
      </p:sp>
      <p:sp>
        <p:nvSpPr>
          <p:cNvPr id="5" name="text-4">
            <a:extLst xmlns:a="http://schemas.openxmlformats.org/drawingml/2006/main">
              <a:ext uri="{FF2B5EF4-FFF2-40B4-BE49-F238E27FC236}">
                <a16:creationId xmlns:a16="http://schemas.microsoft.com/office/drawing/2014/main" id="{39894CDD-2CFD-45E2-B4E9-01418DD3F5E9}"/>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Suchpfad, Modellraum und Rechte begründen. Eine belegbare Antwort und eine notwendige Nichtantwort beschreiben.</a:t>
            </a:r>
          </a:p>
        </p:txBody>
      </p:sp>
      <p:sp>
        <p:nvSpPr>
          <p:cNvPr id="6" name="text-5">
            <a:extLst xmlns:a="http://schemas.openxmlformats.org/drawingml/2006/main">
              <a:ext uri="{FF2B5EF4-FFF2-40B4-BE49-F238E27FC236}">
                <a16:creationId xmlns:a16="http://schemas.microsoft.com/office/drawing/2014/main" id="{97A49485-C954-4571-853F-F86FC58CF510}"/>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Abgabe</a:t>
            </a:r>
          </a:p>
        </p:txBody>
      </p:sp>
      <p:sp>
        <p:nvSpPr>
          <p:cNvPr id="7" name="text-6">
            <a:extLst xmlns:a="http://schemas.openxmlformats.org/drawingml/2006/main">
              <a:ext uri="{FF2B5EF4-FFF2-40B4-BE49-F238E27FC236}">
                <a16:creationId xmlns:a16="http://schemas.microsoft.com/office/drawing/2014/main" id="{5FF6C361-2D3F-4E80-87CF-49F456154063}"/>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fehlende Evidenz vor einem Livebetrieb nennen. Einen LLM-Indexvorschlag mit einem widerlegbaren Versuch beurteilen.</a:t>
            </a:r>
          </a:p>
        </p:txBody>
      </p:sp>
      <p:sp>
        <p:nvSpPr>
          <p:cNvPr id="8" name="text-7">
            <a:extLst xmlns:a="http://schemas.openxmlformats.org/drawingml/2006/main">
              <a:ext uri="{FF2B5EF4-FFF2-40B4-BE49-F238E27FC236}">
                <a16:creationId xmlns:a16="http://schemas.microsoft.com/office/drawing/2014/main" id="{D9B98003-E41A-43BE-8855-10B6B22E7D61}"/>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Arbeitsheft: acht Basisaufgaben, Lösungen und Rubrik mit maximal 16 Punkten. Generalprobe steht aus.</a:t>
            </a:r>
          </a:p>
        </p:txBody>
      </p:sp>
      <p:sp>
        <p:nvSpPr>
          <p:cNvPr id="9" name="text-8">
            <a:extLst xmlns:a="http://schemas.openxmlformats.org/drawingml/2006/main">
              <a:ext uri="{FF2B5EF4-FFF2-40B4-BE49-F238E27FC236}">
                <a16:creationId xmlns:a16="http://schemas.microsoft.com/office/drawing/2014/main" id="{68D94286-FF86-4925-B3BA-7EAED2F33B1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34  CUR-022</a:t>
            </a:r>
          </a:p>
        </p:txBody>
      </p:sp>
    </p:spTree>
    <p:extLst>
      <p:ext uri="{BB962C8B-B14F-4D97-AF65-F5344CB8AC3E}">
        <p14:creationId xmlns:p14="http://schemas.microsoft.com/office/powerpoint/2010/main" val="18486584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0</ns0:Slides>
  <ns0:Notes>0</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
  <ns0:lastModifiedBy/>
  <dc:title>Presentation</dc:title>
  <ns2:created xsi:type="dcterms:W3CDTF">2026-10-12T09:43:19.9130000Z</ns2:created>
  <ns2:modified xsi:type="dcterms:W3CDTF">2026-10-12T09:43:19.9130000Z</ns2:modified>
</ns0:coreProperties>
</file>